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1128" r:id="rId4"/>
    <p:sldId id="257" r:id="rId5"/>
    <p:sldId id="259" r:id="rId7"/>
    <p:sldId id="534" r:id="rId8"/>
    <p:sldId id="533" r:id="rId9"/>
    <p:sldId id="532" r:id="rId10"/>
    <p:sldId id="535" r:id="rId11"/>
    <p:sldId id="1136" r:id="rId12"/>
    <p:sldId id="1135" r:id="rId13"/>
    <p:sldId id="1137" r:id="rId14"/>
    <p:sldId id="258" r:id="rId15"/>
    <p:sldId id="537" r:id="rId16"/>
    <p:sldId id="538" r:id="rId17"/>
    <p:sldId id="383" r:id="rId18"/>
    <p:sldId id="388" r:id="rId19"/>
    <p:sldId id="384" r:id="rId20"/>
    <p:sldId id="393" r:id="rId21"/>
    <p:sldId id="394" r:id="rId22"/>
    <p:sldId id="385" r:id="rId23"/>
    <p:sldId id="429" r:id="rId24"/>
    <p:sldId id="386" r:id="rId25"/>
    <p:sldId id="396" r:id="rId26"/>
    <p:sldId id="395" r:id="rId27"/>
    <p:sldId id="398" r:id="rId28"/>
    <p:sldId id="387" r:id="rId29"/>
    <p:sldId id="958" r:id="rId30"/>
    <p:sldId id="959" r:id="rId31"/>
    <p:sldId id="960" r:id="rId32"/>
    <p:sldId id="966" r:id="rId33"/>
    <p:sldId id="1024" r:id="rId34"/>
    <p:sldId id="1025" r:id="rId35"/>
    <p:sldId id="1036" r:id="rId36"/>
    <p:sldId id="1037" r:id="rId37"/>
    <p:sldId id="1027" r:id="rId38"/>
    <p:sldId id="1028" r:id="rId39"/>
    <p:sldId id="967" r:id="rId40"/>
    <p:sldId id="1038" r:id="rId41"/>
    <p:sldId id="1039" r:id="rId42"/>
    <p:sldId id="1040" r:id="rId43"/>
    <p:sldId id="1041" r:id="rId44"/>
    <p:sldId id="1029" r:id="rId45"/>
    <p:sldId id="1042" r:id="rId46"/>
    <p:sldId id="1030" r:id="rId47"/>
    <p:sldId id="1031" r:id="rId48"/>
    <p:sldId id="1059" r:id="rId49"/>
    <p:sldId id="1043" r:id="rId50"/>
    <p:sldId id="1044" r:id="rId51"/>
    <p:sldId id="1045" r:id="rId52"/>
    <p:sldId id="1046" r:id="rId53"/>
    <p:sldId id="1047" r:id="rId54"/>
    <p:sldId id="1048" r:id="rId55"/>
    <p:sldId id="1049" r:id="rId56"/>
    <p:sldId id="1050" r:id="rId57"/>
    <p:sldId id="1051" r:id="rId58"/>
    <p:sldId id="1052" r:id="rId59"/>
    <p:sldId id="1053" r:id="rId60"/>
    <p:sldId id="1054" r:id="rId61"/>
    <p:sldId id="1055" r:id="rId62"/>
    <p:sldId id="1056" r:id="rId63"/>
    <p:sldId id="1057" r:id="rId64"/>
    <p:sldId id="1058" r:id="rId65"/>
    <p:sldId id="1062" r:id="rId66"/>
    <p:sldId id="1063" r:id="rId67"/>
    <p:sldId id="1064" r:id="rId68"/>
    <p:sldId id="1065" r:id="rId69"/>
    <p:sldId id="1067" r:id="rId70"/>
    <p:sldId id="1068" r:id="rId71"/>
    <p:sldId id="1069" r:id="rId72"/>
    <p:sldId id="1070" r:id="rId73"/>
    <p:sldId id="1071" r:id="rId74"/>
    <p:sldId id="1066" r:id="rId75"/>
    <p:sldId id="1127" r:id="rId76"/>
    <p:sldId id="1130" r:id="rId77"/>
    <p:sldId id="1032" r:id="rId78"/>
    <p:sldId id="1033" r:id="rId79"/>
    <p:sldId id="1139" r:id="rId80"/>
    <p:sldId id="1073" r:id="rId81"/>
    <p:sldId id="404" r:id="rId82"/>
    <p:sldId id="405" r:id="rId83"/>
    <p:sldId id="430" r:id="rId84"/>
    <p:sldId id="1072" r:id="rId85"/>
    <p:sldId id="1074" r:id="rId86"/>
    <p:sldId id="408" r:id="rId87"/>
    <p:sldId id="1076" r:id="rId88"/>
    <p:sldId id="1075" r:id="rId89"/>
    <p:sldId id="1077" r:id="rId90"/>
    <p:sldId id="377" r:id="rId91"/>
    <p:sldId id="1090" r:id="rId92"/>
    <p:sldId id="410" r:id="rId93"/>
    <p:sldId id="411" r:id="rId94"/>
    <p:sldId id="1078" r:id="rId95"/>
    <p:sldId id="432" r:id="rId96"/>
    <p:sldId id="433" r:id="rId97"/>
    <p:sldId id="434" r:id="rId98"/>
    <p:sldId id="435" r:id="rId99"/>
    <p:sldId id="436" r:id="rId100"/>
    <p:sldId id="437" r:id="rId101"/>
    <p:sldId id="1079" r:id="rId102"/>
    <p:sldId id="438" r:id="rId103"/>
    <p:sldId id="1080" r:id="rId104"/>
    <p:sldId id="413" r:id="rId105"/>
    <p:sldId id="417" r:id="rId106"/>
    <p:sldId id="418" r:id="rId107"/>
    <p:sldId id="420" r:id="rId108"/>
    <p:sldId id="419" r:id="rId109"/>
    <p:sldId id="421" r:id="rId110"/>
    <p:sldId id="422" r:id="rId111"/>
    <p:sldId id="423" r:id="rId112"/>
    <p:sldId id="424" r:id="rId113"/>
    <p:sldId id="957" r:id="rId114"/>
    <p:sldId id="427" r:id="rId115"/>
    <p:sldId id="428" r:id="rId116"/>
    <p:sldId id="972" r:id="rId117"/>
    <p:sldId id="973" r:id="rId118"/>
    <p:sldId id="1092" r:id="rId119"/>
    <p:sldId id="1093" r:id="rId120"/>
    <p:sldId id="415" r:id="rId121"/>
    <p:sldId id="439" r:id="rId122"/>
    <p:sldId id="449" r:id="rId123"/>
    <p:sldId id="454" r:id="rId124"/>
    <p:sldId id="463" r:id="rId125"/>
    <p:sldId id="440" r:id="rId126"/>
    <p:sldId id="450" r:id="rId127"/>
    <p:sldId id="441" r:id="rId128"/>
    <p:sldId id="452" r:id="rId129"/>
    <p:sldId id="451" r:id="rId130"/>
    <p:sldId id="442" r:id="rId131"/>
    <p:sldId id="453" r:id="rId132"/>
    <p:sldId id="443" r:id="rId133"/>
    <p:sldId id="455" r:id="rId134"/>
    <p:sldId id="444" r:id="rId135"/>
    <p:sldId id="445" r:id="rId136"/>
    <p:sldId id="456" r:id="rId137"/>
    <p:sldId id="447" r:id="rId138"/>
    <p:sldId id="457" r:id="rId139"/>
    <p:sldId id="446" r:id="rId140"/>
    <p:sldId id="1094" r:id="rId141"/>
    <p:sldId id="458" r:id="rId142"/>
    <p:sldId id="448" r:id="rId143"/>
    <p:sldId id="459" r:id="rId144"/>
    <p:sldId id="962" r:id="rId145"/>
    <p:sldId id="460" r:id="rId146"/>
    <p:sldId id="461" r:id="rId147"/>
    <p:sldId id="1095" r:id="rId148"/>
    <p:sldId id="971" r:id="rId149"/>
    <p:sldId id="464" r:id="rId150"/>
    <p:sldId id="462" r:id="rId151"/>
    <p:sldId id="465" r:id="rId152"/>
    <p:sldId id="466" r:id="rId153"/>
    <p:sldId id="467" r:id="rId154"/>
    <p:sldId id="469" r:id="rId155"/>
    <p:sldId id="468" r:id="rId156"/>
    <p:sldId id="1035" r:id="rId157"/>
    <p:sldId id="1134" r:id="rId158"/>
    <p:sldId id="1138" r:id="rId159"/>
    <p:sldId id="1084" r:id="rId160"/>
    <p:sldId id="416" r:id="rId161"/>
    <p:sldId id="480" r:id="rId162"/>
    <p:sldId id="470" r:id="rId163"/>
    <p:sldId id="471" r:id="rId164"/>
    <p:sldId id="474" r:id="rId165"/>
    <p:sldId id="473" r:id="rId166"/>
    <p:sldId id="1131" r:id="rId167"/>
    <p:sldId id="1132" r:id="rId168"/>
    <p:sldId id="1133" r:id="rId169"/>
    <p:sldId id="475" r:id="rId170"/>
    <p:sldId id="476" r:id="rId171"/>
    <p:sldId id="477" r:id="rId172"/>
    <p:sldId id="481" r:id="rId173"/>
    <p:sldId id="482" r:id="rId174"/>
    <p:sldId id="483" r:id="rId175"/>
    <p:sldId id="484" r:id="rId176"/>
    <p:sldId id="485" r:id="rId177"/>
    <p:sldId id="486" r:id="rId178"/>
    <p:sldId id="487" r:id="rId179"/>
    <p:sldId id="488" r:id="rId180"/>
    <p:sldId id="489" r:id="rId181"/>
    <p:sldId id="490" r:id="rId182"/>
    <p:sldId id="478" r:id="rId183"/>
    <p:sldId id="492" r:id="rId184"/>
    <p:sldId id="493" r:id="rId185"/>
    <p:sldId id="495" r:id="rId186"/>
    <p:sldId id="499" r:id="rId187"/>
    <p:sldId id="500" r:id="rId188"/>
    <p:sldId id="501" r:id="rId189"/>
    <p:sldId id="502" r:id="rId190"/>
    <p:sldId id="503" r:id="rId191"/>
    <p:sldId id="504" r:id="rId192"/>
    <p:sldId id="505" r:id="rId193"/>
    <p:sldId id="506" r:id="rId194"/>
    <p:sldId id="507" r:id="rId195"/>
    <p:sldId id="508" r:id="rId196"/>
    <p:sldId id="510" r:id="rId197"/>
    <p:sldId id="509" r:id="rId198"/>
    <p:sldId id="511" r:id="rId199"/>
    <p:sldId id="512" r:id="rId200"/>
    <p:sldId id="513" r:id="rId201"/>
    <p:sldId id="1096" r:id="rId202"/>
    <p:sldId id="514" r:id="rId203"/>
    <p:sldId id="515" r:id="rId204"/>
    <p:sldId id="516" r:id="rId205"/>
    <p:sldId id="1086" r:id="rId206"/>
    <p:sldId id="1085" r:id="rId207"/>
    <p:sldId id="517" r:id="rId208"/>
    <p:sldId id="518" r:id="rId209"/>
    <p:sldId id="1010" r:id="rId210"/>
    <p:sldId id="1097" r:id="rId211"/>
    <p:sldId id="975" r:id="rId212"/>
    <p:sldId id="976" r:id="rId213"/>
    <p:sldId id="977" r:id="rId214"/>
    <p:sldId id="974" r:id="rId215"/>
    <p:sldId id="978" r:id="rId216"/>
    <p:sldId id="519" r:id="rId217"/>
    <p:sldId id="520" r:id="rId218"/>
    <p:sldId id="521" r:id="rId219"/>
    <p:sldId id="522" r:id="rId220"/>
    <p:sldId id="523" r:id="rId221"/>
    <p:sldId id="524" r:id="rId222"/>
    <p:sldId id="525" r:id="rId223"/>
    <p:sldId id="527" r:id="rId224"/>
    <p:sldId id="528" r:id="rId225"/>
    <p:sldId id="526" r:id="rId226"/>
    <p:sldId id="529" r:id="rId227"/>
    <p:sldId id="1087" r:id="rId228"/>
    <p:sldId id="1125" r:id="rId229"/>
    <p:sldId id="545" r:id="rId230"/>
    <p:sldId id="1098" r:id="rId231"/>
    <p:sldId id="1099" r:id="rId232"/>
    <p:sldId id="1100" r:id="rId233"/>
    <p:sldId id="1101" r:id="rId234"/>
    <p:sldId id="1102" r:id="rId235"/>
    <p:sldId id="1126" r:id="rId236"/>
    <p:sldId id="1105" r:id="rId237"/>
    <p:sldId id="1124" r:id="rId238"/>
    <p:sldId id="1123" r:id="rId2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22BD"/>
    <a:srgbClr val="00F0C8"/>
    <a:srgbClr val="00020C"/>
    <a:srgbClr val="00010C"/>
    <a:srgbClr val="03000C"/>
    <a:srgbClr val="F4F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84" autoAdjust="0"/>
  </p:normalViewPr>
  <p:slideViewPr>
    <p:cSldViewPr snapToGrid="0">
      <p:cViewPr varScale="1">
        <p:scale>
          <a:sx n="98" d="100"/>
          <a:sy n="98" d="100"/>
        </p:scale>
        <p:origin x="82"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2" Type="http://schemas.openxmlformats.org/officeDocument/2006/relationships/tableStyles" Target="tableStyles.xml"/><Relationship Id="rId241" Type="http://schemas.openxmlformats.org/officeDocument/2006/relationships/viewProps" Target="viewProps.xml"/><Relationship Id="rId240" Type="http://schemas.openxmlformats.org/officeDocument/2006/relationships/presProps" Target="presProps.xml"/><Relationship Id="rId24" Type="http://schemas.openxmlformats.org/officeDocument/2006/relationships/slide" Target="slides/slide21.xml"/><Relationship Id="rId239" Type="http://schemas.openxmlformats.org/officeDocument/2006/relationships/slide" Target="slides/slide236.xml"/><Relationship Id="rId238" Type="http://schemas.openxmlformats.org/officeDocument/2006/relationships/slide" Target="slides/slide235.xml"/><Relationship Id="rId237" Type="http://schemas.openxmlformats.org/officeDocument/2006/relationships/slide" Target="slides/slide234.xml"/><Relationship Id="rId236" Type="http://schemas.openxmlformats.org/officeDocument/2006/relationships/slide" Target="slides/slide233.xml"/><Relationship Id="rId235" Type="http://schemas.openxmlformats.org/officeDocument/2006/relationships/slide" Target="slides/slide232.xml"/><Relationship Id="rId234" Type="http://schemas.openxmlformats.org/officeDocument/2006/relationships/slide" Target="slides/slide231.xml"/><Relationship Id="rId233" Type="http://schemas.openxmlformats.org/officeDocument/2006/relationships/slide" Target="slides/slide230.xml"/><Relationship Id="rId232" Type="http://schemas.openxmlformats.org/officeDocument/2006/relationships/slide" Target="slides/slide229.xml"/><Relationship Id="rId231" Type="http://schemas.openxmlformats.org/officeDocument/2006/relationships/slide" Target="slides/slide228.xml"/><Relationship Id="rId230" Type="http://schemas.openxmlformats.org/officeDocument/2006/relationships/slide" Target="slides/slide227.xml"/><Relationship Id="rId23" Type="http://schemas.openxmlformats.org/officeDocument/2006/relationships/slide" Target="slides/slide20.xml"/><Relationship Id="rId229" Type="http://schemas.openxmlformats.org/officeDocument/2006/relationships/slide" Target="slides/slide226.xml"/><Relationship Id="rId228" Type="http://schemas.openxmlformats.org/officeDocument/2006/relationships/slide" Target="slides/slide225.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94808-8A67-4B8C-A069-6C2295F2E8B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AF089-8F83-4FFA-8A5D-A44B12624C4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或者说，我们将面临什么问题，而其解决方法是：线性规划方法（先陈述问题，确定问题符合</a:t>
            </a:r>
            <a:r>
              <a:rPr lang="en-US" altLang="zh-CN" dirty="0"/>
              <a:t>4</a:t>
            </a:r>
            <a:r>
              <a:rPr lang="zh-CN" altLang="en-US" dirty="0"/>
              <a:t>个假定条件，是线性的，然后建立问题的数学模型，然后用单纯形法求解得到最佳方案，这个最佳方案就可以作为决策的的一个输入方案）</a:t>
            </a:r>
            <a:endParaRPr lang="zh-CN" altLang="en-US" dirty="0"/>
          </a:p>
        </p:txBody>
      </p:sp>
      <p:sp>
        <p:nvSpPr>
          <p:cNvPr id="4" name="灯片编号占位符 3"/>
          <p:cNvSpPr>
            <a:spLocks noGrp="1"/>
          </p:cNvSpPr>
          <p:nvPr>
            <p:ph type="sldNum" sz="quarter" idx="5"/>
          </p:nvPr>
        </p:nvSpPr>
        <p:spPr/>
        <p:txBody>
          <a:bodyPr/>
          <a:lstStyle/>
          <a:p>
            <a:fld id="{1E0AF089-8F83-4FFA-8A5D-A44B12624C4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这样，只要我们指导我们每日营养所需，也指导各种菜品的营养成分，则可以合理安排我们的膳食！</a:t>
            </a:r>
            <a:endParaRPr lang="zh-CN" altLang="en-US" dirty="0"/>
          </a:p>
        </p:txBody>
      </p:sp>
      <p:sp>
        <p:nvSpPr>
          <p:cNvPr id="4" name="灯片编号占位符 3"/>
          <p:cNvSpPr>
            <a:spLocks noGrp="1"/>
          </p:cNvSpPr>
          <p:nvPr>
            <p:ph type="sldNum" sz="quarter" idx="5"/>
          </p:nvPr>
        </p:nvSpPr>
        <p:spPr/>
        <p:txBody>
          <a:bodyPr/>
          <a:lstStyle/>
          <a:p>
            <a:fld id="{1E0AF089-8F83-4FFA-8A5D-A44B12624C4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a:t>
            </a:r>
            <a:r>
              <a:rPr lang="zh-CN" altLang="en-US" dirty="0"/>
              <a:t>，追求：最大利润</a:t>
            </a:r>
            <a:endParaRPr lang="en-US" altLang="zh-CN" dirty="0"/>
          </a:p>
          <a:p>
            <a:r>
              <a:rPr lang="en-US" altLang="zh-CN" dirty="0"/>
              <a:t>2</a:t>
            </a:r>
            <a:r>
              <a:rPr lang="zh-CN" altLang="en-US" dirty="0"/>
              <a:t>，什么活动能够带来利润：放贷款   购买有价证券，</a:t>
            </a:r>
            <a:endParaRPr lang="en-US" altLang="zh-CN" dirty="0"/>
          </a:p>
          <a:p>
            <a:r>
              <a:rPr lang="en-US" altLang="zh-CN" dirty="0"/>
              <a:t>2</a:t>
            </a:r>
            <a:r>
              <a:rPr lang="zh-CN" altLang="en-US" dirty="0"/>
              <a:t>，活动都将产生利润，但并能简单的讲某个活动单位利润最高就全部投资它，因为需要兼顾其它考虑</a:t>
            </a:r>
            <a:endParaRPr lang="en-US" altLang="zh-CN" dirty="0"/>
          </a:p>
          <a:p>
            <a:r>
              <a:rPr lang="en-US" altLang="zh-CN" dirty="0"/>
              <a:t>4</a:t>
            </a:r>
            <a:r>
              <a:rPr lang="zh-CN" altLang="en-US" dirty="0"/>
              <a:t>，活动水平安排，确定决策变量，用作贷款的决定投</a:t>
            </a:r>
            <a:r>
              <a:rPr lang="en-US" altLang="zh-CN" dirty="0"/>
              <a:t>L</a:t>
            </a:r>
            <a:r>
              <a:rPr lang="zh-CN" altLang="en-US" dirty="0"/>
              <a:t>和用作有价证券的投</a:t>
            </a:r>
            <a:r>
              <a:rPr lang="en-US" altLang="zh-CN" dirty="0"/>
              <a:t>S</a:t>
            </a:r>
            <a:endParaRPr lang="en-US" altLang="zh-CN" dirty="0"/>
          </a:p>
          <a:p>
            <a:r>
              <a:rPr lang="en-US" altLang="zh-CN" dirty="0"/>
              <a:t>5</a:t>
            </a:r>
            <a:r>
              <a:rPr lang="zh-CN" altLang="en-US" dirty="0"/>
              <a:t>，利润将由这样的活动水平安排带来，利润设为</a:t>
            </a:r>
            <a:r>
              <a:rPr lang="en-US" altLang="zh-CN" dirty="0"/>
              <a:t>z</a:t>
            </a:r>
            <a:endParaRPr lang="en-US" altLang="zh-CN" dirty="0"/>
          </a:p>
          <a:p>
            <a:r>
              <a:rPr lang="en-US" altLang="zh-CN" dirty="0"/>
              <a:t>z </a:t>
            </a:r>
            <a:r>
              <a:rPr lang="zh-CN" altLang="en-US" dirty="0"/>
              <a:t>是 </a:t>
            </a:r>
            <a:r>
              <a:rPr lang="en-US" altLang="zh-CN" dirty="0"/>
              <a:t>L</a:t>
            </a:r>
            <a:r>
              <a:rPr lang="zh-CN" altLang="en-US" dirty="0"/>
              <a:t>，</a:t>
            </a:r>
            <a:r>
              <a:rPr lang="en-US" altLang="zh-CN" dirty="0"/>
              <a:t>S</a:t>
            </a:r>
            <a:r>
              <a:rPr lang="zh-CN" altLang="en-US" dirty="0"/>
              <a:t>的函数   </a:t>
            </a:r>
            <a:r>
              <a:rPr lang="en-US" altLang="zh-CN" dirty="0"/>
              <a:t>z =    L        +       S</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6,</a:t>
            </a:r>
            <a:r>
              <a:rPr lang="zh-CN" altLang="en-US" sz="1200" dirty="0">
                <a:solidFill>
                  <a:srgbClr val="060606"/>
                </a:solidFill>
              </a:rPr>
              <a:t>设贷款的利率为</a:t>
            </a:r>
            <a:r>
              <a:rPr lang="en-US" altLang="zh-CN" sz="1200" dirty="0">
                <a:solidFill>
                  <a:srgbClr val="060606"/>
                </a:solidFill>
              </a:rPr>
              <a:t>10%</a:t>
            </a:r>
            <a:r>
              <a:rPr lang="zh-CN" altLang="en-US" sz="1200" dirty="0">
                <a:solidFill>
                  <a:srgbClr val="060606"/>
                </a:solidFill>
              </a:rPr>
              <a:t>，债券的利率为</a:t>
            </a:r>
            <a:r>
              <a:rPr lang="en-US" altLang="zh-CN" sz="1200" dirty="0">
                <a:solidFill>
                  <a:srgbClr val="060606"/>
                </a:solidFill>
              </a:rPr>
              <a:t>5%</a:t>
            </a:r>
            <a:r>
              <a:rPr lang="zh-CN" altLang="en-US" sz="1200" dirty="0">
                <a:solidFill>
                  <a:srgbClr val="060606"/>
                </a:solidFill>
              </a:rPr>
              <a:t>，两者的总利润为</a:t>
            </a:r>
            <a:r>
              <a:rPr lang="en-US" altLang="zh-CN" sz="1200" dirty="0">
                <a:solidFill>
                  <a:srgbClr val="060606"/>
                </a:solidFill>
              </a:rPr>
              <a:t>Z</a:t>
            </a:r>
            <a:r>
              <a:rPr lang="zh-CN" altLang="en-US" sz="1200" dirty="0">
                <a:solidFill>
                  <a:srgbClr val="060606"/>
                </a:solidFill>
              </a:rPr>
              <a:t>，则</a:t>
            </a:r>
            <a:r>
              <a:rPr lang="en-US" altLang="zh-CN" sz="1200" dirty="0">
                <a:solidFill>
                  <a:srgbClr val="060606"/>
                </a:solidFill>
              </a:rPr>
              <a:t>Z = 0.1L + 0.05S</a:t>
            </a:r>
            <a:endParaRPr lang="en-US" altLang="zh-CN" sz="12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rgbClr val="060606"/>
                </a:solidFill>
              </a:rPr>
              <a:t>7,</a:t>
            </a:r>
            <a:r>
              <a:rPr lang="zh-CN" altLang="en-US" sz="1200" dirty="0">
                <a:solidFill>
                  <a:srgbClr val="060606"/>
                </a:solidFill>
              </a:rPr>
              <a:t>银行的目标是希望利润取最大值。</a:t>
            </a:r>
            <a:r>
              <a:rPr lang="en-US" altLang="zh-CN" sz="1200" dirty="0">
                <a:solidFill>
                  <a:srgbClr val="060606"/>
                </a:solidFill>
              </a:rPr>
              <a:t>Max Z = 0.1L + 0.05S</a:t>
            </a:r>
            <a:endParaRPr lang="en-US" altLang="zh-CN" sz="12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rgbClr val="060606"/>
                </a:solidFill>
              </a:rPr>
              <a:t>8,s.t.</a:t>
            </a:r>
            <a:r>
              <a:rPr lang="zh-CN" altLang="en-US" sz="1200" dirty="0">
                <a:solidFill>
                  <a:srgbClr val="060606"/>
                </a:solidFill>
              </a:rPr>
              <a:t>贷款和债券受到总的资金约束，</a:t>
            </a:r>
            <a:r>
              <a:rPr lang="en-US" altLang="zh-CN" sz="1200" dirty="0">
                <a:solidFill>
                  <a:srgbClr val="060606"/>
                </a:solidFill>
              </a:rPr>
              <a:t>L+S ≤100</a:t>
            </a:r>
            <a:endParaRPr lang="en-US" altLang="zh-CN" sz="12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rgbClr val="060606"/>
                </a:solidFill>
              </a:rPr>
              <a:t>其有信用的老贷款户能随时贷到款，因此，留给贷款部分不低于</a:t>
            </a:r>
            <a:r>
              <a:rPr lang="en-US" altLang="zh-CN" sz="1200" dirty="0">
                <a:solidFill>
                  <a:srgbClr val="060606"/>
                </a:solidFill>
              </a:rPr>
              <a:t>30</a:t>
            </a:r>
            <a:r>
              <a:rPr lang="zh-CN" altLang="en-US" sz="1200" dirty="0">
                <a:solidFill>
                  <a:srgbClr val="060606"/>
                </a:solidFill>
              </a:rPr>
              <a:t>万元</a:t>
            </a:r>
            <a:endParaRPr lang="en-US" altLang="zh-CN" sz="12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rgbClr val="060606"/>
                </a:solidFill>
              </a:rPr>
              <a:t>至少有</a:t>
            </a:r>
            <a:r>
              <a:rPr lang="en-US" altLang="zh-CN" sz="1200" dirty="0">
                <a:solidFill>
                  <a:srgbClr val="060606"/>
                </a:solidFill>
              </a:rPr>
              <a:t>25%</a:t>
            </a:r>
            <a:r>
              <a:rPr lang="zh-CN" altLang="en-US" sz="1200" dirty="0">
                <a:solidFill>
                  <a:srgbClr val="060606"/>
                </a:solidFill>
              </a:rPr>
              <a:t>的投资资金</a:t>
            </a:r>
            <a:r>
              <a:rPr lang="en-US" altLang="zh-CN" sz="1200" dirty="0">
                <a:solidFill>
                  <a:srgbClr val="060606"/>
                </a:solidFill>
              </a:rPr>
              <a:t>(S+L)</a:t>
            </a:r>
            <a:r>
              <a:rPr lang="zh-CN" altLang="en-US" sz="1200" dirty="0">
                <a:solidFill>
                  <a:srgbClr val="060606"/>
                </a:solidFill>
              </a:rPr>
              <a:t>具有灵活变现能力</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rgbClr val="060606"/>
                </a:solidFill>
              </a:rPr>
              <a:t>L ≥30</a:t>
            </a:r>
            <a:r>
              <a:rPr lang="zh-CN" altLang="en-US" sz="1200" dirty="0">
                <a:solidFill>
                  <a:srgbClr val="060606"/>
                </a:solidFill>
              </a:rPr>
              <a:t>。</a:t>
            </a:r>
            <a:endParaRPr lang="en-US" altLang="zh-CN" sz="12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rgbClr val="060606"/>
                </a:solidFill>
              </a:rPr>
              <a:t>L</a:t>
            </a:r>
            <a:r>
              <a:rPr lang="zh-CN" altLang="en-US" sz="1200" dirty="0">
                <a:solidFill>
                  <a:srgbClr val="060606"/>
                </a:solidFill>
              </a:rPr>
              <a:t>、</a:t>
            </a:r>
            <a:r>
              <a:rPr lang="en-US" altLang="zh-CN" sz="1200" dirty="0">
                <a:solidFill>
                  <a:srgbClr val="060606"/>
                </a:solidFill>
              </a:rPr>
              <a:t>S</a:t>
            </a:r>
            <a:r>
              <a:rPr lang="zh-CN" altLang="en-US" sz="1200" dirty="0">
                <a:solidFill>
                  <a:srgbClr val="060606"/>
                </a:solidFill>
              </a:rPr>
              <a:t>都不会为负数，即：</a:t>
            </a:r>
            <a:r>
              <a:rPr lang="en-US" altLang="zh-CN" sz="1200" dirty="0">
                <a:solidFill>
                  <a:srgbClr val="060606"/>
                </a:solidFill>
              </a:rPr>
              <a:t>L ≥0</a:t>
            </a:r>
            <a:r>
              <a:rPr lang="zh-CN" altLang="en-US" sz="1200" dirty="0">
                <a:solidFill>
                  <a:srgbClr val="060606"/>
                </a:solidFill>
              </a:rPr>
              <a:t>，</a:t>
            </a:r>
            <a:r>
              <a:rPr lang="en-US" altLang="zh-CN" sz="1200" dirty="0">
                <a:solidFill>
                  <a:srgbClr val="060606"/>
                </a:solidFill>
              </a:rPr>
              <a:t>S≥0</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回答决策什么这个问题，就需要知道决策变量的实质，其实质是：为达成任务，可以有多种方案</a:t>
            </a:r>
            <a:r>
              <a:rPr lang="en-US" altLang="zh-CN" dirty="0"/>
              <a:t>——</a:t>
            </a:r>
            <a:r>
              <a:rPr lang="zh-CN" altLang="en-US" dirty="0"/>
              <a:t>在运筹学中称之为竞争性活动，比如，为达成利润，可以生产</a:t>
            </a:r>
            <a:r>
              <a:rPr lang="en-US" altLang="zh-CN" dirty="0"/>
              <a:t>1</a:t>
            </a:r>
            <a:r>
              <a:rPr lang="zh-CN" altLang="en-US" dirty="0"/>
              <a:t>型饼干，也可以生产</a:t>
            </a:r>
            <a:r>
              <a:rPr lang="en-US" altLang="zh-CN" dirty="0"/>
              <a:t>2</a:t>
            </a:r>
            <a:r>
              <a:rPr lang="zh-CN" altLang="en-US" dirty="0"/>
              <a:t>型饼干；又比如为构成一套产品，可以这样截断一节</a:t>
            </a:r>
            <a:r>
              <a:rPr lang="en-US" altLang="zh-CN" dirty="0"/>
              <a:t>5cm</a:t>
            </a:r>
            <a:r>
              <a:rPr lang="zh-CN" altLang="en-US" dirty="0"/>
              <a:t>的钢管，也可以那样截断</a:t>
            </a:r>
            <a:r>
              <a:rPr lang="en-US" altLang="zh-CN" dirty="0"/>
              <a:t>——</a:t>
            </a:r>
            <a:r>
              <a:rPr lang="zh-CN" altLang="en-US" dirty="0"/>
              <a:t>而决策的是（基于每种方案对于任务的单位贡献以及条件的限制下）每种方案的量</a:t>
            </a:r>
            <a:r>
              <a:rPr lang="en-US" altLang="zh-CN" dirty="0"/>
              <a:t>——</a:t>
            </a:r>
            <a:r>
              <a:rPr lang="zh-CN" altLang="en-US" dirty="0"/>
              <a:t>在决策的最初，当然是未知的。</a:t>
            </a:r>
            <a:endParaRPr lang="zh-CN" altLang="en-US" dirty="0"/>
          </a:p>
        </p:txBody>
      </p:sp>
      <p:sp>
        <p:nvSpPr>
          <p:cNvPr id="4" name="灯片编号占位符 3"/>
          <p:cNvSpPr>
            <a:spLocks noGrp="1"/>
          </p:cNvSpPr>
          <p:nvPr>
            <p:ph type="sldNum" sz="quarter" idx="5"/>
          </p:nvPr>
        </p:nvSpPr>
        <p:spPr/>
        <p:txBody>
          <a:bodyPr/>
          <a:lstStyle/>
          <a:p>
            <a:fld id="{1E0AF089-8F83-4FFA-8A5D-A44B12624C4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即，我们可以用线性规划方法解决的问题的性质 ： </a:t>
            </a:r>
            <a:r>
              <a:rPr lang="en-US" altLang="zh-CN" dirty="0"/>
              <a:t>4</a:t>
            </a:r>
            <a:r>
              <a:rPr lang="zh-CN" altLang="en-US" dirty="0"/>
              <a:t>个假定，这个问题必须是：可除的、比例性、可加的、确定性</a:t>
            </a:r>
            <a:r>
              <a:rPr lang="en-US" altLang="zh-CN" dirty="0"/>
              <a:t>+</a:t>
            </a:r>
            <a:r>
              <a:rPr lang="zh-CN" altLang="en-US" dirty="0"/>
              <a:t>资源和任务的关系规划</a:t>
            </a:r>
            <a:endParaRPr lang="zh-CN" altLang="en-US" dirty="0"/>
          </a:p>
        </p:txBody>
      </p:sp>
      <p:sp>
        <p:nvSpPr>
          <p:cNvPr id="4" name="灯片编号占位符 3"/>
          <p:cNvSpPr>
            <a:spLocks noGrp="1"/>
          </p:cNvSpPr>
          <p:nvPr>
            <p:ph type="sldNum" sz="quarter" idx="5"/>
          </p:nvPr>
        </p:nvSpPr>
        <p:spPr/>
        <p:txBody>
          <a:bodyPr/>
          <a:lstStyle/>
          <a:p>
            <a:fld id="{1E0AF089-8F83-4FFA-8A5D-A44B12624C4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决策变量与函数之间是否是线性的取决于我们的常识、知识以及事实，所以并不能随意假定：</a:t>
            </a:r>
            <a:endParaRPr lang="en-US" altLang="zh-CN" dirty="0"/>
          </a:p>
          <a:p>
            <a:r>
              <a:rPr lang="zh-CN" altLang="en-US" dirty="0"/>
              <a:t>比如：</a:t>
            </a:r>
            <a:endParaRPr lang="en-US" altLang="zh-CN" dirty="0"/>
          </a:p>
          <a:p>
            <a:r>
              <a:rPr lang="en-US" altLang="zh-CN" dirty="0"/>
              <a:t>1</a:t>
            </a:r>
            <a:r>
              <a:rPr lang="zh-CN" altLang="en-US" dirty="0"/>
              <a:t>，定期存款，因为利率一定，所以本金和利息是一个线性关系</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2</a:t>
            </a:r>
            <a:r>
              <a:rPr lang="zh-CN" altLang="en-US" dirty="0"/>
              <a:t>，产品存在价格弹性问题：如</a:t>
            </a:r>
            <a:r>
              <a:rPr lang="zh-CN" altLang="en-US" sz="1200" dirty="0"/>
              <a:t>为了能够销售</a:t>
            </a:r>
            <a:r>
              <a:rPr lang="en-US" altLang="zh-CN" sz="1200" dirty="0"/>
              <a:t>x</a:t>
            </a:r>
            <a:r>
              <a:rPr lang="zh-CN" altLang="en-US" sz="1200" dirty="0"/>
              <a:t>单位的产品而确定的价格，这个价格与销售量成反比例关系，具体为</a:t>
            </a:r>
            <a:r>
              <a:rPr lang="en-US" altLang="zh-CN" sz="1200" dirty="0"/>
              <a:t> (35+100x</a:t>
            </a:r>
            <a:r>
              <a:rPr lang="en-US" altLang="zh-CN" sz="1200" baseline="30000" dirty="0"/>
              <a:t>-1/3</a:t>
            </a:r>
            <a:r>
              <a:rPr lang="en-US" altLang="zh-CN" sz="1200" dirty="0"/>
              <a:t>)</a:t>
            </a:r>
            <a:r>
              <a:rPr lang="zh-CN" altLang="en-US" sz="1200" dirty="0"/>
              <a:t>。因而销量与收入是非线性关系。除非以定价销售，如</a:t>
            </a:r>
            <a:r>
              <a:rPr lang="en-US" altLang="zh-CN" sz="1200" dirty="0"/>
              <a:t>35</a:t>
            </a:r>
            <a:r>
              <a:rPr lang="zh-CN" altLang="en-US" sz="1200" dirty="0"/>
              <a:t>，则是线性关系。</a:t>
            </a:r>
            <a:endParaRPr lang="en-US" altLang="zh-CN" sz="1200"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a:t>3</a:t>
            </a:r>
            <a:r>
              <a:rPr lang="zh-CN" altLang="en-US" sz="1200" dirty="0"/>
              <a:t>，比如“产品交互”情况对于时间资源的影响（来回转换浪费时间，并行使用节约时间）也许并不能忽略！</a:t>
            </a:r>
            <a:endParaRPr lang="en-US" altLang="zh-CN" sz="1200"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200" dirty="0"/>
          </a:p>
          <a:p>
            <a:pPr>
              <a:buNone/>
            </a:pPr>
            <a:r>
              <a:rPr lang="zh-CN" altLang="en-US" sz="1200" dirty="0"/>
              <a:t>线性：仅仅存在</a:t>
            </a:r>
            <a:r>
              <a:rPr lang="en-US" altLang="zh-CN" sz="1200" dirty="0"/>
              <a:t>1</a:t>
            </a:r>
            <a:r>
              <a:rPr lang="zh-CN" altLang="en-US" sz="1200" dirty="0"/>
              <a:t>次变量，几何上是一条过原点的直线段</a:t>
            </a:r>
            <a:endParaRPr lang="en-US" altLang="zh-CN" sz="1200" dirty="0"/>
          </a:p>
          <a:p>
            <a:pPr>
              <a:buNone/>
            </a:pPr>
            <a:r>
              <a:rPr lang="en-US" altLang="zh-CN" sz="1200" dirty="0"/>
              <a:t>1.</a:t>
            </a:r>
            <a:r>
              <a:rPr lang="zh-CN" altLang="en-US" sz="1200" dirty="0"/>
              <a:t>每个决策变量对目标函数的贡献与决策变量的值成比例。</a:t>
            </a:r>
            <a:r>
              <a:rPr lang="en-US" altLang="zh-CN" sz="1200" dirty="0"/>
              <a:t>z=</a:t>
            </a:r>
            <a:r>
              <a:rPr lang="en-US" altLang="zh-CN" sz="1200" dirty="0" err="1"/>
              <a:t>kx+cy</a:t>
            </a:r>
            <a:endParaRPr lang="en-US" altLang="zh-CN" sz="1200" dirty="0"/>
          </a:p>
          <a:p>
            <a:pPr>
              <a:buNone/>
            </a:pPr>
            <a:r>
              <a:rPr lang="en-US" altLang="zh-CN" sz="1200" dirty="0"/>
              <a:t>2.</a:t>
            </a:r>
            <a:r>
              <a:rPr lang="zh-CN" altLang="en-US" sz="1200" dirty="0"/>
              <a:t>任何变量对目标函数的贡献都与其它决策变量的值无关。不存在</a:t>
            </a:r>
            <a:r>
              <a:rPr lang="en-US" altLang="zh-CN" sz="1200" dirty="0"/>
              <a:t>z=</a:t>
            </a:r>
            <a:r>
              <a:rPr lang="en-US" altLang="zh-CN" sz="1200" dirty="0" err="1"/>
              <a:t>cxy</a:t>
            </a:r>
            <a:endParaRPr lang="en-US" altLang="zh-CN" sz="1200"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200"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继续学习：预测如何作出？各个数据，如技术数据如何得到？</a:t>
            </a:r>
            <a:endParaRPr lang="zh-CN" altLang="en-US" dirty="0"/>
          </a:p>
        </p:txBody>
      </p:sp>
      <p:sp>
        <p:nvSpPr>
          <p:cNvPr id="4" name="灯片编号占位符 3"/>
          <p:cNvSpPr>
            <a:spLocks noGrp="1"/>
          </p:cNvSpPr>
          <p:nvPr>
            <p:ph type="sldNum" sz="quarter" idx="5"/>
          </p:nvPr>
        </p:nvSpPr>
        <p:spPr/>
        <p:txBody>
          <a:bodyPr/>
          <a:lstStyle/>
          <a:p>
            <a:fld id="{1E0AF089-8F83-4FFA-8A5D-A44B12624C4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0" i="0" kern="1200" dirty="0">
                <a:solidFill>
                  <a:schemeClr val="tx1"/>
                </a:solidFill>
                <a:latin typeface="+mn-lt"/>
                <a:ea typeface="+mn-ea"/>
                <a:cs typeface="+mn-cs"/>
              </a:rPr>
              <a:t>所谓不定方程，是指未知数的个数多于方程个数，且未知数受到某些限制（如要求是有理数、整数或正整数等等）的方程或方程组。</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a:solidFill>
                  <a:srgbClr val="060606"/>
                </a:solidFill>
              </a:rPr>
              <a:t>理解“非负松弛变量”</a:t>
            </a:r>
            <a:endParaRPr lang="en-US" altLang="zh-CN" sz="1200" dirty="0">
              <a:solidFill>
                <a:srgbClr val="060606"/>
              </a:solidFill>
            </a:endParaRPr>
          </a:p>
          <a:p>
            <a:r>
              <a:rPr lang="zh-CN" altLang="en-US" sz="1200" dirty="0">
                <a:solidFill>
                  <a:srgbClr val="060606"/>
                </a:solidFill>
              </a:rPr>
              <a:t>以产品生产规划为例：</a:t>
            </a:r>
            <a:endParaRPr lang="en-US" altLang="zh-CN" sz="1200" dirty="0">
              <a:solidFill>
                <a:srgbClr val="060606"/>
              </a:solidFill>
            </a:endParaRPr>
          </a:p>
          <a:p>
            <a:r>
              <a:rPr lang="zh-CN" altLang="en-US" sz="1200" dirty="0">
                <a:solidFill>
                  <a:srgbClr val="060606"/>
                </a:solidFill>
              </a:rPr>
              <a:t>非负松弛变量 </a:t>
            </a:r>
            <a:r>
              <a:rPr lang="en-US" altLang="zh-CN" sz="1200" dirty="0">
                <a:solidFill>
                  <a:srgbClr val="060606"/>
                </a:solidFill>
              </a:rPr>
              <a:t>= </a:t>
            </a:r>
            <a:r>
              <a:rPr lang="zh-CN" altLang="en-US" sz="1200" dirty="0">
                <a:solidFill>
                  <a:srgbClr val="060606"/>
                </a:solidFill>
              </a:rPr>
              <a:t>一种不存在的产品将对其安排生产，决定其生产量；</a:t>
            </a:r>
            <a:endParaRPr lang="en-US" altLang="zh-CN" sz="1200" dirty="0">
              <a:solidFill>
                <a:srgbClr val="060606"/>
              </a:solidFill>
            </a:endParaRPr>
          </a:p>
          <a:p>
            <a:r>
              <a:rPr lang="zh-CN" altLang="en-US" sz="1200" dirty="0">
                <a:solidFill>
                  <a:srgbClr val="060606"/>
                </a:solidFill>
              </a:rPr>
              <a:t>这种生产的目的仅仅是“消耗”资源，但因为该种生产不存在所以并不是实际消耗资源；</a:t>
            </a:r>
            <a:endParaRPr lang="en-US" altLang="zh-CN" sz="1200" dirty="0">
              <a:solidFill>
                <a:srgbClr val="060606"/>
              </a:solidFill>
            </a:endParaRPr>
          </a:p>
          <a:p>
            <a:r>
              <a:rPr lang="zh-CN" altLang="en-US" sz="1200" dirty="0">
                <a:solidFill>
                  <a:srgbClr val="060606"/>
                </a:solidFill>
              </a:rPr>
              <a:t>对于“松弛变量”实际上是一部分资源未被使用，</a:t>
            </a:r>
            <a:endParaRPr lang="en-US" altLang="zh-CN" sz="1200" dirty="0">
              <a:solidFill>
                <a:srgbClr val="060606"/>
              </a:solidFill>
            </a:endParaRPr>
          </a:p>
          <a:p>
            <a:r>
              <a:rPr lang="zh-CN" altLang="en-US" sz="1200" dirty="0">
                <a:solidFill>
                  <a:srgbClr val="060606"/>
                </a:solidFill>
              </a:rPr>
              <a:t>对于“剩余变量”实际上这部分资源消耗在正是产品的生产上。</a:t>
            </a:r>
            <a:endParaRPr lang="en-US" altLang="zh-CN" sz="1200" dirty="0">
              <a:solidFill>
                <a:srgbClr val="060606"/>
              </a:solidFill>
            </a:endParaRPr>
          </a:p>
          <a:p>
            <a:r>
              <a:rPr lang="zh-CN" altLang="en-US" sz="1200" dirty="0">
                <a:solidFill>
                  <a:srgbClr val="060606"/>
                </a:solidFill>
              </a:rPr>
              <a:t>因为是一种不存在的生产，所以其对于目标效益的单位贡献 </a:t>
            </a:r>
            <a:r>
              <a:rPr lang="en-US" altLang="zh-CN" sz="1200" dirty="0">
                <a:solidFill>
                  <a:srgbClr val="060606"/>
                </a:solidFill>
              </a:rPr>
              <a:t>= 0</a:t>
            </a:r>
            <a:r>
              <a:rPr lang="zh-CN" altLang="en-US" sz="1200" dirty="0">
                <a:solidFill>
                  <a:srgbClr val="060606"/>
                </a:solidFill>
              </a:rPr>
              <a:t>。</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所有可行解</a:t>
            </a:r>
            <a:r>
              <a:rPr lang="en-US" altLang="zh-CN" dirty="0"/>
              <a:t>=∑</a:t>
            </a:r>
            <a:r>
              <a:rPr lang="zh-CN" altLang="en-US" dirty="0"/>
              <a:t>基可行解线性表出</a:t>
            </a:r>
            <a:r>
              <a:rPr lang="en-US" altLang="zh-CN" baseline="0" dirty="0"/>
              <a:t> </a:t>
            </a:r>
            <a:endParaRPr lang="en-US" altLang="zh-CN" baseline="0" dirty="0"/>
          </a:p>
          <a:p>
            <a:r>
              <a:rPr lang="zh-CN" altLang="en-US" baseline="0" dirty="0"/>
              <a:t>最优解 在 基可行解 之 中</a:t>
            </a:r>
            <a:endParaRPr lang="en-US" altLang="zh-CN" baseline="0" dirty="0"/>
          </a:p>
          <a:p>
            <a:endParaRPr lang="en-US" altLang="zh-CN" baseline="0" dirty="0"/>
          </a:p>
          <a:p>
            <a:r>
              <a:rPr lang="zh-CN" altLang="en-US" dirty="0"/>
              <a:t>“域” 关乎集合</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0" i="0" kern="1200" dirty="0">
                <a:solidFill>
                  <a:schemeClr val="tx1"/>
                </a:solidFill>
                <a:latin typeface="+mn-lt"/>
                <a:ea typeface="+mn-ea"/>
                <a:cs typeface="+mn-cs"/>
              </a:rPr>
              <a:t>约束方程组的系数矩阵</a:t>
            </a:r>
            <a:r>
              <a:rPr lang="en-US" altLang="zh-CN" sz="1200" b="0" i="0" kern="1200" dirty="0">
                <a:solidFill>
                  <a:schemeClr val="tx1"/>
                </a:solidFill>
                <a:latin typeface="+mn-lt"/>
                <a:ea typeface="+mn-ea"/>
                <a:cs typeface="+mn-cs"/>
              </a:rPr>
              <a:t>A</a:t>
            </a:r>
            <a:r>
              <a:rPr lang="zh-CN" altLang="en-US" sz="1200" b="0" i="0" kern="1200" dirty="0">
                <a:solidFill>
                  <a:schemeClr val="tx1"/>
                </a:solidFill>
                <a:latin typeface="+mn-lt"/>
                <a:ea typeface="+mn-ea"/>
                <a:cs typeface="+mn-cs"/>
              </a:rPr>
              <a:t>的任意一个</a:t>
            </a:r>
            <a:r>
              <a:rPr lang="en-US" altLang="zh-CN" sz="1200" b="0" i="0" kern="1200" dirty="0">
                <a:solidFill>
                  <a:schemeClr val="tx1"/>
                </a:solidFill>
                <a:latin typeface="+mn-lt"/>
                <a:ea typeface="+mn-ea"/>
                <a:cs typeface="+mn-cs"/>
              </a:rPr>
              <a:t>m ×m</a:t>
            </a:r>
            <a:r>
              <a:rPr lang="zh-CN" altLang="en-US" sz="1200" b="0" i="0" kern="1200" dirty="0">
                <a:solidFill>
                  <a:schemeClr val="tx1"/>
                </a:solidFill>
                <a:latin typeface="+mn-lt"/>
                <a:ea typeface="+mn-ea"/>
                <a:cs typeface="+mn-cs"/>
              </a:rPr>
              <a:t>阶的非奇异（满秩）子方阵</a:t>
            </a:r>
            <a:r>
              <a:rPr lang="en-US" altLang="zh-CN" sz="1200" b="0" i="0" kern="1200" dirty="0">
                <a:solidFill>
                  <a:schemeClr val="tx1"/>
                </a:solidFill>
                <a:latin typeface="+mn-lt"/>
                <a:ea typeface="+mn-ea"/>
                <a:cs typeface="+mn-cs"/>
              </a:rPr>
              <a:t>B</a:t>
            </a:r>
            <a:r>
              <a:rPr lang="zh-CN" altLang="en-US" sz="1200" b="0" i="0" kern="1200" dirty="0">
                <a:solidFill>
                  <a:schemeClr val="tx1"/>
                </a:solidFill>
                <a:latin typeface="+mn-lt"/>
                <a:ea typeface="+mn-ea"/>
                <a:cs typeface="+mn-cs"/>
              </a:rPr>
              <a:t>，其列向量线性无关，即方程中任一向量可由这些向量线性表出，故称为线性规划的一个基矩阵，简称为</a:t>
            </a:r>
            <a:r>
              <a:rPr lang="zh-CN" altLang="en-US" sz="1200" b="0" i="0" u="none" strike="noStrike" kern="1200" dirty="0">
                <a:solidFill>
                  <a:schemeClr val="tx1"/>
                </a:solidFill>
                <a:latin typeface="+mn-lt"/>
                <a:ea typeface="+mn-ea"/>
                <a:cs typeface="+mn-cs"/>
              </a:rPr>
              <a:t>基</a:t>
            </a:r>
            <a:r>
              <a:rPr lang="zh-CN" altLang="en-US" sz="1200" b="0" i="0" kern="1200" dirty="0">
                <a:solidFill>
                  <a:schemeClr val="tx1"/>
                </a:solidFill>
                <a:latin typeface="+mn-lt"/>
                <a:ea typeface="+mn-ea"/>
                <a:cs typeface="+mn-cs"/>
              </a:rPr>
              <a:t>。基矩阵</a:t>
            </a:r>
            <a:r>
              <a:rPr lang="en-US" altLang="zh-CN" sz="1200" b="0" i="0" kern="1200" dirty="0">
                <a:solidFill>
                  <a:schemeClr val="tx1"/>
                </a:solidFill>
                <a:latin typeface="+mn-lt"/>
                <a:ea typeface="+mn-ea"/>
                <a:cs typeface="+mn-cs"/>
              </a:rPr>
              <a:t>B</a:t>
            </a:r>
            <a:r>
              <a:rPr lang="zh-CN" altLang="en-US" sz="1200" b="0" i="0" kern="1200" dirty="0">
                <a:solidFill>
                  <a:schemeClr val="tx1"/>
                </a:solidFill>
                <a:latin typeface="+mn-lt"/>
                <a:ea typeface="+mn-ea"/>
                <a:cs typeface="+mn-cs"/>
              </a:rPr>
              <a:t>中的每一个</a:t>
            </a:r>
            <a:r>
              <a:rPr lang="zh-CN" altLang="en-US" sz="1200" b="0" i="0" u="none" strike="noStrike" kern="1200" dirty="0">
                <a:solidFill>
                  <a:schemeClr val="tx1"/>
                </a:solidFill>
                <a:latin typeface="+mn-lt"/>
                <a:ea typeface="+mn-ea"/>
                <a:cs typeface="+mn-cs"/>
              </a:rPr>
              <a:t>列向量</a:t>
            </a:r>
            <a:r>
              <a:rPr lang="en-US" altLang="zh-CN" sz="1200" b="0" i="0" kern="1200" dirty="0" err="1">
                <a:solidFill>
                  <a:schemeClr val="tx1"/>
                </a:solidFill>
                <a:latin typeface="+mn-lt"/>
                <a:ea typeface="+mn-ea"/>
                <a:cs typeface="+mn-cs"/>
              </a:rPr>
              <a:t>P</a:t>
            </a:r>
            <a:r>
              <a:rPr lang="en-US" altLang="zh-CN" sz="1200" b="0" i="0" kern="1200" baseline="-25000" dirty="0" err="1">
                <a:solidFill>
                  <a:schemeClr val="tx1"/>
                </a:solidFill>
                <a:latin typeface="+mn-lt"/>
                <a:ea typeface="+mn-ea"/>
                <a:cs typeface="+mn-cs"/>
              </a:rPr>
              <a:t>j</a:t>
            </a:r>
            <a:r>
              <a:rPr lang="en-US" altLang="zh-CN" sz="1200" b="0" i="0" kern="1200" dirty="0">
                <a:solidFill>
                  <a:schemeClr val="tx1"/>
                </a:solidFill>
                <a:latin typeface="+mn-lt"/>
                <a:ea typeface="+mn-ea"/>
                <a:cs typeface="+mn-cs"/>
              </a:rPr>
              <a:t>=(j=1,...,m)</a:t>
            </a:r>
            <a:r>
              <a:rPr lang="zh-CN" altLang="en-US" sz="1200" b="0" i="0" kern="1200" dirty="0">
                <a:solidFill>
                  <a:schemeClr val="tx1"/>
                </a:solidFill>
                <a:latin typeface="+mn-lt"/>
                <a:ea typeface="+mn-ea"/>
                <a:cs typeface="+mn-cs"/>
              </a:rPr>
              <a:t>称为基向量，与基向量</a:t>
            </a:r>
            <a:r>
              <a:rPr lang="en-US" altLang="zh-CN" sz="1200" b="0" i="0" kern="1200" dirty="0" err="1">
                <a:solidFill>
                  <a:schemeClr val="tx1"/>
                </a:solidFill>
                <a:latin typeface="+mn-lt"/>
                <a:ea typeface="+mn-ea"/>
                <a:cs typeface="+mn-cs"/>
              </a:rPr>
              <a:t>Pj</a:t>
            </a:r>
            <a:r>
              <a:rPr lang="zh-CN" altLang="en-US" sz="1200" b="0" i="0" kern="1200" dirty="0">
                <a:solidFill>
                  <a:schemeClr val="tx1"/>
                </a:solidFill>
                <a:latin typeface="+mn-lt"/>
                <a:ea typeface="+mn-ea"/>
                <a:cs typeface="+mn-cs"/>
              </a:rPr>
              <a:t>对应的变量</a:t>
            </a:r>
            <a:r>
              <a:rPr lang="en-US" altLang="zh-CN" sz="1200" b="0" i="0" kern="1200" dirty="0" err="1">
                <a:solidFill>
                  <a:schemeClr val="tx1"/>
                </a:solidFill>
                <a:latin typeface="+mn-lt"/>
                <a:ea typeface="+mn-ea"/>
                <a:cs typeface="+mn-cs"/>
              </a:rPr>
              <a:t>x</a:t>
            </a:r>
            <a:r>
              <a:rPr lang="en-US" altLang="zh-CN" sz="1200" b="0" i="0" kern="1200" baseline="-25000" dirty="0" err="1">
                <a:solidFill>
                  <a:schemeClr val="tx1"/>
                </a:solidFill>
                <a:latin typeface="+mn-lt"/>
                <a:ea typeface="+mn-ea"/>
                <a:cs typeface="+mn-cs"/>
              </a:rPr>
              <a:t>j</a:t>
            </a:r>
            <a:r>
              <a:rPr lang="zh-CN" altLang="en-US" sz="1200" b="0" i="0" kern="1200" dirty="0">
                <a:solidFill>
                  <a:schemeClr val="tx1"/>
                </a:solidFill>
                <a:latin typeface="+mn-lt"/>
                <a:ea typeface="+mn-ea"/>
                <a:cs typeface="+mn-cs"/>
              </a:rPr>
              <a:t>称为</a:t>
            </a:r>
            <a:r>
              <a:rPr lang="zh-CN" altLang="en-US" sz="1200" b="0" i="0" u="none" strike="noStrike" kern="1200" dirty="0">
                <a:solidFill>
                  <a:schemeClr val="tx1"/>
                </a:solidFill>
                <a:latin typeface="+mn-lt"/>
                <a:ea typeface="+mn-ea"/>
                <a:cs typeface="+mn-cs"/>
              </a:rPr>
              <a:t>基变量</a:t>
            </a:r>
            <a:r>
              <a:rPr lang="zh-CN" altLang="en-US" sz="1200" b="0" i="0" kern="1200" dirty="0">
                <a:solidFill>
                  <a:schemeClr val="tx1"/>
                </a:solidFill>
                <a:latin typeface="+mn-lt"/>
                <a:ea typeface="+mn-ea"/>
                <a:cs typeface="+mn-cs"/>
              </a:rPr>
              <a:t>。</a:t>
            </a:r>
            <a:endParaRPr lang="en-US" altLang="zh-CN" sz="1200" b="0" i="0" kern="1200" dirty="0">
              <a:solidFill>
                <a:schemeClr val="tx1"/>
              </a:solidFill>
              <a:latin typeface="+mn-lt"/>
              <a:ea typeface="+mn-ea"/>
              <a:cs typeface="+mn-cs"/>
            </a:endParaRPr>
          </a:p>
          <a:p>
            <a:endParaRPr lang="en-US" altLang="zh-CN" sz="1200" b="0" i="0" kern="1200" dirty="0">
              <a:solidFill>
                <a:schemeClr val="tx1"/>
              </a:solidFill>
              <a:latin typeface="+mn-lt"/>
              <a:ea typeface="+mn-ea"/>
              <a:cs typeface="+mn-cs"/>
            </a:endParaRPr>
          </a:p>
          <a:p>
            <a:r>
              <a:rPr lang="en-US" altLang="zh-CN" sz="1200" b="0" i="0" kern="1200" dirty="0">
                <a:solidFill>
                  <a:schemeClr val="tx1"/>
                </a:solidFill>
                <a:latin typeface="+mn-lt"/>
                <a:ea typeface="+mn-ea"/>
                <a:cs typeface="+mn-cs"/>
              </a:rPr>
              <a:t>A</a:t>
            </a:r>
            <a:r>
              <a:rPr lang="en-US" altLang="zh-CN" sz="1200" b="0" i="0" kern="1200" baseline="0" dirty="0">
                <a:solidFill>
                  <a:schemeClr val="tx1"/>
                </a:solidFill>
                <a:latin typeface="+mn-lt"/>
                <a:ea typeface="+mn-ea"/>
                <a:cs typeface="+mn-cs"/>
              </a:rPr>
              <a:t> =&gt;</a:t>
            </a:r>
            <a:r>
              <a:rPr lang="zh-CN" altLang="en-US" sz="1200" b="0" i="0" kern="1200" baseline="0" dirty="0">
                <a:solidFill>
                  <a:schemeClr val="tx1"/>
                </a:solidFill>
                <a:latin typeface="+mn-lt"/>
                <a:ea typeface="+mn-ea"/>
                <a:cs typeface="+mn-cs"/>
              </a:rPr>
              <a:t>经过初等行运算</a:t>
            </a:r>
            <a:r>
              <a:rPr lang="en-US" altLang="zh-CN" sz="1200" b="0" i="0" kern="1200" baseline="0" dirty="0">
                <a:solidFill>
                  <a:schemeClr val="tx1"/>
                </a:solidFill>
                <a:latin typeface="+mn-lt"/>
                <a:ea typeface="+mn-ea"/>
                <a:cs typeface="+mn-cs"/>
              </a:rPr>
              <a:t>=&gt;A’:A</a:t>
            </a:r>
            <a:r>
              <a:rPr lang="zh-CN" altLang="en-US" sz="1200" b="0" i="0" kern="1200" baseline="0" dirty="0">
                <a:solidFill>
                  <a:schemeClr val="tx1"/>
                </a:solidFill>
                <a:latin typeface="+mn-lt"/>
                <a:ea typeface="+mn-ea"/>
                <a:cs typeface="+mn-cs"/>
              </a:rPr>
              <a:t>与</a:t>
            </a:r>
            <a:r>
              <a:rPr lang="en-US" altLang="zh-CN" sz="1200" b="0" i="0" kern="1200" baseline="0" dirty="0">
                <a:solidFill>
                  <a:schemeClr val="tx1"/>
                </a:solidFill>
                <a:latin typeface="+mn-lt"/>
                <a:ea typeface="+mn-ea"/>
                <a:cs typeface="+mn-cs"/>
              </a:rPr>
              <a:t>A’</a:t>
            </a:r>
            <a:r>
              <a:rPr lang="zh-CN" altLang="en-US" sz="1200" b="0" i="0" kern="1200" baseline="0" dirty="0">
                <a:solidFill>
                  <a:schemeClr val="tx1"/>
                </a:solidFill>
                <a:latin typeface="+mn-lt"/>
                <a:ea typeface="+mn-ea"/>
                <a:cs typeface="+mn-cs"/>
              </a:rPr>
              <a:t>同解</a:t>
            </a:r>
            <a:endParaRPr lang="en-US" altLang="zh-CN" sz="1200" b="0" i="0" kern="1200" baseline="0" dirty="0">
              <a:solidFill>
                <a:schemeClr val="tx1"/>
              </a:solidFill>
              <a:latin typeface="+mn-lt"/>
              <a:ea typeface="+mn-ea"/>
              <a:cs typeface="+mn-cs"/>
            </a:endParaRPr>
          </a:p>
          <a:p>
            <a:r>
              <a:rPr lang="en-US" altLang="zh-CN" sz="1200" b="0" i="0" kern="1200" baseline="0" dirty="0">
                <a:solidFill>
                  <a:schemeClr val="tx1"/>
                </a:solidFill>
                <a:latin typeface="+mn-lt"/>
                <a:ea typeface="+mn-ea"/>
                <a:cs typeface="+mn-cs"/>
              </a:rPr>
              <a:t>A=(B,N) =&gt;</a:t>
            </a:r>
            <a:r>
              <a:rPr lang="zh-CN" altLang="en-US" sz="1200" b="0" i="0" kern="1200" baseline="0" dirty="0">
                <a:solidFill>
                  <a:schemeClr val="tx1"/>
                </a:solidFill>
                <a:latin typeface="+mn-lt"/>
                <a:ea typeface="+mn-ea"/>
                <a:cs typeface="+mn-cs"/>
              </a:rPr>
              <a:t>经过初等行运算</a:t>
            </a:r>
            <a:r>
              <a:rPr lang="en-US" altLang="zh-CN" sz="1200" b="0" i="0" kern="1200" baseline="0" dirty="0">
                <a:solidFill>
                  <a:schemeClr val="tx1"/>
                </a:solidFill>
                <a:latin typeface="+mn-lt"/>
                <a:ea typeface="+mn-ea"/>
                <a:cs typeface="+mn-cs"/>
              </a:rPr>
              <a:t>=&gt;A’=(E,N’)</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所有可行解</a:t>
            </a:r>
            <a:r>
              <a:rPr lang="en-US" altLang="zh-CN" dirty="0"/>
              <a:t>=∑</a:t>
            </a:r>
            <a:r>
              <a:rPr lang="zh-CN" altLang="en-US" dirty="0"/>
              <a:t>基可行解线性表出</a:t>
            </a:r>
            <a:r>
              <a:rPr lang="en-US" altLang="zh-CN" baseline="0" dirty="0"/>
              <a:t> </a:t>
            </a:r>
            <a:endParaRPr lang="en-US" altLang="zh-CN" baseline="0" dirty="0"/>
          </a:p>
          <a:p>
            <a:r>
              <a:rPr lang="zh-CN" altLang="en-US" baseline="0" dirty="0"/>
              <a:t>最优解 在 基可行解 之 中</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E0AF089-8F83-4FFA-8A5D-A44B12624C4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即基上“</a:t>
            </a:r>
            <a:r>
              <a:rPr lang="en-US" altLang="zh-CN" dirty="0"/>
              <a:t>1</a:t>
            </a:r>
            <a:r>
              <a:rPr lang="zh-CN" altLang="en-US" dirty="0"/>
              <a:t>”对应的变量全部去右端值，其余变量取</a:t>
            </a:r>
            <a:r>
              <a:rPr lang="en-US" altLang="zh-CN" dirty="0"/>
              <a:t>0</a:t>
            </a:r>
            <a:r>
              <a:rPr lang="zh-CN" altLang="en-US" dirty="0"/>
              <a:t>，就是一个基可行解？？？</a:t>
            </a:r>
            <a:endParaRPr lang="zh-CN" altLang="en-US" dirty="0"/>
          </a:p>
        </p:txBody>
      </p:sp>
      <p:sp>
        <p:nvSpPr>
          <p:cNvPr id="4" name="灯片编号占位符 3"/>
          <p:cNvSpPr>
            <a:spLocks noGrp="1"/>
          </p:cNvSpPr>
          <p:nvPr>
            <p:ph type="sldNum" sz="quarter" idx="5"/>
          </p:nvPr>
        </p:nvSpPr>
        <p:spPr/>
        <p:txBody>
          <a:bodyPr/>
          <a:lstStyle/>
          <a:p>
            <a:fld id="{1E0AF089-8F83-4FFA-8A5D-A44B12624C4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a:solidFill>
                  <a:srgbClr val="00000C"/>
                </a:solidFill>
              </a:rPr>
              <a:t>“在目标函数中，基变量的系数为</a:t>
            </a:r>
            <a:r>
              <a:rPr lang="en-US" altLang="zh-CN" sz="1200" dirty="0">
                <a:solidFill>
                  <a:srgbClr val="00000C"/>
                </a:solidFill>
              </a:rPr>
              <a:t>0</a:t>
            </a:r>
            <a:r>
              <a:rPr lang="zh-CN" altLang="en-US" sz="1200" dirty="0">
                <a:solidFill>
                  <a:srgbClr val="00000C"/>
                </a:solidFill>
              </a:rPr>
              <a:t>”指：在换基过程中，每次的目标函数都需要相应变换，使得当前基变量的系数为</a:t>
            </a:r>
            <a:r>
              <a:rPr lang="en-US" altLang="zh-CN" sz="1200" dirty="0">
                <a:solidFill>
                  <a:srgbClr val="00000C"/>
                </a:solidFill>
              </a:rPr>
              <a:t>0</a:t>
            </a:r>
            <a:r>
              <a:rPr lang="zh-CN" altLang="en-US" sz="1200" dirty="0">
                <a:solidFill>
                  <a:srgbClr val="00000C"/>
                </a:solidFill>
              </a:rPr>
              <a:t>，以确保基可行解的基列对应的就是基变量，非基列对应的就是非基变量。</a:t>
            </a:r>
            <a:r>
              <a:rPr lang="en-US" altLang="zh-CN" sz="1200" dirty="0">
                <a:solidFill>
                  <a:srgbClr val="00000C"/>
                </a:solidFill>
              </a:rPr>
              <a:t>——</a:t>
            </a:r>
            <a:r>
              <a:rPr lang="zh-CN" altLang="en-US" sz="1200" dirty="0">
                <a:solidFill>
                  <a:srgbClr val="00000C"/>
                </a:solidFill>
              </a:rPr>
              <a:t>为什么要这样做？</a:t>
            </a:r>
            <a:r>
              <a:rPr lang="en-US" altLang="zh-CN" sz="1200" dirty="0">
                <a:solidFill>
                  <a:srgbClr val="00000C"/>
                </a:solidFill>
              </a:rPr>
              <a:t>——</a:t>
            </a:r>
            <a:r>
              <a:rPr lang="zh-CN" altLang="en-US" sz="1200" dirty="0">
                <a:solidFill>
                  <a:srgbClr val="00000C"/>
                </a:solidFill>
              </a:rPr>
              <a:t>因为当前已经将资源尽可能安排给基变量了（基可行解），接下来可能还剩余一些资源，这时就希望表示</a:t>
            </a:r>
            <a:r>
              <a:rPr lang="zh-CN" altLang="en-US" sz="1200" baseline="0" dirty="0">
                <a:solidFill>
                  <a:srgbClr val="00000C"/>
                </a:solidFill>
              </a:rPr>
              <a:t>出在剩余资源情况下，还能进一步如何安排资源协调活动水平，最终达到最优（最优解）</a:t>
            </a:r>
            <a:r>
              <a:rPr lang="en-US" altLang="zh-CN" sz="1200" baseline="0" dirty="0">
                <a:solidFill>
                  <a:srgbClr val="00000C"/>
                </a:solidFill>
              </a:rPr>
              <a:t>——</a:t>
            </a:r>
            <a:r>
              <a:rPr lang="zh-CN" altLang="en-US" sz="1200" baseline="0" dirty="0">
                <a:solidFill>
                  <a:srgbClr val="00000C"/>
                </a:solidFill>
              </a:rPr>
              <a:t>使</a:t>
            </a:r>
            <a:r>
              <a:rPr lang="zh-CN" altLang="en-US" sz="1200" dirty="0">
                <a:solidFill>
                  <a:srgbClr val="00000C"/>
                </a:solidFill>
              </a:rPr>
              <a:t>目标函数中，基变量的系数为</a:t>
            </a:r>
            <a:r>
              <a:rPr lang="en-US" altLang="zh-CN" sz="1200" dirty="0">
                <a:solidFill>
                  <a:srgbClr val="00000C"/>
                </a:solidFill>
              </a:rPr>
              <a:t>0</a:t>
            </a:r>
            <a:r>
              <a:rPr lang="zh-CN" altLang="en-US" sz="1200" dirty="0">
                <a:solidFill>
                  <a:srgbClr val="00000C"/>
                </a:solidFill>
              </a:rPr>
              <a:t>就是表达的这个问题（希望）。</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a:solidFill>
                  <a:srgbClr val="00000C"/>
                </a:solidFill>
              </a:rPr>
              <a:t>单纯形法的思想：从“构造了一个初始基可行解”开始去快速逼近最优解</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当前基础可行解中非基变量</a:t>
            </a:r>
            <a:r>
              <a:rPr lang="zh-CN" altLang="en-US" baseline="0" dirty="0"/>
              <a:t> </a:t>
            </a:r>
            <a:r>
              <a:rPr lang="en-US" altLang="zh-CN" baseline="0" dirty="0"/>
              <a:t>= 0</a:t>
            </a:r>
            <a:r>
              <a:rPr lang="zh-CN" altLang="en-US" baseline="0" dirty="0"/>
              <a:t>；</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我们知道：最优解在凸集的顶点达到，即基可行解中找到，现在的问题是：如何快速的从一个基可行解向另一个基可行解转换？</a:t>
            </a:r>
            <a:endParaRPr lang="en-US" altLang="zh-CN" dirty="0"/>
          </a:p>
          <a:p>
            <a:r>
              <a:rPr lang="zh-CN" altLang="en-US" dirty="0"/>
              <a:t>从数学上讲，</a:t>
            </a:r>
            <a:r>
              <a:rPr lang="en-US" altLang="zh-CN" dirty="0"/>
              <a:t>A=</a:t>
            </a:r>
            <a:r>
              <a:rPr lang="zh-CN" altLang="en-US" dirty="0"/>
              <a:t>（</a:t>
            </a:r>
            <a:r>
              <a:rPr lang="en-US" altLang="zh-CN" dirty="0"/>
              <a:t>B,N</a:t>
            </a:r>
            <a:r>
              <a:rPr lang="zh-CN" altLang="en-US" dirty="0"/>
              <a:t>）</a:t>
            </a:r>
            <a:r>
              <a:rPr lang="en-US" altLang="zh-CN" dirty="0"/>
              <a:t>=&gt;</a:t>
            </a:r>
            <a:r>
              <a:rPr lang="zh-CN" altLang="en-US" dirty="0"/>
              <a:t>经初等行运算，代数法</a:t>
            </a:r>
            <a:r>
              <a:rPr lang="en-US" altLang="zh-CN" dirty="0"/>
              <a:t>=&gt;A’(B’,N’)</a:t>
            </a:r>
            <a:endParaRPr lang="en-US" altLang="zh-CN" dirty="0"/>
          </a:p>
          <a:p>
            <a:r>
              <a:rPr lang="zh-CN" altLang="en-US" dirty="0"/>
              <a:t>但问题是向那个基可行解转换能更快呢！</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“目标函数中</a:t>
            </a:r>
            <a:r>
              <a:rPr lang="en-US" altLang="zh-CN" dirty="0"/>
              <a:t>|-</a:t>
            </a:r>
            <a:r>
              <a:rPr lang="en-US" altLang="zh-CN" dirty="0" err="1"/>
              <a:t>C</a:t>
            </a:r>
            <a:r>
              <a:rPr lang="en-US" altLang="zh-CN" baseline="-25000" dirty="0" err="1"/>
              <a:t>j</a:t>
            </a:r>
            <a:r>
              <a:rPr lang="en-US" altLang="zh-CN" dirty="0"/>
              <a:t>&lt;0|</a:t>
            </a:r>
            <a:r>
              <a:rPr lang="zh-CN" altLang="en-US" dirty="0"/>
              <a:t>大者应首先安排，并尽可能多的安排”的两层含义：</a:t>
            </a:r>
            <a:endParaRPr lang="en-US" altLang="zh-CN" dirty="0"/>
          </a:p>
          <a:p>
            <a:r>
              <a:rPr lang="en-US" altLang="zh-CN" dirty="0"/>
              <a:t>1</a:t>
            </a:r>
            <a:r>
              <a:rPr lang="zh-CN" altLang="en-US" dirty="0"/>
              <a:t>，当对应的变量是决策变量，</a:t>
            </a:r>
            <a:r>
              <a:rPr lang="en-US" altLang="zh-CN" dirty="0" err="1"/>
              <a:t>C</a:t>
            </a:r>
            <a:r>
              <a:rPr lang="en-US" altLang="zh-CN" baseline="-25000" dirty="0" err="1"/>
              <a:t>j</a:t>
            </a:r>
            <a:r>
              <a:rPr lang="en-US" altLang="zh-CN" dirty="0"/>
              <a:t>&gt;0</a:t>
            </a:r>
            <a:r>
              <a:rPr lang="zh-CN" altLang="en-US" dirty="0"/>
              <a:t>表示单位活动利润，利润指增加产品一单位的活动，对于总利润的单位贡献。所以：</a:t>
            </a:r>
            <a:r>
              <a:rPr lang="en-US" altLang="zh-CN" dirty="0"/>
              <a:t> |-</a:t>
            </a:r>
            <a:r>
              <a:rPr lang="en-US" altLang="zh-CN" dirty="0" err="1"/>
              <a:t>C</a:t>
            </a:r>
            <a:r>
              <a:rPr lang="en-US" altLang="zh-CN" baseline="-25000" dirty="0" err="1"/>
              <a:t>j</a:t>
            </a:r>
            <a:r>
              <a:rPr lang="en-US" altLang="zh-CN" dirty="0"/>
              <a:t>|</a:t>
            </a:r>
            <a:r>
              <a:rPr lang="zh-CN" altLang="en-US" dirty="0"/>
              <a:t>大者应首先安排，并尽可能多的安排。</a:t>
            </a:r>
            <a:endParaRPr lang="en-US" altLang="zh-CN" dirty="0"/>
          </a:p>
          <a:p>
            <a:r>
              <a:rPr lang="en-US" altLang="zh-CN" dirty="0"/>
              <a:t>2</a:t>
            </a:r>
            <a:r>
              <a:rPr lang="zh-CN" altLang="en-US" dirty="0"/>
              <a:t>，当对应的变量是松弛变量，</a:t>
            </a:r>
            <a:r>
              <a:rPr lang="en-US" altLang="zh-CN" dirty="0"/>
              <a:t>-</a:t>
            </a:r>
            <a:r>
              <a:rPr lang="en-US" altLang="zh-CN" dirty="0" err="1"/>
              <a:t>C</a:t>
            </a:r>
            <a:r>
              <a:rPr lang="en-US" altLang="zh-CN" baseline="-25000" dirty="0" err="1"/>
              <a:t>j</a:t>
            </a:r>
            <a:r>
              <a:rPr lang="en-US" altLang="zh-CN" dirty="0"/>
              <a:t>&lt;0</a:t>
            </a:r>
            <a:r>
              <a:rPr lang="zh-CN" altLang="en-US" dirty="0"/>
              <a:t>表示对应资源</a:t>
            </a:r>
            <a:r>
              <a:rPr lang="en-US" altLang="zh-CN" dirty="0"/>
              <a:t>j</a:t>
            </a:r>
            <a:r>
              <a:rPr lang="zh-CN" altLang="en-US" dirty="0"/>
              <a:t>的影子价格，影子价格指增加一单位的资源，通过协调各活动水平，对于总利润的单位贡献。而当为负数时，可知增加资源一单位，对总利润的单位贡献为负，意味着应减少相应资源的使用，方法是将资源分配给假想活动，而松弛变量正是假想的耗资源的活动，所以将资源分配给松弛变量，且</a:t>
            </a:r>
            <a:r>
              <a:rPr lang="en-US" altLang="zh-CN" dirty="0"/>
              <a:t>|-</a:t>
            </a:r>
            <a:r>
              <a:rPr lang="en-US" altLang="zh-CN" dirty="0" err="1"/>
              <a:t>C</a:t>
            </a:r>
            <a:r>
              <a:rPr lang="en-US" altLang="zh-CN" baseline="-25000" dirty="0" err="1"/>
              <a:t>j</a:t>
            </a:r>
            <a:r>
              <a:rPr lang="en-US" altLang="zh-CN" dirty="0"/>
              <a:t>|</a:t>
            </a:r>
            <a:r>
              <a:rPr lang="zh-CN" altLang="en-US" dirty="0"/>
              <a:t>大者应首先安排，并尽可能多的安排，从而减少资源在实际活动中的安排。</a:t>
            </a:r>
            <a:r>
              <a:rPr lang="en-US" altLang="zh-CN" dirty="0"/>
              <a:t>——</a:t>
            </a:r>
            <a:r>
              <a:rPr lang="zh-CN" altLang="en-US" dirty="0"/>
              <a:t>对偶理论</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r>
              <a:rPr lang="zh-CN" altLang="en-US" dirty="0"/>
              <a:t>总结：</a:t>
            </a:r>
            <a:endParaRPr lang="en-US" altLang="zh-CN" dirty="0"/>
          </a:p>
          <a:p>
            <a:r>
              <a:rPr lang="zh-CN" altLang="en-US" dirty="0"/>
              <a:t>一，∵总能将线性模型（通过引入松弛变量）的</a:t>
            </a:r>
            <a:r>
              <a:rPr lang="en-US" altLang="zh-CN" dirty="0" err="1"/>
              <a:t>s.t</a:t>
            </a:r>
            <a:r>
              <a:rPr lang="en-US" altLang="zh-CN" dirty="0"/>
              <a:t>.</a:t>
            </a:r>
            <a:r>
              <a:rPr lang="zh-CN" altLang="en-US" dirty="0"/>
              <a:t>化为不定方程组，将目标函数化为求</a:t>
            </a:r>
            <a:r>
              <a:rPr lang="en-US" altLang="zh-CN" dirty="0"/>
              <a:t>max</a:t>
            </a:r>
            <a:endParaRPr lang="en-US" altLang="zh-CN" dirty="0"/>
          </a:p>
          <a:p>
            <a:r>
              <a:rPr lang="en-US" altLang="zh-CN" dirty="0"/>
              <a:t>∴</a:t>
            </a:r>
            <a:r>
              <a:rPr lang="zh-CN" altLang="en-US" dirty="0"/>
              <a:t>求解思路：</a:t>
            </a:r>
            <a:r>
              <a:rPr lang="en-US" altLang="zh-CN" dirty="0"/>
              <a:t>1</a:t>
            </a:r>
            <a:r>
              <a:rPr lang="zh-CN" altLang="en-US" dirty="0"/>
              <a:t>，先求不定方程组的解（可行解），</a:t>
            </a:r>
            <a:r>
              <a:rPr lang="en-US" altLang="zh-CN" dirty="0"/>
              <a:t>2</a:t>
            </a:r>
            <a:r>
              <a:rPr lang="zh-CN" altLang="en-US" dirty="0"/>
              <a:t>，然后从中找到最优解</a:t>
            </a:r>
            <a:endParaRPr lang="en-US" altLang="zh-CN" dirty="0"/>
          </a:p>
          <a:p>
            <a:r>
              <a:rPr lang="zh-CN" altLang="en-US" dirty="0"/>
              <a:t>二，而，求不定方程组的方法我们是有的，线性代数正是求不定方程的数学工具！</a:t>
            </a:r>
            <a:endParaRPr lang="en-US" altLang="zh-CN" dirty="0"/>
          </a:p>
          <a:p>
            <a:r>
              <a:rPr lang="zh-CN" altLang="en-US" dirty="0"/>
              <a:t>依照线性代数的理论，我们知道：</a:t>
            </a:r>
            <a:endParaRPr lang="en-US" altLang="zh-CN" dirty="0"/>
          </a:p>
          <a:p>
            <a:r>
              <a:rPr lang="zh-CN" altLang="en-US" dirty="0"/>
              <a:t>（</a:t>
            </a:r>
            <a:r>
              <a:rPr lang="en-US" altLang="zh-CN" dirty="0"/>
              <a:t>1</a:t>
            </a:r>
            <a:r>
              <a:rPr lang="zh-CN" altLang="en-US" dirty="0"/>
              <a:t>）不定方程组如果有解，则所有的可行解可以由基可行解线性表出</a:t>
            </a:r>
            <a:endParaRPr lang="en-US" altLang="zh-CN" dirty="0"/>
          </a:p>
          <a:p>
            <a:r>
              <a:rPr lang="zh-CN" altLang="en-US" dirty="0"/>
              <a:t>（</a:t>
            </a:r>
            <a:r>
              <a:rPr lang="en-US" altLang="zh-CN" dirty="0"/>
              <a:t>2</a:t>
            </a:r>
            <a:r>
              <a:rPr lang="zh-CN" altLang="en-US" dirty="0"/>
              <a:t>）</a:t>
            </a:r>
            <a:r>
              <a:rPr lang="en-US" altLang="zh-CN" dirty="0"/>
              <a:t>A==》</a:t>
            </a:r>
            <a:r>
              <a:rPr lang="zh-CN" altLang="en-US" dirty="0"/>
              <a:t>初等行变换</a:t>
            </a:r>
            <a:r>
              <a:rPr lang="en-US" altLang="zh-CN" dirty="0"/>
              <a:t>==》A’</a:t>
            </a:r>
            <a:r>
              <a:rPr lang="zh-CN" altLang="en-US" dirty="0"/>
              <a:t>，</a:t>
            </a:r>
            <a:r>
              <a:rPr lang="en-US" altLang="zh-CN" dirty="0"/>
              <a:t>A</a:t>
            </a:r>
            <a:r>
              <a:rPr lang="zh-CN" altLang="en-US" dirty="0"/>
              <a:t>和</a:t>
            </a:r>
            <a:r>
              <a:rPr lang="en-US" altLang="zh-CN" dirty="0"/>
              <a:t>A’</a:t>
            </a:r>
            <a:r>
              <a:rPr lang="zh-CN" altLang="en-US" dirty="0"/>
              <a:t>同解，这样很容易找到基可行解</a:t>
            </a:r>
            <a:endParaRPr lang="en-US" altLang="zh-CN" dirty="0"/>
          </a:p>
          <a:p>
            <a:r>
              <a:rPr lang="zh-CN" altLang="en-US" dirty="0"/>
              <a:t>这样，我们就可以通过初等行运算得到不定方程组的解（可行解）</a:t>
            </a:r>
            <a:endParaRPr lang="en-US" altLang="zh-CN" dirty="0"/>
          </a:p>
          <a:p>
            <a:r>
              <a:rPr lang="zh-CN" altLang="en-US" dirty="0"/>
              <a:t>三，而，又根据凸集理论，我们知道最优解必在基可行解中，因此找到最优解也不成问题</a:t>
            </a:r>
            <a:endParaRPr lang="en-US" altLang="zh-CN" dirty="0"/>
          </a:p>
          <a:p>
            <a:r>
              <a:rPr lang="zh-CN" altLang="en-US" dirty="0"/>
              <a:t>四，</a:t>
            </a:r>
            <a:r>
              <a:rPr lang="en-US" altLang="zh-CN" dirty="0"/>
              <a:t>∴</a:t>
            </a:r>
            <a:r>
              <a:rPr lang="zh-CN" altLang="en-US" dirty="0"/>
              <a:t>对于那些容易找到一个初始基可行解的线性规划问题（简单标准形），我们的求解思路是：</a:t>
            </a:r>
            <a:endParaRPr lang="en-US" altLang="zh-CN" dirty="0"/>
          </a:p>
          <a:p>
            <a:r>
              <a:rPr lang="en-US" altLang="zh-CN" dirty="0"/>
              <a:t>1</a:t>
            </a:r>
            <a:r>
              <a:rPr lang="zh-CN" altLang="en-US" dirty="0"/>
              <a:t>，通过引入松弛变量，构造一个初始基可行解</a:t>
            </a:r>
            <a:endParaRPr lang="en-US" altLang="zh-CN" dirty="0"/>
          </a:p>
          <a:p>
            <a:r>
              <a:rPr lang="en-US" altLang="zh-CN" dirty="0"/>
              <a:t>2</a:t>
            </a:r>
            <a:r>
              <a:rPr lang="zh-CN" altLang="en-US" dirty="0"/>
              <a:t>，最优判定</a:t>
            </a:r>
            <a:endParaRPr lang="en-US" altLang="zh-CN" dirty="0"/>
          </a:p>
          <a:p>
            <a:r>
              <a:rPr lang="en-US" altLang="zh-CN" dirty="0"/>
              <a:t>3</a:t>
            </a:r>
            <a:r>
              <a:rPr lang="zh-CN" altLang="en-US" dirty="0"/>
              <a:t>，换基</a:t>
            </a:r>
            <a:endParaRPr lang="en-US" altLang="zh-CN" dirty="0"/>
          </a:p>
          <a:p>
            <a:r>
              <a:rPr lang="en-US" altLang="zh-CN" dirty="0"/>
              <a:t>4</a:t>
            </a:r>
            <a:r>
              <a:rPr lang="zh-CN" altLang="en-US" dirty="0"/>
              <a:t>，通过初等行运算，得到一个新的基可行解</a:t>
            </a:r>
            <a:endParaRPr lang="en-US" altLang="zh-CN" dirty="0"/>
          </a:p>
          <a:p>
            <a:r>
              <a:rPr lang="en-US" altLang="zh-CN" dirty="0"/>
              <a:t>5</a:t>
            </a:r>
            <a:r>
              <a:rPr lang="zh-CN" altLang="en-US" dirty="0"/>
              <a:t>，然后重复“最优判定”、“换基”、“初等行运算”，直至找到最优解。</a:t>
            </a:r>
            <a:endParaRPr lang="en-US" altLang="zh-CN" dirty="0"/>
          </a:p>
          <a:p>
            <a:r>
              <a:rPr lang="zh-CN" altLang="en-US" dirty="0"/>
              <a:t>五，其中换基的思路是：目标函数中</a:t>
            </a:r>
            <a:r>
              <a:rPr lang="en-US" altLang="zh-CN" dirty="0"/>
              <a:t>|-</a:t>
            </a:r>
            <a:r>
              <a:rPr lang="en-US" altLang="zh-CN" dirty="0" err="1"/>
              <a:t>Cj</a:t>
            </a:r>
            <a:r>
              <a:rPr lang="en-US" altLang="zh-CN" baseline="0" dirty="0"/>
              <a:t> &lt; 0</a:t>
            </a:r>
            <a:r>
              <a:rPr lang="en-US" altLang="zh-CN" dirty="0"/>
              <a:t>|</a:t>
            </a:r>
            <a:r>
              <a:rPr lang="zh-CN" altLang="en-US" dirty="0"/>
              <a:t>大者首先安排，并尽可能安排！</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需要注意的是这时的目标函数中</a:t>
            </a:r>
            <a:r>
              <a:rPr lang="en-US" altLang="zh-CN" dirty="0"/>
              <a:t>,</a:t>
            </a:r>
            <a:r>
              <a:rPr lang="zh-CN" altLang="en-US" sz="1200" dirty="0">
                <a:solidFill>
                  <a:srgbClr val="00000C"/>
                </a:solidFill>
              </a:rPr>
              <a:t>基变量的系数为</a:t>
            </a:r>
            <a:r>
              <a:rPr lang="en-US" altLang="zh-CN" sz="1200" dirty="0">
                <a:solidFill>
                  <a:srgbClr val="00000C"/>
                </a:solidFill>
              </a:rPr>
              <a:t>0!</a:t>
            </a:r>
            <a:endParaRPr lang="en-US" altLang="zh-CN" sz="120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solidFill>
                  <a:srgbClr val="00000C"/>
                </a:solidFill>
              </a:rPr>
              <a:t>“在目标函数中，基变量的系数为</a:t>
            </a:r>
            <a:r>
              <a:rPr lang="en-US" altLang="zh-CN" sz="1200" dirty="0">
                <a:solidFill>
                  <a:srgbClr val="00000C"/>
                </a:solidFill>
              </a:rPr>
              <a:t>0</a:t>
            </a:r>
            <a:r>
              <a:rPr lang="zh-CN" altLang="en-US" sz="1200" dirty="0">
                <a:solidFill>
                  <a:srgbClr val="00000C"/>
                </a:solidFill>
              </a:rPr>
              <a:t>”指：在换基过程中，每次的目标函数都需要相应变换，使得当前基变量的系数为</a:t>
            </a:r>
            <a:r>
              <a:rPr lang="en-US" altLang="zh-CN" sz="1200" dirty="0">
                <a:solidFill>
                  <a:srgbClr val="00000C"/>
                </a:solidFill>
              </a:rPr>
              <a:t>0</a:t>
            </a:r>
            <a:r>
              <a:rPr lang="zh-CN" altLang="en-US" sz="1200" dirty="0">
                <a:solidFill>
                  <a:srgbClr val="00000C"/>
                </a:solidFill>
              </a:rPr>
              <a:t>，以确保基可行解的基列对应的就是基变量，非基列对应的就是非基变量。</a:t>
            </a:r>
            <a:r>
              <a:rPr lang="en-US" altLang="zh-CN" sz="1200" dirty="0">
                <a:solidFill>
                  <a:srgbClr val="00000C"/>
                </a:solidFill>
              </a:rPr>
              <a:t>——</a:t>
            </a:r>
            <a:r>
              <a:rPr lang="zh-CN" altLang="en-US" sz="1200" dirty="0">
                <a:solidFill>
                  <a:srgbClr val="00000C"/>
                </a:solidFill>
              </a:rPr>
              <a:t>为什么要这样做？</a:t>
            </a:r>
            <a:r>
              <a:rPr lang="en-US" altLang="zh-CN" sz="1200" dirty="0">
                <a:solidFill>
                  <a:srgbClr val="00000C"/>
                </a:solidFill>
              </a:rPr>
              <a:t>——</a:t>
            </a:r>
            <a:r>
              <a:rPr lang="zh-CN" altLang="en-US" sz="1200" dirty="0">
                <a:solidFill>
                  <a:srgbClr val="00000C"/>
                </a:solidFill>
              </a:rPr>
              <a:t>因为当前已经将资源尽可能安排给基变量了（基可行解），接下来可能还剩余一些资源，这时就希望表示</a:t>
            </a:r>
            <a:r>
              <a:rPr lang="zh-CN" altLang="en-US" sz="1200" baseline="0" dirty="0">
                <a:solidFill>
                  <a:srgbClr val="00000C"/>
                </a:solidFill>
              </a:rPr>
              <a:t>出在剩余资源情况下，还能进一步如何安排资源协调活动水平，最终达到最优（最优解）</a:t>
            </a:r>
            <a:r>
              <a:rPr lang="en-US" altLang="zh-CN" sz="1200" baseline="0" dirty="0">
                <a:solidFill>
                  <a:srgbClr val="00000C"/>
                </a:solidFill>
              </a:rPr>
              <a:t>——</a:t>
            </a:r>
            <a:r>
              <a:rPr lang="zh-CN" altLang="en-US" sz="1200" baseline="0" dirty="0">
                <a:solidFill>
                  <a:srgbClr val="00000C"/>
                </a:solidFill>
              </a:rPr>
              <a:t>使</a:t>
            </a:r>
            <a:r>
              <a:rPr lang="zh-CN" altLang="en-US" sz="1200" dirty="0">
                <a:solidFill>
                  <a:srgbClr val="00000C"/>
                </a:solidFill>
              </a:rPr>
              <a:t>目标函数中，基变量的系数为</a:t>
            </a:r>
            <a:r>
              <a:rPr lang="en-US" altLang="zh-CN" sz="1200" dirty="0">
                <a:solidFill>
                  <a:srgbClr val="00000C"/>
                </a:solidFill>
              </a:rPr>
              <a:t>0</a:t>
            </a:r>
            <a:r>
              <a:rPr lang="zh-CN" altLang="en-US" sz="1200" dirty="0">
                <a:solidFill>
                  <a:srgbClr val="00000C"/>
                </a:solidFill>
              </a:rPr>
              <a:t>就是表达的这个问题（希望）。</a:t>
            </a:r>
            <a:endParaRPr lang="zh-CN" altLang="en-US"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r>
              <a:rPr lang="zh-CN" altLang="en-US" dirty="0"/>
              <a:t>一，单纯形法第</a:t>
            </a:r>
            <a:r>
              <a:rPr lang="en-US" altLang="zh-CN" dirty="0"/>
              <a:t>1</a:t>
            </a:r>
            <a:r>
              <a:rPr lang="zh-CN" altLang="en-US" dirty="0"/>
              <a:t>件事：“通过引入松弛变量</a:t>
            </a:r>
            <a:r>
              <a:rPr lang="en-US" altLang="zh-CN" dirty="0" err="1">
                <a:solidFill>
                  <a:srgbClr val="FF0000"/>
                </a:solidFill>
              </a:rPr>
              <a:t>x</a:t>
            </a:r>
            <a:r>
              <a:rPr lang="en-US" altLang="zh-CN" baseline="-25000" dirty="0" err="1">
                <a:solidFill>
                  <a:srgbClr val="FF0000"/>
                </a:solidFill>
              </a:rPr>
              <a:t>si</a:t>
            </a:r>
            <a:r>
              <a:rPr lang="en-US" altLang="zh-CN" baseline="-25000" dirty="0">
                <a:solidFill>
                  <a:srgbClr val="FF0000"/>
                </a:solidFill>
              </a:rPr>
              <a:t> </a:t>
            </a:r>
            <a:r>
              <a:rPr lang="en-US" altLang="zh-CN" dirty="0">
                <a:solidFill>
                  <a:srgbClr val="FF0000"/>
                </a:solidFill>
              </a:rPr>
              <a:t>≥  0 </a:t>
            </a:r>
            <a:r>
              <a:rPr lang="zh-CN" altLang="en-US" dirty="0"/>
              <a:t>，构造一个初始基可行解”！</a:t>
            </a:r>
            <a:endParaRPr lang="en-US" altLang="zh-CN" dirty="0"/>
          </a:p>
          <a:p>
            <a:r>
              <a:rPr lang="zh-CN" altLang="en-US" dirty="0"/>
              <a:t>单纯形法对简单标准形求解：</a:t>
            </a:r>
            <a:endParaRPr lang="en-US" altLang="zh-CN" dirty="0"/>
          </a:p>
          <a:p>
            <a:r>
              <a:rPr lang="en-US" altLang="zh-CN" dirty="0"/>
              <a:t>1</a:t>
            </a:r>
            <a:r>
              <a:rPr lang="zh-CN" altLang="en-US" dirty="0"/>
              <a:t>，通过引入松弛变量</a:t>
            </a:r>
            <a:r>
              <a:rPr lang="en-US" altLang="zh-CN" dirty="0" err="1">
                <a:solidFill>
                  <a:srgbClr val="FF0000"/>
                </a:solidFill>
              </a:rPr>
              <a:t>x</a:t>
            </a:r>
            <a:r>
              <a:rPr lang="en-US" altLang="zh-CN" baseline="-25000" dirty="0" err="1">
                <a:solidFill>
                  <a:srgbClr val="FF0000"/>
                </a:solidFill>
              </a:rPr>
              <a:t>si</a:t>
            </a:r>
            <a:r>
              <a:rPr lang="en-US" altLang="zh-CN" baseline="-25000" dirty="0">
                <a:solidFill>
                  <a:srgbClr val="FF0000"/>
                </a:solidFill>
              </a:rPr>
              <a:t> </a:t>
            </a:r>
            <a:r>
              <a:rPr lang="en-US" altLang="zh-CN" dirty="0">
                <a:solidFill>
                  <a:srgbClr val="FF0000"/>
                </a:solidFill>
              </a:rPr>
              <a:t>≥  0 </a:t>
            </a:r>
            <a:r>
              <a:rPr lang="zh-CN" altLang="en-US" dirty="0"/>
              <a:t>，构造一个初始基可行解</a:t>
            </a:r>
            <a:endParaRPr lang="en-US" altLang="zh-CN" dirty="0"/>
          </a:p>
          <a:p>
            <a:r>
              <a:rPr lang="en-US" altLang="zh-CN" dirty="0"/>
              <a:t>2</a:t>
            </a:r>
            <a:r>
              <a:rPr lang="zh-CN" altLang="en-US" dirty="0"/>
              <a:t>，最优判定</a:t>
            </a:r>
            <a:endParaRPr lang="en-US" altLang="zh-CN" dirty="0"/>
          </a:p>
          <a:p>
            <a:r>
              <a:rPr lang="en-US" altLang="zh-CN" dirty="0"/>
              <a:t>3</a:t>
            </a:r>
            <a:r>
              <a:rPr lang="zh-CN" altLang="en-US" dirty="0"/>
              <a:t>，换基</a:t>
            </a:r>
            <a:endParaRPr lang="en-US" altLang="zh-CN" dirty="0"/>
          </a:p>
          <a:p>
            <a:r>
              <a:rPr lang="en-US" altLang="zh-CN" dirty="0"/>
              <a:t>4</a:t>
            </a:r>
            <a:r>
              <a:rPr lang="zh-CN" altLang="en-US" dirty="0"/>
              <a:t>，通过初等行运算，得到一个新的基可行解</a:t>
            </a:r>
            <a:endParaRPr lang="en-US" altLang="zh-CN" dirty="0"/>
          </a:p>
          <a:p>
            <a:r>
              <a:rPr lang="en-US" altLang="zh-CN" dirty="0"/>
              <a:t>5</a:t>
            </a:r>
            <a:r>
              <a:rPr lang="zh-CN" altLang="en-US" dirty="0"/>
              <a:t>，然后重复“最优判定”、“换基”、“初等行运算”，直至找到最优解。</a:t>
            </a:r>
            <a:endParaRPr lang="en-US" altLang="zh-CN" dirty="0"/>
          </a:p>
          <a:p>
            <a:r>
              <a:rPr lang="zh-CN" altLang="en-US" dirty="0"/>
              <a:t>二，人工变量的经济意义</a:t>
            </a:r>
            <a:endParaRPr lang="en-US" altLang="zh-CN" dirty="0"/>
          </a:p>
          <a:p>
            <a:r>
              <a:rPr lang="en-US" altLang="zh-CN" dirty="0"/>
              <a:t>X</a:t>
            </a:r>
            <a:r>
              <a:rPr lang="zh-CN" altLang="en-US" baseline="-25000" dirty="0"/>
              <a:t>人</a:t>
            </a:r>
            <a:r>
              <a:rPr lang="zh-CN" altLang="en-US" dirty="0"/>
              <a:t>是为</a:t>
            </a:r>
            <a:r>
              <a:rPr lang="en-US" altLang="zh-CN" dirty="0" err="1"/>
              <a:t>s.t</a:t>
            </a:r>
            <a:r>
              <a:rPr lang="en-US" altLang="zh-CN" dirty="0"/>
              <a:t>.    ≥</a:t>
            </a:r>
            <a:endParaRPr lang="en-US" altLang="zh-CN" dirty="0"/>
          </a:p>
          <a:p>
            <a:r>
              <a:rPr lang="en-US" altLang="zh-CN" dirty="0"/>
              <a:t>          </a:t>
            </a:r>
            <a:r>
              <a:rPr lang="en-US" altLang="zh-CN" baseline="0" dirty="0"/>
              <a:t> </a:t>
            </a:r>
            <a:r>
              <a:rPr lang="en-US" altLang="zh-CN" dirty="0"/>
              <a:t>∑  &gt;   bi</a:t>
            </a:r>
            <a:r>
              <a:rPr lang="zh-CN" altLang="en-US" dirty="0"/>
              <a:t>引入的</a:t>
            </a:r>
            <a:endParaRPr lang="en-US" altLang="zh-CN" dirty="0"/>
          </a:p>
          <a:p>
            <a:r>
              <a:rPr lang="en-US" altLang="zh-CN" baseline="0" dirty="0"/>
              <a:t>               =</a:t>
            </a: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a:t>
            </a:r>
            <a:r>
              <a:rPr lang="zh-CN" altLang="en-US" dirty="0"/>
              <a:t>，“</a:t>
            </a:r>
            <a:r>
              <a:rPr lang="en-US" altLang="zh-CN" dirty="0"/>
              <a:t>=</a:t>
            </a:r>
            <a:r>
              <a:rPr lang="zh-CN" altLang="en-US" dirty="0"/>
              <a:t>”情形</a:t>
            </a:r>
            <a:endParaRPr lang="en-US" altLang="zh-CN" dirty="0"/>
          </a:p>
          <a:p>
            <a:r>
              <a:rPr lang="en-US" altLang="zh-CN" dirty="0"/>
              <a:t>          ∑  +   X</a:t>
            </a:r>
            <a:r>
              <a:rPr lang="zh-CN" altLang="en-US" baseline="-25000" dirty="0"/>
              <a:t>人</a:t>
            </a:r>
            <a:r>
              <a:rPr lang="en-US" altLang="zh-CN" dirty="0"/>
              <a:t>= bi   , X</a:t>
            </a:r>
            <a:r>
              <a:rPr lang="zh-CN" altLang="en-US" baseline="-25000" dirty="0"/>
              <a:t>人</a:t>
            </a:r>
            <a:r>
              <a:rPr lang="en-US" altLang="zh-CN" dirty="0"/>
              <a:t>≥0</a:t>
            </a:r>
            <a:endParaRPr lang="en-US" altLang="zh-CN" dirty="0"/>
          </a:p>
          <a:p>
            <a:r>
              <a:rPr lang="en-US" altLang="zh-CN" dirty="0"/>
              <a:t>       </a:t>
            </a:r>
            <a:r>
              <a:rPr lang="zh-CN" altLang="en-US" dirty="0"/>
              <a:t>若</a:t>
            </a:r>
            <a:r>
              <a:rPr lang="en-US" altLang="zh-CN" dirty="0"/>
              <a:t>X</a:t>
            </a:r>
            <a:r>
              <a:rPr lang="zh-CN" altLang="en-US" baseline="-25000" dirty="0"/>
              <a:t>人</a:t>
            </a:r>
            <a:r>
              <a:rPr lang="zh-CN" altLang="en-US" dirty="0"/>
              <a:t>≠</a:t>
            </a:r>
            <a:r>
              <a:rPr lang="en-US" altLang="zh-CN" dirty="0"/>
              <a:t>0</a:t>
            </a:r>
            <a:r>
              <a:rPr lang="zh-CN" altLang="en-US" dirty="0"/>
              <a:t>，则</a:t>
            </a:r>
            <a:r>
              <a:rPr lang="en-US" altLang="zh-CN" dirty="0"/>
              <a:t>X</a:t>
            </a:r>
            <a:r>
              <a:rPr lang="zh-CN" altLang="en-US" baseline="-25000" dirty="0"/>
              <a:t>人</a:t>
            </a:r>
            <a:r>
              <a:rPr lang="en-US" altLang="zh-CN" dirty="0"/>
              <a:t>&gt;0</a:t>
            </a:r>
            <a:endParaRPr lang="en-US" altLang="zh-CN" dirty="0"/>
          </a:p>
          <a:p>
            <a:r>
              <a:rPr lang="en-US" altLang="zh-CN" dirty="0"/>
              <a:t>      </a:t>
            </a:r>
            <a:r>
              <a:rPr lang="zh-CN" altLang="en-US" dirty="0"/>
              <a:t>则   </a:t>
            </a:r>
            <a:r>
              <a:rPr lang="en-US" altLang="zh-CN" dirty="0"/>
              <a:t>∑  = bi  -   X</a:t>
            </a:r>
            <a:r>
              <a:rPr lang="zh-CN" altLang="en-US" baseline="-25000" dirty="0"/>
              <a:t>人</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      则   </a:t>
            </a:r>
            <a:r>
              <a:rPr lang="en-US" altLang="zh-CN" dirty="0"/>
              <a:t>∑  &lt; bi  </a:t>
            </a:r>
            <a:r>
              <a:rPr lang="zh-CN" altLang="en-US" dirty="0"/>
              <a:t>与 </a:t>
            </a:r>
            <a:r>
              <a:rPr lang="en-US" altLang="zh-CN" dirty="0"/>
              <a:t>∑  = bi</a:t>
            </a:r>
            <a:r>
              <a:rPr lang="zh-CN" altLang="en-US" dirty="0"/>
              <a:t>矛盾</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baseline="0" dirty="0"/>
              <a:t>   </a:t>
            </a:r>
            <a:r>
              <a:rPr lang="zh-CN" altLang="en-US" baseline="0" dirty="0"/>
              <a:t>即，不满足约束条件</a:t>
            </a:r>
            <a:r>
              <a:rPr lang="en-US" altLang="zh-CN" dirty="0"/>
              <a:t> ∑  = bi</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  </a:t>
            </a:r>
            <a:r>
              <a:rPr lang="zh-CN" altLang="en-US" dirty="0"/>
              <a:t>此时的解不是可行解，更不是最优解。</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2</a:t>
            </a:r>
            <a:r>
              <a:rPr lang="zh-CN" altLang="en-US" dirty="0"/>
              <a:t>，“</a:t>
            </a:r>
            <a:r>
              <a:rPr lang="en-US" altLang="zh-CN" dirty="0"/>
              <a:t>&gt;</a:t>
            </a:r>
            <a:r>
              <a:rPr lang="zh-CN" altLang="en-US" dirty="0"/>
              <a:t>”情形</a:t>
            </a:r>
            <a:endParaRPr lang="en-US" altLang="zh-CN" dirty="0"/>
          </a:p>
          <a:p>
            <a:r>
              <a:rPr lang="en-US" altLang="zh-CN" dirty="0"/>
              <a:t>          ∑  -Xs  +   X</a:t>
            </a:r>
            <a:r>
              <a:rPr lang="zh-CN" altLang="en-US" baseline="-25000" dirty="0"/>
              <a:t>人</a:t>
            </a:r>
            <a:r>
              <a:rPr lang="en-US" altLang="zh-CN" dirty="0"/>
              <a:t>= bi   , X</a:t>
            </a:r>
            <a:r>
              <a:rPr lang="zh-CN" altLang="en-US" baseline="-25000" dirty="0"/>
              <a:t>人</a:t>
            </a:r>
            <a:r>
              <a:rPr lang="en-US" altLang="zh-CN" dirty="0"/>
              <a:t>≥0</a:t>
            </a:r>
            <a:endParaRPr lang="en-US" altLang="zh-CN" dirty="0"/>
          </a:p>
          <a:p>
            <a:r>
              <a:rPr lang="en-US" altLang="zh-CN" dirty="0"/>
              <a:t>       </a:t>
            </a:r>
            <a:r>
              <a:rPr lang="zh-CN" altLang="en-US" dirty="0"/>
              <a:t>若</a:t>
            </a:r>
            <a:r>
              <a:rPr lang="en-US" altLang="zh-CN" dirty="0"/>
              <a:t>X</a:t>
            </a:r>
            <a:r>
              <a:rPr lang="zh-CN" altLang="en-US" baseline="-25000" dirty="0"/>
              <a:t>人</a:t>
            </a:r>
            <a:r>
              <a:rPr lang="zh-CN" altLang="en-US" dirty="0"/>
              <a:t>≠</a:t>
            </a:r>
            <a:r>
              <a:rPr lang="en-US" altLang="zh-CN" dirty="0"/>
              <a:t>0</a:t>
            </a:r>
            <a:r>
              <a:rPr lang="zh-CN" altLang="en-US" dirty="0"/>
              <a:t>，则</a:t>
            </a:r>
            <a:r>
              <a:rPr lang="en-US" altLang="zh-CN" dirty="0"/>
              <a:t>X</a:t>
            </a:r>
            <a:r>
              <a:rPr lang="zh-CN" altLang="en-US" baseline="-25000" dirty="0"/>
              <a:t>人</a:t>
            </a:r>
            <a:r>
              <a:rPr lang="en-US" altLang="zh-CN" dirty="0"/>
              <a:t>&gt;0</a:t>
            </a:r>
            <a:endParaRPr lang="en-US" altLang="zh-CN" dirty="0"/>
          </a:p>
          <a:p>
            <a:r>
              <a:rPr lang="en-US" altLang="zh-CN" dirty="0"/>
              <a:t>      </a:t>
            </a:r>
            <a:r>
              <a:rPr lang="zh-CN" altLang="en-US" dirty="0"/>
              <a:t>则   </a:t>
            </a:r>
            <a:r>
              <a:rPr lang="en-US" altLang="zh-CN" dirty="0"/>
              <a:t>∑  -Xs = bi  -   X</a:t>
            </a:r>
            <a:r>
              <a:rPr lang="zh-CN" altLang="en-US" baseline="-25000" dirty="0"/>
              <a:t>人</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      则   </a:t>
            </a:r>
            <a:r>
              <a:rPr lang="en-US" altLang="zh-CN" dirty="0"/>
              <a:t>∑  -Xs &lt; bi  </a:t>
            </a:r>
            <a:r>
              <a:rPr lang="zh-CN" altLang="en-US" dirty="0"/>
              <a:t>与 </a:t>
            </a:r>
            <a:r>
              <a:rPr lang="en-US" altLang="zh-CN" dirty="0"/>
              <a:t>∑-Xs  = bi</a:t>
            </a:r>
            <a:r>
              <a:rPr lang="zh-CN" altLang="en-US" dirty="0"/>
              <a:t>矛盾</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baseline="0" dirty="0"/>
              <a:t>   </a:t>
            </a:r>
            <a:r>
              <a:rPr lang="zh-CN" altLang="en-US" baseline="0" dirty="0"/>
              <a:t>即，不满足约束条件</a:t>
            </a:r>
            <a:r>
              <a:rPr lang="en-US" altLang="zh-CN" dirty="0"/>
              <a:t> ∑  &gt; bi</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  </a:t>
            </a:r>
            <a:r>
              <a:rPr lang="zh-CN" altLang="en-US" dirty="0"/>
              <a:t>此时的解不是可行解，更不是最优解。</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3,</a:t>
            </a:r>
            <a:r>
              <a:rPr lang="zh-CN" altLang="en-US" dirty="0"/>
              <a:t>同理“</a:t>
            </a:r>
            <a:r>
              <a:rPr lang="en-US" altLang="zh-CN" dirty="0"/>
              <a:t>≥</a:t>
            </a:r>
            <a:r>
              <a:rPr lang="zh-CN" altLang="en-US" dirty="0"/>
              <a:t>”情形</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dirty="0">
                <a:solidFill>
                  <a:srgbClr val="00000C"/>
                </a:solidFill>
              </a:rPr>
              <a:t>X</a:t>
            </a:r>
            <a:r>
              <a:rPr lang="en-US" altLang="zh-CN" sz="1200" baseline="-25000" dirty="0">
                <a:solidFill>
                  <a:srgbClr val="00000C"/>
                </a:solidFill>
              </a:rPr>
              <a:t>M</a:t>
            </a:r>
            <a:r>
              <a:rPr lang="en-US" altLang="zh-CN" sz="1200" dirty="0">
                <a:solidFill>
                  <a:srgbClr val="00000C"/>
                </a:solidFill>
              </a:rPr>
              <a:t>&gt;0</a:t>
            </a:r>
            <a:r>
              <a:rPr lang="zh-CN" altLang="en-US" sz="1200" dirty="0">
                <a:solidFill>
                  <a:srgbClr val="00000C"/>
                </a:solidFill>
              </a:rPr>
              <a:t>，则不能满足约束，即表明对应的某资源不仅被这假象产品占去了，而且还使得其它实际存在的产品</a:t>
            </a:r>
            <a:r>
              <a:rPr lang="zh-CN" altLang="en-US" sz="1200" u="wavyDbl" dirty="0">
                <a:solidFill>
                  <a:srgbClr val="0000AC"/>
                </a:solidFill>
              </a:rPr>
              <a:t>没有</a:t>
            </a:r>
            <a:r>
              <a:rPr lang="zh-CN" altLang="en-US" sz="1200" dirty="0">
                <a:solidFill>
                  <a:srgbClr val="00000C"/>
                </a:solidFill>
              </a:rPr>
              <a:t>足够资源可利用了</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dirty="0">
                <a:solidFill>
                  <a:srgbClr val="00000C"/>
                </a:solidFill>
              </a:rPr>
              <a:t>a</a:t>
            </a:r>
            <a:r>
              <a:rPr lang="zh-CN" altLang="en-US" sz="1200" dirty="0">
                <a:solidFill>
                  <a:srgbClr val="00000C"/>
                </a:solidFill>
              </a:rPr>
              <a:t>为技术系数</a:t>
            </a:r>
            <a:endParaRPr lang="en-US" altLang="zh-CN" sz="1200" dirty="0">
              <a:solidFill>
                <a:srgbClr val="00000C"/>
              </a:solidFill>
            </a:endParaRPr>
          </a:p>
          <a:p>
            <a:r>
              <a:rPr lang="en-US" altLang="zh-CN" sz="1200" dirty="0" err="1">
                <a:solidFill>
                  <a:srgbClr val="00000C"/>
                </a:solidFill>
              </a:rPr>
              <a:t>a</a:t>
            </a:r>
            <a:r>
              <a:rPr lang="en-US" altLang="zh-CN" sz="1200" baseline="-25000" dirty="0" err="1">
                <a:solidFill>
                  <a:srgbClr val="00000C"/>
                </a:solidFill>
                <a:ea typeface="+mn-ea"/>
              </a:rPr>
              <a:t>ik</a:t>
            </a:r>
            <a:r>
              <a:rPr lang="zh-CN" altLang="en-US" dirty="0"/>
              <a:t>为在约束条件中该换入变量的系数。</a:t>
            </a:r>
            <a:endParaRPr lang="en-US" altLang="zh-CN" dirty="0"/>
          </a:p>
          <a:p>
            <a:r>
              <a:rPr lang="en-US" altLang="zh-CN" sz="1200" dirty="0" err="1">
                <a:solidFill>
                  <a:srgbClr val="00000C"/>
                </a:solidFill>
              </a:rPr>
              <a:t>a</a:t>
            </a:r>
            <a:r>
              <a:rPr lang="en-US" altLang="zh-CN" sz="1200" baseline="-25000" dirty="0" err="1">
                <a:solidFill>
                  <a:srgbClr val="00000C"/>
                </a:solidFill>
                <a:ea typeface="+mn-ea"/>
              </a:rPr>
              <a:t>ik</a:t>
            </a:r>
            <a:r>
              <a:rPr lang="en-US" altLang="zh-CN" dirty="0"/>
              <a:t>&gt;0</a:t>
            </a:r>
            <a:r>
              <a:rPr lang="zh-CN" altLang="en-US" dirty="0"/>
              <a:t>表明有消耗该种资源；</a:t>
            </a:r>
            <a:r>
              <a:rPr lang="en-US" altLang="zh-CN" sz="1200" dirty="0" err="1">
                <a:solidFill>
                  <a:srgbClr val="00000C"/>
                </a:solidFill>
              </a:rPr>
              <a:t>a</a:t>
            </a:r>
            <a:r>
              <a:rPr lang="en-US" altLang="zh-CN" sz="1200" baseline="-25000" dirty="0" err="1">
                <a:solidFill>
                  <a:srgbClr val="00000C"/>
                </a:solidFill>
                <a:ea typeface="+mn-ea"/>
              </a:rPr>
              <a:t>ik</a:t>
            </a:r>
            <a:r>
              <a:rPr lang="en-US" altLang="zh-CN" dirty="0"/>
              <a:t>=0</a:t>
            </a:r>
            <a:r>
              <a:rPr lang="zh-CN" altLang="en-US" dirty="0"/>
              <a:t>表明该资源对该生产无约束；</a:t>
            </a:r>
            <a:r>
              <a:rPr lang="en-US" altLang="zh-CN" sz="1200" dirty="0" err="1">
                <a:solidFill>
                  <a:srgbClr val="00000C"/>
                </a:solidFill>
              </a:rPr>
              <a:t>a</a:t>
            </a:r>
            <a:r>
              <a:rPr lang="en-US" altLang="zh-CN" sz="1200" baseline="-25000" dirty="0" err="1">
                <a:solidFill>
                  <a:srgbClr val="00000C"/>
                </a:solidFill>
                <a:ea typeface="+mn-ea"/>
              </a:rPr>
              <a:t>ik</a:t>
            </a:r>
            <a:r>
              <a:rPr lang="en-US" altLang="zh-CN" dirty="0"/>
              <a:t>&lt;0</a:t>
            </a:r>
            <a:r>
              <a:rPr lang="zh-CN" altLang="en-US" dirty="0"/>
              <a:t>表明该生产产生该资源。</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线性方程组的矩阵表示</a:t>
            </a:r>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6403DD1-9BA0-4139-AF8F-C4184A6B3BE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6ED7CA-4A79-4599-AB7C-7A118B9C9E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2B20EA-F23E-46D7-8B58-E445942E5C6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6ED7CA-4A79-4599-AB7C-7A118B9C9E8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B20EA-F23E-46D7-8B58-E445942E5C6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image" Target="../media/image2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5.png"/><Relationship Id="rId1" Type="http://schemas.openxmlformats.org/officeDocument/2006/relationships/image" Target="../media/image34.png"/></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6.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1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1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38.png"/></Relationships>
</file>

<file path=ppt/slides/_rels/slide1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38.png"/></Relationships>
</file>

<file path=ppt/slides/_rels/slide16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9.png"/><Relationship Id="rId2" Type="http://schemas.openxmlformats.org/officeDocument/2006/relationships/image" Target="../media/image37.png"/><Relationship Id="rId1" Type="http://schemas.openxmlformats.org/officeDocument/2006/relationships/image" Target="../media/image38.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image" Target="../media/image40.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22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2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45.png"/></Relationships>
</file>

<file path=ppt/slides/_rels/slide23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2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2.png"/><Relationship Id="rId1" Type="http://schemas.openxmlformats.org/officeDocument/2006/relationships/image" Target="../media/image5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841009"/>
            <a:ext cx="9144000" cy="2387600"/>
          </a:xfrm>
        </p:spPr>
        <p:txBody>
          <a:bodyPr/>
          <a:lstStyle/>
          <a:p>
            <a:r>
              <a:rPr lang="zh-CN" altLang="en-US" dirty="0"/>
              <a:t>运筹学</a:t>
            </a:r>
            <a:endParaRPr lang="zh-CN" altLang="en-US" dirty="0"/>
          </a:p>
        </p:txBody>
      </p:sp>
      <p:sp>
        <p:nvSpPr>
          <p:cNvPr id="3" name="副标题 2"/>
          <p:cNvSpPr>
            <a:spLocks noGrp="1"/>
          </p:cNvSpPr>
          <p:nvPr>
            <p:ph type="subTitle" idx="1"/>
          </p:nvPr>
        </p:nvSpPr>
        <p:spPr>
          <a:xfrm>
            <a:off x="1524000" y="3320684"/>
            <a:ext cx="9144000" cy="2673716"/>
          </a:xfrm>
        </p:spPr>
        <p:txBody>
          <a:bodyPr>
            <a:normAutofit lnSpcReduction="10000"/>
          </a:bodyPr>
          <a:lstStyle/>
          <a:p>
            <a:pPr>
              <a:lnSpc>
                <a:spcPct val="150000"/>
              </a:lnSpc>
            </a:pPr>
            <a:r>
              <a:rPr lang="zh-CN" altLang="en-US" sz="2800" dirty="0">
                <a:latin typeface="楷体" panose="02010609060101010101" pitchFamily="49" charset="-122"/>
                <a:ea typeface="楷体" panose="02010609060101010101" pitchFamily="49" charset="-122"/>
              </a:rPr>
              <a:t>线性规划</a:t>
            </a:r>
            <a:endParaRPr lang="en-US" altLang="zh-CN" sz="2800" dirty="0">
              <a:latin typeface="楷体" panose="02010609060101010101" pitchFamily="49" charset="-122"/>
              <a:ea typeface="楷体" panose="02010609060101010101" pitchFamily="49" charset="-122"/>
            </a:endParaRPr>
          </a:p>
          <a:p>
            <a:pPr>
              <a:lnSpc>
                <a:spcPct val="150000"/>
              </a:lnSpc>
            </a:pP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运筹学的一个主要分支是数学规划，它研究在一些给定的约束条件下，求所考察的目标函数在某种意义下的极值问题。最基本的数学规划是线性规划。</a:t>
            </a:r>
            <a:r>
              <a:rPr lang="en-US" altLang="zh-CN" sz="2800" dirty="0">
                <a:latin typeface="楷体" panose="02010609060101010101" pitchFamily="49" charset="-122"/>
                <a:ea typeface="楷体" panose="02010609060101010101" pitchFamily="49" charset="-122"/>
              </a:rPr>
              <a:t>】</a:t>
            </a:r>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2129"/>
            <a:ext cx="10515600" cy="1325563"/>
          </a:xfrm>
        </p:spPr>
        <p:txBody>
          <a:bodyPr/>
          <a:lstStyle/>
          <a:p>
            <a:r>
              <a:rPr lang="zh-CN" altLang="en-US" dirty="0">
                <a:latin typeface="楷体" panose="02010609060101010101" pitchFamily="49" charset="-122"/>
                <a:ea typeface="楷体" panose="02010609060101010101" pitchFamily="49" charset="-122"/>
              </a:rPr>
              <a:t>学习内容</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382954" y="1031633"/>
            <a:ext cx="11433908" cy="5490307"/>
          </a:xfrm>
        </p:spPr>
        <p:txBody>
          <a:bodyPr>
            <a:normAutofit lnSpcReduction="10000"/>
          </a:bodyPr>
          <a:lstStyle/>
          <a:p>
            <a:pPr>
              <a:lnSpc>
                <a:spcPct val="150000"/>
              </a:lnSpc>
            </a:pPr>
            <a:r>
              <a:rPr lang="zh-CN" altLang="en-US" dirty="0">
                <a:latin typeface="楷体" panose="02010609060101010101" pitchFamily="49" charset="-122"/>
                <a:ea typeface="楷体" panose="02010609060101010101" pitchFamily="49" charset="-122"/>
              </a:rPr>
              <a:t>一，建立线性规划问题的数学模型</a:t>
            </a:r>
            <a:endParaRPr lang="en-US" altLang="zh-CN" dirty="0">
              <a:latin typeface="楷体" panose="02010609060101010101" pitchFamily="49" charset="-122"/>
              <a:ea typeface="楷体" panose="02010609060101010101" pitchFamily="49" charset="-122"/>
            </a:endParaRPr>
          </a:p>
          <a:p>
            <a:pPr marL="0" indent="0">
              <a:lnSpc>
                <a:spcPct val="150000"/>
              </a:lnSpc>
              <a:buNone/>
            </a:pP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第一部分的学习目标：掌握数学建模的正确程序</a:t>
            </a:r>
            <a:r>
              <a:rPr lang="en-US" altLang="zh-CN"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marL="0" indent="0">
              <a:lnSpc>
                <a:spcPct val="150000"/>
              </a:lnSpc>
              <a:buNone/>
            </a:pP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学习方法：我们将通过大量的问题的建模活动，归纳总结出数学建模的方法</a:t>
            </a:r>
            <a:r>
              <a:rPr lang="en-US" altLang="zh-CN"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a:lnSpc>
                <a:spcPct val="150000"/>
              </a:lnSpc>
            </a:pPr>
            <a:r>
              <a:rPr lang="zh-CN" altLang="en-US" dirty="0">
                <a:latin typeface="楷体" panose="02010609060101010101" pitchFamily="49" charset="-122"/>
                <a:ea typeface="楷体" panose="02010609060101010101" pitchFamily="49" charset="-122"/>
              </a:rPr>
              <a:t>二，求解线性规划问题</a:t>
            </a:r>
            <a:endParaRPr lang="en-US" altLang="zh-CN" dirty="0">
              <a:latin typeface="楷体" panose="02010609060101010101" pitchFamily="49" charset="-122"/>
              <a:ea typeface="楷体" panose="02010609060101010101" pitchFamily="49" charset="-122"/>
            </a:endParaRPr>
          </a:p>
          <a:p>
            <a:pPr marL="0" indent="0">
              <a:lnSpc>
                <a:spcPct val="150000"/>
              </a:lnSpc>
              <a:buNone/>
            </a:pP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第二部分的学习目标：掌握单纯性法以及背后的线性规划思想，因为计算过程就是一个规划过程，计算方法是规划过程的数学抽象</a:t>
            </a:r>
            <a:r>
              <a:rPr lang="en-US" altLang="zh-CN"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marL="0" indent="0">
              <a:lnSpc>
                <a:spcPct val="150000"/>
              </a:lnSpc>
              <a:buNone/>
            </a:pP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学习方法：同样通过大量的计算练习，再次归纳出单纯形法</a:t>
            </a:r>
            <a:r>
              <a:rPr lang="en-US" altLang="zh-CN"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87293" y="2382582"/>
            <a:ext cx="8389856" cy="1569660"/>
          </a:xfrm>
          <a:prstGeom prst="rect">
            <a:avLst/>
          </a:prstGeom>
          <a:noFill/>
        </p:spPr>
        <p:txBody>
          <a:bodyPr wrap="square" rtlCol="0">
            <a:spAutoFit/>
          </a:bodyPr>
          <a:lstStyle/>
          <a:p>
            <a:pPr algn="ctr"/>
            <a:r>
              <a:rPr lang="zh-CN" altLang="en-US" sz="4800" dirty="0">
                <a:latin typeface="楷体" panose="02010609060101010101" pitchFamily="49" charset="-122"/>
                <a:ea typeface="楷体" panose="02010609060101010101" pitchFamily="49" charset="-122"/>
              </a:rPr>
              <a:t>线性规划是运筹学的一个分析线性规划的研究范畴？</a:t>
            </a:r>
            <a:endParaRPr lang="zh-CN" altLang="en-US" sz="4800" dirty="0">
              <a:latin typeface="楷体" panose="02010609060101010101" pitchFamily="49" charset="-122"/>
              <a:ea typeface="楷体" panose="02010609060101010101" pitchFamily="49" charset="-122"/>
            </a:endParaRPr>
          </a:p>
        </p:txBody>
      </p:sp>
      <p:sp>
        <p:nvSpPr>
          <p:cNvPr id="3" name="箭头: 下 2"/>
          <p:cNvSpPr/>
          <p:nvPr/>
        </p:nvSpPr>
        <p:spPr>
          <a:xfrm>
            <a:off x="4787327" y="4265185"/>
            <a:ext cx="1809946" cy="37707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46375" y="688158"/>
            <a:ext cx="10237510" cy="4449231"/>
          </a:xfrm>
          <a:prstGeom prst="rect">
            <a:avLst/>
          </a:prstGeom>
          <a:noFill/>
        </p:spPr>
        <p:txBody>
          <a:bodyPr wrap="square" rtlCol="0">
            <a:spAutoFit/>
          </a:bodyPr>
          <a:lstStyle/>
          <a:p>
            <a:pPr>
              <a:lnSpc>
                <a:spcPct val="150000"/>
              </a:lnSpc>
            </a:pPr>
            <a:r>
              <a:rPr lang="zh-CN" altLang="en-US" sz="3200" dirty="0">
                <a:latin typeface="楷体" panose="02010609060101010101" pitchFamily="49" charset="-122"/>
                <a:ea typeface="楷体" panose="02010609060101010101" pitchFamily="49" charset="-122"/>
              </a:rPr>
              <a:t>线性规划主要研究以下两类问题的</a:t>
            </a:r>
            <a:r>
              <a:rPr lang="zh-CN" altLang="en-US" sz="3200" b="1" dirty="0">
                <a:solidFill>
                  <a:srgbClr val="0322BD"/>
                </a:solidFill>
                <a:latin typeface="楷体" panose="02010609060101010101" pitchFamily="49" charset="-122"/>
                <a:ea typeface="楷体" panose="02010609060101010101" pitchFamily="49" charset="-122"/>
              </a:rPr>
              <a:t>建模</a:t>
            </a:r>
            <a:r>
              <a:rPr lang="zh-CN" altLang="en-US" sz="3200" dirty="0">
                <a:latin typeface="楷体" panose="02010609060101010101" pitchFamily="49" charset="-122"/>
                <a:ea typeface="楷体" panose="02010609060101010101" pitchFamily="49" charset="-122"/>
              </a:rPr>
              <a:t>和</a:t>
            </a:r>
            <a:r>
              <a:rPr lang="zh-CN" altLang="en-US" sz="3200" b="1" dirty="0">
                <a:solidFill>
                  <a:srgbClr val="0322BD"/>
                </a:solidFill>
                <a:latin typeface="楷体" panose="02010609060101010101" pitchFamily="49" charset="-122"/>
                <a:ea typeface="楷体" panose="02010609060101010101" pitchFamily="49" charset="-122"/>
              </a:rPr>
              <a:t>求解方法</a:t>
            </a:r>
            <a:r>
              <a:rPr lang="zh-CN" altLang="en-US" sz="3200" dirty="0">
                <a:latin typeface="楷体" panose="02010609060101010101" pitchFamily="49" charset="-122"/>
                <a:ea typeface="楷体" panose="02010609060101010101" pitchFamily="49" charset="-122"/>
              </a:rPr>
              <a:t>：</a:t>
            </a:r>
            <a:endParaRPr lang="en-US" altLang="zh-CN" sz="3200" dirty="0">
              <a:latin typeface="楷体" panose="02010609060101010101" pitchFamily="49" charset="-122"/>
              <a:ea typeface="楷体" panose="02010609060101010101" pitchFamily="49" charset="-122"/>
            </a:endParaRPr>
          </a:p>
          <a:p>
            <a:pPr>
              <a:lnSpc>
                <a:spcPct val="150000"/>
              </a:lnSpc>
            </a:pPr>
            <a:r>
              <a:rPr lang="zh-CN" altLang="en-US" sz="3200" dirty="0">
                <a:latin typeface="楷体" panose="02010609060101010101" pitchFamily="49" charset="-122"/>
                <a:ea typeface="楷体" panose="02010609060101010101" pitchFamily="49" charset="-122"/>
              </a:rPr>
              <a:t>一类是给定一定的资源，研究如何运用这些资源更好的完成任务；</a:t>
            </a:r>
            <a:endParaRPr lang="en-US" altLang="zh-CN" sz="3200" dirty="0">
              <a:latin typeface="楷体" panose="02010609060101010101" pitchFamily="49" charset="-122"/>
              <a:ea typeface="楷体" panose="02010609060101010101" pitchFamily="49" charset="-122"/>
            </a:endParaRPr>
          </a:p>
          <a:p>
            <a:pPr>
              <a:lnSpc>
                <a:spcPct val="150000"/>
              </a:lnSpc>
            </a:pPr>
            <a:r>
              <a:rPr lang="zh-CN" altLang="en-US" sz="3200" dirty="0">
                <a:latin typeface="楷体" panose="02010609060101010101" pitchFamily="49" charset="-122"/>
                <a:ea typeface="楷体" panose="02010609060101010101" pitchFamily="49" charset="-122"/>
              </a:rPr>
              <a:t>另一类是如何统筹安排，尽量以最少的资源去完成既定的任务。</a:t>
            </a:r>
            <a:endParaRPr lang="en-US" altLang="zh-CN" sz="3200" dirty="0">
              <a:latin typeface="楷体" panose="02010609060101010101" pitchFamily="49" charset="-122"/>
              <a:ea typeface="楷体" panose="02010609060101010101" pitchFamily="49" charset="-122"/>
            </a:endParaRPr>
          </a:p>
          <a:p>
            <a:pPr>
              <a:lnSpc>
                <a:spcPct val="150000"/>
              </a:lnSpc>
            </a:pPr>
            <a:r>
              <a:rPr lang="zh-CN" altLang="en-US" sz="3200" dirty="0">
                <a:latin typeface="楷体" panose="02010609060101010101" pitchFamily="49" charset="-122"/>
                <a:ea typeface="楷体" panose="02010609060101010101" pitchFamily="49" charset="-122"/>
              </a:rPr>
              <a:t>事实上这是一个线性规划问题的两个方面。</a:t>
            </a:r>
            <a:endParaRPr lang="en-US" altLang="zh-CN" sz="3200" dirty="0">
              <a:latin typeface="楷体" panose="02010609060101010101" pitchFamily="49" charset="-122"/>
              <a:ea typeface="楷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897930" y="1564850"/>
            <a:ext cx="8389856" cy="769441"/>
          </a:xfrm>
          <a:prstGeom prst="rect">
            <a:avLst/>
          </a:prstGeom>
          <a:noFill/>
        </p:spPr>
        <p:txBody>
          <a:bodyPr wrap="square" rtlCol="0">
            <a:spAutoFit/>
          </a:bodyPr>
          <a:lstStyle/>
          <a:p>
            <a:pPr algn="ctr"/>
            <a:r>
              <a:rPr lang="zh-CN" altLang="en-US" sz="4400" dirty="0">
                <a:latin typeface="楷体" panose="02010609060101010101" pitchFamily="49" charset="-122"/>
                <a:ea typeface="楷体" panose="02010609060101010101" pitchFamily="49" charset="-122"/>
              </a:rPr>
              <a:t>线性规划问题举例</a:t>
            </a:r>
            <a:endParaRPr lang="zh-CN" altLang="en-US" sz="4400" dirty="0">
              <a:latin typeface="楷体" panose="02010609060101010101" pitchFamily="49" charset="-122"/>
              <a:ea typeface="楷体" panose="02010609060101010101" pitchFamily="49" charset="-122"/>
            </a:endParaRPr>
          </a:p>
        </p:txBody>
      </p:sp>
      <p:sp>
        <p:nvSpPr>
          <p:cNvPr id="3" name="箭头: 下 2"/>
          <p:cNvSpPr/>
          <p:nvPr/>
        </p:nvSpPr>
        <p:spPr>
          <a:xfrm>
            <a:off x="5269584" y="2601798"/>
            <a:ext cx="1809946" cy="37707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0129" y="112122"/>
            <a:ext cx="12111871" cy="1077218"/>
          </a:xfrm>
          <a:prstGeom prst="rect">
            <a:avLst/>
          </a:prstGeom>
          <a:noFill/>
        </p:spPr>
        <p:txBody>
          <a:bodyPr wrap="square">
            <a:spAutoFit/>
          </a:bodyPr>
          <a:lstStyle/>
          <a:p>
            <a:r>
              <a:rPr lang="zh-CN" altLang="en-US" sz="3200" dirty="0">
                <a:solidFill>
                  <a:srgbClr val="060606"/>
                </a:solidFill>
                <a:latin typeface="楷体" panose="02010609060101010101" pitchFamily="49" charset="-122"/>
                <a:ea typeface="楷体" panose="02010609060101010101" pitchFamily="49" charset="-122"/>
              </a:rPr>
              <a:t>例</a:t>
            </a:r>
            <a:r>
              <a:rPr lang="en-US" altLang="zh-CN" sz="3200" dirty="0">
                <a:solidFill>
                  <a:srgbClr val="060606"/>
                </a:solidFill>
                <a:latin typeface="楷体" panose="02010609060101010101" pitchFamily="49" charset="-122"/>
                <a:ea typeface="楷体" panose="02010609060101010101" pitchFamily="49" charset="-122"/>
              </a:rPr>
              <a:t>1</a:t>
            </a:r>
            <a:r>
              <a:rPr lang="zh-CN" altLang="en-US" sz="3200" dirty="0">
                <a:solidFill>
                  <a:srgbClr val="060606"/>
                </a:solidFill>
                <a:latin typeface="楷体" panose="02010609060101010101" pitchFamily="49" charset="-122"/>
                <a:ea typeface="楷体" panose="02010609060101010101" pitchFamily="49" charset="-122"/>
              </a:rPr>
              <a:t>，在一定的数量的人力、物力、财力资源限制下，如何安排使用它们，使得完成的任务效益最大。</a:t>
            </a:r>
            <a:endParaRPr lang="zh-CN" altLang="en-US" sz="3200" dirty="0">
              <a:latin typeface="楷体" panose="02010609060101010101" pitchFamily="49" charset="-122"/>
              <a:ea typeface="楷体" panose="02010609060101010101" pitchFamily="49" charset="-122"/>
            </a:endParaRPr>
          </a:p>
        </p:txBody>
      </p:sp>
      <p:sp>
        <p:nvSpPr>
          <p:cNvPr id="4" name="矩形: 折角 3"/>
          <p:cNvSpPr/>
          <p:nvPr/>
        </p:nvSpPr>
        <p:spPr>
          <a:xfrm flipV="1">
            <a:off x="80128" y="1366883"/>
            <a:ext cx="12014461" cy="5307291"/>
          </a:xfrm>
          <a:prstGeom prst="foldedCorner">
            <a:avLst>
              <a:gd name="adj" fmla="val 933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53973" y="2115787"/>
            <a:ext cx="6332048" cy="4662815"/>
          </a:xfrm>
          <a:prstGeom prst="rect">
            <a:avLst/>
          </a:prstGeom>
          <a:noFill/>
        </p:spPr>
        <p:txBody>
          <a:bodyPr wrap="square">
            <a:spAutoFit/>
          </a:bodyPr>
          <a:lstStyle/>
          <a:p>
            <a:r>
              <a:rPr lang="zh-CN" altLang="en-US" sz="2700" dirty="0">
                <a:solidFill>
                  <a:srgbClr val="060606"/>
                </a:solidFill>
                <a:latin typeface="楷体" panose="02010609060101010101" pitchFamily="49" charset="-122"/>
                <a:ea typeface="楷体" panose="02010609060101010101" pitchFamily="49" charset="-122"/>
              </a:rPr>
              <a:t>某银行有</a:t>
            </a:r>
            <a:r>
              <a:rPr lang="en-US" altLang="zh-CN" sz="2700" dirty="0">
                <a:solidFill>
                  <a:srgbClr val="060606"/>
                </a:solidFill>
                <a:latin typeface="楷体" panose="02010609060101010101" pitchFamily="49" charset="-122"/>
                <a:ea typeface="楷体" panose="02010609060101010101" pitchFamily="49" charset="-122"/>
              </a:rPr>
              <a:t>100</a:t>
            </a:r>
            <a:r>
              <a:rPr lang="zh-CN" altLang="en-US" sz="2700" dirty="0">
                <a:solidFill>
                  <a:srgbClr val="060606"/>
                </a:solidFill>
                <a:latin typeface="楷体" panose="02010609060101010101" pitchFamily="49" charset="-122"/>
                <a:ea typeface="楷体" panose="02010609060101010101" pitchFamily="49" charset="-122"/>
              </a:rPr>
              <a:t>万元用作投资，其中一部分用作贷款</a:t>
            </a:r>
            <a:r>
              <a:rPr lang="en-US" altLang="zh-CN" sz="2700" dirty="0">
                <a:solidFill>
                  <a:srgbClr val="060606"/>
                </a:solidFill>
                <a:latin typeface="楷体" panose="02010609060101010101" pitchFamily="49" charset="-122"/>
                <a:ea typeface="楷体" panose="02010609060101010101" pitchFamily="49" charset="-122"/>
              </a:rPr>
              <a:t>(L)</a:t>
            </a:r>
            <a:r>
              <a:rPr lang="zh-CN" altLang="en-US" sz="2700" dirty="0">
                <a:solidFill>
                  <a:srgbClr val="060606"/>
                </a:solidFill>
                <a:latin typeface="楷体" panose="02010609060101010101" pitchFamily="49" charset="-122"/>
                <a:ea typeface="楷体" panose="02010609060101010101" pitchFamily="49" charset="-122"/>
              </a:rPr>
              <a:t>，一部分用作购买有价债券</a:t>
            </a:r>
            <a:r>
              <a:rPr lang="en-US" altLang="zh-CN" sz="2700" dirty="0">
                <a:solidFill>
                  <a:srgbClr val="060606"/>
                </a:solidFill>
                <a:latin typeface="楷体" panose="02010609060101010101" pitchFamily="49" charset="-122"/>
                <a:ea typeface="楷体" panose="02010609060101010101" pitchFamily="49" charset="-122"/>
              </a:rPr>
              <a:t>(S)</a:t>
            </a:r>
            <a:r>
              <a:rPr lang="zh-CN" altLang="en-US" sz="2700" dirty="0">
                <a:solidFill>
                  <a:srgbClr val="060606"/>
                </a:solidFill>
                <a:latin typeface="楷体" panose="02010609060101010101" pitchFamily="49" charset="-122"/>
                <a:ea typeface="楷体" panose="02010609060101010101" pitchFamily="49" charset="-122"/>
              </a:rPr>
              <a:t>。贷款可获取高利率（</a:t>
            </a:r>
            <a:r>
              <a:rPr lang="en-US" altLang="zh-CN" sz="2700" dirty="0">
                <a:solidFill>
                  <a:srgbClr val="060606"/>
                </a:solidFill>
                <a:latin typeface="楷体" panose="02010609060101010101" pitchFamily="49" charset="-122"/>
                <a:ea typeface="楷体" panose="02010609060101010101" pitchFamily="49" charset="-122"/>
              </a:rPr>
              <a:t>0.10/</a:t>
            </a:r>
            <a:r>
              <a:rPr lang="zh-CN" altLang="en-US" sz="2700" dirty="0">
                <a:solidFill>
                  <a:srgbClr val="060606"/>
                </a:solidFill>
                <a:latin typeface="楷体" panose="02010609060101010101" pitchFamily="49" charset="-122"/>
                <a:ea typeface="楷体" panose="02010609060101010101" pitchFamily="49" charset="-122"/>
              </a:rPr>
              <a:t>万元）</a:t>
            </a:r>
            <a:r>
              <a:rPr lang="en-US" altLang="zh-CN" sz="2700" dirty="0">
                <a:solidFill>
                  <a:srgbClr val="060606"/>
                </a:solidFill>
                <a:latin typeface="楷体" panose="02010609060101010101" pitchFamily="49" charset="-122"/>
                <a:ea typeface="楷体" panose="02010609060101010101" pitchFamily="49" charset="-122"/>
              </a:rPr>
              <a:t> </a:t>
            </a:r>
            <a:r>
              <a:rPr lang="zh-CN" altLang="en-US" sz="2700" dirty="0">
                <a:solidFill>
                  <a:srgbClr val="060606"/>
                </a:solidFill>
                <a:latin typeface="楷体" panose="02010609060101010101" pitchFamily="49" charset="-122"/>
                <a:ea typeface="楷体" panose="02010609060101010101" pitchFamily="49" charset="-122"/>
              </a:rPr>
              <a:t>，债券利率虽然低（</a:t>
            </a:r>
            <a:r>
              <a:rPr lang="en-US" altLang="zh-CN" sz="2700" dirty="0">
                <a:solidFill>
                  <a:srgbClr val="060606"/>
                </a:solidFill>
                <a:latin typeface="楷体" panose="02010609060101010101" pitchFamily="49" charset="-122"/>
                <a:ea typeface="楷体" panose="02010609060101010101" pitchFamily="49" charset="-122"/>
              </a:rPr>
              <a:t>0.05/</a:t>
            </a:r>
            <a:r>
              <a:rPr lang="zh-CN" altLang="en-US" sz="2700" dirty="0">
                <a:solidFill>
                  <a:srgbClr val="060606"/>
                </a:solidFill>
                <a:latin typeface="楷体" panose="02010609060101010101" pitchFamily="49" charset="-122"/>
                <a:ea typeface="楷体" panose="02010609060101010101" pitchFamily="49" charset="-122"/>
              </a:rPr>
              <a:t>万元），但可交易，在任何时候银行可将债券出售而获取快速变现能力。银行希望</a:t>
            </a:r>
            <a:r>
              <a:rPr lang="en-US" altLang="zh-CN" sz="2700" dirty="0">
                <a:solidFill>
                  <a:srgbClr val="060606"/>
                </a:solidFill>
                <a:latin typeface="楷体" panose="02010609060101010101" pitchFamily="49" charset="-122"/>
                <a:ea typeface="楷体" panose="02010609060101010101" pitchFamily="49" charset="-122"/>
              </a:rPr>
              <a:t>,</a:t>
            </a:r>
            <a:r>
              <a:rPr lang="zh-CN" altLang="en-US" sz="2700" dirty="0">
                <a:solidFill>
                  <a:srgbClr val="060606"/>
                </a:solidFill>
                <a:latin typeface="楷体" panose="02010609060101010101" pitchFamily="49" charset="-122"/>
                <a:ea typeface="楷体" panose="02010609060101010101" pitchFamily="49" charset="-122"/>
              </a:rPr>
              <a:t>至少有</a:t>
            </a:r>
            <a:r>
              <a:rPr lang="en-US" altLang="zh-CN" sz="2700" dirty="0">
                <a:solidFill>
                  <a:srgbClr val="060606"/>
                </a:solidFill>
                <a:latin typeface="楷体" panose="02010609060101010101" pitchFamily="49" charset="-122"/>
                <a:ea typeface="楷体" panose="02010609060101010101" pitchFamily="49" charset="-122"/>
              </a:rPr>
              <a:t>25%</a:t>
            </a:r>
            <a:r>
              <a:rPr lang="zh-CN" altLang="en-US" sz="2700" dirty="0">
                <a:solidFill>
                  <a:srgbClr val="060606"/>
                </a:solidFill>
                <a:latin typeface="楷体" panose="02010609060101010101" pitchFamily="49" charset="-122"/>
                <a:ea typeface="楷体" panose="02010609060101010101" pitchFamily="49" charset="-122"/>
              </a:rPr>
              <a:t>的投资资金</a:t>
            </a:r>
            <a:r>
              <a:rPr lang="en-US" altLang="zh-CN" sz="2700" dirty="0">
                <a:solidFill>
                  <a:srgbClr val="060606"/>
                </a:solidFill>
                <a:latin typeface="楷体" panose="02010609060101010101" pitchFamily="49" charset="-122"/>
                <a:ea typeface="楷体" panose="02010609060101010101" pitchFamily="49" charset="-122"/>
              </a:rPr>
              <a:t>(S+L)</a:t>
            </a:r>
            <a:r>
              <a:rPr lang="zh-CN" altLang="en-US" sz="2700" dirty="0">
                <a:solidFill>
                  <a:srgbClr val="060606"/>
                </a:solidFill>
                <a:latin typeface="楷体" panose="02010609060101010101" pitchFamily="49" charset="-122"/>
                <a:ea typeface="楷体" panose="02010609060101010101" pitchFamily="49" charset="-122"/>
              </a:rPr>
              <a:t>具有灵活变现能力。银行还希望</a:t>
            </a:r>
            <a:r>
              <a:rPr lang="en-US" altLang="zh-CN" sz="2700" dirty="0">
                <a:solidFill>
                  <a:srgbClr val="060606"/>
                </a:solidFill>
                <a:latin typeface="楷体" panose="02010609060101010101" pitchFamily="49" charset="-122"/>
                <a:ea typeface="楷体" panose="02010609060101010101" pitchFamily="49" charset="-122"/>
              </a:rPr>
              <a:t>,</a:t>
            </a:r>
            <a:r>
              <a:rPr lang="zh-CN" altLang="en-US" sz="2700" dirty="0">
                <a:solidFill>
                  <a:srgbClr val="060606"/>
                </a:solidFill>
                <a:latin typeface="楷体" panose="02010609060101010101" pitchFamily="49" charset="-122"/>
                <a:ea typeface="楷体" panose="02010609060101010101" pitchFamily="49" charset="-122"/>
              </a:rPr>
              <a:t>使其有信用的老贷款户能随时贷到款，因此，留给贷款部分不低于</a:t>
            </a:r>
            <a:r>
              <a:rPr lang="en-US" altLang="zh-CN" sz="2700" dirty="0">
                <a:solidFill>
                  <a:srgbClr val="060606"/>
                </a:solidFill>
                <a:latin typeface="楷体" panose="02010609060101010101" pitchFamily="49" charset="-122"/>
                <a:ea typeface="楷体" panose="02010609060101010101" pitchFamily="49" charset="-122"/>
              </a:rPr>
              <a:t>30</a:t>
            </a:r>
            <a:r>
              <a:rPr lang="zh-CN" altLang="en-US" sz="2700" dirty="0">
                <a:solidFill>
                  <a:srgbClr val="060606"/>
                </a:solidFill>
                <a:latin typeface="楷体" panose="02010609060101010101" pitchFamily="49" charset="-122"/>
                <a:ea typeface="楷体" panose="02010609060101010101" pitchFamily="49" charset="-122"/>
              </a:rPr>
              <a:t>万元。当然，银行的目标是希望利润取最大值。银行该如何决策？</a:t>
            </a:r>
            <a:endParaRPr lang="zh-CN" altLang="en-US" sz="2700" dirty="0">
              <a:latin typeface="楷体" panose="02010609060101010101" pitchFamily="49" charset="-122"/>
              <a:ea typeface="楷体" panose="02010609060101010101" pitchFamily="49" charset="-122"/>
            </a:endParaRPr>
          </a:p>
        </p:txBody>
      </p:sp>
      <p:sp>
        <p:nvSpPr>
          <p:cNvPr id="8" name="文本框 7"/>
          <p:cNvSpPr txBox="1"/>
          <p:nvPr/>
        </p:nvSpPr>
        <p:spPr>
          <a:xfrm>
            <a:off x="3226324" y="1502731"/>
            <a:ext cx="6132136" cy="584775"/>
          </a:xfrm>
          <a:prstGeom prst="rect">
            <a:avLst/>
          </a:prstGeom>
          <a:noFill/>
        </p:spPr>
        <p:txBody>
          <a:bodyPr wrap="square">
            <a:spAutoFit/>
          </a:bodyPr>
          <a:lstStyle/>
          <a:p>
            <a:pPr algn="ctr"/>
            <a:r>
              <a:rPr lang="zh-CN" altLang="en-US" sz="3200" dirty="0">
                <a:solidFill>
                  <a:srgbClr val="060606"/>
                </a:solidFill>
                <a:latin typeface="楷体" panose="02010609060101010101" pitchFamily="49" charset="-122"/>
                <a:ea typeface="楷体" panose="02010609060101010101" pitchFamily="49" charset="-122"/>
              </a:rPr>
              <a:t>银行投资问题及其数学形式</a:t>
            </a:r>
            <a:endParaRPr lang="en-US" altLang="zh-CN" sz="3200" dirty="0">
              <a:solidFill>
                <a:srgbClr val="060606"/>
              </a:solidFill>
              <a:latin typeface="楷体" panose="02010609060101010101" pitchFamily="49" charset="-122"/>
              <a:ea typeface="楷体" panose="02010609060101010101" pitchFamily="49" charset="-122"/>
            </a:endParaRPr>
          </a:p>
        </p:txBody>
      </p:sp>
      <p:grpSp>
        <p:nvGrpSpPr>
          <p:cNvPr id="9" name="组合 8"/>
          <p:cNvGrpSpPr/>
          <p:nvPr/>
        </p:nvGrpSpPr>
        <p:grpSpPr>
          <a:xfrm>
            <a:off x="7282805" y="2415071"/>
            <a:ext cx="5570756" cy="3671057"/>
            <a:chOff x="899592" y="3182715"/>
            <a:chExt cx="6094509" cy="3671057"/>
          </a:xfrm>
        </p:grpSpPr>
        <p:sp>
          <p:nvSpPr>
            <p:cNvPr id="10" name="矩形 9"/>
            <p:cNvSpPr/>
            <p:nvPr/>
          </p:nvSpPr>
          <p:spPr>
            <a:xfrm>
              <a:off x="1239926" y="3182715"/>
              <a:ext cx="4392487" cy="543739"/>
            </a:xfrm>
            <a:prstGeom prst="rect">
              <a:avLst/>
            </a:prstGeom>
          </p:spPr>
          <p:txBody>
            <a:bodyPr wrap="square">
              <a:spAutoFit/>
            </a:bodyPr>
            <a:lstStyle/>
            <a:p>
              <a:pPr marL="342900" lvl="0" indent="-342900" algn="ctr" fontAlgn="base">
                <a:lnSpc>
                  <a:spcPct val="110000"/>
                </a:lnSpc>
                <a:spcBef>
                  <a:spcPts val="1800"/>
                </a:spcBef>
                <a:spcAft>
                  <a:spcPct val="0"/>
                </a:spcAft>
              </a:pPr>
              <a:r>
                <a:rPr lang="en-US" altLang="zh-CN" sz="2800" dirty="0">
                  <a:solidFill>
                    <a:srgbClr val="060606"/>
                  </a:solidFill>
                </a:rPr>
                <a:t>max Z  = 0.10L+0.05S</a:t>
              </a:r>
              <a:endParaRPr lang="en-US" altLang="zh-CN" sz="2800" dirty="0">
                <a:solidFill>
                  <a:srgbClr val="060606"/>
                </a:solidFill>
              </a:endParaRPr>
            </a:p>
          </p:txBody>
        </p:sp>
        <p:sp>
          <p:nvSpPr>
            <p:cNvPr id="11" name="矩形 10"/>
            <p:cNvSpPr/>
            <p:nvPr/>
          </p:nvSpPr>
          <p:spPr>
            <a:xfrm>
              <a:off x="899592" y="4437112"/>
              <a:ext cx="648072" cy="543739"/>
            </a:xfrm>
            <a:prstGeom prst="rect">
              <a:avLst/>
            </a:prstGeom>
          </p:spPr>
          <p:txBody>
            <a:bodyPr wrap="square">
              <a:spAutoFit/>
            </a:bodyPr>
            <a:lstStyle/>
            <a:p>
              <a:pPr marL="342900" lvl="0" indent="-342900" fontAlgn="base">
                <a:lnSpc>
                  <a:spcPct val="110000"/>
                </a:lnSpc>
                <a:spcBef>
                  <a:spcPts val="1800"/>
                </a:spcBef>
                <a:spcAft>
                  <a:spcPct val="0"/>
                </a:spcAft>
              </a:pPr>
              <a:r>
                <a:rPr lang="en-US" altLang="zh-CN" sz="2800" dirty="0" err="1">
                  <a:solidFill>
                    <a:srgbClr val="060606"/>
                  </a:solidFill>
                </a:rPr>
                <a:t>s.t.</a:t>
              </a:r>
              <a:endParaRPr lang="en-US" altLang="zh-CN" sz="2800" dirty="0">
                <a:solidFill>
                  <a:srgbClr val="060606"/>
                </a:solidFill>
              </a:endParaRPr>
            </a:p>
          </p:txBody>
        </p:sp>
        <p:sp>
          <p:nvSpPr>
            <p:cNvPr id="12" name="左大括号 11"/>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endParaRPr kumimoji="0" lang="zh-CN" altLang="en-US" sz="2000" b="0" i="0" u="none" strike="noStrike" cap="none" normalizeH="0" baseline="0">
                <a:ln>
                  <a:noFill/>
                </a:ln>
                <a:solidFill>
                  <a:schemeClr val="tx1"/>
                </a:solidFill>
                <a:effectLst/>
                <a:latin typeface="Arial" panose="020B0604020202090204" pitchFamily="34" charset="0"/>
                <a:ea typeface="宋体" panose="02010600030101010101" pitchFamily="2" charset="-122"/>
              </a:endParaRPr>
            </a:p>
          </p:txBody>
        </p:sp>
        <p:sp>
          <p:nvSpPr>
            <p:cNvPr id="13" name="矩形 12"/>
            <p:cNvSpPr/>
            <p:nvPr/>
          </p:nvSpPr>
          <p:spPr>
            <a:xfrm>
              <a:off x="2123728" y="3884831"/>
              <a:ext cx="3174267" cy="523220"/>
            </a:xfrm>
            <a:prstGeom prst="rect">
              <a:avLst/>
            </a:prstGeom>
          </p:spPr>
          <p:txBody>
            <a:bodyPr wrap="none">
              <a:spAutoFit/>
            </a:bodyPr>
            <a:lstStyle/>
            <a:p>
              <a:r>
                <a:rPr lang="en-US" altLang="zh-CN" sz="2800" dirty="0">
                  <a:solidFill>
                    <a:srgbClr val="060606"/>
                  </a:solidFill>
                </a:rPr>
                <a:t>L+S ≤100          (1)</a:t>
              </a:r>
              <a:endParaRPr lang="zh-CN" altLang="en-US" sz="2000" dirty="0"/>
            </a:p>
          </p:txBody>
        </p:sp>
        <p:sp>
          <p:nvSpPr>
            <p:cNvPr id="14" name="矩形 13"/>
            <p:cNvSpPr/>
            <p:nvPr/>
          </p:nvSpPr>
          <p:spPr>
            <a:xfrm>
              <a:off x="2123728" y="4725144"/>
              <a:ext cx="3344185" cy="523220"/>
            </a:xfrm>
            <a:prstGeom prst="rect">
              <a:avLst/>
            </a:prstGeom>
          </p:spPr>
          <p:txBody>
            <a:bodyPr wrap="none">
              <a:spAutoFit/>
            </a:bodyPr>
            <a:lstStyle/>
            <a:p>
              <a:r>
                <a:rPr lang="en-US" altLang="zh-CN" sz="2800" dirty="0">
                  <a:solidFill>
                    <a:srgbClr val="060606"/>
                  </a:solidFill>
                </a:rPr>
                <a:t>L ≥30                 (3)</a:t>
              </a:r>
              <a:endParaRPr lang="zh-CN" altLang="en-US" sz="2000" dirty="0"/>
            </a:p>
          </p:txBody>
        </p:sp>
        <p:sp>
          <p:nvSpPr>
            <p:cNvPr id="15" name="矩形 14"/>
            <p:cNvSpPr/>
            <p:nvPr/>
          </p:nvSpPr>
          <p:spPr>
            <a:xfrm>
              <a:off x="2123728" y="5157192"/>
              <a:ext cx="3366627" cy="523220"/>
            </a:xfrm>
            <a:prstGeom prst="rect">
              <a:avLst/>
            </a:prstGeom>
          </p:spPr>
          <p:txBody>
            <a:bodyPr wrap="none">
              <a:spAutoFit/>
            </a:bodyPr>
            <a:lstStyle/>
            <a:p>
              <a:r>
                <a:rPr lang="en-US" altLang="zh-CN" sz="2800" dirty="0">
                  <a:solidFill>
                    <a:srgbClr val="060606"/>
                  </a:solidFill>
                </a:rPr>
                <a:t>L ≥0</a:t>
              </a:r>
              <a:r>
                <a:rPr lang="zh-CN" altLang="en-US" sz="2800" dirty="0">
                  <a:solidFill>
                    <a:srgbClr val="060606"/>
                  </a:solidFill>
                </a:rPr>
                <a:t>，</a:t>
              </a:r>
              <a:r>
                <a:rPr lang="en-US" altLang="zh-CN" sz="2800" dirty="0">
                  <a:solidFill>
                    <a:srgbClr val="060606"/>
                  </a:solidFill>
                </a:rPr>
                <a:t>S≥0        (4)</a:t>
              </a:r>
              <a:endParaRPr lang="zh-CN" altLang="en-US" sz="2000" dirty="0"/>
            </a:p>
          </p:txBody>
        </p:sp>
        <p:sp>
          <p:nvSpPr>
            <p:cNvPr id="16" name="矩形 15"/>
            <p:cNvSpPr/>
            <p:nvPr/>
          </p:nvSpPr>
          <p:spPr>
            <a:xfrm>
              <a:off x="2123728" y="4293096"/>
              <a:ext cx="3534706" cy="523220"/>
            </a:xfrm>
            <a:prstGeom prst="rect">
              <a:avLst/>
            </a:prstGeom>
          </p:spPr>
          <p:txBody>
            <a:bodyPr wrap="square">
              <a:spAutoFit/>
            </a:bodyPr>
            <a:lstStyle/>
            <a:p>
              <a:r>
                <a:rPr lang="en-US" altLang="zh-CN" sz="2800" dirty="0">
                  <a:solidFill>
                    <a:srgbClr val="060606"/>
                  </a:solidFill>
                </a:rPr>
                <a:t>S ≥0.25(S+L)      (2)</a:t>
              </a:r>
              <a:endParaRPr lang="zh-CN" altLang="en-US" sz="2800" dirty="0">
                <a:solidFill>
                  <a:srgbClr val="060606"/>
                </a:solidFill>
              </a:endParaRPr>
            </a:p>
          </p:txBody>
        </p:sp>
        <p:sp>
          <p:nvSpPr>
            <p:cNvPr id="17" name="矩形 16"/>
            <p:cNvSpPr/>
            <p:nvPr/>
          </p:nvSpPr>
          <p:spPr>
            <a:xfrm>
              <a:off x="899592" y="6330552"/>
              <a:ext cx="6094509" cy="523220"/>
            </a:xfrm>
            <a:prstGeom prst="rect">
              <a:avLst/>
            </a:prstGeom>
          </p:spPr>
          <p:txBody>
            <a:bodyPr wrap="none">
              <a:spAutoFit/>
            </a:bodyPr>
            <a:lstStyle/>
            <a:p>
              <a:r>
                <a:rPr lang="en-US" altLang="zh-CN" sz="2800" dirty="0" err="1">
                  <a:solidFill>
                    <a:srgbClr val="060606"/>
                  </a:solidFill>
                  <a:latin typeface="楷体" panose="02010609060101010101" pitchFamily="49" charset="-122"/>
                  <a:ea typeface="楷体" panose="02010609060101010101" pitchFamily="49" charset="-122"/>
                </a:rPr>
                <a:t>s.t.</a:t>
              </a:r>
              <a:r>
                <a:rPr lang="zh-CN" altLang="en-US" sz="2800" dirty="0">
                  <a:solidFill>
                    <a:srgbClr val="060606"/>
                  </a:solidFill>
                  <a:latin typeface="楷体" panose="02010609060101010101" pitchFamily="49" charset="-122"/>
                  <a:ea typeface="楷体" panose="02010609060101010101" pitchFamily="49" charset="-122"/>
                </a:rPr>
                <a:t>表示约束条件的总称</a:t>
              </a:r>
              <a:r>
                <a:rPr lang="en-US" altLang="zh-CN" sz="2800" dirty="0">
                  <a:solidFill>
                    <a:srgbClr val="060606"/>
                  </a:solidFill>
                  <a:latin typeface="楷体" panose="02010609060101010101" pitchFamily="49" charset="-122"/>
                  <a:ea typeface="楷体" panose="02010609060101010101" pitchFamily="49" charset="-122"/>
                </a:rPr>
                <a:t>(</a:t>
              </a:r>
              <a:r>
                <a:rPr lang="zh-CN" altLang="en-US" sz="2800" dirty="0">
                  <a:solidFill>
                    <a:srgbClr val="060606"/>
                  </a:solidFill>
                  <a:latin typeface="楷体" panose="02010609060101010101" pitchFamily="49" charset="-122"/>
                  <a:ea typeface="楷体" panose="02010609060101010101" pitchFamily="49" charset="-122"/>
                </a:rPr>
                <a:t>下同</a:t>
              </a:r>
              <a:r>
                <a:rPr lang="en-US" altLang="zh-CN" sz="2800" dirty="0">
                  <a:solidFill>
                    <a:srgbClr val="060606"/>
                  </a:solidFill>
                  <a:latin typeface="楷体" panose="02010609060101010101" pitchFamily="49" charset="-122"/>
                  <a:ea typeface="楷体" panose="02010609060101010101" pitchFamily="49" charset="-122"/>
                </a:rPr>
                <a:t>)</a:t>
              </a:r>
              <a:r>
                <a:rPr lang="zh-CN" altLang="en-US" sz="2800" dirty="0">
                  <a:solidFill>
                    <a:srgbClr val="060606"/>
                  </a:solidFill>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p:txBody>
        </p:sp>
      </p:grpSp>
      <p:sp>
        <p:nvSpPr>
          <p:cNvPr id="20" name="箭头: 左右 19"/>
          <p:cNvSpPr/>
          <p:nvPr/>
        </p:nvSpPr>
        <p:spPr>
          <a:xfrm>
            <a:off x="6410227" y="3841396"/>
            <a:ext cx="754989" cy="329886"/>
          </a:xfrm>
          <a:prstGeom prst="leftRightArrow">
            <a:avLst/>
          </a:prstGeom>
          <a:no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477799" y="4845271"/>
          <a:ext cx="5853999" cy="1854200"/>
        </p:xfrm>
        <a:graphic>
          <a:graphicData uri="http://schemas.openxmlformats.org/drawingml/2006/table">
            <a:tbl>
              <a:tblPr firstRow="1" bandRow="1">
                <a:tableStyleId>{5C22544A-7EE6-4342-B048-85BDC9FD1C3A}</a:tableStyleId>
              </a:tblPr>
              <a:tblGrid>
                <a:gridCol w="1788689"/>
                <a:gridCol w="4065310"/>
              </a:tblGrid>
              <a:tr h="370840">
                <a:tc>
                  <a:txBody>
                    <a:bodyPr/>
                    <a:lstStyle/>
                    <a:p>
                      <a:r>
                        <a:rPr lang="zh-CN" altLang="en-US" sz="1600" dirty="0">
                          <a:solidFill>
                            <a:srgbClr val="060606"/>
                          </a:solidFill>
                        </a:rPr>
                        <a:t>食物类型</a:t>
                      </a:r>
                      <a:endParaRPr lang="zh-CN" altLang="en-US" sz="1600" dirty="0">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r>
                        <a:rPr lang="zh-CN" altLang="en-US" sz="1600" dirty="0">
                          <a:solidFill>
                            <a:srgbClr val="060606"/>
                          </a:solidFill>
                        </a:rPr>
                        <a:t>卡路里   巧克力</a:t>
                      </a:r>
                      <a:r>
                        <a:rPr lang="en-US" altLang="zh-CN" sz="1600" dirty="0">
                          <a:solidFill>
                            <a:srgbClr val="060606"/>
                          </a:solidFill>
                        </a:rPr>
                        <a:t>(</a:t>
                      </a:r>
                      <a:r>
                        <a:rPr lang="zh-CN" altLang="en-US" sz="1600" dirty="0">
                          <a:solidFill>
                            <a:srgbClr val="060606"/>
                          </a:solidFill>
                        </a:rPr>
                        <a:t>盎司</a:t>
                      </a:r>
                      <a:r>
                        <a:rPr lang="en-US" altLang="zh-CN" sz="1600" dirty="0">
                          <a:solidFill>
                            <a:srgbClr val="060606"/>
                          </a:solidFill>
                        </a:rPr>
                        <a:t>)  </a:t>
                      </a:r>
                      <a:r>
                        <a:rPr lang="zh-CN" altLang="en-US" sz="1600" dirty="0">
                          <a:solidFill>
                            <a:srgbClr val="060606"/>
                          </a:solidFill>
                        </a:rPr>
                        <a:t>糖</a:t>
                      </a:r>
                      <a:r>
                        <a:rPr lang="en-US" altLang="zh-CN" sz="1600" dirty="0">
                          <a:solidFill>
                            <a:srgbClr val="060606"/>
                          </a:solidFill>
                        </a:rPr>
                        <a:t>(</a:t>
                      </a:r>
                      <a:r>
                        <a:rPr lang="zh-CN" altLang="en-US" sz="1600" dirty="0">
                          <a:solidFill>
                            <a:srgbClr val="060606"/>
                          </a:solidFill>
                        </a:rPr>
                        <a:t>盎司</a:t>
                      </a:r>
                      <a:r>
                        <a:rPr lang="en-US" altLang="zh-CN" sz="1600" dirty="0">
                          <a:solidFill>
                            <a:srgbClr val="060606"/>
                          </a:solidFill>
                        </a:rPr>
                        <a:t>)   </a:t>
                      </a:r>
                      <a:r>
                        <a:rPr lang="zh-CN" altLang="en-US" sz="1600" dirty="0">
                          <a:solidFill>
                            <a:srgbClr val="060606"/>
                          </a:solidFill>
                        </a:rPr>
                        <a:t>脂肪</a:t>
                      </a:r>
                      <a:r>
                        <a:rPr lang="en-US" altLang="zh-CN" sz="1600" dirty="0">
                          <a:solidFill>
                            <a:srgbClr val="060606"/>
                          </a:solidFill>
                        </a:rPr>
                        <a:t>(</a:t>
                      </a:r>
                      <a:r>
                        <a:rPr lang="zh-CN" altLang="en-US" sz="1600" dirty="0">
                          <a:solidFill>
                            <a:srgbClr val="060606"/>
                          </a:solidFill>
                        </a:rPr>
                        <a:t>盎司</a:t>
                      </a:r>
                      <a:r>
                        <a:rPr lang="en-US" altLang="zh-CN" sz="1600" dirty="0">
                          <a:solidFill>
                            <a:srgbClr val="060606"/>
                          </a:solidFill>
                        </a:rPr>
                        <a:t>)</a:t>
                      </a:r>
                      <a:endParaRPr lang="zh-CN" altLang="en-US" sz="1600" dirty="0">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370840">
                <a:tc>
                  <a:txBody>
                    <a:bodyPr/>
                    <a:lstStyle/>
                    <a:p>
                      <a:r>
                        <a:rPr lang="zh-CN" altLang="en-US" sz="1600" dirty="0">
                          <a:solidFill>
                            <a:srgbClr val="060606"/>
                          </a:solidFill>
                        </a:rPr>
                        <a:t>胡桃巧克力糖</a:t>
                      </a:r>
                      <a:endParaRPr lang="zh-CN" altLang="en-US" sz="1600"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600" dirty="0">
                          <a:solidFill>
                            <a:srgbClr val="060606"/>
                          </a:solidFill>
                        </a:rPr>
                        <a:t>400              3                    2                2</a:t>
                      </a:r>
                      <a:endParaRPr lang="zh-CN" altLang="en-US" sz="1600"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r>
                        <a:rPr lang="zh-CN" altLang="en-US" sz="1600" dirty="0">
                          <a:solidFill>
                            <a:srgbClr val="060606"/>
                          </a:solidFill>
                        </a:rPr>
                        <a:t>巧克力冰激凌</a:t>
                      </a:r>
                      <a:r>
                        <a:rPr lang="en-US" altLang="zh-CN" sz="1600" dirty="0">
                          <a:solidFill>
                            <a:srgbClr val="060606"/>
                          </a:solidFill>
                        </a:rPr>
                        <a:t>(1</a:t>
                      </a:r>
                      <a:r>
                        <a:rPr lang="zh-CN" altLang="en-US" sz="1600" dirty="0">
                          <a:solidFill>
                            <a:srgbClr val="060606"/>
                          </a:solidFill>
                        </a:rPr>
                        <a:t>勺</a:t>
                      </a:r>
                      <a:r>
                        <a:rPr lang="en-US" altLang="zh-CN" sz="1600" dirty="0">
                          <a:solidFill>
                            <a:srgbClr val="060606"/>
                          </a:solidFill>
                        </a:rPr>
                        <a:t>)</a:t>
                      </a:r>
                      <a:endParaRPr lang="zh-CN" altLang="en-US" sz="1600"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600" dirty="0">
                          <a:solidFill>
                            <a:srgbClr val="060606"/>
                          </a:solidFill>
                        </a:rPr>
                        <a:t>200              2                    2                4</a:t>
                      </a:r>
                      <a:endParaRPr lang="zh-CN" altLang="en-US" sz="1600"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r>
                        <a:rPr lang="zh-CN" altLang="en-US" sz="1600" dirty="0">
                          <a:solidFill>
                            <a:srgbClr val="060606"/>
                          </a:solidFill>
                        </a:rPr>
                        <a:t>可口可乐</a:t>
                      </a:r>
                      <a:r>
                        <a:rPr lang="en-US" altLang="zh-CN" sz="1600" dirty="0">
                          <a:solidFill>
                            <a:srgbClr val="060606"/>
                          </a:solidFill>
                        </a:rPr>
                        <a:t>(1</a:t>
                      </a:r>
                      <a:r>
                        <a:rPr lang="zh-CN" altLang="en-US" sz="1600" dirty="0">
                          <a:solidFill>
                            <a:srgbClr val="060606"/>
                          </a:solidFill>
                        </a:rPr>
                        <a:t>瓶</a:t>
                      </a:r>
                      <a:r>
                        <a:rPr lang="en-US" altLang="zh-CN" sz="1600" dirty="0">
                          <a:solidFill>
                            <a:srgbClr val="060606"/>
                          </a:solidFill>
                        </a:rPr>
                        <a:t>)</a:t>
                      </a:r>
                      <a:endParaRPr lang="zh-CN" altLang="en-US" sz="1600"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600" dirty="0">
                          <a:solidFill>
                            <a:srgbClr val="060606"/>
                          </a:solidFill>
                        </a:rPr>
                        <a:t>150              0                    4                1</a:t>
                      </a:r>
                      <a:endParaRPr lang="zh-CN" altLang="en-US" sz="1600"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r>
                        <a:rPr lang="zh-CN" altLang="en-US" sz="1600" dirty="0">
                          <a:solidFill>
                            <a:srgbClr val="060606"/>
                          </a:solidFill>
                        </a:rPr>
                        <a:t>菠萝干酪蛋糕</a:t>
                      </a:r>
                      <a:r>
                        <a:rPr lang="en-US" altLang="zh-CN" sz="1600" dirty="0">
                          <a:solidFill>
                            <a:srgbClr val="060606"/>
                          </a:solidFill>
                        </a:rPr>
                        <a:t>(1</a:t>
                      </a:r>
                      <a:r>
                        <a:rPr lang="zh-CN" altLang="en-US" sz="1600" dirty="0">
                          <a:solidFill>
                            <a:srgbClr val="060606"/>
                          </a:solidFill>
                        </a:rPr>
                        <a:t>块</a:t>
                      </a:r>
                      <a:r>
                        <a:rPr lang="en-US" altLang="zh-CN" sz="1600" dirty="0">
                          <a:solidFill>
                            <a:srgbClr val="060606"/>
                          </a:solidFill>
                        </a:rPr>
                        <a:t>)</a:t>
                      </a:r>
                      <a:endParaRPr lang="zh-CN" altLang="en-US" sz="1600"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1600" dirty="0">
                          <a:solidFill>
                            <a:srgbClr val="060606"/>
                          </a:solidFill>
                        </a:rPr>
                        <a:t>500              0                    4                 5</a:t>
                      </a:r>
                      <a:endParaRPr lang="zh-CN" altLang="en-US" sz="1600"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sp>
        <p:nvSpPr>
          <p:cNvPr id="5" name="灯片编号占位符 4"/>
          <p:cNvSpPr>
            <a:spLocks noGrp="1"/>
          </p:cNvSpPr>
          <p:nvPr>
            <p:ph type="sldNum" sz="quarter" idx="12"/>
          </p:nvPr>
        </p:nvSpPr>
        <p:spPr>
          <a:xfrm>
            <a:off x="8610600" y="6299788"/>
            <a:ext cx="2743200" cy="365125"/>
          </a:xfrm>
        </p:spPr>
        <p:txBody>
          <a:bodyPr/>
          <a:lstStyle/>
          <a:p>
            <a:fld id="{0C913308-F349-4B6D-A68A-DD1791B4A57B}" type="slidenum">
              <a:rPr lang="zh-CN" altLang="en-US" smtClean="0"/>
            </a:fld>
            <a:endParaRPr lang="zh-CN" altLang="en-US"/>
          </a:p>
        </p:txBody>
      </p:sp>
      <p:sp>
        <p:nvSpPr>
          <p:cNvPr id="9" name="文本框 8"/>
          <p:cNvSpPr txBox="1"/>
          <p:nvPr/>
        </p:nvSpPr>
        <p:spPr>
          <a:xfrm>
            <a:off x="87198" y="0"/>
            <a:ext cx="12104801" cy="1077218"/>
          </a:xfrm>
          <a:prstGeom prst="rect">
            <a:avLst/>
          </a:prstGeom>
          <a:noFill/>
        </p:spPr>
        <p:txBody>
          <a:bodyPr wrap="square">
            <a:spAutoFit/>
          </a:bodyPr>
          <a:lstStyle/>
          <a:p>
            <a:pPr>
              <a:buNone/>
            </a:pPr>
            <a:r>
              <a:rPr lang="zh-CN" altLang="en-US" sz="3200" dirty="0">
                <a:solidFill>
                  <a:srgbClr val="060606"/>
                </a:solidFill>
                <a:latin typeface="楷体" panose="02010609060101010101" pitchFamily="49" charset="-122"/>
                <a:ea typeface="楷体" panose="02010609060101010101" pitchFamily="49" charset="-122"/>
              </a:rPr>
              <a:t>例</a:t>
            </a:r>
            <a:r>
              <a:rPr lang="en-US" altLang="zh-CN" sz="3200" dirty="0">
                <a:solidFill>
                  <a:srgbClr val="060606"/>
                </a:solidFill>
                <a:latin typeface="楷体" panose="02010609060101010101" pitchFamily="49" charset="-122"/>
                <a:ea typeface="楷体" panose="02010609060101010101" pitchFamily="49" charset="-122"/>
              </a:rPr>
              <a:t>2</a:t>
            </a:r>
            <a:r>
              <a:rPr lang="zh-CN" altLang="en-US" sz="3200" dirty="0">
                <a:solidFill>
                  <a:srgbClr val="060606"/>
                </a:solidFill>
                <a:latin typeface="楷体" panose="02010609060101010101" pitchFamily="49" charset="-122"/>
                <a:ea typeface="楷体" panose="02010609060101010101" pitchFamily="49" charset="-122"/>
              </a:rPr>
              <a:t>，在任务确定后，如何统筹安排，全面兼顾，使耗用的人力、物力、财力最少。</a:t>
            </a:r>
            <a:endParaRPr lang="zh-CN" altLang="en-US" sz="3200" dirty="0">
              <a:solidFill>
                <a:srgbClr val="060606"/>
              </a:solidFill>
              <a:latin typeface="楷体" panose="02010609060101010101" pitchFamily="49" charset="-122"/>
              <a:ea typeface="楷体" panose="02010609060101010101" pitchFamily="49" charset="-122"/>
            </a:endParaRPr>
          </a:p>
        </p:txBody>
      </p:sp>
      <p:sp>
        <p:nvSpPr>
          <p:cNvPr id="10" name="矩形: 折角 9"/>
          <p:cNvSpPr/>
          <p:nvPr/>
        </p:nvSpPr>
        <p:spPr>
          <a:xfrm flipV="1">
            <a:off x="80128" y="1020656"/>
            <a:ext cx="12014461" cy="5780782"/>
          </a:xfrm>
          <a:prstGeom prst="foldedCorner">
            <a:avLst>
              <a:gd name="adj" fmla="val 933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97409" y="1510810"/>
            <a:ext cx="7839959" cy="3416320"/>
          </a:xfrm>
          <a:prstGeom prst="rect">
            <a:avLst/>
          </a:prstGeom>
          <a:noFill/>
        </p:spPr>
        <p:txBody>
          <a:bodyPr wrap="square">
            <a:spAutoFit/>
          </a:bodyPr>
          <a:lstStyle/>
          <a:p>
            <a:r>
              <a:rPr lang="zh-CN" altLang="en-US" sz="2400" dirty="0">
                <a:solidFill>
                  <a:srgbClr val="060606"/>
                </a:solidFill>
                <a:latin typeface="楷体" panose="02010609060101010101" pitchFamily="49" charset="-122"/>
                <a:ea typeface="楷体" panose="02010609060101010101" pitchFamily="49" charset="-122"/>
              </a:rPr>
              <a:t>汤姆的饮食方案要求他的所有食物都来自于</a:t>
            </a:r>
            <a:r>
              <a:rPr lang="en-US" altLang="zh-CN" sz="2400" dirty="0">
                <a:solidFill>
                  <a:srgbClr val="060606"/>
                </a:solidFill>
                <a:latin typeface="楷体" panose="02010609060101010101" pitchFamily="49" charset="-122"/>
                <a:ea typeface="楷体" panose="02010609060101010101" pitchFamily="49" charset="-122"/>
              </a:rPr>
              <a:t>”4</a:t>
            </a:r>
            <a:r>
              <a:rPr lang="zh-CN" altLang="en-US" sz="2400" dirty="0">
                <a:solidFill>
                  <a:srgbClr val="060606"/>
                </a:solidFill>
                <a:latin typeface="楷体" panose="02010609060101010101" pitchFamily="49" charset="-122"/>
                <a:ea typeface="楷体" panose="02010609060101010101" pitchFamily="49" charset="-122"/>
              </a:rPr>
              <a:t>个基本食物组</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之一</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巧克力蛋糕、冰激凌、苏打水和干酪蛋糕</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。目前可以消费的食物有以下</a:t>
            </a:r>
            <a:r>
              <a:rPr lang="en-US" altLang="zh-CN" sz="2400" dirty="0">
                <a:solidFill>
                  <a:srgbClr val="060606"/>
                </a:solidFill>
                <a:latin typeface="楷体" panose="02010609060101010101" pitchFamily="49" charset="-122"/>
                <a:ea typeface="楷体" panose="02010609060101010101" pitchFamily="49" charset="-122"/>
              </a:rPr>
              <a:t>4</a:t>
            </a:r>
            <a:r>
              <a:rPr lang="zh-CN" altLang="en-US" sz="2400" dirty="0">
                <a:solidFill>
                  <a:srgbClr val="060606"/>
                </a:solidFill>
                <a:latin typeface="楷体" panose="02010609060101010101" pitchFamily="49" charset="-122"/>
                <a:ea typeface="楷体" panose="02010609060101010101" pitchFamily="49" charset="-122"/>
              </a:rPr>
              <a:t>种：胡桃巧克力糖、巧克力冰激凌、可口可乐和菠萝干酪蛋糕。一块胡桃巧克力的价格是</a:t>
            </a:r>
            <a:r>
              <a:rPr lang="en-US" altLang="zh-CN" sz="2400" dirty="0">
                <a:solidFill>
                  <a:srgbClr val="060606"/>
                </a:solidFill>
                <a:latin typeface="楷体" panose="02010609060101010101" pitchFamily="49" charset="-122"/>
                <a:ea typeface="楷体" panose="02010609060101010101" pitchFamily="49" charset="-122"/>
              </a:rPr>
              <a:t>50</a:t>
            </a:r>
            <a:r>
              <a:rPr lang="zh-CN" altLang="en-US" sz="2400" dirty="0">
                <a:solidFill>
                  <a:srgbClr val="060606"/>
                </a:solidFill>
                <a:latin typeface="楷体" panose="02010609060101010101" pitchFamily="49" charset="-122"/>
                <a:ea typeface="楷体" panose="02010609060101010101" pitchFamily="49" charset="-122"/>
              </a:rPr>
              <a:t>美分、一勺巧克力冰激凌的价格是</a:t>
            </a:r>
            <a:r>
              <a:rPr lang="en-US" altLang="zh-CN" sz="2400" dirty="0">
                <a:solidFill>
                  <a:srgbClr val="060606"/>
                </a:solidFill>
                <a:latin typeface="楷体" panose="02010609060101010101" pitchFamily="49" charset="-122"/>
                <a:ea typeface="楷体" panose="02010609060101010101" pitchFamily="49" charset="-122"/>
              </a:rPr>
              <a:t>20</a:t>
            </a:r>
            <a:r>
              <a:rPr lang="zh-CN" altLang="en-US" sz="2400" dirty="0">
                <a:solidFill>
                  <a:srgbClr val="060606"/>
                </a:solidFill>
                <a:latin typeface="楷体" panose="02010609060101010101" pitchFamily="49" charset="-122"/>
                <a:ea typeface="楷体" panose="02010609060101010101" pitchFamily="49" charset="-122"/>
              </a:rPr>
              <a:t>美分，一瓶可口可乐的价格是</a:t>
            </a:r>
            <a:r>
              <a:rPr lang="en-US" altLang="zh-CN" sz="2400" dirty="0">
                <a:solidFill>
                  <a:srgbClr val="060606"/>
                </a:solidFill>
                <a:latin typeface="楷体" panose="02010609060101010101" pitchFamily="49" charset="-122"/>
                <a:ea typeface="楷体" panose="02010609060101010101" pitchFamily="49" charset="-122"/>
              </a:rPr>
              <a:t>30</a:t>
            </a:r>
            <a:r>
              <a:rPr lang="zh-CN" altLang="en-US" sz="2400" dirty="0">
                <a:solidFill>
                  <a:srgbClr val="060606"/>
                </a:solidFill>
                <a:latin typeface="楷体" panose="02010609060101010101" pitchFamily="49" charset="-122"/>
                <a:ea typeface="楷体" panose="02010609060101010101" pitchFamily="49" charset="-122"/>
              </a:rPr>
              <a:t>美分，一块菠萝干酪蛋糕的价格是</a:t>
            </a:r>
            <a:r>
              <a:rPr lang="en-US" altLang="zh-CN" sz="2400" dirty="0">
                <a:solidFill>
                  <a:srgbClr val="060606"/>
                </a:solidFill>
                <a:latin typeface="楷体" panose="02010609060101010101" pitchFamily="49" charset="-122"/>
                <a:ea typeface="楷体" panose="02010609060101010101" pitchFamily="49" charset="-122"/>
              </a:rPr>
              <a:t>80</a:t>
            </a:r>
            <a:r>
              <a:rPr lang="zh-CN" altLang="en-US" sz="2400" dirty="0">
                <a:solidFill>
                  <a:srgbClr val="060606"/>
                </a:solidFill>
                <a:latin typeface="楷体" panose="02010609060101010101" pitchFamily="49" charset="-122"/>
                <a:ea typeface="楷体" panose="02010609060101010101" pitchFamily="49" charset="-122"/>
              </a:rPr>
              <a:t>美分。汤姆每天至少需要摄入</a:t>
            </a:r>
            <a:r>
              <a:rPr lang="en-US" altLang="zh-CN" sz="2400" dirty="0">
                <a:solidFill>
                  <a:srgbClr val="060606"/>
                </a:solidFill>
                <a:latin typeface="楷体" panose="02010609060101010101" pitchFamily="49" charset="-122"/>
                <a:ea typeface="楷体" panose="02010609060101010101" pitchFamily="49" charset="-122"/>
              </a:rPr>
              <a:t>500</a:t>
            </a:r>
            <a:r>
              <a:rPr lang="zh-CN" altLang="en-US" sz="2400" dirty="0">
                <a:solidFill>
                  <a:srgbClr val="060606"/>
                </a:solidFill>
                <a:latin typeface="楷体" panose="02010609060101010101" pitchFamily="49" charset="-122"/>
                <a:ea typeface="楷体" panose="02010609060101010101" pitchFamily="49" charset="-122"/>
              </a:rPr>
              <a:t>卡路里，</a:t>
            </a:r>
            <a:r>
              <a:rPr lang="en-US" altLang="zh-CN" sz="2400" dirty="0">
                <a:solidFill>
                  <a:srgbClr val="060606"/>
                </a:solidFill>
                <a:latin typeface="楷体" panose="02010609060101010101" pitchFamily="49" charset="-122"/>
                <a:ea typeface="楷体" panose="02010609060101010101" pitchFamily="49" charset="-122"/>
              </a:rPr>
              <a:t>6</a:t>
            </a:r>
            <a:r>
              <a:rPr lang="zh-CN" altLang="en-US" sz="2400" dirty="0">
                <a:solidFill>
                  <a:srgbClr val="060606"/>
                </a:solidFill>
                <a:latin typeface="楷体" panose="02010609060101010101" pitchFamily="49" charset="-122"/>
                <a:ea typeface="楷体" panose="02010609060101010101" pitchFamily="49" charset="-122"/>
              </a:rPr>
              <a:t>盎司巧克力，</a:t>
            </a:r>
            <a:r>
              <a:rPr lang="en-US" altLang="zh-CN" sz="2400" dirty="0">
                <a:solidFill>
                  <a:srgbClr val="060606"/>
                </a:solidFill>
                <a:latin typeface="楷体" panose="02010609060101010101" pitchFamily="49" charset="-122"/>
                <a:ea typeface="楷体" panose="02010609060101010101" pitchFamily="49" charset="-122"/>
              </a:rPr>
              <a:t>10</a:t>
            </a:r>
            <a:r>
              <a:rPr lang="zh-CN" altLang="en-US" sz="2400" dirty="0">
                <a:solidFill>
                  <a:srgbClr val="060606"/>
                </a:solidFill>
                <a:latin typeface="楷体" panose="02010609060101010101" pitchFamily="49" charset="-122"/>
                <a:ea typeface="楷体" panose="02010609060101010101" pitchFamily="49" charset="-122"/>
              </a:rPr>
              <a:t>盎司糖和</a:t>
            </a:r>
            <a:r>
              <a:rPr lang="en-US" altLang="zh-CN" sz="2400" dirty="0">
                <a:solidFill>
                  <a:srgbClr val="060606"/>
                </a:solidFill>
                <a:latin typeface="楷体" panose="02010609060101010101" pitchFamily="49" charset="-122"/>
                <a:ea typeface="楷体" panose="02010609060101010101" pitchFamily="49" charset="-122"/>
              </a:rPr>
              <a:t>8</a:t>
            </a:r>
            <a:r>
              <a:rPr lang="zh-CN" altLang="en-US" sz="2400" dirty="0">
                <a:solidFill>
                  <a:srgbClr val="060606"/>
                </a:solidFill>
                <a:latin typeface="楷体" panose="02010609060101010101" pitchFamily="49" charset="-122"/>
                <a:ea typeface="楷体" panose="02010609060101010101" pitchFamily="49" charset="-122"/>
              </a:rPr>
              <a:t>盎司脂肪。下表列出了每种食物每单位的营养含量。问题是怎样可以以最小成本满足汤姆每日所需营养？</a:t>
            </a:r>
            <a:endParaRPr lang="zh-CN" altLang="en-US" sz="2400" dirty="0">
              <a:latin typeface="楷体" panose="02010609060101010101" pitchFamily="49" charset="-122"/>
              <a:ea typeface="楷体" panose="02010609060101010101" pitchFamily="49" charset="-122"/>
            </a:endParaRPr>
          </a:p>
        </p:txBody>
      </p:sp>
      <p:sp>
        <p:nvSpPr>
          <p:cNvPr id="15" name="文本框 14"/>
          <p:cNvSpPr txBox="1"/>
          <p:nvPr/>
        </p:nvSpPr>
        <p:spPr>
          <a:xfrm>
            <a:off x="4571999" y="1004123"/>
            <a:ext cx="5854045" cy="523220"/>
          </a:xfrm>
          <a:prstGeom prst="rect">
            <a:avLst/>
          </a:prstGeom>
          <a:noFill/>
        </p:spPr>
        <p:txBody>
          <a:bodyPr wrap="square" rtlCol="0">
            <a:spAutoFit/>
          </a:bodyPr>
          <a:lstStyle/>
          <a:p>
            <a:pPr algn="ctr"/>
            <a:r>
              <a:rPr lang="zh-CN" altLang="en-US" sz="2800" dirty="0">
                <a:latin typeface="楷体" panose="02010609060101010101" pitchFamily="49" charset="-122"/>
                <a:ea typeface="楷体" panose="02010609060101010101" pitchFamily="49" charset="-122"/>
              </a:rPr>
              <a:t>饮食问题和数学形式</a:t>
            </a:r>
            <a:endParaRPr lang="zh-CN" altLang="en-US" sz="2800" dirty="0">
              <a:latin typeface="楷体" panose="02010609060101010101" pitchFamily="49" charset="-122"/>
              <a:ea typeface="楷体" panose="02010609060101010101" pitchFamily="49" charset="-122"/>
            </a:endParaRPr>
          </a:p>
        </p:txBody>
      </p:sp>
      <p:pic>
        <p:nvPicPr>
          <p:cNvPr id="21" name="图片 20"/>
          <p:cNvPicPr>
            <a:picLocks noChangeAspect="1"/>
          </p:cNvPicPr>
          <p:nvPr/>
        </p:nvPicPr>
        <p:blipFill>
          <a:blip r:embed="rId1"/>
          <a:stretch>
            <a:fillRect/>
          </a:stretch>
        </p:blipFill>
        <p:spPr>
          <a:xfrm>
            <a:off x="8383409" y="2614692"/>
            <a:ext cx="3711180" cy="2688639"/>
          </a:xfrm>
          <a:prstGeom prst="rect">
            <a:avLst/>
          </a:prstGeom>
        </p:spPr>
      </p:pic>
      <p:sp>
        <p:nvSpPr>
          <p:cNvPr id="22" name="箭头: 左右 21"/>
          <p:cNvSpPr/>
          <p:nvPr/>
        </p:nvSpPr>
        <p:spPr>
          <a:xfrm>
            <a:off x="7767687" y="4021501"/>
            <a:ext cx="615722" cy="343107"/>
          </a:xfrm>
          <a:prstGeom prst="leftRightArrow">
            <a:avLst/>
          </a:prstGeom>
          <a:no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846866" y="204084"/>
            <a:ext cx="11017187" cy="6459963"/>
            <a:chOff x="5578155" y="2046179"/>
            <a:chExt cx="5971039" cy="1304850"/>
          </a:xfrm>
        </p:grpSpPr>
        <p:sp>
          <p:nvSpPr>
            <p:cNvPr id="11" name="矩形: 折角 10"/>
            <p:cNvSpPr/>
            <p:nvPr/>
          </p:nvSpPr>
          <p:spPr>
            <a:xfrm flipV="1">
              <a:off x="5578155" y="2046179"/>
              <a:ext cx="5971039" cy="1297192"/>
            </a:xfrm>
            <a:prstGeom prst="foldedCorner">
              <a:avLst>
                <a:gd name="adj" fmla="val 8732"/>
              </a:avLst>
            </a:prstGeom>
            <a:solidFill>
              <a:srgbClr val="F4FF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584055" y="2047252"/>
              <a:ext cx="5866791" cy="1303777"/>
            </a:xfrm>
            <a:prstGeom prst="rect">
              <a:avLst/>
            </a:prstGeom>
            <a:noFill/>
          </p:spPr>
          <p:txBody>
            <a:bodyPr wrap="square" rtlCol="0">
              <a:spAutoFit/>
            </a:bodyPr>
            <a:lstStyle/>
            <a:p>
              <a:pPr>
                <a:lnSpc>
                  <a:spcPct val="150000"/>
                </a:lnSpc>
              </a:pPr>
              <a:r>
                <a:rPr lang="zh-CN" altLang="en-US" sz="2800" dirty="0">
                  <a:latin typeface="楷体" panose="02010609060101010101" pitchFamily="49" charset="-122"/>
                  <a:ea typeface="楷体" panose="02010609060101010101" pitchFamily="49" charset="-122"/>
                </a:rPr>
                <a:t>我们面临的问题是这样的：</a:t>
              </a:r>
              <a:endParaRPr lang="en-US" altLang="zh-CN" sz="2800" dirty="0">
                <a:latin typeface="楷体" panose="02010609060101010101" pitchFamily="49" charset="-122"/>
                <a:ea typeface="楷体" panose="02010609060101010101" pitchFamily="49" charset="-122"/>
              </a:endParaRPr>
            </a:p>
            <a:p>
              <a:pPr>
                <a:lnSpc>
                  <a:spcPct val="150000"/>
                </a:lnSpc>
              </a:pP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，首先，我们有一个</a:t>
              </a:r>
              <a:r>
                <a:rPr lang="zh-CN" altLang="en-US" sz="2800" b="1" u="sng" dirty="0">
                  <a:latin typeface="楷体" panose="02010609060101010101" pitchFamily="49" charset="-122"/>
                  <a:ea typeface="楷体" panose="02010609060101010101" pitchFamily="49" charset="-122"/>
                </a:rPr>
                <a:t>既定的目标</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收益最大，或消耗最小。</a:t>
              </a:r>
              <a:endParaRPr lang="en-US" altLang="zh-CN" sz="2800" dirty="0">
                <a:latin typeface="楷体" panose="02010609060101010101" pitchFamily="49" charset="-122"/>
                <a:ea typeface="楷体" panose="02010609060101010101" pitchFamily="49" charset="-122"/>
              </a:endParaRPr>
            </a:p>
            <a:p>
              <a:pPr>
                <a:lnSpc>
                  <a:spcPct val="150000"/>
                </a:lnSpc>
              </a:pP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，为此，我们将开展一些活动，来达成这一既定目标。这些活动需要使用一些资源，而这些</a:t>
              </a:r>
              <a:r>
                <a:rPr lang="zh-CN" altLang="en-US" sz="2800" b="1" u="sng" dirty="0">
                  <a:latin typeface="楷体" panose="02010609060101010101" pitchFamily="49" charset="-122"/>
                  <a:ea typeface="楷体" panose="02010609060101010101" pitchFamily="49" charset="-122"/>
                </a:rPr>
                <a:t>资源有限</a:t>
              </a:r>
              <a:r>
                <a:rPr lang="zh-CN" altLang="en-US" sz="2800" dirty="0">
                  <a:latin typeface="楷体" panose="02010609060101010101" pitchFamily="49" charset="-122"/>
                  <a:ea typeface="楷体" panose="02010609060101010101" pitchFamily="49" charset="-122"/>
                </a:rPr>
                <a:t>，于是这些活动就会“争抢”这些资源。因此，称这些活动为</a:t>
              </a:r>
              <a:r>
                <a:rPr lang="zh-CN" altLang="en-US" sz="2800" b="1" u="sng" dirty="0">
                  <a:latin typeface="楷体" panose="02010609060101010101" pitchFamily="49" charset="-122"/>
                  <a:ea typeface="楷体" panose="02010609060101010101" pitchFamily="49" charset="-122"/>
                </a:rPr>
                <a:t>竞争性活动</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nSpc>
                  <a:spcPct val="150000"/>
                </a:lnSpc>
              </a:pPr>
              <a:r>
                <a:rPr lang="en-US" altLang="zh-CN" sz="2800" dirty="0">
                  <a:latin typeface="楷体" panose="02010609060101010101" pitchFamily="49" charset="-122"/>
                  <a:ea typeface="楷体" panose="02010609060101010101" pitchFamily="49" charset="-122"/>
                </a:rPr>
                <a:t>3</a:t>
              </a:r>
              <a:r>
                <a:rPr lang="zh-CN" altLang="en-US" sz="2800" dirty="0">
                  <a:latin typeface="楷体" panose="02010609060101010101" pitchFamily="49" charset="-122"/>
                  <a:ea typeface="楷体" panose="02010609060101010101" pitchFamily="49" charset="-122"/>
                </a:rPr>
                <a:t>，这些有限资源可以这样安排，也可以那样安排，由此每种</a:t>
              </a:r>
              <a:r>
                <a:rPr lang="zh-CN" altLang="en-US" sz="2800" b="1" u="sng" dirty="0">
                  <a:latin typeface="楷体" panose="02010609060101010101" pitchFamily="49" charset="-122"/>
                  <a:ea typeface="楷体" panose="02010609060101010101" pitchFamily="49" charset="-122"/>
                </a:rPr>
                <a:t>竞争性活动的水平（数量）</a:t>
              </a:r>
              <a:r>
                <a:rPr lang="zh-CN" altLang="en-US" sz="2800" dirty="0">
                  <a:latin typeface="楷体" panose="02010609060101010101" pitchFamily="49" charset="-122"/>
                  <a:ea typeface="楷体" panose="02010609060101010101" pitchFamily="49" charset="-122"/>
                </a:rPr>
                <a:t>就不同，从而，收益或消耗就不同。一些安排比另一些安排更优。而我们希望找到</a:t>
              </a:r>
              <a:r>
                <a:rPr lang="zh-CN" altLang="en-US" sz="2800" b="1" u="sng" dirty="0">
                  <a:latin typeface="楷体" panose="02010609060101010101" pitchFamily="49" charset="-122"/>
                  <a:ea typeface="楷体" panose="02010609060101010101" pitchFamily="49" charset="-122"/>
                </a:rPr>
                <a:t>最优方案</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nSpc>
                  <a:spcPct val="150000"/>
                </a:lnSpc>
              </a:pPr>
              <a:r>
                <a:rPr lang="en-US" altLang="zh-CN" sz="2800" dirty="0">
                  <a:latin typeface="楷体" panose="02010609060101010101" pitchFamily="49" charset="-122"/>
                  <a:ea typeface="楷体" panose="02010609060101010101" pitchFamily="49" charset="-122"/>
                </a:rPr>
                <a:t>4</a:t>
              </a:r>
              <a:r>
                <a:rPr lang="zh-CN" altLang="en-US" sz="2800" dirty="0">
                  <a:latin typeface="楷体" panose="02010609060101010101" pitchFamily="49" charset="-122"/>
                  <a:ea typeface="楷体" panose="02010609060101010101" pitchFamily="49" charset="-122"/>
                </a:rPr>
                <a:t>，可知，我们需要决策的是：</a:t>
              </a:r>
              <a:r>
                <a:rPr lang="zh-CN" altLang="en-US" sz="2800" b="1" dirty="0">
                  <a:latin typeface="楷体" panose="02010609060101010101" pitchFamily="49" charset="-122"/>
                  <a:ea typeface="楷体" panose="02010609060101010101" pitchFamily="49" charset="-122"/>
                </a:rPr>
                <a:t>如何最优地将有限资源分配给竞争性活动，使得我们可以完成既定的目标</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收益最大，或消耗最小</a:t>
              </a:r>
              <a:r>
                <a:rPr lang="zh-CN" altLang="en-US" sz="2800" dirty="0">
                  <a:latin typeface="楷体" panose="02010609060101010101" pitchFamily="49" charset="-122"/>
                  <a:ea typeface="楷体" panose="02010609060101010101" pitchFamily="49" charset="-122"/>
                </a:rPr>
                <a:t>。</a:t>
              </a:r>
              <a:endParaRPr lang="zh-CN" altLang="en-US" sz="2800" dirty="0">
                <a:latin typeface="楷体" panose="02010609060101010101" pitchFamily="49" charset="-122"/>
                <a:ea typeface="楷体" panose="02010609060101010101" pitchFamily="49" charset="-122"/>
              </a:endParaRPr>
            </a:p>
          </p:txBody>
        </p:sp>
      </p:grpSp>
      <p:sp>
        <p:nvSpPr>
          <p:cNvPr id="22" name="文本框 21"/>
          <p:cNvSpPr txBox="1"/>
          <p:nvPr/>
        </p:nvSpPr>
        <p:spPr>
          <a:xfrm>
            <a:off x="39969" y="1520994"/>
            <a:ext cx="677108" cy="3788228"/>
          </a:xfrm>
          <a:prstGeom prst="rect">
            <a:avLst/>
          </a:prstGeom>
          <a:noFill/>
        </p:spPr>
        <p:txBody>
          <a:bodyPr vert="eaVert" wrap="square" rtlCol="0">
            <a:spAutoFit/>
          </a:bodyPr>
          <a:lstStyle/>
          <a:p>
            <a:r>
              <a:rPr lang="zh-CN" altLang="en-US" sz="3200" dirty="0"/>
              <a:t>线性规划研究范畴</a:t>
            </a:r>
            <a:endParaRPr lang="zh-CN" altLang="en-US" sz="3200" dirty="0"/>
          </a:p>
        </p:txBody>
      </p:sp>
      <p:sp>
        <p:nvSpPr>
          <p:cNvPr id="3" name="文本框 2"/>
          <p:cNvSpPr txBox="1"/>
          <p:nvPr/>
        </p:nvSpPr>
        <p:spPr>
          <a:xfrm>
            <a:off x="6199835" y="338965"/>
            <a:ext cx="5058494" cy="523220"/>
          </a:xfrm>
          <a:prstGeom prst="rect">
            <a:avLst/>
          </a:prstGeom>
          <a:noFill/>
        </p:spPr>
        <p:txBody>
          <a:bodyPr wrap="square">
            <a:spAutoFit/>
          </a:bodyPr>
          <a:lstStyle/>
          <a:p>
            <a:r>
              <a:rPr lang="zh-CN" altLang="en-US" sz="2800" dirty="0">
                <a:latin typeface="楷体" panose="02010609060101010101" pitchFamily="49" charset="-122"/>
                <a:ea typeface="楷体" panose="02010609060101010101" pitchFamily="49" charset="-122"/>
              </a:rPr>
              <a:t>这类问题统称：</a:t>
            </a:r>
            <a:r>
              <a:rPr lang="zh-CN" altLang="en-US" sz="2800" b="1" dirty="0">
                <a:solidFill>
                  <a:srgbClr val="0322BD"/>
                </a:solidFill>
                <a:latin typeface="楷体" panose="02010609060101010101" pitchFamily="49" charset="-122"/>
                <a:ea typeface="楷体" panose="02010609060101010101" pitchFamily="49" charset="-122"/>
              </a:rPr>
              <a:t>线性规划问题</a:t>
            </a:r>
            <a:endParaRPr lang="zh-CN" altLang="en-US" sz="2800" b="1" dirty="0">
              <a:solidFill>
                <a:srgbClr val="0322BD"/>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8707" y="1520994"/>
            <a:ext cx="677108" cy="3788228"/>
          </a:xfrm>
          <a:prstGeom prst="rect">
            <a:avLst/>
          </a:prstGeom>
          <a:noFill/>
        </p:spPr>
        <p:txBody>
          <a:bodyPr vert="eaVert" wrap="square" rtlCol="0">
            <a:spAutoFit/>
          </a:bodyPr>
          <a:lstStyle/>
          <a:p>
            <a:r>
              <a:rPr lang="zh-CN" altLang="en-US" sz="3200" dirty="0"/>
              <a:t>线性规划研究范畴</a:t>
            </a:r>
            <a:endParaRPr lang="zh-CN" altLang="en-US" sz="3200" dirty="0"/>
          </a:p>
        </p:txBody>
      </p:sp>
      <p:grpSp>
        <p:nvGrpSpPr>
          <p:cNvPr id="6" name="组合 5"/>
          <p:cNvGrpSpPr/>
          <p:nvPr/>
        </p:nvGrpSpPr>
        <p:grpSpPr>
          <a:xfrm>
            <a:off x="685815" y="94669"/>
            <a:ext cx="11497477" cy="6696900"/>
            <a:chOff x="5578155" y="2046179"/>
            <a:chExt cx="5976939" cy="1297192"/>
          </a:xfrm>
        </p:grpSpPr>
        <p:sp>
          <p:nvSpPr>
            <p:cNvPr id="7" name="矩形: 折角 6"/>
            <p:cNvSpPr/>
            <p:nvPr/>
          </p:nvSpPr>
          <p:spPr>
            <a:xfrm flipV="1">
              <a:off x="5578155" y="2046179"/>
              <a:ext cx="5971039" cy="1297192"/>
            </a:xfrm>
            <a:prstGeom prst="foldedCorner">
              <a:avLst>
                <a:gd name="adj" fmla="val 8732"/>
              </a:avLst>
            </a:prstGeom>
            <a:solidFill>
              <a:srgbClr val="F4FF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584055" y="2047252"/>
              <a:ext cx="5971039" cy="670093"/>
            </a:xfrm>
            <a:prstGeom prst="rect">
              <a:avLst/>
            </a:prstGeom>
            <a:noFill/>
          </p:spPr>
          <p:txBody>
            <a:bodyPr wrap="square" rtlCol="0">
              <a:spAutoFit/>
            </a:bodyPr>
            <a:lstStyle/>
            <a:p>
              <a:pPr>
                <a:lnSpc>
                  <a:spcPct val="130000"/>
                </a:lnSpc>
              </a:pPr>
              <a:r>
                <a:rPr lang="zh-CN" altLang="en-US" sz="2800" dirty="0">
                  <a:latin typeface="楷体" panose="02010609060101010101" pitchFamily="49" charset="-122"/>
                  <a:ea typeface="楷体" panose="02010609060101010101" pitchFamily="49" charset="-122"/>
                </a:rPr>
                <a:t>一般地，我们采用自然语言用叙述文形式阐述问题👆。</a:t>
              </a:r>
              <a:endParaRPr lang="en-US" altLang="zh-CN" sz="2800" dirty="0">
                <a:latin typeface="楷体" panose="02010609060101010101" pitchFamily="49" charset="-122"/>
                <a:ea typeface="楷体" panose="02010609060101010101" pitchFamily="49" charset="-122"/>
              </a:endParaRPr>
            </a:p>
            <a:p>
              <a:pPr>
                <a:lnSpc>
                  <a:spcPct val="130000"/>
                </a:lnSpc>
              </a:pPr>
              <a:r>
                <a:rPr lang="zh-CN" altLang="en-US" sz="2800" dirty="0">
                  <a:latin typeface="楷体" panose="02010609060101010101" pitchFamily="49" charset="-122"/>
                  <a:ea typeface="楷体" panose="02010609060101010101" pitchFamily="49" charset="-122"/>
                </a:rPr>
                <a:t>然而，这并不利于快速地寻求到线性规划问题的最优方案。</a:t>
              </a:r>
              <a:endParaRPr lang="en-US" altLang="zh-CN" sz="2800" dirty="0">
                <a:latin typeface="楷体" panose="02010609060101010101" pitchFamily="49" charset="-122"/>
                <a:ea typeface="楷体" panose="02010609060101010101" pitchFamily="49" charset="-122"/>
              </a:endParaRPr>
            </a:p>
            <a:p>
              <a:pPr>
                <a:lnSpc>
                  <a:spcPct val="130000"/>
                </a:lnSpc>
              </a:pPr>
              <a:r>
                <a:rPr lang="zh-CN" altLang="en-US" sz="2800" b="1" dirty="0">
                  <a:solidFill>
                    <a:srgbClr val="0322BD"/>
                  </a:solidFill>
                  <a:latin typeface="楷体" panose="02010609060101010101" pitchFamily="49" charset="-122"/>
                  <a:ea typeface="楷体" panose="02010609060101010101" pitchFamily="49" charset="-122"/>
                </a:rPr>
                <a:t>数学</a:t>
              </a:r>
              <a:r>
                <a:rPr lang="zh-CN" altLang="en-US" sz="2800" dirty="0">
                  <a:latin typeface="楷体" panose="02010609060101010101" pitchFamily="49" charset="-122"/>
                  <a:ea typeface="楷体" panose="02010609060101010101" pitchFamily="49" charset="-122"/>
                </a:rPr>
                <a:t>启示我们：若我们能将线性规划问题以数学形式表达出来，那么，就可以排除具体的概念干扰，抽象地运用数学运算规律进行计算，快速找到最优解。</a:t>
              </a:r>
              <a:endParaRPr lang="en-US" altLang="zh-CN" sz="2800" dirty="0">
                <a:latin typeface="楷体" panose="02010609060101010101" pitchFamily="49" charset="-122"/>
                <a:ea typeface="楷体" panose="02010609060101010101" pitchFamily="49" charset="-122"/>
              </a:endParaRPr>
            </a:p>
            <a:p>
              <a:pPr>
                <a:lnSpc>
                  <a:spcPct val="130000"/>
                </a:lnSpc>
              </a:pPr>
              <a:r>
                <a:rPr lang="zh-CN" altLang="en-US" sz="2800" dirty="0">
                  <a:latin typeface="楷体" panose="02010609060101010101" pitchFamily="49" charset="-122"/>
                  <a:ea typeface="楷体" panose="02010609060101010101" pitchFamily="49" charset="-122"/>
                </a:rPr>
                <a:t>而我们确实可以为这类线性规划问题建立数学模型，例如👇</a:t>
              </a:r>
              <a:endParaRPr lang="zh-CN" altLang="en-US" sz="2800" dirty="0">
                <a:latin typeface="楷体" panose="02010609060101010101" pitchFamily="49" charset="-122"/>
                <a:ea typeface="楷体" panose="02010609060101010101" pitchFamily="49" charset="-122"/>
              </a:endParaRPr>
            </a:p>
          </p:txBody>
        </p:sp>
      </p:grpSp>
      <p:grpSp>
        <p:nvGrpSpPr>
          <p:cNvPr id="2" name="组合 1"/>
          <p:cNvGrpSpPr/>
          <p:nvPr/>
        </p:nvGrpSpPr>
        <p:grpSpPr>
          <a:xfrm>
            <a:off x="2235201" y="3432168"/>
            <a:ext cx="8534400" cy="3239766"/>
            <a:chOff x="2235201" y="3432168"/>
            <a:chExt cx="8534400" cy="3239766"/>
          </a:xfrm>
        </p:grpSpPr>
        <p:pic>
          <p:nvPicPr>
            <p:cNvPr id="4" name="图片 3"/>
            <p:cNvPicPr>
              <a:picLocks noChangeAspect="1"/>
            </p:cNvPicPr>
            <p:nvPr/>
          </p:nvPicPr>
          <p:blipFill>
            <a:blip r:embed="rId1"/>
            <a:stretch>
              <a:fillRect/>
            </a:stretch>
          </p:blipFill>
          <p:spPr>
            <a:xfrm>
              <a:off x="2235201" y="3432168"/>
              <a:ext cx="8534400" cy="3239766"/>
            </a:xfrm>
            <a:prstGeom prst="rect">
              <a:avLst/>
            </a:prstGeom>
          </p:spPr>
        </p:pic>
        <p:sp>
          <p:nvSpPr>
            <p:cNvPr id="9" name="箭头: 下 8"/>
            <p:cNvSpPr/>
            <p:nvPr/>
          </p:nvSpPr>
          <p:spPr>
            <a:xfrm>
              <a:off x="3759200" y="4142155"/>
              <a:ext cx="820615" cy="117230"/>
            </a:xfrm>
            <a:prstGeom prst="downArrow">
              <a:avLst/>
            </a:prstGeom>
            <a:solidFill>
              <a:srgbClr val="00F0C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p:cNvSpPr/>
            <p:nvPr/>
          </p:nvSpPr>
          <p:spPr>
            <a:xfrm>
              <a:off x="8170985" y="3911600"/>
              <a:ext cx="820615" cy="117230"/>
            </a:xfrm>
            <a:prstGeom prst="downArrow">
              <a:avLst/>
            </a:prstGeom>
            <a:solidFill>
              <a:srgbClr val="00F0C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180643" y="1520994"/>
            <a:ext cx="677108" cy="3788228"/>
          </a:xfrm>
          <a:prstGeom prst="rect">
            <a:avLst/>
          </a:prstGeom>
          <a:noFill/>
        </p:spPr>
        <p:txBody>
          <a:bodyPr vert="eaVert" wrap="square" rtlCol="0">
            <a:spAutoFit/>
          </a:bodyPr>
          <a:lstStyle/>
          <a:p>
            <a:r>
              <a:rPr lang="zh-CN" altLang="en-US" sz="3200" dirty="0"/>
              <a:t>线性规划研究范畴</a:t>
            </a:r>
            <a:endParaRPr lang="zh-CN" altLang="en-US" sz="3200" dirty="0"/>
          </a:p>
        </p:txBody>
      </p:sp>
      <p:grpSp>
        <p:nvGrpSpPr>
          <p:cNvPr id="6" name="组合 5"/>
          <p:cNvGrpSpPr/>
          <p:nvPr/>
        </p:nvGrpSpPr>
        <p:grpSpPr>
          <a:xfrm>
            <a:off x="928087" y="85972"/>
            <a:ext cx="3339113" cy="5611443"/>
            <a:chOff x="5578155" y="2046179"/>
            <a:chExt cx="5971039" cy="2053449"/>
          </a:xfrm>
        </p:grpSpPr>
        <p:sp>
          <p:nvSpPr>
            <p:cNvPr id="7" name="矩形: 折角 6"/>
            <p:cNvSpPr/>
            <p:nvPr/>
          </p:nvSpPr>
          <p:spPr>
            <a:xfrm flipV="1">
              <a:off x="5578155" y="2046179"/>
              <a:ext cx="5971039" cy="2053449"/>
            </a:xfrm>
            <a:prstGeom prst="foldedCorner">
              <a:avLst>
                <a:gd name="adj" fmla="val 5930"/>
              </a:avLst>
            </a:prstGeom>
            <a:solidFill>
              <a:srgbClr val="F4FF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文本框 7"/>
            <p:cNvSpPr txBox="1"/>
            <p:nvPr/>
          </p:nvSpPr>
          <p:spPr>
            <a:xfrm>
              <a:off x="5584055" y="2047252"/>
              <a:ext cx="5866791" cy="1863271"/>
            </a:xfrm>
            <a:prstGeom prst="rect">
              <a:avLst/>
            </a:prstGeom>
            <a:noFill/>
          </p:spPr>
          <p:txBody>
            <a:bodyPr wrap="square" rtlCol="0">
              <a:spAutoFit/>
            </a:bodyPr>
            <a:lstStyle/>
            <a:p>
              <a:pPr>
                <a:lnSpc>
                  <a:spcPct val="110000"/>
                </a:lnSpc>
              </a:pPr>
              <a:r>
                <a:rPr lang="zh-CN" altLang="en-US" sz="2400" dirty="0">
                  <a:latin typeface="楷体" panose="02010609060101010101" pitchFamily="49" charset="-122"/>
                  <a:ea typeface="楷体" panose="02010609060101010101" pitchFamily="49" charset="-122"/>
                </a:rPr>
                <a:t>用自然语言以叙述文形式阐述的线性规划问题：</a:t>
              </a:r>
              <a:endParaRPr lang="en-US" altLang="zh-CN" sz="2400" dirty="0">
                <a:latin typeface="楷体" panose="02010609060101010101" pitchFamily="49" charset="-122"/>
                <a:ea typeface="楷体" panose="02010609060101010101" pitchFamily="49" charset="-122"/>
              </a:endParaRPr>
            </a:p>
            <a:p>
              <a:pPr>
                <a:lnSpc>
                  <a:spcPct val="110000"/>
                </a:lnSpc>
              </a:pP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既定的目标</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收益最大，或消耗最小。</a:t>
              </a:r>
              <a:endParaRPr lang="en-US" altLang="zh-CN" sz="2400" dirty="0">
                <a:latin typeface="楷体" panose="02010609060101010101" pitchFamily="49" charset="-122"/>
                <a:ea typeface="楷体" panose="02010609060101010101" pitchFamily="49" charset="-122"/>
              </a:endParaRPr>
            </a:p>
            <a:p>
              <a:pPr>
                <a:lnSpc>
                  <a:spcPct val="110000"/>
                </a:lnSpc>
              </a:pP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竞争性活动</a:t>
              </a:r>
              <a:r>
                <a:rPr lang="en-US" altLang="zh-CN"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a:lnSpc>
                  <a:spcPct val="110000"/>
                </a:lnSpc>
              </a:pP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有限资源</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最优方案</a:t>
              </a:r>
              <a:r>
                <a:rPr lang="en-US" altLang="zh-CN"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a:lnSpc>
                  <a:spcPct val="110000"/>
                </a:lnSpc>
              </a:pP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决策：如何最优的将有限资源分配给竞争性活动，使得我们可以完成既定的目标</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收益最大，或消耗最小。</a:t>
              </a:r>
              <a:endParaRPr lang="zh-CN" altLang="en-US"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p:txBody>
        </p:sp>
      </p:grpSp>
      <p:sp>
        <p:nvSpPr>
          <p:cNvPr id="24" name="箭头: 右 23"/>
          <p:cNvSpPr/>
          <p:nvPr/>
        </p:nvSpPr>
        <p:spPr>
          <a:xfrm>
            <a:off x="8116960" y="1234554"/>
            <a:ext cx="956704" cy="4212707"/>
          </a:xfrm>
          <a:prstGeom prst="rightArrow">
            <a:avLst>
              <a:gd name="adj1" fmla="val 86346"/>
              <a:gd name="adj2" fmla="val 500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rgbClr val="0322BD"/>
                </a:solidFill>
                <a:latin typeface="楷体" panose="02010609060101010101" pitchFamily="49" charset="-122"/>
                <a:ea typeface="楷体" panose="02010609060101010101" pitchFamily="49" charset="-122"/>
              </a:rPr>
              <a:t>计算的方法</a:t>
            </a:r>
            <a:endParaRPr lang="zh-CN" altLang="en-US" sz="3200" b="1" dirty="0">
              <a:solidFill>
                <a:srgbClr val="0322BD"/>
              </a:solidFill>
              <a:latin typeface="楷体" panose="02010609060101010101" pitchFamily="49" charset="-122"/>
              <a:ea typeface="楷体" panose="02010609060101010101" pitchFamily="49" charset="-122"/>
            </a:endParaRPr>
          </a:p>
        </p:txBody>
      </p:sp>
      <p:sp>
        <p:nvSpPr>
          <p:cNvPr id="27" name="矩形: 折角 26"/>
          <p:cNvSpPr/>
          <p:nvPr/>
        </p:nvSpPr>
        <p:spPr>
          <a:xfrm flipV="1">
            <a:off x="5259754" y="85971"/>
            <a:ext cx="2774463" cy="5611444"/>
          </a:xfrm>
          <a:prstGeom prst="foldedCorner">
            <a:avLst>
              <a:gd name="adj" fmla="val 5930"/>
            </a:avLst>
          </a:prstGeom>
          <a:solidFill>
            <a:srgbClr val="F4FF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p:nvPicPr>
        <p:blipFill>
          <a:blip r:embed="rId1"/>
          <a:stretch>
            <a:fillRect/>
          </a:stretch>
        </p:blipFill>
        <p:spPr>
          <a:xfrm>
            <a:off x="5273772" y="1011982"/>
            <a:ext cx="3135584" cy="3833427"/>
          </a:xfrm>
          <a:prstGeom prst="rect">
            <a:avLst/>
          </a:prstGeom>
        </p:spPr>
      </p:pic>
      <p:sp>
        <p:nvSpPr>
          <p:cNvPr id="28" name="文本框 27"/>
          <p:cNvSpPr txBox="1"/>
          <p:nvPr/>
        </p:nvSpPr>
        <p:spPr>
          <a:xfrm>
            <a:off x="5273773" y="136777"/>
            <a:ext cx="2705739" cy="5305683"/>
          </a:xfrm>
          <a:prstGeom prst="rect">
            <a:avLst/>
          </a:prstGeom>
          <a:noFill/>
        </p:spPr>
        <p:txBody>
          <a:bodyPr wrap="square" rtlCol="0">
            <a:spAutoFit/>
          </a:bodyPr>
          <a:lstStyle/>
          <a:p>
            <a:pPr>
              <a:lnSpc>
                <a:spcPct val="130000"/>
              </a:lnSpc>
            </a:pPr>
            <a:r>
              <a:rPr lang="zh-CN" altLang="en-US" sz="2400" dirty="0">
                <a:latin typeface="楷体" panose="02010609060101010101" pitchFamily="49" charset="-122"/>
                <a:ea typeface="楷体" panose="02010609060101010101" pitchFamily="49" charset="-122"/>
              </a:rPr>
              <a:t>形如：</a:t>
            </a: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r>
              <a:rPr lang="zh-CN" altLang="en-US" sz="2400" dirty="0">
                <a:latin typeface="楷体" panose="02010609060101010101" pitchFamily="49" charset="-122"/>
                <a:ea typeface="楷体" panose="02010609060101010101" pitchFamily="49" charset="-122"/>
              </a:rPr>
              <a:t>的数学模型</a:t>
            </a:r>
            <a:endParaRPr lang="en-US" altLang="zh-CN" sz="2400" dirty="0">
              <a:latin typeface="楷体" panose="02010609060101010101" pitchFamily="49" charset="-122"/>
              <a:ea typeface="楷体" panose="02010609060101010101" pitchFamily="49" charset="-122"/>
            </a:endParaRPr>
          </a:p>
        </p:txBody>
      </p:sp>
      <p:sp>
        <p:nvSpPr>
          <p:cNvPr id="29" name="文本框 28"/>
          <p:cNvSpPr txBox="1"/>
          <p:nvPr/>
        </p:nvSpPr>
        <p:spPr>
          <a:xfrm>
            <a:off x="39080" y="5705243"/>
            <a:ext cx="12082585" cy="1200329"/>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我们应学习掌握的是：一，数学建模的方法</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如何将用自然语言以叙述文形式阐述的线性规划问题转换为数学形式？二，计算的方法</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如何运用线性规划的思想于数学计算中：计算过程就是一个规划过程，计算算法是规划过程的数学抽象。</a:t>
            </a:r>
            <a:endParaRPr lang="zh-CN" altLang="en-US" dirty="0">
              <a:latin typeface="楷体" panose="02010609060101010101" pitchFamily="49" charset="-122"/>
              <a:ea typeface="楷体" panose="02010609060101010101" pitchFamily="49" charset="-122"/>
            </a:endParaRPr>
          </a:p>
        </p:txBody>
      </p:sp>
      <p:sp>
        <p:nvSpPr>
          <p:cNvPr id="30" name="箭头: 右 29"/>
          <p:cNvSpPr/>
          <p:nvPr/>
        </p:nvSpPr>
        <p:spPr>
          <a:xfrm>
            <a:off x="4324203" y="1164382"/>
            <a:ext cx="912105" cy="4212707"/>
          </a:xfrm>
          <a:prstGeom prst="rightArrow">
            <a:avLst>
              <a:gd name="adj1" fmla="val 86346"/>
              <a:gd name="adj2" fmla="val 4646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rgbClr val="0322BD"/>
                </a:solidFill>
                <a:latin typeface="楷体" panose="02010609060101010101" pitchFamily="49" charset="-122"/>
                <a:ea typeface="楷体" panose="02010609060101010101" pitchFamily="49" charset="-122"/>
              </a:rPr>
              <a:t>数学建模的方法</a:t>
            </a:r>
            <a:endParaRPr lang="zh-CN" altLang="en-US" sz="3200" b="1" dirty="0">
              <a:solidFill>
                <a:srgbClr val="0322BD"/>
              </a:solidFill>
              <a:latin typeface="楷体" panose="02010609060101010101" pitchFamily="49" charset="-122"/>
              <a:ea typeface="楷体" panose="02010609060101010101" pitchFamily="49" charset="-122"/>
            </a:endParaRPr>
          </a:p>
        </p:txBody>
      </p:sp>
      <p:sp>
        <p:nvSpPr>
          <p:cNvPr id="31" name="矩形: 折角 30"/>
          <p:cNvSpPr/>
          <p:nvPr/>
        </p:nvSpPr>
        <p:spPr>
          <a:xfrm flipV="1">
            <a:off x="9120553" y="85965"/>
            <a:ext cx="3024557" cy="5611446"/>
          </a:xfrm>
          <a:prstGeom prst="foldedCorner">
            <a:avLst>
              <a:gd name="adj" fmla="val 5930"/>
            </a:avLst>
          </a:prstGeom>
          <a:solidFill>
            <a:srgbClr val="F4FF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9134572" y="136791"/>
            <a:ext cx="3024557" cy="5305683"/>
          </a:xfrm>
          <a:prstGeom prst="rect">
            <a:avLst/>
          </a:prstGeom>
          <a:noFill/>
        </p:spPr>
        <p:txBody>
          <a:bodyPr wrap="square" rtlCol="0">
            <a:spAutoFit/>
          </a:bodyPr>
          <a:lstStyle/>
          <a:p>
            <a:pPr>
              <a:lnSpc>
                <a:spcPct val="130000"/>
              </a:lnSpc>
            </a:pPr>
            <a:r>
              <a:rPr lang="zh-CN" altLang="en-US" sz="2400" dirty="0">
                <a:latin typeface="楷体" panose="02010609060101010101" pitchFamily="49" charset="-122"/>
                <a:ea typeface="楷体" panose="02010609060101010101" pitchFamily="49" charset="-122"/>
              </a:rPr>
              <a:t>决策方案：</a:t>
            </a:r>
            <a:endParaRPr lang="en-US" altLang="zh-CN" sz="2400" dirty="0">
              <a:latin typeface="楷体" panose="02010609060101010101" pitchFamily="49" charset="-122"/>
              <a:ea typeface="楷体" panose="02010609060101010101" pitchFamily="49" charset="-122"/>
            </a:endParaRPr>
          </a:p>
          <a:p>
            <a:pPr>
              <a:lnSpc>
                <a:spcPct val="130000"/>
              </a:lnSpc>
            </a:pPr>
            <a:r>
              <a:rPr lang="en-US" altLang="zh-CN" sz="2400" dirty="0">
                <a:latin typeface="楷体" panose="02010609060101010101" pitchFamily="49" charset="-122"/>
                <a:ea typeface="楷体" panose="02010609060101010101" pitchFamily="49" charset="-122"/>
              </a:rPr>
              <a:t>max/min z=……</a:t>
            </a:r>
            <a:endParaRPr lang="en-US" altLang="zh-CN" sz="2400" dirty="0">
              <a:latin typeface="楷体" panose="02010609060101010101" pitchFamily="49" charset="-122"/>
              <a:ea typeface="楷体" panose="02010609060101010101" pitchFamily="49" charset="-122"/>
            </a:endParaRPr>
          </a:p>
          <a:p>
            <a:pPr>
              <a:lnSpc>
                <a:spcPct val="130000"/>
              </a:lnSpc>
            </a:pP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a:t>
            </a:r>
            <a:r>
              <a:rPr lang="en-US" altLang="zh-CN" sz="2400" dirty="0">
                <a:latin typeface="楷体" panose="02010609060101010101" pitchFamily="49" charset="-122"/>
                <a:ea typeface="楷体" panose="02010609060101010101" pitchFamily="49" charset="-122"/>
              </a:rPr>
              <a:t>=……, x</a:t>
            </a:r>
            <a:r>
              <a:rPr lang="en-US" altLang="zh-CN" sz="2400" baseline="-25000" dirty="0">
                <a:latin typeface="楷体" panose="02010609060101010101" pitchFamily="49" charset="-122"/>
                <a:ea typeface="楷体" panose="02010609060101010101" pitchFamily="49" charset="-122"/>
              </a:rPr>
              <a:t>2</a:t>
            </a:r>
            <a:r>
              <a:rPr lang="en-US" altLang="zh-CN"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endParaRPr lang="en-US" altLang="zh-CN" sz="2400" dirty="0">
              <a:latin typeface="楷体" panose="02010609060101010101" pitchFamily="49" charset="-122"/>
              <a:ea typeface="楷体" panose="02010609060101010101" pitchFamily="49" charset="-122"/>
            </a:endParaRPr>
          </a:p>
          <a:p>
            <a:pPr>
              <a:lnSpc>
                <a:spcPct val="130000"/>
              </a:lnSpc>
            </a:pPr>
            <a:r>
              <a:rPr lang="en-US" altLang="zh-CN" sz="2400" dirty="0">
                <a:latin typeface="楷体" panose="02010609060101010101" pitchFamily="49" charset="-122"/>
                <a:ea typeface="楷体" panose="02010609060101010101" pitchFamily="49" charset="-122"/>
              </a:rPr>
              <a:t> </a:t>
            </a:r>
            <a:endParaRPr lang="en-US" altLang="zh-CN" sz="2400" dirty="0">
              <a:latin typeface="楷体" panose="02010609060101010101" pitchFamily="49" charset="-122"/>
              <a:ea typeface="楷体" panose="02010609060101010101" pitchFamily="49" charset="-122"/>
            </a:endParaRPr>
          </a:p>
          <a:p>
            <a:pPr>
              <a:lnSpc>
                <a:spcPct val="130000"/>
              </a:lnSpc>
            </a:pPr>
            <a:r>
              <a:rPr lang="zh-CN" altLang="en-US" sz="2400" dirty="0">
                <a:latin typeface="楷体" panose="02010609060101010101" pitchFamily="49" charset="-122"/>
                <a:ea typeface="楷体" panose="02010609060101010101" pitchFamily="49" charset="-122"/>
              </a:rPr>
              <a:t>如果为</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竞争性活动分配</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资源</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则最大收益或最小消耗是</a:t>
            </a:r>
            <a:r>
              <a:rPr lang="en-US" altLang="zh-CN"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p:txBody>
      </p:sp>
      <p:sp>
        <p:nvSpPr>
          <p:cNvPr id="35" name="箭头: 下 34"/>
          <p:cNvSpPr/>
          <p:nvPr/>
        </p:nvSpPr>
        <p:spPr>
          <a:xfrm>
            <a:off x="9220882" y="2244843"/>
            <a:ext cx="2558173" cy="1242648"/>
          </a:xfrm>
          <a:prstGeom prst="downArrow">
            <a:avLst>
              <a:gd name="adj1" fmla="val 83560"/>
              <a:gd name="adj2" fmla="val 500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322BD"/>
                </a:solidFill>
                <a:latin typeface="楷体" panose="02010609060101010101" pitchFamily="49" charset="-122"/>
                <a:ea typeface="楷体" panose="02010609060101010101" pitchFamily="49" charset="-122"/>
              </a:rPr>
              <a:t>数字背后的内涵转换</a:t>
            </a:r>
            <a:endParaRPr lang="zh-CN" altLang="en-US" sz="2400" b="1" dirty="0">
              <a:solidFill>
                <a:srgbClr val="0322BD"/>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animBg="1"/>
      <p:bldP spid="28" grpId="0"/>
      <p:bldP spid="30" grpId="0" animBg="1"/>
      <p:bldP spid="31" grpId="0" animBg="1"/>
      <p:bldP spid="32" grpId="0"/>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1850" y="2866416"/>
            <a:ext cx="10515600" cy="2852737"/>
          </a:xfrm>
        </p:spPr>
        <p:txBody>
          <a:bodyPr>
            <a:normAutofit/>
          </a:bodyPr>
          <a:lstStyle/>
          <a:p>
            <a:r>
              <a:rPr lang="zh-CN" altLang="en-US" dirty="0">
                <a:latin typeface="楷体" panose="02010609060101010101" pitchFamily="49" charset="-122"/>
                <a:ea typeface="楷体" panose="02010609060101010101" pitchFamily="49" charset="-122"/>
              </a:rPr>
              <a:t>第一部分，建立线性规划问题的数学模型</a:t>
            </a:r>
            <a:endParaRPr lang="zh-CN" altLang="en-US" dirty="0">
              <a:latin typeface="楷体" panose="02010609060101010101" pitchFamily="49" charset="-122"/>
              <a:ea typeface="楷体" panose="02010609060101010101" pitchFamily="49" charset="-122"/>
            </a:endParaRPr>
          </a:p>
        </p:txBody>
      </p:sp>
      <p:sp>
        <p:nvSpPr>
          <p:cNvPr id="3" name="文本占位符 2"/>
          <p:cNvSpPr>
            <a:spLocks noGrp="1"/>
          </p:cNvSpPr>
          <p:nvPr>
            <p:ph type="body" idx="1"/>
          </p:nvPr>
        </p:nvSpPr>
        <p:spPr>
          <a:xfrm>
            <a:off x="831850" y="5746141"/>
            <a:ext cx="10515600" cy="861769"/>
          </a:xfrm>
        </p:spPr>
        <p:txBody>
          <a:bodyPr>
            <a:normAutofit lnSpcReduction="10000"/>
          </a:bodyPr>
          <a:lstStyle/>
          <a:p>
            <a:r>
              <a:rPr lang="zh-CN" altLang="en-US" dirty="0">
                <a:latin typeface="楷体" panose="02010609060101010101" pitchFamily="49" charset="-122"/>
                <a:ea typeface="楷体" panose="02010609060101010101" pitchFamily="49" charset="-122"/>
              </a:rPr>
              <a:t>第一部分的学习目标：掌握数学建模的正确程序</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学习方法：我们将通过大量的问题的建模活动，归纳总结出数学建模的方法</a:t>
            </a:r>
            <a:endParaRPr lang="zh-CN" altLang="en-US" dirty="0">
              <a:latin typeface="楷体" panose="02010609060101010101" pitchFamily="49" charset="-122"/>
              <a:ea typeface="楷体" panose="02010609060101010101" pitchFamily="49" charset="-122"/>
            </a:endParaRPr>
          </a:p>
        </p:txBody>
      </p:sp>
      <p:pic>
        <p:nvPicPr>
          <p:cNvPr id="12" name="图片 11"/>
          <p:cNvPicPr>
            <a:picLocks noChangeAspect="1"/>
          </p:cNvPicPr>
          <p:nvPr/>
        </p:nvPicPr>
        <p:blipFill>
          <a:blip r:embed="rId1"/>
          <a:stretch>
            <a:fillRect/>
          </a:stretch>
        </p:blipFill>
        <p:spPr>
          <a:xfrm>
            <a:off x="6947876" y="0"/>
            <a:ext cx="5384107" cy="41838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0338" y="550297"/>
            <a:ext cx="12020062" cy="1446550"/>
          </a:xfrm>
          <a:prstGeom prst="rect">
            <a:avLst/>
          </a:prstGeom>
          <a:noFill/>
        </p:spPr>
        <p:txBody>
          <a:bodyPr wrap="square" rtlCol="0">
            <a:spAutoFit/>
          </a:bodyPr>
          <a:lstStyle/>
          <a:p>
            <a:pPr algn="ctr"/>
            <a:r>
              <a:rPr lang="zh-CN" altLang="en-US" sz="4400" dirty="0">
                <a:latin typeface="楷体" panose="02010609060101010101" pitchFamily="49" charset="-122"/>
                <a:ea typeface="楷体" panose="02010609060101010101" pitchFamily="49" charset="-122"/>
              </a:rPr>
              <a:t>（一）线性规划问题的数学模型的基本特征？</a:t>
            </a:r>
            <a:endParaRPr lang="en-US" altLang="zh-CN" sz="4400" dirty="0">
              <a:latin typeface="楷体" panose="02010609060101010101" pitchFamily="49" charset="-122"/>
              <a:ea typeface="楷体" panose="02010609060101010101" pitchFamily="49" charset="-122"/>
            </a:endParaRPr>
          </a:p>
          <a:p>
            <a:pPr algn="ctr"/>
            <a:r>
              <a:rPr lang="en-US" altLang="zh-CN" sz="4400" dirty="0">
                <a:latin typeface="楷体" panose="02010609060101010101" pitchFamily="49" charset="-122"/>
                <a:ea typeface="楷体" panose="02010609060101010101" pitchFamily="49" charset="-122"/>
              </a:rPr>
              <a:t>【</a:t>
            </a:r>
            <a:r>
              <a:rPr lang="zh-CN" altLang="en-US" sz="4400" dirty="0">
                <a:latin typeface="楷体" panose="02010609060101010101" pitchFamily="49" charset="-122"/>
                <a:ea typeface="楷体" panose="02010609060101010101" pitchFamily="49" charset="-122"/>
              </a:rPr>
              <a:t>以便从一般意义上研究它</a:t>
            </a:r>
            <a:r>
              <a:rPr lang="en-US" altLang="zh-CN" sz="4400" dirty="0">
                <a:latin typeface="楷体" panose="02010609060101010101" pitchFamily="49" charset="-122"/>
                <a:ea typeface="楷体" panose="02010609060101010101" pitchFamily="49" charset="-122"/>
              </a:rPr>
              <a:t>】</a:t>
            </a:r>
            <a:endParaRPr lang="zh-CN" altLang="en-US" sz="4400" dirty="0">
              <a:latin typeface="楷体" panose="02010609060101010101" pitchFamily="49" charset="-122"/>
              <a:ea typeface="楷体" panose="02010609060101010101" pitchFamily="49" charset="-122"/>
            </a:endParaRPr>
          </a:p>
        </p:txBody>
      </p:sp>
      <p:sp>
        <p:nvSpPr>
          <p:cNvPr id="3" name="箭头: 下 2"/>
          <p:cNvSpPr/>
          <p:nvPr/>
        </p:nvSpPr>
        <p:spPr>
          <a:xfrm>
            <a:off x="5191027" y="6307703"/>
            <a:ext cx="1809946" cy="37707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4233172" y="2456537"/>
            <a:ext cx="7675478" cy="3554886"/>
            <a:chOff x="4233172" y="1651557"/>
            <a:chExt cx="7675478" cy="3554886"/>
          </a:xfrm>
        </p:grpSpPr>
        <p:grpSp>
          <p:nvGrpSpPr>
            <p:cNvPr id="7" name="组合 6"/>
            <p:cNvGrpSpPr/>
            <p:nvPr/>
          </p:nvGrpSpPr>
          <p:grpSpPr>
            <a:xfrm>
              <a:off x="4233172" y="1651557"/>
              <a:ext cx="7675478" cy="3554886"/>
              <a:chOff x="4167858" y="1556657"/>
              <a:chExt cx="7675478" cy="3554886"/>
            </a:xfrm>
          </p:grpSpPr>
          <p:sp>
            <p:nvSpPr>
              <p:cNvPr id="5" name="文本框 4"/>
              <p:cNvSpPr txBox="1"/>
              <p:nvPr/>
            </p:nvSpPr>
            <p:spPr>
              <a:xfrm>
                <a:off x="4167858" y="4649878"/>
                <a:ext cx="7675478" cy="461665"/>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线性规划研究任何具有如此相似数学形式的问题</a:t>
                </a:r>
                <a:endParaRPr lang="zh-CN" altLang="en-US" sz="2400" dirty="0">
                  <a:latin typeface="楷体" panose="02010609060101010101" pitchFamily="49" charset="-122"/>
                  <a:ea typeface="楷体" panose="02010609060101010101" pitchFamily="49" charset="-122"/>
                </a:endParaRPr>
              </a:p>
            </p:txBody>
          </p:sp>
          <p:pic>
            <p:nvPicPr>
              <p:cNvPr id="6" name="图片 5"/>
              <p:cNvPicPr>
                <a:picLocks noChangeAspect="1"/>
              </p:cNvPicPr>
              <p:nvPr/>
            </p:nvPicPr>
            <p:blipFill>
              <a:blip r:embed="rId1"/>
              <a:stretch>
                <a:fillRect/>
              </a:stretch>
            </p:blipFill>
            <p:spPr>
              <a:xfrm>
                <a:off x="4167859" y="1556657"/>
                <a:ext cx="7675477" cy="3081049"/>
              </a:xfrm>
              <a:prstGeom prst="rect">
                <a:avLst/>
              </a:prstGeom>
            </p:spPr>
          </p:pic>
        </p:grpSp>
        <p:sp>
          <p:nvSpPr>
            <p:cNvPr id="4" name="箭头: 下 3"/>
            <p:cNvSpPr/>
            <p:nvPr/>
          </p:nvSpPr>
          <p:spPr>
            <a:xfrm>
              <a:off x="5439507" y="2344616"/>
              <a:ext cx="820615" cy="117230"/>
            </a:xfrm>
            <a:prstGeom prst="downArrow">
              <a:avLst/>
            </a:prstGeom>
            <a:solidFill>
              <a:srgbClr val="00F0C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下 7"/>
            <p:cNvSpPr/>
            <p:nvPr/>
          </p:nvSpPr>
          <p:spPr>
            <a:xfrm>
              <a:off x="9483969" y="2106246"/>
              <a:ext cx="820615" cy="117230"/>
            </a:xfrm>
            <a:prstGeom prst="downArrow">
              <a:avLst/>
            </a:prstGeom>
            <a:solidFill>
              <a:srgbClr val="00F0C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 y="21210"/>
            <a:ext cx="12115799" cy="4031873"/>
          </a:xfrm>
          <a:prstGeom prst="rect">
            <a:avLst/>
          </a:prstGeom>
          <a:noFill/>
        </p:spPr>
        <p:txBody>
          <a:bodyPr wrap="square" rtlCol="0">
            <a:spAutoFit/>
          </a:bodyPr>
          <a:lstStyle/>
          <a:p>
            <a:r>
              <a:rPr lang="zh-CN" altLang="en-US" sz="3200" dirty="0">
                <a:latin typeface="楷体" panose="02010609060101010101" pitchFamily="49" charset="-122"/>
                <a:ea typeface="楷体" panose="02010609060101010101" pitchFamily="49" charset="-122"/>
              </a:rPr>
              <a:t>为充分认识线性规划问题及其数学模型的基本特征，我们这样学习：</a:t>
            </a:r>
            <a:endParaRPr lang="en-US" altLang="zh-CN" sz="3200" dirty="0">
              <a:latin typeface="楷体" panose="02010609060101010101" pitchFamily="49" charset="-122"/>
              <a:ea typeface="楷体" panose="02010609060101010101" pitchFamily="49" charset="-122"/>
            </a:endParaRPr>
          </a:p>
          <a:p>
            <a:endParaRPr lang="en-US" altLang="zh-CN" sz="800" dirty="0">
              <a:latin typeface="楷体" panose="02010609060101010101" pitchFamily="49" charset="-122"/>
              <a:ea typeface="楷体" panose="02010609060101010101" pitchFamily="49" charset="-122"/>
            </a:endParaRPr>
          </a:p>
          <a:p>
            <a:r>
              <a:rPr lang="zh-CN" altLang="en-US" sz="3200" dirty="0">
                <a:latin typeface="楷体" panose="02010609060101010101" pitchFamily="49" charset="-122"/>
                <a:ea typeface="楷体" panose="02010609060101010101" pitchFamily="49" charset="-122"/>
              </a:rPr>
              <a:t>首先，我们给出一些具体的线性规划问题并</a:t>
            </a:r>
            <a:r>
              <a:rPr lang="zh-CN" altLang="en-US" sz="3200" dirty="0">
                <a:solidFill>
                  <a:srgbClr val="0000AC"/>
                </a:solidFill>
                <a:latin typeface="楷体" panose="02010609060101010101" pitchFamily="49" charset="-122"/>
                <a:ea typeface="楷体" panose="02010609060101010101" pitchFamily="49" charset="-122"/>
              </a:rPr>
              <a:t>试着</a:t>
            </a:r>
            <a:r>
              <a:rPr lang="zh-CN" altLang="en-US" sz="3200" dirty="0">
                <a:latin typeface="楷体" panose="02010609060101010101" pitchFamily="49" charset="-122"/>
                <a:ea typeface="楷体" panose="02010609060101010101" pitchFamily="49" charset="-122"/>
              </a:rPr>
              <a:t>进行数学表达。</a:t>
            </a:r>
            <a:endParaRPr lang="en-US" altLang="zh-CN" sz="3200" dirty="0">
              <a:latin typeface="楷体" panose="02010609060101010101" pitchFamily="49" charset="-122"/>
              <a:ea typeface="楷体" panose="02010609060101010101" pitchFamily="49" charset="-122"/>
            </a:endParaRPr>
          </a:p>
          <a:p>
            <a:endParaRPr lang="en-US" altLang="zh-CN" sz="800" dirty="0">
              <a:latin typeface="楷体" panose="02010609060101010101" pitchFamily="49" charset="-122"/>
              <a:ea typeface="楷体" panose="02010609060101010101" pitchFamily="49" charset="-122"/>
            </a:endParaRPr>
          </a:p>
          <a:p>
            <a:r>
              <a:rPr lang="zh-CN" altLang="en-US" sz="3200" dirty="0">
                <a:latin typeface="楷体" panose="02010609060101010101" pitchFamily="49" charset="-122"/>
                <a:ea typeface="楷体" panose="02010609060101010101" pitchFamily="49" charset="-122"/>
              </a:rPr>
              <a:t>然后，我们运用抽象的方法总结该数学模型的基本特征。</a:t>
            </a:r>
            <a:endParaRPr lang="en-US" altLang="zh-CN" sz="3200" dirty="0">
              <a:latin typeface="楷体" panose="02010609060101010101" pitchFamily="49" charset="-122"/>
              <a:ea typeface="楷体" panose="02010609060101010101" pitchFamily="49" charset="-122"/>
            </a:endParaRPr>
          </a:p>
          <a:p>
            <a:endParaRPr lang="en-US" altLang="zh-CN" sz="800" dirty="0">
              <a:latin typeface="楷体" panose="02010609060101010101" pitchFamily="49" charset="-122"/>
              <a:ea typeface="楷体" panose="02010609060101010101" pitchFamily="49" charset="-122"/>
            </a:endParaRPr>
          </a:p>
          <a:p>
            <a:r>
              <a:rPr lang="zh-CN" altLang="en-US" sz="3200" dirty="0">
                <a:latin typeface="楷体" panose="02010609060101010101" pitchFamily="49" charset="-122"/>
                <a:ea typeface="楷体" panose="02010609060101010101" pitchFamily="49" charset="-122"/>
              </a:rPr>
              <a:t>接下来，我们运用归纳推理的方法，在理解了什么样的问题是适合用线性规划方法来解决的基础上，试着总结“建立线性规划类问题的数学模型的方法”，并实践检验和不断修正此方法的逻辑。</a:t>
            </a:r>
            <a:endParaRPr lang="en-US" altLang="zh-CN" sz="3200" dirty="0">
              <a:latin typeface="楷体" panose="02010609060101010101" pitchFamily="49" charset="-122"/>
              <a:ea typeface="楷体" panose="02010609060101010101" pitchFamily="49" charset="-122"/>
            </a:endParaRPr>
          </a:p>
          <a:p>
            <a:endParaRPr lang="en-US" altLang="zh-CN" sz="800" dirty="0">
              <a:latin typeface="楷体" panose="02010609060101010101" pitchFamily="49" charset="-122"/>
              <a:ea typeface="楷体" panose="02010609060101010101" pitchFamily="49" charset="-122"/>
            </a:endParaRPr>
          </a:p>
          <a:p>
            <a:r>
              <a:rPr lang="zh-CN" altLang="en-US" sz="3200" dirty="0">
                <a:latin typeface="楷体" panose="02010609060101010101" pitchFamily="49" charset="-122"/>
                <a:ea typeface="楷体" panose="02010609060101010101" pitchFamily="49" charset="-122"/>
              </a:rPr>
              <a:t>在此基础上，将有效地推进数学模型的求解方法的学习。</a:t>
            </a:r>
            <a:endParaRPr lang="zh-CN" altLang="en-US" sz="3200" dirty="0">
              <a:latin typeface="楷体" panose="02010609060101010101" pitchFamily="49" charset="-122"/>
              <a:ea typeface="楷体" panose="02010609060101010101" pitchFamily="49" charset="-122"/>
            </a:endParaRPr>
          </a:p>
        </p:txBody>
      </p:sp>
      <p:grpSp>
        <p:nvGrpSpPr>
          <p:cNvPr id="5" name="组合 4"/>
          <p:cNvGrpSpPr/>
          <p:nvPr/>
        </p:nvGrpSpPr>
        <p:grpSpPr>
          <a:xfrm>
            <a:off x="315687" y="4081719"/>
            <a:ext cx="11625942" cy="2547677"/>
            <a:chOff x="315687" y="3929319"/>
            <a:chExt cx="11625942" cy="2547677"/>
          </a:xfrm>
        </p:grpSpPr>
        <p:sp>
          <p:nvSpPr>
            <p:cNvPr id="4" name="矩形: 折角 3"/>
            <p:cNvSpPr/>
            <p:nvPr/>
          </p:nvSpPr>
          <p:spPr>
            <a:xfrm flipV="1">
              <a:off x="315687" y="3929319"/>
              <a:ext cx="11625942" cy="2547677"/>
            </a:xfrm>
            <a:prstGeom prst="foldedCorner">
              <a:avLst/>
            </a:prstGeom>
            <a:solidFill>
              <a:srgbClr val="00F0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13657" y="4156646"/>
              <a:ext cx="11335781" cy="2246769"/>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“抽象”这个术语在心理学中的意思是：“把事物的大量的固有属性进行分离的一个行为或者过程，其中我们把单一的个体当成观察和思考的对象。”</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归纳推理：是一种逻辑推理形式，是一个从个体事实中发现普遍规律的过程，或者是一个从特称事实中推出普遍法则的过程。</a:t>
              </a:r>
              <a:endParaRPr lang="zh-CN" altLang="en-US" sz="2800" dirty="0">
                <a:latin typeface="楷体" panose="02010609060101010101" pitchFamily="49" charset="-122"/>
                <a:ea typeface="楷体" panose="02010609060101010101" pitchFamily="49"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42646" y="1475819"/>
            <a:ext cx="9490617" cy="2800767"/>
          </a:xfrm>
          <a:prstGeom prst="rect">
            <a:avLst/>
          </a:prstGeom>
          <a:noFill/>
        </p:spPr>
        <p:txBody>
          <a:bodyPr wrap="square" rtlCol="0">
            <a:spAutoFit/>
          </a:bodyPr>
          <a:lstStyle/>
          <a:p>
            <a:pPr algn="ctr"/>
            <a:r>
              <a:rPr lang="zh-CN" altLang="en-US" sz="4400" dirty="0">
                <a:latin typeface="楷体" panose="02010609060101010101" pitchFamily="49" charset="-122"/>
                <a:ea typeface="楷体" panose="02010609060101010101" pitchFamily="49" charset="-122"/>
              </a:rPr>
              <a:t>试一试：对如下一些具体的线性规划问题进行数学表达，即将文字陈述的问题转换为数学表达，这一活动称之为</a:t>
            </a:r>
            <a:r>
              <a:rPr lang="zh-CN" altLang="en-US" sz="4400" b="1" dirty="0">
                <a:latin typeface="楷体" panose="02010609060101010101" pitchFamily="49" charset="-122"/>
                <a:ea typeface="楷体" panose="02010609060101010101" pitchFamily="49" charset="-122"/>
              </a:rPr>
              <a:t>数学建模</a:t>
            </a:r>
            <a:r>
              <a:rPr lang="zh-CN" altLang="en-US" sz="4400" dirty="0">
                <a:latin typeface="楷体" panose="02010609060101010101" pitchFamily="49" charset="-122"/>
                <a:ea typeface="楷体" panose="02010609060101010101" pitchFamily="49" charset="-122"/>
              </a:rPr>
              <a:t>。</a:t>
            </a:r>
            <a:endParaRPr lang="en-US" altLang="zh-CN" sz="4400" dirty="0">
              <a:latin typeface="楷体" panose="02010609060101010101" pitchFamily="49" charset="-122"/>
              <a:ea typeface="楷体" panose="02010609060101010101" pitchFamily="49" charset="-122"/>
            </a:endParaRPr>
          </a:p>
        </p:txBody>
      </p:sp>
      <p:sp>
        <p:nvSpPr>
          <p:cNvPr id="3" name="箭头: 下 2"/>
          <p:cNvSpPr/>
          <p:nvPr/>
        </p:nvSpPr>
        <p:spPr>
          <a:xfrm>
            <a:off x="4538449" y="4235541"/>
            <a:ext cx="1809946" cy="37707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758" y="38554"/>
            <a:ext cx="11625943" cy="793750"/>
          </a:xfrm>
        </p:spPr>
        <p:txBody>
          <a:bodyPr>
            <a:normAutofit/>
          </a:bodyPr>
          <a:lstStyle/>
          <a:p>
            <a:r>
              <a:rPr lang="zh-CN" altLang="en-US" sz="3200" dirty="0">
                <a:latin typeface="楷体" panose="02010609060101010101" pitchFamily="49" charset="-122"/>
                <a:ea typeface="楷体" panose="02010609060101010101" pitchFamily="49" charset="-122"/>
              </a:rPr>
              <a:t>例</a:t>
            </a:r>
            <a:r>
              <a:rPr lang="en-US" altLang="zh-CN" sz="3200" dirty="0">
                <a:latin typeface="楷体" panose="02010609060101010101" pitchFamily="49" charset="-122"/>
                <a:ea typeface="楷体" panose="02010609060101010101" pitchFamily="49" charset="-122"/>
              </a:rPr>
              <a:t>3.</a:t>
            </a:r>
            <a:r>
              <a:rPr lang="zh-CN" altLang="en-US" sz="3200" dirty="0">
                <a:latin typeface="楷体" panose="02010609060101010101" pitchFamily="49" charset="-122"/>
                <a:ea typeface="楷体" panose="02010609060101010101" pitchFamily="49" charset="-122"/>
              </a:rPr>
              <a:t>银行投资问题</a:t>
            </a:r>
            <a:endParaRPr lang="zh-CN" altLang="en-US" sz="3200" dirty="0">
              <a:latin typeface="楷体" panose="02010609060101010101" pitchFamily="49" charset="-122"/>
              <a:ea typeface="楷体" panose="02010609060101010101" pitchFamily="49" charset="-122"/>
            </a:endParaRPr>
          </a:p>
        </p:txBody>
      </p:sp>
      <p:sp>
        <p:nvSpPr>
          <p:cNvPr id="5" name="矩形 4"/>
          <p:cNvSpPr/>
          <p:nvPr/>
        </p:nvSpPr>
        <p:spPr>
          <a:xfrm>
            <a:off x="9246842" y="3988580"/>
            <a:ext cx="1877437" cy="461665"/>
          </a:xfrm>
          <a:prstGeom prst="rect">
            <a:avLst/>
          </a:prstGeom>
        </p:spPr>
        <p:txBody>
          <a:bodyPr wrap="none">
            <a:spAutoFit/>
          </a:bodyPr>
          <a:lstStyle/>
          <a:p>
            <a:r>
              <a:rPr lang="en-US" altLang="zh-CN" sz="2400" dirty="0">
                <a:solidFill>
                  <a:srgbClr val="060606"/>
                </a:solidFill>
                <a:latin typeface="楷体" panose="02010609060101010101" pitchFamily="49" charset="-122"/>
                <a:ea typeface="楷体" panose="02010609060101010101" pitchFamily="49" charset="-122"/>
              </a:rPr>
              <a:t>0.10L+0.05S</a:t>
            </a:r>
            <a:endParaRPr lang="zh-CN" altLang="en-US" sz="2400" dirty="0">
              <a:latin typeface="楷体" panose="02010609060101010101" pitchFamily="49" charset="-122"/>
              <a:ea typeface="楷体" panose="02010609060101010101" pitchFamily="49" charset="-122"/>
            </a:endParaRPr>
          </a:p>
        </p:txBody>
      </p:sp>
      <p:sp>
        <p:nvSpPr>
          <p:cNvPr id="6" name="矩形 5"/>
          <p:cNvSpPr/>
          <p:nvPr/>
        </p:nvSpPr>
        <p:spPr>
          <a:xfrm>
            <a:off x="6974676" y="3440484"/>
            <a:ext cx="1008112" cy="461665"/>
          </a:xfrm>
          <a:prstGeom prst="rect">
            <a:avLst/>
          </a:prstGeom>
        </p:spPr>
        <p:txBody>
          <a:bodyPr wrap="square">
            <a:spAutoFit/>
          </a:bodyPr>
          <a:lstStyle/>
          <a:p>
            <a:r>
              <a:rPr lang="en-US" altLang="zh-CN" sz="2400" dirty="0">
                <a:solidFill>
                  <a:srgbClr val="060606"/>
                </a:solidFill>
                <a:latin typeface="楷体" panose="02010609060101010101" pitchFamily="49" charset="-122"/>
                <a:ea typeface="楷体" panose="02010609060101010101" pitchFamily="49" charset="-122"/>
              </a:rPr>
              <a:t>L</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S</a:t>
            </a:r>
            <a:endParaRPr lang="zh-CN" altLang="en-US" dirty="0">
              <a:latin typeface="楷体" panose="02010609060101010101" pitchFamily="49" charset="-122"/>
              <a:ea typeface="楷体" panose="02010609060101010101" pitchFamily="49" charset="-122"/>
            </a:endParaRPr>
          </a:p>
        </p:txBody>
      </p:sp>
      <p:sp>
        <p:nvSpPr>
          <p:cNvPr id="7" name="矩形 6"/>
          <p:cNvSpPr/>
          <p:nvPr/>
        </p:nvSpPr>
        <p:spPr>
          <a:xfrm>
            <a:off x="359228" y="3465875"/>
            <a:ext cx="6840760" cy="448969"/>
          </a:xfrm>
          <a:prstGeom prst="rect">
            <a:avLst/>
          </a:prstGeom>
        </p:spPr>
        <p:txBody>
          <a:bodyPr wrap="square">
            <a:spAutoFit/>
          </a:bodyPr>
          <a:lstStyle/>
          <a:p>
            <a:pPr marL="342900" indent="-342900" fontAlgn="base">
              <a:lnSpc>
                <a:spcPct val="110000"/>
              </a:lnSpc>
              <a:spcBef>
                <a:spcPts val="1800"/>
              </a:spcBef>
              <a:spcAft>
                <a:spcPct val="0"/>
              </a:spcAft>
            </a:pPr>
            <a:r>
              <a:rPr lang="zh-CN" altLang="en-US" sz="2400" dirty="0">
                <a:solidFill>
                  <a:srgbClr val="060606"/>
                </a:solidFill>
                <a:latin typeface="楷体" panose="02010609060101010101" pitchFamily="49" charset="-122"/>
                <a:ea typeface="楷体" panose="02010609060101010101" pitchFamily="49" charset="-122"/>
              </a:rPr>
              <a:t>需要决策的是贷款和有价债券分别投多少？设：</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8" name="矩形 7"/>
          <p:cNvSpPr/>
          <p:nvPr/>
        </p:nvSpPr>
        <p:spPr>
          <a:xfrm>
            <a:off x="359228" y="3987500"/>
            <a:ext cx="9795623" cy="461665"/>
          </a:xfrm>
          <a:prstGeom prst="rect">
            <a:avLst/>
          </a:prstGeom>
        </p:spPr>
        <p:txBody>
          <a:bodyPr wrap="square">
            <a:spAutoFit/>
          </a:bodyPr>
          <a:lstStyle/>
          <a:p>
            <a:r>
              <a:rPr lang="zh-CN" altLang="en-US" sz="2400" dirty="0">
                <a:solidFill>
                  <a:srgbClr val="060606"/>
                </a:solidFill>
                <a:latin typeface="楷体" panose="02010609060101010101" pitchFamily="49" charset="-122"/>
                <a:ea typeface="楷体" panose="02010609060101010101" pitchFamily="49" charset="-122"/>
              </a:rPr>
              <a:t>设贷款的利率为</a:t>
            </a:r>
            <a:r>
              <a:rPr lang="en-US" altLang="zh-CN" sz="2400" dirty="0">
                <a:solidFill>
                  <a:srgbClr val="060606"/>
                </a:solidFill>
                <a:latin typeface="楷体" panose="02010609060101010101" pitchFamily="49" charset="-122"/>
                <a:ea typeface="楷体" panose="02010609060101010101" pitchFamily="49" charset="-122"/>
              </a:rPr>
              <a:t>10%</a:t>
            </a:r>
            <a:r>
              <a:rPr lang="zh-CN" altLang="en-US" sz="2400" dirty="0">
                <a:solidFill>
                  <a:srgbClr val="060606"/>
                </a:solidFill>
                <a:latin typeface="楷体" panose="02010609060101010101" pitchFamily="49" charset="-122"/>
                <a:ea typeface="楷体" panose="02010609060101010101" pitchFamily="49" charset="-122"/>
              </a:rPr>
              <a:t>，债券的利率为</a:t>
            </a:r>
            <a:r>
              <a:rPr lang="en-US" altLang="zh-CN" sz="2400" dirty="0">
                <a:solidFill>
                  <a:srgbClr val="060606"/>
                </a:solidFill>
                <a:latin typeface="楷体" panose="02010609060101010101" pitchFamily="49" charset="-122"/>
                <a:ea typeface="楷体" panose="02010609060101010101" pitchFamily="49" charset="-122"/>
              </a:rPr>
              <a:t>5%</a:t>
            </a:r>
            <a:r>
              <a:rPr lang="zh-CN" altLang="en-US" sz="2400" dirty="0">
                <a:solidFill>
                  <a:srgbClr val="060606"/>
                </a:solidFill>
                <a:latin typeface="楷体" panose="02010609060101010101" pitchFamily="49" charset="-122"/>
                <a:ea typeface="楷体" panose="02010609060101010101" pitchFamily="49" charset="-122"/>
              </a:rPr>
              <a:t>，两者的总利润为</a:t>
            </a:r>
            <a:r>
              <a:rPr lang="en-US" altLang="zh-CN" sz="2400" dirty="0">
                <a:solidFill>
                  <a:srgbClr val="060606"/>
                </a:solidFill>
                <a:latin typeface="楷体" panose="02010609060101010101" pitchFamily="49" charset="-122"/>
                <a:ea typeface="楷体" panose="02010609060101010101" pitchFamily="49" charset="-122"/>
              </a:rPr>
              <a:t>Z</a:t>
            </a:r>
            <a:r>
              <a:rPr lang="zh-CN" altLang="en-US" sz="2400" dirty="0">
                <a:solidFill>
                  <a:srgbClr val="060606"/>
                </a:solidFill>
                <a:latin typeface="楷体" panose="02010609060101010101" pitchFamily="49" charset="-122"/>
                <a:ea typeface="楷体" panose="02010609060101010101" pitchFamily="49" charset="-122"/>
              </a:rPr>
              <a:t>，则</a:t>
            </a:r>
            <a:r>
              <a:rPr lang="en-US" altLang="zh-CN" sz="2400" dirty="0">
                <a:solidFill>
                  <a:srgbClr val="060606"/>
                </a:solidFill>
                <a:latin typeface="楷体" panose="02010609060101010101" pitchFamily="49" charset="-122"/>
                <a:ea typeface="楷体" panose="02010609060101010101" pitchFamily="49" charset="-122"/>
              </a:rPr>
              <a:t>Z =</a:t>
            </a:r>
            <a:endParaRPr lang="zh-CN" altLang="en-US" dirty="0">
              <a:latin typeface="楷体" panose="02010609060101010101" pitchFamily="49" charset="-122"/>
              <a:ea typeface="楷体" panose="02010609060101010101" pitchFamily="49" charset="-122"/>
            </a:endParaRPr>
          </a:p>
        </p:txBody>
      </p:sp>
      <p:sp>
        <p:nvSpPr>
          <p:cNvPr id="9" name="矩形 8"/>
          <p:cNvSpPr/>
          <p:nvPr/>
        </p:nvSpPr>
        <p:spPr>
          <a:xfrm>
            <a:off x="359228" y="4466734"/>
            <a:ext cx="5388868" cy="448969"/>
          </a:xfrm>
          <a:prstGeom prst="rect">
            <a:avLst/>
          </a:prstGeom>
        </p:spPr>
        <p:txBody>
          <a:bodyPr wrap="square">
            <a:spAutoFit/>
          </a:bodyPr>
          <a:lstStyle/>
          <a:p>
            <a:pPr marL="342900" indent="-342900" fontAlgn="base">
              <a:lnSpc>
                <a:spcPct val="110000"/>
              </a:lnSpc>
              <a:spcBef>
                <a:spcPts val="1800"/>
              </a:spcBef>
              <a:spcAft>
                <a:spcPct val="0"/>
              </a:spcAft>
            </a:pPr>
            <a:r>
              <a:rPr lang="zh-CN" altLang="en-US" sz="2400" dirty="0">
                <a:solidFill>
                  <a:srgbClr val="060606"/>
                </a:solidFill>
                <a:latin typeface="楷体" panose="02010609060101010101" pitchFamily="49" charset="-122"/>
                <a:ea typeface="楷体" panose="02010609060101010101" pitchFamily="49" charset="-122"/>
              </a:rPr>
              <a:t>银行的目标是希望利润取最大值。</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10" name="矩形 9"/>
          <p:cNvSpPr/>
          <p:nvPr/>
        </p:nvSpPr>
        <p:spPr>
          <a:xfrm>
            <a:off x="5341503" y="4466734"/>
            <a:ext cx="3108543" cy="461665"/>
          </a:xfrm>
          <a:prstGeom prst="rect">
            <a:avLst/>
          </a:prstGeom>
        </p:spPr>
        <p:txBody>
          <a:bodyPr wrap="none">
            <a:spAutoFit/>
          </a:bodyPr>
          <a:lstStyle/>
          <a:p>
            <a:r>
              <a:rPr lang="en-US" altLang="zh-CN" sz="2400" dirty="0">
                <a:solidFill>
                  <a:srgbClr val="060606"/>
                </a:solidFill>
                <a:latin typeface="楷体" panose="02010609060101010101" pitchFamily="49" charset="-122"/>
                <a:ea typeface="楷体" panose="02010609060101010101" pitchFamily="49" charset="-122"/>
              </a:rPr>
              <a:t>max Z = 0.10L+0.05S</a:t>
            </a:r>
            <a:endParaRPr lang="zh-CN" altLang="en-US" sz="2400" dirty="0">
              <a:latin typeface="楷体" panose="02010609060101010101" pitchFamily="49" charset="-122"/>
              <a:ea typeface="楷体" panose="02010609060101010101" pitchFamily="49" charset="-122"/>
            </a:endParaRPr>
          </a:p>
        </p:txBody>
      </p:sp>
      <p:sp>
        <p:nvSpPr>
          <p:cNvPr id="13" name="矩形 12"/>
          <p:cNvSpPr/>
          <p:nvPr/>
        </p:nvSpPr>
        <p:spPr>
          <a:xfrm>
            <a:off x="359228" y="5030688"/>
            <a:ext cx="5684788" cy="461665"/>
          </a:xfrm>
          <a:prstGeom prst="rect">
            <a:avLst/>
          </a:prstGeom>
        </p:spPr>
        <p:txBody>
          <a:bodyPr wrap="square">
            <a:spAutoFit/>
          </a:bodyPr>
          <a:lstStyle/>
          <a:p>
            <a:r>
              <a:rPr lang="zh-CN" altLang="en-US" sz="2400" dirty="0">
                <a:solidFill>
                  <a:srgbClr val="060606"/>
                </a:solidFill>
                <a:latin typeface="楷体" panose="02010609060101010101" pitchFamily="49" charset="-122"/>
                <a:ea typeface="楷体" panose="02010609060101010101" pitchFamily="49" charset="-122"/>
              </a:rPr>
              <a:t>已知，贷款和债券受到总的资金约束，即：</a:t>
            </a:r>
            <a:endParaRPr lang="zh-CN" altLang="en-US" dirty="0">
              <a:latin typeface="楷体" panose="02010609060101010101" pitchFamily="49" charset="-122"/>
              <a:ea typeface="楷体" panose="02010609060101010101" pitchFamily="49" charset="-122"/>
            </a:endParaRPr>
          </a:p>
        </p:txBody>
      </p:sp>
      <p:sp>
        <p:nvSpPr>
          <p:cNvPr id="14" name="矩形 13"/>
          <p:cNvSpPr/>
          <p:nvPr/>
        </p:nvSpPr>
        <p:spPr>
          <a:xfrm>
            <a:off x="6307699" y="4997120"/>
            <a:ext cx="1569660" cy="461665"/>
          </a:xfrm>
          <a:prstGeom prst="rect">
            <a:avLst/>
          </a:prstGeom>
        </p:spPr>
        <p:txBody>
          <a:bodyPr wrap="none">
            <a:spAutoFit/>
          </a:bodyPr>
          <a:lstStyle/>
          <a:p>
            <a:r>
              <a:rPr lang="en-US" altLang="zh-CN" sz="2400" dirty="0">
                <a:solidFill>
                  <a:srgbClr val="060606"/>
                </a:solidFill>
                <a:latin typeface="楷体" panose="02010609060101010101" pitchFamily="49" charset="-122"/>
                <a:ea typeface="楷体" panose="02010609060101010101" pitchFamily="49" charset="-122"/>
              </a:rPr>
              <a:t>L+S ≤100</a:t>
            </a:r>
            <a:endParaRPr lang="zh-CN" altLang="en-US" dirty="0">
              <a:latin typeface="楷体" panose="02010609060101010101" pitchFamily="49" charset="-122"/>
              <a:ea typeface="楷体" panose="02010609060101010101" pitchFamily="49" charset="-122"/>
            </a:endParaRPr>
          </a:p>
        </p:txBody>
      </p:sp>
      <p:sp>
        <p:nvSpPr>
          <p:cNvPr id="15" name="矩形 14"/>
          <p:cNvSpPr/>
          <p:nvPr/>
        </p:nvSpPr>
        <p:spPr>
          <a:xfrm>
            <a:off x="359228" y="5573153"/>
            <a:ext cx="10620872" cy="461665"/>
          </a:xfrm>
          <a:prstGeom prst="rect">
            <a:avLst/>
          </a:prstGeom>
        </p:spPr>
        <p:txBody>
          <a:bodyPr wrap="square">
            <a:spAutoFit/>
          </a:bodyPr>
          <a:lstStyle/>
          <a:p>
            <a:r>
              <a:rPr lang="zh-CN" altLang="en-US" sz="2400" dirty="0">
                <a:solidFill>
                  <a:srgbClr val="060606"/>
                </a:solidFill>
                <a:latin typeface="楷体" panose="02010609060101010101" pitchFamily="49" charset="-122"/>
                <a:ea typeface="楷体" panose="02010609060101010101" pitchFamily="49" charset="-122"/>
              </a:rPr>
              <a:t>银行希望</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例如至少有</a:t>
            </a:r>
            <a:r>
              <a:rPr lang="en-US" altLang="zh-CN" sz="2400" dirty="0">
                <a:solidFill>
                  <a:srgbClr val="060606"/>
                </a:solidFill>
                <a:latin typeface="楷体" panose="02010609060101010101" pitchFamily="49" charset="-122"/>
                <a:ea typeface="楷体" panose="02010609060101010101" pitchFamily="49" charset="-122"/>
              </a:rPr>
              <a:t>25%</a:t>
            </a:r>
            <a:r>
              <a:rPr lang="zh-CN" altLang="en-US" sz="2400" dirty="0">
                <a:solidFill>
                  <a:srgbClr val="060606"/>
                </a:solidFill>
                <a:latin typeface="楷体" panose="02010609060101010101" pitchFamily="49" charset="-122"/>
                <a:ea typeface="楷体" panose="02010609060101010101" pitchFamily="49" charset="-122"/>
              </a:rPr>
              <a:t>的投资资金</a:t>
            </a:r>
            <a:r>
              <a:rPr lang="en-US" altLang="zh-CN" sz="2400" dirty="0">
                <a:solidFill>
                  <a:srgbClr val="060606"/>
                </a:solidFill>
                <a:latin typeface="楷体" panose="02010609060101010101" pitchFamily="49" charset="-122"/>
                <a:ea typeface="楷体" panose="02010609060101010101" pitchFamily="49" charset="-122"/>
              </a:rPr>
              <a:t>(S+L)</a:t>
            </a:r>
            <a:r>
              <a:rPr lang="zh-CN" altLang="en-US" sz="2400" dirty="0">
                <a:solidFill>
                  <a:srgbClr val="060606"/>
                </a:solidFill>
                <a:latin typeface="楷体" panose="02010609060101010101" pitchFamily="49" charset="-122"/>
                <a:ea typeface="楷体" panose="02010609060101010101" pitchFamily="49" charset="-122"/>
              </a:rPr>
              <a:t>具有灵活变现能力</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这就要求：</a:t>
            </a:r>
            <a:endParaRPr lang="zh-CN" altLang="en-US" dirty="0">
              <a:latin typeface="楷体" panose="02010609060101010101" pitchFamily="49" charset="-122"/>
              <a:ea typeface="楷体" panose="02010609060101010101" pitchFamily="49" charset="-122"/>
            </a:endParaRPr>
          </a:p>
        </p:txBody>
      </p:sp>
      <p:sp>
        <p:nvSpPr>
          <p:cNvPr id="16" name="矩形 15"/>
          <p:cNvSpPr/>
          <p:nvPr/>
        </p:nvSpPr>
        <p:spPr>
          <a:xfrm>
            <a:off x="5175785" y="6137107"/>
            <a:ext cx="4176464" cy="461665"/>
          </a:xfrm>
          <a:prstGeom prst="rect">
            <a:avLst/>
          </a:prstGeom>
        </p:spPr>
        <p:txBody>
          <a:bodyPr wrap="square">
            <a:spAutoFit/>
          </a:bodyPr>
          <a:lstStyle/>
          <a:p>
            <a:r>
              <a:rPr lang="en-US" altLang="zh-CN" sz="2400" dirty="0">
                <a:solidFill>
                  <a:srgbClr val="060606"/>
                </a:solidFill>
                <a:latin typeface="楷体" panose="02010609060101010101" pitchFamily="49" charset="-122"/>
                <a:ea typeface="楷体" panose="02010609060101010101" pitchFamily="49" charset="-122"/>
              </a:rPr>
              <a:t>S ≥0.25(S+L) </a:t>
            </a:r>
            <a:r>
              <a:rPr lang="zh-CN" altLang="en-US" sz="2400" dirty="0">
                <a:solidFill>
                  <a:srgbClr val="060606"/>
                </a:solidFill>
                <a:latin typeface="楷体" panose="02010609060101010101" pitchFamily="49" charset="-122"/>
                <a:ea typeface="楷体" panose="02010609060101010101" pitchFamily="49" charset="-122"/>
              </a:rPr>
              <a:t>或 </a:t>
            </a:r>
            <a:r>
              <a:rPr lang="en-US" altLang="zh-CN" sz="2400" dirty="0">
                <a:solidFill>
                  <a:srgbClr val="060606"/>
                </a:solidFill>
                <a:latin typeface="楷体" panose="02010609060101010101" pitchFamily="49" charset="-122"/>
                <a:ea typeface="楷体" panose="02010609060101010101" pitchFamily="49" charset="-122"/>
              </a:rPr>
              <a:t>L-3S ≤0</a:t>
            </a:r>
            <a:endParaRPr lang="zh-CN" altLang="en-US" dirty="0">
              <a:latin typeface="楷体" panose="02010609060101010101" pitchFamily="49" charset="-122"/>
              <a:ea typeface="楷体" panose="02010609060101010101" pitchFamily="49" charset="-122"/>
            </a:endParaRPr>
          </a:p>
        </p:txBody>
      </p:sp>
      <p:sp>
        <p:nvSpPr>
          <p:cNvPr id="18" name="文本框 17"/>
          <p:cNvSpPr txBox="1"/>
          <p:nvPr/>
        </p:nvSpPr>
        <p:spPr>
          <a:xfrm>
            <a:off x="159218" y="661780"/>
            <a:ext cx="11561068" cy="2677656"/>
          </a:xfrm>
          <a:prstGeom prst="rect">
            <a:avLst/>
          </a:prstGeom>
          <a:noFill/>
        </p:spPr>
        <p:txBody>
          <a:bodyPr wrap="square">
            <a:spAutoFit/>
          </a:bodyPr>
          <a:lstStyle/>
          <a:p>
            <a:r>
              <a:rPr lang="zh-CN" altLang="en-US" sz="2800" dirty="0">
                <a:solidFill>
                  <a:srgbClr val="060606"/>
                </a:solidFill>
                <a:latin typeface="楷体" panose="02010609060101010101" pitchFamily="49" charset="-122"/>
                <a:ea typeface="楷体" panose="02010609060101010101" pitchFamily="49" charset="-122"/>
              </a:rPr>
              <a:t>某银行有</a:t>
            </a:r>
            <a:r>
              <a:rPr lang="en-US" altLang="zh-CN" sz="2800" dirty="0">
                <a:solidFill>
                  <a:srgbClr val="060606"/>
                </a:solidFill>
                <a:latin typeface="楷体" panose="02010609060101010101" pitchFamily="49" charset="-122"/>
                <a:ea typeface="楷体" panose="02010609060101010101" pitchFamily="49" charset="-122"/>
              </a:rPr>
              <a:t>100</a:t>
            </a:r>
            <a:r>
              <a:rPr lang="zh-CN" altLang="en-US" sz="2800" dirty="0">
                <a:solidFill>
                  <a:srgbClr val="060606"/>
                </a:solidFill>
                <a:latin typeface="楷体" panose="02010609060101010101" pitchFamily="49" charset="-122"/>
                <a:ea typeface="楷体" panose="02010609060101010101" pitchFamily="49" charset="-122"/>
              </a:rPr>
              <a:t>万元用作投资，其中一部分用作贷款</a:t>
            </a:r>
            <a:r>
              <a:rPr lang="en-US" altLang="zh-CN" sz="2800" dirty="0">
                <a:solidFill>
                  <a:srgbClr val="060606"/>
                </a:solidFill>
                <a:latin typeface="楷体" panose="02010609060101010101" pitchFamily="49" charset="-122"/>
                <a:ea typeface="楷体" panose="02010609060101010101" pitchFamily="49" charset="-122"/>
              </a:rPr>
              <a:t>(L)</a:t>
            </a:r>
            <a:r>
              <a:rPr lang="zh-CN" altLang="en-US" sz="2800" dirty="0">
                <a:solidFill>
                  <a:srgbClr val="060606"/>
                </a:solidFill>
                <a:latin typeface="楷体" panose="02010609060101010101" pitchFamily="49" charset="-122"/>
                <a:ea typeface="楷体" panose="02010609060101010101" pitchFamily="49" charset="-122"/>
              </a:rPr>
              <a:t>，一部分用作购买有价债券</a:t>
            </a:r>
            <a:r>
              <a:rPr lang="en-US" altLang="zh-CN" sz="2800" dirty="0">
                <a:solidFill>
                  <a:srgbClr val="060606"/>
                </a:solidFill>
                <a:latin typeface="楷体" panose="02010609060101010101" pitchFamily="49" charset="-122"/>
                <a:ea typeface="楷体" panose="02010609060101010101" pitchFamily="49" charset="-122"/>
              </a:rPr>
              <a:t>(S)</a:t>
            </a:r>
            <a:r>
              <a:rPr lang="zh-CN" altLang="en-US" sz="2800" dirty="0">
                <a:solidFill>
                  <a:srgbClr val="060606"/>
                </a:solidFill>
                <a:latin typeface="楷体" panose="02010609060101010101" pitchFamily="49" charset="-122"/>
                <a:ea typeface="楷体" panose="02010609060101010101" pitchFamily="49" charset="-122"/>
              </a:rPr>
              <a:t>。贷款可获取高利率，债券利率虽然低，但可交易，在任何时候银行可将债券出售而获取快速变现能力。银行希望</a:t>
            </a:r>
            <a:r>
              <a:rPr lang="en-US" altLang="zh-CN" sz="2800" dirty="0">
                <a:solidFill>
                  <a:srgbClr val="060606"/>
                </a:solidFill>
                <a:latin typeface="楷体" panose="02010609060101010101" pitchFamily="49" charset="-122"/>
                <a:ea typeface="楷体" panose="02010609060101010101" pitchFamily="49" charset="-122"/>
              </a:rPr>
              <a:t>,</a:t>
            </a:r>
            <a:r>
              <a:rPr lang="zh-CN" altLang="en-US" sz="2800" dirty="0">
                <a:solidFill>
                  <a:srgbClr val="060606"/>
                </a:solidFill>
                <a:latin typeface="楷体" panose="02010609060101010101" pitchFamily="49" charset="-122"/>
                <a:ea typeface="楷体" panose="02010609060101010101" pitchFamily="49" charset="-122"/>
              </a:rPr>
              <a:t>至少有</a:t>
            </a:r>
            <a:r>
              <a:rPr lang="en-US" altLang="zh-CN" sz="2800" dirty="0">
                <a:solidFill>
                  <a:srgbClr val="060606"/>
                </a:solidFill>
                <a:latin typeface="楷体" panose="02010609060101010101" pitchFamily="49" charset="-122"/>
                <a:ea typeface="楷体" panose="02010609060101010101" pitchFamily="49" charset="-122"/>
              </a:rPr>
              <a:t>25%</a:t>
            </a:r>
            <a:r>
              <a:rPr lang="zh-CN" altLang="en-US" sz="2800" dirty="0">
                <a:solidFill>
                  <a:srgbClr val="060606"/>
                </a:solidFill>
                <a:latin typeface="楷体" panose="02010609060101010101" pitchFamily="49" charset="-122"/>
                <a:ea typeface="楷体" panose="02010609060101010101" pitchFamily="49" charset="-122"/>
              </a:rPr>
              <a:t>的投资资金</a:t>
            </a:r>
            <a:r>
              <a:rPr lang="en-US" altLang="zh-CN" sz="2800" dirty="0">
                <a:solidFill>
                  <a:srgbClr val="060606"/>
                </a:solidFill>
                <a:latin typeface="楷体" panose="02010609060101010101" pitchFamily="49" charset="-122"/>
                <a:ea typeface="楷体" panose="02010609060101010101" pitchFamily="49" charset="-122"/>
              </a:rPr>
              <a:t>(S+L)</a:t>
            </a:r>
            <a:r>
              <a:rPr lang="zh-CN" altLang="en-US" sz="2800" dirty="0">
                <a:solidFill>
                  <a:srgbClr val="060606"/>
                </a:solidFill>
                <a:latin typeface="楷体" panose="02010609060101010101" pitchFamily="49" charset="-122"/>
                <a:ea typeface="楷体" panose="02010609060101010101" pitchFamily="49" charset="-122"/>
              </a:rPr>
              <a:t>具有灵活变现能力。银行还希望</a:t>
            </a:r>
            <a:r>
              <a:rPr lang="en-US" altLang="zh-CN" sz="2800" dirty="0">
                <a:solidFill>
                  <a:srgbClr val="060606"/>
                </a:solidFill>
                <a:latin typeface="楷体" panose="02010609060101010101" pitchFamily="49" charset="-122"/>
                <a:ea typeface="楷体" panose="02010609060101010101" pitchFamily="49" charset="-122"/>
              </a:rPr>
              <a:t>,</a:t>
            </a:r>
            <a:r>
              <a:rPr lang="zh-CN" altLang="en-US" sz="2800" dirty="0">
                <a:solidFill>
                  <a:srgbClr val="060606"/>
                </a:solidFill>
                <a:latin typeface="楷体" panose="02010609060101010101" pitchFamily="49" charset="-122"/>
                <a:ea typeface="楷体" panose="02010609060101010101" pitchFamily="49" charset="-122"/>
              </a:rPr>
              <a:t>使其有信用的老贷款户能随时贷到款，因此，留给贷款部分不低于</a:t>
            </a:r>
            <a:r>
              <a:rPr lang="en-US" altLang="zh-CN" sz="2800" dirty="0">
                <a:solidFill>
                  <a:srgbClr val="060606"/>
                </a:solidFill>
                <a:latin typeface="楷体" panose="02010609060101010101" pitchFamily="49" charset="-122"/>
                <a:ea typeface="楷体" panose="02010609060101010101" pitchFamily="49" charset="-122"/>
              </a:rPr>
              <a:t>30</a:t>
            </a:r>
            <a:r>
              <a:rPr lang="zh-CN" altLang="en-US" sz="2800" dirty="0">
                <a:solidFill>
                  <a:srgbClr val="060606"/>
                </a:solidFill>
                <a:latin typeface="楷体" panose="02010609060101010101" pitchFamily="49" charset="-122"/>
                <a:ea typeface="楷体" panose="02010609060101010101" pitchFamily="49" charset="-122"/>
              </a:rPr>
              <a:t>万元。当然，银行的目标是希望利润取最大值。银行该如何决策？</a:t>
            </a:r>
            <a:endParaRPr lang="zh-CN" altLang="en-US" sz="2800" dirty="0">
              <a:latin typeface="楷体" panose="02010609060101010101" pitchFamily="49" charset="-122"/>
              <a:ea typeface="楷体" panose="02010609060101010101" pitchFamily="49" charset="-122"/>
            </a:endParaRPr>
          </a:p>
        </p:txBody>
      </p:sp>
      <p:sp>
        <p:nvSpPr>
          <p:cNvPr id="19" name="矩形: 折角 18"/>
          <p:cNvSpPr/>
          <p:nvPr/>
        </p:nvSpPr>
        <p:spPr>
          <a:xfrm flipV="1">
            <a:off x="141515" y="649008"/>
            <a:ext cx="11895642" cy="2739962"/>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20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down)">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wipe(down)">
                                      <p:cBhvr>
                                        <p:cTn id="27" dur="5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animEffect transition="in" filter="wipe(down)">
                                      <p:cBhvr>
                                        <p:cTn id="32" dur="500"/>
                                        <p:tgtEl>
                                          <p:spTgt spid="1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Effect transition="in" filter="wipe(down)">
                                      <p:cBhvr>
                                        <p:cTn id="37" dur="500"/>
                                        <p:tgtEl>
                                          <p:spTgt spid="1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xEl>
                                              <p:pRg st="0" end="0"/>
                                            </p:txEl>
                                          </p:spTgt>
                                        </p:tgtEl>
                                        <p:attrNameLst>
                                          <p:attrName>style.visibility</p:attrName>
                                        </p:attrNameLst>
                                      </p:cBhvr>
                                      <p:to>
                                        <p:strVal val="visible"/>
                                      </p:to>
                                    </p:set>
                                    <p:animEffect transition="in" filter="fade">
                                      <p:cBhvr>
                                        <p:cTn id="42" dur="2000"/>
                                        <p:tgtEl>
                                          <p:spTgt spid="1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5">
                                            <p:txEl>
                                              <p:pRg st="0" end="0"/>
                                            </p:txEl>
                                          </p:spTgt>
                                        </p:tgtEl>
                                        <p:attrNameLst>
                                          <p:attrName>style.visibility</p:attrName>
                                        </p:attrNameLst>
                                      </p:cBhvr>
                                      <p:to>
                                        <p:strVal val="visible"/>
                                      </p:to>
                                    </p:set>
                                    <p:animEffect transition="in" filter="wipe(down)">
                                      <p:cBhvr>
                                        <p:cTn id="47" dur="500"/>
                                        <p:tgtEl>
                                          <p:spTgt spid="1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6">
                                            <p:txEl>
                                              <p:pRg st="0" end="0"/>
                                            </p:txEl>
                                          </p:spTgt>
                                        </p:tgtEl>
                                        <p:attrNameLst>
                                          <p:attrName>style.visibility</p:attrName>
                                        </p:attrNameLst>
                                      </p:cBhvr>
                                      <p:to>
                                        <p:strVal val="visible"/>
                                      </p:to>
                                    </p:set>
                                    <p:animEffect transition="in" filter="fade">
                                      <p:cBhvr>
                                        <p:cTn id="52" dur="20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P spid="8" grpId="0" build="allAtOnce"/>
      <p:bldP spid="9" grpId="0" build="allAtOnce"/>
      <p:bldP spid="10" grpId="0" build="allAtOnce"/>
      <p:bldP spid="13" grpId="0" build="allAtOnce"/>
      <p:bldP spid="14" grpId="0" build="allAtOnce"/>
      <p:bldP spid="15" grpId="0" build="allAtOnce"/>
      <p:bldP spid="16"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5814" y="349264"/>
            <a:ext cx="11680372" cy="864096"/>
          </a:xfrm>
        </p:spPr>
        <p:txBody>
          <a:bodyPr/>
          <a:lstStyle/>
          <a:p>
            <a:pPr>
              <a:buNone/>
            </a:pPr>
            <a:r>
              <a:rPr lang="zh-CN" altLang="en-US" sz="2400" dirty="0">
                <a:solidFill>
                  <a:srgbClr val="060606"/>
                </a:solidFill>
                <a:latin typeface="楷体" panose="02010609060101010101" pitchFamily="49" charset="-122"/>
                <a:ea typeface="楷体" panose="02010609060101010101" pitchFamily="49" charset="-122"/>
              </a:rPr>
              <a:t>银行还希望</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使其有信用的老贷款户能随时贷到款，因此，留给贷款部分不低于</a:t>
            </a:r>
            <a:r>
              <a:rPr lang="en-US" altLang="zh-CN" sz="2400" dirty="0">
                <a:solidFill>
                  <a:srgbClr val="060606"/>
                </a:solidFill>
                <a:latin typeface="楷体" panose="02010609060101010101" pitchFamily="49" charset="-122"/>
                <a:ea typeface="楷体" panose="02010609060101010101" pitchFamily="49" charset="-122"/>
              </a:rPr>
              <a:t>30</a:t>
            </a:r>
            <a:r>
              <a:rPr lang="zh-CN" altLang="en-US" sz="2400" dirty="0">
                <a:solidFill>
                  <a:srgbClr val="060606"/>
                </a:solidFill>
                <a:latin typeface="楷体" panose="02010609060101010101" pitchFamily="49" charset="-122"/>
                <a:ea typeface="楷体" panose="02010609060101010101" pitchFamily="49" charset="-122"/>
              </a:rPr>
              <a:t>万元，即：</a:t>
            </a:r>
            <a:endParaRPr lang="en-US" altLang="zh-CN" sz="2400" dirty="0">
              <a:solidFill>
                <a:srgbClr val="060606"/>
              </a:solidFill>
              <a:latin typeface="楷体" panose="02010609060101010101" pitchFamily="49" charset="-122"/>
              <a:ea typeface="楷体" panose="02010609060101010101" pitchFamily="49" charset="-122"/>
            </a:endParaRPr>
          </a:p>
          <a:p>
            <a:pPr>
              <a:buNone/>
            </a:pP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15" name="矩形 14"/>
          <p:cNvSpPr/>
          <p:nvPr/>
        </p:nvSpPr>
        <p:spPr>
          <a:xfrm>
            <a:off x="5140393" y="813483"/>
            <a:ext cx="1351652" cy="461665"/>
          </a:xfrm>
          <a:prstGeom prst="rect">
            <a:avLst/>
          </a:prstGeom>
        </p:spPr>
        <p:txBody>
          <a:bodyPr wrap="none">
            <a:spAutoFit/>
          </a:bodyPr>
          <a:lstStyle/>
          <a:p>
            <a:r>
              <a:rPr lang="en-US" altLang="zh-CN" sz="2400" dirty="0">
                <a:solidFill>
                  <a:srgbClr val="060606"/>
                </a:solidFill>
              </a:rPr>
              <a:t>L ≥30</a:t>
            </a:r>
            <a:r>
              <a:rPr lang="zh-CN" altLang="en-US" sz="2400" dirty="0">
                <a:solidFill>
                  <a:srgbClr val="060606"/>
                </a:solidFill>
              </a:rPr>
              <a:t>。</a:t>
            </a:r>
            <a:endParaRPr lang="zh-CN" altLang="en-US" dirty="0"/>
          </a:p>
        </p:txBody>
      </p:sp>
      <p:sp>
        <p:nvSpPr>
          <p:cNvPr id="16" name="矩形 15"/>
          <p:cNvSpPr/>
          <p:nvPr/>
        </p:nvSpPr>
        <p:spPr>
          <a:xfrm>
            <a:off x="255814" y="1493568"/>
            <a:ext cx="5544616" cy="461665"/>
          </a:xfrm>
          <a:prstGeom prst="rect">
            <a:avLst/>
          </a:prstGeom>
        </p:spPr>
        <p:txBody>
          <a:bodyPr wrap="square">
            <a:spAutoFit/>
          </a:bodyPr>
          <a:lstStyle/>
          <a:p>
            <a:r>
              <a:rPr lang="zh-CN" altLang="en-US" sz="2400" dirty="0">
                <a:solidFill>
                  <a:srgbClr val="060606"/>
                </a:solidFill>
                <a:latin typeface="楷体" panose="02010609060101010101" pitchFamily="49" charset="-122"/>
                <a:ea typeface="楷体" panose="02010609060101010101" pitchFamily="49" charset="-122"/>
              </a:rPr>
              <a:t>当然，上述中的</a:t>
            </a:r>
            <a:r>
              <a:rPr lang="en-US" altLang="zh-CN" sz="2400" dirty="0">
                <a:solidFill>
                  <a:srgbClr val="060606"/>
                </a:solidFill>
                <a:latin typeface="楷体" panose="02010609060101010101" pitchFamily="49" charset="-122"/>
                <a:ea typeface="楷体" panose="02010609060101010101" pitchFamily="49" charset="-122"/>
              </a:rPr>
              <a:t>L</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S</a:t>
            </a:r>
            <a:r>
              <a:rPr lang="zh-CN" altLang="en-US" sz="2400" dirty="0">
                <a:solidFill>
                  <a:srgbClr val="060606"/>
                </a:solidFill>
                <a:latin typeface="楷体" panose="02010609060101010101" pitchFamily="49" charset="-122"/>
                <a:ea typeface="楷体" panose="02010609060101010101" pitchFamily="49" charset="-122"/>
              </a:rPr>
              <a:t>都不会为负数，即：</a:t>
            </a:r>
            <a:endParaRPr lang="zh-CN" altLang="en-US" dirty="0">
              <a:latin typeface="楷体" panose="02010609060101010101" pitchFamily="49" charset="-122"/>
              <a:ea typeface="楷体" panose="02010609060101010101" pitchFamily="49" charset="-122"/>
            </a:endParaRPr>
          </a:p>
        </p:txBody>
      </p:sp>
      <p:sp>
        <p:nvSpPr>
          <p:cNvPr id="17" name="矩形 16"/>
          <p:cNvSpPr/>
          <p:nvPr/>
        </p:nvSpPr>
        <p:spPr>
          <a:xfrm>
            <a:off x="7525282" y="1484785"/>
            <a:ext cx="1877437" cy="461665"/>
          </a:xfrm>
          <a:prstGeom prst="rect">
            <a:avLst/>
          </a:prstGeom>
        </p:spPr>
        <p:txBody>
          <a:bodyPr wrap="none">
            <a:spAutoFit/>
          </a:bodyPr>
          <a:lstStyle/>
          <a:p>
            <a:r>
              <a:rPr lang="en-US" altLang="zh-CN" sz="2400" dirty="0">
                <a:solidFill>
                  <a:srgbClr val="060606"/>
                </a:solidFill>
                <a:latin typeface="楷体" panose="02010609060101010101" pitchFamily="49" charset="-122"/>
                <a:ea typeface="楷体" panose="02010609060101010101" pitchFamily="49" charset="-122"/>
              </a:rPr>
              <a:t>L ≥0</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S≥0</a:t>
            </a:r>
            <a:endParaRPr lang="zh-CN" altLang="en-US" dirty="0">
              <a:latin typeface="楷体" panose="02010609060101010101" pitchFamily="49" charset="-122"/>
              <a:ea typeface="楷体" panose="02010609060101010101" pitchFamily="49" charset="-122"/>
            </a:endParaRPr>
          </a:p>
        </p:txBody>
      </p:sp>
      <p:sp>
        <p:nvSpPr>
          <p:cNvPr id="18" name="矩形 17"/>
          <p:cNvSpPr/>
          <p:nvPr/>
        </p:nvSpPr>
        <p:spPr>
          <a:xfrm>
            <a:off x="255814" y="2286719"/>
            <a:ext cx="7992888" cy="448969"/>
          </a:xfrm>
          <a:prstGeom prst="rect">
            <a:avLst/>
          </a:prstGeom>
        </p:spPr>
        <p:txBody>
          <a:bodyPr wrap="square">
            <a:spAutoFit/>
          </a:bodyPr>
          <a:lstStyle/>
          <a:p>
            <a:pPr marL="342900" indent="-342900" fontAlgn="base">
              <a:lnSpc>
                <a:spcPct val="110000"/>
              </a:lnSpc>
              <a:spcBef>
                <a:spcPts val="1800"/>
              </a:spcBef>
              <a:spcAft>
                <a:spcPct val="0"/>
              </a:spcAft>
            </a:pPr>
            <a:r>
              <a:rPr lang="zh-CN" altLang="en-US" sz="2400" dirty="0">
                <a:solidFill>
                  <a:srgbClr val="060606"/>
                </a:solidFill>
                <a:latin typeface="楷体" panose="02010609060101010101" pitchFamily="49" charset="-122"/>
                <a:ea typeface="楷体" panose="02010609060101010101" pitchFamily="49" charset="-122"/>
              </a:rPr>
              <a:t>把上述内容概括起来，我们得到一个如下形式的数学问题：</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12" name="文本框 11"/>
          <p:cNvSpPr txBox="1"/>
          <p:nvPr/>
        </p:nvSpPr>
        <p:spPr>
          <a:xfrm>
            <a:off x="101460" y="2853370"/>
            <a:ext cx="5719766" cy="1200329"/>
          </a:xfrm>
          <a:prstGeom prst="rect">
            <a:avLst/>
          </a:prstGeom>
          <a:noFill/>
        </p:spPr>
        <p:txBody>
          <a:bodyPr wrap="square" rtlCol="0">
            <a:spAutoFit/>
          </a:bodyPr>
          <a:lstStyle/>
          <a:p>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答案不重要，重要的是得到答案的那个过程</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问自己：“我是怎么得到这个数学模型👉的呢？”</a:t>
            </a:r>
            <a:endParaRPr lang="en-US" altLang="zh-CN" sz="2400" dirty="0">
              <a:latin typeface="楷体" panose="02010609060101010101" pitchFamily="49" charset="-122"/>
              <a:ea typeface="楷体" panose="02010609060101010101" pitchFamily="49" charset="-122"/>
            </a:endParaRPr>
          </a:p>
        </p:txBody>
      </p:sp>
      <p:sp>
        <p:nvSpPr>
          <p:cNvPr id="14" name="文本框 13"/>
          <p:cNvSpPr txBox="1"/>
          <p:nvPr/>
        </p:nvSpPr>
        <p:spPr>
          <a:xfrm>
            <a:off x="-23588" y="4107703"/>
            <a:ext cx="6106593" cy="2677656"/>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请你务必回忆刚才的过程，然后，使用如下概述</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术语：竞争性活动，既定目标，资源，决策，书写你的</a:t>
            </a:r>
            <a:r>
              <a:rPr lang="zh-CN" altLang="en-US" sz="2400" b="1" dirty="0">
                <a:solidFill>
                  <a:srgbClr val="0322BD"/>
                </a:solidFill>
                <a:latin typeface="楷体" panose="02010609060101010101" pitchFamily="49" charset="-122"/>
                <a:ea typeface="楷体" panose="02010609060101010101" pitchFamily="49" charset="-122"/>
              </a:rPr>
              <a:t>数学建模过程</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提示：你必然是通过分析 “用文字描述的线性规划问题”而得到的答案，但你必须把这个过程</a:t>
            </a:r>
            <a:r>
              <a:rPr lang="zh-CN" altLang="en-US" sz="2400" b="1" dirty="0">
                <a:solidFill>
                  <a:srgbClr val="0322BD"/>
                </a:solidFill>
                <a:latin typeface="楷体" panose="02010609060101010101" pitchFamily="49" charset="-122"/>
                <a:ea typeface="楷体" panose="02010609060101010101" pitchFamily="49" charset="-122"/>
              </a:rPr>
              <a:t>精确地</a:t>
            </a:r>
            <a:r>
              <a:rPr lang="zh-CN" altLang="en-US" sz="2400" dirty="0">
                <a:latin typeface="楷体" panose="02010609060101010101" pitchFamily="49" charset="-122"/>
                <a:ea typeface="楷体" panose="02010609060101010101" pitchFamily="49" charset="-122"/>
              </a:rPr>
              <a:t>揭示出来，建构在你的大脑中，并在未来检验、复用和优化它。</a:t>
            </a:r>
            <a:endParaRPr lang="en-US" altLang="zh-CN" sz="2400" dirty="0">
              <a:latin typeface="楷体" panose="02010609060101010101" pitchFamily="49" charset="-122"/>
              <a:ea typeface="楷体" panose="02010609060101010101" pitchFamily="49" charset="-122"/>
            </a:endParaRPr>
          </a:p>
        </p:txBody>
      </p:sp>
      <p:grpSp>
        <p:nvGrpSpPr>
          <p:cNvPr id="20" name="组合 19"/>
          <p:cNvGrpSpPr/>
          <p:nvPr/>
        </p:nvGrpSpPr>
        <p:grpSpPr>
          <a:xfrm>
            <a:off x="5955323" y="2970148"/>
            <a:ext cx="6091487" cy="3164927"/>
            <a:chOff x="5588000" y="2735688"/>
            <a:chExt cx="6091487" cy="3164927"/>
          </a:xfrm>
        </p:grpSpPr>
        <p:grpSp>
          <p:nvGrpSpPr>
            <p:cNvPr id="4" name="组合 3"/>
            <p:cNvGrpSpPr/>
            <p:nvPr/>
          </p:nvGrpSpPr>
          <p:grpSpPr>
            <a:xfrm>
              <a:off x="5800430" y="2888756"/>
              <a:ext cx="5879057" cy="2936428"/>
              <a:chOff x="4399803" y="3095863"/>
              <a:chExt cx="5879057" cy="2936428"/>
            </a:xfrm>
          </p:grpSpPr>
          <p:grpSp>
            <p:nvGrpSpPr>
              <p:cNvPr id="13" name="组合 12"/>
              <p:cNvGrpSpPr/>
              <p:nvPr/>
            </p:nvGrpSpPr>
            <p:grpSpPr>
              <a:xfrm>
                <a:off x="4399803" y="3095863"/>
                <a:ext cx="5879057" cy="2471078"/>
                <a:chOff x="1507650" y="3296269"/>
                <a:chExt cx="5879057" cy="2471078"/>
              </a:xfrm>
            </p:grpSpPr>
            <p:sp>
              <p:nvSpPr>
                <p:cNvPr id="5" name="矩形 4"/>
                <p:cNvSpPr/>
                <p:nvPr/>
              </p:nvSpPr>
              <p:spPr>
                <a:xfrm>
                  <a:off x="1507650" y="3296269"/>
                  <a:ext cx="4392488" cy="448969"/>
                </a:xfrm>
                <a:prstGeom prst="rect">
                  <a:avLst/>
                </a:prstGeom>
              </p:spPr>
              <p:txBody>
                <a:bodyPr wrap="square">
                  <a:spAutoFit/>
                </a:bodyPr>
                <a:lstStyle/>
                <a:p>
                  <a:pPr marL="342900" indent="-342900" algn="ctr" fontAlgn="base">
                    <a:lnSpc>
                      <a:spcPct val="110000"/>
                    </a:lnSpc>
                    <a:spcBef>
                      <a:spcPts val="1800"/>
                    </a:spcBef>
                    <a:spcAft>
                      <a:spcPct val="0"/>
                    </a:spcAft>
                  </a:pPr>
                  <a:r>
                    <a:rPr lang="en-US" altLang="zh-CN" sz="2400" dirty="0">
                      <a:solidFill>
                        <a:srgbClr val="060606"/>
                      </a:solidFill>
                      <a:latin typeface="楷体" panose="02010609060101010101" pitchFamily="49" charset="-122"/>
                      <a:ea typeface="楷体" panose="02010609060101010101" pitchFamily="49" charset="-122"/>
                    </a:rPr>
                    <a:t>max Z  = 0.10L+0.05S</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6" name="矩形 5"/>
                <p:cNvSpPr/>
                <p:nvPr/>
              </p:nvSpPr>
              <p:spPr>
                <a:xfrm>
                  <a:off x="1517005" y="4437112"/>
                  <a:ext cx="648072" cy="448969"/>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err="1">
                      <a:solidFill>
                        <a:srgbClr val="060606"/>
                      </a:solidFill>
                      <a:latin typeface="楷体" panose="02010609060101010101" pitchFamily="49" charset="-122"/>
                      <a:ea typeface="楷体" panose="02010609060101010101" pitchFamily="49" charset="-122"/>
                    </a:rPr>
                    <a:t>s.t.</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7" name="左大括号 6"/>
                <p:cNvSpPr/>
                <p:nvPr/>
              </p:nvSpPr>
              <p:spPr bwMode="auto">
                <a:xfrm>
                  <a:off x="2186331" y="4076724"/>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楷体" panose="02010609060101010101" pitchFamily="49" charset="-122"/>
                    <a:ea typeface="楷体" panose="02010609060101010101" pitchFamily="49" charset="-122"/>
                  </a:endParaRPr>
                </a:p>
              </p:txBody>
            </p:sp>
            <p:sp>
              <p:nvSpPr>
                <p:cNvPr id="8" name="矩形 7"/>
                <p:cNvSpPr/>
                <p:nvPr/>
              </p:nvSpPr>
              <p:spPr>
                <a:xfrm>
                  <a:off x="2555774" y="3861048"/>
                  <a:ext cx="4215379" cy="461665"/>
                </a:xfrm>
                <a:prstGeom prst="rect">
                  <a:avLst/>
                </a:prstGeom>
              </p:spPr>
              <p:txBody>
                <a:bodyPr wrap="square">
                  <a:spAutoFit/>
                </a:bodyPr>
                <a:lstStyle/>
                <a:p>
                  <a:r>
                    <a:rPr lang="en-US" altLang="zh-CN" sz="2400" dirty="0">
                      <a:solidFill>
                        <a:srgbClr val="060606"/>
                      </a:solidFill>
                      <a:latin typeface="楷体" panose="02010609060101010101" pitchFamily="49" charset="-122"/>
                      <a:ea typeface="楷体" panose="02010609060101010101" pitchFamily="49" charset="-122"/>
                    </a:rPr>
                    <a:t>L+S ≤100           (1)</a:t>
                  </a:r>
                  <a:endParaRPr lang="zh-CN" altLang="en-US" dirty="0">
                    <a:latin typeface="楷体" panose="02010609060101010101" pitchFamily="49" charset="-122"/>
                    <a:ea typeface="楷体" panose="02010609060101010101" pitchFamily="49" charset="-122"/>
                  </a:endParaRPr>
                </a:p>
              </p:txBody>
            </p:sp>
            <p:sp>
              <p:nvSpPr>
                <p:cNvPr id="9" name="矩形 8"/>
                <p:cNvSpPr/>
                <p:nvPr/>
              </p:nvSpPr>
              <p:spPr>
                <a:xfrm>
                  <a:off x="2645156" y="4725144"/>
                  <a:ext cx="4741551" cy="461665"/>
                </a:xfrm>
                <a:prstGeom prst="rect">
                  <a:avLst/>
                </a:prstGeom>
              </p:spPr>
              <p:txBody>
                <a:bodyPr wrap="square">
                  <a:spAutoFit/>
                </a:bodyPr>
                <a:lstStyle/>
                <a:p>
                  <a:r>
                    <a:rPr lang="en-US" altLang="zh-CN" sz="2400" dirty="0">
                      <a:solidFill>
                        <a:srgbClr val="060606"/>
                      </a:solidFill>
                      <a:latin typeface="楷体" panose="02010609060101010101" pitchFamily="49" charset="-122"/>
                      <a:ea typeface="楷体" panose="02010609060101010101" pitchFamily="49" charset="-122"/>
                    </a:rPr>
                    <a:t>L ≥30              (3)</a:t>
                  </a:r>
                  <a:endParaRPr lang="zh-CN" altLang="en-US" dirty="0">
                    <a:latin typeface="楷体" panose="02010609060101010101" pitchFamily="49" charset="-122"/>
                    <a:ea typeface="楷体" panose="02010609060101010101" pitchFamily="49" charset="-122"/>
                  </a:endParaRPr>
                </a:p>
              </p:txBody>
            </p:sp>
            <p:sp>
              <p:nvSpPr>
                <p:cNvPr id="10" name="矩形 9"/>
                <p:cNvSpPr/>
                <p:nvPr/>
              </p:nvSpPr>
              <p:spPr>
                <a:xfrm>
                  <a:off x="2670730" y="5305682"/>
                  <a:ext cx="4022272" cy="461665"/>
                </a:xfrm>
                <a:prstGeom prst="rect">
                  <a:avLst/>
                </a:prstGeom>
              </p:spPr>
              <p:txBody>
                <a:bodyPr wrap="square">
                  <a:spAutoFit/>
                </a:bodyPr>
                <a:lstStyle/>
                <a:p>
                  <a:r>
                    <a:rPr lang="en-US" altLang="zh-CN" sz="2400" dirty="0">
                      <a:solidFill>
                        <a:srgbClr val="060606"/>
                      </a:solidFill>
                      <a:latin typeface="楷体" panose="02010609060101010101" pitchFamily="49" charset="-122"/>
                      <a:ea typeface="楷体" panose="02010609060101010101" pitchFamily="49" charset="-122"/>
                    </a:rPr>
                    <a:t>L ≥0</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S≥0        (4)</a:t>
                  </a:r>
                  <a:endParaRPr lang="zh-CN" altLang="en-US" dirty="0">
                    <a:latin typeface="楷体" panose="02010609060101010101" pitchFamily="49" charset="-122"/>
                    <a:ea typeface="楷体" panose="02010609060101010101" pitchFamily="49" charset="-122"/>
                  </a:endParaRPr>
                </a:p>
              </p:txBody>
            </p:sp>
            <p:sp>
              <p:nvSpPr>
                <p:cNvPr id="11" name="矩形 10"/>
                <p:cNvSpPr/>
                <p:nvPr/>
              </p:nvSpPr>
              <p:spPr>
                <a:xfrm>
                  <a:off x="2629523" y="4293096"/>
                  <a:ext cx="4488157" cy="461665"/>
                </a:xfrm>
                <a:prstGeom prst="rect">
                  <a:avLst/>
                </a:prstGeom>
              </p:spPr>
              <p:txBody>
                <a:bodyPr wrap="square">
                  <a:spAutoFit/>
                </a:bodyPr>
                <a:lstStyle/>
                <a:p>
                  <a:r>
                    <a:rPr lang="en-US" altLang="zh-CN" sz="2400" dirty="0">
                      <a:solidFill>
                        <a:srgbClr val="060606"/>
                      </a:solidFill>
                      <a:latin typeface="楷体" panose="02010609060101010101" pitchFamily="49" charset="-122"/>
                      <a:ea typeface="楷体" panose="02010609060101010101" pitchFamily="49" charset="-122"/>
                    </a:rPr>
                    <a:t>S ≥0.25(S+L)       (2)</a:t>
                  </a:r>
                  <a:endParaRPr lang="zh-CN" altLang="en-US" sz="2400" dirty="0">
                    <a:solidFill>
                      <a:srgbClr val="060606"/>
                    </a:solidFill>
                    <a:latin typeface="楷体" panose="02010609060101010101" pitchFamily="49" charset="-122"/>
                    <a:ea typeface="楷体" panose="02010609060101010101" pitchFamily="49" charset="-122"/>
                  </a:endParaRPr>
                </a:p>
              </p:txBody>
            </p:sp>
          </p:grpSp>
          <p:sp>
            <p:nvSpPr>
              <p:cNvPr id="2" name="文本框 1"/>
              <p:cNvSpPr txBox="1"/>
              <p:nvPr/>
            </p:nvSpPr>
            <p:spPr>
              <a:xfrm>
                <a:off x="4469005" y="5570626"/>
                <a:ext cx="5540829" cy="461665"/>
              </a:xfrm>
              <a:prstGeom prst="rect">
                <a:avLst/>
              </a:prstGeom>
              <a:noFill/>
            </p:spPr>
            <p:txBody>
              <a:bodyPr wrap="square" rtlCol="0">
                <a:spAutoFit/>
              </a:bodyPr>
              <a:lstStyle/>
              <a:p>
                <a:pPr algn="ctr"/>
                <a:r>
                  <a:rPr lang="zh-CN" altLang="en-US" sz="2400" dirty="0">
                    <a:latin typeface="楷体" panose="02010609060101010101" pitchFamily="49" charset="-122"/>
                    <a:ea typeface="楷体" panose="02010609060101010101" pitchFamily="49" charset="-122"/>
                  </a:rPr>
                  <a:t>数学模型</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：银行投资问题的数学表达</a:t>
                </a:r>
                <a:endParaRPr lang="zh-CN" altLang="en-US" sz="2400" dirty="0">
                  <a:latin typeface="楷体" panose="02010609060101010101" pitchFamily="49" charset="-122"/>
                  <a:ea typeface="楷体" panose="02010609060101010101" pitchFamily="49" charset="-122"/>
                </a:endParaRPr>
              </a:p>
            </p:txBody>
          </p:sp>
        </p:grpSp>
        <p:sp>
          <p:nvSpPr>
            <p:cNvPr id="19" name="矩形: 折角 18"/>
            <p:cNvSpPr/>
            <p:nvPr/>
          </p:nvSpPr>
          <p:spPr>
            <a:xfrm flipV="1">
              <a:off x="5588000" y="2735688"/>
              <a:ext cx="6091487" cy="3164927"/>
            </a:xfrm>
            <a:prstGeom prst="foldedCorner">
              <a:avLst>
                <a:gd name="adj" fmla="val 1197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20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Effect transition="in" filter="fade">
                                      <p:cBhvr>
                                        <p:cTn id="17" dur="2000"/>
                                        <p:tgtEl>
                                          <p:spTgt spid="1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xEl>
                                              <p:pRg st="0" end="0"/>
                                            </p:txEl>
                                          </p:spTgt>
                                        </p:tgtEl>
                                        <p:attrNameLst>
                                          <p:attrName>style.visibility</p:attrName>
                                        </p:attrNameLst>
                                      </p:cBhvr>
                                      <p:to>
                                        <p:strVal val="visible"/>
                                      </p:to>
                                    </p:set>
                                    <p:animEffect transition="in" filter="fade">
                                      <p:cBhvr>
                                        <p:cTn id="22" dur="2000"/>
                                        <p:tgtEl>
                                          <p:spTgt spid="1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Effect transition="in" filter="fade">
                                      <p:cBhvr>
                                        <p:cTn id="27" dur="2000"/>
                                        <p:tgtEl>
                                          <p:spTgt spid="1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15" grpId="0" build="allAtOnce"/>
      <p:bldP spid="16" grpId="0" build="allAtOnce"/>
      <p:bldP spid="17" grpId="0" build="allAtOnce"/>
      <p:bldP spid="18" grpId="0" build="allAtOnce"/>
      <p:bldP spid="12"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0515600" cy="701644"/>
          </a:xfrm>
        </p:spPr>
        <p:txBody>
          <a:bodyPr>
            <a:normAutofit/>
          </a:bodyPr>
          <a:lstStyle/>
          <a:p>
            <a:r>
              <a:rPr lang="zh-CN" altLang="en-US" sz="3200" dirty="0">
                <a:latin typeface="楷体" panose="02010609060101010101" pitchFamily="49" charset="-122"/>
                <a:ea typeface="楷体" panose="02010609060101010101" pitchFamily="49" charset="-122"/>
              </a:rPr>
              <a:t>例</a:t>
            </a:r>
            <a:r>
              <a:rPr lang="en-US" altLang="zh-CN" sz="3200" dirty="0">
                <a:latin typeface="楷体" panose="02010609060101010101" pitchFamily="49" charset="-122"/>
                <a:ea typeface="楷体" panose="02010609060101010101" pitchFamily="49" charset="-122"/>
              </a:rPr>
              <a:t>4.</a:t>
            </a:r>
            <a:r>
              <a:rPr lang="zh-CN" altLang="en-US" sz="3200" dirty="0">
                <a:latin typeface="楷体" panose="02010609060101010101" pitchFamily="49" charset="-122"/>
                <a:ea typeface="楷体" panose="02010609060101010101" pitchFamily="49" charset="-122"/>
              </a:rPr>
              <a:t>饼干生产问题</a:t>
            </a:r>
            <a:endParaRPr lang="zh-CN" altLang="en-US" sz="3200"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17713" y="664931"/>
            <a:ext cx="11756571" cy="2938271"/>
          </a:xfrm>
        </p:spPr>
        <p:txBody>
          <a:bodyPr/>
          <a:lstStyle/>
          <a:p>
            <a:pPr>
              <a:buNone/>
            </a:pPr>
            <a:r>
              <a:rPr lang="zh-CN" altLang="en-US" sz="2400" dirty="0">
                <a:solidFill>
                  <a:srgbClr val="060606"/>
                </a:solidFill>
                <a:latin typeface="楷体" panose="02010609060101010101" pitchFamily="49" charset="-122"/>
                <a:ea typeface="楷体" panose="02010609060101010101" pitchFamily="49" charset="-122"/>
              </a:rPr>
              <a:t>某食品厂生产</a:t>
            </a:r>
            <a:r>
              <a:rPr lang="en-US" altLang="zh-CN" sz="2400" dirty="0">
                <a:solidFill>
                  <a:srgbClr val="060606"/>
                </a:solidFill>
                <a:latin typeface="楷体" panose="02010609060101010101" pitchFamily="49" charset="-122"/>
                <a:ea typeface="楷体" panose="02010609060101010101" pitchFamily="49" charset="-122"/>
              </a:rPr>
              <a:t>Ⅰ</a:t>
            </a:r>
            <a:r>
              <a:rPr lang="zh-CN" altLang="en-US" sz="2400" dirty="0">
                <a:solidFill>
                  <a:srgbClr val="060606"/>
                </a:solidFill>
                <a:latin typeface="楷体" panose="02010609060101010101" pitchFamily="49" charset="-122"/>
                <a:ea typeface="楷体" panose="02010609060101010101" pitchFamily="49" charset="-122"/>
              </a:rPr>
              <a:t>型和</a:t>
            </a:r>
            <a:r>
              <a:rPr lang="en-US" altLang="zh-CN" sz="2400" dirty="0">
                <a:solidFill>
                  <a:srgbClr val="060606"/>
                </a:solidFill>
                <a:latin typeface="楷体" panose="02010609060101010101" pitchFamily="49" charset="-122"/>
                <a:ea typeface="楷体" panose="02010609060101010101" pitchFamily="49" charset="-122"/>
              </a:rPr>
              <a:t>Ⅱ</a:t>
            </a:r>
            <a:r>
              <a:rPr lang="zh-CN" altLang="en-US" sz="2400" dirty="0">
                <a:solidFill>
                  <a:srgbClr val="060606"/>
                </a:solidFill>
                <a:latin typeface="楷体" panose="02010609060101010101" pitchFamily="49" charset="-122"/>
                <a:ea typeface="楷体" panose="02010609060101010101" pitchFamily="49" charset="-122"/>
              </a:rPr>
              <a:t>型两种饼干。在每种饼干的生产过程中，都需使用搅拌机</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记为</a:t>
            </a:r>
            <a:r>
              <a:rPr lang="en-US" altLang="zh-CN" sz="2400" dirty="0">
                <a:solidFill>
                  <a:srgbClr val="060606"/>
                </a:solidFill>
                <a:latin typeface="楷体" panose="02010609060101010101" pitchFamily="49" charset="-122"/>
                <a:ea typeface="楷体" panose="02010609060101010101" pitchFamily="49" charset="-122"/>
              </a:rPr>
              <a:t>A)</a:t>
            </a:r>
            <a:r>
              <a:rPr lang="zh-CN" altLang="en-US" sz="2400" dirty="0">
                <a:solidFill>
                  <a:srgbClr val="060606"/>
                </a:solidFill>
                <a:latin typeface="楷体" panose="02010609060101010101" pitchFamily="49" charset="-122"/>
                <a:ea typeface="楷体" panose="02010609060101010101" pitchFamily="49" charset="-122"/>
              </a:rPr>
              <a:t>、成型机</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记作</a:t>
            </a:r>
            <a:r>
              <a:rPr lang="en-US" altLang="zh-CN" sz="2400" dirty="0">
                <a:solidFill>
                  <a:srgbClr val="060606"/>
                </a:solidFill>
                <a:latin typeface="楷体" panose="02010609060101010101" pitchFamily="49" charset="-122"/>
                <a:ea typeface="楷体" panose="02010609060101010101" pitchFamily="49" charset="-122"/>
              </a:rPr>
              <a:t>B)</a:t>
            </a:r>
            <a:r>
              <a:rPr lang="zh-CN" altLang="en-US" sz="2400" dirty="0">
                <a:solidFill>
                  <a:srgbClr val="060606"/>
                </a:solidFill>
                <a:latin typeface="楷体" panose="02010609060101010101" pitchFamily="49" charset="-122"/>
                <a:ea typeface="楷体" panose="02010609060101010101" pitchFamily="49" charset="-122"/>
              </a:rPr>
              <a:t>和烘箱</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记作</a:t>
            </a:r>
            <a:r>
              <a:rPr lang="en-US" altLang="zh-CN" sz="2400" dirty="0">
                <a:solidFill>
                  <a:srgbClr val="060606"/>
                </a:solidFill>
                <a:latin typeface="楷体" panose="02010609060101010101" pitchFamily="49" charset="-122"/>
                <a:ea typeface="楷体" panose="02010609060101010101" pitchFamily="49" charset="-122"/>
              </a:rPr>
              <a:t>C)</a:t>
            </a:r>
            <a:r>
              <a:rPr lang="zh-CN" altLang="en-US" sz="2400" dirty="0">
                <a:solidFill>
                  <a:srgbClr val="060606"/>
                </a:solidFill>
                <a:latin typeface="楷体" panose="02010609060101010101" pitchFamily="49" charset="-122"/>
                <a:ea typeface="楷体" panose="02010609060101010101" pitchFamily="49" charset="-122"/>
              </a:rPr>
              <a:t>三种设备。</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已知每生产</a:t>
            </a:r>
            <a:r>
              <a:rPr lang="en-US" altLang="zh-CN" sz="24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吨</a:t>
            </a:r>
            <a:r>
              <a:rPr lang="en-US" altLang="zh-CN" sz="2400" dirty="0">
                <a:solidFill>
                  <a:srgbClr val="060606"/>
                </a:solidFill>
                <a:latin typeface="楷体" panose="02010609060101010101" pitchFamily="49" charset="-122"/>
                <a:ea typeface="楷体" panose="02010609060101010101" pitchFamily="49" charset="-122"/>
              </a:rPr>
              <a:t>Ⅰ</a:t>
            </a:r>
            <a:r>
              <a:rPr lang="zh-CN" altLang="en-US" sz="2400" dirty="0">
                <a:solidFill>
                  <a:srgbClr val="060606"/>
                </a:solidFill>
                <a:latin typeface="楷体" panose="02010609060101010101" pitchFamily="49" charset="-122"/>
                <a:ea typeface="楷体" panose="02010609060101010101" pitchFamily="49" charset="-122"/>
              </a:rPr>
              <a:t>型饼干需要在</a:t>
            </a:r>
            <a:r>
              <a:rPr lang="en-US" altLang="zh-CN" sz="2400" dirty="0">
                <a:solidFill>
                  <a:srgbClr val="060606"/>
                </a:solidFill>
                <a:latin typeface="楷体" panose="02010609060101010101" pitchFamily="49" charset="-122"/>
                <a:ea typeface="楷体" panose="02010609060101010101" pitchFamily="49" charset="-122"/>
              </a:rPr>
              <a:t>A</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B</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C</a:t>
            </a:r>
            <a:r>
              <a:rPr lang="zh-CN" altLang="en-US" sz="2400" dirty="0">
                <a:solidFill>
                  <a:srgbClr val="060606"/>
                </a:solidFill>
                <a:latin typeface="楷体" panose="02010609060101010101" pitchFamily="49" charset="-122"/>
                <a:ea typeface="楷体" panose="02010609060101010101" pitchFamily="49" charset="-122"/>
              </a:rPr>
              <a:t>上工作的时间分别为</a:t>
            </a:r>
            <a:r>
              <a:rPr lang="en-US" altLang="zh-CN" sz="2400" dirty="0">
                <a:solidFill>
                  <a:srgbClr val="060606"/>
                </a:solidFill>
                <a:latin typeface="楷体" panose="02010609060101010101" pitchFamily="49" charset="-122"/>
                <a:ea typeface="楷体" panose="02010609060101010101" pitchFamily="49" charset="-122"/>
              </a:rPr>
              <a:t>3</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4</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4</a:t>
            </a:r>
            <a:r>
              <a:rPr lang="zh-CN" altLang="en-US" sz="2400" dirty="0">
                <a:solidFill>
                  <a:srgbClr val="060606"/>
                </a:solidFill>
                <a:latin typeface="楷体" panose="02010609060101010101" pitchFamily="49" charset="-122"/>
                <a:ea typeface="楷体" panose="02010609060101010101" pitchFamily="49" charset="-122"/>
              </a:rPr>
              <a:t>小时。而对于</a:t>
            </a:r>
            <a:r>
              <a:rPr lang="en-US" altLang="zh-CN" sz="2400" dirty="0">
                <a:solidFill>
                  <a:srgbClr val="060606"/>
                </a:solidFill>
                <a:latin typeface="楷体" panose="02010609060101010101" pitchFamily="49" charset="-122"/>
                <a:ea typeface="楷体" panose="02010609060101010101" pitchFamily="49" charset="-122"/>
              </a:rPr>
              <a:t>Ⅱ</a:t>
            </a:r>
            <a:r>
              <a:rPr lang="zh-CN" altLang="en-US" sz="2400" dirty="0">
                <a:solidFill>
                  <a:srgbClr val="060606"/>
                </a:solidFill>
                <a:latin typeface="楷体" panose="02010609060101010101" pitchFamily="49" charset="-122"/>
                <a:ea typeface="楷体" panose="02010609060101010101" pitchFamily="49" charset="-122"/>
              </a:rPr>
              <a:t>型饼干而言，相应的时间为</a:t>
            </a:r>
            <a:r>
              <a:rPr lang="en-US" altLang="zh-CN" sz="2400" dirty="0">
                <a:solidFill>
                  <a:srgbClr val="060606"/>
                </a:solidFill>
                <a:latin typeface="楷体" panose="02010609060101010101" pitchFamily="49" charset="-122"/>
                <a:ea typeface="楷体" panose="02010609060101010101" pitchFamily="49" charset="-122"/>
              </a:rPr>
              <a:t>5</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4</a:t>
            </a:r>
            <a:r>
              <a:rPr lang="zh-CN" altLang="en-US" sz="2400" dirty="0">
                <a:solidFill>
                  <a:srgbClr val="060606"/>
                </a:solidFill>
                <a:latin typeface="楷体" panose="02010609060101010101" pitchFamily="49" charset="-122"/>
                <a:ea typeface="楷体" panose="02010609060101010101" pitchFamily="49" charset="-122"/>
              </a:rPr>
              <a:t>小时。</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每生产</a:t>
            </a:r>
            <a:r>
              <a:rPr lang="en-US" altLang="zh-CN" sz="24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吨</a:t>
            </a:r>
            <a:r>
              <a:rPr lang="en-US" altLang="zh-CN" sz="2400" dirty="0">
                <a:solidFill>
                  <a:srgbClr val="060606"/>
                </a:solidFill>
                <a:latin typeface="楷体" panose="02010609060101010101" pitchFamily="49" charset="-122"/>
                <a:ea typeface="楷体" panose="02010609060101010101" pitchFamily="49" charset="-122"/>
              </a:rPr>
              <a:t>Ⅰ</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Ⅱ</a:t>
            </a:r>
            <a:r>
              <a:rPr lang="zh-CN" altLang="en-US" sz="2400" dirty="0">
                <a:solidFill>
                  <a:srgbClr val="060606"/>
                </a:solidFill>
                <a:latin typeface="楷体" panose="02010609060101010101" pitchFamily="49" charset="-122"/>
                <a:ea typeface="楷体" panose="02010609060101010101" pitchFamily="49" charset="-122"/>
              </a:rPr>
              <a:t>型饼干可分别获得利润</a:t>
            </a:r>
            <a:r>
              <a:rPr lang="en-US" altLang="zh-CN" sz="2400" dirty="0">
                <a:solidFill>
                  <a:srgbClr val="060606"/>
                </a:solidFill>
                <a:latin typeface="楷体" panose="02010609060101010101" pitchFamily="49" charset="-122"/>
                <a:ea typeface="楷体" panose="02010609060101010101" pitchFamily="49" charset="-122"/>
              </a:rPr>
              <a:t>5</a:t>
            </a:r>
            <a:r>
              <a:rPr lang="zh-CN" altLang="en-US" sz="2400" dirty="0">
                <a:solidFill>
                  <a:srgbClr val="060606"/>
                </a:solidFill>
                <a:latin typeface="楷体" panose="02010609060101010101" pitchFamily="49" charset="-122"/>
                <a:ea typeface="楷体" panose="02010609060101010101" pitchFamily="49" charset="-122"/>
              </a:rPr>
              <a:t>百元和</a:t>
            </a:r>
            <a:r>
              <a:rPr lang="en-US" altLang="zh-CN" sz="2400" dirty="0">
                <a:solidFill>
                  <a:srgbClr val="060606"/>
                </a:solidFill>
                <a:latin typeface="楷体" panose="02010609060101010101" pitchFamily="49" charset="-122"/>
                <a:ea typeface="楷体" panose="02010609060101010101" pitchFamily="49" charset="-122"/>
              </a:rPr>
              <a:t>4</a:t>
            </a:r>
            <a:r>
              <a:rPr lang="zh-CN" altLang="en-US" sz="2400" dirty="0">
                <a:solidFill>
                  <a:srgbClr val="060606"/>
                </a:solidFill>
                <a:latin typeface="楷体" panose="02010609060101010101" pitchFamily="49" charset="-122"/>
                <a:ea typeface="楷体" panose="02010609060101010101" pitchFamily="49" charset="-122"/>
              </a:rPr>
              <a:t>百元。</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这些饼干在市场上都很畅销，但由于各种条件限制，</a:t>
            </a:r>
            <a:r>
              <a:rPr lang="en-US" altLang="zh-CN" sz="2400" dirty="0">
                <a:solidFill>
                  <a:srgbClr val="060606"/>
                </a:solidFill>
                <a:latin typeface="楷体" panose="02010609060101010101" pitchFamily="49" charset="-122"/>
                <a:ea typeface="楷体" panose="02010609060101010101" pitchFamily="49" charset="-122"/>
              </a:rPr>
              <a:t>A</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B</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C</a:t>
            </a:r>
            <a:r>
              <a:rPr lang="zh-CN" altLang="en-US" sz="2400" dirty="0">
                <a:solidFill>
                  <a:srgbClr val="060606"/>
                </a:solidFill>
                <a:latin typeface="楷体" panose="02010609060101010101" pitchFamily="49" charset="-122"/>
                <a:ea typeface="楷体" panose="02010609060101010101" pitchFamily="49" charset="-122"/>
              </a:rPr>
              <a:t>每天可利用的工时分别不能超过</a:t>
            </a:r>
            <a:r>
              <a:rPr lang="en-US" altLang="zh-CN" sz="2400" dirty="0">
                <a:solidFill>
                  <a:srgbClr val="060606"/>
                </a:solidFill>
                <a:latin typeface="楷体" panose="02010609060101010101" pitchFamily="49" charset="-122"/>
                <a:ea typeface="楷体" panose="02010609060101010101" pitchFamily="49" charset="-122"/>
              </a:rPr>
              <a:t>15</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10</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22</a:t>
            </a:r>
            <a:r>
              <a:rPr lang="zh-CN" altLang="en-US" sz="2400" dirty="0">
                <a:solidFill>
                  <a:srgbClr val="060606"/>
                </a:solidFill>
                <a:latin typeface="楷体" panose="02010609060101010101" pitchFamily="49" charset="-122"/>
                <a:ea typeface="楷体" panose="02010609060101010101" pitchFamily="49" charset="-122"/>
              </a:rPr>
              <a:t>小时。</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5" name="内容占位符 2"/>
          <p:cNvSpPr txBox="1"/>
          <p:nvPr/>
        </p:nvSpPr>
        <p:spPr>
          <a:xfrm>
            <a:off x="217714" y="3451659"/>
            <a:ext cx="8229600" cy="576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Arial" panose="020B0604020202090204" pitchFamily="34" charset="0"/>
              <a:buNone/>
            </a:pPr>
            <a:r>
              <a:rPr lang="zh-CN" altLang="en-US" sz="2400" dirty="0">
                <a:solidFill>
                  <a:srgbClr val="060606"/>
                </a:solidFill>
                <a:latin typeface="楷体" panose="02010609060101010101" pitchFamily="49" charset="-122"/>
                <a:ea typeface="楷体" panose="02010609060101010101" pitchFamily="49" charset="-122"/>
              </a:rPr>
              <a:t>用表格表述上述情况如下：</a:t>
            </a:r>
            <a:endParaRPr lang="en-US" altLang="zh-CN" sz="2400" dirty="0">
              <a:solidFill>
                <a:srgbClr val="060606"/>
              </a:solidFill>
              <a:latin typeface="楷体" panose="02010609060101010101" pitchFamily="49" charset="-122"/>
              <a:ea typeface="楷体" panose="02010609060101010101" pitchFamily="49" charset="-122"/>
            </a:endParaRPr>
          </a:p>
        </p:txBody>
      </p:sp>
      <p:graphicFrame>
        <p:nvGraphicFramePr>
          <p:cNvPr id="6" name="表格 5"/>
          <p:cNvGraphicFramePr>
            <a:graphicFrameLocks noGrp="1"/>
          </p:cNvGraphicFramePr>
          <p:nvPr/>
        </p:nvGraphicFramePr>
        <p:xfrm>
          <a:off x="3940628" y="3391359"/>
          <a:ext cx="7920880" cy="2473960"/>
        </p:xfrm>
        <a:graphic>
          <a:graphicData uri="http://schemas.openxmlformats.org/drawingml/2006/table">
            <a:tbl>
              <a:tblPr firstRow="1" bandRow="1">
                <a:tableStyleId>{073A0DAA-6AF3-43AB-8588-CEC1D06C72B9}</a:tableStyleId>
              </a:tblPr>
              <a:tblGrid>
                <a:gridCol w="2088232"/>
                <a:gridCol w="1656184"/>
                <a:gridCol w="1656184"/>
                <a:gridCol w="2520280"/>
              </a:tblGrid>
              <a:tr h="370840">
                <a:tc>
                  <a:txBody>
                    <a:bodyPr/>
                    <a:lstStyle/>
                    <a:p>
                      <a:pPr lvl="0" algn="r"/>
                      <a:r>
                        <a:rPr lang="zh-CN" altLang="en-US" dirty="0">
                          <a:ln w="3175">
                            <a:solidFill>
                              <a:srgbClr val="060606"/>
                            </a:solidFill>
                          </a:ln>
                          <a:solidFill>
                            <a:srgbClr val="060606"/>
                          </a:solidFill>
                        </a:rPr>
                        <a:t>产品</a:t>
                      </a:r>
                      <a:endParaRPr lang="en-US" altLang="zh-CN" dirty="0">
                        <a:ln w="3175">
                          <a:solidFill>
                            <a:srgbClr val="060606"/>
                          </a:solidFill>
                        </a:ln>
                        <a:solidFill>
                          <a:srgbClr val="060606"/>
                        </a:solidFill>
                      </a:endParaRPr>
                    </a:p>
                    <a:p>
                      <a:r>
                        <a:rPr lang="zh-CN" altLang="en-US" dirty="0">
                          <a:ln w="3175">
                            <a:solidFill>
                              <a:srgbClr val="060606"/>
                            </a:solidFill>
                          </a:ln>
                          <a:solidFill>
                            <a:srgbClr val="060606"/>
                          </a:solidFill>
                        </a:rPr>
                        <a:t>单位耗时</a:t>
                      </a:r>
                      <a:endParaRPr lang="en-US" altLang="zh-CN" dirty="0">
                        <a:ln w="3175">
                          <a:solidFill>
                            <a:srgbClr val="060606"/>
                          </a:solidFill>
                        </a:ln>
                        <a:solidFill>
                          <a:srgbClr val="060606"/>
                        </a:solidFill>
                      </a:endParaRPr>
                    </a:p>
                    <a:p>
                      <a:endParaRPr lang="en-US" altLang="zh-CN" dirty="0">
                        <a:ln w="3175">
                          <a:solidFill>
                            <a:srgbClr val="060606"/>
                          </a:solidFill>
                        </a:ln>
                        <a:solidFill>
                          <a:srgbClr val="060606"/>
                        </a:solidFill>
                      </a:endParaRPr>
                    </a:p>
                    <a:p>
                      <a:r>
                        <a:rPr lang="zh-CN" altLang="en-US" dirty="0">
                          <a:ln w="3175">
                            <a:solidFill>
                              <a:srgbClr val="060606"/>
                            </a:solidFill>
                          </a:ln>
                          <a:solidFill>
                            <a:srgbClr val="060606"/>
                          </a:solidFill>
                        </a:rPr>
                        <a:t>资源</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060606"/>
                          </a:solidFill>
                        </a:rPr>
                        <a:t>Ⅰ</a:t>
                      </a:r>
                      <a:r>
                        <a:rPr lang="zh-CN" altLang="en-US" sz="1800" dirty="0">
                          <a:solidFill>
                            <a:srgbClr val="060606"/>
                          </a:solidFill>
                        </a:rPr>
                        <a:t>型</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solidFill>
                            <a:srgbClr val="060606"/>
                          </a:solidFill>
                        </a:rPr>
                        <a:t>Ⅱ</a:t>
                      </a:r>
                      <a:r>
                        <a:rPr lang="zh-CN" altLang="en-US" sz="1800" dirty="0">
                          <a:solidFill>
                            <a:srgbClr val="060606"/>
                          </a:solidFill>
                        </a:rPr>
                        <a:t>型</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a:ln w="3175">
                            <a:solidFill>
                              <a:srgbClr val="060606"/>
                            </a:solidFill>
                          </a:ln>
                          <a:solidFill>
                            <a:srgbClr val="060606"/>
                          </a:solidFill>
                        </a:rPr>
                        <a:t>可用工时</a:t>
                      </a:r>
                      <a:r>
                        <a:rPr lang="en-US" altLang="zh-CN" dirty="0">
                          <a:ln w="3175">
                            <a:solidFill>
                              <a:srgbClr val="060606"/>
                            </a:solidFill>
                          </a:ln>
                          <a:solidFill>
                            <a:srgbClr val="060606"/>
                          </a:solidFill>
                        </a:rPr>
                        <a:t>(</a:t>
                      </a:r>
                      <a:r>
                        <a:rPr lang="zh-CN" altLang="en-US" dirty="0">
                          <a:ln w="3175">
                            <a:solidFill>
                              <a:srgbClr val="060606"/>
                            </a:solidFill>
                          </a:ln>
                          <a:solidFill>
                            <a:srgbClr val="060606"/>
                          </a:solidFill>
                        </a:rPr>
                        <a:t>资源限制</a:t>
                      </a:r>
                      <a:r>
                        <a:rPr lang="en-US" altLang="zh-CN" dirty="0">
                          <a:ln w="3175">
                            <a:solidFill>
                              <a:srgbClr val="060606"/>
                            </a:solidFill>
                          </a:ln>
                          <a:solidFill>
                            <a:srgbClr val="060606"/>
                          </a:solidFill>
                        </a:rPr>
                        <a:t>)</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dirty="0">
                          <a:ln w="3175">
                            <a:solidFill>
                              <a:srgbClr val="060606"/>
                            </a:solidFill>
                          </a:ln>
                          <a:solidFill>
                            <a:srgbClr val="060606"/>
                          </a:solidFill>
                        </a:rPr>
                        <a:t>搅拌机</a:t>
                      </a:r>
                      <a:r>
                        <a:rPr lang="en-US" altLang="zh-CN" dirty="0">
                          <a:ln w="3175">
                            <a:solidFill>
                              <a:srgbClr val="060606"/>
                            </a:solidFill>
                          </a:ln>
                          <a:solidFill>
                            <a:srgbClr val="060606"/>
                          </a:solidFill>
                        </a:rPr>
                        <a:t>(</a:t>
                      </a:r>
                      <a:r>
                        <a:rPr lang="zh-CN" altLang="en-US" dirty="0">
                          <a:ln w="3175">
                            <a:solidFill>
                              <a:srgbClr val="060606"/>
                            </a:solidFill>
                          </a:ln>
                          <a:solidFill>
                            <a:srgbClr val="060606"/>
                          </a:solidFill>
                        </a:rPr>
                        <a:t>小时</a:t>
                      </a:r>
                      <a:r>
                        <a:rPr lang="en-US" altLang="zh-CN" dirty="0">
                          <a:ln w="3175">
                            <a:solidFill>
                              <a:srgbClr val="060606"/>
                            </a:solidFill>
                          </a:ln>
                          <a:solidFill>
                            <a:srgbClr val="060606"/>
                          </a:solidFill>
                        </a:rPr>
                        <a:t>)</a:t>
                      </a:r>
                      <a:endParaRPr lang="en-US" altLang="zh-CN" dirty="0">
                        <a:ln w="3175">
                          <a:solidFill>
                            <a:srgbClr val="060606"/>
                          </a:solidFill>
                        </a:ln>
                        <a:solidFill>
                          <a:srgbClr val="060606"/>
                        </a:solidFill>
                      </a:endParaRPr>
                    </a:p>
                    <a:p>
                      <a:r>
                        <a:rPr lang="zh-CN" altLang="en-US" dirty="0">
                          <a:ln w="3175">
                            <a:solidFill>
                              <a:srgbClr val="060606"/>
                            </a:solidFill>
                          </a:ln>
                          <a:solidFill>
                            <a:srgbClr val="060606"/>
                          </a:solidFill>
                        </a:rPr>
                        <a:t>成型机</a:t>
                      </a:r>
                      <a:r>
                        <a:rPr lang="en-US" altLang="zh-CN" dirty="0">
                          <a:ln w="3175">
                            <a:solidFill>
                              <a:srgbClr val="060606"/>
                            </a:solidFill>
                          </a:ln>
                          <a:solidFill>
                            <a:srgbClr val="060606"/>
                          </a:solidFill>
                        </a:rPr>
                        <a:t>(</a:t>
                      </a:r>
                      <a:r>
                        <a:rPr lang="zh-CN" altLang="en-US" dirty="0">
                          <a:ln w="3175">
                            <a:solidFill>
                              <a:srgbClr val="060606"/>
                            </a:solidFill>
                          </a:ln>
                          <a:solidFill>
                            <a:srgbClr val="060606"/>
                          </a:solidFill>
                        </a:rPr>
                        <a:t>小时</a:t>
                      </a:r>
                      <a:r>
                        <a:rPr lang="en-US" altLang="zh-CN" dirty="0">
                          <a:ln w="3175">
                            <a:solidFill>
                              <a:srgbClr val="060606"/>
                            </a:solidFill>
                          </a:ln>
                          <a:solidFill>
                            <a:srgbClr val="060606"/>
                          </a:solidFill>
                        </a:rPr>
                        <a:t>)</a:t>
                      </a:r>
                      <a:endParaRPr lang="en-US" altLang="zh-CN" dirty="0">
                        <a:ln w="3175">
                          <a:solidFill>
                            <a:srgbClr val="060606"/>
                          </a:solidFill>
                        </a:ln>
                        <a:solidFill>
                          <a:srgbClr val="060606"/>
                        </a:solidFill>
                      </a:endParaRPr>
                    </a:p>
                    <a:p>
                      <a:r>
                        <a:rPr lang="zh-CN" altLang="en-US" dirty="0">
                          <a:ln w="3175">
                            <a:solidFill>
                              <a:srgbClr val="060606"/>
                            </a:solidFill>
                          </a:ln>
                          <a:solidFill>
                            <a:srgbClr val="060606"/>
                          </a:solidFill>
                        </a:rPr>
                        <a:t>烘    箱</a:t>
                      </a:r>
                      <a:r>
                        <a:rPr lang="en-US" altLang="zh-CN" dirty="0">
                          <a:ln w="3175">
                            <a:solidFill>
                              <a:srgbClr val="060606"/>
                            </a:solidFill>
                          </a:ln>
                          <a:solidFill>
                            <a:srgbClr val="060606"/>
                          </a:solidFill>
                        </a:rPr>
                        <a:t>(</a:t>
                      </a:r>
                      <a:r>
                        <a:rPr lang="zh-CN" altLang="en-US" dirty="0">
                          <a:ln w="3175">
                            <a:solidFill>
                              <a:srgbClr val="060606"/>
                            </a:solidFill>
                          </a:ln>
                          <a:solidFill>
                            <a:srgbClr val="060606"/>
                          </a:solidFill>
                        </a:rPr>
                        <a:t>小时</a:t>
                      </a:r>
                      <a:r>
                        <a:rPr lang="en-US" altLang="zh-CN" dirty="0">
                          <a:ln w="3175">
                            <a:solidFill>
                              <a:srgbClr val="060606"/>
                            </a:solidFill>
                          </a:ln>
                          <a:solidFill>
                            <a:srgbClr val="060606"/>
                          </a:solidFill>
                        </a:rPr>
                        <a:t>)</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ln w="3175">
                            <a:solidFill>
                              <a:srgbClr val="060606"/>
                            </a:solidFill>
                          </a:ln>
                          <a:solidFill>
                            <a:srgbClr val="060606"/>
                          </a:solidFill>
                        </a:rPr>
                        <a:t>3</a:t>
                      </a:r>
                      <a:endParaRPr lang="en-US" altLang="zh-CN" dirty="0">
                        <a:ln w="3175">
                          <a:solidFill>
                            <a:srgbClr val="060606"/>
                          </a:solidFill>
                        </a:ln>
                        <a:solidFill>
                          <a:srgbClr val="060606"/>
                        </a:solidFill>
                      </a:endParaRPr>
                    </a:p>
                    <a:p>
                      <a:pPr algn="ctr"/>
                      <a:r>
                        <a:rPr lang="en-US" altLang="zh-CN" dirty="0">
                          <a:ln w="3175">
                            <a:solidFill>
                              <a:srgbClr val="060606"/>
                            </a:solidFill>
                          </a:ln>
                          <a:solidFill>
                            <a:srgbClr val="060606"/>
                          </a:solidFill>
                        </a:rPr>
                        <a:t>4</a:t>
                      </a:r>
                      <a:endParaRPr lang="en-US" altLang="zh-CN" dirty="0">
                        <a:ln w="3175">
                          <a:solidFill>
                            <a:srgbClr val="060606"/>
                          </a:solidFill>
                        </a:ln>
                        <a:solidFill>
                          <a:srgbClr val="060606"/>
                        </a:solidFill>
                      </a:endParaRPr>
                    </a:p>
                    <a:p>
                      <a:pPr algn="ctr"/>
                      <a:r>
                        <a:rPr lang="en-US" altLang="zh-CN" dirty="0">
                          <a:ln w="3175">
                            <a:solidFill>
                              <a:srgbClr val="060606"/>
                            </a:solidFill>
                          </a:ln>
                          <a:solidFill>
                            <a:srgbClr val="060606"/>
                          </a:solidFill>
                        </a:rPr>
                        <a:t>4</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ln w="3175">
                            <a:solidFill>
                              <a:srgbClr val="060606"/>
                            </a:solidFill>
                          </a:ln>
                          <a:solidFill>
                            <a:srgbClr val="060606"/>
                          </a:solidFill>
                        </a:rPr>
                        <a:t>5</a:t>
                      </a:r>
                      <a:endParaRPr lang="en-US" altLang="zh-CN" dirty="0">
                        <a:ln w="3175">
                          <a:solidFill>
                            <a:srgbClr val="060606"/>
                          </a:solidFill>
                        </a:ln>
                        <a:solidFill>
                          <a:srgbClr val="060606"/>
                        </a:solidFill>
                      </a:endParaRPr>
                    </a:p>
                    <a:p>
                      <a:pPr algn="ctr"/>
                      <a:r>
                        <a:rPr lang="en-US" altLang="zh-CN" dirty="0">
                          <a:ln w="3175">
                            <a:solidFill>
                              <a:srgbClr val="060606"/>
                            </a:solidFill>
                          </a:ln>
                          <a:solidFill>
                            <a:srgbClr val="060606"/>
                          </a:solidFill>
                        </a:rPr>
                        <a:t>2</a:t>
                      </a:r>
                      <a:endParaRPr lang="en-US" altLang="zh-CN" dirty="0">
                        <a:ln w="3175">
                          <a:solidFill>
                            <a:srgbClr val="060606"/>
                          </a:solidFill>
                        </a:ln>
                        <a:solidFill>
                          <a:srgbClr val="060606"/>
                        </a:solidFill>
                      </a:endParaRPr>
                    </a:p>
                    <a:p>
                      <a:pPr algn="ctr"/>
                      <a:r>
                        <a:rPr lang="en-US" altLang="zh-CN" dirty="0">
                          <a:ln w="3175">
                            <a:solidFill>
                              <a:srgbClr val="060606"/>
                            </a:solidFill>
                          </a:ln>
                          <a:solidFill>
                            <a:srgbClr val="060606"/>
                          </a:solidFill>
                        </a:rPr>
                        <a:t>4</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ln w="3175">
                            <a:solidFill>
                              <a:srgbClr val="060606"/>
                            </a:solidFill>
                          </a:ln>
                          <a:solidFill>
                            <a:srgbClr val="060606"/>
                          </a:solidFill>
                        </a:rPr>
                        <a:t>15</a:t>
                      </a:r>
                      <a:endParaRPr lang="en-US" altLang="zh-CN" dirty="0">
                        <a:ln w="3175">
                          <a:solidFill>
                            <a:srgbClr val="060606"/>
                          </a:solidFill>
                        </a:ln>
                        <a:solidFill>
                          <a:srgbClr val="060606"/>
                        </a:solidFill>
                      </a:endParaRPr>
                    </a:p>
                    <a:p>
                      <a:pPr algn="ctr"/>
                      <a:r>
                        <a:rPr lang="en-US" altLang="zh-CN" dirty="0">
                          <a:ln w="3175">
                            <a:solidFill>
                              <a:srgbClr val="060606"/>
                            </a:solidFill>
                          </a:ln>
                          <a:solidFill>
                            <a:srgbClr val="060606"/>
                          </a:solidFill>
                        </a:rPr>
                        <a:t>10</a:t>
                      </a:r>
                      <a:endParaRPr lang="en-US" altLang="zh-CN" dirty="0">
                        <a:ln w="3175">
                          <a:solidFill>
                            <a:srgbClr val="060606"/>
                          </a:solidFill>
                        </a:ln>
                        <a:solidFill>
                          <a:srgbClr val="060606"/>
                        </a:solidFill>
                      </a:endParaRPr>
                    </a:p>
                    <a:p>
                      <a:pPr algn="ctr"/>
                      <a:r>
                        <a:rPr lang="en-US" altLang="zh-CN" dirty="0">
                          <a:ln w="3175">
                            <a:solidFill>
                              <a:srgbClr val="060606"/>
                            </a:solidFill>
                          </a:ln>
                          <a:solidFill>
                            <a:srgbClr val="060606"/>
                          </a:solidFill>
                        </a:rPr>
                        <a:t>22</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dirty="0">
                          <a:ln w="3175">
                            <a:solidFill>
                              <a:srgbClr val="060606"/>
                            </a:solidFill>
                          </a:ln>
                          <a:solidFill>
                            <a:srgbClr val="060606"/>
                          </a:solidFill>
                        </a:rPr>
                        <a:t>利润</a:t>
                      </a:r>
                      <a:r>
                        <a:rPr lang="en-US" altLang="zh-CN" dirty="0">
                          <a:ln w="3175">
                            <a:solidFill>
                              <a:srgbClr val="060606"/>
                            </a:solidFill>
                          </a:ln>
                          <a:solidFill>
                            <a:srgbClr val="060606"/>
                          </a:solidFill>
                        </a:rPr>
                        <a:t>(</a:t>
                      </a:r>
                      <a:r>
                        <a:rPr lang="zh-CN" altLang="en-US" dirty="0">
                          <a:ln w="3175">
                            <a:solidFill>
                              <a:srgbClr val="060606"/>
                            </a:solidFill>
                          </a:ln>
                          <a:solidFill>
                            <a:srgbClr val="060606"/>
                          </a:solidFill>
                        </a:rPr>
                        <a:t>百元</a:t>
                      </a:r>
                      <a:r>
                        <a:rPr lang="en-US" altLang="zh-CN" dirty="0">
                          <a:ln w="3175">
                            <a:solidFill>
                              <a:srgbClr val="060606"/>
                            </a:solidFill>
                          </a:ln>
                          <a:solidFill>
                            <a:srgbClr val="060606"/>
                          </a:solidFill>
                        </a:rPr>
                        <a:t>/</a:t>
                      </a:r>
                      <a:r>
                        <a:rPr lang="zh-CN" altLang="en-US" dirty="0">
                          <a:ln w="3175">
                            <a:solidFill>
                              <a:srgbClr val="060606"/>
                            </a:solidFill>
                          </a:ln>
                          <a:solidFill>
                            <a:srgbClr val="060606"/>
                          </a:solidFill>
                        </a:rPr>
                        <a:t>吨</a:t>
                      </a:r>
                      <a:r>
                        <a:rPr lang="en-US" altLang="zh-CN" dirty="0">
                          <a:ln w="3175">
                            <a:solidFill>
                              <a:srgbClr val="060606"/>
                            </a:solidFill>
                          </a:ln>
                          <a:solidFill>
                            <a:srgbClr val="060606"/>
                          </a:solidFill>
                        </a:rPr>
                        <a:t>)</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ln w="3175">
                            <a:solidFill>
                              <a:srgbClr val="060606"/>
                            </a:solidFill>
                          </a:ln>
                          <a:solidFill>
                            <a:srgbClr val="060606"/>
                          </a:solidFill>
                        </a:rPr>
                        <a:t>5</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ln w="3175">
                            <a:solidFill>
                              <a:srgbClr val="060606"/>
                            </a:solidFill>
                          </a:ln>
                          <a:solidFill>
                            <a:srgbClr val="060606"/>
                          </a:solidFill>
                        </a:rPr>
                        <a:t>4</a:t>
                      </a: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dirty="0">
                        <a:ln w="3175">
                          <a:solidFill>
                            <a:srgbClr val="060606"/>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7" name="直接连接符 6"/>
          <p:cNvCxnSpPr/>
          <p:nvPr/>
        </p:nvCxnSpPr>
        <p:spPr bwMode="auto">
          <a:xfrm>
            <a:off x="3940628" y="3895415"/>
            <a:ext cx="2088000" cy="684000"/>
          </a:xfrm>
          <a:prstGeom prst="line">
            <a:avLst/>
          </a:prstGeom>
          <a:solidFill>
            <a:schemeClr val="accent1"/>
          </a:solid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p:cNvCxnSpPr/>
          <p:nvPr/>
        </p:nvCxnSpPr>
        <p:spPr bwMode="auto">
          <a:xfrm>
            <a:off x="4948740" y="3391359"/>
            <a:ext cx="1080120" cy="1188000"/>
          </a:xfrm>
          <a:prstGeom prst="line">
            <a:avLst/>
          </a:prstGeom>
          <a:solidFill>
            <a:schemeClr val="accent1"/>
          </a:solid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内容占位符 2"/>
          <p:cNvSpPr txBox="1"/>
          <p:nvPr/>
        </p:nvSpPr>
        <p:spPr bwMode="auto">
          <a:xfrm>
            <a:off x="217713" y="5925619"/>
            <a:ext cx="11756571"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zh-CN" altLang="en-US" sz="2400" dirty="0">
                <a:solidFill>
                  <a:srgbClr val="060606"/>
                </a:solidFill>
                <a:latin typeface="楷体" panose="02010609060101010101" pitchFamily="49" charset="-122"/>
                <a:ea typeface="楷体" panose="02010609060101010101" pitchFamily="49" charset="-122"/>
              </a:rPr>
              <a:t>现在的问题是应如何安排每天</a:t>
            </a:r>
            <a:r>
              <a:rPr lang="en-US" altLang="zh-CN" sz="2400" dirty="0">
                <a:solidFill>
                  <a:srgbClr val="060606"/>
                </a:solidFill>
                <a:latin typeface="楷体" panose="02010609060101010101" pitchFamily="49" charset="-122"/>
                <a:ea typeface="楷体" panose="02010609060101010101" pitchFamily="49" charset="-122"/>
              </a:rPr>
              <a:t>Ⅰ</a:t>
            </a:r>
            <a:r>
              <a:rPr lang="zh-CN" altLang="en-US" sz="2400" dirty="0">
                <a:solidFill>
                  <a:srgbClr val="060606"/>
                </a:solidFill>
                <a:latin typeface="楷体" panose="02010609060101010101" pitchFamily="49" charset="-122"/>
                <a:ea typeface="楷体" panose="02010609060101010101" pitchFamily="49" charset="-122"/>
              </a:rPr>
              <a:t>型和</a:t>
            </a:r>
            <a:r>
              <a:rPr lang="en-US" altLang="zh-CN" sz="2400" dirty="0">
                <a:solidFill>
                  <a:srgbClr val="060606"/>
                </a:solidFill>
                <a:latin typeface="楷体" panose="02010609060101010101" pitchFamily="49" charset="-122"/>
                <a:ea typeface="楷体" panose="02010609060101010101" pitchFamily="49" charset="-122"/>
              </a:rPr>
              <a:t>Ⅱ</a:t>
            </a:r>
            <a:r>
              <a:rPr lang="zh-CN" altLang="en-US" sz="2400" dirty="0">
                <a:solidFill>
                  <a:srgbClr val="060606"/>
                </a:solidFill>
                <a:latin typeface="楷体" panose="02010609060101010101" pitchFamily="49" charset="-122"/>
                <a:ea typeface="楷体" panose="02010609060101010101" pitchFamily="49" charset="-122"/>
              </a:rPr>
              <a:t>型两种饼干的生产量，才能使该厂获得最大的利润？</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10" name="矩形: 折角 9"/>
          <p:cNvSpPr/>
          <p:nvPr/>
        </p:nvSpPr>
        <p:spPr>
          <a:xfrm flipV="1">
            <a:off x="87086" y="664931"/>
            <a:ext cx="12104914" cy="6105983"/>
          </a:xfrm>
          <a:prstGeom prst="foldedCorner">
            <a:avLst>
              <a:gd name="adj" fmla="val 846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801" y="122202"/>
            <a:ext cx="11070772" cy="2176272"/>
          </a:xfrm>
        </p:spPr>
        <p:txBody>
          <a:bodyPr/>
          <a:lstStyle/>
          <a:p>
            <a:pPr>
              <a:buNone/>
            </a:pPr>
            <a:r>
              <a:rPr lang="zh-CN" altLang="en-US" sz="2400" dirty="0">
                <a:solidFill>
                  <a:srgbClr val="060606"/>
                </a:solidFill>
                <a:latin typeface="楷体" panose="02010609060101010101" pitchFamily="49" charset="-122"/>
                <a:ea typeface="楷体" panose="02010609060101010101" pitchFamily="49" charset="-122"/>
              </a:rPr>
              <a:t>现在，我们将这个问题进行数学表达，其表格形式</a:t>
            </a:r>
            <a:r>
              <a:rPr lang="en-US" altLang="zh-CN" sz="2400" dirty="0">
                <a:solidFill>
                  <a:srgbClr val="060606"/>
                </a:solidFill>
                <a:latin typeface="楷体" panose="02010609060101010101" pitchFamily="49" charset="-122"/>
                <a:ea typeface="楷体" panose="02010609060101010101" pitchFamily="49" charset="-122"/>
              </a:rPr>
              <a:t>[Tip:</a:t>
            </a:r>
            <a:r>
              <a:rPr lang="zh-CN" altLang="en-US" sz="2400" dirty="0">
                <a:solidFill>
                  <a:srgbClr val="060606"/>
                </a:solidFill>
                <a:latin typeface="楷体" panose="02010609060101010101" pitchFamily="49" charset="-122"/>
                <a:ea typeface="楷体" panose="02010609060101010101" pitchFamily="49" charset="-122"/>
              </a:rPr>
              <a:t>也是一种数学表达，为使得问题清晰易于理解我们总是给出</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问题的表格形式，然后建立其代数</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形式</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见表</a:t>
            </a:r>
            <a:r>
              <a:rPr lang="en-US" altLang="zh-CN" sz="24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12" name="文本框 11"/>
          <p:cNvSpPr txBox="1"/>
          <p:nvPr/>
        </p:nvSpPr>
        <p:spPr>
          <a:xfrm>
            <a:off x="250371" y="3026780"/>
            <a:ext cx="11571516" cy="461665"/>
          </a:xfrm>
          <a:prstGeom prst="rect">
            <a:avLst/>
          </a:prstGeom>
          <a:noFill/>
        </p:spPr>
        <p:txBody>
          <a:bodyPr wrap="square">
            <a:spAutoFit/>
          </a:bodyPr>
          <a:lstStyle/>
          <a:p>
            <a:pPr>
              <a:buNone/>
            </a:pPr>
            <a:r>
              <a:rPr lang="en-US" altLang="zh-CN" sz="2400" dirty="0">
                <a:solidFill>
                  <a:srgbClr val="060606"/>
                </a:solidFill>
                <a:latin typeface="楷体" panose="02010609060101010101" pitchFamily="49" charset="-122"/>
                <a:ea typeface="楷体" panose="02010609060101010101" pitchFamily="49" charset="-122"/>
              </a:rPr>
              <a:t>Q1</a:t>
            </a:r>
            <a:r>
              <a:rPr lang="zh-CN" altLang="en-US" sz="2400" dirty="0">
                <a:solidFill>
                  <a:srgbClr val="060606"/>
                </a:solidFill>
                <a:latin typeface="楷体" panose="02010609060101010101" pitchFamily="49" charset="-122"/>
                <a:ea typeface="楷体" panose="02010609060101010101" pitchFamily="49" charset="-122"/>
              </a:rPr>
              <a:t>：首先，明确需要决策的是什么？</a:t>
            </a:r>
            <a:endParaRPr lang="en-US" altLang="zh-CN" sz="2400" dirty="0">
              <a:solidFill>
                <a:srgbClr val="060606"/>
              </a:solidFill>
              <a:latin typeface="楷体" panose="02010609060101010101" pitchFamily="49" charset="-122"/>
              <a:ea typeface="楷体" panose="02010609060101010101" pitchFamily="49" charset="-122"/>
            </a:endParaRPr>
          </a:p>
        </p:txBody>
      </p:sp>
      <p:pic>
        <p:nvPicPr>
          <p:cNvPr id="7" name="图片 6"/>
          <p:cNvPicPr>
            <a:picLocks noChangeAspect="1"/>
          </p:cNvPicPr>
          <p:nvPr/>
        </p:nvPicPr>
        <p:blipFill>
          <a:blip r:embed="rId1"/>
          <a:stretch>
            <a:fillRect/>
          </a:stretch>
        </p:blipFill>
        <p:spPr>
          <a:xfrm>
            <a:off x="5108388" y="602263"/>
            <a:ext cx="6815818" cy="2489465"/>
          </a:xfrm>
          <a:prstGeom prst="rect">
            <a:avLst/>
          </a:prstGeom>
        </p:spPr>
      </p:pic>
      <p:sp>
        <p:nvSpPr>
          <p:cNvPr id="16" name="文本框 15"/>
          <p:cNvSpPr txBox="1"/>
          <p:nvPr/>
        </p:nvSpPr>
        <p:spPr>
          <a:xfrm>
            <a:off x="250371" y="4014078"/>
            <a:ext cx="11571516" cy="885499"/>
          </a:xfrm>
          <a:prstGeom prst="rect">
            <a:avLst/>
          </a:prstGeom>
          <a:noFill/>
        </p:spPr>
        <p:txBody>
          <a:bodyPr wrap="square">
            <a:spAutoFit/>
          </a:bodyPr>
          <a:lstStyle/>
          <a:p>
            <a:pPr marL="342900" indent="-342900" fontAlgn="base">
              <a:lnSpc>
                <a:spcPct val="110000"/>
              </a:lnSpc>
              <a:spcBef>
                <a:spcPts val="1800"/>
              </a:spcBef>
              <a:spcAft>
                <a:spcPct val="0"/>
              </a:spcAft>
            </a:pPr>
            <a:r>
              <a:rPr lang="zh-CN" altLang="en-US" sz="2400" dirty="0">
                <a:solidFill>
                  <a:srgbClr val="060606"/>
                </a:solidFill>
                <a:latin typeface="楷体" panose="02010609060101010101" pitchFamily="49" charset="-122"/>
                <a:ea typeface="楷体" panose="02010609060101010101" pitchFamily="49" charset="-122"/>
              </a:rPr>
              <a:t>于是，设</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分别表示</a:t>
            </a:r>
            <a:r>
              <a:rPr lang="en-US" altLang="zh-CN" sz="2400" dirty="0">
                <a:solidFill>
                  <a:srgbClr val="060606"/>
                </a:solidFill>
                <a:latin typeface="楷体" panose="02010609060101010101" pitchFamily="49" charset="-122"/>
                <a:ea typeface="楷体" panose="02010609060101010101" pitchFamily="49" charset="-122"/>
              </a:rPr>
              <a:t>Ⅰ</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Ⅱ</a:t>
            </a:r>
            <a:r>
              <a:rPr lang="zh-CN" altLang="en-US" sz="2400" dirty="0">
                <a:solidFill>
                  <a:srgbClr val="060606"/>
                </a:solidFill>
                <a:latin typeface="楷体" panose="02010609060101010101" pitchFamily="49" charset="-122"/>
                <a:ea typeface="楷体" panose="02010609060101010101" pitchFamily="49" charset="-122"/>
              </a:rPr>
              <a:t>型饼干每天的生产量，以吨为单位。并用</a:t>
            </a:r>
            <a:r>
              <a:rPr lang="en-US" altLang="zh-CN" sz="2400" dirty="0">
                <a:solidFill>
                  <a:srgbClr val="060606"/>
                </a:solidFill>
                <a:latin typeface="楷体" panose="02010609060101010101" pitchFamily="49" charset="-122"/>
                <a:ea typeface="楷体" panose="02010609060101010101" pitchFamily="49" charset="-122"/>
              </a:rPr>
              <a:t>Z</a:t>
            </a:r>
            <a:r>
              <a:rPr lang="zh-CN" altLang="en-US" sz="2400" dirty="0">
                <a:solidFill>
                  <a:srgbClr val="060606"/>
                </a:solidFill>
                <a:latin typeface="楷体" panose="02010609060101010101" pitchFamily="49" charset="-122"/>
                <a:ea typeface="楷体" panose="02010609060101010101" pitchFamily="49" charset="-122"/>
              </a:rPr>
              <a:t>表示每日生产</a:t>
            </a:r>
            <a:r>
              <a:rPr lang="en-US" altLang="zh-CN" sz="2400" dirty="0">
                <a:solidFill>
                  <a:srgbClr val="060606"/>
                </a:solidFill>
                <a:latin typeface="楷体" panose="02010609060101010101" pitchFamily="49" charset="-122"/>
                <a:ea typeface="楷体" panose="02010609060101010101" pitchFamily="49" charset="-122"/>
              </a:rPr>
              <a:t>Ⅰ</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Ⅱ</a:t>
            </a:r>
            <a:r>
              <a:rPr lang="zh-CN" altLang="en-US" sz="2400" dirty="0">
                <a:solidFill>
                  <a:srgbClr val="060606"/>
                </a:solidFill>
                <a:latin typeface="楷体" panose="02010609060101010101" pitchFamily="49" charset="-122"/>
                <a:ea typeface="楷体" panose="02010609060101010101" pitchFamily="49" charset="-122"/>
              </a:rPr>
              <a:t>型饼干</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吨所获得的利润，则有：</a:t>
            </a:r>
            <a:r>
              <a:rPr lang="en-US" altLang="zh-CN" sz="2400" dirty="0">
                <a:solidFill>
                  <a:srgbClr val="060606"/>
                </a:solidFill>
                <a:latin typeface="楷体" panose="02010609060101010101" pitchFamily="49" charset="-122"/>
                <a:ea typeface="楷体" panose="02010609060101010101" pitchFamily="49" charset="-122"/>
              </a:rPr>
              <a:t>Z = 5x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+4x</a:t>
            </a:r>
            <a:r>
              <a:rPr lang="en-US" altLang="zh-CN" sz="2400" baseline="-250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
        <p:nvSpPr>
          <p:cNvPr id="18" name="文本框 17"/>
          <p:cNvSpPr txBox="1"/>
          <p:nvPr/>
        </p:nvSpPr>
        <p:spPr>
          <a:xfrm>
            <a:off x="250369" y="3531204"/>
            <a:ext cx="10145487" cy="461665"/>
          </a:xfrm>
          <a:prstGeom prst="rect">
            <a:avLst/>
          </a:prstGeom>
          <a:noFill/>
        </p:spPr>
        <p:txBody>
          <a:bodyPr wrap="square">
            <a:spAutoFit/>
          </a:bodyPr>
          <a:lstStyle/>
          <a:p>
            <a:r>
              <a:rPr lang="en-US" altLang="zh-CN" sz="2400" dirty="0">
                <a:solidFill>
                  <a:srgbClr val="060606"/>
                </a:solidFill>
                <a:latin typeface="楷体" panose="02010609060101010101" pitchFamily="49" charset="-122"/>
                <a:ea typeface="楷体" panose="02010609060101010101" pitchFamily="49" charset="-122"/>
              </a:rPr>
              <a:t>A1</a:t>
            </a:r>
            <a:r>
              <a:rPr lang="zh-CN" altLang="en-US" sz="2400" dirty="0">
                <a:solidFill>
                  <a:srgbClr val="060606"/>
                </a:solidFill>
                <a:latin typeface="楷体" panose="02010609060101010101" pitchFamily="49" charset="-122"/>
                <a:ea typeface="楷体" panose="02010609060101010101" pitchFamily="49" charset="-122"/>
              </a:rPr>
              <a:t>：两型饼干的生产量，它将影响决策目标</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这里是利润。</a:t>
            </a:r>
            <a:endParaRPr lang="zh-CN" altLang="en-US" sz="2400" dirty="0">
              <a:latin typeface="楷体" panose="02010609060101010101" pitchFamily="49" charset="-122"/>
              <a:ea typeface="楷体" panose="02010609060101010101" pitchFamily="49" charset="-122"/>
            </a:endParaRPr>
          </a:p>
        </p:txBody>
      </p:sp>
      <p:sp>
        <p:nvSpPr>
          <p:cNvPr id="19" name="文本框 18"/>
          <p:cNvSpPr txBox="1"/>
          <p:nvPr/>
        </p:nvSpPr>
        <p:spPr>
          <a:xfrm>
            <a:off x="250371" y="4963886"/>
            <a:ext cx="11571516" cy="461665"/>
          </a:xfrm>
          <a:prstGeom prst="rect">
            <a:avLst/>
          </a:prstGeom>
          <a:noFill/>
        </p:spPr>
        <p:txBody>
          <a:bodyPr wrap="square">
            <a:spAutoFit/>
          </a:bodyPr>
          <a:lstStyle/>
          <a:p>
            <a:pPr>
              <a:buNone/>
            </a:pPr>
            <a:r>
              <a:rPr lang="en-US" altLang="zh-CN" sz="2400" dirty="0">
                <a:solidFill>
                  <a:srgbClr val="060606"/>
                </a:solidFill>
                <a:latin typeface="楷体" panose="02010609060101010101" pitchFamily="49" charset="-122"/>
                <a:ea typeface="楷体" panose="02010609060101010101" pitchFamily="49" charset="-122"/>
              </a:rPr>
              <a:t>Q2</a:t>
            </a:r>
            <a:r>
              <a:rPr lang="zh-CN" altLang="en-US" sz="2400" dirty="0">
                <a:solidFill>
                  <a:srgbClr val="060606"/>
                </a:solidFill>
                <a:latin typeface="楷体" panose="02010609060101010101" pitchFamily="49" charset="-122"/>
                <a:ea typeface="楷体" panose="02010609060101010101" pitchFamily="49" charset="-122"/>
              </a:rPr>
              <a:t>：决策目标是什么？</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20" name="文本框 19"/>
          <p:cNvSpPr txBox="1"/>
          <p:nvPr/>
        </p:nvSpPr>
        <p:spPr>
          <a:xfrm>
            <a:off x="250370" y="5468310"/>
            <a:ext cx="7554158" cy="461665"/>
          </a:xfrm>
          <a:prstGeom prst="rect">
            <a:avLst/>
          </a:prstGeom>
          <a:noFill/>
        </p:spPr>
        <p:txBody>
          <a:bodyPr wrap="square">
            <a:spAutoFit/>
          </a:bodyPr>
          <a:lstStyle/>
          <a:p>
            <a:r>
              <a:rPr lang="en-US" altLang="zh-CN" sz="2400" dirty="0">
                <a:solidFill>
                  <a:srgbClr val="060606"/>
                </a:solidFill>
                <a:latin typeface="楷体" panose="02010609060101010101" pitchFamily="49" charset="-122"/>
                <a:ea typeface="楷体" panose="02010609060101010101" pitchFamily="49" charset="-122"/>
              </a:rPr>
              <a:t>A2</a:t>
            </a:r>
            <a:r>
              <a:rPr lang="zh-CN" altLang="en-US" sz="2400" dirty="0">
                <a:solidFill>
                  <a:srgbClr val="060606"/>
                </a:solidFill>
                <a:latin typeface="楷体" panose="02010609060101010101" pitchFamily="49" charset="-122"/>
                <a:ea typeface="楷体" panose="02010609060101010101" pitchFamily="49" charset="-122"/>
              </a:rPr>
              <a:t>：最大利润。</a:t>
            </a:r>
            <a:endParaRPr lang="zh-CN" altLang="en-US" sz="2400" dirty="0">
              <a:latin typeface="楷体" panose="02010609060101010101" pitchFamily="49" charset="-122"/>
              <a:ea typeface="楷体" panose="02010609060101010101" pitchFamily="49" charset="-122"/>
            </a:endParaRPr>
          </a:p>
        </p:txBody>
      </p:sp>
      <p:sp>
        <p:nvSpPr>
          <p:cNvPr id="21" name="文本框 20"/>
          <p:cNvSpPr txBox="1"/>
          <p:nvPr/>
        </p:nvSpPr>
        <p:spPr>
          <a:xfrm>
            <a:off x="250370" y="5953954"/>
            <a:ext cx="11571515" cy="830997"/>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于是，有：</a:t>
            </a:r>
            <a:r>
              <a:rPr lang="en-US" altLang="zh-CN" sz="2400" dirty="0">
                <a:latin typeface="楷体" panose="02010609060101010101" pitchFamily="49" charset="-122"/>
                <a:ea typeface="楷体" panose="02010609060101010101" pitchFamily="49" charset="-122"/>
              </a:rPr>
              <a:t>max </a:t>
            </a:r>
            <a:r>
              <a:rPr lang="en-US" altLang="zh-CN" sz="2400" dirty="0">
                <a:solidFill>
                  <a:srgbClr val="060606"/>
                </a:solidFill>
                <a:latin typeface="楷体" panose="02010609060101010101" pitchFamily="49" charset="-122"/>
                <a:ea typeface="楷体" panose="02010609060101010101" pitchFamily="49" charset="-122"/>
              </a:rPr>
              <a:t>Z = 5x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+4x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 [Tip</a:t>
            </a:r>
            <a:r>
              <a:rPr lang="zh-CN" altLang="en-US" sz="2400" dirty="0">
                <a:solidFill>
                  <a:srgbClr val="060606"/>
                </a:solidFill>
                <a:latin typeface="楷体" panose="02010609060101010101" pitchFamily="49" charset="-122"/>
                <a:ea typeface="楷体" panose="02010609060101010101" pitchFamily="49" charset="-122"/>
              </a:rPr>
              <a:t>：读一读该数学表达式，看看其是否于文字表述的问题一致</a:t>
            </a:r>
            <a:r>
              <a:rPr lang="en-US" altLang="zh-CN" sz="2400" dirty="0">
                <a:solidFill>
                  <a:srgbClr val="060606"/>
                </a:solidFill>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8" grpId="0"/>
      <p:bldP spid="19" grpId="0"/>
      <p:bldP spid="20" grpId="0"/>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2305" y="3548080"/>
            <a:ext cx="8229600" cy="557629"/>
          </a:xfrm>
        </p:spPr>
        <p:txBody>
          <a:bodyPr/>
          <a:lstStyle/>
          <a:p>
            <a:pPr lvl="0">
              <a:buNone/>
            </a:pPr>
            <a:r>
              <a:rPr lang="zh-CN" altLang="en-US" sz="2400" dirty="0">
                <a:solidFill>
                  <a:srgbClr val="060606"/>
                </a:solidFill>
                <a:latin typeface="楷体" panose="02010609060101010101" pitchFamily="49" charset="-122"/>
                <a:ea typeface="楷体" panose="02010609060101010101" pitchFamily="49" charset="-122"/>
              </a:rPr>
              <a:t>于是得到问题的数学表达为：</a:t>
            </a:r>
            <a:endParaRPr lang="en-US" altLang="zh-CN" sz="2400" dirty="0">
              <a:solidFill>
                <a:srgbClr val="060606"/>
              </a:solidFill>
              <a:latin typeface="楷体" panose="02010609060101010101" pitchFamily="49" charset="-122"/>
              <a:ea typeface="楷体" panose="02010609060101010101" pitchFamily="49" charset="-122"/>
            </a:endParaRPr>
          </a:p>
        </p:txBody>
      </p:sp>
      <p:grpSp>
        <p:nvGrpSpPr>
          <p:cNvPr id="13" name="组合 12"/>
          <p:cNvGrpSpPr/>
          <p:nvPr/>
        </p:nvGrpSpPr>
        <p:grpSpPr>
          <a:xfrm>
            <a:off x="3248844" y="1204783"/>
            <a:ext cx="5093061" cy="1325761"/>
            <a:chOff x="2123728" y="3861048"/>
            <a:chExt cx="5093061" cy="1325761"/>
          </a:xfrm>
        </p:grpSpPr>
        <p:sp>
          <p:nvSpPr>
            <p:cNvPr id="19" name="矩形 18"/>
            <p:cNvSpPr/>
            <p:nvPr/>
          </p:nvSpPr>
          <p:spPr>
            <a:xfrm>
              <a:off x="2123728" y="3861048"/>
              <a:ext cx="5093061" cy="461665"/>
            </a:xfrm>
            <a:prstGeom prst="rect">
              <a:avLst/>
            </a:prstGeom>
          </p:spPr>
          <p:txBody>
            <a:bodyPr wrap="none">
              <a:spAutoFit/>
            </a:bodyPr>
            <a:lstStyle/>
            <a:p>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+5x</a:t>
              </a:r>
              <a:r>
                <a:rPr lang="en-US" altLang="zh-CN" sz="2400" baseline="-25000" dirty="0">
                  <a:solidFill>
                    <a:srgbClr val="060606"/>
                  </a:solidFill>
                </a:rPr>
                <a:t>2 </a:t>
              </a:r>
              <a:r>
                <a:rPr lang="en-US" altLang="zh-CN" sz="2400" dirty="0">
                  <a:solidFill>
                    <a:srgbClr val="060606"/>
                  </a:solidFill>
                </a:rPr>
                <a:t>≤15                 (</a:t>
              </a:r>
              <a:r>
                <a:rPr lang="zh-CN" altLang="en-US" sz="2400" dirty="0">
                  <a:solidFill>
                    <a:srgbClr val="060606"/>
                  </a:solidFill>
                </a:rPr>
                <a:t>搅拌机限制</a:t>
              </a:r>
              <a:r>
                <a:rPr lang="en-US" altLang="zh-CN" sz="2400" dirty="0">
                  <a:solidFill>
                    <a:srgbClr val="060606"/>
                  </a:solidFill>
                </a:rPr>
                <a:t>)</a:t>
              </a:r>
              <a:endParaRPr lang="zh-CN" altLang="en-US" dirty="0"/>
            </a:p>
          </p:txBody>
        </p:sp>
        <p:sp>
          <p:nvSpPr>
            <p:cNvPr id="20" name="矩形 19"/>
            <p:cNvSpPr/>
            <p:nvPr/>
          </p:nvSpPr>
          <p:spPr>
            <a:xfrm>
              <a:off x="2123728" y="4725144"/>
              <a:ext cx="4785284" cy="461665"/>
            </a:xfrm>
            <a:prstGeom prst="rect">
              <a:avLst/>
            </a:prstGeom>
          </p:spPr>
          <p:txBody>
            <a:bodyPr wrap="none">
              <a:spAutoFit/>
            </a:bodyPr>
            <a:lstStyle/>
            <a:p>
              <a:r>
                <a:rPr lang="en-US" altLang="zh-CN" sz="2400" dirty="0">
                  <a:solidFill>
                    <a:srgbClr val="060606"/>
                  </a:solidFill>
                </a:rPr>
                <a:t>4X</a:t>
              </a:r>
              <a:r>
                <a:rPr lang="en-US" altLang="zh-CN" sz="2400" baseline="-25000" dirty="0">
                  <a:solidFill>
                    <a:srgbClr val="060606"/>
                  </a:solidFill>
                </a:rPr>
                <a:t>1</a:t>
              </a:r>
              <a:r>
                <a:rPr lang="en-US" altLang="zh-CN" sz="2400" dirty="0">
                  <a:solidFill>
                    <a:srgbClr val="060606"/>
                  </a:solidFill>
                </a:rPr>
                <a:t>+4x</a:t>
              </a:r>
              <a:r>
                <a:rPr lang="en-US" altLang="zh-CN" sz="2400" baseline="-25000" dirty="0">
                  <a:solidFill>
                    <a:srgbClr val="060606"/>
                  </a:solidFill>
                </a:rPr>
                <a:t>2 </a:t>
              </a:r>
              <a:r>
                <a:rPr lang="en-US" altLang="zh-CN" sz="2400" dirty="0">
                  <a:solidFill>
                    <a:srgbClr val="060606"/>
                  </a:solidFill>
                </a:rPr>
                <a:t>≤22                 (</a:t>
              </a:r>
              <a:r>
                <a:rPr lang="zh-CN" altLang="en-US" sz="2400" dirty="0">
                  <a:solidFill>
                    <a:srgbClr val="060606"/>
                  </a:solidFill>
                </a:rPr>
                <a:t>烘箱限制</a:t>
              </a:r>
              <a:r>
                <a:rPr lang="en-US" altLang="zh-CN" sz="2400" dirty="0">
                  <a:solidFill>
                    <a:srgbClr val="060606"/>
                  </a:solidFill>
                </a:rPr>
                <a:t>)</a:t>
              </a:r>
              <a:endParaRPr lang="zh-CN" altLang="en-US" sz="2400" dirty="0"/>
            </a:p>
          </p:txBody>
        </p:sp>
        <p:sp>
          <p:nvSpPr>
            <p:cNvPr id="21" name="矩形 20"/>
            <p:cNvSpPr/>
            <p:nvPr/>
          </p:nvSpPr>
          <p:spPr>
            <a:xfrm>
              <a:off x="2123728" y="4293096"/>
              <a:ext cx="5093061" cy="461665"/>
            </a:xfrm>
            <a:prstGeom prst="rect">
              <a:avLst/>
            </a:prstGeom>
          </p:spPr>
          <p:txBody>
            <a:bodyPr wrap="none">
              <a:spAutoFit/>
            </a:bodyPr>
            <a:lstStyle/>
            <a:p>
              <a:r>
                <a:rPr lang="en-US" altLang="zh-CN" sz="2400" dirty="0">
                  <a:solidFill>
                    <a:srgbClr val="060606"/>
                  </a:solidFill>
                </a:rPr>
                <a:t>4X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 </a:t>
              </a:r>
              <a:r>
                <a:rPr lang="en-US" altLang="zh-CN" sz="2400" dirty="0">
                  <a:solidFill>
                    <a:srgbClr val="060606"/>
                  </a:solidFill>
                </a:rPr>
                <a:t>≤10                 (</a:t>
              </a:r>
              <a:r>
                <a:rPr lang="zh-CN" altLang="en-US" sz="2400" dirty="0">
                  <a:solidFill>
                    <a:srgbClr val="060606"/>
                  </a:solidFill>
                </a:rPr>
                <a:t>成型机限制</a:t>
              </a:r>
              <a:r>
                <a:rPr lang="en-US" altLang="zh-CN" sz="2400" dirty="0">
                  <a:solidFill>
                    <a:srgbClr val="060606"/>
                  </a:solidFill>
                </a:rPr>
                <a:t>)</a:t>
              </a:r>
              <a:endParaRPr lang="zh-CN" altLang="en-US" sz="2400" dirty="0"/>
            </a:p>
          </p:txBody>
        </p:sp>
      </p:grpSp>
      <p:sp>
        <p:nvSpPr>
          <p:cNvPr id="22" name="内容占位符 2"/>
          <p:cNvSpPr txBox="1"/>
          <p:nvPr/>
        </p:nvSpPr>
        <p:spPr bwMode="auto">
          <a:xfrm>
            <a:off x="112305" y="2848464"/>
            <a:ext cx="8229600" cy="55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en-US" altLang="zh-CN" sz="2400" dirty="0">
                <a:solidFill>
                  <a:srgbClr val="060606"/>
                </a:solidFill>
                <a:latin typeface="楷体" panose="02010609060101010101" pitchFamily="49" charset="-122"/>
                <a:ea typeface="楷体" panose="02010609060101010101" pitchFamily="49" charset="-122"/>
              </a:rPr>
              <a:t>A3(2)</a:t>
            </a:r>
            <a:r>
              <a:rPr lang="zh-CN" altLang="en-US" sz="2400" dirty="0">
                <a:solidFill>
                  <a:srgbClr val="060606"/>
                </a:solidFill>
                <a:latin typeface="楷体" panose="02010609060101010101" pitchFamily="49" charset="-122"/>
                <a:ea typeface="楷体" panose="02010609060101010101" pitchFamily="49" charset="-122"/>
              </a:rPr>
              <a:t>：另外，可知</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不能为负数。即：</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0</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0</a:t>
            </a:r>
            <a:r>
              <a:rPr lang="zh-CN" altLang="en-US" sz="2400" dirty="0">
                <a:solidFill>
                  <a:srgbClr val="060606"/>
                </a:solidFill>
                <a:latin typeface="楷体" panose="02010609060101010101" pitchFamily="49" charset="-122"/>
                <a:ea typeface="楷体" panose="02010609060101010101" pitchFamily="49" charset="-122"/>
              </a:rPr>
              <a:t>。</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23" name="文本框 22"/>
          <p:cNvSpPr txBox="1"/>
          <p:nvPr/>
        </p:nvSpPr>
        <p:spPr>
          <a:xfrm>
            <a:off x="76202" y="610343"/>
            <a:ext cx="10896600" cy="830997"/>
          </a:xfrm>
          <a:prstGeom prst="rect">
            <a:avLst/>
          </a:prstGeom>
          <a:noFill/>
        </p:spPr>
        <p:txBody>
          <a:bodyPr wrap="square">
            <a:spAutoFit/>
          </a:bodyPr>
          <a:lstStyle/>
          <a:p>
            <a:pPr>
              <a:buNone/>
            </a:pPr>
            <a:r>
              <a:rPr lang="en-US" altLang="zh-CN" sz="2400" dirty="0">
                <a:solidFill>
                  <a:srgbClr val="060606"/>
                </a:solidFill>
                <a:latin typeface="楷体" panose="02010609060101010101" pitchFamily="49" charset="-122"/>
                <a:ea typeface="楷体" panose="02010609060101010101" pitchFamily="49" charset="-122"/>
              </a:rPr>
              <a:t>A3(1)</a:t>
            </a:r>
            <a:r>
              <a:rPr lang="zh-CN" altLang="en-US" sz="2400" dirty="0">
                <a:solidFill>
                  <a:srgbClr val="060606"/>
                </a:solidFill>
                <a:latin typeface="楷体" panose="02010609060101010101" pitchFamily="49" charset="-122"/>
                <a:ea typeface="楷体" panose="02010609060101010101" pitchFamily="49" charset="-122"/>
              </a:rPr>
              <a:t>：根据每吨</a:t>
            </a:r>
            <a:r>
              <a:rPr lang="en-US" altLang="zh-CN" sz="2400" dirty="0">
                <a:solidFill>
                  <a:srgbClr val="060606"/>
                </a:solidFill>
                <a:latin typeface="楷体" panose="02010609060101010101" pitchFamily="49" charset="-122"/>
                <a:ea typeface="楷体" panose="02010609060101010101" pitchFamily="49" charset="-122"/>
              </a:rPr>
              <a:t>Ⅰ</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Ⅱ</a:t>
            </a:r>
            <a:r>
              <a:rPr lang="zh-CN" altLang="en-US" sz="2400" dirty="0">
                <a:solidFill>
                  <a:srgbClr val="060606"/>
                </a:solidFill>
                <a:latin typeface="楷体" panose="02010609060101010101" pitchFamily="49" charset="-122"/>
                <a:ea typeface="楷体" panose="02010609060101010101" pitchFamily="49" charset="-122"/>
              </a:rPr>
              <a:t>型饼干对于资源设备的使用情况和现有的资源可利用工时，可知：</a:t>
            </a:r>
            <a:endParaRPr lang="en-US" altLang="zh-CN" sz="2400" dirty="0">
              <a:solidFill>
                <a:srgbClr val="060606"/>
              </a:solidFill>
              <a:latin typeface="楷体" panose="02010609060101010101" pitchFamily="49" charset="-122"/>
              <a:ea typeface="楷体" panose="02010609060101010101" pitchFamily="49" charset="-122"/>
            </a:endParaRPr>
          </a:p>
        </p:txBody>
      </p:sp>
      <p:grpSp>
        <p:nvGrpSpPr>
          <p:cNvPr id="4" name="组合 3"/>
          <p:cNvGrpSpPr/>
          <p:nvPr/>
        </p:nvGrpSpPr>
        <p:grpSpPr>
          <a:xfrm>
            <a:off x="3542114" y="3878099"/>
            <a:ext cx="5961115" cy="2732267"/>
            <a:chOff x="3542114" y="4074039"/>
            <a:chExt cx="5961115" cy="2732267"/>
          </a:xfrm>
        </p:grpSpPr>
        <p:grpSp>
          <p:nvGrpSpPr>
            <p:cNvPr id="18" name="组合 17"/>
            <p:cNvGrpSpPr/>
            <p:nvPr/>
          </p:nvGrpSpPr>
          <p:grpSpPr>
            <a:xfrm>
              <a:off x="4227105" y="4074039"/>
              <a:ext cx="3888432" cy="2248635"/>
              <a:chOff x="2515640" y="2938174"/>
              <a:chExt cx="3888432" cy="2248635"/>
            </a:xfrm>
          </p:grpSpPr>
          <p:grpSp>
            <p:nvGrpSpPr>
              <p:cNvPr id="2" name="组合 12"/>
              <p:cNvGrpSpPr/>
              <p:nvPr/>
            </p:nvGrpSpPr>
            <p:grpSpPr>
              <a:xfrm>
                <a:off x="2515640" y="2938174"/>
                <a:ext cx="3888432" cy="2147010"/>
                <a:chOff x="899592" y="3298214"/>
                <a:chExt cx="3888432" cy="2147010"/>
              </a:xfrm>
            </p:grpSpPr>
            <p:sp>
              <p:nvSpPr>
                <p:cNvPr id="5" name="矩形 4"/>
                <p:cNvSpPr/>
                <p:nvPr/>
              </p:nvSpPr>
              <p:spPr>
                <a:xfrm>
                  <a:off x="899592" y="3298214"/>
                  <a:ext cx="3888432" cy="479234"/>
                </a:xfrm>
                <a:prstGeom prst="rect">
                  <a:avLst/>
                </a:prstGeom>
              </p:spPr>
              <p:txBody>
                <a:bodyPr wrap="square">
                  <a:spAutoFit/>
                </a:bodyPr>
                <a:lstStyle/>
                <a:p>
                  <a:pPr marL="342900" indent="-342900" algn="ctr" fontAlgn="base">
                    <a:lnSpc>
                      <a:spcPct val="110000"/>
                    </a:lnSpc>
                    <a:spcBef>
                      <a:spcPts val="1800"/>
                    </a:spcBef>
                    <a:spcAft>
                      <a:spcPct val="0"/>
                    </a:spcAft>
                  </a:pPr>
                  <a:r>
                    <a:rPr lang="en-US" altLang="zh-CN" sz="2400" dirty="0">
                      <a:solidFill>
                        <a:srgbClr val="060606"/>
                      </a:solidFill>
                    </a:rPr>
                    <a:t>max Z  = 5x</a:t>
                  </a:r>
                  <a:r>
                    <a:rPr lang="en-US" altLang="zh-CN" sz="2400" baseline="-25000" dirty="0">
                      <a:solidFill>
                        <a:srgbClr val="060606"/>
                      </a:solidFill>
                    </a:rPr>
                    <a:t>1</a:t>
                  </a:r>
                  <a:r>
                    <a:rPr lang="en-US" altLang="zh-CN" sz="2400" dirty="0">
                      <a:solidFill>
                        <a:srgbClr val="060606"/>
                      </a:solidFill>
                    </a:rPr>
                    <a:t>+4x</a:t>
                  </a:r>
                  <a:r>
                    <a:rPr lang="en-US" altLang="zh-CN" sz="2400" baseline="-25000" dirty="0">
                      <a:solidFill>
                        <a:srgbClr val="060606"/>
                      </a:solidFill>
                    </a:rPr>
                    <a:t>2</a:t>
                  </a:r>
                  <a:endParaRPr lang="en-US" altLang="zh-CN" sz="2400" dirty="0">
                    <a:solidFill>
                      <a:srgbClr val="060606"/>
                    </a:solidFill>
                  </a:endParaRPr>
                </a:p>
              </p:txBody>
            </p:sp>
            <p:sp>
              <p:nvSpPr>
                <p:cNvPr id="6" name="矩形 5"/>
                <p:cNvSpPr/>
                <p:nvPr/>
              </p:nvSpPr>
              <p:spPr>
                <a:xfrm>
                  <a:off x="899592" y="4437112"/>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err="1">
                      <a:solidFill>
                        <a:srgbClr val="060606"/>
                      </a:solidFill>
                    </a:rPr>
                    <a:t>s.t.</a:t>
                  </a:r>
                  <a:endParaRPr lang="en-US" altLang="zh-CN" sz="2400" dirty="0">
                    <a:solidFill>
                      <a:srgbClr val="060606"/>
                    </a:solidFill>
                  </a:endParaRPr>
                </a:p>
              </p:txBody>
            </p:sp>
            <p:sp>
              <p:nvSpPr>
                <p:cNvPr id="7" name="左大括号 6"/>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14" name="矩形 13"/>
              <p:cNvSpPr/>
              <p:nvPr/>
            </p:nvSpPr>
            <p:spPr>
              <a:xfrm>
                <a:off x="3635896" y="3501008"/>
                <a:ext cx="1930337" cy="461665"/>
              </a:xfrm>
              <a:prstGeom prst="rect">
                <a:avLst/>
              </a:prstGeom>
            </p:spPr>
            <p:txBody>
              <a:bodyPr wrap="none">
                <a:spAutoFit/>
              </a:bodyPr>
              <a:lstStyle/>
              <a:p>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+5x</a:t>
                </a:r>
                <a:r>
                  <a:rPr lang="en-US" altLang="zh-CN" sz="2400" baseline="-25000" dirty="0">
                    <a:solidFill>
                      <a:srgbClr val="060606"/>
                    </a:solidFill>
                  </a:rPr>
                  <a:t>2 </a:t>
                </a:r>
                <a:r>
                  <a:rPr lang="en-US" altLang="zh-CN" sz="2400" dirty="0">
                    <a:solidFill>
                      <a:srgbClr val="060606"/>
                    </a:solidFill>
                  </a:rPr>
                  <a:t>≤15</a:t>
                </a:r>
                <a:endParaRPr lang="zh-CN" altLang="en-US" dirty="0"/>
              </a:p>
            </p:txBody>
          </p:sp>
          <p:sp>
            <p:nvSpPr>
              <p:cNvPr id="15" name="矩形 14"/>
              <p:cNvSpPr/>
              <p:nvPr/>
            </p:nvSpPr>
            <p:spPr>
              <a:xfrm>
                <a:off x="3635896" y="4317098"/>
                <a:ext cx="1930337" cy="461665"/>
              </a:xfrm>
              <a:prstGeom prst="rect">
                <a:avLst/>
              </a:prstGeom>
            </p:spPr>
            <p:txBody>
              <a:bodyPr wrap="none">
                <a:spAutoFit/>
              </a:bodyPr>
              <a:lstStyle/>
              <a:p>
                <a:r>
                  <a:rPr lang="en-US" altLang="zh-CN" sz="2400" dirty="0">
                    <a:solidFill>
                      <a:srgbClr val="060606"/>
                    </a:solidFill>
                  </a:rPr>
                  <a:t>4X</a:t>
                </a:r>
                <a:r>
                  <a:rPr lang="en-US" altLang="zh-CN" sz="2400" baseline="-25000" dirty="0">
                    <a:solidFill>
                      <a:srgbClr val="060606"/>
                    </a:solidFill>
                  </a:rPr>
                  <a:t>1</a:t>
                </a:r>
                <a:r>
                  <a:rPr lang="en-US" altLang="zh-CN" sz="2400" dirty="0">
                    <a:solidFill>
                      <a:srgbClr val="060606"/>
                    </a:solidFill>
                  </a:rPr>
                  <a:t>+4x</a:t>
                </a:r>
                <a:r>
                  <a:rPr lang="en-US" altLang="zh-CN" sz="2400" baseline="-25000" dirty="0">
                    <a:solidFill>
                      <a:srgbClr val="060606"/>
                    </a:solidFill>
                  </a:rPr>
                  <a:t>2 </a:t>
                </a:r>
                <a:r>
                  <a:rPr lang="en-US" altLang="zh-CN" sz="2400" dirty="0">
                    <a:solidFill>
                      <a:srgbClr val="060606"/>
                    </a:solidFill>
                  </a:rPr>
                  <a:t>≤22</a:t>
                </a:r>
                <a:endParaRPr lang="zh-CN" altLang="en-US" sz="2400" dirty="0"/>
              </a:p>
            </p:txBody>
          </p:sp>
          <p:sp>
            <p:nvSpPr>
              <p:cNvPr id="16" name="矩形 15"/>
              <p:cNvSpPr/>
              <p:nvPr/>
            </p:nvSpPr>
            <p:spPr>
              <a:xfrm>
                <a:off x="3635896" y="3909053"/>
                <a:ext cx="1930337" cy="461665"/>
              </a:xfrm>
              <a:prstGeom prst="rect">
                <a:avLst/>
              </a:prstGeom>
            </p:spPr>
            <p:txBody>
              <a:bodyPr wrap="none">
                <a:spAutoFit/>
              </a:bodyPr>
              <a:lstStyle/>
              <a:p>
                <a:r>
                  <a:rPr lang="en-US" altLang="zh-CN" sz="2400" dirty="0">
                    <a:solidFill>
                      <a:srgbClr val="060606"/>
                    </a:solidFill>
                  </a:rPr>
                  <a:t>4X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 </a:t>
                </a:r>
                <a:r>
                  <a:rPr lang="en-US" altLang="zh-CN" sz="2400" dirty="0">
                    <a:solidFill>
                      <a:srgbClr val="060606"/>
                    </a:solidFill>
                  </a:rPr>
                  <a:t>≤10</a:t>
                </a:r>
                <a:endParaRPr lang="zh-CN" altLang="en-US" sz="2400" dirty="0"/>
              </a:p>
            </p:txBody>
          </p:sp>
          <p:sp>
            <p:nvSpPr>
              <p:cNvPr id="17" name="矩形 16"/>
              <p:cNvSpPr/>
              <p:nvPr/>
            </p:nvSpPr>
            <p:spPr>
              <a:xfrm>
                <a:off x="3635896" y="4725144"/>
                <a:ext cx="2028119" cy="461665"/>
              </a:xfrm>
              <a:prstGeom prst="rect">
                <a:avLst/>
              </a:prstGeom>
            </p:spPr>
            <p:txBody>
              <a:bodyPr wrap="none">
                <a:spAutoFit/>
              </a:bodyPr>
              <a:lstStyle/>
              <a:p>
                <a:r>
                  <a:rPr lang="en-US" altLang="zh-CN" sz="2400" dirty="0">
                    <a:solidFill>
                      <a:srgbClr val="060606"/>
                    </a:solidFill>
                  </a:rPr>
                  <a:t>x1</a:t>
                </a: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a:t>
                </a:r>
                <a:r>
                  <a:rPr lang="en-US" altLang="zh-CN" sz="2400" dirty="0">
                    <a:solidFill>
                      <a:srgbClr val="060606"/>
                    </a:solidFill>
                  </a:rPr>
                  <a:t>x2</a:t>
                </a:r>
                <a:r>
                  <a:rPr lang="zh-CN" altLang="en-US" sz="2400" dirty="0">
                    <a:solidFill>
                      <a:srgbClr val="060606"/>
                    </a:solidFill>
                  </a:rPr>
                  <a:t>≥</a:t>
                </a:r>
                <a:r>
                  <a:rPr lang="en-US" altLang="zh-CN" sz="2400" dirty="0">
                    <a:solidFill>
                      <a:srgbClr val="060606"/>
                    </a:solidFill>
                  </a:rPr>
                  <a:t>0</a:t>
                </a:r>
                <a:endParaRPr lang="zh-CN" altLang="en-US" sz="2400" dirty="0">
                  <a:solidFill>
                    <a:srgbClr val="060606"/>
                  </a:solidFill>
                </a:endParaRPr>
              </a:p>
            </p:txBody>
          </p:sp>
        </p:grpSp>
        <p:sp>
          <p:nvSpPr>
            <p:cNvPr id="24" name="文本框 23"/>
            <p:cNvSpPr txBox="1"/>
            <p:nvPr/>
          </p:nvSpPr>
          <p:spPr>
            <a:xfrm>
              <a:off x="3542114" y="6344641"/>
              <a:ext cx="5961115" cy="461665"/>
            </a:xfrm>
            <a:prstGeom prst="rect">
              <a:avLst/>
            </a:prstGeom>
            <a:noFill/>
          </p:spPr>
          <p:txBody>
            <a:bodyPr wrap="square" rtlCol="0">
              <a:spAutoFit/>
            </a:bodyPr>
            <a:lstStyle/>
            <a:p>
              <a:pPr algn="ctr"/>
              <a:r>
                <a:rPr lang="zh-CN" altLang="en-US" sz="2400" dirty="0">
                  <a:latin typeface="楷体" panose="02010609060101010101" pitchFamily="49" charset="-122"/>
                  <a:ea typeface="楷体" panose="02010609060101010101" pitchFamily="49" charset="-122"/>
                </a:rPr>
                <a:t>数学模型</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：饼干生产问题的数学表达</a:t>
              </a:r>
              <a:endParaRPr lang="zh-CN" altLang="en-US" sz="2400" dirty="0">
                <a:latin typeface="楷体" panose="02010609060101010101" pitchFamily="49" charset="-122"/>
                <a:ea typeface="楷体" panose="02010609060101010101" pitchFamily="49" charset="-122"/>
              </a:endParaRPr>
            </a:p>
          </p:txBody>
        </p:sp>
      </p:grpSp>
      <p:sp>
        <p:nvSpPr>
          <p:cNvPr id="8" name="文本框 7"/>
          <p:cNvSpPr txBox="1"/>
          <p:nvPr/>
        </p:nvSpPr>
        <p:spPr>
          <a:xfrm>
            <a:off x="112305" y="54192"/>
            <a:ext cx="7761514" cy="461665"/>
          </a:xfrm>
          <a:prstGeom prst="rect">
            <a:avLst/>
          </a:prstGeom>
          <a:noFill/>
        </p:spPr>
        <p:txBody>
          <a:bodyPr wrap="square" rtlCol="0">
            <a:spAutoFit/>
          </a:bodyPr>
          <a:lstStyle/>
          <a:p>
            <a:r>
              <a:rPr lang="en-US" altLang="zh-CN" sz="2400" dirty="0">
                <a:latin typeface="楷体" panose="02010609060101010101" pitchFamily="49" charset="-122"/>
                <a:ea typeface="楷体" panose="02010609060101010101" pitchFamily="49" charset="-122"/>
              </a:rPr>
              <a:t>Q3,</a:t>
            </a:r>
            <a:r>
              <a:rPr lang="zh-CN" altLang="en-US" sz="2400" dirty="0">
                <a:latin typeface="楷体" panose="02010609060101010101" pitchFamily="49" charset="-122"/>
                <a:ea typeface="楷体" panose="02010609060101010101" pitchFamily="49" charset="-122"/>
              </a:rPr>
              <a:t>看看有哪些条件限制</a:t>
            </a:r>
            <a:r>
              <a:rPr lang="en-US" altLang="zh-CN" sz="2400" dirty="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
        <p:nvSpPr>
          <p:cNvPr id="9" name="文本框 8"/>
          <p:cNvSpPr txBox="1"/>
          <p:nvPr/>
        </p:nvSpPr>
        <p:spPr>
          <a:xfrm>
            <a:off x="8763609" y="3523434"/>
            <a:ext cx="2891834" cy="2062103"/>
          </a:xfrm>
          <a:prstGeom prst="rect">
            <a:avLst/>
          </a:prstGeom>
          <a:noFill/>
        </p:spPr>
        <p:txBody>
          <a:bodyPr wrap="square" rtlCol="0">
            <a:spAutoFit/>
          </a:bodyPr>
          <a:lstStyle/>
          <a:p>
            <a:r>
              <a:rPr lang="zh-CN" altLang="en-US" sz="3200" dirty="0">
                <a:latin typeface="楷体" panose="02010609060101010101" pitchFamily="49" charset="-122"/>
                <a:ea typeface="楷体" panose="02010609060101010101" pitchFamily="49" charset="-122"/>
              </a:rPr>
              <a:t>请</a:t>
            </a:r>
            <a:r>
              <a:rPr lang="zh-CN" altLang="en-US" sz="3200" b="1" i="1" dirty="0">
                <a:solidFill>
                  <a:srgbClr val="0322BD"/>
                </a:solidFill>
                <a:latin typeface="楷体" panose="02010609060101010101" pitchFamily="49" charset="-122"/>
                <a:ea typeface="楷体" panose="02010609060101010101" pitchFamily="49" charset="-122"/>
              </a:rPr>
              <a:t>反思</a:t>
            </a:r>
            <a:r>
              <a:rPr lang="zh-CN" altLang="en-US" sz="3200" dirty="0">
                <a:latin typeface="楷体" panose="02010609060101010101" pitchFamily="49" charset="-122"/>
                <a:ea typeface="楷体" panose="02010609060101010101" pitchFamily="49" charset="-122"/>
              </a:rPr>
              <a:t>你的思维过程，</a:t>
            </a:r>
            <a:r>
              <a:rPr lang="zh-CN" altLang="en-US" sz="3200" b="1" i="1" dirty="0">
                <a:solidFill>
                  <a:srgbClr val="0322BD"/>
                </a:solidFill>
                <a:latin typeface="楷体" panose="02010609060101010101" pitchFamily="49" charset="-122"/>
                <a:ea typeface="楷体" panose="02010609060101010101" pitchFamily="49" charset="-122"/>
              </a:rPr>
              <a:t>优化</a:t>
            </a:r>
            <a:r>
              <a:rPr lang="zh-CN" altLang="en-US" sz="3200" dirty="0">
                <a:latin typeface="楷体" panose="02010609060101010101" pitchFamily="49" charset="-122"/>
                <a:ea typeface="楷体" panose="02010609060101010101" pitchFamily="49" charset="-122"/>
              </a:rPr>
              <a:t>你的</a:t>
            </a:r>
            <a:r>
              <a:rPr lang="zh-CN" altLang="en-US" sz="3200" b="1" dirty="0">
                <a:solidFill>
                  <a:srgbClr val="0322BD"/>
                </a:solidFill>
                <a:latin typeface="楷体" panose="02010609060101010101" pitchFamily="49" charset="-122"/>
                <a:ea typeface="楷体" panose="02010609060101010101" pitchFamily="49" charset="-122"/>
              </a:rPr>
              <a:t>数学建模过程</a:t>
            </a:r>
            <a:endParaRPr lang="en-US" altLang="zh-CN" sz="32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2" grpId="0"/>
      <p:bldP spid="23" grpId="0"/>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0515600" cy="936104"/>
          </a:xfrm>
        </p:spPr>
        <p:txBody>
          <a:bodyPr>
            <a:normAutofit/>
          </a:bodyPr>
          <a:lstStyle/>
          <a:p>
            <a:r>
              <a:rPr lang="zh-CN" altLang="en-US" sz="3200" dirty="0">
                <a:latin typeface="楷体" panose="02010609060101010101" pitchFamily="49" charset="-122"/>
                <a:ea typeface="楷体" panose="02010609060101010101" pitchFamily="49" charset="-122"/>
              </a:rPr>
              <a:t>例</a:t>
            </a:r>
            <a:r>
              <a:rPr lang="en-US" altLang="zh-CN" sz="3200" dirty="0">
                <a:latin typeface="楷体" panose="02010609060101010101" pitchFamily="49" charset="-122"/>
                <a:ea typeface="楷体" panose="02010609060101010101" pitchFamily="49" charset="-122"/>
              </a:rPr>
              <a:t>5.</a:t>
            </a:r>
            <a:r>
              <a:rPr lang="zh-CN" altLang="en-US" sz="3200" dirty="0">
                <a:latin typeface="楷体" panose="02010609060101010101" pitchFamily="49" charset="-122"/>
                <a:ea typeface="楷体" panose="02010609060101010101" pitchFamily="49" charset="-122"/>
              </a:rPr>
              <a:t>产品组合问题</a:t>
            </a:r>
            <a:r>
              <a:rPr lang="en-US" altLang="zh-CN" sz="3200" dirty="0">
                <a:latin typeface="楷体" panose="02010609060101010101" pitchFamily="49" charset="-122"/>
                <a:ea typeface="楷体" panose="02010609060101010101" pitchFamily="49" charset="-122"/>
              </a:rPr>
              <a:t>【</a:t>
            </a:r>
            <a:r>
              <a:rPr lang="zh-CN" altLang="en-US" sz="3200" dirty="0">
                <a:latin typeface="楷体" panose="02010609060101010101" pitchFamily="49" charset="-122"/>
                <a:ea typeface="楷体" panose="02010609060101010101" pitchFamily="49" charset="-122"/>
              </a:rPr>
              <a:t>实践出真知</a:t>
            </a:r>
            <a:r>
              <a:rPr lang="en-US" altLang="zh-CN" sz="3200" dirty="0">
                <a:latin typeface="楷体" panose="02010609060101010101" pitchFamily="49" charset="-122"/>
                <a:ea typeface="楷体" panose="02010609060101010101" pitchFamily="49" charset="-122"/>
              </a:rPr>
              <a:t>】</a:t>
            </a:r>
            <a:endParaRPr lang="zh-CN" altLang="en-US" sz="3200"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511742" y="1001256"/>
            <a:ext cx="11168516" cy="936104"/>
          </a:xfrm>
        </p:spPr>
        <p:txBody>
          <a:bodyPr>
            <a:normAutofit/>
          </a:bodyPr>
          <a:lstStyle/>
          <a:p>
            <a:pPr>
              <a:buNone/>
            </a:pPr>
            <a:r>
              <a:rPr lang="zh-CN" altLang="en-US" dirty="0">
                <a:latin typeface="楷体" panose="02010609060101010101" pitchFamily="49" charset="-122"/>
                <a:ea typeface="楷体" panose="02010609060101010101" pitchFamily="49" charset="-122"/>
              </a:rPr>
              <a:t>某公司现有</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条生产线来生产</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种型产品，其主要数据如表所示</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时间单位为小时，利润单位为百元</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请问如何生产可以使公司每周利润最大？</a:t>
            </a:r>
            <a:endParaRPr lang="zh-CN" altLang="en-US" dirty="0">
              <a:latin typeface="楷体" panose="02010609060101010101" pitchFamily="49" charset="-122"/>
              <a:ea typeface="楷体" panose="02010609060101010101" pitchFamily="49" charset="-122"/>
            </a:endParaRPr>
          </a:p>
        </p:txBody>
      </p:sp>
      <p:graphicFrame>
        <p:nvGraphicFramePr>
          <p:cNvPr id="4" name="表格 3"/>
          <p:cNvGraphicFramePr>
            <a:graphicFrameLocks noGrp="1"/>
          </p:cNvGraphicFramePr>
          <p:nvPr/>
        </p:nvGraphicFramePr>
        <p:xfrm>
          <a:off x="402406" y="2183904"/>
          <a:ext cx="11387188" cy="3291840"/>
        </p:xfrm>
        <a:graphic>
          <a:graphicData uri="http://schemas.openxmlformats.org/drawingml/2006/table">
            <a:tbl>
              <a:tblPr firstRow="1" bandRow="1">
                <a:tableStyleId>{5C22544A-7EE6-4342-B048-85BDC9FD1C3A}</a:tableStyleId>
              </a:tblPr>
              <a:tblGrid>
                <a:gridCol w="2319389"/>
                <a:gridCol w="3374205"/>
                <a:gridCol w="2846797"/>
                <a:gridCol w="2846797"/>
              </a:tblGrid>
              <a:tr h="370840">
                <a:tc rowSpan="2">
                  <a:txBody>
                    <a:bodyPr/>
                    <a:lstStyle/>
                    <a:p>
                      <a:r>
                        <a:rPr lang="zh-CN" altLang="en-US" sz="2400" dirty="0">
                          <a:solidFill>
                            <a:srgbClr val="060606"/>
                          </a:solidFill>
                        </a:rPr>
                        <a:t>生产线</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zh-CN" altLang="en-US" sz="2400" dirty="0">
                          <a:solidFill>
                            <a:srgbClr val="060606"/>
                          </a:solidFill>
                        </a:rPr>
                        <a:t>生产每批产品所需时间</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rowSpan="2">
                  <a:txBody>
                    <a:bodyPr/>
                    <a:lstStyle/>
                    <a:p>
                      <a:r>
                        <a:rPr lang="zh-CN" altLang="en-US" sz="2400" dirty="0">
                          <a:solidFill>
                            <a:srgbClr val="060606"/>
                          </a:solidFill>
                        </a:rPr>
                        <a:t>每周可用时间</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rowSpan="2">
                  <a:txBody>
                    <a:bodyPr/>
                    <a:lstStyle/>
                    <a:p>
                      <a:r>
                        <a:rPr lang="zh-CN" altLang="en-US" sz="2400" dirty="0">
                          <a:solidFill>
                            <a:srgbClr val="060606"/>
                          </a:solidFill>
                        </a:rPr>
                        <a:t>资源单位成本</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v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zh-CN" altLang="en-US" sz="2400" dirty="0">
                          <a:solidFill>
                            <a:srgbClr val="060606"/>
                          </a:solidFill>
                        </a:rPr>
                        <a:t>产品甲          产品乙</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410448">
                <a:tc>
                  <a:txBody>
                    <a:bodyPr/>
                    <a:lstStyle/>
                    <a:p>
                      <a:r>
                        <a:rPr lang="zh-CN" altLang="en-US" sz="2400" dirty="0">
                          <a:solidFill>
                            <a:srgbClr val="060606"/>
                          </a:solidFill>
                        </a:rPr>
                        <a:t>生产线一</a:t>
                      </a:r>
                      <a:endParaRPr lang="en-US" altLang="zh-CN" sz="2400" dirty="0">
                        <a:solidFill>
                          <a:srgbClr val="060606"/>
                        </a:solidFill>
                      </a:endParaRPr>
                    </a:p>
                    <a:p>
                      <a:endParaRPr lang="en-US" altLang="zh-CN" sz="2400" dirty="0">
                        <a:solidFill>
                          <a:srgbClr val="060606"/>
                        </a:solidFill>
                      </a:endParaRPr>
                    </a:p>
                    <a:p>
                      <a:r>
                        <a:rPr lang="zh-CN" altLang="en-US" sz="2400" dirty="0">
                          <a:solidFill>
                            <a:srgbClr val="060606"/>
                          </a:solidFill>
                        </a:rPr>
                        <a:t>生产线二</a:t>
                      </a:r>
                      <a:endParaRPr lang="en-US" altLang="zh-CN" sz="2400" dirty="0">
                        <a:solidFill>
                          <a:srgbClr val="060606"/>
                        </a:solidFill>
                      </a:endParaRPr>
                    </a:p>
                    <a:p>
                      <a:endParaRPr lang="en-US" altLang="zh-CN" sz="2400" dirty="0">
                        <a:solidFill>
                          <a:srgbClr val="060606"/>
                        </a:solidFill>
                      </a:endParaRPr>
                    </a:p>
                    <a:p>
                      <a:r>
                        <a:rPr lang="zh-CN" altLang="en-US" sz="2400" dirty="0">
                          <a:solidFill>
                            <a:srgbClr val="060606"/>
                          </a:solidFill>
                        </a:rPr>
                        <a:t>生产线三</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sz="2400" dirty="0">
                          <a:solidFill>
                            <a:srgbClr val="060606"/>
                          </a:solidFill>
                        </a:rPr>
                        <a:t>1                     0</a:t>
                      </a:r>
                      <a:endParaRPr lang="en-US" altLang="zh-CN" sz="2400" dirty="0">
                        <a:solidFill>
                          <a:srgbClr val="060606"/>
                        </a:solidFill>
                      </a:endParaRPr>
                    </a:p>
                    <a:p>
                      <a:pPr algn="ctr"/>
                      <a:endParaRPr lang="en-US" altLang="zh-CN" sz="2400" dirty="0">
                        <a:solidFill>
                          <a:srgbClr val="060606"/>
                        </a:solidFill>
                      </a:endParaRPr>
                    </a:p>
                    <a:p>
                      <a:pPr algn="ctr"/>
                      <a:r>
                        <a:rPr lang="en-US" altLang="zh-CN" sz="2400" dirty="0">
                          <a:solidFill>
                            <a:srgbClr val="060606"/>
                          </a:solidFill>
                        </a:rPr>
                        <a:t>0                     2</a:t>
                      </a:r>
                      <a:endParaRPr lang="en-US" altLang="zh-CN" sz="2400" dirty="0">
                        <a:solidFill>
                          <a:srgbClr val="060606"/>
                        </a:solidFill>
                      </a:endParaRPr>
                    </a:p>
                    <a:p>
                      <a:pPr algn="ctr"/>
                      <a:endParaRPr lang="en-US" altLang="zh-CN" sz="2400" dirty="0">
                        <a:solidFill>
                          <a:srgbClr val="060606"/>
                        </a:solidFill>
                      </a:endParaRPr>
                    </a:p>
                    <a:p>
                      <a:pPr algn="ctr"/>
                      <a:r>
                        <a:rPr lang="en-US" altLang="zh-CN" sz="2400" dirty="0">
                          <a:solidFill>
                            <a:srgbClr val="060606"/>
                          </a:solidFill>
                        </a:rPr>
                        <a:t>3                     2</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sz="2400" dirty="0">
                          <a:solidFill>
                            <a:srgbClr val="060606"/>
                          </a:solidFill>
                        </a:rPr>
                        <a:t>4</a:t>
                      </a:r>
                      <a:r>
                        <a:rPr lang="zh-CN" altLang="en-US" sz="2400" dirty="0">
                          <a:solidFill>
                            <a:srgbClr val="060606"/>
                          </a:solidFill>
                        </a:rPr>
                        <a:t>小时</a:t>
                      </a:r>
                      <a:endParaRPr lang="en-US" altLang="zh-CN" sz="2400" dirty="0">
                        <a:solidFill>
                          <a:srgbClr val="060606"/>
                        </a:solidFill>
                      </a:endParaRPr>
                    </a:p>
                    <a:p>
                      <a:pPr algn="ctr"/>
                      <a:endParaRPr lang="en-US" altLang="zh-CN" sz="2400" dirty="0">
                        <a:solidFill>
                          <a:srgbClr val="060606"/>
                        </a:solidFill>
                      </a:endParaRPr>
                    </a:p>
                    <a:p>
                      <a:pPr algn="ctr"/>
                      <a:r>
                        <a:rPr lang="en-US" altLang="zh-CN" sz="2400" dirty="0">
                          <a:solidFill>
                            <a:srgbClr val="060606"/>
                          </a:solidFill>
                        </a:rPr>
                        <a:t>12</a:t>
                      </a:r>
                      <a:r>
                        <a:rPr lang="zh-CN" altLang="en-US" sz="2400" dirty="0">
                          <a:solidFill>
                            <a:srgbClr val="060606"/>
                          </a:solidFill>
                        </a:rPr>
                        <a:t>小时</a:t>
                      </a:r>
                      <a:endParaRPr lang="en-US" altLang="zh-CN" sz="2400" dirty="0">
                        <a:solidFill>
                          <a:srgbClr val="060606"/>
                        </a:solidFill>
                      </a:endParaRPr>
                    </a:p>
                    <a:p>
                      <a:pPr algn="ctr"/>
                      <a:endParaRPr lang="en-US" altLang="zh-CN" sz="2400" dirty="0">
                        <a:solidFill>
                          <a:srgbClr val="060606"/>
                        </a:solidFill>
                      </a:endParaRPr>
                    </a:p>
                    <a:p>
                      <a:pPr algn="ctr"/>
                      <a:r>
                        <a:rPr lang="en-US" altLang="zh-CN" sz="2400" dirty="0">
                          <a:solidFill>
                            <a:srgbClr val="060606"/>
                          </a:solidFill>
                        </a:rPr>
                        <a:t>18</a:t>
                      </a:r>
                      <a:r>
                        <a:rPr lang="zh-CN" altLang="en-US" sz="2400" dirty="0">
                          <a:solidFill>
                            <a:srgbClr val="060606"/>
                          </a:solidFill>
                        </a:rPr>
                        <a:t>小时</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solidFill>
                            <a:srgbClr val="060606"/>
                          </a:solidFill>
                        </a:rPr>
                        <a:t>1</a:t>
                      </a:r>
                      <a:r>
                        <a:rPr lang="zh-CN" altLang="en-US" sz="2400" dirty="0">
                          <a:solidFill>
                            <a:srgbClr val="060606"/>
                          </a:solidFill>
                        </a:rPr>
                        <a:t>百元</a:t>
                      </a:r>
                      <a:r>
                        <a:rPr lang="en-US" altLang="zh-CN" sz="2400" dirty="0">
                          <a:solidFill>
                            <a:srgbClr val="060606"/>
                          </a:solidFill>
                        </a:rPr>
                        <a:t>/</a:t>
                      </a:r>
                      <a:r>
                        <a:rPr lang="zh-CN" altLang="en-US" sz="2400" dirty="0">
                          <a:solidFill>
                            <a:srgbClr val="060606"/>
                          </a:solidFill>
                        </a:rPr>
                        <a:t>小时</a:t>
                      </a:r>
                      <a:endParaRPr lang="en-US" altLang="zh-CN" sz="2400" dirty="0">
                        <a:solidFill>
                          <a:srgbClr val="060606"/>
                        </a:solidFill>
                      </a:endParaRPr>
                    </a:p>
                    <a:p>
                      <a:endParaRPr lang="en-US" altLang="zh-CN" sz="2400" dirty="0">
                        <a:solidFill>
                          <a:srgbClr val="060606"/>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1</a:t>
                      </a:r>
                      <a:r>
                        <a:rPr lang="zh-CN" altLang="en-US" sz="2400" dirty="0">
                          <a:solidFill>
                            <a:srgbClr val="060606"/>
                          </a:solidFill>
                        </a:rPr>
                        <a:t>百元</a:t>
                      </a:r>
                      <a:r>
                        <a:rPr lang="en-US" altLang="zh-CN" sz="2400" dirty="0">
                          <a:solidFill>
                            <a:srgbClr val="060606"/>
                          </a:solidFill>
                        </a:rPr>
                        <a:t>/</a:t>
                      </a:r>
                      <a:r>
                        <a:rPr lang="zh-CN" altLang="en-US" sz="2400" dirty="0">
                          <a:solidFill>
                            <a:srgbClr val="060606"/>
                          </a:solidFill>
                        </a:rPr>
                        <a:t>小时</a:t>
                      </a:r>
                      <a:endParaRPr lang="zh-CN" altLang="en-US" sz="2400" dirty="0">
                        <a:solidFill>
                          <a:srgbClr val="060606"/>
                        </a:solidFill>
                      </a:endParaRPr>
                    </a:p>
                    <a:p>
                      <a:endParaRPr lang="en-US" altLang="zh-CN" sz="2400" dirty="0">
                        <a:solidFill>
                          <a:srgbClr val="060606"/>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1</a:t>
                      </a:r>
                      <a:r>
                        <a:rPr lang="zh-CN" altLang="en-US" sz="2400" dirty="0">
                          <a:solidFill>
                            <a:srgbClr val="060606"/>
                          </a:solidFill>
                        </a:rPr>
                        <a:t>百元</a:t>
                      </a:r>
                      <a:r>
                        <a:rPr lang="en-US" altLang="zh-CN" sz="2400" dirty="0">
                          <a:solidFill>
                            <a:srgbClr val="060606"/>
                          </a:solidFill>
                        </a:rPr>
                        <a:t>/</a:t>
                      </a:r>
                      <a:r>
                        <a:rPr lang="zh-CN" altLang="en-US" sz="2400" dirty="0">
                          <a:solidFill>
                            <a:srgbClr val="060606"/>
                          </a:solidFill>
                        </a:rPr>
                        <a:t>小时</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r>
                        <a:rPr lang="zh-CN" altLang="en-US" sz="2400" dirty="0">
                          <a:solidFill>
                            <a:srgbClr val="060606"/>
                          </a:solidFill>
                        </a:rPr>
                        <a:t>产品售价</a:t>
                      </a:r>
                      <a:r>
                        <a:rPr lang="en-US" altLang="zh-CN" sz="2400" dirty="0">
                          <a:solidFill>
                            <a:srgbClr val="060606"/>
                          </a:solidFill>
                        </a:rPr>
                        <a:t>(</a:t>
                      </a:r>
                      <a:r>
                        <a:rPr lang="zh-CN" altLang="en-US" sz="2400" dirty="0">
                          <a:solidFill>
                            <a:srgbClr val="060606"/>
                          </a:solidFill>
                        </a:rPr>
                        <a:t>百元</a:t>
                      </a:r>
                      <a:r>
                        <a:rPr lang="en-US" altLang="zh-CN" sz="240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sz="2400" dirty="0">
                          <a:solidFill>
                            <a:srgbClr val="060606"/>
                          </a:solidFill>
                        </a:rPr>
                        <a:t>7                     9</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p:sp>
        <p:nvSpPr>
          <p:cNvPr id="6" name="矩形: 折角 5"/>
          <p:cNvSpPr/>
          <p:nvPr/>
        </p:nvSpPr>
        <p:spPr>
          <a:xfrm flipV="1">
            <a:off x="141514" y="783705"/>
            <a:ext cx="11908972" cy="5018381"/>
          </a:xfrm>
          <a:prstGeom prst="foldedCorner">
            <a:avLst>
              <a:gd name="adj" fmla="val 1124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2771" y="188640"/>
            <a:ext cx="11451772" cy="3096344"/>
          </a:xfrm>
        </p:spPr>
        <p:txBody>
          <a:bodyPr>
            <a:normAutofit/>
          </a:bodyPr>
          <a:lstStyle/>
          <a:p>
            <a:pPr>
              <a:buNone/>
            </a:pPr>
            <a:r>
              <a:rPr lang="zh-CN" altLang="en-US" dirty="0">
                <a:solidFill>
                  <a:srgbClr val="060606"/>
                </a:solidFill>
                <a:latin typeface="楷体" panose="02010609060101010101" pitchFamily="49" charset="-122"/>
                <a:ea typeface="楷体" panose="02010609060101010101" pitchFamily="49" charset="-122"/>
              </a:rPr>
              <a:t>设每周生产产品甲和乙</a:t>
            </a:r>
            <a:r>
              <a:rPr lang="en-US" altLang="zh-CN" dirty="0">
                <a:solidFill>
                  <a:srgbClr val="060606"/>
                </a:solidFill>
                <a:latin typeface="楷体" panose="02010609060101010101" pitchFamily="49" charset="-122"/>
                <a:ea typeface="楷体" panose="02010609060101010101" pitchFamily="49" charset="-122"/>
              </a:rPr>
              <a:t>x</a:t>
            </a:r>
            <a:r>
              <a:rPr lang="en-US" altLang="zh-CN" baseline="-25000" dirty="0">
                <a:solidFill>
                  <a:srgbClr val="060606"/>
                </a:solidFill>
                <a:latin typeface="楷体" panose="02010609060101010101" pitchFamily="49" charset="-122"/>
                <a:ea typeface="楷体" panose="02010609060101010101" pitchFamily="49" charset="-122"/>
              </a:rPr>
              <a:t>1</a:t>
            </a:r>
            <a:r>
              <a:rPr lang="zh-CN" altLang="en-US" dirty="0">
                <a:solidFill>
                  <a:srgbClr val="060606"/>
                </a:solidFill>
                <a:latin typeface="楷体" panose="02010609060101010101" pitchFamily="49" charset="-122"/>
                <a:ea typeface="楷体" panose="02010609060101010101" pitchFamily="49" charset="-122"/>
              </a:rPr>
              <a:t>、</a:t>
            </a:r>
            <a:r>
              <a:rPr lang="en-US" altLang="zh-CN" dirty="0">
                <a:solidFill>
                  <a:srgbClr val="060606"/>
                </a:solidFill>
                <a:latin typeface="楷体" panose="02010609060101010101" pitchFamily="49" charset="-122"/>
                <a:ea typeface="楷体" panose="02010609060101010101" pitchFamily="49" charset="-122"/>
              </a:rPr>
              <a:t>x</a:t>
            </a:r>
            <a:r>
              <a:rPr lang="en-US" altLang="zh-CN" baseline="-25000" dirty="0">
                <a:solidFill>
                  <a:srgbClr val="060606"/>
                </a:solidFill>
                <a:latin typeface="楷体" panose="02010609060101010101" pitchFamily="49" charset="-122"/>
                <a:ea typeface="楷体" panose="02010609060101010101" pitchFamily="49" charset="-122"/>
              </a:rPr>
              <a:t>2</a:t>
            </a:r>
            <a:r>
              <a:rPr lang="zh-CN" altLang="en-US" dirty="0">
                <a:solidFill>
                  <a:srgbClr val="060606"/>
                </a:solidFill>
                <a:latin typeface="楷体" panose="02010609060101010101" pitchFamily="49" charset="-122"/>
                <a:ea typeface="楷体" panose="02010609060101010101" pitchFamily="49" charset="-122"/>
              </a:rPr>
              <a:t>批</a:t>
            </a:r>
            <a:r>
              <a:rPr lang="en-US" altLang="zh-CN" dirty="0">
                <a:solidFill>
                  <a:srgbClr val="060606"/>
                </a:solidFill>
                <a:latin typeface="楷体" panose="02010609060101010101" pitchFamily="49" charset="-122"/>
                <a:ea typeface="楷体" panose="02010609060101010101" pitchFamily="49" charset="-122"/>
              </a:rPr>
              <a:t>(</a:t>
            </a:r>
            <a:r>
              <a:rPr lang="zh-CN" altLang="en-US" dirty="0">
                <a:solidFill>
                  <a:srgbClr val="060606"/>
                </a:solidFill>
                <a:latin typeface="楷体" panose="02010609060101010101" pitchFamily="49" charset="-122"/>
                <a:ea typeface="楷体" panose="02010609060101010101" pitchFamily="49" charset="-122"/>
              </a:rPr>
              <a:t>决策变量</a:t>
            </a:r>
            <a:r>
              <a:rPr lang="en-US" altLang="zh-CN" dirty="0">
                <a:solidFill>
                  <a:srgbClr val="060606"/>
                </a:solidFill>
                <a:latin typeface="楷体" panose="02010609060101010101" pitchFamily="49" charset="-122"/>
                <a:ea typeface="楷体" panose="02010609060101010101" pitchFamily="49" charset="-122"/>
              </a:rPr>
              <a:t>)</a:t>
            </a:r>
            <a:r>
              <a:rPr lang="zh-CN" altLang="en-US" dirty="0">
                <a:solidFill>
                  <a:srgbClr val="060606"/>
                </a:solidFill>
                <a:latin typeface="楷体" panose="02010609060101010101" pitchFamily="49" charset="-122"/>
                <a:ea typeface="楷体" panose="02010609060101010101" pitchFamily="49" charset="-122"/>
              </a:rPr>
              <a:t>，总利润为</a:t>
            </a:r>
            <a:r>
              <a:rPr lang="en-US" altLang="zh-CN" dirty="0">
                <a:solidFill>
                  <a:srgbClr val="060606"/>
                </a:solidFill>
                <a:latin typeface="楷体" panose="02010609060101010101" pitchFamily="49" charset="-122"/>
                <a:ea typeface="楷体" panose="02010609060101010101" pitchFamily="49" charset="-122"/>
              </a:rPr>
              <a:t>Z(</a:t>
            </a:r>
            <a:r>
              <a:rPr lang="zh-CN" altLang="en-US" dirty="0">
                <a:solidFill>
                  <a:srgbClr val="060606"/>
                </a:solidFill>
                <a:latin typeface="楷体" panose="02010609060101010101" pitchFamily="49" charset="-122"/>
                <a:ea typeface="楷体" panose="02010609060101010101" pitchFamily="49" charset="-122"/>
              </a:rPr>
              <a:t>目标变量</a:t>
            </a:r>
            <a:r>
              <a:rPr lang="en-US" altLang="zh-CN" dirty="0">
                <a:solidFill>
                  <a:srgbClr val="060606"/>
                </a:solidFill>
                <a:latin typeface="楷体" panose="02010609060101010101" pitchFamily="49" charset="-122"/>
                <a:ea typeface="楷体" panose="02010609060101010101" pitchFamily="49" charset="-122"/>
              </a:rPr>
              <a:t>)</a:t>
            </a:r>
            <a:endParaRPr lang="en-US" altLang="zh-CN" dirty="0">
              <a:solidFill>
                <a:srgbClr val="060606"/>
              </a:solidFill>
              <a:latin typeface="楷体" panose="02010609060101010101" pitchFamily="49" charset="-122"/>
              <a:ea typeface="楷体" panose="02010609060101010101" pitchFamily="49" charset="-122"/>
            </a:endParaRPr>
          </a:p>
          <a:p>
            <a:pPr>
              <a:buNone/>
            </a:pPr>
            <a:r>
              <a:rPr lang="zh-CN" altLang="en-US" dirty="0">
                <a:solidFill>
                  <a:srgbClr val="060606"/>
                </a:solidFill>
                <a:latin typeface="楷体" panose="02010609060101010101" pitchFamily="49" charset="-122"/>
                <a:ea typeface="楷体" panose="02010609060101010101" pitchFamily="49" charset="-122"/>
              </a:rPr>
              <a:t>分析表中数据可知，生产一批产品甲，需要使用生产线一小时和生产线三</a:t>
            </a:r>
            <a:r>
              <a:rPr lang="en-US" altLang="zh-CN" dirty="0">
                <a:solidFill>
                  <a:srgbClr val="060606"/>
                </a:solidFill>
                <a:latin typeface="楷体" panose="02010609060101010101" pitchFamily="49" charset="-122"/>
                <a:ea typeface="楷体" panose="02010609060101010101" pitchFamily="49" charset="-122"/>
              </a:rPr>
              <a:t>3</a:t>
            </a:r>
            <a:r>
              <a:rPr lang="zh-CN" altLang="en-US" dirty="0">
                <a:solidFill>
                  <a:srgbClr val="060606"/>
                </a:solidFill>
                <a:latin typeface="楷体" panose="02010609060101010101" pitchFamily="49" charset="-122"/>
                <a:ea typeface="楷体" panose="02010609060101010101" pitchFamily="49" charset="-122"/>
              </a:rPr>
              <a:t>小时，一批产品甲利润 </a:t>
            </a:r>
            <a:r>
              <a:rPr lang="en-US" altLang="zh-CN" dirty="0">
                <a:solidFill>
                  <a:srgbClr val="060606"/>
                </a:solidFill>
                <a:latin typeface="楷体" panose="02010609060101010101" pitchFamily="49" charset="-122"/>
                <a:ea typeface="楷体" panose="02010609060101010101" pitchFamily="49" charset="-122"/>
              </a:rPr>
              <a:t>= </a:t>
            </a:r>
            <a:r>
              <a:rPr lang="zh-CN" altLang="en-US" dirty="0">
                <a:solidFill>
                  <a:srgbClr val="060606"/>
                </a:solidFill>
                <a:latin typeface="楷体" panose="02010609060101010101" pitchFamily="49" charset="-122"/>
                <a:ea typeface="楷体" panose="02010609060101010101" pitchFamily="49" charset="-122"/>
              </a:rPr>
              <a:t>产品甲售价 </a:t>
            </a:r>
            <a:r>
              <a:rPr lang="en-US" altLang="zh-CN" dirty="0">
                <a:solidFill>
                  <a:srgbClr val="060606"/>
                </a:solidFill>
                <a:latin typeface="楷体" panose="02010609060101010101" pitchFamily="49" charset="-122"/>
                <a:ea typeface="楷体" panose="02010609060101010101" pitchFamily="49" charset="-122"/>
              </a:rPr>
              <a:t>– </a:t>
            </a:r>
            <a:r>
              <a:rPr lang="zh-CN" altLang="en-US" dirty="0">
                <a:solidFill>
                  <a:srgbClr val="060606"/>
                </a:solidFill>
                <a:latin typeface="楷体" panose="02010609060101010101" pitchFamily="49" charset="-122"/>
                <a:ea typeface="楷体" panose="02010609060101010101" pitchFamily="49" charset="-122"/>
              </a:rPr>
              <a:t>资源成本 </a:t>
            </a:r>
            <a:r>
              <a:rPr lang="en-US" altLang="zh-CN" dirty="0">
                <a:solidFill>
                  <a:srgbClr val="060606"/>
                </a:solidFill>
                <a:latin typeface="楷体" panose="02010609060101010101" pitchFamily="49" charset="-122"/>
                <a:ea typeface="楷体" panose="02010609060101010101" pitchFamily="49" charset="-122"/>
              </a:rPr>
              <a:t>= 7 – 1 × 1 -1 × 3 = </a:t>
            </a:r>
            <a:r>
              <a:rPr lang="en-US" altLang="zh-CN" dirty="0" err="1">
                <a:solidFill>
                  <a:srgbClr val="060606"/>
                </a:solidFill>
                <a:latin typeface="楷体" panose="02010609060101010101" pitchFamily="49" charset="-122"/>
                <a:ea typeface="楷体" panose="02010609060101010101" pitchFamily="49" charset="-122"/>
              </a:rPr>
              <a:t>3</a:t>
            </a:r>
            <a:r>
              <a:rPr lang="en-US" altLang="zh-CN" dirty="0">
                <a:solidFill>
                  <a:srgbClr val="060606"/>
                </a:solidFill>
                <a:latin typeface="楷体" panose="02010609060101010101" pitchFamily="49" charset="-122"/>
                <a:ea typeface="楷体" panose="02010609060101010101" pitchFamily="49" charset="-122"/>
              </a:rPr>
              <a:t>(</a:t>
            </a:r>
            <a:r>
              <a:rPr lang="zh-CN" altLang="en-US" dirty="0">
                <a:solidFill>
                  <a:srgbClr val="060606"/>
                </a:solidFill>
                <a:latin typeface="楷体" panose="02010609060101010101" pitchFamily="49" charset="-122"/>
                <a:ea typeface="楷体" panose="02010609060101010101" pitchFamily="49" charset="-122"/>
              </a:rPr>
              <a:t>百元</a:t>
            </a:r>
            <a:r>
              <a:rPr lang="en-US" altLang="zh-CN" dirty="0">
                <a:solidFill>
                  <a:srgbClr val="060606"/>
                </a:solidFill>
                <a:latin typeface="楷体" panose="02010609060101010101" pitchFamily="49" charset="-122"/>
                <a:ea typeface="楷体" panose="02010609060101010101" pitchFamily="49" charset="-122"/>
              </a:rPr>
              <a:t>)</a:t>
            </a:r>
            <a:endParaRPr lang="en-US" altLang="zh-CN" dirty="0">
              <a:solidFill>
                <a:srgbClr val="060606"/>
              </a:solidFill>
              <a:latin typeface="楷体" panose="02010609060101010101" pitchFamily="49" charset="-122"/>
              <a:ea typeface="楷体" panose="02010609060101010101" pitchFamily="49" charset="-122"/>
            </a:endParaRPr>
          </a:p>
          <a:p>
            <a:pPr>
              <a:buNone/>
            </a:pPr>
            <a:r>
              <a:rPr lang="zh-CN" altLang="en-US" dirty="0">
                <a:solidFill>
                  <a:srgbClr val="060606"/>
                </a:solidFill>
                <a:latin typeface="楷体" panose="02010609060101010101" pitchFamily="49" charset="-122"/>
                <a:ea typeface="楷体" panose="02010609060101010101" pitchFamily="49" charset="-122"/>
              </a:rPr>
              <a:t>同理，一批产品乙利润 </a:t>
            </a:r>
            <a:r>
              <a:rPr lang="en-US" altLang="zh-CN" dirty="0">
                <a:solidFill>
                  <a:srgbClr val="060606"/>
                </a:solidFill>
                <a:latin typeface="楷体" panose="02010609060101010101" pitchFamily="49" charset="-122"/>
                <a:ea typeface="楷体" panose="02010609060101010101" pitchFamily="49" charset="-122"/>
              </a:rPr>
              <a:t>= 9 – 1 × 2 -1 × 2 = 5(</a:t>
            </a:r>
            <a:r>
              <a:rPr lang="zh-CN" altLang="en-US" dirty="0">
                <a:solidFill>
                  <a:srgbClr val="060606"/>
                </a:solidFill>
                <a:latin typeface="楷体" panose="02010609060101010101" pitchFamily="49" charset="-122"/>
                <a:ea typeface="楷体" panose="02010609060101010101" pitchFamily="49" charset="-122"/>
              </a:rPr>
              <a:t>百元</a:t>
            </a:r>
            <a:r>
              <a:rPr lang="en-US" altLang="zh-CN" dirty="0">
                <a:solidFill>
                  <a:srgbClr val="060606"/>
                </a:solidFill>
                <a:latin typeface="楷体" panose="02010609060101010101" pitchFamily="49" charset="-122"/>
                <a:ea typeface="楷体" panose="02010609060101010101" pitchFamily="49" charset="-122"/>
              </a:rPr>
              <a:t>)</a:t>
            </a:r>
            <a:endParaRPr lang="en-US" altLang="zh-CN" dirty="0">
              <a:solidFill>
                <a:srgbClr val="060606"/>
              </a:solidFill>
              <a:latin typeface="楷体" panose="02010609060101010101" pitchFamily="49" charset="-122"/>
              <a:ea typeface="楷体" panose="02010609060101010101" pitchFamily="49" charset="-122"/>
            </a:endParaRPr>
          </a:p>
          <a:p>
            <a:pPr>
              <a:buNone/>
            </a:pPr>
            <a:r>
              <a:rPr lang="zh-CN" altLang="en-US" dirty="0">
                <a:solidFill>
                  <a:srgbClr val="060606"/>
                </a:solidFill>
                <a:latin typeface="楷体" panose="02010609060101010101" pitchFamily="49" charset="-122"/>
                <a:ea typeface="楷体" panose="02010609060101010101" pitchFamily="49" charset="-122"/>
              </a:rPr>
              <a:t>该产品组合问题得数学表达式如下所示：</a:t>
            </a:r>
            <a:endParaRPr lang="en-US" altLang="zh-CN" dirty="0">
              <a:solidFill>
                <a:srgbClr val="060606"/>
              </a:solidFill>
              <a:latin typeface="楷体" panose="02010609060101010101" pitchFamily="49" charset="-122"/>
              <a:ea typeface="楷体" panose="02010609060101010101" pitchFamily="49" charset="-122"/>
            </a:endParaRPr>
          </a:p>
        </p:txBody>
      </p:sp>
      <p:grpSp>
        <p:nvGrpSpPr>
          <p:cNvPr id="2" name="组合 12"/>
          <p:cNvGrpSpPr/>
          <p:nvPr/>
        </p:nvGrpSpPr>
        <p:grpSpPr>
          <a:xfrm>
            <a:off x="3711352" y="3129447"/>
            <a:ext cx="5392660" cy="2571914"/>
            <a:chOff x="899592" y="3269680"/>
            <a:chExt cx="5220081" cy="2300448"/>
          </a:xfrm>
        </p:grpSpPr>
        <p:sp>
          <p:nvSpPr>
            <p:cNvPr id="5" name="矩形 4"/>
            <p:cNvSpPr/>
            <p:nvPr/>
          </p:nvSpPr>
          <p:spPr>
            <a:xfrm>
              <a:off x="899592" y="3269680"/>
              <a:ext cx="4392488" cy="428651"/>
            </a:xfrm>
            <a:prstGeom prst="rect">
              <a:avLst/>
            </a:prstGeom>
          </p:spPr>
          <p:txBody>
            <a:bodyPr wrap="square">
              <a:spAutoFit/>
            </a:bodyPr>
            <a:lstStyle/>
            <a:p>
              <a:pPr marL="342900" indent="-342900" algn="ctr" fontAlgn="base">
                <a:lnSpc>
                  <a:spcPct val="110000"/>
                </a:lnSpc>
                <a:spcBef>
                  <a:spcPts val="1800"/>
                </a:spcBef>
                <a:spcAft>
                  <a:spcPct val="0"/>
                </a:spcAft>
              </a:pPr>
              <a:r>
                <a:rPr lang="en-US" altLang="zh-CN" sz="2400" dirty="0">
                  <a:solidFill>
                    <a:srgbClr val="060606"/>
                  </a:solidFill>
                </a:rPr>
                <a:t>max Z  = 3x</a:t>
              </a:r>
              <a:r>
                <a:rPr lang="en-US" altLang="zh-CN" sz="2400" baseline="-25000" dirty="0">
                  <a:solidFill>
                    <a:srgbClr val="060606"/>
                  </a:solidFill>
                </a:rPr>
                <a:t>1</a:t>
              </a:r>
              <a:r>
                <a:rPr lang="en-US" altLang="zh-CN" sz="2400" dirty="0">
                  <a:solidFill>
                    <a:srgbClr val="060606"/>
                  </a:solidFill>
                </a:rPr>
                <a:t>+5x</a:t>
              </a:r>
              <a:r>
                <a:rPr lang="en-US" altLang="zh-CN" sz="2400" baseline="-25000" dirty="0">
                  <a:solidFill>
                    <a:srgbClr val="060606"/>
                  </a:solidFill>
                </a:rPr>
                <a:t>2</a:t>
              </a:r>
              <a:endParaRPr lang="en-US" altLang="zh-CN" sz="2400" dirty="0">
                <a:solidFill>
                  <a:srgbClr val="060606"/>
                </a:solidFill>
              </a:endParaRPr>
            </a:p>
          </p:txBody>
        </p:sp>
        <p:sp>
          <p:nvSpPr>
            <p:cNvPr id="6" name="矩形 5"/>
            <p:cNvSpPr/>
            <p:nvPr/>
          </p:nvSpPr>
          <p:spPr>
            <a:xfrm>
              <a:off x="899592" y="4437112"/>
              <a:ext cx="648072" cy="428651"/>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err="1">
                  <a:solidFill>
                    <a:srgbClr val="060606"/>
                  </a:solidFill>
                </a:rPr>
                <a:t>s.t.</a:t>
              </a:r>
              <a:endParaRPr lang="en-US" altLang="zh-CN" sz="2400" dirty="0">
                <a:solidFill>
                  <a:srgbClr val="060606"/>
                </a:solidFill>
              </a:endParaRPr>
            </a:p>
          </p:txBody>
        </p:sp>
        <p:sp>
          <p:nvSpPr>
            <p:cNvPr id="7" name="左大括号 6"/>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8" name="矩形 7"/>
            <p:cNvSpPr/>
            <p:nvPr/>
          </p:nvSpPr>
          <p:spPr>
            <a:xfrm>
              <a:off x="2123728" y="3861048"/>
              <a:ext cx="2597861" cy="412936"/>
            </a:xfrm>
            <a:prstGeom prst="rect">
              <a:avLst/>
            </a:prstGeom>
          </p:spPr>
          <p:txBody>
            <a:bodyPr wrap="none">
              <a:spAutoFit/>
            </a:bodyPr>
            <a:lstStyle/>
            <a:p>
              <a:r>
                <a:rPr lang="en-US" altLang="zh-CN" sz="2400" dirty="0">
                  <a:solidFill>
                    <a:srgbClr val="060606"/>
                  </a:solidFill>
                </a:rPr>
                <a:t> x</a:t>
              </a:r>
              <a:r>
                <a:rPr lang="en-US" altLang="zh-CN" sz="2400" baseline="-25000" dirty="0">
                  <a:solidFill>
                    <a:srgbClr val="060606"/>
                  </a:solidFill>
                </a:rPr>
                <a:t>1</a:t>
              </a:r>
              <a:r>
                <a:rPr lang="en-US" altLang="zh-CN" sz="2400" dirty="0">
                  <a:solidFill>
                    <a:srgbClr val="060606"/>
                  </a:solidFill>
                </a:rPr>
                <a:t>≤4                (1)</a:t>
              </a:r>
              <a:endParaRPr lang="zh-CN" altLang="en-US" sz="2400" dirty="0"/>
            </a:p>
          </p:txBody>
        </p:sp>
        <p:sp>
          <p:nvSpPr>
            <p:cNvPr id="9" name="矩形 8"/>
            <p:cNvSpPr/>
            <p:nvPr/>
          </p:nvSpPr>
          <p:spPr>
            <a:xfrm>
              <a:off x="2123728" y="4725144"/>
              <a:ext cx="3995945" cy="412936"/>
            </a:xfrm>
            <a:prstGeom prst="rect">
              <a:avLst/>
            </a:prstGeom>
          </p:spPr>
          <p:txBody>
            <a:bodyPr wrap="none">
              <a:spAutoFit/>
            </a:bodyPr>
            <a:lstStyle/>
            <a:p>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18                     (3)</a:t>
              </a:r>
              <a:endParaRPr lang="zh-CN" altLang="en-US" sz="2400" dirty="0"/>
            </a:p>
          </p:txBody>
        </p:sp>
        <p:sp>
          <p:nvSpPr>
            <p:cNvPr id="10" name="矩形 9"/>
            <p:cNvSpPr/>
            <p:nvPr/>
          </p:nvSpPr>
          <p:spPr>
            <a:xfrm>
              <a:off x="2123728" y="5157192"/>
              <a:ext cx="3586295" cy="412936"/>
            </a:xfrm>
            <a:prstGeom prst="rect">
              <a:avLst/>
            </a:prstGeom>
          </p:spPr>
          <p:txBody>
            <a:bodyPr wrap="non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(4)</a:t>
              </a:r>
              <a:endParaRPr lang="zh-CN" altLang="en-US" sz="2400" dirty="0"/>
            </a:p>
          </p:txBody>
        </p:sp>
        <p:sp>
          <p:nvSpPr>
            <p:cNvPr id="11" name="矩形 10"/>
            <p:cNvSpPr/>
            <p:nvPr/>
          </p:nvSpPr>
          <p:spPr>
            <a:xfrm>
              <a:off x="2123728" y="4293096"/>
              <a:ext cx="3240266" cy="412936"/>
            </a:xfrm>
            <a:prstGeom prst="rect">
              <a:avLst/>
            </a:prstGeom>
          </p:spPr>
          <p:txBody>
            <a:bodyPr wrap="none">
              <a:spAutoFit/>
            </a:bodyPr>
            <a:lstStyle/>
            <a:p>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≤12                    (2)</a:t>
              </a:r>
              <a:endParaRPr lang="zh-CN" altLang="en-US" sz="2400" dirty="0">
                <a:solidFill>
                  <a:srgbClr val="060606"/>
                </a:solidFill>
              </a:endParaRPr>
            </a:p>
          </p:txBody>
        </p:sp>
      </p:grpSp>
      <p:sp>
        <p:nvSpPr>
          <p:cNvPr id="16" name="文本框 15"/>
          <p:cNvSpPr txBox="1"/>
          <p:nvPr/>
        </p:nvSpPr>
        <p:spPr>
          <a:xfrm>
            <a:off x="3389714" y="5887445"/>
            <a:ext cx="5961115" cy="461665"/>
          </a:xfrm>
          <a:prstGeom prst="rect">
            <a:avLst/>
          </a:prstGeom>
          <a:noFill/>
        </p:spPr>
        <p:txBody>
          <a:bodyPr wrap="square" rtlCol="0">
            <a:spAutoFit/>
          </a:bodyPr>
          <a:lstStyle/>
          <a:p>
            <a:pPr algn="ctr"/>
            <a:r>
              <a:rPr lang="zh-CN" altLang="en-US" sz="2400" dirty="0"/>
              <a:t>数学模型</a:t>
            </a:r>
            <a:r>
              <a:rPr lang="en-US" altLang="zh-CN" sz="2400" dirty="0"/>
              <a:t>5</a:t>
            </a:r>
            <a:r>
              <a:rPr lang="zh-CN" altLang="en-US" sz="2400" dirty="0"/>
              <a:t>：产品组合问题的数学表达</a:t>
            </a:r>
            <a:endParaRPr lang="zh-CN"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315" y="94456"/>
            <a:ext cx="11353800" cy="765516"/>
          </a:xfrm>
        </p:spPr>
        <p:txBody>
          <a:bodyPr>
            <a:normAutofit/>
          </a:bodyPr>
          <a:lstStyle/>
          <a:p>
            <a:r>
              <a:rPr lang="zh-CN" altLang="en-US" sz="3200" dirty="0">
                <a:latin typeface="楷体" panose="02010609060101010101" pitchFamily="49" charset="-122"/>
                <a:ea typeface="楷体" panose="02010609060101010101" pitchFamily="49" charset="-122"/>
              </a:rPr>
              <a:t>例</a:t>
            </a:r>
            <a:r>
              <a:rPr lang="en-US" altLang="zh-CN" sz="3200" dirty="0">
                <a:latin typeface="楷体" panose="02010609060101010101" pitchFamily="49" charset="-122"/>
                <a:ea typeface="楷体" panose="02010609060101010101" pitchFamily="49" charset="-122"/>
              </a:rPr>
              <a:t>6.</a:t>
            </a:r>
            <a:r>
              <a:rPr lang="zh-CN" altLang="en-US" sz="3200" dirty="0">
                <a:latin typeface="楷体" panose="02010609060101010101" pitchFamily="49" charset="-122"/>
                <a:ea typeface="楷体" panose="02010609060101010101" pitchFamily="49" charset="-122"/>
              </a:rPr>
              <a:t>合理下料问题</a:t>
            </a:r>
            <a:endParaRPr lang="zh-CN" altLang="en-US" sz="3200"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522514" y="1273629"/>
            <a:ext cx="10515600" cy="4351338"/>
          </a:xfrm>
        </p:spPr>
        <p:txBody>
          <a:bodyPr>
            <a:normAutofit/>
          </a:bodyPr>
          <a:lstStyle/>
          <a:p>
            <a:pPr>
              <a:buNone/>
            </a:pPr>
            <a:r>
              <a:rPr lang="zh-CN" altLang="en-US" dirty="0">
                <a:solidFill>
                  <a:srgbClr val="060606"/>
                </a:solidFill>
                <a:latin typeface="楷体" panose="02010609060101010101" pitchFamily="49" charset="-122"/>
                <a:ea typeface="楷体" panose="02010609060101010101" pitchFamily="49" charset="-122"/>
              </a:rPr>
              <a:t>某工厂有一批长度为</a:t>
            </a:r>
            <a:r>
              <a:rPr lang="en-US" altLang="zh-CN" dirty="0">
                <a:solidFill>
                  <a:srgbClr val="060606"/>
                </a:solidFill>
                <a:latin typeface="楷体" panose="02010609060101010101" pitchFamily="49" charset="-122"/>
                <a:ea typeface="楷体" panose="02010609060101010101" pitchFamily="49" charset="-122"/>
              </a:rPr>
              <a:t>5m</a:t>
            </a:r>
            <a:r>
              <a:rPr lang="zh-CN" altLang="en-US" dirty="0">
                <a:solidFill>
                  <a:srgbClr val="060606"/>
                </a:solidFill>
                <a:latin typeface="楷体" panose="02010609060101010101" pitchFamily="49" charset="-122"/>
                <a:ea typeface="楷体" panose="02010609060101010101" pitchFamily="49" charset="-122"/>
              </a:rPr>
              <a:t>的钢管</a:t>
            </a:r>
            <a:r>
              <a:rPr lang="en-US" altLang="zh-CN" dirty="0">
                <a:solidFill>
                  <a:srgbClr val="060606"/>
                </a:solidFill>
                <a:latin typeface="楷体" panose="02010609060101010101" pitchFamily="49" charset="-122"/>
                <a:ea typeface="楷体" panose="02010609060101010101" pitchFamily="49" charset="-122"/>
              </a:rPr>
              <a:t>(</a:t>
            </a:r>
            <a:r>
              <a:rPr lang="zh-CN" altLang="en-US" dirty="0">
                <a:solidFill>
                  <a:srgbClr val="060606"/>
                </a:solidFill>
                <a:latin typeface="楷体" panose="02010609060101010101" pitchFamily="49" charset="-122"/>
                <a:ea typeface="楷体" panose="02010609060101010101" pitchFamily="49" charset="-122"/>
              </a:rPr>
              <a:t>假设数量充分多</a:t>
            </a:r>
            <a:r>
              <a:rPr lang="en-US" altLang="zh-CN" dirty="0">
                <a:solidFill>
                  <a:srgbClr val="060606"/>
                </a:solidFill>
                <a:latin typeface="楷体" panose="02010609060101010101" pitchFamily="49" charset="-122"/>
                <a:ea typeface="楷体" panose="02010609060101010101" pitchFamily="49" charset="-122"/>
              </a:rPr>
              <a:t>)</a:t>
            </a:r>
            <a:r>
              <a:rPr lang="zh-CN" altLang="en-US" dirty="0">
                <a:solidFill>
                  <a:srgbClr val="060606"/>
                </a:solidFill>
                <a:latin typeface="楷体" panose="02010609060101010101" pitchFamily="49" charset="-122"/>
                <a:ea typeface="楷体" panose="02010609060101010101" pitchFamily="49" charset="-122"/>
              </a:rPr>
              <a:t>，为制造零件的需要，要将它们截成长度分别为</a:t>
            </a:r>
            <a:r>
              <a:rPr lang="en-US" altLang="zh-CN" dirty="0">
                <a:solidFill>
                  <a:srgbClr val="060606"/>
                </a:solidFill>
                <a:latin typeface="楷体" panose="02010609060101010101" pitchFamily="49" charset="-122"/>
                <a:ea typeface="楷体" panose="02010609060101010101" pitchFamily="49" charset="-122"/>
              </a:rPr>
              <a:t>140cm</a:t>
            </a:r>
            <a:r>
              <a:rPr lang="zh-CN" altLang="en-US" dirty="0">
                <a:solidFill>
                  <a:srgbClr val="060606"/>
                </a:solidFill>
                <a:latin typeface="楷体" panose="02010609060101010101" pitchFamily="49" charset="-122"/>
                <a:ea typeface="楷体" panose="02010609060101010101" pitchFamily="49" charset="-122"/>
              </a:rPr>
              <a:t>、</a:t>
            </a:r>
            <a:r>
              <a:rPr lang="en-US" altLang="zh-CN" dirty="0">
                <a:solidFill>
                  <a:srgbClr val="060606"/>
                </a:solidFill>
                <a:latin typeface="楷体" panose="02010609060101010101" pitchFamily="49" charset="-122"/>
                <a:ea typeface="楷体" panose="02010609060101010101" pitchFamily="49" charset="-122"/>
              </a:rPr>
              <a:t>95</a:t>
            </a:r>
            <a:r>
              <a:rPr lang="zh-CN" altLang="en-US" dirty="0">
                <a:solidFill>
                  <a:srgbClr val="060606"/>
                </a:solidFill>
                <a:latin typeface="楷体" panose="02010609060101010101" pitchFamily="49" charset="-122"/>
                <a:ea typeface="楷体" panose="02010609060101010101" pitchFamily="49" charset="-122"/>
              </a:rPr>
              <a:t>厘米、</a:t>
            </a:r>
            <a:r>
              <a:rPr lang="en-US" altLang="zh-CN" dirty="0">
                <a:solidFill>
                  <a:srgbClr val="060606"/>
                </a:solidFill>
                <a:latin typeface="楷体" panose="02010609060101010101" pitchFamily="49" charset="-122"/>
                <a:ea typeface="楷体" panose="02010609060101010101" pitchFamily="49" charset="-122"/>
              </a:rPr>
              <a:t>65</a:t>
            </a:r>
            <a:r>
              <a:rPr lang="zh-CN" altLang="en-US" dirty="0">
                <a:solidFill>
                  <a:srgbClr val="060606"/>
                </a:solidFill>
                <a:latin typeface="楷体" panose="02010609060101010101" pitchFamily="49" charset="-122"/>
                <a:ea typeface="楷体" panose="02010609060101010101" pitchFamily="49" charset="-122"/>
              </a:rPr>
              <a:t>厘米的管料，而且这</a:t>
            </a:r>
            <a:r>
              <a:rPr lang="en-US" altLang="zh-CN" dirty="0">
                <a:solidFill>
                  <a:srgbClr val="060606"/>
                </a:solidFill>
                <a:latin typeface="楷体" panose="02010609060101010101" pitchFamily="49" charset="-122"/>
                <a:ea typeface="楷体" panose="02010609060101010101" pitchFamily="49" charset="-122"/>
              </a:rPr>
              <a:t>3</a:t>
            </a:r>
            <a:r>
              <a:rPr lang="zh-CN" altLang="en-US" dirty="0">
                <a:solidFill>
                  <a:srgbClr val="060606"/>
                </a:solidFill>
                <a:latin typeface="楷体" panose="02010609060101010101" pitchFamily="49" charset="-122"/>
                <a:ea typeface="楷体" panose="02010609060101010101" pitchFamily="49" charset="-122"/>
              </a:rPr>
              <a:t>种管料要按照</a:t>
            </a:r>
            <a:r>
              <a:rPr lang="en-US" altLang="zh-CN" dirty="0">
                <a:solidFill>
                  <a:srgbClr val="060606"/>
                </a:solidFill>
                <a:latin typeface="楷体" panose="02010609060101010101" pitchFamily="49" charset="-122"/>
                <a:ea typeface="楷体" panose="02010609060101010101" pitchFamily="49" charset="-122"/>
              </a:rPr>
              <a:t>2</a:t>
            </a:r>
            <a:r>
              <a:rPr lang="zh-CN" altLang="en-US" dirty="0">
                <a:solidFill>
                  <a:srgbClr val="060606"/>
                </a:solidFill>
                <a:latin typeface="楷体" panose="02010609060101010101" pitchFamily="49" charset="-122"/>
                <a:ea typeface="楷体" panose="02010609060101010101" pitchFamily="49" charset="-122"/>
              </a:rPr>
              <a:t>：</a:t>
            </a:r>
            <a:r>
              <a:rPr lang="en-US" altLang="zh-CN" dirty="0">
                <a:solidFill>
                  <a:srgbClr val="060606"/>
                </a:solidFill>
                <a:latin typeface="楷体" panose="02010609060101010101" pitchFamily="49" charset="-122"/>
                <a:ea typeface="楷体" panose="02010609060101010101" pitchFamily="49" charset="-122"/>
              </a:rPr>
              <a:t>4</a:t>
            </a:r>
            <a:r>
              <a:rPr lang="zh-CN" altLang="en-US" dirty="0">
                <a:solidFill>
                  <a:srgbClr val="060606"/>
                </a:solidFill>
                <a:latin typeface="楷体" panose="02010609060101010101" pitchFamily="49" charset="-122"/>
                <a:ea typeface="楷体" panose="02010609060101010101" pitchFamily="49" charset="-122"/>
              </a:rPr>
              <a:t>：</a:t>
            </a:r>
            <a:r>
              <a:rPr lang="en-US" altLang="zh-CN" dirty="0">
                <a:solidFill>
                  <a:srgbClr val="060606"/>
                </a:solidFill>
                <a:latin typeface="楷体" panose="02010609060101010101" pitchFamily="49" charset="-122"/>
                <a:ea typeface="楷体" panose="02010609060101010101" pitchFamily="49" charset="-122"/>
              </a:rPr>
              <a:t>1</a:t>
            </a:r>
            <a:r>
              <a:rPr lang="zh-CN" altLang="en-US" dirty="0">
                <a:solidFill>
                  <a:srgbClr val="060606"/>
                </a:solidFill>
                <a:latin typeface="楷体" panose="02010609060101010101" pitchFamily="49" charset="-122"/>
                <a:ea typeface="楷体" panose="02010609060101010101" pitchFamily="49" charset="-122"/>
              </a:rPr>
              <a:t>的比例配套生产，即每制造一个成品需要</a:t>
            </a:r>
            <a:r>
              <a:rPr lang="en-US" altLang="zh-CN" dirty="0">
                <a:solidFill>
                  <a:srgbClr val="060606"/>
                </a:solidFill>
                <a:latin typeface="楷体" panose="02010609060101010101" pitchFamily="49" charset="-122"/>
                <a:ea typeface="楷体" panose="02010609060101010101" pitchFamily="49" charset="-122"/>
              </a:rPr>
              <a:t>2</a:t>
            </a:r>
            <a:r>
              <a:rPr lang="zh-CN" altLang="en-US" dirty="0">
                <a:solidFill>
                  <a:srgbClr val="060606"/>
                </a:solidFill>
                <a:latin typeface="楷体" panose="02010609060101010101" pitchFamily="49" charset="-122"/>
                <a:ea typeface="楷体" panose="02010609060101010101" pitchFamily="49" charset="-122"/>
              </a:rPr>
              <a:t>根</a:t>
            </a:r>
            <a:r>
              <a:rPr lang="en-US" altLang="zh-CN" dirty="0">
                <a:solidFill>
                  <a:srgbClr val="060606"/>
                </a:solidFill>
                <a:latin typeface="楷体" panose="02010609060101010101" pitchFamily="49" charset="-122"/>
                <a:ea typeface="楷体" panose="02010609060101010101" pitchFamily="49" charset="-122"/>
              </a:rPr>
              <a:t>140cm</a:t>
            </a:r>
            <a:r>
              <a:rPr lang="zh-CN" altLang="en-US" dirty="0">
                <a:solidFill>
                  <a:srgbClr val="060606"/>
                </a:solidFill>
                <a:latin typeface="楷体" panose="02010609060101010101" pitchFamily="49" charset="-122"/>
                <a:ea typeface="楷体" panose="02010609060101010101" pitchFamily="49" charset="-122"/>
              </a:rPr>
              <a:t>、</a:t>
            </a:r>
            <a:r>
              <a:rPr lang="en-US" altLang="zh-CN" dirty="0">
                <a:solidFill>
                  <a:srgbClr val="060606"/>
                </a:solidFill>
                <a:latin typeface="楷体" panose="02010609060101010101" pitchFamily="49" charset="-122"/>
                <a:ea typeface="楷体" panose="02010609060101010101" pitchFamily="49" charset="-122"/>
              </a:rPr>
              <a:t>4</a:t>
            </a:r>
            <a:r>
              <a:rPr lang="zh-CN" altLang="en-US" dirty="0">
                <a:solidFill>
                  <a:srgbClr val="060606"/>
                </a:solidFill>
                <a:latin typeface="楷体" panose="02010609060101010101" pitchFamily="49" charset="-122"/>
                <a:ea typeface="楷体" panose="02010609060101010101" pitchFamily="49" charset="-122"/>
              </a:rPr>
              <a:t>根</a:t>
            </a:r>
            <a:r>
              <a:rPr lang="en-US" altLang="zh-CN" dirty="0">
                <a:solidFill>
                  <a:srgbClr val="060606"/>
                </a:solidFill>
                <a:latin typeface="楷体" panose="02010609060101010101" pitchFamily="49" charset="-122"/>
                <a:ea typeface="楷体" panose="02010609060101010101" pitchFamily="49" charset="-122"/>
              </a:rPr>
              <a:t>95cm</a:t>
            </a:r>
            <a:r>
              <a:rPr lang="zh-CN" altLang="en-US" dirty="0">
                <a:solidFill>
                  <a:srgbClr val="060606"/>
                </a:solidFill>
                <a:latin typeface="楷体" panose="02010609060101010101" pitchFamily="49" charset="-122"/>
                <a:ea typeface="楷体" panose="02010609060101010101" pitchFamily="49" charset="-122"/>
              </a:rPr>
              <a:t>、</a:t>
            </a:r>
            <a:r>
              <a:rPr lang="en-US" altLang="zh-CN" dirty="0">
                <a:solidFill>
                  <a:srgbClr val="060606"/>
                </a:solidFill>
                <a:latin typeface="楷体" panose="02010609060101010101" pitchFamily="49" charset="-122"/>
                <a:ea typeface="楷体" panose="02010609060101010101" pitchFamily="49" charset="-122"/>
              </a:rPr>
              <a:t>1</a:t>
            </a:r>
            <a:r>
              <a:rPr lang="zh-CN" altLang="en-US" dirty="0">
                <a:solidFill>
                  <a:srgbClr val="060606"/>
                </a:solidFill>
                <a:latin typeface="楷体" panose="02010609060101010101" pitchFamily="49" charset="-122"/>
                <a:ea typeface="楷体" panose="02010609060101010101" pitchFamily="49" charset="-122"/>
              </a:rPr>
              <a:t>根</a:t>
            </a:r>
            <a:r>
              <a:rPr lang="en-US" altLang="zh-CN" dirty="0">
                <a:solidFill>
                  <a:srgbClr val="060606"/>
                </a:solidFill>
                <a:latin typeface="楷体" panose="02010609060101010101" pitchFamily="49" charset="-122"/>
                <a:ea typeface="楷体" panose="02010609060101010101" pitchFamily="49" charset="-122"/>
              </a:rPr>
              <a:t>65cm</a:t>
            </a:r>
            <a:r>
              <a:rPr lang="zh-CN" altLang="en-US" dirty="0">
                <a:solidFill>
                  <a:srgbClr val="060606"/>
                </a:solidFill>
                <a:latin typeface="楷体" panose="02010609060101010101" pitchFamily="49" charset="-122"/>
                <a:ea typeface="楷体" panose="02010609060101010101" pitchFamily="49" charset="-122"/>
              </a:rPr>
              <a:t>的管料。</a:t>
            </a:r>
            <a:endParaRPr lang="en-US" altLang="zh-CN" dirty="0">
              <a:solidFill>
                <a:srgbClr val="060606"/>
              </a:solidFill>
              <a:latin typeface="楷体" panose="02010609060101010101" pitchFamily="49" charset="-122"/>
              <a:ea typeface="楷体" panose="02010609060101010101" pitchFamily="49" charset="-122"/>
            </a:endParaRPr>
          </a:p>
          <a:p>
            <a:pPr>
              <a:buNone/>
            </a:pPr>
            <a:r>
              <a:rPr lang="zh-CN" altLang="en-US" dirty="0">
                <a:solidFill>
                  <a:srgbClr val="060606"/>
                </a:solidFill>
                <a:latin typeface="楷体" panose="02010609060101010101" pitchFamily="49" charset="-122"/>
                <a:ea typeface="楷体" panose="02010609060101010101" pitchFamily="49" charset="-122"/>
              </a:rPr>
              <a:t>把一根一定长度的钢管按需要截成几段时，一般要产生残料。例如</a:t>
            </a:r>
            <a:r>
              <a:rPr lang="en-US" altLang="zh-CN" dirty="0">
                <a:solidFill>
                  <a:srgbClr val="060606"/>
                </a:solidFill>
                <a:latin typeface="楷体" panose="02010609060101010101" pitchFamily="49" charset="-122"/>
                <a:ea typeface="楷体" panose="02010609060101010101" pitchFamily="49" charset="-122"/>
              </a:rPr>
              <a:t>5m</a:t>
            </a:r>
            <a:r>
              <a:rPr lang="zh-CN" altLang="en-US" dirty="0">
                <a:solidFill>
                  <a:srgbClr val="060606"/>
                </a:solidFill>
                <a:latin typeface="楷体" panose="02010609060101010101" pitchFamily="49" charset="-122"/>
                <a:ea typeface="楷体" panose="02010609060101010101" pitchFamily="49" charset="-122"/>
              </a:rPr>
              <a:t>的钢管截成</a:t>
            </a:r>
            <a:r>
              <a:rPr lang="en-US" altLang="zh-CN" dirty="0">
                <a:solidFill>
                  <a:srgbClr val="060606"/>
                </a:solidFill>
                <a:latin typeface="楷体" panose="02010609060101010101" pitchFamily="49" charset="-122"/>
                <a:ea typeface="楷体" panose="02010609060101010101" pitchFamily="49" charset="-122"/>
              </a:rPr>
              <a:t>140cm</a:t>
            </a:r>
            <a:r>
              <a:rPr lang="zh-CN" altLang="en-US" dirty="0">
                <a:solidFill>
                  <a:srgbClr val="060606"/>
                </a:solidFill>
                <a:latin typeface="楷体" panose="02010609060101010101" pitchFamily="49" charset="-122"/>
                <a:ea typeface="楷体" panose="02010609060101010101" pitchFamily="49" charset="-122"/>
              </a:rPr>
              <a:t>的</a:t>
            </a:r>
            <a:r>
              <a:rPr lang="en-US" altLang="zh-CN" dirty="0">
                <a:solidFill>
                  <a:srgbClr val="060606"/>
                </a:solidFill>
                <a:latin typeface="楷体" panose="02010609060101010101" pitchFamily="49" charset="-122"/>
                <a:ea typeface="楷体" panose="02010609060101010101" pitchFamily="49" charset="-122"/>
              </a:rPr>
              <a:t>3</a:t>
            </a:r>
            <a:r>
              <a:rPr lang="zh-CN" altLang="en-US" dirty="0">
                <a:solidFill>
                  <a:srgbClr val="060606"/>
                </a:solidFill>
                <a:latin typeface="楷体" panose="02010609060101010101" pitchFamily="49" charset="-122"/>
                <a:ea typeface="楷体" panose="02010609060101010101" pitchFamily="49" charset="-122"/>
              </a:rPr>
              <a:t>根和</a:t>
            </a:r>
            <a:r>
              <a:rPr lang="en-US" altLang="zh-CN" dirty="0">
                <a:solidFill>
                  <a:srgbClr val="060606"/>
                </a:solidFill>
                <a:latin typeface="楷体" panose="02010609060101010101" pitchFamily="49" charset="-122"/>
                <a:ea typeface="楷体" panose="02010609060101010101" pitchFamily="49" charset="-122"/>
              </a:rPr>
              <a:t>65cn</a:t>
            </a:r>
            <a:r>
              <a:rPr lang="zh-CN" altLang="en-US" dirty="0">
                <a:solidFill>
                  <a:srgbClr val="060606"/>
                </a:solidFill>
                <a:latin typeface="楷体" panose="02010609060101010101" pitchFamily="49" charset="-122"/>
                <a:ea typeface="楷体" panose="02010609060101010101" pitchFamily="49" charset="-122"/>
              </a:rPr>
              <a:t>的</a:t>
            </a:r>
            <a:r>
              <a:rPr lang="en-US" altLang="zh-CN" dirty="0">
                <a:solidFill>
                  <a:srgbClr val="060606"/>
                </a:solidFill>
                <a:latin typeface="楷体" panose="02010609060101010101" pitchFamily="49" charset="-122"/>
                <a:ea typeface="楷体" panose="02010609060101010101" pitchFamily="49" charset="-122"/>
              </a:rPr>
              <a:t>1</a:t>
            </a:r>
            <a:r>
              <a:rPr lang="zh-CN" altLang="en-US" dirty="0">
                <a:solidFill>
                  <a:srgbClr val="060606"/>
                </a:solidFill>
                <a:latin typeface="楷体" panose="02010609060101010101" pitchFamily="49" charset="-122"/>
                <a:ea typeface="楷体" panose="02010609060101010101" pitchFamily="49" charset="-122"/>
              </a:rPr>
              <a:t>根，要余料</a:t>
            </a:r>
            <a:r>
              <a:rPr lang="en-US" altLang="zh-CN" dirty="0">
                <a:solidFill>
                  <a:srgbClr val="060606"/>
                </a:solidFill>
                <a:latin typeface="楷体" panose="02010609060101010101" pitchFamily="49" charset="-122"/>
                <a:ea typeface="楷体" panose="02010609060101010101" pitchFamily="49" charset="-122"/>
              </a:rPr>
              <a:t>15cm</a:t>
            </a:r>
            <a:r>
              <a:rPr lang="zh-CN" altLang="en-US" dirty="0">
                <a:solidFill>
                  <a:srgbClr val="060606"/>
                </a:solidFill>
                <a:latin typeface="楷体" panose="02010609060101010101" pitchFamily="49" charset="-122"/>
                <a:ea typeface="楷体" panose="02010609060101010101" pitchFamily="49" charset="-122"/>
              </a:rPr>
              <a:t>。</a:t>
            </a:r>
            <a:endParaRPr lang="en-US" altLang="zh-CN" dirty="0">
              <a:solidFill>
                <a:srgbClr val="060606"/>
              </a:solidFill>
              <a:latin typeface="楷体" panose="02010609060101010101" pitchFamily="49" charset="-122"/>
              <a:ea typeface="楷体" panose="02010609060101010101" pitchFamily="49" charset="-122"/>
            </a:endParaRPr>
          </a:p>
          <a:p>
            <a:pPr>
              <a:buNone/>
            </a:pPr>
            <a:r>
              <a:rPr lang="zh-CN" altLang="en-US" dirty="0">
                <a:solidFill>
                  <a:srgbClr val="060606"/>
                </a:solidFill>
                <a:latin typeface="楷体" panose="02010609060101010101" pitchFamily="49" charset="-122"/>
                <a:ea typeface="楷体" panose="02010609060101010101" pitchFamily="49" charset="-122"/>
              </a:rPr>
              <a:t>现在的问题是如何下料，方能使</a:t>
            </a:r>
            <a:r>
              <a:rPr lang="en-US" altLang="zh-CN" dirty="0">
                <a:solidFill>
                  <a:srgbClr val="060606"/>
                </a:solidFill>
                <a:latin typeface="楷体" panose="02010609060101010101" pitchFamily="49" charset="-122"/>
                <a:ea typeface="楷体" panose="02010609060101010101" pitchFamily="49" charset="-122"/>
              </a:rPr>
              <a:t>3</a:t>
            </a:r>
            <a:r>
              <a:rPr lang="zh-CN" altLang="en-US" dirty="0">
                <a:solidFill>
                  <a:srgbClr val="060606"/>
                </a:solidFill>
                <a:latin typeface="楷体" panose="02010609060101010101" pitchFamily="49" charset="-122"/>
                <a:ea typeface="楷体" panose="02010609060101010101" pitchFamily="49" charset="-122"/>
              </a:rPr>
              <a:t>种管料既能配套，残料又少？</a:t>
            </a:r>
            <a:endParaRPr lang="zh-CN" altLang="en-US" dirty="0">
              <a:solidFill>
                <a:srgbClr val="060606"/>
              </a:solidFill>
              <a:latin typeface="楷体" panose="02010609060101010101" pitchFamily="49" charset="-122"/>
              <a:ea typeface="楷体" panose="02010609060101010101" pitchFamily="49" charset="-122"/>
            </a:endParaRPr>
          </a:p>
        </p:txBody>
      </p:sp>
      <p:sp>
        <p:nvSpPr>
          <p:cNvPr id="5" name="矩形: 折角 4"/>
          <p:cNvSpPr/>
          <p:nvPr/>
        </p:nvSpPr>
        <p:spPr>
          <a:xfrm flipV="1">
            <a:off x="522514" y="1273629"/>
            <a:ext cx="10831286" cy="4082143"/>
          </a:xfrm>
          <a:prstGeom prst="foldedCorner">
            <a:avLst>
              <a:gd name="adj" fmla="val 78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0371" y="260647"/>
            <a:ext cx="11625943" cy="1835407"/>
          </a:xfrm>
        </p:spPr>
        <p:txBody>
          <a:bodyPr>
            <a:noAutofit/>
          </a:bodyPr>
          <a:lstStyle/>
          <a:p>
            <a:pPr>
              <a:buNone/>
            </a:pPr>
            <a:r>
              <a:rPr lang="zh-CN" altLang="en-US" dirty="0">
                <a:solidFill>
                  <a:srgbClr val="060606"/>
                </a:solidFill>
                <a:latin typeface="楷体" panose="02010609060101010101" pitchFamily="49" charset="-122"/>
                <a:ea typeface="楷体" panose="02010609060101010101" pitchFamily="49" charset="-122"/>
              </a:rPr>
              <a:t>问题分析：</a:t>
            </a:r>
            <a:r>
              <a:rPr lang="en-US" altLang="zh-CN" dirty="0">
                <a:solidFill>
                  <a:srgbClr val="060606"/>
                </a:solidFill>
                <a:latin typeface="楷体" panose="02010609060101010101" pitchFamily="49" charset="-122"/>
                <a:ea typeface="楷体" panose="02010609060101010101" pitchFamily="49" charset="-122"/>
              </a:rPr>
              <a:t>(</a:t>
            </a:r>
            <a:r>
              <a:rPr lang="zh-CN" altLang="en-US" dirty="0">
                <a:solidFill>
                  <a:srgbClr val="060606"/>
                </a:solidFill>
                <a:latin typeface="楷体" panose="02010609060101010101" pitchFamily="49" charset="-122"/>
                <a:ea typeface="楷体" panose="02010609060101010101" pitchFamily="49" charset="-122"/>
              </a:rPr>
              <a:t>怎么截？以及每种截法应用的钢管量？</a:t>
            </a:r>
            <a:r>
              <a:rPr lang="en-US" altLang="zh-CN" dirty="0">
                <a:solidFill>
                  <a:srgbClr val="060606"/>
                </a:solidFill>
                <a:latin typeface="楷体" panose="02010609060101010101" pitchFamily="49" charset="-122"/>
                <a:ea typeface="楷体" panose="02010609060101010101" pitchFamily="49" charset="-122"/>
              </a:rPr>
              <a:t>)</a:t>
            </a:r>
            <a:endParaRPr lang="en-US" altLang="zh-CN" dirty="0">
              <a:solidFill>
                <a:srgbClr val="060606"/>
              </a:solidFill>
              <a:latin typeface="楷体" panose="02010609060101010101" pitchFamily="49" charset="-122"/>
              <a:ea typeface="楷体" panose="02010609060101010101" pitchFamily="49" charset="-122"/>
            </a:endParaRPr>
          </a:p>
          <a:p>
            <a:pPr>
              <a:buNone/>
            </a:pPr>
            <a:r>
              <a:rPr lang="zh-CN" altLang="en-US" dirty="0">
                <a:solidFill>
                  <a:srgbClr val="060606"/>
                </a:solidFill>
                <a:latin typeface="楷体" panose="02010609060101010101" pitchFamily="49" charset="-122"/>
                <a:ea typeface="楷体" panose="02010609060101010101" pitchFamily="49" charset="-122"/>
              </a:rPr>
              <a:t>分析可知，对一根</a:t>
            </a:r>
            <a:r>
              <a:rPr lang="en-US" altLang="zh-CN" dirty="0">
                <a:solidFill>
                  <a:srgbClr val="060606"/>
                </a:solidFill>
                <a:latin typeface="楷体" panose="02010609060101010101" pitchFamily="49" charset="-122"/>
                <a:ea typeface="楷体" panose="02010609060101010101" pitchFamily="49" charset="-122"/>
              </a:rPr>
              <a:t>5m</a:t>
            </a:r>
            <a:r>
              <a:rPr lang="zh-CN" altLang="en-US" dirty="0">
                <a:solidFill>
                  <a:srgbClr val="060606"/>
                </a:solidFill>
                <a:latin typeface="楷体" panose="02010609060101010101" pitchFamily="49" charset="-122"/>
                <a:ea typeface="楷体" panose="02010609060101010101" pitchFamily="49" charset="-122"/>
              </a:rPr>
              <a:t>长的钢管若干截法。其中有</a:t>
            </a:r>
            <a:r>
              <a:rPr lang="en-US" altLang="zh-CN" dirty="0">
                <a:solidFill>
                  <a:srgbClr val="060606"/>
                </a:solidFill>
                <a:latin typeface="楷体" panose="02010609060101010101" pitchFamily="49" charset="-122"/>
                <a:ea typeface="楷体" panose="02010609060101010101" pitchFamily="49" charset="-122"/>
              </a:rPr>
              <a:t>8</a:t>
            </a:r>
            <a:r>
              <a:rPr lang="zh-CN" altLang="en-US" dirty="0">
                <a:solidFill>
                  <a:srgbClr val="060606"/>
                </a:solidFill>
                <a:latin typeface="楷体" panose="02010609060101010101" pitchFamily="49" charset="-122"/>
                <a:ea typeface="楷体" panose="02010609060101010101" pitchFamily="49" charset="-122"/>
              </a:rPr>
              <a:t>种截法，残料较少，残料较多的截法明显不符合我们的希望残料较少的愿望，所以只采用这</a:t>
            </a:r>
            <a:r>
              <a:rPr lang="en-US" altLang="zh-CN" dirty="0">
                <a:solidFill>
                  <a:srgbClr val="060606"/>
                </a:solidFill>
                <a:latin typeface="楷体" panose="02010609060101010101" pitchFamily="49" charset="-122"/>
                <a:ea typeface="楷体" panose="02010609060101010101" pitchFamily="49" charset="-122"/>
              </a:rPr>
              <a:t>8</a:t>
            </a:r>
            <a:r>
              <a:rPr lang="zh-CN" altLang="en-US" dirty="0">
                <a:solidFill>
                  <a:srgbClr val="060606"/>
                </a:solidFill>
                <a:latin typeface="楷体" panose="02010609060101010101" pitchFamily="49" charset="-122"/>
                <a:ea typeface="楷体" panose="02010609060101010101" pitchFamily="49" charset="-122"/>
              </a:rPr>
              <a:t>种截法，列表如下：</a:t>
            </a:r>
            <a:endParaRPr lang="en-US" altLang="zh-CN" dirty="0">
              <a:solidFill>
                <a:srgbClr val="060606"/>
              </a:solidFill>
              <a:latin typeface="楷体" panose="02010609060101010101" pitchFamily="49" charset="-122"/>
              <a:ea typeface="楷体" panose="02010609060101010101" pitchFamily="49" charset="-122"/>
            </a:endParaRPr>
          </a:p>
        </p:txBody>
      </p:sp>
      <p:sp>
        <p:nvSpPr>
          <p:cNvPr id="4" name="矩形 3"/>
          <p:cNvSpPr/>
          <p:nvPr/>
        </p:nvSpPr>
        <p:spPr>
          <a:xfrm>
            <a:off x="511628" y="5264429"/>
            <a:ext cx="11244941" cy="954107"/>
          </a:xfrm>
          <a:prstGeom prst="rect">
            <a:avLst/>
          </a:prstGeom>
        </p:spPr>
        <p:txBody>
          <a:bodyPr wrap="square">
            <a:spAutoFit/>
          </a:bodyPr>
          <a:lstStyle/>
          <a:p>
            <a:pPr>
              <a:buNone/>
            </a:pPr>
            <a:r>
              <a:rPr lang="zh-CN" altLang="en-US" sz="2800" dirty="0">
                <a:solidFill>
                  <a:srgbClr val="060606"/>
                </a:solidFill>
                <a:latin typeface="楷体" panose="02010609060101010101" pitchFamily="49" charset="-122"/>
                <a:ea typeface="楷体" panose="02010609060101010101" pitchFamily="49" charset="-122"/>
              </a:rPr>
              <a:t>于是，问题就清楚了，即对若干根</a:t>
            </a:r>
            <a:r>
              <a:rPr lang="en-US" altLang="zh-CN" sz="2800" dirty="0">
                <a:solidFill>
                  <a:srgbClr val="060606"/>
                </a:solidFill>
                <a:latin typeface="楷体" panose="02010609060101010101" pitchFamily="49" charset="-122"/>
                <a:ea typeface="楷体" panose="02010609060101010101" pitchFamily="49" charset="-122"/>
              </a:rPr>
              <a:t>5m</a:t>
            </a:r>
            <a:r>
              <a:rPr lang="zh-CN" altLang="en-US" sz="2800" dirty="0">
                <a:solidFill>
                  <a:srgbClr val="060606"/>
                </a:solidFill>
                <a:latin typeface="楷体" panose="02010609060101010101" pitchFamily="49" charset="-122"/>
                <a:ea typeface="楷体" panose="02010609060101010101" pitchFamily="49" charset="-122"/>
              </a:rPr>
              <a:t>长的钢管如何分别使用这</a:t>
            </a:r>
            <a:r>
              <a:rPr lang="en-US" altLang="zh-CN" sz="2800" dirty="0">
                <a:solidFill>
                  <a:srgbClr val="060606"/>
                </a:solidFill>
                <a:latin typeface="楷体" panose="02010609060101010101" pitchFamily="49" charset="-122"/>
                <a:ea typeface="楷体" panose="02010609060101010101" pitchFamily="49" charset="-122"/>
              </a:rPr>
              <a:t>8</a:t>
            </a:r>
            <a:r>
              <a:rPr lang="zh-CN" altLang="en-US" sz="2800" dirty="0">
                <a:solidFill>
                  <a:srgbClr val="060606"/>
                </a:solidFill>
                <a:latin typeface="楷体" panose="02010609060101010101" pitchFamily="49" charset="-122"/>
                <a:ea typeface="楷体" panose="02010609060101010101" pitchFamily="49" charset="-122"/>
              </a:rPr>
              <a:t>种截法，使既配套</a:t>
            </a:r>
            <a:r>
              <a:rPr lang="en-US" altLang="zh-CN" sz="2800" dirty="0">
                <a:solidFill>
                  <a:srgbClr val="060606"/>
                </a:solidFill>
                <a:latin typeface="楷体" panose="02010609060101010101" pitchFamily="49" charset="-122"/>
                <a:ea typeface="楷体" panose="02010609060101010101" pitchFamily="49" charset="-122"/>
              </a:rPr>
              <a:t>(2</a:t>
            </a:r>
            <a:r>
              <a:rPr lang="zh-CN" altLang="en-US" sz="2800" dirty="0">
                <a:solidFill>
                  <a:srgbClr val="060606"/>
                </a:solidFill>
                <a:latin typeface="楷体" panose="02010609060101010101" pitchFamily="49" charset="-122"/>
                <a:ea typeface="楷体" panose="02010609060101010101" pitchFamily="49" charset="-122"/>
              </a:rPr>
              <a:t>：</a:t>
            </a:r>
            <a:r>
              <a:rPr lang="en-US" altLang="zh-CN" sz="2800" dirty="0">
                <a:solidFill>
                  <a:srgbClr val="060606"/>
                </a:solidFill>
                <a:latin typeface="楷体" panose="02010609060101010101" pitchFamily="49" charset="-122"/>
                <a:ea typeface="楷体" panose="02010609060101010101" pitchFamily="49" charset="-122"/>
              </a:rPr>
              <a:t>4</a:t>
            </a:r>
            <a:r>
              <a:rPr lang="zh-CN" altLang="en-US" sz="2800" dirty="0">
                <a:solidFill>
                  <a:srgbClr val="060606"/>
                </a:solidFill>
                <a:latin typeface="楷体" panose="02010609060101010101" pitchFamily="49" charset="-122"/>
                <a:ea typeface="楷体" panose="02010609060101010101" pitchFamily="49" charset="-122"/>
              </a:rPr>
              <a:t>：</a:t>
            </a:r>
            <a:r>
              <a:rPr lang="en-US" altLang="zh-CN" sz="2800" dirty="0">
                <a:solidFill>
                  <a:srgbClr val="060606"/>
                </a:solidFill>
                <a:latin typeface="楷体" panose="02010609060101010101" pitchFamily="49" charset="-122"/>
                <a:ea typeface="楷体" panose="02010609060101010101" pitchFamily="49" charset="-122"/>
              </a:rPr>
              <a:t>1)</a:t>
            </a:r>
            <a:r>
              <a:rPr lang="zh-CN" altLang="en-US" sz="2800" dirty="0">
                <a:solidFill>
                  <a:srgbClr val="060606"/>
                </a:solidFill>
                <a:latin typeface="楷体" panose="02010609060101010101" pitchFamily="49" charset="-122"/>
                <a:ea typeface="楷体" panose="02010609060101010101" pitchFamily="49" charset="-122"/>
              </a:rPr>
              <a:t>，又残料少？</a:t>
            </a:r>
            <a:endParaRPr lang="en-US" altLang="zh-CN" sz="2800" dirty="0">
              <a:solidFill>
                <a:srgbClr val="060606"/>
              </a:solidFill>
              <a:latin typeface="楷体" panose="02010609060101010101" pitchFamily="49" charset="-122"/>
              <a:ea typeface="楷体" panose="02010609060101010101" pitchFamily="49" charset="-122"/>
            </a:endParaRPr>
          </a:p>
        </p:txBody>
      </p:sp>
      <p:graphicFrame>
        <p:nvGraphicFramePr>
          <p:cNvPr id="5" name="表格 4"/>
          <p:cNvGraphicFramePr>
            <a:graphicFrameLocks noGrp="1"/>
          </p:cNvGraphicFramePr>
          <p:nvPr/>
        </p:nvGraphicFramePr>
        <p:xfrm>
          <a:off x="511629" y="2204864"/>
          <a:ext cx="11244942" cy="2651760"/>
        </p:xfrm>
        <a:graphic>
          <a:graphicData uri="http://schemas.openxmlformats.org/drawingml/2006/table">
            <a:tbl>
              <a:tblPr firstRow="1" bandRow="1">
                <a:tableStyleId>{5C22544A-7EE6-4342-B048-85BDC9FD1C3A}</a:tableStyleId>
              </a:tblPr>
              <a:tblGrid>
                <a:gridCol w="1249438"/>
                <a:gridCol w="1249438"/>
                <a:gridCol w="1249438"/>
                <a:gridCol w="1249438"/>
                <a:gridCol w="1249438"/>
                <a:gridCol w="1249438"/>
                <a:gridCol w="1249438"/>
                <a:gridCol w="1249438"/>
                <a:gridCol w="1249438"/>
              </a:tblGrid>
              <a:tr h="370840">
                <a:tc>
                  <a:txBody>
                    <a:bodyPr/>
                    <a:lstStyle/>
                    <a:p>
                      <a:r>
                        <a:rPr lang="zh-CN" altLang="en-US" sz="2400" dirty="0">
                          <a:solidFill>
                            <a:srgbClr val="060606"/>
                          </a:solidFill>
                        </a:rPr>
                        <a:t>截法</a:t>
                      </a:r>
                      <a:endParaRPr lang="zh-CN" altLang="en-US" sz="2400" dirty="0"/>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1</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2</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3</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4</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5</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6</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7</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8</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r>
              <a:tr h="370840">
                <a:tc>
                  <a:txBody>
                    <a:bodyPr/>
                    <a:lstStyle/>
                    <a:p>
                      <a:r>
                        <a:rPr lang="en-US" altLang="zh-CN" sz="2400" dirty="0"/>
                        <a:t>140cm</a:t>
                      </a:r>
                      <a:endParaRPr lang="zh-CN" altLang="en-US" sz="2400" dirty="0"/>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3</a:t>
                      </a:r>
                      <a:r>
                        <a:rPr lang="zh-CN" altLang="en-US" sz="2400" dirty="0">
                          <a:solidFill>
                            <a:srgbClr val="060606"/>
                          </a:solidFill>
                        </a:rPr>
                        <a:t>根</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2</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2</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1</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1</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0</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0</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0</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r>
              <a:tr h="370840">
                <a:tc>
                  <a:txBody>
                    <a:bodyPr/>
                    <a:lstStyle/>
                    <a:p>
                      <a:r>
                        <a:rPr lang="en-US" altLang="zh-CN" sz="2400" dirty="0"/>
                        <a:t>95cm</a:t>
                      </a:r>
                      <a:endParaRPr lang="zh-CN" altLang="en-US" sz="2400" dirty="0"/>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0</a:t>
                      </a:r>
                      <a:r>
                        <a:rPr lang="zh-CN" altLang="en-US" sz="2400" dirty="0">
                          <a:solidFill>
                            <a:srgbClr val="060606"/>
                          </a:solidFill>
                        </a:rPr>
                        <a:t>根</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2</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0</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3</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1</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5</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3</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1</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r>
              <a:tr h="370840">
                <a:tc>
                  <a:txBody>
                    <a:bodyPr/>
                    <a:lstStyle/>
                    <a:p>
                      <a:r>
                        <a:rPr lang="en-US" altLang="zh-CN" sz="2400" dirty="0"/>
                        <a:t>65cm</a:t>
                      </a:r>
                      <a:endParaRPr lang="zh-CN" altLang="en-US" sz="2400" dirty="0"/>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1</a:t>
                      </a:r>
                      <a:r>
                        <a:rPr lang="zh-CN" altLang="en-US" sz="2400" dirty="0">
                          <a:solidFill>
                            <a:srgbClr val="060606"/>
                          </a:solidFill>
                        </a:rPr>
                        <a:t>根</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0</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3</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1</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4</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0</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3</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6</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r>
              <a:tr h="370840">
                <a:tc>
                  <a:txBody>
                    <a:bodyPr/>
                    <a:lstStyle/>
                    <a:p>
                      <a:r>
                        <a:rPr lang="zh-CN" altLang="en-US" sz="2400" dirty="0"/>
                        <a:t>残料</a:t>
                      </a:r>
                      <a:r>
                        <a:rPr lang="en-US" altLang="zh-CN" sz="2400" dirty="0"/>
                        <a:t>(cm)</a:t>
                      </a:r>
                      <a:endParaRPr lang="zh-CN" altLang="en-US" sz="2400" dirty="0"/>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15</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30</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25</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10</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5</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25</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20</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c>
                  <a:txBody>
                    <a:bodyPr/>
                    <a:lstStyle/>
                    <a:p>
                      <a:r>
                        <a:rPr lang="en-US" altLang="zh-CN" sz="2400" dirty="0">
                          <a:solidFill>
                            <a:srgbClr val="060606"/>
                          </a:solidFill>
                        </a:rPr>
                        <a:t>15</a:t>
                      </a:r>
                      <a:endParaRPr lang="zh-CN" altLang="en-US" sz="2400" dirty="0">
                        <a:solidFill>
                          <a:srgbClr val="060606"/>
                        </a:solidFill>
                      </a:endParaRPr>
                    </a:p>
                  </a:txBody>
                  <a:tcPr>
                    <a:lnL w="57150" cap="flat" cmpd="sng" algn="ctr">
                      <a:solidFill>
                        <a:srgbClr val="060606"/>
                      </a:solidFill>
                      <a:prstDash val="solid"/>
                      <a:round/>
                      <a:headEnd type="none" w="med" len="med"/>
                      <a:tailEnd type="none" w="med" len="med"/>
                    </a:lnL>
                    <a:lnR w="57150" cap="flat" cmpd="sng" algn="ctr">
                      <a:solidFill>
                        <a:srgbClr val="060606"/>
                      </a:solidFill>
                      <a:prstDash val="solid"/>
                      <a:round/>
                      <a:headEnd type="none" w="med" len="med"/>
                      <a:tailEnd type="none" w="med" len="med"/>
                    </a:lnR>
                    <a:lnT w="57150" cap="flat" cmpd="sng" algn="ctr">
                      <a:solidFill>
                        <a:srgbClr val="060606"/>
                      </a:solidFill>
                      <a:prstDash val="solid"/>
                      <a:round/>
                      <a:headEnd type="none" w="med" len="med"/>
                      <a:tailEnd type="none" w="med" len="med"/>
                    </a:lnT>
                    <a:lnB w="57150" cap="flat" cmpd="sng" algn="ctr">
                      <a:solidFill>
                        <a:srgbClr val="060606"/>
                      </a:solidFill>
                      <a:prstDash val="solid"/>
                      <a:round/>
                      <a:headEnd type="none" w="med" len="med"/>
                      <a:tailEnd type="none" w="med" len="med"/>
                    </a:lnB>
                    <a:noFill/>
                  </a:tcPr>
                </a:tc>
              </a:tr>
            </a:tbl>
          </a:graphicData>
        </a:graphic>
      </p:graphicFrame>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9856" y="370115"/>
            <a:ext cx="11386457" cy="5970720"/>
          </a:xfrm>
        </p:spPr>
        <p:txBody>
          <a:bodyPr>
            <a:normAutofit lnSpcReduction="10000"/>
          </a:bodyPr>
          <a:lstStyle/>
          <a:p>
            <a:pPr>
              <a:buNone/>
            </a:pPr>
            <a:r>
              <a:rPr lang="zh-CN" altLang="en-US" sz="2400" dirty="0">
                <a:solidFill>
                  <a:srgbClr val="060606"/>
                </a:solidFill>
                <a:latin typeface="楷体" panose="02010609060101010101" pitchFamily="49" charset="-122"/>
                <a:ea typeface="楷体" panose="02010609060101010101" pitchFamily="49" charset="-122"/>
              </a:rPr>
              <a:t>将问题进行数学表达：</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en-US" altLang="zh-CN" sz="24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决策什么？</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设分别有</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 x</a:t>
            </a:r>
            <a:r>
              <a:rPr lang="en-US" altLang="zh-CN" sz="2400" baseline="-25000" dirty="0">
                <a:solidFill>
                  <a:srgbClr val="060606"/>
                </a:solidFill>
                <a:latin typeface="楷体" panose="02010609060101010101" pitchFamily="49" charset="-122"/>
                <a:ea typeface="楷体" panose="02010609060101010101" pitchFamily="49" charset="-122"/>
              </a:rPr>
              <a:t>3</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4</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 x</a:t>
            </a:r>
            <a:r>
              <a:rPr lang="en-US" altLang="zh-CN" sz="2400" baseline="-25000" dirty="0">
                <a:solidFill>
                  <a:srgbClr val="060606"/>
                </a:solidFill>
                <a:latin typeface="楷体" panose="02010609060101010101" pitchFamily="49" charset="-122"/>
                <a:ea typeface="楷体" panose="02010609060101010101" pitchFamily="49" charset="-122"/>
              </a:rPr>
              <a:t>5</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6</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 x</a:t>
            </a:r>
            <a:r>
              <a:rPr lang="en-US" altLang="zh-CN" sz="2400" baseline="-25000" dirty="0">
                <a:solidFill>
                  <a:srgbClr val="060606"/>
                </a:solidFill>
                <a:latin typeface="楷体" panose="02010609060101010101" pitchFamily="49" charset="-122"/>
                <a:ea typeface="楷体" panose="02010609060101010101" pitchFamily="49" charset="-122"/>
              </a:rPr>
              <a:t>7</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8</a:t>
            </a:r>
            <a:r>
              <a:rPr lang="zh-CN" altLang="en-US" sz="2400" dirty="0">
                <a:solidFill>
                  <a:srgbClr val="060606"/>
                </a:solidFill>
                <a:latin typeface="楷体" panose="02010609060101010101" pitchFamily="49" charset="-122"/>
                <a:ea typeface="楷体" panose="02010609060101010101" pitchFamily="49" charset="-122"/>
              </a:rPr>
              <a:t>根</a:t>
            </a:r>
            <a:r>
              <a:rPr lang="en-US" altLang="zh-CN" sz="2400" dirty="0">
                <a:solidFill>
                  <a:srgbClr val="060606"/>
                </a:solidFill>
                <a:latin typeface="楷体" panose="02010609060101010101" pitchFamily="49" charset="-122"/>
                <a:ea typeface="楷体" panose="02010609060101010101" pitchFamily="49" charset="-122"/>
              </a:rPr>
              <a:t>5m</a:t>
            </a:r>
            <a:r>
              <a:rPr lang="zh-CN" altLang="en-US" sz="2400" dirty="0">
                <a:solidFill>
                  <a:srgbClr val="060606"/>
                </a:solidFill>
                <a:latin typeface="楷体" panose="02010609060101010101" pitchFamily="49" charset="-122"/>
                <a:ea typeface="楷体" panose="02010609060101010101" pitchFamily="49" charset="-122"/>
              </a:rPr>
              <a:t>长钢管采用截法</a:t>
            </a:r>
            <a:r>
              <a:rPr lang="en-US" altLang="zh-CN" sz="24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3</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4</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5</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6</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7</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8</a:t>
            </a:r>
            <a:r>
              <a:rPr lang="zh-CN" altLang="en-US" sz="2400" dirty="0">
                <a:solidFill>
                  <a:srgbClr val="060606"/>
                </a:solidFill>
                <a:latin typeface="楷体" panose="02010609060101010101" pitchFamily="49" charset="-122"/>
                <a:ea typeface="楷体" panose="02010609060101010101" pitchFamily="49" charset="-122"/>
              </a:rPr>
              <a:t>。</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en-US" altLang="zh-CN" sz="24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目标是什么？</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残料为：</a:t>
            </a:r>
            <a:r>
              <a:rPr lang="en-US" altLang="zh-CN" sz="2400" dirty="0">
                <a:solidFill>
                  <a:srgbClr val="060606"/>
                </a:solidFill>
                <a:latin typeface="楷体" panose="02010609060101010101" pitchFamily="49" charset="-122"/>
                <a:ea typeface="楷体" panose="02010609060101010101" pitchFamily="49" charset="-122"/>
              </a:rPr>
              <a:t>z = 15x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+30x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+25 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+10x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+5x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+25x</a:t>
            </a:r>
            <a:r>
              <a:rPr lang="en-US" altLang="zh-CN" sz="2400" baseline="-25000" dirty="0">
                <a:solidFill>
                  <a:srgbClr val="060606"/>
                </a:solidFill>
                <a:latin typeface="楷体" panose="02010609060101010101" pitchFamily="49" charset="-122"/>
                <a:ea typeface="楷体" panose="02010609060101010101" pitchFamily="49" charset="-122"/>
              </a:rPr>
              <a:t>6</a:t>
            </a:r>
            <a:r>
              <a:rPr lang="en-US" altLang="zh-CN" sz="2400" dirty="0">
                <a:solidFill>
                  <a:srgbClr val="060606"/>
                </a:solidFill>
                <a:latin typeface="楷体" panose="02010609060101010101" pitchFamily="49" charset="-122"/>
                <a:ea typeface="楷体" panose="02010609060101010101" pitchFamily="49" charset="-122"/>
              </a:rPr>
              <a:t>+20x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+15x</a:t>
            </a:r>
            <a:r>
              <a:rPr lang="en-US" altLang="zh-CN" sz="2400" baseline="-25000" dirty="0">
                <a:solidFill>
                  <a:srgbClr val="060606"/>
                </a:solidFill>
                <a:latin typeface="楷体" panose="02010609060101010101" pitchFamily="49" charset="-122"/>
                <a:ea typeface="楷体" panose="02010609060101010101" pitchFamily="49" charset="-122"/>
              </a:rPr>
              <a:t>8</a:t>
            </a:r>
            <a:endParaRPr lang="en-US" altLang="zh-CN" sz="2400" baseline="-250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我们的目的是使残料最少：</a:t>
            </a:r>
            <a:r>
              <a:rPr lang="en-US" altLang="zh-CN" sz="2400" dirty="0">
                <a:solidFill>
                  <a:srgbClr val="060606"/>
                </a:solidFill>
                <a:latin typeface="楷体" panose="02010609060101010101" pitchFamily="49" charset="-122"/>
                <a:ea typeface="楷体" panose="02010609060101010101" pitchFamily="49" charset="-122"/>
              </a:rPr>
              <a:t>min z = 15x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+30x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+25 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+10x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+5x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+25x</a:t>
            </a:r>
            <a:r>
              <a:rPr lang="en-US" altLang="zh-CN" sz="2400" baseline="-25000" dirty="0">
                <a:solidFill>
                  <a:srgbClr val="060606"/>
                </a:solidFill>
                <a:latin typeface="楷体" panose="02010609060101010101" pitchFamily="49" charset="-122"/>
                <a:ea typeface="楷体" panose="02010609060101010101" pitchFamily="49" charset="-122"/>
              </a:rPr>
              <a:t>6</a:t>
            </a:r>
            <a:r>
              <a:rPr lang="en-US" altLang="zh-CN" sz="2400" dirty="0">
                <a:solidFill>
                  <a:srgbClr val="060606"/>
                </a:solidFill>
                <a:latin typeface="楷体" panose="02010609060101010101" pitchFamily="49" charset="-122"/>
                <a:ea typeface="楷体" panose="02010609060101010101" pitchFamily="49" charset="-122"/>
              </a:rPr>
              <a:t>+20x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+15x</a:t>
            </a:r>
            <a:r>
              <a:rPr lang="en-US" altLang="zh-CN" sz="2400" baseline="-25000" dirty="0">
                <a:solidFill>
                  <a:srgbClr val="060606"/>
                </a:solidFill>
                <a:latin typeface="楷体" panose="02010609060101010101" pitchFamily="49" charset="-122"/>
                <a:ea typeface="楷体" panose="02010609060101010101" pitchFamily="49" charset="-122"/>
              </a:rPr>
              <a:t>8</a:t>
            </a:r>
            <a:endParaRPr lang="en-US" altLang="zh-CN" sz="2400" baseline="-25000" dirty="0">
              <a:solidFill>
                <a:srgbClr val="060606"/>
              </a:solidFill>
              <a:latin typeface="楷体" panose="02010609060101010101" pitchFamily="49" charset="-122"/>
              <a:ea typeface="楷体" panose="02010609060101010101" pitchFamily="49" charset="-122"/>
            </a:endParaRPr>
          </a:p>
          <a:p>
            <a:pPr>
              <a:buNone/>
            </a:pPr>
            <a:r>
              <a:rPr lang="en-US" altLang="zh-CN" sz="2400" dirty="0">
                <a:solidFill>
                  <a:srgbClr val="060606"/>
                </a:solidFill>
                <a:latin typeface="楷体" panose="02010609060101010101" pitchFamily="49" charset="-122"/>
                <a:ea typeface="楷体" panose="02010609060101010101" pitchFamily="49" charset="-122"/>
              </a:rPr>
              <a:t>3</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限制条件是什么？</a:t>
            </a:r>
            <a:r>
              <a:rPr lang="en-US" altLang="zh-CN" sz="2400" dirty="0">
                <a:solidFill>
                  <a:srgbClr val="060606"/>
                </a:solidFill>
                <a:latin typeface="楷体" panose="02010609060101010101" pitchFamily="49" charset="-122"/>
                <a:ea typeface="楷体" panose="02010609060101010101" pitchFamily="49" charset="-122"/>
              </a:rPr>
              <a:t>】</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得到</a:t>
            </a:r>
            <a:r>
              <a:rPr lang="en-US" altLang="zh-CN" sz="2400" dirty="0">
                <a:solidFill>
                  <a:srgbClr val="060606"/>
                </a:solidFill>
                <a:latin typeface="楷体" panose="02010609060101010101" pitchFamily="49" charset="-122"/>
                <a:ea typeface="楷体" panose="02010609060101010101" pitchFamily="49" charset="-122"/>
              </a:rPr>
              <a:t>140cm</a:t>
            </a:r>
            <a:r>
              <a:rPr lang="zh-CN" altLang="en-US" sz="2400" dirty="0">
                <a:solidFill>
                  <a:srgbClr val="060606"/>
                </a:solidFill>
                <a:latin typeface="楷体" panose="02010609060101010101" pitchFamily="49" charset="-122"/>
                <a:ea typeface="楷体" panose="02010609060101010101" pitchFamily="49" charset="-122"/>
              </a:rPr>
              <a:t>的根数</a:t>
            </a: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+2x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+2 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5</a:t>
            </a:r>
            <a:endParaRPr lang="en-US" altLang="zh-CN" sz="2400" baseline="-250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得到</a:t>
            </a:r>
            <a:r>
              <a:rPr lang="en-US" altLang="zh-CN" sz="2400" dirty="0">
                <a:solidFill>
                  <a:srgbClr val="060606"/>
                </a:solidFill>
                <a:latin typeface="楷体" panose="02010609060101010101" pitchFamily="49" charset="-122"/>
                <a:ea typeface="楷体" panose="02010609060101010101" pitchFamily="49" charset="-122"/>
              </a:rPr>
              <a:t>95cm</a:t>
            </a:r>
            <a:r>
              <a:rPr lang="zh-CN" altLang="en-US" sz="2400" dirty="0">
                <a:solidFill>
                  <a:srgbClr val="060606"/>
                </a:solidFill>
                <a:latin typeface="楷体" panose="02010609060101010101" pitchFamily="49" charset="-122"/>
                <a:ea typeface="楷体" panose="02010609060101010101" pitchFamily="49" charset="-122"/>
              </a:rPr>
              <a:t>的根数</a:t>
            </a:r>
            <a:r>
              <a:rPr lang="en-US" altLang="zh-CN" sz="2400" dirty="0">
                <a:solidFill>
                  <a:srgbClr val="060606"/>
                </a:solidFill>
                <a:latin typeface="楷体" panose="02010609060101010101" pitchFamily="49" charset="-122"/>
                <a:ea typeface="楷体" panose="02010609060101010101" pitchFamily="49" charset="-122"/>
              </a:rPr>
              <a:t>:2x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+5x</a:t>
            </a:r>
            <a:r>
              <a:rPr lang="en-US" altLang="zh-CN" sz="2400" baseline="-25000" dirty="0">
                <a:solidFill>
                  <a:srgbClr val="060606"/>
                </a:solidFill>
                <a:latin typeface="楷体" panose="02010609060101010101" pitchFamily="49" charset="-122"/>
                <a:ea typeface="楷体" panose="02010609060101010101" pitchFamily="49" charset="-122"/>
              </a:rPr>
              <a:t>6</a:t>
            </a: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8</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得到</a:t>
            </a:r>
            <a:r>
              <a:rPr lang="en-US" altLang="zh-CN" sz="2400" dirty="0">
                <a:solidFill>
                  <a:srgbClr val="060606"/>
                </a:solidFill>
                <a:latin typeface="楷体" panose="02010609060101010101" pitchFamily="49" charset="-122"/>
                <a:ea typeface="楷体" panose="02010609060101010101" pitchFamily="49" charset="-122"/>
              </a:rPr>
              <a:t>65cm</a:t>
            </a:r>
            <a:r>
              <a:rPr lang="zh-CN" altLang="en-US" sz="2400" dirty="0">
                <a:solidFill>
                  <a:srgbClr val="060606"/>
                </a:solidFill>
                <a:latin typeface="楷体" panose="02010609060101010101" pitchFamily="49" charset="-122"/>
                <a:ea typeface="楷体" panose="02010609060101010101" pitchFamily="49" charset="-122"/>
              </a:rPr>
              <a:t>的根数</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+3 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+4x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+6x</a:t>
            </a:r>
            <a:r>
              <a:rPr lang="en-US" altLang="zh-CN" sz="2400" baseline="-25000" dirty="0">
                <a:solidFill>
                  <a:srgbClr val="060606"/>
                </a:solidFill>
                <a:latin typeface="楷体" panose="02010609060101010101" pitchFamily="49" charset="-122"/>
                <a:ea typeface="楷体" panose="02010609060101010101" pitchFamily="49" charset="-122"/>
              </a:rPr>
              <a:t>8</a:t>
            </a:r>
            <a:endParaRPr lang="en-US" altLang="zh-CN" sz="2400" baseline="-250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对于配套要求</a:t>
            </a:r>
            <a:r>
              <a:rPr lang="en-US" altLang="zh-CN" sz="24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4</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，可得到：</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en-US" altLang="zh-CN" sz="2400" dirty="0">
                <a:solidFill>
                  <a:srgbClr val="060606"/>
                </a:solidFill>
                <a:latin typeface="楷体" panose="02010609060101010101" pitchFamily="49" charset="-122"/>
                <a:ea typeface="楷体" panose="02010609060101010101" pitchFamily="49" charset="-122"/>
              </a:rPr>
              <a:t>2x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+5x</a:t>
            </a:r>
            <a:r>
              <a:rPr lang="en-US" altLang="zh-CN" sz="2400" baseline="-25000" dirty="0">
                <a:solidFill>
                  <a:srgbClr val="060606"/>
                </a:solidFill>
                <a:latin typeface="楷体" panose="02010609060101010101" pitchFamily="49" charset="-122"/>
                <a:ea typeface="楷体" panose="02010609060101010101" pitchFamily="49" charset="-122"/>
              </a:rPr>
              <a:t>6</a:t>
            </a: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8 </a:t>
            </a:r>
            <a:r>
              <a:rPr lang="en-US" altLang="zh-CN" sz="2400" dirty="0">
                <a:solidFill>
                  <a:srgbClr val="060606"/>
                </a:solidFill>
                <a:latin typeface="楷体" panose="02010609060101010101" pitchFamily="49" charset="-122"/>
                <a:ea typeface="楷体" panose="02010609060101010101" pitchFamily="49" charset="-122"/>
              </a:rPr>
              <a:t>=4(1x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+3 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+4x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+6x</a:t>
            </a:r>
            <a:r>
              <a:rPr lang="en-US" altLang="zh-CN" sz="2400" baseline="-25000" dirty="0">
                <a:solidFill>
                  <a:srgbClr val="060606"/>
                </a:solidFill>
                <a:latin typeface="楷体" panose="02010609060101010101" pitchFamily="49" charset="-122"/>
                <a:ea typeface="楷体" panose="02010609060101010101" pitchFamily="49" charset="-122"/>
              </a:rPr>
              <a:t>8</a:t>
            </a:r>
            <a:r>
              <a:rPr lang="en-US" altLang="zh-CN" sz="2400" dirty="0">
                <a:solidFill>
                  <a:srgbClr val="060606"/>
                </a:solidFill>
                <a:latin typeface="楷体" panose="02010609060101010101" pitchFamily="49" charset="-122"/>
                <a:ea typeface="楷体" panose="02010609060101010101" pitchFamily="49" charset="-122"/>
              </a:rPr>
              <a:t>)</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+2x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+2 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5 </a:t>
            </a:r>
            <a:r>
              <a:rPr lang="en-US" altLang="zh-CN" sz="2400" dirty="0">
                <a:solidFill>
                  <a:srgbClr val="060606"/>
                </a:solidFill>
                <a:latin typeface="楷体" panose="02010609060101010101" pitchFamily="49" charset="-122"/>
                <a:ea typeface="楷体" panose="02010609060101010101" pitchFamily="49" charset="-122"/>
              </a:rPr>
              <a:t>= 2(1x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+3 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+1x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+4x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+6x</a:t>
            </a:r>
            <a:r>
              <a:rPr lang="en-US" altLang="zh-CN" sz="2400" baseline="-25000" dirty="0">
                <a:solidFill>
                  <a:srgbClr val="060606"/>
                </a:solidFill>
                <a:latin typeface="楷体" panose="02010609060101010101" pitchFamily="49" charset="-122"/>
                <a:ea typeface="楷体" panose="02010609060101010101" pitchFamily="49" charset="-122"/>
              </a:rPr>
              <a:t>8</a:t>
            </a:r>
            <a:r>
              <a:rPr lang="en-US" altLang="zh-CN" sz="2400" dirty="0">
                <a:solidFill>
                  <a:srgbClr val="060606"/>
                </a:solidFill>
                <a:latin typeface="楷体" panose="02010609060101010101" pitchFamily="49" charset="-122"/>
                <a:ea typeface="楷体" panose="02010609060101010101" pitchFamily="49" charset="-122"/>
              </a:rPr>
              <a:t>)</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zh-CN" altLang="en-US" sz="2400" dirty="0">
                <a:solidFill>
                  <a:srgbClr val="060606"/>
                </a:solidFill>
                <a:latin typeface="楷体" panose="02010609060101010101" pitchFamily="49" charset="-122"/>
                <a:ea typeface="楷体" panose="02010609060101010101" pitchFamily="49" charset="-122"/>
              </a:rPr>
              <a:t>整理得：</a:t>
            </a:r>
            <a:r>
              <a:rPr lang="en-US" altLang="zh-CN" sz="2400" dirty="0">
                <a:solidFill>
                  <a:srgbClr val="060606"/>
                </a:solidFill>
                <a:latin typeface="楷体" panose="02010609060101010101" pitchFamily="49" charset="-122"/>
                <a:ea typeface="楷体" panose="02010609060101010101" pitchFamily="49" charset="-122"/>
              </a:rPr>
              <a:t>4x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-2x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+12 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+15x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-5x</a:t>
            </a:r>
            <a:r>
              <a:rPr lang="en-US" altLang="zh-CN" sz="2400" baseline="-25000" dirty="0">
                <a:solidFill>
                  <a:srgbClr val="060606"/>
                </a:solidFill>
                <a:latin typeface="楷体" panose="02010609060101010101" pitchFamily="49" charset="-122"/>
                <a:ea typeface="楷体" panose="02010609060101010101" pitchFamily="49" charset="-122"/>
              </a:rPr>
              <a:t>6</a:t>
            </a:r>
            <a:r>
              <a:rPr lang="en-US" altLang="zh-CN" sz="2400" dirty="0">
                <a:solidFill>
                  <a:srgbClr val="060606"/>
                </a:solidFill>
                <a:latin typeface="楷体" panose="02010609060101010101" pitchFamily="49" charset="-122"/>
                <a:ea typeface="楷体" panose="02010609060101010101" pitchFamily="49" charset="-122"/>
              </a:rPr>
              <a:t>+9 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+23x</a:t>
            </a:r>
            <a:r>
              <a:rPr lang="en-US" altLang="zh-CN" sz="2400" baseline="-25000" dirty="0">
                <a:solidFill>
                  <a:srgbClr val="060606"/>
                </a:solidFill>
                <a:latin typeface="楷体" panose="02010609060101010101" pitchFamily="49" charset="-122"/>
                <a:ea typeface="楷体" panose="02010609060101010101" pitchFamily="49" charset="-122"/>
              </a:rPr>
              <a:t>8</a:t>
            </a:r>
            <a:r>
              <a:rPr lang="en-US" altLang="zh-CN" sz="2400" dirty="0">
                <a:solidFill>
                  <a:srgbClr val="060606"/>
                </a:solidFill>
                <a:latin typeface="楷体" panose="02010609060101010101" pitchFamily="49" charset="-122"/>
                <a:ea typeface="楷体" panose="02010609060101010101" pitchFamily="49" charset="-122"/>
              </a:rPr>
              <a:t>=0</a:t>
            </a:r>
            <a:r>
              <a:rPr lang="zh-CN" altLang="en-US" sz="2400" dirty="0">
                <a:solidFill>
                  <a:srgbClr val="060606"/>
                </a:solidFill>
                <a:latin typeface="楷体" panose="02010609060101010101" pitchFamily="49" charset="-122"/>
                <a:ea typeface="楷体" panose="02010609060101010101" pitchFamily="49" charset="-122"/>
              </a:rPr>
              <a:t>；</a:t>
            </a:r>
            <a:endParaRPr lang="en-US" altLang="zh-CN" sz="2400" dirty="0">
              <a:solidFill>
                <a:srgbClr val="060606"/>
              </a:solidFill>
              <a:latin typeface="楷体" panose="02010609060101010101" pitchFamily="49" charset="-122"/>
              <a:ea typeface="楷体" panose="02010609060101010101" pitchFamily="49" charset="-122"/>
            </a:endParaRPr>
          </a:p>
          <a:p>
            <a:pPr>
              <a:buNone/>
            </a:pP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+2x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-4 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-7x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-6x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-12x</a:t>
            </a:r>
            <a:r>
              <a:rPr lang="en-US" altLang="zh-CN" sz="2400" baseline="-25000" dirty="0">
                <a:solidFill>
                  <a:srgbClr val="060606"/>
                </a:solidFill>
                <a:latin typeface="楷体" panose="02010609060101010101" pitchFamily="49" charset="-122"/>
                <a:ea typeface="楷体" panose="02010609060101010101" pitchFamily="49" charset="-122"/>
              </a:rPr>
              <a:t>8</a:t>
            </a:r>
            <a:r>
              <a:rPr lang="en-US" altLang="zh-CN" sz="2400" dirty="0">
                <a:solidFill>
                  <a:srgbClr val="060606"/>
                </a:solidFill>
                <a:latin typeface="楷体" panose="02010609060101010101" pitchFamily="49" charset="-122"/>
                <a:ea typeface="楷体" panose="02010609060101010101" pitchFamily="49" charset="-122"/>
              </a:rPr>
              <a:t>=0</a:t>
            </a:r>
            <a:endParaRPr lang="en-US" altLang="zh-CN" sz="2400" dirty="0">
              <a:solidFill>
                <a:srgbClr val="060606"/>
              </a:solidFill>
              <a:latin typeface="楷体" panose="02010609060101010101" pitchFamily="49" charset="-122"/>
              <a:ea typeface="楷体" panose="02010609060101010101" pitchFamily="49" charset="-122"/>
            </a:endParaRPr>
          </a:p>
          <a:p>
            <a:pPr>
              <a:buNone/>
            </a:pPr>
            <a:endParaRPr lang="en-US" altLang="zh-CN" sz="2400" dirty="0">
              <a:solidFill>
                <a:srgbClr val="060606"/>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5545" y="339333"/>
            <a:ext cx="8229600" cy="502249"/>
          </a:xfrm>
        </p:spPr>
        <p:txBody>
          <a:bodyPr/>
          <a:lstStyle/>
          <a:p>
            <a:pPr lvl="0">
              <a:buNone/>
            </a:pPr>
            <a:r>
              <a:rPr lang="zh-CN" altLang="en-US" sz="2400" dirty="0">
                <a:solidFill>
                  <a:srgbClr val="060606"/>
                </a:solidFill>
                <a:latin typeface="楷体" panose="02010609060101010101" pitchFamily="49" charset="-122"/>
                <a:ea typeface="楷体" panose="02010609060101010101" pitchFamily="49" charset="-122"/>
              </a:rPr>
              <a:t>于是得到问题的数学表达为：</a:t>
            </a:r>
            <a:endParaRPr lang="en-US" altLang="zh-CN" sz="2400" dirty="0">
              <a:solidFill>
                <a:srgbClr val="060606"/>
              </a:solidFill>
              <a:latin typeface="楷体" panose="02010609060101010101" pitchFamily="49" charset="-122"/>
              <a:ea typeface="楷体" panose="02010609060101010101" pitchFamily="49" charset="-122"/>
            </a:endParaRPr>
          </a:p>
        </p:txBody>
      </p:sp>
      <p:grpSp>
        <p:nvGrpSpPr>
          <p:cNvPr id="8" name="组合 7"/>
          <p:cNvGrpSpPr/>
          <p:nvPr/>
        </p:nvGrpSpPr>
        <p:grpSpPr>
          <a:xfrm>
            <a:off x="664308" y="1054965"/>
            <a:ext cx="11402646" cy="5322538"/>
            <a:chOff x="1213151" y="978765"/>
            <a:chExt cx="11402646" cy="5322538"/>
          </a:xfrm>
        </p:grpSpPr>
        <p:grpSp>
          <p:nvGrpSpPr>
            <p:cNvPr id="2" name="组合 17"/>
            <p:cNvGrpSpPr/>
            <p:nvPr/>
          </p:nvGrpSpPr>
          <p:grpSpPr>
            <a:xfrm>
              <a:off x="1893876" y="978765"/>
              <a:ext cx="9195656" cy="2537358"/>
              <a:chOff x="869291" y="2778964"/>
              <a:chExt cx="9195656" cy="2537358"/>
            </a:xfrm>
          </p:grpSpPr>
          <p:grpSp>
            <p:nvGrpSpPr>
              <p:cNvPr id="4" name="组合 12"/>
              <p:cNvGrpSpPr/>
              <p:nvPr/>
            </p:nvGrpSpPr>
            <p:grpSpPr>
              <a:xfrm>
                <a:off x="869291" y="2778964"/>
                <a:ext cx="9195656" cy="2306220"/>
                <a:chOff x="-746757" y="3139004"/>
                <a:chExt cx="9195656" cy="2306220"/>
              </a:xfrm>
            </p:grpSpPr>
            <p:sp>
              <p:nvSpPr>
                <p:cNvPr id="5" name="矩形 4"/>
                <p:cNvSpPr/>
                <p:nvPr/>
              </p:nvSpPr>
              <p:spPr>
                <a:xfrm>
                  <a:off x="-746757" y="3139004"/>
                  <a:ext cx="9195656" cy="479234"/>
                </a:xfrm>
                <a:prstGeom prst="rect">
                  <a:avLst/>
                </a:prstGeom>
              </p:spPr>
              <p:txBody>
                <a:bodyPr wrap="square">
                  <a:spAutoFit/>
                </a:bodyPr>
                <a:lstStyle/>
                <a:p>
                  <a:pPr marL="342900" indent="-342900" algn="ctr" fontAlgn="base">
                    <a:lnSpc>
                      <a:spcPct val="110000"/>
                    </a:lnSpc>
                    <a:spcBef>
                      <a:spcPts val="1800"/>
                    </a:spcBef>
                    <a:spcAft>
                      <a:spcPct val="0"/>
                    </a:spcAft>
                  </a:pPr>
                  <a:r>
                    <a:rPr lang="en-US" altLang="zh-CN" sz="2400" dirty="0">
                      <a:solidFill>
                        <a:srgbClr val="060606"/>
                      </a:solidFill>
                    </a:rPr>
                    <a:t>min Z  = 15x</a:t>
                  </a:r>
                  <a:r>
                    <a:rPr lang="en-US" altLang="zh-CN" sz="2400" baseline="-25000" dirty="0">
                      <a:solidFill>
                        <a:srgbClr val="060606"/>
                      </a:solidFill>
                    </a:rPr>
                    <a:t>1</a:t>
                  </a:r>
                  <a:r>
                    <a:rPr lang="en-US" altLang="zh-CN" sz="2400" dirty="0">
                      <a:solidFill>
                        <a:srgbClr val="060606"/>
                      </a:solidFill>
                    </a:rPr>
                    <a:t>+30x</a:t>
                  </a:r>
                  <a:r>
                    <a:rPr lang="en-US" altLang="zh-CN" sz="2400" baseline="-25000" dirty="0">
                      <a:solidFill>
                        <a:srgbClr val="060606"/>
                      </a:solidFill>
                    </a:rPr>
                    <a:t>2</a:t>
                  </a:r>
                  <a:r>
                    <a:rPr lang="en-US" altLang="zh-CN" sz="2400" dirty="0">
                      <a:solidFill>
                        <a:srgbClr val="060606"/>
                      </a:solidFill>
                    </a:rPr>
                    <a:t>+25 x</a:t>
                  </a:r>
                  <a:r>
                    <a:rPr lang="en-US" altLang="zh-CN" sz="2400" baseline="-25000" dirty="0">
                      <a:solidFill>
                        <a:srgbClr val="060606"/>
                      </a:solidFill>
                    </a:rPr>
                    <a:t>3</a:t>
                  </a:r>
                  <a:r>
                    <a:rPr lang="en-US" altLang="zh-CN" sz="2400" dirty="0">
                      <a:solidFill>
                        <a:srgbClr val="060606"/>
                      </a:solidFill>
                    </a:rPr>
                    <a:t>+10x</a:t>
                  </a:r>
                  <a:r>
                    <a:rPr lang="en-US" altLang="zh-CN" sz="2400" baseline="-25000" dirty="0">
                      <a:solidFill>
                        <a:srgbClr val="060606"/>
                      </a:solidFill>
                    </a:rPr>
                    <a:t>4</a:t>
                  </a:r>
                  <a:r>
                    <a:rPr lang="en-US" altLang="zh-CN" sz="2400" dirty="0">
                      <a:solidFill>
                        <a:srgbClr val="060606"/>
                      </a:solidFill>
                    </a:rPr>
                    <a:t>+5x</a:t>
                  </a:r>
                  <a:r>
                    <a:rPr lang="en-US" altLang="zh-CN" sz="2400" baseline="-25000" dirty="0">
                      <a:solidFill>
                        <a:srgbClr val="060606"/>
                      </a:solidFill>
                    </a:rPr>
                    <a:t>5</a:t>
                  </a:r>
                  <a:r>
                    <a:rPr lang="en-US" altLang="zh-CN" sz="2400" dirty="0">
                      <a:solidFill>
                        <a:srgbClr val="060606"/>
                      </a:solidFill>
                    </a:rPr>
                    <a:t>+25x</a:t>
                  </a:r>
                  <a:r>
                    <a:rPr lang="en-US" altLang="zh-CN" sz="2400" baseline="-25000" dirty="0">
                      <a:solidFill>
                        <a:srgbClr val="060606"/>
                      </a:solidFill>
                    </a:rPr>
                    <a:t>6</a:t>
                  </a:r>
                  <a:r>
                    <a:rPr lang="en-US" altLang="zh-CN" sz="2400" dirty="0">
                      <a:solidFill>
                        <a:srgbClr val="060606"/>
                      </a:solidFill>
                    </a:rPr>
                    <a:t>+20x</a:t>
                  </a:r>
                  <a:r>
                    <a:rPr lang="en-US" altLang="zh-CN" sz="2400" baseline="-25000" dirty="0">
                      <a:solidFill>
                        <a:srgbClr val="060606"/>
                      </a:solidFill>
                    </a:rPr>
                    <a:t>7</a:t>
                  </a:r>
                  <a:r>
                    <a:rPr lang="en-US" altLang="zh-CN" sz="2400" dirty="0">
                      <a:solidFill>
                        <a:srgbClr val="060606"/>
                      </a:solidFill>
                    </a:rPr>
                    <a:t>+15x</a:t>
                  </a:r>
                  <a:r>
                    <a:rPr lang="en-US" altLang="zh-CN" sz="2400" baseline="-25000" dirty="0">
                      <a:solidFill>
                        <a:srgbClr val="060606"/>
                      </a:solidFill>
                    </a:rPr>
                    <a:t>8</a:t>
                  </a:r>
                  <a:endParaRPr lang="en-US" altLang="zh-CN" sz="2400" dirty="0">
                    <a:solidFill>
                      <a:srgbClr val="060606"/>
                    </a:solidFill>
                  </a:endParaRPr>
                </a:p>
              </p:txBody>
            </p:sp>
            <p:sp>
              <p:nvSpPr>
                <p:cNvPr id="6" name="矩形 5"/>
                <p:cNvSpPr/>
                <p:nvPr/>
              </p:nvSpPr>
              <p:spPr>
                <a:xfrm>
                  <a:off x="899592" y="4437112"/>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7" name="左大括号 6"/>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14" name="矩形 13"/>
              <p:cNvSpPr/>
              <p:nvPr/>
            </p:nvSpPr>
            <p:spPr>
              <a:xfrm>
                <a:off x="3563880" y="3384228"/>
                <a:ext cx="5623655" cy="461665"/>
              </a:xfrm>
              <a:prstGeom prst="rect">
                <a:avLst/>
              </a:prstGeom>
            </p:spPr>
            <p:txBody>
              <a:bodyPr wrap="none">
                <a:spAutoFit/>
              </a:bodyPr>
              <a:lstStyle/>
              <a:p>
                <a:r>
                  <a:rPr lang="en-US" altLang="zh-CN" sz="2400" dirty="0">
                    <a:solidFill>
                      <a:srgbClr val="060606"/>
                    </a:solidFill>
                  </a:rPr>
                  <a:t>4x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+12 x</a:t>
                </a:r>
                <a:r>
                  <a:rPr lang="en-US" altLang="zh-CN" sz="2400" baseline="-25000" dirty="0">
                    <a:solidFill>
                      <a:srgbClr val="060606"/>
                    </a:solidFill>
                  </a:rPr>
                  <a:t>3</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+15x</a:t>
                </a:r>
                <a:r>
                  <a:rPr lang="en-US" altLang="zh-CN" sz="2400" baseline="-25000" dirty="0">
                    <a:solidFill>
                      <a:srgbClr val="060606"/>
                    </a:solidFill>
                  </a:rPr>
                  <a:t>5</a:t>
                </a:r>
                <a:r>
                  <a:rPr lang="en-US" altLang="zh-CN" sz="2400" dirty="0">
                    <a:solidFill>
                      <a:srgbClr val="060606"/>
                    </a:solidFill>
                  </a:rPr>
                  <a:t>-5x</a:t>
                </a:r>
                <a:r>
                  <a:rPr lang="en-US" altLang="zh-CN" sz="2400" baseline="-25000" dirty="0">
                    <a:solidFill>
                      <a:srgbClr val="060606"/>
                    </a:solidFill>
                  </a:rPr>
                  <a:t>6</a:t>
                </a:r>
                <a:r>
                  <a:rPr lang="en-US" altLang="zh-CN" sz="2400" dirty="0">
                    <a:solidFill>
                      <a:srgbClr val="060606"/>
                    </a:solidFill>
                  </a:rPr>
                  <a:t>+9 x</a:t>
                </a:r>
                <a:r>
                  <a:rPr lang="en-US" altLang="zh-CN" sz="2400" baseline="-25000" dirty="0">
                    <a:solidFill>
                      <a:srgbClr val="060606"/>
                    </a:solidFill>
                  </a:rPr>
                  <a:t>7</a:t>
                </a:r>
                <a:r>
                  <a:rPr lang="en-US" altLang="zh-CN" sz="2400" dirty="0">
                    <a:solidFill>
                      <a:srgbClr val="060606"/>
                    </a:solidFill>
                  </a:rPr>
                  <a:t>+23x</a:t>
                </a:r>
                <a:r>
                  <a:rPr lang="en-US" altLang="zh-CN" sz="2400" baseline="-25000" dirty="0">
                    <a:solidFill>
                      <a:srgbClr val="060606"/>
                    </a:solidFill>
                  </a:rPr>
                  <a:t>8</a:t>
                </a:r>
                <a:r>
                  <a:rPr lang="en-US" altLang="zh-CN" sz="2400" dirty="0">
                    <a:solidFill>
                      <a:srgbClr val="060606"/>
                    </a:solidFill>
                  </a:rPr>
                  <a:t>=0</a:t>
                </a:r>
                <a:endParaRPr lang="zh-CN" altLang="en-US" sz="2400" dirty="0"/>
              </a:p>
            </p:txBody>
          </p:sp>
          <p:sp>
            <p:nvSpPr>
              <p:cNvPr id="16" name="矩形 15"/>
              <p:cNvSpPr/>
              <p:nvPr/>
            </p:nvSpPr>
            <p:spPr>
              <a:xfrm>
                <a:off x="3563880" y="3894724"/>
                <a:ext cx="4288353" cy="461665"/>
              </a:xfrm>
              <a:prstGeom prst="rect">
                <a:avLst/>
              </a:prstGeom>
            </p:spPr>
            <p:txBody>
              <a:bodyPr wrap="none">
                <a:spAutoFit/>
              </a:bodyPr>
              <a:lstStyle/>
              <a:p>
                <a:pPr>
                  <a:buNone/>
                </a:pP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-4 x</a:t>
                </a:r>
                <a:r>
                  <a:rPr lang="en-US" altLang="zh-CN" sz="2400" baseline="-25000" dirty="0">
                    <a:solidFill>
                      <a:srgbClr val="060606"/>
                    </a:solidFill>
                  </a:rPr>
                  <a:t>3</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-7x</a:t>
                </a:r>
                <a:r>
                  <a:rPr lang="en-US" altLang="zh-CN" sz="2400" baseline="-25000" dirty="0">
                    <a:solidFill>
                      <a:srgbClr val="060606"/>
                    </a:solidFill>
                  </a:rPr>
                  <a:t>5</a:t>
                </a:r>
                <a:r>
                  <a:rPr lang="en-US" altLang="zh-CN" sz="2400" dirty="0">
                    <a:solidFill>
                      <a:srgbClr val="060606"/>
                    </a:solidFill>
                  </a:rPr>
                  <a:t>-6x</a:t>
                </a:r>
                <a:r>
                  <a:rPr lang="en-US" altLang="zh-CN" sz="2400" baseline="-25000" dirty="0">
                    <a:solidFill>
                      <a:srgbClr val="060606"/>
                    </a:solidFill>
                  </a:rPr>
                  <a:t>7</a:t>
                </a:r>
                <a:r>
                  <a:rPr lang="en-US" altLang="zh-CN" sz="2400" dirty="0">
                    <a:solidFill>
                      <a:srgbClr val="060606"/>
                    </a:solidFill>
                  </a:rPr>
                  <a:t>-12x</a:t>
                </a:r>
                <a:r>
                  <a:rPr lang="en-US" altLang="zh-CN" sz="2400" baseline="-25000" dirty="0">
                    <a:solidFill>
                      <a:srgbClr val="060606"/>
                    </a:solidFill>
                  </a:rPr>
                  <a:t>8</a:t>
                </a:r>
                <a:r>
                  <a:rPr lang="en-US" altLang="zh-CN" sz="2400" dirty="0">
                    <a:solidFill>
                      <a:srgbClr val="060606"/>
                    </a:solidFill>
                  </a:rPr>
                  <a:t>=0</a:t>
                </a:r>
                <a:endParaRPr lang="en-US" altLang="zh-CN" sz="2400" dirty="0">
                  <a:solidFill>
                    <a:srgbClr val="060606"/>
                  </a:solidFill>
                </a:endParaRPr>
              </a:p>
            </p:txBody>
          </p:sp>
          <p:sp>
            <p:nvSpPr>
              <p:cNvPr id="17" name="矩形 16"/>
              <p:cNvSpPr/>
              <p:nvPr/>
            </p:nvSpPr>
            <p:spPr>
              <a:xfrm>
                <a:off x="3595760" y="4485325"/>
                <a:ext cx="5033750" cy="830997"/>
              </a:xfrm>
              <a:prstGeom prst="rect">
                <a:avLst/>
              </a:prstGeom>
            </p:spPr>
            <p:txBody>
              <a:bodyPr wrap="none">
                <a:spAutoFit/>
              </a:bodyPr>
              <a:lstStyle/>
              <a:p>
                <a:r>
                  <a:rPr lang="en-US" altLang="zh-CN" sz="2400" dirty="0">
                    <a:solidFill>
                      <a:srgbClr val="060606"/>
                    </a:solidFill>
                  </a:rPr>
                  <a:t>x</a:t>
                </a:r>
                <a:r>
                  <a:rPr lang="en-US" altLang="zh-CN" sz="2400" baseline="-25000" dirty="0">
                    <a:solidFill>
                      <a:srgbClr val="060606"/>
                    </a:solidFill>
                  </a:rPr>
                  <a:t>1</a:t>
                </a:r>
                <a:r>
                  <a:rPr lang="zh-CN" altLang="en-US" sz="2400" dirty="0">
                    <a:solidFill>
                      <a:srgbClr val="060606"/>
                    </a:solidFill>
                  </a:rPr>
                  <a:t> ≥</a:t>
                </a:r>
                <a:r>
                  <a:rPr lang="en-US" altLang="zh-CN" sz="2400" dirty="0">
                    <a:solidFill>
                      <a:srgbClr val="060606"/>
                    </a:solidFill>
                  </a:rPr>
                  <a:t>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zh-CN" altLang="en-US" sz="2400" dirty="0">
                    <a:solidFill>
                      <a:srgbClr val="060606"/>
                    </a:solidFill>
                  </a:rPr>
                  <a:t> ≥</a:t>
                </a:r>
                <a:r>
                  <a:rPr lang="en-US" altLang="zh-CN" sz="2400" dirty="0">
                    <a:solidFill>
                      <a:srgbClr val="060606"/>
                    </a:solidFill>
                  </a:rPr>
                  <a:t>0 </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3</a:t>
                </a:r>
                <a:r>
                  <a:rPr lang="zh-CN" altLang="en-US" sz="2400" dirty="0">
                    <a:solidFill>
                      <a:srgbClr val="060606"/>
                    </a:solidFill>
                  </a:rPr>
                  <a:t> ≥</a:t>
                </a:r>
                <a:r>
                  <a:rPr lang="en-US" altLang="zh-CN" sz="2400" dirty="0">
                    <a:solidFill>
                      <a:srgbClr val="060606"/>
                    </a:solidFill>
                  </a:rPr>
                  <a:t>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zh-CN" altLang="en-US" sz="2400" dirty="0">
                    <a:solidFill>
                      <a:srgbClr val="060606"/>
                    </a:solidFill>
                  </a:rPr>
                  <a:t> ≥</a:t>
                </a:r>
                <a:r>
                  <a:rPr lang="en-US" altLang="zh-CN" sz="2400" dirty="0">
                    <a:solidFill>
                      <a:srgbClr val="060606"/>
                    </a:solidFill>
                  </a:rPr>
                  <a:t>0 </a:t>
                </a:r>
                <a:r>
                  <a:rPr lang="zh-CN" altLang="en-US" sz="2400" dirty="0">
                    <a:solidFill>
                      <a:srgbClr val="060606"/>
                    </a:solidFill>
                  </a:rPr>
                  <a:t>、</a:t>
                </a:r>
                <a:endParaRPr lang="en-US" altLang="zh-CN" sz="2400" dirty="0">
                  <a:solidFill>
                    <a:srgbClr val="060606"/>
                  </a:solidFill>
                </a:endParaRPr>
              </a:p>
              <a:p>
                <a:r>
                  <a:rPr lang="en-US" altLang="zh-CN" sz="2400" dirty="0">
                    <a:solidFill>
                      <a:srgbClr val="060606"/>
                    </a:solidFill>
                  </a:rPr>
                  <a:t> x</a:t>
                </a:r>
                <a:r>
                  <a:rPr lang="en-US" altLang="zh-CN" sz="2400" baseline="-25000" dirty="0">
                    <a:solidFill>
                      <a:srgbClr val="060606"/>
                    </a:solidFill>
                  </a:rPr>
                  <a:t>5</a:t>
                </a:r>
                <a:r>
                  <a:rPr lang="zh-CN" altLang="en-US" sz="2400" dirty="0">
                    <a:solidFill>
                      <a:srgbClr val="060606"/>
                    </a:solidFill>
                  </a:rPr>
                  <a:t> ≥</a:t>
                </a:r>
                <a:r>
                  <a:rPr lang="en-US" altLang="zh-CN" sz="2400" dirty="0">
                    <a:solidFill>
                      <a:srgbClr val="060606"/>
                    </a:solidFill>
                  </a:rPr>
                  <a:t>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6</a:t>
                </a:r>
                <a:r>
                  <a:rPr lang="zh-CN" altLang="en-US" sz="2400" dirty="0">
                    <a:solidFill>
                      <a:srgbClr val="060606"/>
                    </a:solidFill>
                  </a:rPr>
                  <a:t> ≥</a:t>
                </a:r>
                <a:r>
                  <a:rPr lang="en-US" altLang="zh-CN" sz="2400" dirty="0">
                    <a:solidFill>
                      <a:srgbClr val="060606"/>
                    </a:solidFill>
                  </a:rPr>
                  <a:t>0 </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7</a:t>
                </a:r>
                <a:r>
                  <a:rPr lang="zh-CN" altLang="en-US" sz="2400" dirty="0">
                    <a:solidFill>
                      <a:srgbClr val="060606"/>
                    </a:solidFill>
                  </a:rPr>
                  <a:t> ≥</a:t>
                </a:r>
                <a:r>
                  <a:rPr lang="en-US" altLang="zh-CN" sz="2400" dirty="0">
                    <a:solidFill>
                      <a:srgbClr val="060606"/>
                    </a:solidFill>
                  </a:rPr>
                  <a:t>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8 </a:t>
                </a:r>
                <a:r>
                  <a:rPr lang="zh-CN" altLang="en-US" sz="2400" dirty="0">
                    <a:solidFill>
                      <a:srgbClr val="060606"/>
                    </a:solidFill>
                  </a:rPr>
                  <a:t>≥</a:t>
                </a:r>
                <a:r>
                  <a:rPr lang="en-US" altLang="zh-CN" sz="2400" dirty="0">
                    <a:solidFill>
                      <a:srgbClr val="060606"/>
                    </a:solidFill>
                  </a:rPr>
                  <a:t>0</a:t>
                </a:r>
                <a:endParaRPr lang="zh-CN" altLang="en-US" sz="2400" dirty="0">
                  <a:solidFill>
                    <a:srgbClr val="060606"/>
                  </a:solidFill>
                </a:endParaRPr>
              </a:p>
            </p:txBody>
          </p:sp>
        </p:grpSp>
        <p:sp>
          <p:nvSpPr>
            <p:cNvPr id="13" name="文本框 12"/>
            <p:cNvSpPr txBox="1"/>
            <p:nvPr/>
          </p:nvSpPr>
          <p:spPr>
            <a:xfrm>
              <a:off x="1213151" y="3992979"/>
              <a:ext cx="11402646" cy="2308324"/>
            </a:xfrm>
            <a:prstGeom prst="rect">
              <a:avLst/>
            </a:prstGeom>
            <a:noFill/>
          </p:spPr>
          <p:txBody>
            <a:bodyPr wrap="square" rtlCol="0">
              <a:spAutoFit/>
            </a:bodyPr>
            <a:lstStyle/>
            <a:p>
              <a:pPr algn="ctr"/>
              <a:r>
                <a:rPr lang="zh-CN" altLang="en-US" sz="2400" dirty="0"/>
                <a:t>数学模型</a:t>
              </a:r>
              <a:r>
                <a:rPr lang="en-US" altLang="zh-CN" sz="2400" dirty="0"/>
                <a:t>6</a:t>
              </a:r>
              <a:r>
                <a:rPr lang="zh-CN" altLang="en-US" sz="2400" dirty="0"/>
                <a:t>：合理下料问题的数学表达</a:t>
              </a:r>
              <a:endParaRPr lang="en-US" altLang="zh-CN" sz="2400" dirty="0"/>
            </a:p>
            <a:p>
              <a:pPr lvl="0"/>
              <a:r>
                <a:rPr lang="zh-CN" altLang="en-US" sz="2400" dirty="0">
                  <a:solidFill>
                    <a:srgbClr val="060606"/>
                  </a:solidFill>
                  <a:latin typeface="楷体" panose="02010609060101010101" pitchFamily="49" charset="-122"/>
                  <a:ea typeface="楷体" panose="02010609060101010101" pitchFamily="49" charset="-122"/>
                </a:rPr>
                <a:t>说明：</a:t>
              </a:r>
              <a:r>
                <a:rPr lang="en-US" altLang="zh-CN" sz="2400" dirty="0">
                  <a:solidFill>
                    <a:srgbClr val="060606"/>
                  </a:solidFill>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问题做出假设：假设了这批长度为</a:t>
              </a:r>
              <a:r>
                <a:rPr lang="en-US" altLang="zh-CN" sz="2400" dirty="0">
                  <a:solidFill>
                    <a:srgbClr val="060606"/>
                  </a:solidFill>
                  <a:latin typeface="楷体" panose="02010609060101010101" pitchFamily="49" charset="-122"/>
                  <a:ea typeface="楷体" panose="02010609060101010101" pitchFamily="49" charset="-122"/>
                </a:rPr>
                <a:t>5m</a:t>
              </a:r>
              <a:r>
                <a:rPr lang="zh-CN" altLang="en-US" sz="2400" dirty="0">
                  <a:solidFill>
                    <a:srgbClr val="060606"/>
                  </a:solidFill>
                  <a:latin typeface="楷体" panose="02010609060101010101" pitchFamily="49" charset="-122"/>
                  <a:ea typeface="楷体" panose="02010609060101010101" pitchFamily="49" charset="-122"/>
                </a:rPr>
                <a:t>的钢管的数量充分多，即</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 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2</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6</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8</a:t>
              </a:r>
              <a:r>
                <a:rPr lang="en-US" altLang="zh-CN" sz="2400" dirty="0">
                  <a:solidFill>
                    <a:srgbClr val="060606"/>
                  </a:solidFill>
                  <a:latin typeface="楷体" panose="02010609060101010101" pitchFamily="49" charset="-122"/>
                  <a:ea typeface="楷体" panose="02010609060101010101" pitchFamily="49" charset="-122"/>
                </a:rPr>
                <a:t>≤N</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N</a:t>
              </a:r>
              <a:r>
                <a:rPr lang="zh-CN" altLang="en-US" sz="2400" dirty="0">
                  <a:solidFill>
                    <a:srgbClr val="060606"/>
                  </a:solidFill>
                  <a:latin typeface="楷体" panose="02010609060101010101" pitchFamily="49" charset="-122"/>
                  <a:ea typeface="楷体" panose="02010609060101010101" pitchFamily="49" charset="-122"/>
                </a:rPr>
                <a:t>是一个大数；这个假设是合理的，因为生产应长远来看，总的来说希望达成目标：</a:t>
              </a:r>
              <a:r>
                <a:rPr lang="zh-CN" altLang="zh-CN" sz="2400" dirty="0">
                  <a:latin typeface="楷体" panose="02010609060101010101" pitchFamily="49" charset="-122"/>
                  <a:ea typeface="楷体" panose="02010609060101010101" pitchFamily="49" charset="-122"/>
                </a:rPr>
                <a:t>使残料最少</a:t>
              </a:r>
              <a:r>
                <a:rPr lang="zh-CN" altLang="en-US" sz="2400" dirty="0">
                  <a:solidFill>
                    <a:srgbClr val="060606"/>
                  </a:solidFill>
                  <a:latin typeface="楷体" panose="02010609060101010101" pitchFamily="49" charset="-122"/>
                  <a:ea typeface="楷体" panose="02010609060101010101" pitchFamily="49" charset="-122"/>
                </a:rPr>
                <a:t>。</a:t>
              </a:r>
              <a:r>
                <a:rPr lang="en-US" altLang="zh-CN" sz="2400" dirty="0">
                  <a:solidFill>
                    <a:srgbClr val="060606"/>
                  </a:solidFill>
                  <a:latin typeface="楷体" panose="02010609060101010101" pitchFamily="49" charset="-122"/>
                  <a:ea typeface="楷体" panose="02010609060101010101" pitchFamily="49" charset="-122"/>
                </a:rPr>
                <a:t>2.</a:t>
              </a:r>
              <a:r>
                <a:rPr lang="zh-CN" altLang="en-US" sz="2400" dirty="0">
                  <a:solidFill>
                    <a:srgbClr val="060606"/>
                  </a:solidFill>
                  <a:latin typeface="楷体" panose="02010609060101010101" pitchFamily="49" charset="-122"/>
                  <a:ea typeface="楷体" panose="02010609060101010101" pitchFamily="49" charset="-122"/>
                </a:rPr>
                <a:t> 关于成品数</a:t>
              </a: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 </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1</a:t>
              </a: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3</a:t>
              </a:r>
              <a:r>
                <a:rPr lang="en-US" altLang="zh-CN" sz="2400" dirty="0">
                  <a:solidFill>
                    <a:srgbClr val="060606"/>
                  </a:solidFill>
                  <a:latin typeface="楷体" panose="02010609060101010101" pitchFamily="49" charset="-122"/>
                  <a:ea typeface="楷体" panose="02010609060101010101" pitchFamily="49" charset="-122"/>
                </a:rPr>
                <a:t>+x</a:t>
              </a:r>
              <a:r>
                <a:rPr lang="en-US" altLang="zh-CN" sz="2400" baseline="-25000" dirty="0">
                  <a:solidFill>
                    <a:srgbClr val="060606"/>
                  </a:solidFill>
                  <a:latin typeface="楷体" panose="02010609060101010101" pitchFamily="49" charset="-122"/>
                  <a:ea typeface="楷体" panose="02010609060101010101" pitchFamily="49" charset="-122"/>
                </a:rPr>
                <a:t>4</a:t>
              </a:r>
              <a:r>
                <a:rPr lang="en-US" altLang="zh-CN" sz="2400" dirty="0">
                  <a:solidFill>
                    <a:srgbClr val="060606"/>
                  </a:solidFill>
                  <a:latin typeface="楷体" panose="02010609060101010101" pitchFamily="49" charset="-122"/>
                  <a:ea typeface="楷体" panose="02010609060101010101" pitchFamily="49" charset="-122"/>
                </a:rPr>
                <a:t>+4x</a:t>
              </a:r>
              <a:r>
                <a:rPr lang="en-US" altLang="zh-CN" sz="2400" baseline="-25000" dirty="0">
                  <a:solidFill>
                    <a:srgbClr val="060606"/>
                  </a:solidFill>
                  <a:latin typeface="楷体" panose="02010609060101010101" pitchFamily="49" charset="-122"/>
                  <a:ea typeface="楷体" panose="02010609060101010101" pitchFamily="49" charset="-122"/>
                </a:rPr>
                <a:t>5</a:t>
              </a:r>
              <a:r>
                <a:rPr lang="en-US" altLang="zh-CN" sz="2400" dirty="0">
                  <a:solidFill>
                    <a:srgbClr val="060606"/>
                  </a:solidFill>
                  <a:latin typeface="楷体" panose="02010609060101010101" pitchFamily="49" charset="-122"/>
                  <a:ea typeface="楷体" panose="02010609060101010101" pitchFamily="49" charset="-122"/>
                </a:rPr>
                <a:t>+3x</a:t>
              </a:r>
              <a:r>
                <a:rPr lang="en-US" altLang="zh-CN" sz="2400" baseline="-25000" dirty="0">
                  <a:solidFill>
                    <a:srgbClr val="060606"/>
                  </a:solidFill>
                  <a:latin typeface="楷体" panose="02010609060101010101" pitchFamily="49" charset="-122"/>
                  <a:ea typeface="楷体" panose="02010609060101010101" pitchFamily="49" charset="-122"/>
                </a:rPr>
                <a:t>7</a:t>
              </a:r>
              <a:r>
                <a:rPr lang="en-US" altLang="zh-CN" sz="2400" dirty="0">
                  <a:solidFill>
                    <a:srgbClr val="060606"/>
                  </a:solidFill>
                  <a:latin typeface="楷体" panose="02010609060101010101" pitchFamily="49" charset="-122"/>
                  <a:ea typeface="楷体" panose="02010609060101010101" pitchFamily="49" charset="-122"/>
                </a:rPr>
                <a:t>+6x</a:t>
              </a:r>
              <a:r>
                <a:rPr lang="en-US" altLang="zh-CN" sz="2400" baseline="-25000" dirty="0">
                  <a:solidFill>
                    <a:srgbClr val="060606"/>
                  </a:solidFill>
                  <a:latin typeface="楷体" panose="02010609060101010101" pitchFamily="49" charset="-122"/>
                  <a:ea typeface="楷体" panose="02010609060101010101" pitchFamily="49" charset="-122"/>
                </a:rPr>
                <a:t>8</a:t>
              </a:r>
              <a:r>
                <a:rPr lang="zh-CN" altLang="en-US" sz="2400" dirty="0">
                  <a:solidFill>
                    <a:srgbClr val="060606"/>
                  </a:solidFill>
                  <a:latin typeface="楷体" panose="02010609060101010101" pitchFamily="49" charset="-122"/>
                  <a:ea typeface="楷体" panose="02010609060101010101" pitchFamily="49" charset="-122"/>
                </a:rPr>
                <a:t> ，基于同一原因，因为生产应长远来看，总的来说是配套的，满足</a:t>
              </a:r>
              <a:r>
                <a:rPr lang="zh-CN" altLang="zh-CN" sz="2400" dirty="0">
                  <a:latin typeface="楷体" panose="02010609060101010101" pitchFamily="49" charset="-122"/>
                  <a:ea typeface="楷体" panose="02010609060101010101" pitchFamily="49" charset="-122"/>
                </a:rPr>
                <a:t>配套要求</a:t>
              </a:r>
              <a:r>
                <a:rPr lang="en-US" altLang="zh-CN" sz="2400" dirty="0">
                  <a:latin typeface="楷体" panose="02010609060101010101" pitchFamily="49" charset="-122"/>
                  <a:ea typeface="楷体" panose="02010609060101010101" pitchFamily="49" charset="-122"/>
                </a:rPr>
                <a:t>2</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4</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solidFill>
                    <a:srgbClr val="060606"/>
                  </a:solidFill>
                  <a:latin typeface="楷体" panose="02010609060101010101" pitchFamily="49" charset="-122"/>
                  <a:ea typeface="楷体" panose="02010609060101010101" pitchFamily="49" charset="-122"/>
                </a:rPr>
                <a:t>。</a:t>
              </a:r>
              <a:endParaRPr lang="en-US" altLang="zh-CN" sz="2400" dirty="0">
                <a:solidFill>
                  <a:srgbClr val="060606"/>
                </a:solidFill>
                <a:latin typeface="楷体" panose="02010609060101010101" pitchFamily="49" charset="-122"/>
                <a:ea typeface="楷体" panose="02010609060101010101" pitchFamily="49" charset="-122"/>
              </a:endParaRPr>
            </a:p>
            <a:p>
              <a:pPr algn="ctr"/>
              <a:endParaRPr lang="zh-CN" altLang="en-US" sz="2400" dirty="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068"/>
            <a:ext cx="10058627" cy="793750"/>
          </a:xfrm>
        </p:spPr>
        <p:txBody>
          <a:bodyPr>
            <a:normAutofit/>
          </a:bodyPr>
          <a:lstStyle/>
          <a:p>
            <a:r>
              <a:rPr lang="zh-CN" altLang="en-US" sz="3200" dirty="0">
                <a:latin typeface="楷体" panose="02010609060101010101" pitchFamily="49" charset="-122"/>
                <a:ea typeface="楷体" panose="02010609060101010101" pitchFamily="49" charset="-122"/>
              </a:rPr>
              <a:t>例</a:t>
            </a:r>
            <a:r>
              <a:rPr lang="en-US" altLang="zh-CN" sz="3200" dirty="0">
                <a:latin typeface="楷体" panose="02010609060101010101" pitchFamily="49" charset="-122"/>
                <a:ea typeface="楷体" panose="02010609060101010101" pitchFamily="49" charset="-122"/>
              </a:rPr>
              <a:t>7.</a:t>
            </a:r>
            <a:r>
              <a:rPr lang="zh-CN" altLang="en-US" sz="3200" dirty="0">
                <a:latin typeface="楷体" panose="02010609060101010101" pitchFamily="49" charset="-122"/>
                <a:ea typeface="楷体" panose="02010609060101010101" pitchFamily="49" charset="-122"/>
              </a:rPr>
              <a:t>运输问题</a:t>
            </a:r>
            <a:endParaRPr lang="zh-CN" altLang="en-US" sz="3200"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315686" y="854632"/>
            <a:ext cx="11734800" cy="5040560"/>
          </a:xfrm>
        </p:spPr>
        <p:txBody>
          <a:bodyPr>
            <a:normAutofit lnSpcReduction="10000"/>
          </a:bodyPr>
          <a:lstStyle/>
          <a:p>
            <a:pPr>
              <a:buNone/>
            </a:pPr>
            <a:r>
              <a:rPr lang="zh-CN" altLang="en-US" dirty="0">
                <a:latin typeface="楷体" panose="02010609060101010101" pitchFamily="49" charset="-122"/>
                <a:ea typeface="楷体" panose="02010609060101010101" pitchFamily="49" charset="-122"/>
              </a:rPr>
              <a:t>要从甲城调出蔬菜</a:t>
            </a:r>
            <a:r>
              <a:rPr lang="en-US" altLang="zh-CN" dirty="0">
                <a:latin typeface="楷体" panose="02010609060101010101" pitchFamily="49" charset="-122"/>
                <a:ea typeface="楷体" panose="02010609060101010101" pitchFamily="49" charset="-122"/>
              </a:rPr>
              <a:t>2000</a:t>
            </a:r>
            <a:r>
              <a:rPr lang="zh-CN" altLang="en-US" dirty="0">
                <a:latin typeface="楷体" panose="02010609060101010101" pitchFamily="49" charset="-122"/>
                <a:ea typeface="楷体" panose="02010609060101010101" pitchFamily="49" charset="-122"/>
              </a:rPr>
              <a:t>吨，从乙城调出蔬菜</a:t>
            </a:r>
            <a:r>
              <a:rPr lang="en-US" altLang="zh-CN" dirty="0">
                <a:latin typeface="楷体" panose="02010609060101010101" pitchFamily="49" charset="-122"/>
                <a:ea typeface="楷体" panose="02010609060101010101" pitchFamily="49" charset="-122"/>
              </a:rPr>
              <a:t>1100</a:t>
            </a:r>
            <a:r>
              <a:rPr lang="zh-CN" altLang="en-US" dirty="0">
                <a:latin typeface="楷体" panose="02010609060101010101" pitchFamily="49" charset="-122"/>
                <a:ea typeface="楷体" panose="02010609060101010101" pitchFamily="49" charset="-122"/>
              </a:rPr>
              <a:t>吨。分别供应</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地</a:t>
            </a:r>
            <a:r>
              <a:rPr lang="en-US" altLang="zh-CN" dirty="0">
                <a:latin typeface="楷体" panose="02010609060101010101" pitchFamily="49" charset="-122"/>
                <a:ea typeface="楷体" panose="02010609060101010101" pitchFamily="49" charset="-122"/>
              </a:rPr>
              <a:t>1700</a:t>
            </a:r>
            <a:r>
              <a:rPr lang="zh-CN" altLang="en-US" dirty="0">
                <a:latin typeface="楷体" panose="02010609060101010101" pitchFamily="49" charset="-122"/>
                <a:ea typeface="楷体" panose="02010609060101010101" pitchFamily="49" charset="-122"/>
              </a:rPr>
              <a:t>吨，</a:t>
            </a:r>
            <a:r>
              <a:rPr lang="en-US" altLang="zh-CN" dirty="0">
                <a:latin typeface="楷体" panose="02010609060101010101" pitchFamily="49" charset="-122"/>
                <a:ea typeface="楷体" panose="02010609060101010101" pitchFamily="49" charset="-122"/>
              </a:rPr>
              <a:t>B</a:t>
            </a:r>
            <a:r>
              <a:rPr lang="zh-CN" altLang="en-US" dirty="0">
                <a:latin typeface="楷体" panose="02010609060101010101" pitchFamily="49" charset="-122"/>
                <a:ea typeface="楷体" panose="02010609060101010101" pitchFamily="49" charset="-122"/>
              </a:rPr>
              <a:t>地</a:t>
            </a:r>
            <a:r>
              <a:rPr lang="en-US" altLang="zh-CN" dirty="0">
                <a:latin typeface="楷体" panose="02010609060101010101" pitchFamily="49" charset="-122"/>
                <a:ea typeface="楷体" panose="02010609060101010101" pitchFamily="49" charset="-122"/>
              </a:rPr>
              <a:t>1100</a:t>
            </a:r>
            <a:r>
              <a:rPr lang="zh-CN" altLang="en-US" dirty="0">
                <a:latin typeface="楷体" panose="02010609060101010101" pitchFamily="49" charset="-122"/>
                <a:ea typeface="楷体" panose="02010609060101010101" pitchFamily="49" charset="-122"/>
              </a:rPr>
              <a:t>吨，</a:t>
            </a:r>
            <a:r>
              <a:rPr lang="en-US" altLang="zh-CN" dirty="0">
                <a:latin typeface="楷体" panose="02010609060101010101" pitchFamily="49" charset="-122"/>
                <a:ea typeface="楷体" panose="02010609060101010101" pitchFamily="49" charset="-122"/>
              </a:rPr>
              <a:t>C</a:t>
            </a:r>
            <a:r>
              <a:rPr lang="zh-CN" altLang="en-US" dirty="0">
                <a:latin typeface="楷体" panose="02010609060101010101" pitchFamily="49" charset="-122"/>
                <a:ea typeface="楷体" panose="02010609060101010101" pitchFamily="49" charset="-122"/>
              </a:rPr>
              <a:t>地</a:t>
            </a:r>
            <a:r>
              <a:rPr lang="en-US" altLang="zh-CN" dirty="0">
                <a:latin typeface="楷体" panose="02010609060101010101" pitchFamily="49" charset="-122"/>
                <a:ea typeface="楷体" panose="02010609060101010101" pitchFamily="49" charset="-122"/>
              </a:rPr>
              <a:t>200</a:t>
            </a:r>
            <a:r>
              <a:rPr lang="zh-CN" altLang="en-US" dirty="0">
                <a:latin typeface="楷体" panose="02010609060101010101" pitchFamily="49" charset="-122"/>
                <a:ea typeface="楷体" panose="02010609060101010101" pitchFamily="49" charset="-122"/>
              </a:rPr>
              <a:t>吨，</a:t>
            </a:r>
            <a:r>
              <a:rPr lang="en-US" altLang="zh-CN" dirty="0">
                <a:latin typeface="楷体" panose="02010609060101010101" pitchFamily="49" charset="-122"/>
                <a:ea typeface="楷体" panose="02010609060101010101" pitchFamily="49" charset="-122"/>
              </a:rPr>
              <a:t>D</a:t>
            </a:r>
            <a:r>
              <a:rPr lang="zh-CN" altLang="en-US" dirty="0">
                <a:latin typeface="楷体" panose="02010609060101010101" pitchFamily="49" charset="-122"/>
                <a:ea typeface="楷体" panose="02010609060101010101" pitchFamily="49" charset="-122"/>
              </a:rPr>
              <a:t>地</a:t>
            </a:r>
            <a:r>
              <a:rPr lang="en-US" altLang="zh-CN" dirty="0">
                <a:latin typeface="楷体" panose="02010609060101010101" pitchFamily="49" charset="-122"/>
                <a:ea typeface="楷体" panose="02010609060101010101" pitchFamily="49" charset="-122"/>
              </a:rPr>
              <a:t>100</a:t>
            </a:r>
            <a:r>
              <a:rPr lang="zh-CN" altLang="en-US" dirty="0">
                <a:latin typeface="楷体" panose="02010609060101010101" pitchFamily="49" charset="-122"/>
                <a:ea typeface="楷体" panose="02010609060101010101" pitchFamily="49" charset="-122"/>
              </a:rPr>
              <a:t>吨。已知每吨运费如下表：</a:t>
            </a:r>
            <a:endParaRPr lang="en-US" altLang="zh-CN" dirty="0">
              <a:latin typeface="楷体" panose="02010609060101010101" pitchFamily="49" charset="-122"/>
              <a:ea typeface="楷体" panose="02010609060101010101" pitchFamily="49" charset="-122"/>
            </a:endParaRPr>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r>
              <a:rPr lang="zh-CN" altLang="en-US" dirty="0">
                <a:latin typeface="楷体" panose="02010609060101010101" pitchFamily="49" charset="-122"/>
                <a:ea typeface="楷体" panose="02010609060101010101" pitchFamily="49" charset="-122"/>
              </a:rPr>
              <a:t>问，怎样安排调拨方案，使总运费最省？</a:t>
            </a:r>
            <a:endParaRPr lang="zh-CN" altLang="en-US" dirty="0">
              <a:latin typeface="楷体" panose="02010609060101010101" pitchFamily="49" charset="-122"/>
              <a:ea typeface="楷体" panose="02010609060101010101" pitchFamily="49" charset="-122"/>
            </a:endParaRPr>
          </a:p>
        </p:txBody>
      </p:sp>
      <p:graphicFrame>
        <p:nvGraphicFramePr>
          <p:cNvPr id="4" name="表格 3"/>
          <p:cNvGraphicFramePr>
            <a:graphicFrameLocks noGrp="1"/>
          </p:cNvGraphicFramePr>
          <p:nvPr/>
        </p:nvGraphicFramePr>
        <p:xfrm>
          <a:off x="2595026" y="2049032"/>
          <a:ext cx="7176120" cy="2651760"/>
        </p:xfrm>
        <a:graphic>
          <a:graphicData uri="http://schemas.openxmlformats.org/drawingml/2006/table">
            <a:tbl>
              <a:tblPr firstRow="1" bandRow="1">
                <a:tableStyleId>{5C22544A-7EE6-4342-B048-85BDC9FD1C3A}</a:tableStyleId>
              </a:tblPr>
              <a:tblGrid>
                <a:gridCol w="1435224"/>
                <a:gridCol w="1435224"/>
                <a:gridCol w="1435224"/>
                <a:gridCol w="1435224"/>
                <a:gridCol w="1435224"/>
              </a:tblGrid>
              <a:tr h="370840">
                <a:tc>
                  <a:txBody>
                    <a:bodyPr/>
                    <a:lstStyle/>
                    <a:p>
                      <a:pPr algn="r"/>
                      <a:r>
                        <a:rPr lang="zh-CN" altLang="en-US" b="0" dirty="0">
                          <a:ln>
                            <a:solidFill>
                              <a:srgbClr val="00000C"/>
                            </a:solidFill>
                          </a:ln>
                          <a:solidFill>
                            <a:srgbClr val="060606"/>
                          </a:solidFill>
                        </a:rPr>
                        <a:t>销地</a:t>
                      </a:r>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每吨</a:t>
                      </a:r>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运费</a:t>
                      </a:r>
                      <a:endParaRPr lang="en-US" altLang="zh-CN" b="0" dirty="0">
                        <a:ln>
                          <a:solidFill>
                            <a:srgbClr val="00000C"/>
                          </a:solidFill>
                        </a:ln>
                        <a:solidFill>
                          <a:srgbClr val="060606"/>
                        </a:solidFill>
                      </a:endParaRPr>
                    </a:p>
                    <a:p>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产地</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b="0" dirty="0">
                          <a:ln>
                            <a:solidFill>
                              <a:srgbClr val="00000C"/>
                            </a:solidFill>
                          </a:ln>
                          <a:solidFill>
                            <a:srgbClr val="060606"/>
                          </a:solidFill>
                        </a:rPr>
                        <a:t>A1700</a:t>
                      </a:r>
                      <a:endParaRPr lang="zh-CN" altLang="en-US" sz="2400"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b="0" dirty="0">
                          <a:ln>
                            <a:solidFill>
                              <a:srgbClr val="00000C"/>
                            </a:solidFill>
                          </a:ln>
                          <a:solidFill>
                            <a:srgbClr val="060606"/>
                          </a:solidFill>
                        </a:rPr>
                        <a:t>B1100</a:t>
                      </a:r>
                      <a:endParaRPr lang="zh-CN" altLang="en-US" sz="2400"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b="0" dirty="0">
                          <a:ln>
                            <a:solidFill>
                              <a:srgbClr val="00000C"/>
                            </a:solidFill>
                          </a:ln>
                          <a:solidFill>
                            <a:srgbClr val="060606"/>
                          </a:solidFill>
                        </a:rPr>
                        <a:t>C200</a:t>
                      </a:r>
                      <a:endParaRPr lang="zh-CN" altLang="en-US" sz="2400"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b="0" dirty="0">
                          <a:ln>
                            <a:solidFill>
                              <a:srgbClr val="00000C"/>
                            </a:solidFill>
                          </a:ln>
                          <a:solidFill>
                            <a:srgbClr val="060606"/>
                          </a:solidFill>
                        </a:rPr>
                        <a:t>D100</a:t>
                      </a:r>
                      <a:endParaRPr lang="zh-CN" altLang="en-US" sz="2400"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sz="2400" dirty="0">
                          <a:ln>
                            <a:solidFill>
                              <a:srgbClr val="00000C"/>
                            </a:solidFill>
                          </a:ln>
                          <a:solidFill>
                            <a:srgbClr val="060606"/>
                          </a:solidFill>
                        </a:rPr>
                        <a:t>甲城</a:t>
                      </a:r>
                      <a:r>
                        <a:rPr lang="en-US" altLang="zh-CN" sz="2400" dirty="0">
                          <a:ln>
                            <a:solidFill>
                              <a:srgbClr val="00000C"/>
                            </a:solidFill>
                          </a:ln>
                          <a:solidFill>
                            <a:srgbClr val="060606"/>
                          </a:solidFill>
                        </a:rPr>
                        <a:t>2000</a:t>
                      </a:r>
                      <a:endParaRPr lang="en-US" altLang="zh-CN" sz="2400" dirty="0">
                        <a:ln>
                          <a:solidFill>
                            <a:srgbClr val="00000C"/>
                          </a:solidFill>
                        </a:ln>
                        <a:solidFill>
                          <a:srgbClr val="060606"/>
                        </a:solidFill>
                      </a:endParaRPr>
                    </a:p>
                    <a:p>
                      <a:endParaRPr lang="en-US" altLang="zh-CN" sz="2400" dirty="0">
                        <a:ln>
                          <a:solidFill>
                            <a:srgbClr val="00000C"/>
                          </a:solidFill>
                        </a:ln>
                        <a:solidFill>
                          <a:srgbClr val="060606"/>
                        </a:solidFill>
                      </a:endParaRPr>
                    </a:p>
                    <a:p>
                      <a:r>
                        <a:rPr lang="zh-CN" altLang="en-US" sz="2400" dirty="0">
                          <a:ln>
                            <a:solidFill>
                              <a:srgbClr val="00000C"/>
                            </a:solidFill>
                          </a:ln>
                          <a:solidFill>
                            <a:srgbClr val="060606"/>
                          </a:solidFill>
                        </a:rPr>
                        <a:t>乙城</a:t>
                      </a:r>
                      <a:r>
                        <a:rPr lang="en-US" altLang="zh-CN" sz="2400" dirty="0">
                          <a:ln>
                            <a:solidFill>
                              <a:srgbClr val="00000C"/>
                            </a:solidFill>
                          </a:ln>
                          <a:solidFill>
                            <a:srgbClr val="060606"/>
                          </a:solidFill>
                        </a:rPr>
                        <a:t>1100</a:t>
                      </a:r>
                      <a:endParaRPr lang="zh-CN" altLang="en-US" sz="240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rPr>
                        <a:t>21</a:t>
                      </a:r>
                      <a:endParaRPr lang="en-US" altLang="zh-CN" sz="2400" dirty="0">
                        <a:ln>
                          <a:solidFill>
                            <a:srgbClr val="00000C"/>
                          </a:solidFill>
                        </a:ln>
                      </a:endParaRPr>
                    </a:p>
                    <a:p>
                      <a:endParaRPr lang="en-US" altLang="zh-CN" sz="2400" dirty="0">
                        <a:ln>
                          <a:solidFill>
                            <a:srgbClr val="00000C"/>
                          </a:solidFill>
                        </a:ln>
                      </a:endParaRPr>
                    </a:p>
                    <a:p>
                      <a:r>
                        <a:rPr lang="en-US" altLang="zh-CN" sz="2400" dirty="0">
                          <a:ln>
                            <a:solidFill>
                              <a:srgbClr val="00000C"/>
                            </a:solidFill>
                          </a:ln>
                        </a:rPr>
                        <a:t>25</a:t>
                      </a:r>
                      <a:endParaRPr lang="zh-CN" altLang="en-US" sz="2400"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rPr>
                        <a:t>25</a:t>
                      </a:r>
                      <a:endParaRPr lang="en-US" altLang="zh-CN" sz="2400" dirty="0">
                        <a:ln>
                          <a:solidFill>
                            <a:srgbClr val="00000C"/>
                          </a:solidFill>
                        </a:ln>
                      </a:endParaRPr>
                    </a:p>
                    <a:p>
                      <a:endParaRPr lang="en-US" altLang="zh-CN" sz="2400" dirty="0">
                        <a:ln>
                          <a:solidFill>
                            <a:srgbClr val="00000C"/>
                          </a:solidFill>
                        </a:ln>
                      </a:endParaRPr>
                    </a:p>
                    <a:p>
                      <a:r>
                        <a:rPr lang="en-US" altLang="zh-CN" sz="2400" dirty="0">
                          <a:ln>
                            <a:solidFill>
                              <a:srgbClr val="00000C"/>
                            </a:solidFill>
                          </a:ln>
                        </a:rPr>
                        <a:t>51</a:t>
                      </a:r>
                      <a:endParaRPr lang="zh-CN" altLang="en-US" sz="2400"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rPr>
                        <a:t>7</a:t>
                      </a:r>
                      <a:endParaRPr lang="en-US" altLang="zh-CN" sz="2400" dirty="0">
                        <a:ln>
                          <a:solidFill>
                            <a:srgbClr val="00000C"/>
                          </a:solidFill>
                        </a:ln>
                      </a:endParaRPr>
                    </a:p>
                    <a:p>
                      <a:endParaRPr lang="en-US" altLang="zh-CN" sz="2400" dirty="0">
                        <a:ln>
                          <a:solidFill>
                            <a:srgbClr val="00000C"/>
                          </a:solidFill>
                        </a:ln>
                      </a:endParaRPr>
                    </a:p>
                    <a:p>
                      <a:r>
                        <a:rPr lang="en-US" altLang="zh-CN" sz="2400" dirty="0">
                          <a:ln>
                            <a:solidFill>
                              <a:srgbClr val="00000C"/>
                            </a:solidFill>
                          </a:ln>
                        </a:rPr>
                        <a:t>37</a:t>
                      </a:r>
                      <a:endParaRPr lang="zh-CN" altLang="en-US" sz="2400"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rPr>
                        <a:t>15</a:t>
                      </a:r>
                      <a:endParaRPr lang="en-US" altLang="zh-CN" sz="2400" dirty="0">
                        <a:ln>
                          <a:solidFill>
                            <a:srgbClr val="00000C"/>
                          </a:solidFill>
                        </a:ln>
                      </a:endParaRPr>
                    </a:p>
                    <a:p>
                      <a:endParaRPr lang="en-US" altLang="zh-CN" sz="2400" dirty="0">
                        <a:ln>
                          <a:solidFill>
                            <a:srgbClr val="00000C"/>
                          </a:solidFill>
                        </a:ln>
                      </a:endParaRPr>
                    </a:p>
                    <a:p>
                      <a:r>
                        <a:rPr lang="en-US" altLang="zh-CN" sz="2400" dirty="0">
                          <a:ln>
                            <a:solidFill>
                              <a:srgbClr val="00000C"/>
                            </a:solidFill>
                          </a:ln>
                        </a:rPr>
                        <a:t>15</a:t>
                      </a:r>
                      <a:endParaRPr lang="zh-CN" altLang="en-US" sz="2400"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pSp>
        <p:nvGrpSpPr>
          <p:cNvPr id="9" name="组合 8"/>
          <p:cNvGrpSpPr/>
          <p:nvPr/>
        </p:nvGrpSpPr>
        <p:grpSpPr>
          <a:xfrm>
            <a:off x="2631232" y="2038194"/>
            <a:ext cx="1368152" cy="1476104"/>
            <a:chOff x="1259632" y="2672976"/>
            <a:chExt cx="1368152" cy="1476104"/>
          </a:xfrm>
        </p:grpSpPr>
        <p:cxnSp>
          <p:nvCxnSpPr>
            <p:cNvPr id="6" name="直接连接符 5"/>
            <p:cNvCxnSpPr/>
            <p:nvPr/>
          </p:nvCxnSpPr>
          <p:spPr bwMode="auto">
            <a:xfrm>
              <a:off x="1259632" y="3465064"/>
              <a:ext cx="1368016" cy="6840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p:cNvCxnSpPr/>
            <p:nvPr/>
          </p:nvCxnSpPr>
          <p:spPr bwMode="auto">
            <a:xfrm>
              <a:off x="1907704" y="2672976"/>
              <a:ext cx="720080" cy="147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矩形: 折角 4"/>
          <p:cNvSpPr/>
          <p:nvPr/>
        </p:nvSpPr>
        <p:spPr>
          <a:xfrm flipV="1">
            <a:off x="206829" y="681506"/>
            <a:ext cx="11876315" cy="5213686"/>
          </a:xfrm>
          <a:prstGeom prst="foldedCorner">
            <a:avLst>
              <a:gd name="adj" fmla="val 497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内容占位符 2"/>
          <p:cNvSpPr txBox="1"/>
          <p:nvPr/>
        </p:nvSpPr>
        <p:spPr>
          <a:xfrm>
            <a:off x="386443" y="284736"/>
            <a:ext cx="11419114" cy="4320480"/>
          </a:xfrm>
          <a:prstGeom prst="rect">
            <a:avLst/>
          </a:prstGeom>
        </p:spPr>
        <p:txBody>
          <a:bodyPr/>
          <a:lstStyle/>
          <a:p>
            <a:pPr marL="342900" indent="-342900" fontAlgn="base">
              <a:lnSpc>
                <a:spcPct val="110000"/>
              </a:lnSpc>
              <a:spcBef>
                <a:spcPts val="1800"/>
              </a:spcBef>
              <a:spcAft>
                <a:spcPct val="0"/>
              </a:spcAft>
              <a:defRPr/>
            </a:pPr>
            <a:r>
              <a:rPr lang="zh-CN" altLang="en-US" sz="2800" dirty="0">
                <a:latin typeface="楷体" panose="02010609060101010101" pitchFamily="49" charset="-122"/>
                <a:ea typeface="楷体" panose="02010609060101010101" pitchFamily="49" charset="-122"/>
              </a:rPr>
              <a:t>先按照题意给出一个可行的调拨方案</a:t>
            </a:r>
            <a:endParaRPr lang="en-US" altLang="zh-CN" sz="2800" dirty="0">
              <a:latin typeface="楷体" panose="02010609060101010101" pitchFamily="49" charset="-122"/>
              <a:ea typeface="楷体" panose="02010609060101010101" pitchFamily="49" charset="-122"/>
            </a:endParaRPr>
          </a:p>
          <a:p>
            <a:pPr marL="342900" indent="-342900" fontAlgn="base">
              <a:lnSpc>
                <a:spcPct val="110000"/>
              </a:lnSpc>
              <a:spcBef>
                <a:spcPts val="1800"/>
              </a:spcBef>
              <a:spcAft>
                <a:spcPct val="0"/>
              </a:spcAft>
              <a:defRPr/>
            </a:pPr>
            <a:r>
              <a:rPr lang="en-US" altLang="zh-CN" sz="2800" dirty="0">
                <a:latin typeface="楷体" panose="02010609060101010101" pitchFamily="49" charset="-122"/>
                <a:ea typeface="楷体" panose="02010609060101010101" pitchFamily="49" charset="-122"/>
              </a:rPr>
              <a:t>[Tip:</a:t>
            </a:r>
            <a:r>
              <a:rPr lang="zh-CN" altLang="en-US" sz="2800" dirty="0">
                <a:latin typeface="楷体" panose="02010609060101010101" pitchFamily="49" charset="-122"/>
                <a:ea typeface="楷体" panose="02010609060101010101" pitchFamily="49" charset="-122"/>
              </a:rPr>
              <a:t>线性规划方法强调了先建模后计算的思想</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p:txBody>
      </p:sp>
      <p:graphicFrame>
        <p:nvGraphicFramePr>
          <p:cNvPr id="4" name="表格 3"/>
          <p:cNvGraphicFramePr>
            <a:graphicFrameLocks noGrp="1"/>
          </p:cNvGraphicFramePr>
          <p:nvPr/>
        </p:nvGraphicFramePr>
        <p:xfrm>
          <a:off x="2711624" y="1795188"/>
          <a:ext cx="7200798" cy="2748280"/>
        </p:xfrm>
        <a:graphic>
          <a:graphicData uri="http://schemas.openxmlformats.org/drawingml/2006/table">
            <a:tbl>
              <a:tblPr firstRow="1" bandRow="1">
                <a:tableStyleId>{5C22544A-7EE6-4342-B048-85BDC9FD1C3A}</a:tableStyleId>
              </a:tblPr>
              <a:tblGrid>
                <a:gridCol w="1200133"/>
                <a:gridCol w="1200133"/>
                <a:gridCol w="1200133"/>
                <a:gridCol w="1200133"/>
                <a:gridCol w="1200133"/>
                <a:gridCol w="1200133"/>
              </a:tblGrid>
              <a:tr h="370840">
                <a:tc>
                  <a:txBody>
                    <a:bodyPr/>
                    <a:lstStyle/>
                    <a:p>
                      <a:pPr algn="r"/>
                      <a:r>
                        <a:rPr lang="zh-CN" altLang="en-US" b="0" dirty="0">
                          <a:ln>
                            <a:solidFill>
                              <a:srgbClr val="00000C"/>
                            </a:solidFill>
                          </a:ln>
                          <a:solidFill>
                            <a:srgbClr val="060606"/>
                          </a:solidFill>
                        </a:rPr>
                        <a:t>销地</a:t>
                      </a:r>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调运</a:t>
                      </a:r>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量</a:t>
                      </a:r>
                      <a:endParaRPr lang="en-US" altLang="zh-CN" b="0" dirty="0">
                        <a:ln>
                          <a:solidFill>
                            <a:srgbClr val="00000C"/>
                          </a:solidFill>
                        </a:ln>
                        <a:solidFill>
                          <a:srgbClr val="060606"/>
                        </a:solidFill>
                      </a:endParaRPr>
                    </a:p>
                    <a:p>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产地</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A</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B</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C</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D</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b="0" dirty="0">
                          <a:ln>
                            <a:solidFill>
                              <a:srgbClr val="00000C"/>
                            </a:solidFill>
                          </a:ln>
                          <a:solidFill>
                            <a:srgbClr val="060606"/>
                          </a:solidFill>
                        </a:rPr>
                        <a:t>运出量</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dirty="0">
                          <a:ln>
                            <a:solidFill>
                              <a:srgbClr val="00000C"/>
                            </a:solidFill>
                          </a:ln>
                          <a:solidFill>
                            <a:srgbClr val="060606"/>
                          </a:solidFill>
                        </a:rPr>
                        <a:t>甲城</a:t>
                      </a:r>
                      <a:endParaRPr lang="en-US" altLang="zh-CN" dirty="0">
                        <a:ln>
                          <a:solidFill>
                            <a:srgbClr val="00000C"/>
                          </a:solidFill>
                        </a:ln>
                        <a:solidFill>
                          <a:srgbClr val="060606"/>
                        </a:solidFill>
                      </a:endParaRPr>
                    </a:p>
                    <a:p>
                      <a:endParaRPr lang="en-US" altLang="zh-CN" dirty="0">
                        <a:ln>
                          <a:solidFill>
                            <a:srgbClr val="00000C"/>
                          </a:solidFill>
                        </a:ln>
                        <a:solidFill>
                          <a:srgbClr val="060606"/>
                        </a:solidFill>
                      </a:endParaRPr>
                    </a:p>
                    <a:p>
                      <a:r>
                        <a:rPr lang="zh-CN" altLang="en-US" dirty="0">
                          <a:ln>
                            <a:solidFill>
                              <a:srgbClr val="00000C"/>
                            </a:solidFill>
                          </a:ln>
                          <a:solidFill>
                            <a:srgbClr val="060606"/>
                          </a:solidFill>
                        </a:rPr>
                        <a:t>乙城</a:t>
                      </a:r>
                      <a:endParaRPr lang="zh-CN" altLang="en-US"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2000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1100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dirty="0">
                          <a:ln>
                            <a:solidFill>
                              <a:srgbClr val="00000C"/>
                            </a:solidFill>
                          </a:ln>
                          <a:solidFill>
                            <a:srgbClr val="060606"/>
                          </a:solidFill>
                        </a:rPr>
                        <a:t>运入量</a:t>
                      </a:r>
                      <a:endParaRPr lang="zh-CN" altLang="en-US"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1700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1100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200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100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5" name="直接连接符 4"/>
          <p:cNvCxnSpPr/>
          <p:nvPr/>
        </p:nvCxnSpPr>
        <p:spPr bwMode="auto">
          <a:xfrm>
            <a:off x="2711624" y="2695348"/>
            <a:ext cx="1224000" cy="540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接连接符 5"/>
          <p:cNvCxnSpPr/>
          <p:nvPr/>
        </p:nvCxnSpPr>
        <p:spPr bwMode="auto">
          <a:xfrm>
            <a:off x="3215680" y="1759244"/>
            <a:ext cx="720080" cy="147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矩形 6"/>
          <p:cNvSpPr/>
          <p:nvPr/>
        </p:nvSpPr>
        <p:spPr>
          <a:xfrm>
            <a:off x="3935761" y="3235348"/>
            <a:ext cx="671979" cy="923330"/>
          </a:xfrm>
          <a:prstGeom prst="rect">
            <a:avLst/>
          </a:prstGeom>
        </p:spPr>
        <p:txBody>
          <a:bodyPr wrap="none">
            <a:spAutoFit/>
          </a:bodyPr>
          <a:lstStyle/>
          <a:p>
            <a:r>
              <a:rPr lang="en-US" altLang="zh-CN" dirty="0">
                <a:ln>
                  <a:solidFill>
                    <a:srgbClr val="00000C"/>
                  </a:solidFill>
                </a:ln>
              </a:rPr>
              <a:t>1700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0</a:t>
            </a:r>
            <a:endParaRPr lang="en-US" altLang="zh-CN" dirty="0">
              <a:ln>
                <a:solidFill>
                  <a:srgbClr val="00000C"/>
                </a:solidFill>
              </a:ln>
            </a:endParaRPr>
          </a:p>
        </p:txBody>
      </p:sp>
      <p:sp>
        <p:nvSpPr>
          <p:cNvPr id="8" name="矩形 7"/>
          <p:cNvSpPr/>
          <p:nvPr/>
        </p:nvSpPr>
        <p:spPr>
          <a:xfrm>
            <a:off x="5159897" y="3235348"/>
            <a:ext cx="671979" cy="923330"/>
          </a:xfrm>
          <a:prstGeom prst="rect">
            <a:avLst/>
          </a:prstGeom>
        </p:spPr>
        <p:txBody>
          <a:bodyPr wrap="none">
            <a:spAutoFit/>
          </a:bodyPr>
          <a:lstStyle/>
          <a:p>
            <a:r>
              <a:rPr lang="en-US" altLang="zh-CN" dirty="0">
                <a:ln>
                  <a:solidFill>
                    <a:srgbClr val="00000C"/>
                  </a:solidFill>
                </a:ln>
              </a:rPr>
              <a:t>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1100</a:t>
            </a:r>
            <a:endParaRPr lang="en-US" altLang="zh-CN" dirty="0">
              <a:ln>
                <a:solidFill>
                  <a:srgbClr val="00000C"/>
                </a:solidFill>
              </a:ln>
            </a:endParaRPr>
          </a:p>
        </p:txBody>
      </p:sp>
      <p:sp>
        <p:nvSpPr>
          <p:cNvPr id="9" name="矩形 8"/>
          <p:cNvSpPr/>
          <p:nvPr/>
        </p:nvSpPr>
        <p:spPr>
          <a:xfrm>
            <a:off x="6312025" y="3235348"/>
            <a:ext cx="550151" cy="923330"/>
          </a:xfrm>
          <a:prstGeom prst="rect">
            <a:avLst/>
          </a:prstGeom>
        </p:spPr>
        <p:txBody>
          <a:bodyPr wrap="none">
            <a:spAutoFit/>
          </a:bodyPr>
          <a:lstStyle/>
          <a:p>
            <a:r>
              <a:rPr lang="en-US" altLang="zh-CN" dirty="0">
                <a:ln>
                  <a:solidFill>
                    <a:srgbClr val="00000C"/>
                  </a:solidFill>
                </a:ln>
              </a:rPr>
              <a:t>200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0</a:t>
            </a:r>
            <a:endParaRPr lang="en-US" altLang="zh-CN" dirty="0">
              <a:ln>
                <a:solidFill>
                  <a:srgbClr val="00000C"/>
                </a:solidFill>
              </a:ln>
            </a:endParaRPr>
          </a:p>
        </p:txBody>
      </p:sp>
      <p:sp>
        <p:nvSpPr>
          <p:cNvPr id="10" name="矩形 9"/>
          <p:cNvSpPr/>
          <p:nvPr/>
        </p:nvSpPr>
        <p:spPr>
          <a:xfrm>
            <a:off x="7536161" y="3235348"/>
            <a:ext cx="550151" cy="923330"/>
          </a:xfrm>
          <a:prstGeom prst="rect">
            <a:avLst/>
          </a:prstGeom>
        </p:spPr>
        <p:txBody>
          <a:bodyPr wrap="none">
            <a:spAutoFit/>
          </a:bodyPr>
          <a:lstStyle/>
          <a:p>
            <a:r>
              <a:rPr lang="en-US" altLang="zh-CN" dirty="0">
                <a:ln>
                  <a:solidFill>
                    <a:srgbClr val="00000C"/>
                  </a:solidFill>
                </a:ln>
              </a:rPr>
              <a:t>100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0</a:t>
            </a:r>
            <a:endParaRPr lang="en-US" altLang="zh-CN" dirty="0">
              <a:ln>
                <a:solidFill>
                  <a:srgbClr val="00000C"/>
                </a:solidFill>
              </a:ln>
            </a:endParaRPr>
          </a:p>
        </p:txBody>
      </p:sp>
      <p:sp>
        <p:nvSpPr>
          <p:cNvPr id="11" name="矩形 10"/>
          <p:cNvSpPr/>
          <p:nvPr/>
        </p:nvSpPr>
        <p:spPr>
          <a:xfrm>
            <a:off x="1991544" y="4869161"/>
            <a:ext cx="8208912" cy="1017715"/>
          </a:xfrm>
          <a:prstGeom prst="rect">
            <a:avLst/>
          </a:prstGeom>
        </p:spPr>
        <p:txBody>
          <a:bodyPr wrap="square">
            <a:spAutoFit/>
          </a:bodyPr>
          <a:lstStyle/>
          <a:p>
            <a:pPr marL="342900" indent="-342900" fontAlgn="base">
              <a:lnSpc>
                <a:spcPct val="110000"/>
              </a:lnSpc>
              <a:spcBef>
                <a:spcPts val="1800"/>
              </a:spcBef>
              <a:spcAft>
                <a:spcPct val="0"/>
              </a:spcAft>
              <a:defRPr/>
            </a:pPr>
            <a:r>
              <a:rPr lang="zh-CN" altLang="en-US" sz="2800" dirty="0">
                <a:solidFill>
                  <a:srgbClr val="000000"/>
                </a:solidFill>
                <a:latin typeface="楷体" panose="02010609060101010101" pitchFamily="49" charset="-122"/>
                <a:ea typeface="楷体" panose="02010609060101010101" pitchFamily="49" charset="-122"/>
              </a:rPr>
              <a:t>计算该调拨方案的总运费：</a:t>
            </a:r>
            <a:r>
              <a:rPr lang="en-US" altLang="zh-CN" sz="2800" dirty="0">
                <a:solidFill>
                  <a:srgbClr val="000000"/>
                </a:solidFill>
                <a:latin typeface="楷体" panose="02010609060101010101" pitchFamily="49" charset="-122"/>
                <a:ea typeface="楷体" panose="02010609060101010101" pitchFamily="49" charset="-122"/>
              </a:rPr>
              <a:t>1700×21+200×7+100×15+1100</a:t>
            </a:r>
            <a:r>
              <a:rPr lang="en-US" altLang="zh-CN" sz="2800" dirty="0">
                <a:latin typeface="楷体" panose="02010609060101010101" pitchFamily="49" charset="-122"/>
                <a:ea typeface="楷体" panose="02010609060101010101" pitchFamily="49" charset="-122"/>
              </a:rPr>
              <a:t>×51 = 94700(</a:t>
            </a:r>
            <a:r>
              <a:rPr lang="zh-CN" altLang="en-US" sz="2800" dirty="0">
                <a:latin typeface="楷体" panose="02010609060101010101" pitchFamily="49" charset="-122"/>
                <a:ea typeface="楷体" panose="02010609060101010101" pitchFamily="49" charset="-122"/>
              </a:rPr>
              <a:t>元</a:t>
            </a:r>
            <a:r>
              <a:rPr lang="en-US" altLang="zh-CN" sz="2800" dirty="0">
                <a:latin typeface="楷体" panose="02010609060101010101" pitchFamily="49" charset="-122"/>
                <a:ea typeface="楷体" panose="02010609060101010101" pitchFamily="49" charset="-122"/>
              </a:rPr>
              <a:t>)</a:t>
            </a:r>
            <a:endParaRPr lang="en-US" altLang="zh-CN" sz="2800" dirty="0">
              <a:solidFill>
                <a:srgbClr val="00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2000"/>
                                        <p:tgtEl>
                                          <p:spTgt spid="7">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2000"/>
                                        <p:tgtEl>
                                          <p:spTgt spid="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fade">
                                      <p:cBhvr>
                                        <p:cTn id="29" dur="2000"/>
                                        <p:tgtEl>
                                          <p:spTgt spid="8">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xEl>
                                              <p:pRg st="2" end="2"/>
                                            </p:txEl>
                                          </p:spTgt>
                                        </p:tgtEl>
                                        <p:attrNameLst>
                                          <p:attrName>style.visibility</p:attrName>
                                        </p:attrNameLst>
                                      </p:cBhvr>
                                      <p:to>
                                        <p:strVal val="visible"/>
                                      </p:to>
                                    </p:set>
                                    <p:animEffect transition="in" filter="fade">
                                      <p:cBhvr>
                                        <p:cTn id="32" dur="2000"/>
                                        <p:tgtEl>
                                          <p:spTgt spid="8">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9">
                                            <p:txEl>
                                              <p:pRg st="0" end="0"/>
                                            </p:txEl>
                                          </p:spTgt>
                                        </p:tgtEl>
                                        <p:attrNameLst>
                                          <p:attrName>style.visibility</p:attrName>
                                        </p:attrNameLst>
                                      </p:cBhvr>
                                      <p:to>
                                        <p:strVal val="visible"/>
                                      </p:to>
                                    </p:set>
                                    <p:animEffect transition="in" filter="wipe(down)">
                                      <p:cBhvr>
                                        <p:cTn id="37" dur="500"/>
                                        <p:tgtEl>
                                          <p:spTgt spid="9">
                                            <p:txEl>
                                              <p:pRg st="0" end="0"/>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9">
                                            <p:txEl>
                                              <p:pRg st="2" end="2"/>
                                            </p:txEl>
                                          </p:spTgt>
                                        </p:tgtEl>
                                        <p:attrNameLst>
                                          <p:attrName>style.visibility</p:attrName>
                                        </p:attrNameLst>
                                      </p:cBhvr>
                                      <p:to>
                                        <p:strVal val="visible"/>
                                      </p:to>
                                    </p:set>
                                    <p:animEffect transition="in" filter="wipe(down)">
                                      <p:cBhvr>
                                        <p:cTn id="40" dur="500"/>
                                        <p:tgtEl>
                                          <p:spTgt spid="9">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0">
                                            <p:txEl>
                                              <p:pRg st="0" end="0"/>
                                            </p:txEl>
                                          </p:spTgt>
                                        </p:tgtEl>
                                        <p:attrNameLst>
                                          <p:attrName>style.visibility</p:attrName>
                                        </p:attrNameLst>
                                      </p:cBhvr>
                                      <p:to>
                                        <p:strVal val="visible"/>
                                      </p:to>
                                    </p:set>
                                    <p:animEffect transition="in" filter="wipe(down)">
                                      <p:cBhvr>
                                        <p:cTn id="45" dur="500"/>
                                        <p:tgtEl>
                                          <p:spTgt spid="10">
                                            <p:txEl>
                                              <p:pRg st="0" end="0"/>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0">
                                            <p:txEl>
                                              <p:pRg st="2" end="2"/>
                                            </p:txEl>
                                          </p:spTgt>
                                        </p:tgtEl>
                                        <p:attrNameLst>
                                          <p:attrName>style.visibility</p:attrName>
                                        </p:attrNameLst>
                                      </p:cBhvr>
                                      <p:to>
                                        <p:strVal val="visible"/>
                                      </p:to>
                                    </p:set>
                                    <p:animEffect transition="in" filter="wipe(down)">
                                      <p:cBhvr>
                                        <p:cTn id="48" dur="500"/>
                                        <p:tgtEl>
                                          <p:spTgt spid="10">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1">
                                            <p:txEl>
                                              <p:pRg st="0" end="0"/>
                                            </p:txEl>
                                          </p:spTgt>
                                        </p:tgtEl>
                                        <p:attrNameLst>
                                          <p:attrName>style.visibility</p:attrName>
                                        </p:attrNameLst>
                                      </p:cBhvr>
                                      <p:to>
                                        <p:strVal val="visible"/>
                                      </p:to>
                                    </p:set>
                                    <p:animEffect transition="in" filter="wipe(down)">
                                      <p:cBhvr>
                                        <p:cTn id="53"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uild="allAtOnce"/>
      <p:bldP spid="8" grpId="0" build="allAtOnce"/>
      <p:bldP spid="9" grpId="0" build="allAtOnce"/>
      <p:bldP spid="10" grpId="0" build="allAtOnce"/>
      <p:bldP spid="11" grpId="0" build="allAtOnce"/>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内容占位符 2"/>
          <p:cNvSpPr txBox="1"/>
          <p:nvPr/>
        </p:nvSpPr>
        <p:spPr>
          <a:xfrm>
            <a:off x="686027" y="674664"/>
            <a:ext cx="8229600" cy="605951"/>
          </a:xfrm>
          <a:prstGeom prst="rect">
            <a:avLst/>
          </a:prstGeom>
        </p:spPr>
        <p:txBody>
          <a:bodyPr/>
          <a:lstStyle/>
          <a:p>
            <a:pPr marL="342900" indent="-342900" fontAlgn="base">
              <a:lnSpc>
                <a:spcPct val="110000"/>
              </a:lnSpc>
              <a:spcBef>
                <a:spcPts val="1800"/>
              </a:spcBef>
              <a:spcAft>
                <a:spcPct val="0"/>
              </a:spcAft>
              <a:defRPr/>
            </a:pPr>
            <a:r>
              <a:rPr lang="zh-CN" altLang="en-US" sz="2800" dirty="0">
                <a:latin typeface="楷体" panose="02010609060101010101" pitchFamily="49" charset="-122"/>
                <a:ea typeface="楷体" panose="02010609060101010101" pitchFamily="49" charset="-122"/>
              </a:rPr>
              <a:t>应该看到还有更好的调拨方案：</a:t>
            </a:r>
            <a:endParaRPr lang="en-US" altLang="zh-CN" sz="2800" dirty="0">
              <a:latin typeface="楷体" panose="02010609060101010101" pitchFamily="49" charset="-122"/>
              <a:ea typeface="楷体" panose="02010609060101010101" pitchFamily="49" charset="-122"/>
            </a:endParaRPr>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p:txBody>
      </p:sp>
      <p:graphicFrame>
        <p:nvGraphicFramePr>
          <p:cNvPr id="4" name="表格 3"/>
          <p:cNvGraphicFramePr>
            <a:graphicFrameLocks noGrp="1"/>
          </p:cNvGraphicFramePr>
          <p:nvPr/>
        </p:nvGraphicFramePr>
        <p:xfrm>
          <a:off x="2783632" y="1520728"/>
          <a:ext cx="7200798" cy="2748280"/>
        </p:xfrm>
        <a:graphic>
          <a:graphicData uri="http://schemas.openxmlformats.org/drawingml/2006/table">
            <a:tbl>
              <a:tblPr firstRow="1" bandRow="1">
                <a:tableStyleId>{5C22544A-7EE6-4342-B048-85BDC9FD1C3A}</a:tableStyleId>
              </a:tblPr>
              <a:tblGrid>
                <a:gridCol w="1200133"/>
                <a:gridCol w="1200133"/>
                <a:gridCol w="1200133"/>
                <a:gridCol w="1200133"/>
                <a:gridCol w="1200133"/>
                <a:gridCol w="1200133"/>
              </a:tblGrid>
              <a:tr h="370840">
                <a:tc>
                  <a:txBody>
                    <a:bodyPr/>
                    <a:lstStyle/>
                    <a:p>
                      <a:pPr algn="r"/>
                      <a:r>
                        <a:rPr lang="zh-CN" altLang="en-US" b="0" dirty="0">
                          <a:ln>
                            <a:solidFill>
                              <a:srgbClr val="00000C"/>
                            </a:solidFill>
                          </a:ln>
                          <a:solidFill>
                            <a:srgbClr val="060606"/>
                          </a:solidFill>
                        </a:rPr>
                        <a:t>销地</a:t>
                      </a:r>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调运</a:t>
                      </a:r>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量</a:t>
                      </a:r>
                      <a:endParaRPr lang="en-US" altLang="zh-CN" b="0" dirty="0">
                        <a:ln>
                          <a:solidFill>
                            <a:srgbClr val="00000C"/>
                          </a:solidFill>
                        </a:ln>
                        <a:solidFill>
                          <a:srgbClr val="060606"/>
                        </a:solidFill>
                      </a:endParaRPr>
                    </a:p>
                    <a:p>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产地</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A</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B</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C</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D</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b="0" dirty="0">
                          <a:ln>
                            <a:solidFill>
                              <a:srgbClr val="00000C"/>
                            </a:solidFill>
                          </a:ln>
                          <a:solidFill>
                            <a:srgbClr val="060606"/>
                          </a:solidFill>
                        </a:rPr>
                        <a:t>运出量</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dirty="0">
                          <a:ln>
                            <a:solidFill>
                              <a:srgbClr val="00000C"/>
                            </a:solidFill>
                          </a:ln>
                          <a:solidFill>
                            <a:srgbClr val="060606"/>
                          </a:solidFill>
                        </a:rPr>
                        <a:t>甲城</a:t>
                      </a:r>
                      <a:endParaRPr lang="en-US" altLang="zh-CN" dirty="0">
                        <a:ln>
                          <a:solidFill>
                            <a:srgbClr val="00000C"/>
                          </a:solidFill>
                        </a:ln>
                        <a:solidFill>
                          <a:srgbClr val="060606"/>
                        </a:solidFill>
                      </a:endParaRPr>
                    </a:p>
                    <a:p>
                      <a:endParaRPr lang="en-US" altLang="zh-CN" dirty="0">
                        <a:ln>
                          <a:solidFill>
                            <a:srgbClr val="00000C"/>
                          </a:solidFill>
                        </a:ln>
                        <a:solidFill>
                          <a:srgbClr val="060606"/>
                        </a:solidFill>
                      </a:endParaRPr>
                    </a:p>
                    <a:p>
                      <a:r>
                        <a:rPr lang="zh-CN" altLang="en-US" dirty="0">
                          <a:ln>
                            <a:solidFill>
                              <a:srgbClr val="00000C"/>
                            </a:solidFill>
                          </a:ln>
                          <a:solidFill>
                            <a:srgbClr val="060606"/>
                          </a:solidFill>
                        </a:rPr>
                        <a:t>乙城</a:t>
                      </a:r>
                      <a:endParaRPr lang="zh-CN" altLang="en-US"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2000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1100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dirty="0">
                          <a:ln>
                            <a:solidFill>
                              <a:srgbClr val="00000C"/>
                            </a:solidFill>
                          </a:ln>
                          <a:solidFill>
                            <a:srgbClr val="060606"/>
                          </a:solidFill>
                        </a:rPr>
                        <a:t>运入量</a:t>
                      </a:r>
                      <a:endParaRPr lang="zh-CN" altLang="en-US"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1700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1100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200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100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5" name="直接连接符 4"/>
          <p:cNvCxnSpPr/>
          <p:nvPr/>
        </p:nvCxnSpPr>
        <p:spPr bwMode="auto">
          <a:xfrm>
            <a:off x="2783632" y="2420888"/>
            <a:ext cx="1224000" cy="540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接连接符 5"/>
          <p:cNvCxnSpPr/>
          <p:nvPr/>
        </p:nvCxnSpPr>
        <p:spPr bwMode="auto">
          <a:xfrm>
            <a:off x="3287688" y="1484784"/>
            <a:ext cx="720080" cy="147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矩形 6"/>
          <p:cNvSpPr/>
          <p:nvPr/>
        </p:nvSpPr>
        <p:spPr>
          <a:xfrm>
            <a:off x="4007769" y="2960888"/>
            <a:ext cx="671979" cy="923330"/>
          </a:xfrm>
          <a:prstGeom prst="rect">
            <a:avLst/>
          </a:prstGeom>
        </p:spPr>
        <p:txBody>
          <a:bodyPr wrap="none">
            <a:spAutoFit/>
          </a:bodyPr>
          <a:lstStyle/>
          <a:p>
            <a:r>
              <a:rPr lang="en-US" altLang="zh-CN" dirty="0">
                <a:ln>
                  <a:solidFill>
                    <a:srgbClr val="00000C"/>
                  </a:solidFill>
                </a:ln>
              </a:rPr>
              <a:t>1700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0</a:t>
            </a:r>
            <a:endParaRPr lang="en-US" altLang="zh-CN" dirty="0">
              <a:ln>
                <a:solidFill>
                  <a:srgbClr val="00000C"/>
                </a:solidFill>
              </a:ln>
            </a:endParaRPr>
          </a:p>
        </p:txBody>
      </p:sp>
      <p:sp>
        <p:nvSpPr>
          <p:cNvPr id="8" name="矩形 7"/>
          <p:cNvSpPr/>
          <p:nvPr/>
        </p:nvSpPr>
        <p:spPr>
          <a:xfrm>
            <a:off x="5231905" y="2960888"/>
            <a:ext cx="671979" cy="923330"/>
          </a:xfrm>
          <a:prstGeom prst="rect">
            <a:avLst/>
          </a:prstGeom>
        </p:spPr>
        <p:txBody>
          <a:bodyPr wrap="none">
            <a:spAutoFit/>
          </a:bodyPr>
          <a:lstStyle/>
          <a:p>
            <a:r>
              <a:rPr lang="en-US" altLang="zh-CN" dirty="0">
                <a:ln>
                  <a:solidFill>
                    <a:srgbClr val="00000C"/>
                  </a:solidFill>
                </a:ln>
              </a:rPr>
              <a:t>100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1000</a:t>
            </a:r>
            <a:endParaRPr lang="en-US" altLang="zh-CN" dirty="0">
              <a:ln>
                <a:solidFill>
                  <a:srgbClr val="00000C"/>
                </a:solidFill>
              </a:ln>
            </a:endParaRPr>
          </a:p>
        </p:txBody>
      </p:sp>
      <p:sp>
        <p:nvSpPr>
          <p:cNvPr id="9" name="矩形 8"/>
          <p:cNvSpPr/>
          <p:nvPr/>
        </p:nvSpPr>
        <p:spPr>
          <a:xfrm>
            <a:off x="6384033" y="2960888"/>
            <a:ext cx="550151" cy="923330"/>
          </a:xfrm>
          <a:prstGeom prst="rect">
            <a:avLst/>
          </a:prstGeom>
        </p:spPr>
        <p:txBody>
          <a:bodyPr wrap="none">
            <a:spAutoFit/>
          </a:bodyPr>
          <a:lstStyle/>
          <a:p>
            <a:r>
              <a:rPr lang="en-US" altLang="zh-CN" dirty="0">
                <a:ln>
                  <a:solidFill>
                    <a:srgbClr val="00000C"/>
                  </a:solidFill>
                </a:ln>
              </a:rPr>
              <a:t>200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0</a:t>
            </a:r>
            <a:endParaRPr lang="en-US" altLang="zh-CN" dirty="0">
              <a:ln>
                <a:solidFill>
                  <a:srgbClr val="00000C"/>
                </a:solidFill>
              </a:ln>
            </a:endParaRPr>
          </a:p>
        </p:txBody>
      </p:sp>
      <p:sp>
        <p:nvSpPr>
          <p:cNvPr id="10" name="矩形 9"/>
          <p:cNvSpPr/>
          <p:nvPr/>
        </p:nvSpPr>
        <p:spPr>
          <a:xfrm>
            <a:off x="7608169" y="2960888"/>
            <a:ext cx="550151" cy="923330"/>
          </a:xfrm>
          <a:prstGeom prst="rect">
            <a:avLst/>
          </a:prstGeom>
        </p:spPr>
        <p:txBody>
          <a:bodyPr wrap="none">
            <a:spAutoFit/>
          </a:bodyPr>
          <a:lstStyle/>
          <a:p>
            <a:r>
              <a:rPr lang="en-US" altLang="zh-CN" dirty="0">
                <a:ln>
                  <a:solidFill>
                    <a:srgbClr val="00000C"/>
                  </a:solidFill>
                </a:ln>
              </a:rPr>
              <a:t>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100</a:t>
            </a:r>
            <a:endParaRPr lang="en-US" altLang="zh-CN" dirty="0">
              <a:ln>
                <a:solidFill>
                  <a:srgbClr val="00000C"/>
                </a:solidFill>
              </a:ln>
            </a:endParaRPr>
          </a:p>
        </p:txBody>
      </p:sp>
      <p:sp>
        <p:nvSpPr>
          <p:cNvPr id="11" name="矩形 10"/>
          <p:cNvSpPr/>
          <p:nvPr/>
        </p:nvSpPr>
        <p:spPr>
          <a:xfrm>
            <a:off x="1110343" y="4509121"/>
            <a:ext cx="9234129" cy="2161169"/>
          </a:xfrm>
          <a:prstGeom prst="rect">
            <a:avLst/>
          </a:prstGeom>
        </p:spPr>
        <p:txBody>
          <a:bodyPr wrap="square">
            <a:spAutoFit/>
          </a:bodyPr>
          <a:lstStyle/>
          <a:p>
            <a:pPr marL="342900" indent="-342900" fontAlgn="base">
              <a:lnSpc>
                <a:spcPct val="110000"/>
              </a:lnSpc>
              <a:spcBef>
                <a:spcPts val="1800"/>
              </a:spcBef>
              <a:spcAft>
                <a:spcPct val="0"/>
              </a:spcAft>
              <a:defRPr/>
            </a:pPr>
            <a:r>
              <a:rPr lang="zh-CN" altLang="en-US" sz="2800" dirty="0">
                <a:solidFill>
                  <a:srgbClr val="000000"/>
                </a:solidFill>
                <a:latin typeface="楷体" panose="02010609060101010101" pitchFamily="49" charset="-122"/>
                <a:ea typeface="楷体" panose="02010609060101010101" pitchFamily="49" charset="-122"/>
              </a:rPr>
              <a:t>计算该调拨方案的总运费：</a:t>
            </a:r>
            <a:r>
              <a:rPr lang="en-US" altLang="zh-CN" sz="2800" dirty="0">
                <a:solidFill>
                  <a:srgbClr val="000000"/>
                </a:solidFill>
                <a:latin typeface="楷体" panose="02010609060101010101" pitchFamily="49" charset="-122"/>
                <a:ea typeface="楷体" panose="02010609060101010101" pitchFamily="49" charset="-122"/>
              </a:rPr>
              <a:t>1700×21+100×25+200×7+100×15+100</a:t>
            </a:r>
            <a:r>
              <a:rPr lang="en-US" altLang="zh-CN" sz="2800" dirty="0">
                <a:latin typeface="楷体" panose="02010609060101010101" pitchFamily="49" charset="-122"/>
                <a:ea typeface="楷体" panose="02010609060101010101" pitchFamily="49" charset="-122"/>
              </a:rPr>
              <a:t>×51 =92100(</a:t>
            </a:r>
            <a:r>
              <a:rPr lang="zh-CN" altLang="en-US" sz="2800" dirty="0">
                <a:latin typeface="楷体" panose="02010609060101010101" pitchFamily="49" charset="-122"/>
                <a:ea typeface="楷体" panose="02010609060101010101" pitchFamily="49" charset="-122"/>
              </a:rPr>
              <a:t>元</a:t>
            </a:r>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marL="342900" indent="-342900" fontAlgn="base">
              <a:lnSpc>
                <a:spcPct val="110000"/>
              </a:lnSpc>
              <a:spcBef>
                <a:spcPts val="1800"/>
              </a:spcBef>
              <a:spcAft>
                <a:spcPct val="0"/>
              </a:spcAft>
              <a:defRPr/>
            </a:pPr>
            <a:r>
              <a:rPr lang="en-US" altLang="zh-CN" sz="2800" dirty="0">
                <a:latin typeface="楷体" panose="02010609060101010101" pitchFamily="49" charset="-122"/>
                <a:ea typeface="楷体" panose="02010609060101010101" pitchFamily="49" charset="-122"/>
              </a:rPr>
              <a:t> 92100</a:t>
            </a:r>
            <a:r>
              <a:rPr lang="zh-CN" altLang="en-US" sz="2800" dirty="0">
                <a:latin typeface="楷体" panose="02010609060101010101" pitchFamily="49" charset="-122"/>
                <a:ea typeface="楷体" panose="02010609060101010101" pitchFamily="49" charset="-122"/>
              </a:rPr>
              <a:t>元</a:t>
            </a:r>
            <a:r>
              <a:rPr lang="en-US" altLang="zh-CN" sz="2800" dirty="0">
                <a:latin typeface="楷体" panose="02010609060101010101" pitchFamily="49" charset="-122"/>
                <a:ea typeface="楷体" panose="02010609060101010101" pitchFamily="49" charset="-122"/>
              </a:rPr>
              <a:t> &lt;94700</a:t>
            </a:r>
            <a:r>
              <a:rPr lang="zh-CN" altLang="en-US" sz="2800" dirty="0">
                <a:latin typeface="楷体" panose="02010609060101010101" pitchFamily="49" charset="-122"/>
                <a:ea typeface="楷体" panose="02010609060101010101" pitchFamily="49" charset="-122"/>
              </a:rPr>
              <a:t>元</a:t>
            </a:r>
            <a:endParaRPr lang="en-US" altLang="zh-CN" sz="2800" dirty="0">
              <a:solidFill>
                <a:srgbClr val="00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2000"/>
                                        <p:tgtEl>
                                          <p:spTgt spid="7">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2000"/>
                                        <p:tgtEl>
                                          <p:spTgt spid="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fade">
                                      <p:cBhvr>
                                        <p:cTn id="29" dur="2000"/>
                                        <p:tgtEl>
                                          <p:spTgt spid="8">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xEl>
                                              <p:pRg st="2" end="2"/>
                                            </p:txEl>
                                          </p:spTgt>
                                        </p:tgtEl>
                                        <p:attrNameLst>
                                          <p:attrName>style.visibility</p:attrName>
                                        </p:attrNameLst>
                                      </p:cBhvr>
                                      <p:to>
                                        <p:strVal val="visible"/>
                                      </p:to>
                                    </p:set>
                                    <p:animEffect transition="in" filter="fade">
                                      <p:cBhvr>
                                        <p:cTn id="32" dur="2000"/>
                                        <p:tgtEl>
                                          <p:spTgt spid="8">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9">
                                            <p:txEl>
                                              <p:pRg st="0" end="0"/>
                                            </p:txEl>
                                          </p:spTgt>
                                        </p:tgtEl>
                                        <p:attrNameLst>
                                          <p:attrName>style.visibility</p:attrName>
                                        </p:attrNameLst>
                                      </p:cBhvr>
                                      <p:to>
                                        <p:strVal val="visible"/>
                                      </p:to>
                                    </p:set>
                                    <p:animEffect transition="in" filter="wipe(down)">
                                      <p:cBhvr>
                                        <p:cTn id="37" dur="500"/>
                                        <p:tgtEl>
                                          <p:spTgt spid="9">
                                            <p:txEl>
                                              <p:pRg st="0" end="0"/>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9">
                                            <p:txEl>
                                              <p:pRg st="2" end="2"/>
                                            </p:txEl>
                                          </p:spTgt>
                                        </p:tgtEl>
                                        <p:attrNameLst>
                                          <p:attrName>style.visibility</p:attrName>
                                        </p:attrNameLst>
                                      </p:cBhvr>
                                      <p:to>
                                        <p:strVal val="visible"/>
                                      </p:to>
                                    </p:set>
                                    <p:animEffect transition="in" filter="wipe(down)">
                                      <p:cBhvr>
                                        <p:cTn id="40" dur="500"/>
                                        <p:tgtEl>
                                          <p:spTgt spid="9">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0">
                                            <p:txEl>
                                              <p:pRg st="0" end="0"/>
                                            </p:txEl>
                                          </p:spTgt>
                                        </p:tgtEl>
                                        <p:attrNameLst>
                                          <p:attrName>style.visibility</p:attrName>
                                        </p:attrNameLst>
                                      </p:cBhvr>
                                      <p:to>
                                        <p:strVal val="visible"/>
                                      </p:to>
                                    </p:set>
                                    <p:animEffect transition="in" filter="wipe(down)">
                                      <p:cBhvr>
                                        <p:cTn id="45" dur="500"/>
                                        <p:tgtEl>
                                          <p:spTgt spid="10">
                                            <p:txEl>
                                              <p:pRg st="0" end="0"/>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0">
                                            <p:txEl>
                                              <p:pRg st="2" end="2"/>
                                            </p:txEl>
                                          </p:spTgt>
                                        </p:tgtEl>
                                        <p:attrNameLst>
                                          <p:attrName>style.visibility</p:attrName>
                                        </p:attrNameLst>
                                      </p:cBhvr>
                                      <p:to>
                                        <p:strVal val="visible"/>
                                      </p:to>
                                    </p:set>
                                    <p:animEffect transition="in" filter="wipe(down)">
                                      <p:cBhvr>
                                        <p:cTn id="48" dur="500"/>
                                        <p:tgtEl>
                                          <p:spTgt spid="10">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1">
                                            <p:txEl>
                                              <p:pRg st="0" end="0"/>
                                            </p:txEl>
                                          </p:spTgt>
                                        </p:tgtEl>
                                        <p:attrNameLst>
                                          <p:attrName>style.visibility</p:attrName>
                                        </p:attrNameLst>
                                      </p:cBhvr>
                                      <p:to>
                                        <p:strVal val="visible"/>
                                      </p:to>
                                    </p:set>
                                    <p:animEffect transition="in" filter="wipe(down)">
                                      <p:cBhvr>
                                        <p:cTn id="53" dur="500"/>
                                        <p:tgtEl>
                                          <p:spTgt spid="11">
                                            <p:txEl>
                                              <p:pRg st="0" end="0"/>
                                            </p:txEl>
                                          </p:spTgt>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11">
                                            <p:txEl>
                                              <p:pRg st="1" end="1"/>
                                            </p:txEl>
                                          </p:spTgt>
                                        </p:tgtEl>
                                        <p:attrNameLst>
                                          <p:attrName>style.visibility</p:attrName>
                                        </p:attrNameLst>
                                      </p:cBhvr>
                                      <p:to>
                                        <p:strVal val="visible"/>
                                      </p:to>
                                    </p:set>
                                    <p:animEffect transition="in" filter="wipe(down)">
                                      <p:cBhvr>
                                        <p:cTn id="56"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uild="allAtOnce"/>
      <p:bldP spid="8" grpId="0" build="allAtOnce"/>
      <p:bldP spid="9" grpId="0" build="allAtOnce"/>
      <p:bldP spid="10" grpId="0" build="allAtOnce"/>
      <p:bldP spid="11" grpId="0" build="allAtOnce"/>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内容占位符 2"/>
          <p:cNvSpPr txBox="1"/>
          <p:nvPr/>
        </p:nvSpPr>
        <p:spPr>
          <a:xfrm>
            <a:off x="544513" y="875252"/>
            <a:ext cx="10809287" cy="669004"/>
          </a:xfrm>
          <a:prstGeom prst="rect">
            <a:avLst/>
          </a:prstGeom>
        </p:spPr>
        <p:txBody>
          <a:bodyPr/>
          <a:lstStyle/>
          <a:p>
            <a:pPr marL="342900" indent="-342900" fontAlgn="base">
              <a:lnSpc>
                <a:spcPct val="110000"/>
              </a:lnSpc>
              <a:spcBef>
                <a:spcPts val="600"/>
              </a:spcBef>
              <a:spcAft>
                <a:spcPct val="0"/>
              </a:spcAft>
              <a:defRPr/>
            </a:pPr>
            <a:r>
              <a:rPr lang="zh-CN" altLang="en-US" sz="2800" dirty="0">
                <a:latin typeface="楷体" panose="02010609060101010101" pitchFamily="49" charset="-122"/>
                <a:ea typeface="楷体" panose="02010609060101010101" pitchFamily="49" charset="-122"/>
              </a:rPr>
              <a:t>那么，有没有更好的调拨方案？怎么去找总运费最省的调拨方案？</a:t>
            </a:r>
            <a:endParaRPr lang="en-US" altLang="zh-CN" sz="2800" dirty="0">
              <a:latin typeface="楷体" panose="02010609060101010101" pitchFamily="49" charset="-122"/>
              <a:ea typeface="楷体" panose="02010609060101010101" pitchFamily="49" charset="-122"/>
            </a:endParaRPr>
          </a:p>
          <a:p>
            <a:pPr marL="342900" indent="-342900" fontAlgn="base">
              <a:lnSpc>
                <a:spcPct val="110000"/>
              </a:lnSpc>
              <a:spcBef>
                <a:spcPts val="1800"/>
              </a:spcBef>
              <a:spcAft>
                <a:spcPct val="0"/>
              </a:spcAft>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a:p>
            <a:pPr marL="342900" indent="-342900" fontAlgn="base">
              <a:lnSpc>
                <a:spcPct val="110000"/>
              </a:lnSpc>
              <a:spcBef>
                <a:spcPts val="1800"/>
              </a:spcBef>
              <a:spcAft>
                <a:spcPct val="0"/>
              </a:spcAft>
              <a:defRPr/>
            </a:pPr>
            <a:endParaRPr lang="en-US" altLang="zh-CN" sz="2800" dirty="0"/>
          </a:p>
        </p:txBody>
      </p:sp>
      <p:graphicFrame>
        <p:nvGraphicFramePr>
          <p:cNvPr id="6" name="表格 5"/>
          <p:cNvGraphicFramePr>
            <a:graphicFrameLocks noGrp="1"/>
          </p:cNvGraphicFramePr>
          <p:nvPr/>
        </p:nvGraphicFramePr>
        <p:xfrm>
          <a:off x="2783632" y="2408912"/>
          <a:ext cx="7200798" cy="2748280"/>
        </p:xfrm>
        <a:graphic>
          <a:graphicData uri="http://schemas.openxmlformats.org/drawingml/2006/table">
            <a:tbl>
              <a:tblPr firstRow="1" bandRow="1">
                <a:tableStyleId>{5C22544A-7EE6-4342-B048-85BDC9FD1C3A}</a:tableStyleId>
              </a:tblPr>
              <a:tblGrid>
                <a:gridCol w="1200133"/>
                <a:gridCol w="1200133"/>
                <a:gridCol w="1200133"/>
                <a:gridCol w="1200133"/>
                <a:gridCol w="1200133"/>
                <a:gridCol w="1200133"/>
              </a:tblGrid>
              <a:tr h="370840">
                <a:tc>
                  <a:txBody>
                    <a:bodyPr/>
                    <a:lstStyle/>
                    <a:p>
                      <a:pPr algn="r"/>
                      <a:r>
                        <a:rPr lang="zh-CN" altLang="en-US" b="0" dirty="0">
                          <a:ln>
                            <a:solidFill>
                              <a:srgbClr val="00000C"/>
                            </a:solidFill>
                          </a:ln>
                          <a:solidFill>
                            <a:srgbClr val="060606"/>
                          </a:solidFill>
                        </a:rPr>
                        <a:t>销地</a:t>
                      </a:r>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调运</a:t>
                      </a:r>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量</a:t>
                      </a:r>
                      <a:endParaRPr lang="en-US" altLang="zh-CN" b="0" dirty="0">
                        <a:ln>
                          <a:solidFill>
                            <a:srgbClr val="00000C"/>
                          </a:solidFill>
                        </a:ln>
                        <a:solidFill>
                          <a:srgbClr val="060606"/>
                        </a:solidFill>
                      </a:endParaRPr>
                    </a:p>
                    <a:p>
                      <a:endParaRPr lang="en-US" altLang="zh-CN" b="0" dirty="0">
                        <a:ln>
                          <a:solidFill>
                            <a:srgbClr val="00000C"/>
                          </a:solidFill>
                        </a:ln>
                        <a:solidFill>
                          <a:srgbClr val="060606"/>
                        </a:solidFill>
                      </a:endParaRPr>
                    </a:p>
                    <a:p>
                      <a:r>
                        <a:rPr lang="zh-CN" altLang="en-US" b="0" dirty="0">
                          <a:ln>
                            <a:solidFill>
                              <a:srgbClr val="00000C"/>
                            </a:solidFill>
                          </a:ln>
                          <a:solidFill>
                            <a:srgbClr val="060606"/>
                          </a:solidFill>
                        </a:rPr>
                        <a:t>产地</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A</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B</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C</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0" dirty="0">
                          <a:ln>
                            <a:solidFill>
                              <a:srgbClr val="00000C"/>
                            </a:solidFill>
                          </a:ln>
                          <a:solidFill>
                            <a:srgbClr val="060606"/>
                          </a:solidFill>
                        </a:rPr>
                        <a:t>D</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b="0" dirty="0">
                          <a:ln>
                            <a:solidFill>
                              <a:srgbClr val="00000C"/>
                            </a:solidFill>
                          </a:ln>
                          <a:solidFill>
                            <a:srgbClr val="060606"/>
                          </a:solidFill>
                        </a:rPr>
                        <a:t>运出量</a:t>
                      </a:r>
                      <a:endParaRPr lang="zh-CN" altLang="en-US" b="0"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dirty="0">
                          <a:ln>
                            <a:solidFill>
                              <a:srgbClr val="00000C"/>
                            </a:solidFill>
                          </a:ln>
                          <a:solidFill>
                            <a:srgbClr val="060606"/>
                          </a:solidFill>
                        </a:rPr>
                        <a:t>甲城</a:t>
                      </a:r>
                      <a:endParaRPr lang="en-US" altLang="zh-CN" dirty="0">
                        <a:ln>
                          <a:solidFill>
                            <a:srgbClr val="00000C"/>
                          </a:solidFill>
                        </a:ln>
                        <a:solidFill>
                          <a:srgbClr val="060606"/>
                        </a:solidFill>
                      </a:endParaRPr>
                    </a:p>
                    <a:p>
                      <a:endParaRPr lang="en-US" altLang="zh-CN" dirty="0">
                        <a:ln>
                          <a:solidFill>
                            <a:srgbClr val="00000C"/>
                          </a:solidFill>
                        </a:ln>
                        <a:solidFill>
                          <a:srgbClr val="060606"/>
                        </a:solidFill>
                      </a:endParaRPr>
                    </a:p>
                    <a:p>
                      <a:r>
                        <a:rPr lang="zh-CN" altLang="en-US" dirty="0">
                          <a:ln>
                            <a:solidFill>
                              <a:srgbClr val="00000C"/>
                            </a:solidFill>
                          </a:ln>
                          <a:solidFill>
                            <a:srgbClr val="060606"/>
                          </a:solidFill>
                        </a:rPr>
                        <a:t>乙城</a:t>
                      </a:r>
                      <a:endParaRPr lang="zh-CN" altLang="en-US"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2000</a:t>
                      </a:r>
                      <a:endParaRPr lang="en-US" altLang="zh-CN" dirty="0">
                        <a:ln>
                          <a:solidFill>
                            <a:srgbClr val="00000C"/>
                          </a:solidFill>
                        </a:ln>
                      </a:endParaRPr>
                    </a:p>
                    <a:p>
                      <a:endParaRPr lang="en-US" altLang="zh-CN" dirty="0">
                        <a:ln>
                          <a:solidFill>
                            <a:srgbClr val="00000C"/>
                          </a:solidFill>
                        </a:ln>
                      </a:endParaRPr>
                    </a:p>
                    <a:p>
                      <a:r>
                        <a:rPr lang="en-US" altLang="zh-CN" dirty="0">
                          <a:ln>
                            <a:solidFill>
                              <a:srgbClr val="00000C"/>
                            </a:solidFill>
                          </a:ln>
                        </a:rPr>
                        <a:t>1100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dirty="0">
                          <a:ln>
                            <a:solidFill>
                              <a:srgbClr val="00000C"/>
                            </a:solidFill>
                          </a:ln>
                          <a:solidFill>
                            <a:srgbClr val="060606"/>
                          </a:solidFill>
                        </a:rPr>
                        <a:t>运入量</a:t>
                      </a:r>
                      <a:endParaRPr lang="zh-CN" altLang="en-US" dirty="0">
                        <a:ln>
                          <a:solidFill>
                            <a:srgbClr val="00000C"/>
                          </a:solidFill>
                        </a:ln>
                        <a:solidFill>
                          <a:srgbClr val="06060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1700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1100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200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rPr>
                        <a:t>100</a:t>
                      </a:r>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ln>
                          <a:solidFill>
                            <a:srgbClr val="00000C"/>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7" name="直接连接符 6"/>
          <p:cNvCxnSpPr/>
          <p:nvPr/>
        </p:nvCxnSpPr>
        <p:spPr bwMode="auto">
          <a:xfrm>
            <a:off x="2783632" y="3309072"/>
            <a:ext cx="1224000" cy="540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p:cNvCxnSpPr/>
          <p:nvPr/>
        </p:nvCxnSpPr>
        <p:spPr bwMode="auto">
          <a:xfrm>
            <a:off x="3287688" y="2372968"/>
            <a:ext cx="720080" cy="147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矩形 8"/>
          <p:cNvSpPr/>
          <p:nvPr/>
        </p:nvSpPr>
        <p:spPr>
          <a:xfrm>
            <a:off x="4079776" y="3861048"/>
            <a:ext cx="415498" cy="923330"/>
          </a:xfrm>
          <a:prstGeom prst="rect">
            <a:avLst/>
          </a:prstGeom>
        </p:spPr>
        <p:txBody>
          <a:bodyPr wrap="none">
            <a:spAutoFit/>
          </a:bodyPr>
          <a:lstStyle/>
          <a:p>
            <a:r>
              <a:rPr lang="zh-CN" altLang="en-US">
                <a:ln>
                  <a:solidFill>
                    <a:srgbClr val="00000C"/>
                  </a:solidFill>
                </a:ln>
              </a:rPr>
              <a:t>？</a:t>
            </a:r>
            <a:endParaRPr lang="en-US" altLang="zh-CN" dirty="0">
              <a:ln>
                <a:solidFill>
                  <a:srgbClr val="00000C"/>
                </a:solidFill>
              </a:ln>
            </a:endParaRPr>
          </a:p>
          <a:p>
            <a:endParaRPr lang="en-US" altLang="zh-CN" dirty="0">
              <a:ln>
                <a:solidFill>
                  <a:srgbClr val="00000C"/>
                </a:solidFill>
              </a:ln>
            </a:endParaRPr>
          </a:p>
          <a:p>
            <a:r>
              <a:rPr lang="zh-CN" altLang="en-US" dirty="0">
                <a:ln>
                  <a:solidFill>
                    <a:srgbClr val="00000C"/>
                  </a:solidFill>
                </a:ln>
              </a:rPr>
              <a:t>？</a:t>
            </a:r>
            <a:endParaRPr lang="en-US" altLang="zh-CN" dirty="0">
              <a:ln>
                <a:solidFill>
                  <a:srgbClr val="00000C"/>
                </a:solidFill>
              </a:ln>
            </a:endParaRPr>
          </a:p>
        </p:txBody>
      </p:sp>
      <p:sp>
        <p:nvSpPr>
          <p:cNvPr id="13" name="矩形 12"/>
          <p:cNvSpPr/>
          <p:nvPr/>
        </p:nvSpPr>
        <p:spPr>
          <a:xfrm>
            <a:off x="5392470" y="3861048"/>
            <a:ext cx="415498" cy="923330"/>
          </a:xfrm>
          <a:prstGeom prst="rect">
            <a:avLst/>
          </a:prstGeom>
        </p:spPr>
        <p:txBody>
          <a:bodyPr wrap="none">
            <a:spAutoFit/>
          </a:bodyPr>
          <a:lstStyle/>
          <a:p>
            <a:r>
              <a:rPr lang="zh-CN" altLang="en-US" dirty="0">
                <a:ln>
                  <a:solidFill>
                    <a:srgbClr val="00000C"/>
                  </a:solidFill>
                </a:ln>
              </a:rPr>
              <a:t>？</a:t>
            </a:r>
            <a:endParaRPr lang="en-US" altLang="zh-CN" dirty="0">
              <a:ln>
                <a:solidFill>
                  <a:srgbClr val="00000C"/>
                </a:solidFill>
              </a:ln>
            </a:endParaRPr>
          </a:p>
          <a:p>
            <a:endParaRPr lang="en-US" altLang="zh-CN" dirty="0">
              <a:ln>
                <a:solidFill>
                  <a:srgbClr val="00000C"/>
                </a:solidFill>
              </a:ln>
            </a:endParaRPr>
          </a:p>
          <a:p>
            <a:r>
              <a:rPr lang="zh-CN" altLang="en-US" dirty="0">
                <a:ln>
                  <a:solidFill>
                    <a:srgbClr val="00000C"/>
                  </a:solidFill>
                </a:ln>
              </a:rPr>
              <a:t>？</a:t>
            </a:r>
            <a:endParaRPr lang="en-US" altLang="zh-CN" dirty="0">
              <a:ln>
                <a:solidFill>
                  <a:srgbClr val="00000C"/>
                </a:solidFill>
              </a:ln>
            </a:endParaRPr>
          </a:p>
        </p:txBody>
      </p:sp>
      <p:sp>
        <p:nvSpPr>
          <p:cNvPr id="14" name="矩形 13"/>
          <p:cNvSpPr/>
          <p:nvPr/>
        </p:nvSpPr>
        <p:spPr>
          <a:xfrm>
            <a:off x="6384032" y="3861048"/>
            <a:ext cx="415498" cy="923330"/>
          </a:xfrm>
          <a:prstGeom prst="rect">
            <a:avLst/>
          </a:prstGeom>
        </p:spPr>
        <p:txBody>
          <a:bodyPr wrap="none">
            <a:spAutoFit/>
          </a:bodyPr>
          <a:lstStyle/>
          <a:p>
            <a:r>
              <a:rPr lang="zh-CN" altLang="en-US" dirty="0">
                <a:ln>
                  <a:solidFill>
                    <a:srgbClr val="00000C"/>
                  </a:solidFill>
                </a:ln>
              </a:rPr>
              <a:t>？</a:t>
            </a:r>
            <a:endParaRPr lang="en-US" altLang="zh-CN" dirty="0">
              <a:ln>
                <a:solidFill>
                  <a:srgbClr val="00000C"/>
                </a:solidFill>
              </a:ln>
            </a:endParaRPr>
          </a:p>
          <a:p>
            <a:endParaRPr lang="en-US" altLang="zh-CN" dirty="0">
              <a:ln>
                <a:solidFill>
                  <a:srgbClr val="00000C"/>
                </a:solidFill>
              </a:ln>
            </a:endParaRPr>
          </a:p>
          <a:p>
            <a:r>
              <a:rPr lang="zh-CN" altLang="en-US" dirty="0">
                <a:ln>
                  <a:solidFill>
                    <a:srgbClr val="00000C"/>
                  </a:solidFill>
                </a:ln>
              </a:rPr>
              <a:t>？</a:t>
            </a:r>
            <a:endParaRPr lang="en-US" altLang="zh-CN" dirty="0">
              <a:ln>
                <a:solidFill>
                  <a:srgbClr val="00000C"/>
                </a:solidFill>
              </a:ln>
            </a:endParaRPr>
          </a:p>
        </p:txBody>
      </p:sp>
      <p:sp>
        <p:nvSpPr>
          <p:cNvPr id="15" name="矩形 14"/>
          <p:cNvSpPr/>
          <p:nvPr/>
        </p:nvSpPr>
        <p:spPr>
          <a:xfrm>
            <a:off x="7624718" y="3861048"/>
            <a:ext cx="415498" cy="923330"/>
          </a:xfrm>
          <a:prstGeom prst="rect">
            <a:avLst/>
          </a:prstGeom>
        </p:spPr>
        <p:txBody>
          <a:bodyPr wrap="none">
            <a:spAutoFit/>
          </a:bodyPr>
          <a:lstStyle/>
          <a:p>
            <a:r>
              <a:rPr lang="zh-CN" altLang="en-US" dirty="0">
                <a:ln>
                  <a:solidFill>
                    <a:srgbClr val="00000C"/>
                  </a:solidFill>
                </a:ln>
              </a:rPr>
              <a:t>？</a:t>
            </a:r>
            <a:endParaRPr lang="en-US" altLang="zh-CN" dirty="0">
              <a:ln>
                <a:solidFill>
                  <a:srgbClr val="00000C"/>
                </a:solidFill>
              </a:ln>
            </a:endParaRPr>
          </a:p>
          <a:p>
            <a:endParaRPr lang="en-US" altLang="zh-CN" dirty="0">
              <a:ln>
                <a:solidFill>
                  <a:srgbClr val="00000C"/>
                </a:solidFill>
              </a:ln>
            </a:endParaRPr>
          </a:p>
          <a:p>
            <a:r>
              <a:rPr lang="zh-CN" altLang="en-US" dirty="0">
                <a:ln>
                  <a:solidFill>
                    <a:srgbClr val="00000C"/>
                  </a:solidFill>
                </a:ln>
              </a:rPr>
              <a:t>？</a:t>
            </a:r>
            <a:endParaRPr lang="en-US" altLang="zh-CN" dirty="0">
              <a:ln>
                <a:solidFill>
                  <a:srgbClr val="00000C"/>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fade">
                                      <p:cBhvr>
                                        <p:cTn id="21" dur="2000"/>
                                        <p:tgtEl>
                                          <p:spTgt spid="9">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xEl>
                                              <p:pRg st="2" end="2"/>
                                            </p:txEl>
                                          </p:spTgt>
                                        </p:tgtEl>
                                        <p:attrNameLst>
                                          <p:attrName>style.visibility</p:attrName>
                                        </p:attrNameLst>
                                      </p:cBhvr>
                                      <p:to>
                                        <p:strVal val="visible"/>
                                      </p:to>
                                    </p:set>
                                    <p:animEffect transition="in" filter="fade">
                                      <p:cBhvr>
                                        <p:cTn id="24" dur="2000"/>
                                        <p:tgtEl>
                                          <p:spTgt spid="9">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xEl>
                                              <p:pRg st="0" end="0"/>
                                            </p:txEl>
                                          </p:spTgt>
                                        </p:tgtEl>
                                        <p:attrNameLst>
                                          <p:attrName>style.visibility</p:attrName>
                                        </p:attrNameLst>
                                      </p:cBhvr>
                                      <p:to>
                                        <p:strVal val="visible"/>
                                      </p:to>
                                    </p:set>
                                    <p:animEffect transition="in" filter="fade">
                                      <p:cBhvr>
                                        <p:cTn id="29" dur="2000"/>
                                        <p:tgtEl>
                                          <p:spTgt spid="1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xEl>
                                              <p:pRg st="2" end="2"/>
                                            </p:txEl>
                                          </p:spTgt>
                                        </p:tgtEl>
                                        <p:attrNameLst>
                                          <p:attrName>style.visibility</p:attrName>
                                        </p:attrNameLst>
                                      </p:cBhvr>
                                      <p:to>
                                        <p:strVal val="visible"/>
                                      </p:to>
                                    </p:set>
                                    <p:animEffect transition="in" filter="fade">
                                      <p:cBhvr>
                                        <p:cTn id="32" dur="2000"/>
                                        <p:tgtEl>
                                          <p:spTgt spid="1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fade">
                                      <p:cBhvr>
                                        <p:cTn id="37" dur="2000"/>
                                        <p:tgtEl>
                                          <p:spTgt spid="14">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xEl>
                                              <p:pRg st="2" end="2"/>
                                            </p:txEl>
                                          </p:spTgt>
                                        </p:tgtEl>
                                        <p:attrNameLst>
                                          <p:attrName>style.visibility</p:attrName>
                                        </p:attrNameLst>
                                      </p:cBhvr>
                                      <p:to>
                                        <p:strVal val="visible"/>
                                      </p:to>
                                    </p:set>
                                    <p:animEffect transition="in" filter="fade">
                                      <p:cBhvr>
                                        <p:cTn id="40" dur="2000"/>
                                        <p:tgtEl>
                                          <p:spTgt spid="14">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5">
                                            <p:txEl>
                                              <p:pRg st="0" end="0"/>
                                            </p:txEl>
                                          </p:spTgt>
                                        </p:tgtEl>
                                        <p:attrNameLst>
                                          <p:attrName>style.visibility</p:attrName>
                                        </p:attrNameLst>
                                      </p:cBhvr>
                                      <p:to>
                                        <p:strVal val="visible"/>
                                      </p:to>
                                    </p:set>
                                    <p:animEffect transition="in" filter="fade">
                                      <p:cBhvr>
                                        <p:cTn id="45" dur="2000"/>
                                        <p:tgtEl>
                                          <p:spTgt spid="15">
                                            <p:txEl>
                                              <p:pRg st="0" end="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xEl>
                                              <p:pRg st="2" end="2"/>
                                            </p:txEl>
                                          </p:spTgt>
                                        </p:tgtEl>
                                        <p:attrNameLst>
                                          <p:attrName>style.visibility</p:attrName>
                                        </p:attrNameLst>
                                      </p:cBhvr>
                                      <p:to>
                                        <p:strVal val="visible"/>
                                      </p:to>
                                    </p:set>
                                    <p:animEffect transition="in" filter="fade">
                                      <p:cBhvr>
                                        <p:cTn id="48" dur="20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build="allAtOnce"/>
      <p:bldP spid="13" grpId="0" build="allAtOnce"/>
      <p:bldP spid="14" grpId="0" build="allAtOnce"/>
      <p:bldP spid="15" grpId="0" build="allAtOnce"/>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内容占位符 2"/>
          <p:cNvSpPr txBox="1"/>
          <p:nvPr/>
        </p:nvSpPr>
        <p:spPr>
          <a:xfrm>
            <a:off x="631372" y="481757"/>
            <a:ext cx="11136085" cy="5718111"/>
          </a:xfrm>
          <a:prstGeom prst="rect">
            <a:avLst/>
          </a:prstGeom>
        </p:spPr>
        <p:txBody>
          <a:bodyPr/>
          <a:lstStyle/>
          <a:p>
            <a:pPr marL="342900" indent="-342900" fontAlgn="base">
              <a:lnSpc>
                <a:spcPct val="110000"/>
              </a:lnSpc>
              <a:spcBef>
                <a:spcPts val="300"/>
              </a:spcBef>
              <a:spcAft>
                <a:spcPct val="0"/>
              </a:spcAft>
              <a:defRPr/>
            </a:pPr>
            <a:r>
              <a:rPr lang="zh-CN" altLang="en-US" sz="2400" dirty="0">
                <a:latin typeface="楷体" panose="02010609060101010101" pitchFamily="49" charset="-122"/>
                <a:ea typeface="楷体" panose="02010609060101010101" pitchFamily="49" charset="-122"/>
              </a:rPr>
              <a:t>方法是先将问题进行抽象，抽象为如下数学形式，这正是线性规划基本思想：先建模后计算。</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300"/>
              </a:spcBef>
              <a:spcAft>
                <a:spcPct val="0"/>
              </a:spcAft>
              <a:defRPr/>
            </a:pPr>
            <a:r>
              <a:rPr lang="zh-CN" altLang="en-US" sz="2400" dirty="0">
                <a:latin typeface="楷体" panose="02010609060101010101" pitchFamily="49" charset="-122"/>
                <a:ea typeface="楷体" panose="02010609060101010101" pitchFamily="49" charset="-122"/>
              </a:rPr>
              <a:t>用</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11</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12</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13</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14</a:t>
            </a:r>
            <a:r>
              <a:rPr lang="zh-CN" altLang="en-US" sz="2400" dirty="0">
                <a:latin typeface="楷体" panose="02010609060101010101" pitchFamily="49" charset="-122"/>
                <a:ea typeface="楷体" panose="02010609060101010101" pitchFamily="49" charset="-122"/>
              </a:rPr>
              <a:t>分别表示从甲地调拨至销地</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C</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D</a:t>
            </a:r>
            <a:r>
              <a:rPr lang="zh-CN" altLang="en-US" sz="2400" dirty="0">
                <a:latin typeface="楷体" panose="02010609060101010101" pitchFamily="49" charset="-122"/>
                <a:ea typeface="楷体" panose="02010609060101010101" pitchFamily="49" charset="-122"/>
              </a:rPr>
              <a:t>的蔬菜数量，单位吨</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300"/>
              </a:spcBef>
              <a:spcAft>
                <a:spcPct val="0"/>
              </a:spcAft>
            </a:pPr>
            <a:r>
              <a:rPr lang="zh-CN" altLang="en-US" sz="2400" dirty="0">
                <a:latin typeface="楷体" panose="02010609060101010101" pitchFamily="49" charset="-122"/>
                <a:ea typeface="楷体" panose="02010609060101010101" pitchFamily="49" charset="-122"/>
              </a:rPr>
              <a:t>用</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21</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22</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23</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24</a:t>
            </a:r>
            <a:r>
              <a:rPr lang="zh-CN" altLang="en-US" sz="2400" dirty="0">
                <a:latin typeface="楷体" panose="02010609060101010101" pitchFamily="49" charset="-122"/>
                <a:ea typeface="楷体" panose="02010609060101010101" pitchFamily="49" charset="-122"/>
              </a:rPr>
              <a:t>分别表示从乙地调拨至销地</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C</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D</a:t>
            </a:r>
            <a:r>
              <a:rPr lang="zh-CN" altLang="en-US" sz="2400" dirty="0">
                <a:latin typeface="楷体" panose="02010609060101010101" pitchFamily="49" charset="-122"/>
                <a:ea typeface="楷体" panose="02010609060101010101" pitchFamily="49" charset="-122"/>
              </a:rPr>
              <a:t>的蔬菜数量，单位吨</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300"/>
              </a:spcBef>
              <a:spcAft>
                <a:spcPct val="0"/>
              </a:spcAft>
            </a:pPr>
            <a:r>
              <a:rPr lang="zh-CN" altLang="en-US" sz="2400" dirty="0">
                <a:latin typeface="楷体" panose="02010609060101010101" pitchFamily="49" charset="-122"/>
                <a:ea typeface="楷体" panose="02010609060101010101" pitchFamily="49" charset="-122"/>
              </a:rPr>
              <a:t>则，根据题意这些变量应满足：</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300"/>
              </a:spcBef>
              <a:spcAft>
                <a:spcPct val="0"/>
              </a:spcAft>
            </a:pPr>
            <a:r>
              <a:rPr lang="en-US" altLang="zh-CN" sz="2400" dirty="0" err="1">
                <a:latin typeface="楷体" panose="02010609060101010101" pitchFamily="49" charset="-122"/>
                <a:ea typeface="楷体" panose="02010609060101010101" pitchFamily="49" charset="-122"/>
              </a:rPr>
              <a:t>s.t</a:t>
            </a:r>
            <a:r>
              <a:rPr lang="en-US" altLang="zh-CN"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300"/>
              </a:spcBef>
              <a:spcAft>
                <a:spcPct val="0"/>
              </a:spcAft>
            </a:pPr>
            <a:r>
              <a:rPr lang="zh-CN" altLang="en-US" sz="2400" dirty="0">
                <a:latin typeface="楷体" panose="02010609060101010101" pitchFamily="49" charset="-122"/>
                <a:ea typeface="楷体" panose="02010609060101010101" pitchFamily="49" charset="-122"/>
              </a:rPr>
              <a:t>产地甲产量：</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11</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12</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13</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14 </a:t>
            </a:r>
            <a:r>
              <a:rPr lang="en-US" altLang="zh-CN" sz="2400" dirty="0">
                <a:latin typeface="楷体" panose="02010609060101010101" pitchFamily="49" charset="-122"/>
                <a:ea typeface="楷体" panose="02010609060101010101" pitchFamily="49" charset="-122"/>
              </a:rPr>
              <a:t>=2000</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300"/>
              </a:spcBef>
              <a:spcAft>
                <a:spcPct val="0"/>
              </a:spcAft>
            </a:pPr>
            <a:r>
              <a:rPr lang="zh-CN" altLang="en-US" sz="2400" dirty="0">
                <a:latin typeface="楷体" panose="02010609060101010101" pitchFamily="49" charset="-122"/>
                <a:ea typeface="楷体" panose="02010609060101010101" pitchFamily="49" charset="-122"/>
              </a:rPr>
              <a:t>产地乙产量： </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21</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22</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23</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24 </a:t>
            </a:r>
            <a:r>
              <a:rPr lang="en-US" altLang="zh-CN" sz="2400" dirty="0">
                <a:latin typeface="楷体" panose="02010609060101010101" pitchFamily="49" charset="-122"/>
                <a:ea typeface="楷体" panose="02010609060101010101" pitchFamily="49" charset="-122"/>
              </a:rPr>
              <a:t>=1100;</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300"/>
              </a:spcBef>
              <a:spcAft>
                <a:spcPct val="0"/>
              </a:spcAft>
            </a:pPr>
            <a:r>
              <a:rPr lang="zh-CN" altLang="en-US" sz="2400" dirty="0">
                <a:latin typeface="楷体" panose="02010609060101010101" pitchFamily="49" charset="-122"/>
                <a:ea typeface="楷体" panose="02010609060101010101" pitchFamily="49" charset="-122"/>
              </a:rPr>
              <a:t>销地</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需求量： </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11</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21 </a:t>
            </a:r>
            <a:r>
              <a:rPr lang="en-US" altLang="zh-CN" sz="2400" dirty="0">
                <a:latin typeface="楷体" panose="02010609060101010101" pitchFamily="49" charset="-122"/>
                <a:ea typeface="楷体" panose="02010609060101010101" pitchFamily="49" charset="-122"/>
              </a:rPr>
              <a:t>=1700</a:t>
            </a:r>
            <a:r>
              <a:rPr lang="zh-CN" altLang="en-US" sz="24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销地</a:t>
            </a:r>
            <a:r>
              <a:rPr lang="en-US" altLang="zh-CN" sz="2400" dirty="0">
                <a:latin typeface="楷体" panose="02010609060101010101" pitchFamily="49" charset="-122"/>
                <a:ea typeface="楷体" panose="02010609060101010101" pitchFamily="49" charset="-122"/>
              </a:rPr>
              <a:t>B</a:t>
            </a:r>
            <a:r>
              <a:rPr lang="zh-CN" altLang="zh-CN" sz="2400" dirty="0">
                <a:latin typeface="楷体" panose="02010609060101010101" pitchFamily="49" charset="-122"/>
                <a:ea typeface="楷体" panose="02010609060101010101" pitchFamily="49" charset="-122"/>
              </a:rPr>
              <a:t>需求量：</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12</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22 </a:t>
            </a:r>
            <a:r>
              <a:rPr lang="en-US" altLang="zh-CN" sz="2400" dirty="0">
                <a:latin typeface="楷体" panose="02010609060101010101" pitchFamily="49" charset="-122"/>
                <a:ea typeface="楷体" panose="02010609060101010101" pitchFamily="49" charset="-122"/>
              </a:rPr>
              <a:t>=1100</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300"/>
              </a:spcBef>
              <a:spcAft>
                <a:spcPct val="0"/>
              </a:spcAft>
            </a:pPr>
            <a:r>
              <a:rPr lang="zh-CN" altLang="zh-CN" sz="2400" dirty="0">
                <a:latin typeface="楷体" panose="02010609060101010101" pitchFamily="49" charset="-122"/>
                <a:ea typeface="楷体" panose="02010609060101010101" pitchFamily="49" charset="-122"/>
              </a:rPr>
              <a:t>销地</a:t>
            </a:r>
            <a:r>
              <a:rPr lang="en-US" altLang="zh-CN" sz="2400" dirty="0">
                <a:latin typeface="楷体" panose="02010609060101010101" pitchFamily="49" charset="-122"/>
                <a:ea typeface="楷体" panose="02010609060101010101" pitchFamily="49" charset="-122"/>
              </a:rPr>
              <a:t>C</a:t>
            </a:r>
            <a:r>
              <a:rPr lang="zh-CN" altLang="zh-CN" sz="2400" dirty="0">
                <a:latin typeface="楷体" panose="02010609060101010101" pitchFamily="49" charset="-122"/>
                <a:ea typeface="楷体" panose="02010609060101010101" pitchFamily="49" charset="-122"/>
              </a:rPr>
              <a:t>需求量：</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13</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23 </a:t>
            </a:r>
            <a:r>
              <a:rPr lang="en-US" altLang="zh-CN" sz="2400" dirty="0">
                <a:latin typeface="楷体" panose="02010609060101010101" pitchFamily="49" charset="-122"/>
                <a:ea typeface="楷体" panose="02010609060101010101" pitchFamily="49" charset="-122"/>
              </a:rPr>
              <a:t>=200</a:t>
            </a:r>
            <a:r>
              <a:rPr lang="zh-CN" altLang="en-US" sz="24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销地</a:t>
            </a:r>
            <a:r>
              <a:rPr lang="en-US" altLang="zh-CN" sz="2400" dirty="0">
                <a:latin typeface="楷体" panose="02010609060101010101" pitchFamily="49" charset="-122"/>
                <a:ea typeface="楷体" panose="02010609060101010101" pitchFamily="49" charset="-122"/>
              </a:rPr>
              <a:t>D</a:t>
            </a:r>
            <a:r>
              <a:rPr lang="zh-CN" altLang="zh-CN" sz="2400" dirty="0">
                <a:latin typeface="楷体" panose="02010609060101010101" pitchFamily="49" charset="-122"/>
                <a:ea typeface="楷体" panose="02010609060101010101" pitchFamily="49" charset="-122"/>
              </a:rPr>
              <a:t>需求量：</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14</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24 </a:t>
            </a:r>
            <a:r>
              <a:rPr lang="en-US" altLang="zh-CN" sz="2400" dirty="0">
                <a:latin typeface="楷体" panose="02010609060101010101" pitchFamily="49" charset="-122"/>
                <a:ea typeface="楷体" panose="02010609060101010101" pitchFamily="49" charset="-122"/>
              </a:rPr>
              <a:t>=100</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300"/>
              </a:spcBef>
              <a:spcAft>
                <a:spcPct val="0"/>
              </a:spcAft>
            </a:pPr>
            <a:r>
              <a:rPr lang="zh-CN" altLang="en-US" sz="2400" dirty="0">
                <a:latin typeface="楷体" panose="02010609060101010101" pitchFamily="49" charset="-122"/>
                <a:ea typeface="楷体" panose="02010609060101010101" pitchFamily="49" charset="-122"/>
              </a:rPr>
              <a:t>符号约束：</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ij</a:t>
            </a:r>
            <a:r>
              <a:rPr lang="en-US" altLang="zh-CN" sz="2400" dirty="0">
                <a:latin typeface="楷体" panose="02010609060101010101" pitchFamily="49" charset="-122"/>
                <a:ea typeface="楷体" panose="02010609060101010101" pitchFamily="49" charset="-122"/>
              </a:rPr>
              <a:t>≥0(</a:t>
            </a:r>
            <a:r>
              <a:rPr lang="en-US" altLang="zh-CN" sz="2400" dirty="0" err="1">
                <a:latin typeface="楷体" panose="02010609060101010101" pitchFamily="49" charset="-122"/>
                <a:ea typeface="楷体" panose="02010609060101010101" pitchFamily="49" charset="-122"/>
              </a:rPr>
              <a:t>i</a:t>
            </a:r>
            <a:r>
              <a:rPr lang="en-US" altLang="zh-CN" sz="2400" dirty="0">
                <a:latin typeface="楷体" panose="02010609060101010101" pitchFamily="49" charset="-122"/>
                <a:ea typeface="楷体" panose="02010609060101010101" pitchFamily="49" charset="-122"/>
              </a:rPr>
              <a:t>= 1,2;j = 1,2,3,4)</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300"/>
              </a:spcBef>
              <a:spcAft>
                <a:spcPct val="0"/>
              </a:spcAft>
            </a:pPr>
            <a:r>
              <a:rPr lang="zh-CN" altLang="en-US" sz="2400" dirty="0">
                <a:latin typeface="楷体" panose="02010609060101010101" pitchFamily="49" charset="-122"/>
                <a:ea typeface="楷体" panose="02010609060101010101" pitchFamily="49" charset="-122"/>
              </a:rPr>
              <a:t>目的是使总运费最小，即：</a:t>
            </a:r>
            <a:endParaRPr lang="en-US" altLang="zh-CN" sz="2400" dirty="0">
              <a:latin typeface="楷体" panose="02010609060101010101" pitchFamily="49" charset="-122"/>
              <a:ea typeface="楷体" panose="02010609060101010101" pitchFamily="49" charset="-122"/>
            </a:endParaRPr>
          </a:p>
          <a:p>
            <a:pPr marL="342900" indent="-342900" algn="ctr" fontAlgn="base">
              <a:lnSpc>
                <a:spcPct val="110000"/>
              </a:lnSpc>
              <a:spcBef>
                <a:spcPts val="300"/>
              </a:spcBef>
              <a:spcAft>
                <a:spcPct val="0"/>
              </a:spcAft>
            </a:pPr>
            <a:r>
              <a:rPr lang="en-US" altLang="zh-CN" sz="2400" dirty="0" err="1">
                <a:latin typeface="楷体" panose="02010609060101010101" pitchFamily="49" charset="-122"/>
                <a:ea typeface="楷体" panose="02010609060101010101" pitchFamily="49" charset="-122"/>
              </a:rPr>
              <a:t>maxZ</a:t>
            </a:r>
            <a:r>
              <a:rPr lang="en-US" altLang="zh-CN" sz="2400" dirty="0">
                <a:latin typeface="楷体" panose="02010609060101010101" pitchFamily="49" charset="-122"/>
                <a:ea typeface="楷体" panose="02010609060101010101" pitchFamily="49" charset="-122"/>
              </a:rPr>
              <a:t> = 21x</a:t>
            </a:r>
            <a:r>
              <a:rPr lang="en-US" altLang="zh-CN" sz="2400" baseline="-25000" dirty="0">
                <a:latin typeface="楷体" panose="02010609060101010101" pitchFamily="49" charset="-122"/>
                <a:ea typeface="楷体" panose="02010609060101010101" pitchFamily="49" charset="-122"/>
              </a:rPr>
              <a:t>11</a:t>
            </a:r>
            <a:r>
              <a:rPr lang="en-US" altLang="zh-CN" sz="2400" dirty="0">
                <a:latin typeface="楷体" panose="02010609060101010101" pitchFamily="49" charset="-122"/>
                <a:ea typeface="楷体" panose="02010609060101010101" pitchFamily="49" charset="-122"/>
              </a:rPr>
              <a:t>+25x</a:t>
            </a:r>
            <a:r>
              <a:rPr lang="en-US" altLang="zh-CN" sz="2400" baseline="-25000" dirty="0">
                <a:latin typeface="楷体" panose="02010609060101010101" pitchFamily="49" charset="-122"/>
                <a:ea typeface="楷体" panose="02010609060101010101" pitchFamily="49" charset="-122"/>
              </a:rPr>
              <a:t>12</a:t>
            </a:r>
            <a:r>
              <a:rPr lang="en-US" altLang="zh-CN" sz="2400" dirty="0">
                <a:latin typeface="楷体" panose="02010609060101010101" pitchFamily="49" charset="-122"/>
                <a:ea typeface="楷体" panose="02010609060101010101" pitchFamily="49" charset="-122"/>
              </a:rPr>
              <a:t>+7x</a:t>
            </a:r>
            <a:r>
              <a:rPr lang="en-US" altLang="zh-CN" sz="2400" baseline="-25000" dirty="0">
                <a:latin typeface="楷体" panose="02010609060101010101" pitchFamily="49" charset="-122"/>
                <a:ea typeface="楷体" panose="02010609060101010101" pitchFamily="49" charset="-122"/>
              </a:rPr>
              <a:t>13</a:t>
            </a:r>
            <a:r>
              <a:rPr lang="en-US" altLang="zh-CN" sz="2400" dirty="0">
                <a:latin typeface="楷体" panose="02010609060101010101" pitchFamily="49" charset="-122"/>
                <a:ea typeface="楷体" panose="02010609060101010101" pitchFamily="49" charset="-122"/>
              </a:rPr>
              <a:t>+15x</a:t>
            </a:r>
            <a:r>
              <a:rPr lang="en-US" altLang="zh-CN" sz="2400" baseline="-25000" dirty="0">
                <a:latin typeface="楷体" panose="02010609060101010101" pitchFamily="49" charset="-122"/>
                <a:ea typeface="楷体" panose="02010609060101010101" pitchFamily="49" charset="-122"/>
              </a:rPr>
              <a:t>14</a:t>
            </a:r>
            <a:r>
              <a:rPr lang="en-US" altLang="zh-CN" sz="2400" dirty="0">
                <a:latin typeface="楷体" panose="02010609060101010101" pitchFamily="49" charset="-122"/>
                <a:ea typeface="楷体" panose="02010609060101010101" pitchFamily="49" charset="-122"/>
              </a:rPr>
              <a:t>+ 25x</a:t>
            </a:r>
            <a:r>
              <a:rPr lang="en-US" altLang="zh-CN" sz="2400" baseline="-25000" dirty="0">
                <a:latin typeface="楷体" panose="02010609060101010101" pitchFamily="49" charset="-122"/>
                <a:ea typeface="楷体" panose="02010609060101010101" pitchFamily="49" charset="-122"/>
              </a:rPr>
              <a:t>21</a:t>
            </a:r>
            <a:r>
              <a:rPr lang="en-US" altLang="zh-CN" sz="2400" dirty="0">
                <a:latin typeface="楷体" panose="02010609060101010101" pitchFamily="49" charset="-122"/>
                <a:ea typeface="楷体" panose="02010609060101010101" pitchFamily="49" charset="-122"/>
              </a:rPr>
              <a:t>+51x</a:t>
            </a:r>
            <a:r>
              <a:rPr lang="en-US" altLang="zh-CN" sz="2400" baseline="-25000" dirty="0">
                <a:latin typeface="楷体" panose="02010609060101010101" pitchFamily="49" charset="-122"/>
                <a:ea typeface="楷体" panose="02010609060101010101" pitchFamily="49" charset="-122"/>
              </a:rPr>
              <a:t>22</a:t>
            </a:r>
            <a:r>
              <a:rPr lang="en-US" altLang="zh-CN" sz="2400" dirty="0">
                <a:latin typeface="楷体" panose="02010609060101010101" pitchFamily="49" charset="-122"/>
                <a:ea typeface="楷体" panose="02010609060101010101" pitchFamily="49" charset="-122"/>
              </a:rPr>
              <a:t>+37x</a:t>
            </a:r>
            <a:r>
              <a:rPr lang="en-US" altLang="zh-CN" sz="2400" baseline="-25000" dirty="0">
                <a:latin typeface="楷体" panose="02010609060101010101" pitchFamily="49" charset="-122"/>
                <a:ea typeface="楷体" panose="02010609060101010101" pitchFamily="49" charset="-122"/>
              </a:rPr>
              <a:t>23</a:t>
            </a:r>
            <a:r>
              <a:rPr lang="en-US" altLang="zh-CN" sz="2400" dirty="0">
                <a:latin typeface="楷体" panose="02010609060101010101" pitchFamily="49" charset="-122"/>
                <a:ea typeface="楷体" panose="02010609060101010101" pitchFamily="49" charset="-122"/>
              </a:rPr>
              <a:t>+15x</a:t>
            </a:r>
            <a:r>
              <a:rPr lang="en-US" altLang="zh-CN" sz="2400" baseline="-25000" dirty="0">
                <a:latin typeface="楷体" panose="02010609060101010101" pitchFamily="49" charset="-122"/>
                <a:ea typeface="楷体" panose="02010609060101010101" pitchFamily="49" charset="-122"/>
              </a:rPr>
              <a:t>24</a:t>
            </a:r>
            <a:endParaRPr lang="en-US" altLang="zh-CN" sz="2400" dirty="0">
              <a:latin typeface="楷体" panose="02010609060101010101" pitchFamily="49" charset="-122"/>
              <a:ea typeface="楷体" panose="02010609060101010101" pitchFamily="49" charset="-122"/>
            </a:endParaRPr>
          </a:p>
          <a:p>
            <a:pPr marL="342900" indent="-342900" fontAlgn="base">
              <a:lnSpc>
                <a:spcPct val="110000"/>
              </a:lnSpc>
              <a:spcBef>
                <a:spcPts val="1800"/>
              </a:spcBef>
              <a:spcAft>
                <a:spcPct val="0"/>
              </a:spcAft>
            </a:pPr>
            <a:endParaRPr lang="en-US" altLang="zh-CN" sz="2400" dirty="0"/>
          </a:p>
          <a:p>
            <a:pPr marL="342900" indent="-342900" fontAlgn="base">
              <a:lnSpc>
                <a:spcPct val="110000"/>
              </a:lnSpc>
              <a:spcBef>
                <a:spcPts val="1800"/>
              </a:spcBef>
              <a:spcAft>
                <a:spcPct val="0"/>
              </a:spcAft>
            </a:pPr>
            <a:endParaRPr lang="en-US" altLang="zh-CN" sz="2400" dirty="0"/>
          </a:p>
          <a:p>
            <a:pPr marL="342900" indent="-342900" fontAlgn="base">
              <a:lnSpc>
                <a:spcPct val="110000"/>
              </a:lnSpc>
              <a:spcBef>
                <a:spcPts val="1800"/>
              </a:spcBef>
              <a:spcAft>
                <a:spcPct val="0"/>
              </a:spcAft>
              <a:defRPr/>
            </a:pPr>
            <a:endParaRPr lang="en-US" altLang="zh-CN" sz="2400" dirty="0"/>
          </a:p>
          <a:p>
            <a:pPr marL="342900" indent="-342900" fontAlgn="base">
              <a:lnSpc>
                <a:spcPct val="110000"/>
              </a:lnSpc>
              <a:spcBef>
                <a:spcPts val="1800"/>
              </a:spcBef>
              <a:spcAft>
                <a:spcPct val="0"/>
              </a:spcAft>
              <a:defRPr/>
            </a:pPr>
            <a:endParaRPr lang="en-US" altLang="zh-CN" sz="2400" dirty="0"/>
          </a:p>
          <a:p>
            <a:pPr marL="342900" indent="-342900" fontAlgn="base">
              <a:lnSpc>
                <a:spcPct val="110000"/>
              </a:lnSpc>
              <a:spcBef>
                <a:spcPts val="1800"/>
              </a:spcBef>
              <a:spcAft>
                <a:spcPct val="0"/>
              </a:spcAft>
              <a:defRPr/>
            </a:pPr>
            <a:endParaRPr lang="en-US" altLang="zh-CN" sz="2400" dirty="0"/>
          </a:p>
          <a:p>
            <a:pPr marL="342900" indent="-342900" fontAlgn="base">
              <a:lnSpc>
                <a:spcPct val="110000"/>
              </a:lnSpc>
              <a:spcBef>
                <a:spcPts val="1800"/>
              </a:spcBef>
              <a:spcAft>
                <a:spcPct val="0"/>
              </a:spcAft>
              <a:defRPr/>
            </a:pPr>
            <a:endParaRPr lang="en-US" altLang="zh-CN" sz="2400" dirty="0"/>
          </a:p>
          <a:p>
            <a:pPr marL="342900" indent="-342900" fontAlgn="base">
              <a:lnSpc>
                <a:spcPct val="110000"/>
              </a:lnSpc>
              <a:spcBef>
                <a:spcPts val="1800"/>
              </a:spcBef>
              <a:spcAft>
                <a:spcPct val="0"/>
              </a:spcAft>
              <a:defRPr/>
            </a:pPr>
            <a:endParaRPr lang="en-US" altLang="zh-CN" sz="2400" dirty="0"/>
          </a:p>
          <a:p>
            <a:pPr marL="342900" indent="-342900" fontAlgn="base">
              <a:lnSpc>
                <a:spcPct val="110000"/>
              </a:lnSpc>
              <a:spcBef>
                <a:spcPts val="1800"/>
              </a:spcBef>
              <a:spcAft>
                <a:spcPct val="0"/>
              </a:spcAft>
              <a:defRPr/>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07571" y="692696"/>
            <a:ext cx="9513573" cy="576064"/>
          </a:xfrm>
        </p:spPr>
        <p:txBody>
          <a:bodyPr>
            <a:normAutofit/>
          </a:bodyPr>
          <a:lstStyle/>
          <a:p>
            <a:pPr lvl="0">
              <a:buNone/>
            </a:pPr>
            <a:r>
              <a:rPr lang="zh-CN" altLang="en-US" dirty="0">
                <a:solidFill>
                  <a:srgbClr val="060606"/>
                </a:solidFill>
                <a:latin typeface="楷体" panose="02010609060101010101" pitchFamily="49" charset="-122"/>
                <a:ea typeface="楷体" panose="02010609060101010101" pitchFamily="49" charset="-122"/>
              </a:rPr>
              <a:t>汇总得到问题的数学表达为：</a:t>
            </a:r>
            <a:endParaRPr lang="en-US" altLang="zh-CN" dirty="0">
              <a:solidFill>
                <a:srgbClr val="060606"/>
              </a:solidFill>
              <a:latin typeface="楷体" panose="02010609060101010101" pitchFamily="49" charset="-122"/>
              <a:ea typeface="楷体" panose="02010609060101010101" pitchFamily="49" charset="-122"/>
            </a:endParaRPr>
          </a:p>
        </p:txBody>
      </p:sp>
      <p:sp>
        <p:nvSpPr>
          <p:cNvPr id="15" name="矩形 14"/>
          <p:cNvSpPr/>
          <p:nvPr/>
        </p:nvSpPr>
        <p:spPr>
          <a:xfrm>
            <a:off x="2745972" y="1708812"/>
            <a:ext cx="9696400" cy="461665"/>
          </a:xfrm>
          <a:prstGeom prst="rect">
            <a:avLst/>
          </a:prstGeom>
        </p:spPr>
        <p:txBody>
          <a:bodyPr wrap="square">
            <a:spAutoFit/>
          </a:bodyPr>
          <a:lstStyle/>
          <a:p>
            <a:r>
              <a:rPr lang="en-US" altLang="zh-CN" sz="2400" dirty="0"/>
              <a:t>max   Z = 21x</a:t>
            </a:r>
            <a:r>
              <a:rPr lang="en-US" altLang="zh-CN" sz="2400" baseline="-25000" dirty="0"/>
              <a:t>11</a:t>
            </a:r>
            <a:r>
              <a:rPr lang="en-US" altLang="zh-CN" sz="2400" dirty="0"/>
              <a:t>+25x</a:t>
            </a:r>
            <a:r>
              <a:rPr lang="en-US" altLang="zh-CN" sz="2400" baseline="-25000" dirty="0"/>
              <a:t>12</a:t>
            </a:r>
            <a:r>
              <a:rPr lang="en-US" altLang="zh-CN" sz="2400" dirty="0"/>
              <a:t>+7x</a:t>
            </a:r>
            <a:r>
              <a:rPr lang="en-US" altLang="zh-CN" sz="2400" baseline="-25000" dirty="0"/>
              <a:t>13</a:t>
            </a:r>
            <a:r>
              <a:rPr lang="en-US" altLang="zh-CN" sz="2400" dirty="0"/>
              <a:t>+15x</a:t>
            </a:r>
            <a:r>
              <a:rPr lang="en-US" altLang="zh-CN" sz="2400" baseline="-25000" dirty="0"/>
              <a:t>14</a:t>
            </a:r>
            <a:r>
              <a:rPr lang="en-US" altLang="zh-CN" sz="2400" dirty="0"/>
              <a:t>+ 25x</a:t>
            </a:r>
            <a:r>
              <a:rPr lang="en-US" altLang="zh-CN" sz="2400" baseline="-25000" dirty="0"/>
              <a:t>21</a:t>
            </a:r>
            <a:r>
              <a:rPr lang="en-US" altLang="zh-CN" sz="2400" dirty="0"/>
              <a:t>+51x</a:t>
            </a:r>
            <a:r>
              <a:rPr lang="en-US" altLang="zh-CN" sz="2400" baseline="-25000" dirty="0"/>
              <a:t>22</a:t>
            </a:r>
            <a:r>
              <a:rPr lang="en-US" altLang="zh-CN" sz="2400" dirty="0"/>
              <a:t>+37x</a:t>
            </a:r>
            <a:r>
              <a:rPr lang="en-US" altLang="zh-CN" sz="2400" baseline="-25000" dirty="0"/>
              <a:t>23</a:t>
            </a:r>
            <a:r>
              <a:rPr lang="en-US" altLang="zh-CN" sz="2400" dirty="0"/>
              <a:t>+15x</a:t>
            </a:r>
            <a:r>
              <a:rPr lang="en-US" altLang="zh-CN" sz="2400" baseline="-25000" dirty="0"/>
              <a:t>24</a:t>
            </a:r>
            <a:endParaRPr lang="zh-CN" altLang="en-US" sz="2400" dirty="0"/>
          </a:p>
        </p:txBody>
      </p:sp>
      <p:sp>
        <p:nvSpPr>
          <p:cNvPr id="18" name="矩形 17"/>
          <p:cNvSpPr/>
          <p:nvPr/>
        </p:nvSpPr>
        <p:spPr>
          <a:xfrm>
            <a:off x="4223793" y="2276873"/>
            <a:ext cx="3113353" cy="461665"/>
          </a:xfrm>
          <a:prstGeom prst="rect">
            <a:avLst/>
          </a:prstGeom>
        </p:spPr>
        <p:txBody>
          <a:bodyPr wrap="none">
            <a:spAutoFit/>
          </a:bodyPr>
          <a:lstStyle/>
          <a:p>
            <a:r>
              <a:rPr lang="en-US" altLang="zh-CN" sz="2400" dirty="0"/>
              <a:t>x</a:t>
            </a:r>
            <a:r>
              <a:rPr lang="en-US" altLang="zh-CN" sz="2400" baseline="-25000" dirty="0"/>
              <a:t>11</a:t>
            </a:r>
            <a:r>
              <a:rPr lang="en-US" altLang="zh-CN" sz="2400" dirty="0"/>
              <a:t>+x</a:t>
            </a:r>
            <a:r>
              <a:rPr lang="en-US" altLang="zh-CN" sz="2400" baseline="-25000" dirty="0"/>
              <a:t>12</a:t>
            </a:r>
            <a:r>
              <a:rPr lang="en-US" altLang="zh-CN" sz="2400" dirty="0"/>
              <a:t>+x</a:t>
            </a:r>
            <a:r>
              <a:rPr lang="en-US" altLang="zh-CN" sz="2400" baseline="-25000" dirty="0"/>
              <a:t>13</a:t>
            </a:r>
            <a:r>
              <a:rPr lang="en-US" altLang="zh-CN" sz="2400" dirty="0"/>
              <a:t>+x</a:t>
            </a:r>
            <a:r>
              <a:rPr lang="en-US" altLang="zh-CN" sz="2400" baseline="-25000" dirty="0"/>
              <a:t>14 </a:t>
            </a:r>
            <a:r>
              <a:rPr lang="en-US" altLang="zh-CN" sz="2400" dirty="0"/>
              <a:t>=2000</a:t>
            </a:r>
            <a:endParaRPr lang="zh-CN" altLang="en-US" sz="2400" dirty="0"/>
          </a:p>
        </p:txBody>
      </p:sp>
      <p:sp>
        <p:nvSpPr>
          <p:cNvPr id="19" name="矩形 18"/>
          <p:cNvSpPr/>
          <p:nvPr/>
        </p:nvSpPr>
        <p:spPr>
          <a:xfrm>
            <a:off x="4223793" y="2893587"/>
            <a:ext cx="3198311" cy="461665"/>
          </a:xfrm>
          <a:prstGeom prst="rect">
            <a:avLst/>
          </a:prstGeom>
        </p:spPr>
        <p:txBody>
          <a:bodyPr wrap="none">
            <a:spAutoFit/>
          </a:bodyPr>
          <a:lstStyle/>
          <a:p>
            <a:r>
              <a:rPr lang="zh-CN" altLang="en-US" sz="2400" dirty="0"/>
              <a:t> </a:t>
            </a:r>
            <a:r>
              <a:rPr lang="en-US" altLang="zh-CN" sz="2400" dirty="0"/>
              <a:t>x</a:t>
            </a:r>
            <a:r>
              <a:rPr lang="en-US" altLang="zh-CN" sz="2400" baseline="-25000" dirty="0"/>
              <a:t>21</a:t>
            </a:r>
            <a:r>
              <a:rPr lang="en-US" altLang="zh-CN" sz="2400" dirty="0"/>
              <a:t>+x</a:t>
            </a:r>
            <a:r>
              <a:rPr lang="en-US" altLang="zh-CN" sz="2400" baseline="-25000" dirty="0"/>
              <a:t>22</a:t>
            </a:r>
            <a:r>
              <a:rPr lang="en-US" altLang="zh-CN" sz="2400" dirty="0"/>
              <a:t>+x</a:t>
            </a:r>
            <a:r>
              <a:rPr lang="en-US" altLang="zh-CN" sz="2400" baseline="-25000" dirty="0"/>
              <a:t>23</a:t>
            </a:r>
            <a:r>
              <a:rPr lang="en-US" altLang="zh-CN" sz="2400" dirty="0"/>
              <a:t>+x</a:t>
            </a:r>
            <a:r>
              <a:rPr lang="en-US" altLang="zh-CN" sz="2400" baseline="-25000" dirty="0"/>
              <a:t>24 </a:t>
            </a:r>
            <a:r>
              <a:rPr lang="en-US" altLang="zh-CN" sz="2400" dirty="0"/>
              <a:t>=1100</a:t>
            </a:r>
            <a:endParaRPr lang="zh-CN" altLang="en-US" sz="2400" dirty="0"/>
          </a:p>
        </p:txBody>
      </p:sp>
      <p:sp>
        <p:nvSpPr>
          <p:cNvPr id="20" name="矩形 19"/>
          <p:cNvSpPr/>
          <p:nvPr/>
        </p:nvSpPr>
        <p:spPr>
          <a:xfrm>
            <a:off x="4223793" y="3469651"/>
            <a:ext cx="2085827" cy="461665"/>
          </a:xfrm>
          <a:prstGeom prst="rect">
            <a:avLst/>
          </a:prstGeom>
        </p:spPr>
        <p:txBody>
          <a:bodyPr wrap="none">
            <a:spAutoFit/>
          </a:bodyPr>
          <a:lstStyle/>
          <a:p>
            <a:r>
              <a:rPr lang="zh-CN" altLang="en-US" sz="2400" dirty="0"/>
              <a:t> </a:t>
            </a:r>
            <a:r>
              <a:rPr lang="en-US" altLang="zh-CN" sz="2400" dirty="0"/>
              <a:t>x</a:t>
            </a:r>
            <a:r>
              <a:rPr lang="en-US" altLang="zh-CN" sz="2400" baseline="-25000" dirty="0"/>
              <a:t>11</a:t>
            </a:r>
            <a:r>
              <a:rPr lang="en-US" altLang="zh-CN" sz="2400" dirty="0"/>
              <a:t>+x</a:t>
            </a:r>
            <a:r>
              <a:rPr lang="en-US" altLang="zh-CN" sz="2400" baseline="-25000" dirty="0"/>
              <a:t>21 </a:t>
            </a:r>
            <a:r>
              <a:rPr lang="en-US" altLang="zh-CN" sz="2400" dirty="0"/>
              <a:t>=1700</a:t>
            </a:r>
            <a:endParaRPr lang="zh-CN" altLang="en-US" sz="2400" dirty="0"/>
          </a:p>
        </p:txBody>
      </p:sp>
      <p:sp>
        <p:nvSpPr>
          <p:cNvPr id="21" name="矩形 20"/>
          <p:cNvSpPr/>
          <p:nvPr/>
        </p:nvSpPr>
        <p:spPr>
          <a:xfrm>
            <a:off x="4223793" y="3901699"/>
            <a:ext cx="2000869" cy="461665"/>
          </a:xfrm>
          <a:prstGeom prst="rect">
            <a:avLst/>
          </a:prstGeom>
        </p:spPr>
        <p:txBody>
          <a:bodyPr wrap="none">
            <a:spAutoFit/>
          </a:bodyPr>
          <a:lstStyle/>
          <a:p>
            <a:r>
              <a:rPr lang="en-US" altLang="zh-CN" sz="2400" dirty="0"/>
              <a:t>x</a:t>
            </a:r>
            <a:r>
              <a:rPr lang="en-US" altLang="zh-CN" sz="2400" baseline="-25000" dirty="0"/>
              <a:t>12</a:t>
            </a:r>
            <a:r>
              <a:rPr lang="en-US" altLang="zh-CN" sz="2400" dirty="0"/>
              <a:t>+x</a:t>
            </a:r>
            <a:r>
              <a:rPr lang="en-US" altLang="zh-CN" sz="2400" baseline="-25000" dirty="0"/>
              <a:t>22 </a:t>
            </a:r>
            <a:r>
              <a:rPr lang="en-US" altLang="zh-CN" sz="2400" dirty="0"/>
              <a:t>=1100</a:t>
            </a:r>
            <a:endParaRPr lang="zh-CN" altLang="en-US" sz="2400" dirty="0"/>
          </a:p>
        </p:txBody>
      </p:sp>
      <p:sp>
        <p:nvSpPr>
          <p:cNvPr id="22" name="矩形 21"/>
          <p:cNvSpPr/>
          <p:nvPr/>
        </p:nvSpPr>
        <p:spPr>
          <a:xfrm>
            <a:off x="4223793" y="4333747"/>
            <a:ext cx="1838965" cy="461665"/>
          </a:xfrm>
          <a:prstGeom prst="rect">
            <a:avLst/>
          </a:prstGeom>
        </p:spPr>
        <p:txBody>
          <a:bodyPr wrap="none">
            <a:spAutoFit/>
          </a:bodyPr>
          <a:lstStyle/>
          <a:p>
            <a:r>
              <a:rPr lang="en-US" altLang="zh-CN" sz="2400" dirty="0"/>
              <a:t>x</a:t>
            </a:r>
            <a:r>
              <a:rPr lang="en-US" altLang="zh-CN" sz="2400" baseline="-25000" dirty="0"/>
              <a:t>13</a:t>
            </a:r>
            <a:r>
              <a:rPr lang="en-US" altLang="zh-CN" sz="2400" dirty="0"/>
              <a:t>+x</a:t>
            </a:r>
            <a:r>
              <a:rPr lang="en-US" altLang="zh-CN" sz="2400" baseline="-25000" dirty="0"/>
              <a:t>23 </a:t>
            </a:r>
            <a:r>
              <a:rPr lang="en-US" altLang="zh-CN" sz="2400" dirty="0"/>
              <a:t>=200</a:t>
            </a:r>
            <a:endParaRPr lang="zh-CN" altLang="en-US" sz="2400" dirty="0"/>
          </a:p>
        </p:txBody>
      </p:sp>
      <p:sp>
        <p:nvSpPr>
          <p:cNvPr id="23" name="矩形 22"/>
          <p:cNvSpPr/>
          <p:nvPr/>
        </p:nvSpPr>
        <p:spPr>
          <a:xfrm>
            <a:off x="4223793" y="4837803"/>
            <a:ext cx="1838965" cy="461665"/>
          </a:xfrm>
          <a:prstGeom prst="rect">
            <a:avLst/>
          </a:prstGeom>
        </p:spPr>
        <p:txBody>
          <a:bodyPr wrap="none">
            <a:spAutoFit/>
          </a:bodyPr>
          <a:lstStyle/>
          <a:p>
            <a:r>
              <a:rPr lang="en-US" altLang="zh-CN" sz="2400" dirty="0"/>
              <a:t>x</a:t>
            </a:r>
            <a:r>
              <a:rPr lang="en-US" altLang="zh-CN" sz="2400" baseline="-25000" dirty="0"/>
              <a:t>14</a:t>
            </a:r>
            <a:r>
              <a:rPr lang="en-US" altLang="zh-CN" sz="2400" dirty="0"/>
              <a:t>+x</a:t>
            </a:r>
            <a:r>
              <a:rPr lang="en-US" altLang="zh-CN" sz="2400" baseline="-25000" dirty="0"/>
              <a:t>24 </a:t>
            </a:r>
            <a:r>
              <a:rPr lang="en-US" altLang="zh-CN" sz="2400" dirty="0"/>
              <a:t>=100</a:t>
            </a:r>
            <a:endParaRPr lang="zh-CN" altLang="en-US" sz="2400" dirty="0"/>
          </a:p>
        </p:txBody>
      </p:sp>
      <p:sp>
        <p:nvSpPr>
          <p:cNvPr id="24" name="矩形 23"/>
          <p:cNvSpPr/>
          <p:nvPr/>
        </p:nvSpPr>
        <p:spPr>
          <a:xfrm>
            <a:off x="4223793" y="5269851"/>
            <a:ext cx="3174267" cy="461665"/>
          </a:xfrm>
          <a:prstGeom prst="rect">
            <a:avLst/>
          </a:prstGeom>
        </p:spPr>
        <p:txBody>
          <a:bodyPr wrap="none">
            <a:spAutoFit/>
          </a:bodyPr>
          <a:lstStyle/>
          <a:p>
            <a:r>
              <a:rPr lang="en-US" altLang="zh-CN" sz="2400" dirty="0"/>
              <a:t>x</a:t>
            </a:r>
            <a:r>
              <a:rPr lang="en-US" altLang="zh-CN" sz="2400" baseline="-25000" dirty="0"/>
              <a:t>ij</a:t>
            </a:r>
            <a:r>
              <a:rPr lang="en-US" altLang="zh-CN" sz="2400" dirty="0"/>
              <a:t>≥0(</a:t>
            </a:r>
            <a:r>
              <a:rPr lang="en-US" altLang="zh-CN" sz="2400" dirty="0" err="1"/>
              <a:t>i</a:t>
            </a:r>
            <a:r>
              <a:rPr lang="en-US" altLang="zh-CN" sz="2400" dirty="0"/>
              <a:t>= 1,2;j = 1,2,3,4)</a:t>
            </a:r>
            <a:endParaRPr lang="zh-CN" altLang="en-US" sz="2400" dirty="0"/>
          </a:p>
        </p:txBody>
      </p:sp>
      <p:sp>
        <p:nvSpPr>
          <p:cNvPr id="25" name="左大括号 24"/>
          <p:cNvSpPr/>
          <p:nvPr/>
        </p:nvSpPr>
        <p:spPr bwMode="auto">
          <a:xfrm>
            <a:off x="3431704" y="2564904"/>
            <a:ext cx="576064" cy="2952328"/>
          </a:xfrm>
          <a:prstGeom prst="leftBrace">
            <a:avLst>
              <a:gd name="adj1" fmla="val 78881"/>
              <a:gd name="adj2" fmla="val 50000"/>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6" name="TextBox 25"/>
          <p:cNvSpPr txBox="1"/>
          <p:nvPr/>
        </p:nvSpPr>
        <p:spPr>
          <a:xfrm>
            <a:off x="2495600" y="3717033"/>
            <a:ext cx="936104" cy="461665"/>
          </a:xfrm>
          <a:prstGeom prst="rect">
            <a:avLst/>
          </a:prstGeom>
          <a:noFill/>
        </p:spPr>
        <p:txBody>
          <a:bodyPr wrap="square" rtlCol="0">
            <a:spAutoFit/>
          </a:bodyPr>
          <a:lstStyle/>
          <a:p>
            <a:pPr algn="r"/>
            <a:r>
              <a:rPr lang="en-US" altLang="zh-CN" sz="2400" dirty="0" err="1"/>
              <a:t>s.t.</a:t>
            </a:r>
            <a:endParaRPr lang="zh-CN" altLang="en-US" sz="2400" dirty="0"/>
          </a:p>
        </p:txBody>
      </p:sp>
      <p:sp>
        <p:nvSpPr>
          <p:cNvPr id="14" name="文本框 13"/>
          <p:cNvSpPr txBox="1"/>
          <p:nvPr/>
        </p:nvSpPr>
        <p:spPr>
          <a:xfrm>
            <a:off x="3431704" y="5903114"/>
            <a:ext cx="5961115" cy="461665"/>
          </a:xfrm>
          <a:prstGeom prst="rect">
            <a:avLst/>
          </a:prstGeom>
          <a:noFill/>
        </p:spPr>
        <p:txBody>
          <a:bodyPr wrap="square" rtlCol="0">
            <a:spAutoFit/>
          </a:bodyPr>
          <a:lstStyle/>
          <a:p>
            <a:pPr algn="ctr"/>
            <a:r>
              <a:rPr lang="zh-CN" altLang="en-US" sz="2400" dirty="0"/>
              <a:t>数学模型</a:t>
            </a:r>
            <a:r>
              <a:rPr lang="en-US" altLang="zh-CN" sz="2400" dirty="0"/>
              <a:t>7</a:t>
            </a:r>
            <a:r>
              <a:rPr lang="zh-CN" altLang="en-US" sz="2400" dirty="0"/>
              <a:t>：运输问题的数学表达</a:t>
            </a:r>
            <a:endParaRPr lang="zh-CN"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64300" y="1229076"/>
            <a:ext cx="9057115" cy="2800767"/>
          </a:xfrm>
          <a:prstGeom prst="rect">
            <a:avLst/>
          </a:prstGeom>
          <a:noFill/>
        </p:spPr>
        <p:txBody>
          <a:bodyPr wrap="square" rtlCol="0">
            <a:spAutoFit/>
          </a:bodyPr>
          <a:lstStyle/>
          <a:p>
            <a:pPr algn="ctr"/>
            <a:r>
              <a:rPr lang="zh-CN" altLang="en-US" sz="4400" dirty="0">
                <a:latin typeface="楷体" panose="02010609060101010101" pitchFamily="49" charset="-122"/>
                <a:ea typeface="楷体" panose="02010609060101010101" pitchFamily="49" charset="-122"/>
              </a:rPr>
              <a:t>接下来，抽象总结：将上述这些具体的线性规划问题的数学表达进行整理，试着推出一般性的线性规划数学建模的基本特征和一般形式。</a:t>
            </a:r>
            <a:endParaRPr lang="en-US" altLang="zh-CN" sz="4400" dirty="0">
              <a:latin typeface="楷体" panose="02010609060101010101" pitchFamily="49" charset="-122"/>
              <a:ea typeface="楷体" panose="02010609060101010101" pitchFamily="49" charset="-122"/>
            </a:endParaRPr>
          </a:p>
        </p:txBody>
      </p:sp>
      <p:sp>
        <p:nvSpPr>
          <p:cNvPr id="3" name="箭头: 下 2"/>
          <p:cNvSpPr/>
          <p:nvPr/>
        </p:nvSpPr>
        <p:spPr>
          <a:xfrm>
            <a:off x="5187885" y="4969504"/>
            <a:ext cx="1809946" cy="37707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359228" y="2203554"/>
                <a:ext cx="11473543" cy="4420506"/>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归纳，得到线性规划模型的基本特征：</a:t>
                </a:r>
                <a:endParaRPr lang="en-US" altLang="zh-CN" sz="2800" dirty="0">
                  <a:latin typeface="楷体" panose="02010609060101010101" pitchFamily="49" charset="-122"/>
                  <a:ea typeface="楷体" panose="02010609060101010101" pitchFamily="49" charset="-122"/>
                </a:endParaRPr>
              </a:p>
              <a:p>
                <a:endParaRPr lang="en-US" altLang="zh-CN" sz="9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，每一个问题都用一组决策变量</a:t>
                </a:r>
                <a14:m>
                  <m:oMath xmlns:m="http://schemas.openxmlformats.org/officeDocument/2006/math">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2</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𝑛</m:t>
                        </m:r>
                      </m:sub>
                    </m:sSub>
                    <m:r>
                      <a:rPr lang="en-US" altLang="zh-CN" sz="2800" b="0" i="1" smtClean="0">
                        <a:latin typeface="Cambria Math" panose="02040503050406030204" pitchFamily="18" charset="0"/>
                      </a:rPr>
                      <m:t>)</m:t>
                    </m:r>
                  </m:oMath>
                </a14:m>
                <a:r>
                  <a:rPr lang="zh-CN" altLang="en-US" sz="2800" dirty="0">
                    <a:latin typeface="楷体" panose="02010609060101010101" pitchFamily="49" charset="-122"/>
                    <a:ea typeface="楷体" panose="02010609060101010101" pitchFamily="49" charset="-122"/>
                  </a:rPr>
                  <a:t>来表示某一方案；其值代表一个具体的方案，一般这些变量的取值是非负的，即</a:t>
                </a:r>
                <a:endParaRPr lang="en-US" altLang="zh-CN" sz="2800" dirty="0">
                  <a:latin typeface="楷体" panose="02010609060101010101" pitchFamily="49" charset="-122"/>
                  <a:ea typeface="楷体" panose="02010609060101010101" pitchFamily="49" charset="-122"/>
                </a:endParaRPr>
              </a:p>
              <a:p>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𝑗</m:t>
                          </m:r>
                        </m:sub>
                      </m:sSub>
                      <m:r>
                        <a:rPr lang="en-US" altLang="zh-CN" sz="280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0</m:t>
                      </m:r>
                      <m:r>
                        <a:rPr lang="en-US" altLang="zh-CN" sz="2800" b="0" i="1" smtClean="0">
                          <a:latin typeface="Cambria Math" panose="02040503050406030204" pitchFamily="18" charset="0"/>
                          <a:ea typeface="Cambria Math" panose="02040503050406030204" pitchFamily="18" charset="0"/>
                        </a:rPr>
                        <m:t> </m:t>
                      </m:r>
                      <m:d>
                        <m:dPr>
                          <m:ctrlPr>
                            <a:rPr lang="en-US" altLang="zh-CN" sz="2800" b="0" i="1" smtClean="0">
                              <a:latin typeface="Cambria Math" panose="02040503050406030204" pitchFamily="18" charset="0"/>
                              <a:ea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𝑗</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1</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2</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𝑛</m:t>
                          </m:r>
                        </m:e>
                      </m:d>
                      <m:r>
                        <a:rPr lang="en-US" altLang="zh-CN" sz="2800" b="0" i="1" smtClean="0">
                          <a:latin typeface="Cambria Math" panose="02040503050406030204" pitchFamily="18" charset="0"/>
                          <a:ea typeface="Cambria Math" panose="02040503050406030204" pitchFamily="18" charset="0"/>
                        </a:rPr>
                        <m:t>.</m:t>
                      </m:r>
                    </m:oMath>
                  </m:oMathPara>
                </a14:m>
                <a:endParaRPr lang="en-US" altLang="zh-CN" sz="2800" dirty="0">
                  <a:latin typeface="楷体" panose="02010609060101010101" pitchFamily="49" charset="-122"/>
                  <a:ea typeface="楷体" panose="02010609060101010101" pitchFamily="49" charset="-122"/>
                </a:endParaRPr>
              </a:p>
              <a:p>
                <a:endParaRPr lang="en-US" altLang="zh-CN" sz="9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，每个问题都存在一组约束条件，这些约束条件可以用一组线性等式或不等式来表示。</a:t>
                </a:r>
                <a:endParaRPr lang="en-US" altLang="zh-CN" sz="2800" dirty="0">
                  <a:latin typeface="楷体" panose="02010609060101010101" pitchFamily="49" charset="-122"/>
                  <a:ea typeface="楷体" panose="02010609060101010101" pitchFamily="49" charset="-122"/>
                </a:endParaRPr>
              </a:p>
              <a:p>
                <a:endParaRPr lang="en-US" altLang="zh-CN" sz="9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3</a:t>
                </a:r>
                <a:r>
                  <a:rPr lang="zh-CN" altLang="en-US" sz="2800" dirty="0">
                    <a:latin typeface="楷体" panose="02010609060101010101" pitchFamily="49" charset="-122"/>
                    <a:ea typeface="楷体" panose="02010609060101010101" pitchFamily="49" charset="-122"/>
                  </a:rPr>
                  <a:t>，每个问题都有一个明确的目标，此目标是以一组决策变量</a:t>
                </a:r>
                <a14:m>
                  <m:oMath xmlns:m="http://schemas.openxmlformats.org/officeDocument/2006/math">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2</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𝑛</m:t>
                        </m:r>
                      </m:sub>
                    </m:sSub>
                    <m:r>
                      <a:rPr lang="en-US" altLang="zh-CN" sz="2800" b="0" i="1" smtClean="0">
                        <a:latin typeface="Cambria Math" panose="02040503050406030204" pitchFamily="18" charset="0"/>
                      </a:rPr>
                      <m:t>)</m:t>
                    </m:r>
                  </m:oMath>
                </a14:m>
                <a:r>
                  <a:rPr lang="zh-CN" altLang="en-US" sz="2800" dirty="0">
                    <a:latin typeface="楷体" panose="02010609060101010101" pitchFamily="49" charset="-122"/>
                    <a:ea typeface="楷体" panose="02010609060101010101" pitchFamily="49" charset="-122"/>
                  </a:rPr>
                  <a:t>的线性函数来表示。按问题的不同，可以使目标函数达到极大值，也可以使其达到极小值。</a:t>
                </a:r>
                <a:endParaRPr lang="zh-CN" altLang="en-US" sz="2800" dirty="0">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359228" y="2203554"/>
                <a:ext cx="11473543" cy="4420506"/>
              </a:xfrm>
              <a:prstGeom prst="rect">
                <a:avLst/>
              </a:prstGeom>
              <a:blipFill rotWithShape="1">
                <a:blip r:embed="rId1"/>
                <a:stretch>
                  <a:fillRect l="-4" t="-2" r="2" b="-2175"/>
                </a:stretch>
              </a:blipFill>
            </p:spPr>
            <p:txBody>
              <a:bodyPr/>
              <a:lstStyle/>
              <a:p>
                <a:r>
                  <a:rPr lang="zh-CN" altLang="en-US">
                    <a:noFill/>
                  </a:rPr>
                  <a:t> </a:t>
                </a:r>
              </a:p>
            </p:txBody>
          </p:sp>
        </mc:Fallback>
      </mc:AlternateContent>
      <p:grpSp>
        <p:nvGrpSpPr>
          <p:cNvPr id="11" name="组合 10"/>
          <p:cNvGrpSpPr/>
          <p:nvPr/>
        </p:nvGrpSpPr>
        <p:grpSpPr>
          <a:xfrm>
            <a:off x="174748" y="531957"/>
            <a:ext cx="11842501" cy="1647721"/>
            <a:chOff x="151515" y="5083257"/>
            <a:chExt cx="11842501" cy="1647721"/>
          </a:xfrm>
        </p:grpSpPr>
        <p:pic>
          <p:nvPicPr>
            <p:cNvPr id="4" name="图片 3"/>
            <p:cNvPicPr>
              <a:picLocks noChangeAspect="1"/>
            </p:cNvPicPr>
            <p:nvPr/>
          </p:nvPicPr>
          <p:blipFill>
            <a:blip r:embed="rId2"/>
            <a:stretch>
              <a:fillRect/>
            </a:stretch>
          </p:blipFill>
          <p:spPr>
            <a:xfrm>
              <a:off x="9111343" y="5083257"/>
              <a:ext cx="2882673" cy="1647721"/>
            </a:xfrm>
            <a:prstGeom prst="rect">
              <a:avLst/>
            </a:prstGeom>
          </p:spPr>
        </p:pic>
        <p:pic>
          <p:nvPicPr>
            <p:cNvPr id="6" name="图片 5"/>
            <p:cNvPicPr>
              <a:picLocks noChangeAspect="1"/>
            </p:cNvPicPr>
            <p:nvPr/>
          </p:nvPicPr>
          <p:blipFill>
            <a:blip r:embed="rId3"/>
            <a:stretch>
              <a:fillRect/>
            </a:stretch>
          </p:blipFill>
          <p:spPr>
            <a:xfrm>
              <a:off x="5374036" y="5083257"/>
              <a:ext cx="3504519" cy="1482858"/>
            </a:xfrm>
            <a:prstGeom prst="rect">
              <a:avLst/>
            </a:prstGeom>
          </p:spPr>
        </p:pic>
        <p:pic>
          <p:nvPicPr>
            <p:cNvPr id="8" name="图片 7"/>
            <p:cNvPicPr>
              <a:picLocks noChangeAspect="1"/>
            </p:cNvPicPr>
            <p:nvPr/>
          </p:nvPicPr>
          <p:blipFill>
            <a:blip r:embed="rId4"/>
            <a:stretch>
              <a:fillRect/>
            </a:stretch>
          </p:blipFill>
          <p:spPr>
            <a:xfrm>
              <a:off x="2856449" y="5083257"/>
              <a:ext cx="2284799" cy="1490999"/>
            </a:xfrm>
            <a:prstGeom prst="rect">
              <a:avLst/>
            </a:prstGeom>
          </p:spPr>
        </p:pic>
        <p:pic>
          <p:nvPicPr>
            <p:cNvPr id="10" name="图片 9"/>
            <p:cNvPicPr>
              <a:picLocks noChangeAspect="1"/>
            </p:cNvPicPr>
            <p:nvPr/>
          </p:nvPicPr>
          <p:blipFill>
            <a:blip r:embed="rId5"/>
            <a:stretch>
              <a:fillRect/>
            </a:stretch>
          </p:blipFill>
          <p:spPr>
            <a:xfrm>
              <a:off x="151515" y="5083257"/>
              <a:ext cx="2472146" cy="1342551"/>
            </a:xfrm>
            <a:prstGeom prst="rect">
              <a:avLst/>
            </a:prstGeom>
          </p:spPr>
        </p:pic>
      </p:grpSp>
      <p:sp>
        <p:nvSpPr>
          <p:cNvPr id="3" name="文本框 2"/>
          <p:cNvSpPr txBox="1"/>
          <p:nvPr/>
        </p:nvSpPr>
        <p:spPr>
          <a:xfrm>
            <a:off x="158620" y="-15736"/>
            <a:ext cx="11858629"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观察：</a:t>
            </a:r>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998193" y="1371499"/>
            <a:ext cx="8320582" cy="3984372"/>
            <a:chOff x="2051720" y="2323176"/>
            <a:chExt cx="5132165" cy="3984372"/>
          </a:xfrm>
        </p:grpSpPr>
        <p:grpSp>
          <p:nvGrpSpPr>
            <p:cNvPr id="3" name="组合 15"/>
            <p:cNvGrpSpPr/>
            <p:nvPr/>
          </p:nvGrpSpPr>
          <p:grpSpPr>
            <a:xfrm>
              <a:off x="2051720" y="3212976"/>
              <a:ext cx="5132165" cy="3094572"/>
              <a:chOff x="2411760" y="3212976"/>
              <a:chExt cx="5132165" cy="3094572"/>
            </a:xfrm>
          </p:grpSpPr>
          <p:grpSp>
            <p:nvGrpSpPr>
              <p:cNvPr id="5" name="组合 12"/>
              <p:cNvGrpSpPr/>
              <p:nvPr/>
            </p:nvGrpSpPr>
            <p:grpSpPr>
              <a:xfrm>
                <a:off x="2411760" y="3573016"/>
                <a:ext cx="1080120" cy="2407860"/>
                <a:chOff x="899592" y="3933056"/>
                <a:chExt cx="1080120" cy="1646574"/>
              </a:xfrm>
            </p:grpSpPr>
            <p:sp>
              <p:nvSpPr>
                <p:cNvPr id="11" name="矩形 10"/>
                <p:cNvSpPr/>
                <p:nvPr/>
              </p:nvSpPr>
              <p:spPr>
                <a:xfrm>
                  <a:off x="899592" y="4553179"/>
                  <a:ext cx="648072" cy="371827"/>
                </a:xfrm>
                <a:prstGeom prst="rect">
                  <a:avLst/>
                </a:prstGeom>
              </p:spPr>
              <p:txBody>
                <a:bodyPr wrap="square">
                  <a:spAutoFit/>
                </a:bodyPr>
                <a:lstStyle/>
                <a:p>
                  <a:pPr marL="342900" lvl="0" indent="-342900" algn="r" fontAlgn="base">
                    <a:lnSpc>
                      <a:spcPct val="110000"/>
                    </a:lnSpc>
                    <a:spcBef>
                      <a:spcPts val="1800"/>
                    </a:spcBef>
                    <a:spcAft>
                      <a:spcPct val="0"/>
                    </a:spcAft>
                  </a:pPr>
                  <a:r>
                    <a:rPr lang="en-US" altLang="zh-CN" sz="2800" dirty="0" err="1">
                      <a:solidFill>
                        <a:srgbClr val="060606"/>
                      </a:solidFill>
                    </a:rPr>
                    <a:t>s.t.</a:t>
                  </a:r>
                  <a:endParaRPr lang="en-US" altLang="zh-CN" sz="2800" dirty="0">
                    <a:solidFill>
                      <a:srgbClr val="060606"/>
                    </a:solidFill>
                  </a:endParaRPr>
                </a:p>
              </p:txBody>
            </p:sp>
            <p:sp>
              <p:nvSpPr>
                <p:cNvPr id="12" name="左大括号 11"/>
                <p:cNvSpPr/>
                <p:nvPr/>
              </p:nvSpPr>
              <p:spPr bwMode="auto">
                <a:xfrm>
                  <a:off x="1547664" y="3933056"/>
                  <a:ext cx="432048" cy="1646574"/>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endParaRPr kumimoji="0" lang="zh-CN" altLang="en-US" sz="2800" b="0" i="0" u="none" strike="noStrike" cap="none" normalizeH="0" baseline="0">
                    <a:ln>
                      <a:noFill/>
                    </a:ln>
                    <a:solidFill>
                      <a:schemeClr val="tx1"/>
                    </a:solidFill>
                    <a:effectLst/>
                    <a:latin typeface="Arial" panose="020B0604020202090204" pitchFamily="34" charset="0"/>
                    <a:ea typeface="宋体" panose="02010600030101010101" pitchFamily="2" charset="-122"/>
                  </a:endParaRPr>
                </a:p>
              </p:txBody>
            </p:sp>
          </p:grpSp>
          <p:sp>
            <p:nvSpPr>
              <p:cNvPr id="6" name="矩形 5"/>
              <p:cNvSpPr/>
              <p:nvPr/>
            </p:nvSpPr>
            <p:spPr>
              <a:xfrm>
                <a:off x="3532016" y="3212976"/>
                <a:ext cx="3776288" cy="523220"/>
              </a:xfrm>
              <a:prstGeom prst="rect">
                <a:avLst/>
              </a:prstGeom>
            </p:spPr>
            <p:txBody>
              <a:bodyPr wrap="square">
                <a:spAutoFit/>
              </a:bodyPr>
              <a:lstStyle/>
              <a:p>
                <a:r>
                  <a:rPr lang="en-US" altLang="zh-CN" sz="2800" dirty="0">
                    <a:solidFill>
                      <a:srgbClr val="060606"/>
                    </a:solidFill>
                  </a:rPr>
                  <a:t>a</a:t>
                </a:r>
                <a:r>
                  <a:rPr lang="en-US" altLang="zh-CN" sz="2800" baseline="-25000" dirty="0">
                    <a:solidFill>
                      <a:srgbClr val="060606"/>
                    </a:solidFill>
                  </a:rPr>
                  <a:t>11</a:t>
                </a:r>
                <a:r>
                  <a:rPr lang="en-US" altLang="zh-CN" sz="2800" dirty="0">
                    <a:solidFill>
                      <a:srgbClr val="060606"/>
                    </a:solidFill>
                  </a:rPr>
                  <a:t>x</a:t>
                </a:r>
                <a:r>
                  <a:rPr lang="en-US" altLang="zh-CN" sz="2800" baseline="-25000" dirty="0">
                    <a:solidFill>
                      <a:srgbClr val="060606"/>
                    </a:solidFill>
                  </a:rPr>
                  <a:t>1</a:t>
                </a:r>
                <a:r>
                  <a:rPr lang="en-US" altLang="zh-CN" sz="2800" dirty="0">
                    <a:solidFill>
                      <a:srgbClr val="060606"/>
                    </a:solidFill>
                  </a:rPr>
                  <a:t>+ a</a:t>
                </a:r>
                <a:r>
                  <a:rPr lang="en-US" altLang="zh-CN" sz="2800" baseline="-25000" dirty="0">
                    <a:solidFill>
                      <a:srgbClr val="060606"/>
                    </a:solidFill>
                  </a:rPr>
                  <a:t>12</a:t>
                </a:r>
                <a:r>
                  <a:rPr lang="en-US" altLang="zh-CN" sz="2800" dirty="0">
                    <a:solidFill>
                      <a:srgbClr val="060606"/>
                    </a:solidFill>
                  </a:rPr>
                  <a:t>X</a:t>
                </a:r>
                <a:r>
                  <a:rPr lang="en-US" altLang="zh-CN" sz="2800" baseline="-25000" dirty="0">
                    <a:solidFill>
                      <a:srgbClr val="060606"/>
                    </a:solidFill>
                  </a:rPr>
                  <a:t>2</a:t>
                </a:r>
                <a:r>
                  <a:rPr lang="en-US" altLang="zh-CN" sz="2800" dirty="0">
                    <a:solidFill>
                      <a:srgbClr val="060606"/>
                    </a:solidFill>
                  </a:rPr>
                  <a:t> +…a</a:t>
                </a:r>
                <a:r>
                  <a:rPr lang="en-US" altLang="zh-CN" sz="2800" baseline="-25000" dirty="0">
                    <a:solidFill>
                      <a:srgbClr val="060606"/>
                    </a:solidFill>
                  </a:rPr>
                  <a:t>1n</a:t>
                </a:r>
                <a:r>
                  <a:rPr lang="en-US" altLang="zh-CN" sz="2800" dirty="0">
                    <a:solidFill>
                      <a:srgbClr val="060606"/>
                    </a:solidFill>
                  </a:rPr>
                  <a:t>X</a:t>
                </a:r>
                <a:r>
                  <a:rPr lang="en-US" altLang="zh-CN" sz="2800" baseline="-25000" dirty="0">
                    <a:solidFill>
                      <a:srgbClr val="060606"/>
                    </a:solidFill>
                  </a:rPr>
                  <a:t>n </a:t>
                </a:r>
                <a:r>
                  <a:rPr lang="en-US" altLang="zh-CN" sz="2800" dirty="0">
                    <a:solidFill>
                      <a:srgbClr val="060606"/>
                    </a:solidFill>
                  </a:rPr>
                  <a:t>≤ (=</a:t>
                </a:r>
                <a:r>
                  <a:rPr lang="zh-CN" altLang="en-US" sz="2800" dirty="0">
                    <a:solidFill>
                      <a:srgbClr val="060606"/>
                    </a:solidFill>
                  </a:rPr>
                  <a:t>，≥</a:t>
                </a:r>
                <a:r>
                  <a:rPr lang="en-US" altLang="zh-CN" sz="2800" dirty="0">
                    <a:solidFill>
                      <a:srgbClr val="060606"/>
                    </a:solidFill>
                  </a:rPr>
                  <a:t>) b</a:t>
                </a:r>
                <a:r>
                  <a:rPr lang="en-US" altLang="zh-CN" sz="2800" baseline="-25000" dirty="0">
                    <a:solidFill>
                      <a:srgbClr val="060606"/>
                    </a:solidFill>
                  </a:rPr>
                  <a:t>1</a:t>
                </a:r>
                <a:r>
                  <a:rPr lang="en-US" altLang="zh-CN" sz="2800" dirty="0">
                    <a:solidFill>
                      <a:srgbClr val="060606"/>
                    </a:solidFill>
                  </a:rPr>
                  <a:t> </a:t>
                </a:r>
                <a:endParaRPr lang="zh-CN" altLang="en-US" sz="2800" dirty="0"/>
              </a:p>
            </p:txBody>
          </p:sp>
          <p:sp>
            <p:nvSpPr>
              <p:cNvPr id="7" name="矩形 6"/>
              <p:cNvSpPr/>
              <p:nvPr/>
            </p:nvSpPr>
            <p:spPr>
              <a:xfrm>
                <a:off x="3532016" y="4959084"/>
                <a:ext cx="3848296" cy="523220"/>
              </a:xfrm>
              <a:prstGeom prst="rect">
                <a:avLst/>
              </a:prstGeom>
            </p:spPr>
            <p:txBody>
              <a:bodyPr wrap="square">
                <a:spAutoFit/>
              </a:bodyPr>
              <a:lstStyle/>
              <a:p>
                <a:r>
                  <a:rPr lang="en-US" altLang="zh-CN" sz="2800" dirty="0">
                    <a:solidFill>
                      <a:srgbClr val="060606"/>
                    </a:solidFill>
                  </a:rPr>
                  <a:t>a</a:t>
                </a:r>
                <a:r>
                  <a:rPr lang="en-US" altLang="zh-CN" sz="2800" baseline="-25000" dirty="0">
                    <a:solidFill>
                      <a:srgbClr val="060606"/>
                    </a:solidFill>
                  </a:rPr>
                  <a:t>m1</a:t>
                </a:r>
                <a:r>
                  <a:rPr lang="en-US" altLang="zh-CN" sz="2800" dirty="0">
                    <a:solidFill>
                      <a:srgbClr val="060606"/>
                    </a:solidFill>
                  </a:rPr>
                  <a:t>x</a:t>
                </a:r>
                <a:r>
                  <a:rPr lang="en-US" altLang="zh-CN" sz="2800" baseline="-25000" dirty="0">
                    <a:solidFill>
                      <a:srgbClr val="060606"/>
                    </a:solidFill>
                  </a:rPr>
                  <a:t>1</a:t>
                </a:r>
                <a:r>
                  <a:rPr lang="en-US" altLang="zh-CN" sz="2800" dirty="0">
                    <a:solidFill>
                      <a:srgbClr val="060606"/>
                    </a:solidFill>
                  </a:rPr>
                  <a:t>+ a</a:t>
                </a:r>
                <a:r>
                  <a:rPr lang="en-US" altLang="zh-CN" sz="2800" baseline="-25000" dirty="0">
                    <a:solidFill>
                      <a:srgbClr val="060606"/>
                    </a:solidFill>
                  </a:rPr>
                  <a:t>m2</a:t>
                </a:r>
                <a:r>
                  <a:rPr lang="en-US" altLang="zh-CN" sz="2800" dirty="0">
                    <a:solidFill>
                      <a:srgbClr val="060606"/>
                    </a:solidFill>
                  </a:rPr>
                  <a:t>X</a:t>
                </a:r>
                <a:r>
                  <a:rPr lang="en-US" altLang="zh-CN" sz="2800" baseline="-25000" dirty="0">
                    <a:solidFill>
                      <a:srgbClr val="060606"/>
                    </a:solidFill>
                  </a:rPr>
                  <a:t>2</a:t>
                </a:r>
                <a:r>
                  <a:rPr lang="en-US" altLang="zh-CN" sz="2800" dirty="0">
                    <a:solidFill>
                      <a:srgbClr val="060606"/>
                    </a:solidFill>
                  </a:rPr>
                  <a:t> +…</a:t>
                </a:r>
                <a:r>
                  <a:rPr lang="en-US" altLang="zh-CN" sz="2800" dirty="0" err="1">
                    <a:solidFill>
                      <a:srgbClr val="060606"/>
                    </a:solidFill>
                  </a:rPr>
                  <a:t>a</a:t>
                </a:r>
                <a:r>
                  <a:rPr lang="en-US" altLang="zh-CN" sz="2800" baseline="-25000" dirty="0" err="1">
                    <a:solidFill>
                      <a:srgbClr val="060606"/>
                    </a:solidFill>
                  </a:rPr>
                  <a:t>mn</a:t>
                </a:r>
                <a:r>
                  <a:rPr lang="en-US" altLang="zh-CN" sz="2800" dirty="0" err="1">
                    <a:solidFill>
                      <a:srgbClr val="060606"/>
                    </a:solidFill>
                  </a:rPr>
                  <a:t>X</a:t>
                </a:r>
                <a:r>
                  <a:rPr lang="en-US" altLang="zh-CN" sz="2800" baseline="-25000" dirty="0" err="1">
                    <a:solidFill>
                      <a:srgbClr val="060606"/>
                    </a:solidFill>
                  </a:rPr>
                  <a:t>n</a:t>
                </a:r>
                <a:r>
                  <a:rPr lang="en-US" altLang="zh-CN" sz="2800" baseline="-25000" dirty="0">
                    <a:solidFill>
                      <a:srgbClr val="060606"/>
                    </a:solidFill>
                  </a:rPr>
                  <a:t> </a:t>
                </a:r>
                <a:r>
                  <a:rPr lang="en-US" altLang="zh-CN" sz="2800" dirty="0">
                    <a:solidFill>
                      <a:srgbClr val="060606"/>
                    </a:solidFill>
                  </a:rPr>
                  <a:t>≤(=</a:t>
                </a:r>
                <a:r>
                  <a:rPr lang="zh-CN" altLang="en-US" sz="2800" dirty="0">
                    <a:solidFill>
                      <a:srgbClr val="060606"/>
                    </a:solidFill>
                  </a:rPr>
                  <a:t>，≥</a:t>
                </a:r>
                <a:r>
                  <a:rPr lang="en-US" altLang="zh-CN" sz="2800" dirty="0">
                    <a:solidFill>
                      <a:srgbClr val="060606"/>
                    </a:solidFill>
                  </a:rPr>
                  <a:t>)b</a:t>
                </a:r>
                <a:r>
                  <a:rPr lang="en-US" altLang="zh-CN" sz="2800" baseline="-25000" dirty="0">
                    <a:solidFill>
                      <a:srgbClr val="060606"/>
                    </a:solidFill>
                  </a:rPr>
                  <a:t>m</a:t>
                </a:r>
                <a:r>
                  <a:rPr lang="en-US" altLang="zh-CN" sz="2800" dirty="0">
                    <a:solidFill>
                      <a:srgbClr val="060606"/>
                    </a:solidFill>
                  </a:rPr>
                  <a:t> </a:t>
                </a:r>
                <a:endParaRPr lang="zh-CN" altLang="en-US" sz="2800" dirty="0"/>
              </a:p>
            </p:txBody>
          </p:sp>
          <p:sp>
            <p:nvSpPr>
              <p:cNvPr id="8" name="矩形 7"/>
              <p:cNvSpPr/>
              <p:nvPr/>
            </p:nvSpPr>
            <p:spPr>
              <a:xfrm>
                <a:off x="3532016" y="3986802"/>
                <a:ext cx="3704280" cy="523220"/>
              </a:xfrm>
              <a:prstGeom prst="rect">
                <a:avLst/>
              </a:prstGeom>
            </p:spPr>
            <p:txBody>
              <a:bodyPr wrap="square">
                <a:spAutoFit/>
              </a:bodyPr>
              <a:lstStyle/>
              <a:p>
                <a:r>
                  <a:rPr lang="en-US" altLang="zh-CN" sz="2800" dirty="0">
                    <a:solidFill>
                      <a:srgbClr val="060606"/>
                    </a:solidFill>
                  </a:rPr>
                  <a:t>a</a:t>
                </a:r>
                <a:r>
                  <a:rPr lang="en-US" altLang="zh-CN" sz="2800" baseline="-25000" dirty="0">
                    <a:solidFill>
                      <a:srgbClr val="060606"/>
                    </a:solidFill>
                  </a:rPr>
                  <a:t>21</a:t>
                </a:r>
                <a:r>
                  <a:rPr lang="en-US" altLang="zh-CN" sz="2800" dirty="0">
                    <a:solidFill>
                      <a:srgbClr val="060606"/>
                    </a:solidFill>
                  </a:rPr>
                  <a:t>x</a:t>
                </a:r>
                <a:r>
                  <a:rPr lang="en-US" altLang="zh-CN" sz="2800" baseline="-25000" dirty="0">
                    <a:solidFill>
                      <a:srgbClr val="060606"/>
                    </a:solidFill>
                  </a:rPr>
                  <a:t>1</a:t>
                </a:r>
                <a:r>
                  <a:rPr lang="en-US" altLang="zh-CN" sz="2800" dirty="0">
                    <a:solidFill>
                      <a:srgbClr val="060606"/>
                    </a:solidFill>
                  </a:rPr>
                  <a:t>+ a</a:t>
                </a:r>
                <a:r>
                  <a:rPr lang="en-US" altLang="zh-CN" sz="2800" baseline="-25000" dirty="0">
                    <a:solidFill>
                      <a:srgbClr val="060606"/>
                    </a:solidFill>
                  </a:rPr>
                  <a:t>22</a:t>
                </a:r>
                <a:r>
                  <a:rPr lang="en-US" altLang="zh-CN" sz="2800" dirty="0">
                    <a:solidFill>
                      <a:srgbClr val="060606"/>
                    </a:solidFill>
                  </a:rPr>
                  <a:t>X</a:t>
                </a:r>
                <a:r>
                  <a:rPr lang="en-US" altLang="zh-CN" sz="2800" baseline="-25000" dirty="0">
                    <a:solidFill>
                      <a:srgbClr val="060606"/>
                    </a:solidFill>
                  </a:rPr>
                  <a:t>2</a:t>
                </a:r>
                <a:r>
                  <a:rPr lang="en-US" altLang="zh-CN" sz="2800" dirty="0">
                    <a:solidFill>
                      <a:srgbClr val="060606"/>
                    </a:solidFill>
                  </a:rPr>
                  <a:t> +…a</a:t>
                </a:r>
                <a:r>
                  <a:rPr lang="en-US" altLang="zh-CN" sz="2800" baseline="-25000" dirty="0">
                    <a:solidFill>
                      <a:srgbClr val="060606"/>
                    </a:solidFill>
                  </a:rPr>
                  <a:t>2n</a:t>
                </a:r>
                <a:r>
                  <a:rPr lang="en-US" altLang="zh-CN" sz="2800" dirty="0">
                    <a:solidFill>
                      <a:srgbClr val="060606"/>
                    </a:solidFill>
                  </a:rPr>
                  <a:t>X</a:t>
                </a:r>
                <a:r>
                  <a:rPr lang="en-US" altLang="zh-CN" sz="2800" baseline="-25000" dirty="0">
                    <a:solidFill>
                      <a:srgbClr val="060606"/>
                    </a:solidFill>
                  </a:rPr>
                  <a:t>n </a:t>
                </a:r>
                <a:r>
                  <a:rPr lang="en-US" altLang="zh-CN" sz="2800" dirty="0">
                    <a:solidFill>
                      <a:srgbClr val="060606"/>
                    </a:solidFill>
                  </a:rPr>
                  <a:t>≤ (=</a:t>
                </a:r>
                <a:r>
                  <a:rPr lang="zh-CN" altLang="en-US" sz="2800" dirty="0">
                    <a:solidFill>
                      <a:srgbClr val="060606"/>
                    </a:solidFill>
                  </a:rPr>
                  <a:t>，≥</a:t>
                </a:r>
                <a:r>
                  <a:rPr lang="en-US" altLang="zh-CN" sz="2800" dirty="0">
                    <a:solidFill>
                      <a:srgbClr val="060606"/>
                    </a:solidFill>
                  </a:rPr>
                  <a:t>) b</a:t>
                </a:r>
                <a:r>
                  <a:rPr lang="en-US" altLang="zh-CN" sz="2800" baseline="-25000" dirty="0">
                    <a:solidFill>
                      <a:srgbClr val="060606"/>
                    </a:solidFill>
                  </a:rPr>
                  <a:t>2</a:t>
                </a:r>
                <a:r>
                  <a:rPr lang="en-US" altLang="zh-CN" sz="2800" dirty="0">
                    <a:solidFill>
                      <a:srgbClr val="060606"/>
                    </a:solidFill>
                  </a:rPr>
                  <a:t> </a:t>
                </a:r>
                <a:endParaRPr lang="zh-CN" altLang="en-US" sz="2800" dirty="0"/>
              </a:p>
            </p:txBody>
          </p:sp>
          <p:sp>
            <p:nvSpPr>
              <p:cNvPr id="9" name="矩形 8"/>
              <p:cNvSpPr/>
              <p:nvPr/>
            </p:nvSpPr>
            <p:spPr>
              <a:xfrm>
                <a:off x="3551613" y="5784328"/>
                <a:ext cx="3992312" cy="523220"/>
              </a:xfrm>
              <a:prstGeom prst="rect">
                <a:avLst/>
              </a:prstGeom>
            </p:spPr>
            <p:txBody>
              <a:bodyPr wrap="square">
                <a:spAutoFit/>
              </a:bodyPr>
              <a:lstStyle/>
              <a:p>
                <a:r>
                  <a:rPr lang="en-US" altLang="zh-CN" sz="2800" dirty="0">
                    <a:solidFill>
                      <a:srgbClr val="060606"/>
                    </a:solidFill>
                  </a:rPr>
                  <a:t>x</a:t>
                </a:r>
                <a:r>
                  <a:rPr lang="en-US" altLang="zh-CN" sz="2800" baseline="-25000" dirty="0">
                    <a:solidFill>
                      <a:srgbClr val="060606"/>
                    </a:solidFill>
                  </a:rPr>
                  <a:t>1</a:t>
                </a:r>
                <a:r>
                  <a:rPr lang="zh-CN" altLang="en-US" sz="2800" dirty="0">
                    <a:solidFill>
                      <a:srgbClr val="060606"/>
                    </a:solidFill>
                  </a:rPr>
                  <a:t>≥</a:t>
                </a:r>
                <a:r>
                  <a:rPr lang="en-US" altLang="zh-CN" sz="2800" dirty="0">
                    <a:solidFill>
                      <a:srgbClr val="060606"/>
                    </a:solidFill>
                  </a:rPr>
                  <a:t>0,x</a:t>
                </a:r>
                <a:r>
                  <a:rPr lang="en-US" altLang="zh-CN" sz="2800" baseline="-25000" dirty="0">
                    <a:solidFill>
                      <a:srgbClr val="060606"/>
                    </a:solidFill>
                  </a:rPr>
                  <a:t>2</a:t>
                </a:r>
                <a:r>
                  <a:rPr lang="zh-CN" altLang="en-US" sz="2800" dirty="0">
                    <a:solidFill>
                      <a:srgbClr val="060606"/>
                    </a:solidFill>
                  </a:rPr>
                  <a:t>≥</a:t>
                </a:r>
                <a:r>
                  <a:rPr lang="en-US" altLang="zh-CN" sz="2800" dirty="0">
                    <a:solidFill>
                      <a:srgbClr val="060606"/>
                    </a:solidFill>
                  </a:rPr>
                  <a:t>0,…, </a:t>
                </a:r>
                <a:r>
                  <a:rPr lang="en-US" altLang="zh-CN" sz="2800" dirty="0" err="1">
                    <a:solidFill>
                      <a:srgbClr val="060606"/>
                    </a:solidFill>
                  </a:rPr>
                  <a:t>x</a:t>
                </a:r>
                <a:r>
                  <a:rPr lang="en-US" altLang="zh-CN" sz="2800" baseline="-25000" dirty="0" err="1">
                    <a:solidFill>
                      <a:srgbClr val="060606"/>
                    </a:solidFill>
                  </a:rPr>
                  <a:t>n</a:t>
                </a:r>
                <a:r>
                  <a:rPr lang="zh-CN" altLang="en-US" sz="2800" dirty="0">
                    <a:solidFill>
                      <a:srgbClr val="060606"/>
                    </a:solidFill>
                  </a:rPr>
                  <a:t>≥</a:t>
                </a:r>
                <a:r>
                  <a:rPr lang="en-US" altLang="zh-CN" sz="2800" dirty="0">
                    <a:solidFill>
                      <a:srgbClr val="060606"/>
                    </a:solidFill>
                  </a:rPr>
                  <a:t>0</a:t>
                </a:r>
                <a:endParaRPr lang="zh-CN" altLang="en-US" sz="2800" dirty="0">
                  <a:solidFill>
                    <a:srgbClr val="060606"/>
                  </a:solidFill>
                </a:endParaRPr>
              </a:p>
            </p:txBody>
          </p:sp>
          <p:sp>
            <p:nvSpPr>
              <p:cNvPr id="10" name="矩形 9"/>
              <p:cNvSpPr/>
              <p:nvPr/>
            </p:nvSpPr>
            <p:spPr>
              <a:xfrm>
                <a:off x="3532016" y="4472943"/>
                <a:ext cx="2912192" cy="523220"/>
              </a:xfrm>
              <a:prstGeom prst="rect">
                <a:avLst/>
              </a:prstGeom>
            </p:spPr>
            <p:txBody>
              <a:bodyPr wrap="square">
                <a:spAutoFit/>
              </a:bodyPr>
              <a:lstStyle/>
              <a:p>
                <a:pPr algn="ctr"/>
                <a:r>
                  <a:rPr lang="en-US" altLang="zh-CN" sz="2800" dirty="0">
                    <a:solidFill>
                      <a:srgbClr val="060606"/>
                    </a:solidFill>
                  </a:rPr>
                  <a:t>…………</a:t>
                </a:r>
                <a:endParaRPr lang="zh-CN" altLang="en-US" sz="2800" dirty="0"/>
              </a:p>
            </p:txBody>
          </p:sp>
        </p:grpSp>
        <p:sp>
          <p:nvSpPr>
            <p:cNvPr id="4" name="矩形 3"/>
            <p:cNvSpPr/>
            <p:nvPr/>
          </p:nvSpPr>
          <p:spPr>
            <a:xfrm>
              <a:off x="2107791" y="2323176"/>
              <a:ext cx="5040560" cy="543739"/>
            </a:xfrm>
            <a:prstGeom prst="rect">
              <a:avLst/>
            </a:prstGeom>
          </p:spPr>
          <p:txBody>
            <a:bodyPr wrap="square">
              <a:spAutoFit/>
            </a:bodyPr>
            <a:lstStyle/>
            <a:p>
              <a:pPr marL="342900" lvl="0" indent="-342900" algn="ctr" fontAlgn="base">
                <a:lnSpc>
                  <a:spcPct val="110000"/>
                </a:lnSpc>
                <a:spcAft>
                  <a:spcPct val="0"/>
                </a:spcAft>
              </a:pPr>
              <a:r>
                <a:rPr lang="en-US" altLang="zh-CN" sz="2800" dirty="0">
                  <a:solidFill>
                    <a:srgbClr val="060606"/>
                  </a:solidFill>
                </a:rPr>
                <a:t>max(</a:t>
              </a:r>
              <a:r>
                <a:rPr lang="zh-CN" altLang="en-US" sz="2800" dirty="0">
                  <a:solidFill>
                    <a:srgbClr val="060606"/>
                  </a:solidFill>
                </a:rPr>
                <a:t>或</a:t>
              </a:r>
              <a:r>
                <a:rPr lang="en-US" altLang="zh-CN" sz="2800" dirty="0">
                  <a:solidFill>
                    <a:srgbClr val="060606"/>
                  </a:solidFill>
                </a:rPr>
                <a:t>min) z = c</a:t>
              </a:r>
              <a:r>
                <a:rPr lang="en-US" altLang="zh-CN" sz="2800" baseline="-25000" dirty="0">
                  <a:solidFill>
                    <a:srgbClr val="060606"/>
                  </a:solidFill>
                </a:rPr>
                <a:t>1</a:t>
              </a:r>
              <a:r>
                <a:rPr lang="en-US" altLang="zh-CN" sz="2800" dirty="0">
                  <a:solidFill>
                    <a:srgbClr val="060606"/>
                  </a:solidFill>
                </a:rPr>
                <a:t>x</a:t>
              </a:r>
              <a:r>
                <a:rPr lang="en-US" altLang="zh-CN" sz="2800" baseline="-25000" dirty="0">
                  <a:solidFill>
                    <a:srgbClr val="060606"/>
                  </a:solidFill>
                </a:rPr>
                <a:t>1</a:t>
              </a:r>
              <a:r>
                <a:rPr lang="en-US" altLang="zh-CN" sz="2800" dirty="0">
                  <a:solidFill>
                    <a:srgbClr val="060606"/>
                  </a:solidFill>
                </a:rPr>
                <a:t>+ c</a:t>
              </a:r>
              <a:r>
                <a:rPr lang="en-US" altLang="zh-CN" sz="2800" baseline="-25000" dirty="0">
                  <a:solidFill>
                    <a:srgbClr val="060606"/>
                  </a:solidFill>
                </a:rPr>
                <a:t>2</a:t>
              </a:r>
              <a:r>
                <a:rPr lang="en-US" altLang="zh-CN" sz="2800" dirty="0">
                  <a:solidFill>
                    <a:srgbClr val="060606"/>
                  </a:solidFill>
                </a:rPr>
                <a:t>x</a:t>
              </a:r>
              <a:r>
                <a:rPr lang="en-US" altLang="zh-CN" sz="2800" baseline="-25000" dirty="0">
                  <a:solidFill>
                    <a:srgbClr val="060606"/>
                  </a:solidFill>
                </a:rPr>
                <a:t>2</a:t>
              </a:r>
              <a:r>
                <a:rPr lang="en-US" altLang="zh-CN" sz="2800" dirty="0">
                  <a:solidFill>
                    <a:srgbClr val="060606"/>
                  </a:solidFill>
                </a:rPr>
                <a:t>+…+ </a:t>
              </a:r>
              <a:r>
                <a:rPr lang="en-US" altLang="zh-CN" sz="2800" dirty="0" err="1">
                  <a:solidFill>
                    <a:srgbClr val="060606"/>
                  </a:solidFill>
                </a:rPr>
                <a:t>c</a:t>
              </a:r>
              <a:r>
                <a:rPr lang="en-US" altLang="zh-CN" sz="2800" baseline="-25000" dirty="0" err="1">
                  <a:solidFill>
                    <a:srgbClr val="060606"/>
                  </a:solidFill>
                </a:rPr>
                <a:t>n</a:t>
              </a:r>
              <a:r>
                <a:rPr lang="en-US" altLang="zh-CN" sz="2800" dirty="0" err="1">
                  <a:solidFill>
                    <a:srgbClr val="060606"/>
                  </a:solidFill>
                </a:rPr>
                <a:t>x</a:t>
              </a:r>
              <a:r>
                <a:rPr lang="en-US" altLang="zh-CN" sz="2800" baseline="-25000" dirty="0" err="1">
                  <a:solidFill>
                    <a:srgbClr val="060606"/>
                  </a:solidFill>
                </a:rPr>
                <a:t>n</a:t>
              </a:r>
              <a:endParaRPr lang="en-US" altLang="zh-CN" sz="2800" dirty="0">
                <a:solidFill>
                  <a:srgbClr val="060606"/>
                </a:solidFill>
              </a:endParaRPr>
            </a:p>
          </p:txBody>
        </p:sp>
      </p:grpSp>
      <p:sp>
        <p:nvSpPr>
          <p:cNvPr id="13" name="文本框 12"/>
          <p:cNvSpPr txBox="1"/>
          <p:nvPr/>
        </p:nvSpPr>
        <p:spPr>
          <a:xfrm>
            <a:off x="416420" y="373674"/>
            <a:ext cx="10951029"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于是，得到线性规划模型的一般形式：</a:t>
            </a:r>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9395" y="1139453"/>
            <a:ext cx="10821879" cy="2800767"/>
          </a:xfrm>
          <a:prstGeom prst="rect">
            <a:avLst/>
          </a:prstGeom>
          <a:noFill/>
        </p:spPr>
        <p:txBody>
          <a:bodyPr wrap="square" rtlCol="0">
            <a:spAutoFit/>
          </a:bodyPr>
          <a:lstStyle/>
          <a:p>
            <a:pPr algn="ctr"/>
            <a:r>
              <a:rPr lang="zh-CN" altLang="en-US" sz="4400" dirty="0">
                <a:latin typeface="楷体" panose="02010609060101010101" pitchFamily="49" charset="-122"/>
                <a:ea typeface="楷体" panose="02010609060101010101" pitchFamily="49" charset="-122"/>
              </a:rPr>
              <a:t>这样，我们就得到了关于线性规划问题的数学模型的一般形式，现在，我们从数学形式的角度再来理解其所表达的问题的性质，即线性规划数学模型可以被建立的隐含假设。</a:t>
            </a:r>
            <a:endParaRPr lang="zh-CN" altLang="en-US" sz="4400" dirty="0">
              <a:latin typeface="楷体" panose="02010609060101010101" pitchFamily="49" charset="-122"/>
              <a:ea typeface="楷体" panose="02010609060101010101" pitchFamily="49" charset="-122"/>
            </a:endParaRPr>
          </a:p>
        </p:txBody>
      </p:sp>
      <p:sp>
        <p:nvSpPr>
          <p:cNvPr id="3" name="箭头: 下 2"/>
          <p:cNvSpPr/>
          <p:nvPr/>
        </p:nvSpPr>
        <p:spPr>
          <a:xfrm>
            <a:off x="5191027" y="4413576"/>
            <a:ext cx="1809946" cy="37707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7377" y="74270"/>
            <a:ext cx="11766355" cy="6740307"/>
          </a:xfrm>
          <a:prstGeom prst="rect">
            <a:avLst/>
          </a:prstGeom>
          <a:noFill/>
        </p:spPr>
        <p:txBody>
          <a:bodyPr wrap="square">
            <a:spAutoFit/>
          </a:bodyPr>
          <a:lstStyle/>
          <a:p>
            <a:pPr>
              <a:buNone/>
            </a:pPr>
            <a:r>
              <a:rPr lang="zh-CN" altLang="en-US" sz="2700" dirty="0">
                <a:latin typeface="楷体" panose="02010609060101010101" pitchFamily="49" charset="-122"/>
                <a:ea typeface="楷体" panose="02010609060101010101" pitchFamily="49" charset="-122"/>
              </a:rPr>
              <a:t>线性规划主要研究：</a:t>
            </a:r>
            <a:endParaRPr lang="en-US" altLang="zh-CN" sz="2700" dirty="0">
              <a:latin typeface="楷体" panose="02010609060101010101" pitchFamily="49" charset="-122"/>
              <a:ea typeface="楷体" panose="02010609060101010101" pitchFamily="49" charset="-122"/>
            </a:endParaRPr>
          </a:p>
          <a:p>
            <a:pPr>
              <a:buNone/>
            </a:pPr>
            <a:r>
              <a:rPr lang="zh-CN" altLang="en-US" sz="2700" dirty="0">
                <a:latin typeface="楷体" panose="02010609060101010101" pitchFamily="49" charset="-122"/>
                <a:ea typeface="楷体" panose="02010609060101010101" pitchFamily="49" charset="-122"/>
              </a:rPr>
              <a:t>那些，决策变量为可控的连续变量，目标函数和约束条件都是线性的问题，称其为线性规划问题，这样的问题，我们才能用线性规划方法来解决，即意味着才能为其建立如上一般形式的数学模型进而求解，该模型和计算结果反应的是问题本身。</a:t>
            </a:r>
            <a:endParaRPr lang="en-US" altLang="zh-CN" sz="2700" dirty="0">
              <a:latin typeface="楷体" panose="02010609060101010101" pitchFamily="49" charset="-122"/>
              <a:ea typeface="楷体" panose="02010609060101010101" pitchFamily="49" charset="-122"/>
            </a:endParaRPr>
          </a:p>
          <a:p>
            <a:pPr>
              <a:buNone/>
            </a:pPr>
            <a:r>
              <a:rPr lang="zh-CN" altLang="en-US" sz="2700" dirty="0">
                <a:latin typeface="楷体" panose="02010609060101010101" pitchFamily="49" charset="-122"/>
                <a:ea typeface="楷体" panose="02010609060101010101" pitchFamily="49" charset="-122"/>
              </a:rPr>
              <a:t>因而，为线性规划问题而建立的模型和求解算法针对的问题隐含了如下需要满足的假定，即问题本身应具有的特征</a:t>
            </a:r>
            <a:r>
              <a:rPr lang="en-US" altLang="zh-CN" sz="2700" dirty="0">
                <a:latin typeface="楷体" panose="02010609060101010101" pitchFamily="49" charset="-122"/>
                <a:ea typeface="楷体" panose="02010609060101010101" pitchFamily="49" charset="-122"/>
              </a:rPr>
              <a:t>——</a:t>
            </a:r>
            <a:r>
              <a:rPr lang="zh-CN" altLang="en-US" sz="2700" dirty="0">
                <a:latin typeface="楷体" panose="02010609060101010101" pitchFamily="49" charset="-122"/>
                <a:ea typeface="楷体" panose="02010609060101010101" pitchFamily="49" charset="-122"/>
              </a:rPr>
              <a:t>这样的问题才适合如此表达和单纯形法来计算：</a:t>
            </a:r>
            <a:endParaRPr lang="en-US" altLang="zh-CN" sz="2700" dirty="0">
              <a:latin typeface="楷体" panose="02010609060101010101" pitchFamily="49" charset="-122"/>
              <a:ea typeface="楷体" panose="02010609060101010101" pitchFamily="49" charset="-122"/>
            </a:endParaRPr>
          </a:p>
          <a:p>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1</a:t>
            </a:r>
            <a:r>
              <a:rPr lang="zh-CN" altLang="en-US" sz="2700" dirty="0">
                <a:latin typeface="楷体" panose="02010609060101010101" pitchFamily="49" charset="-122"/>
                <a:ea typeface="楷体" panose="02010609060101010101" pitchFamily="49" charset="-122"/>
              </a:rPr>
              <a:t>）比例性假定</a:t>
            </a:r>
            <a:endParaRPr lang="en-US" altLang="zh-CN" sz="2700" dirty="0">
              <a:latin typeface="楷体" panose="02010609060101010101" pitchFamily="49" charset="-122"/>
              <a:ea typeface="楷体" panose="02010609060101010101" pitchFamily="49" charset="-122"/>
            </a:endParaRPr>
          </a:p>
          <a:p>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2</a:t>
            </a:r>
            <a:r>
              <a:rPr lang="zh-CN" altLang="en-US" sz="2700" dirty="0">
                <a:latin typeface="楷体" panose="02010609060101010101" pitchFamily="49" charset="-122"/>
                <a:ea typeface="楷体" panose="02010609060101010101" pitchFamily="49" charset="-122"/>
              </a:rPr>
              <a:t>）可加性假定</a:t>
            </a:r>
            <a:endParaRPr lang="en-US" altLang="zh-CN" sz="2700" dirty="0">
              <a:latin typeface="楷体" panose="02010609060101010101" pitchFamily="49" charset="-122"/>
              <a:ea typeface="楷体" panose="02010609060101010101" pitchFamily="49" charset="-122"/>
            </a:endParaRPr>
          </a:p>
          <a:p>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3</a:t>
            </a:r>
            <a:r>
              <a:rPr lang="zh-CN" altLang="en-US" sz="2700" dirty="0">
                <a:latin typeface="楷体" panose="02010609060101010101" pitchFamily="49" charset="-122"/>
                <a:ea typeface="楷体" panose="02010609060101010101" pitchFamily="49" charset="-122"/>
              </a:rPr>
              <a:t>）可除性假定</a:t>
            </a:r>
            <a:r>
              <a:rPr lang="en-US" altLang="zh-CN" sz="2700" dirty="0">
                <a:latin typeface="楷体" panose="02010609060101010101" pitchFamily="49" charset="-122"/>
                <a:ea typeface="楷体" panose="02010609060101010101" pitchFamily="49" charset="-122"/>
              </a:rPr>
              <a:t>(</a:t>
            </a:r>
            <a:r>
              <a:rPr lang="zh-CN" altLang="en-US" sz="2700" dirty="0">
                <a:latin typeface="楷体" panose="02010609060101010101" pitchFamily="49" charset="-122"/>
                <a:ea typeface="楷体" panose="02010609060101010101" pitchFamily="49" charset="-122"/>
              </a:rPr>
              <a:t>连续性假定</a:t>
            </a:r>
            <a:r>
              <a:rPr lang="en-US" altLang="zh-CN" sz="2700" dirty="0">
                <a:latin typeface="楷体" panose="02010609060101010101" pitchFamily="49" charset="-122"/>
                <a:ea typeface="楷体" panose="02010609060101010101" pitchFamily="49" charset="-122"/>
              </a:rPr>
              <a:t>)</a:t>
            </a:r>
            <a:endParaRPr lang="en-US" altLang="zh-CN" sz="2700" dirty="0">
              <a:latin typeface="楷体" panose="02010609060101010101" pitchFamily="49" charset="-122"/>
              <a:ea typeface="楷体" panose="02010609060101010101" pitchFamily="49" charset="-122"/>
            </a:endParaRPr>
          </a:p>
          <a:p>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4</a:t>
            </a:r>
            <a:r>
              <a:rPr lang="zh-CN" altLang="en-US" sz="2700" dirty="0">
                <a:latin typeface="楷体" panose="02010609060101010101" pitchFamily="49" charset="-122"/>
                <a:ea typeface="楷体" panose="02010609060101010101" pitchFamily="49" charset="-122"/>
              </a:rPr>
              <a:t>）确定性假定</a:t>
            </a:r>
            <a:endParaRPr lang="en-US" altLang="zh-CN" sz="2700" dirty="0">
              <a:latin typeface="楷体" panose="02010609060101010101" pitchFamily="49" charset="-122"/>
              <a:ea typeface="楷体" panose="02010609060101010101" pitchFamily="49" charset="-122"/>
            </a:endParaRPr>
          </a:p>
          <a:p>
            <a:pPr>
              <a:buNone/>
            </a:pPr>
            <a:r>
              <a:rPr lang="zh-CN" altLang="en-US" sz="2700" dirty="0">
                <a:latin typeface="楷体" panose="02010609060101010101" pitchFamily="49" charset="-122"/>
                <a:ea typeface="楷体" panose="02010609060101010101" pitchFamily="49" charset="-122"/>
              </a:rPr>
              <a:t>这些隐含的假定条件是很强的，仅当问题在很大程度上满足这些假设条件，才能为其建立线性规划模型。因此，在使用线性规划方法（如数学模型的建立和算法</a:t>
            </a:r>
            <a:r>
              <a:rPr lang="en-US" altLang="zh-CN" sz="2700" dirty="0">
                <a:latin typeface="楷体" panose="02010609060101010101" pitchFamily="49" charset="-122"/>
                <a:ea typeface="楷体" panose="02010609060101010101" pitchFamily="49" charset="-122"/>
              </a:rPr>
              <a:t>)</a:t>
            </a:r>
            <a:r>
              <a:rPr lang="zh-CN" altLang="en-US" sz="2700" dirty="0">
                <a:latin typeface="楷体" panose="02010609060101010101" pitchFamily="49" charset="-122"/>
                <a:ea typeface="楷体" panose="02010609060101010101" pitchFamily="49" charset="-122"/>
              </a:rPr>
              <a:t>时必须注意问题在什么程度上满足这些假定。当不满足的程度较大时，应考虑其它方法。</a:t>
            </a:r>
            <a:endParaRPr lang="zh-CN" altLang="en-US" sz="2700"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1"/>
          <a:stretch>
            <a:fillRect/>
          </a:stretch>
        </p:blipFill>
        <p:spPr>
          <a:xfrm>
            <a:off x="7525551" y="3053919"/>
            <a:ext cx="4004739" cy="1908375"/>
          </a:xfrm>
          <a:prstGeom prst="rect">
            <a:avLst/>
          </a:prstGeom>
          <a:ln>
            <a:solidFill>
              <a:schemeClr val="accent1"/>
            </a:solid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4172" y="316383"/>
            <a:ext cx="10221913" cy="764704"/>
          </a:xfrm>
        </p:spPr>
        <p:txBody>
          <a:bodyPr>
            <a:normAutofit/>
          </a:bodyPr>
          <a:lstStyle/>
          <a:p>
            <a:r>
              <a:rPr lang="zh-CN" altLang="en-US" sz="3600" dirty="0">
                <a:latin typeface="楷体" panose="02010609060101010101" pitchFamily="49" charset="-122"/>
                <a:ea typeface="楷体" panose="02010609060101010101" pitchFamily="49" charset="-122"/>
              </a:rPr>
              <a:t>比例性假定和可加性假定</a:t>
            </a:r>
            <a:endParaRPr lang="en-US" altLang="zh-CN" sz="3600"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326572" y="1149996"/>
            <a:ext cx="11429999" cy="5391621"/>
          </a:xfrm>
        </p:spPr>
        <p:txBody>
          <a:bodyPr>
            <a:normAutofit/>
          </a:bodyPr>
          <a:lstStyle/>
          <a:p>
            <a:pPr>
              <a:buNone/>
            </a:pP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LPQ</a:t>
            </a:r>
            <a:r>
              <a:rPr lang="zh-CN" altLang="en-US" dirty="0">
                <a:latin typeface="楷体" panose="02010609060101010101" pitchFamily="49" charset="-122"/>
                <a:ea typeface="楷体" panose="02010609060101010101" pitchFamily="49" charset="-122"/>
              </a:rPr>
              <a:t>的目标函数必须是决策变量的线性函数，指：</a:t>
            </a:r>
            <a:endParaRPr lang="en-US" altLang="zh-CN" dirty="0">
              <a:latin typeface="楷体" panose="02010609060101010101" pitchFamily="49" charset="-122"/>
              <a:ea typeface="楷体" panose="02010609060101010101" pitchFamily="49" charset="-122"/>
            </a:endParaRPr>
          </a:p>
          <a:p>
            <a:pPr>
              <a:buNone/>
            </a:pPr>
            <a:endParaRPr lang="en-US" altLang="zh-CN" sz="900" dirty="0">
              <a:latin typeface="楷体" panose="02010609060101010101" pitchFamily="49" charset="-122"/>
              <a:ea typeface="楷体" panose="02010609060101010101" pitchFamily="49" charset="-122"/>
            </a:endParaRPr>
          </a:p>
          <a:p>
            <a:pPr>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每个决策变量对目标函数的贡献与决策变量的值成比例。</a:t>
            </a:r>
            <a:endParaRPr lang="en-US" altLang="zh-CN" dirty="0">
              <a:latin typeface="楷体" panose="02010609060101010101" pitchFamily="49" charset="-122"/>
              <a:ea typeface="楷体" panose="02010609060101010101" pitchFamily="49" charset="-122"/>
            </a:endParaRPr>
          </a:p>
          <a:p>
            <a:pPr>
              <a:buNone/>
            </a:pPr>
            <a:endParaRPr lang="en-US" altLang="zh-CN" sz="900" dirty="0">
              <a:latin typeface="楷体" panose="02010609060101010101" pitchFamily="49" charset="-122"/>
              <a:ea typeface="楷体" panose="02010609060101010101" pitchFamily="49" charset="-122"/>
            </a:endParaRPr>
          </a:p>
          <a:p>
            <a:pPr>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任何变量对目标函数的贡献都与其它决策变量的值无关。</a:t>
            </a:r>
            <a:endParaRPr lang="en-US" altLang="zh-CN" dirty="0">
              <a:latin typeface="楷体" panose="02010609060101010101" pitchFamily="49" charset="-122"/>
              <a:ea typeface="楷体" panose="02010609060101010101" pitchFamily="49" charset="-122"/>
            </a:endParaRPr>
          </a:p>
          <a:p>
            <a:pPr>
              <a:buNone/>
            </a:pPr>
            <a:endParaRPr lang="en-US" altLang="zh-CN" sz="900" dirty="0">
              <a:latin typeface="楷体" panose="02010609060101010101" pitchFamily="49" charset="-122"/>
              <a:ea typeface="楷体" panose="02010609060101010101" pitchFamily="49" charset="-122"/>
            </a:endParaRPr>
          </a:p>
          <a:p>
            <a:pPr>
              <a:buNone/>
            </a:pP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，类似的，</a:t>
            </a:r>
            <a:r>
              <a:rPr lang="en-US" altLang="zh-CN" dirty="0">
                <a:latin typeface="楷体" panose="02010609060101010101" pitchFamily="49" charset="-122"/>
                <a:ea typeface="楷体" panose="02010609060101010101" pitchFamily="49" charset="-122"/>
              </a:rPr>
              <a:t>LPQ</a:t>
            </a:r>
            <a:r>
              <a:rPr lang="zh-CN" altLang="en-US" dirty="0">
                <a:latin typeface="楷体" panose="02010609060101010101" pitchFamily="49" charset="-122"/>
                <a:ea typeface="楷体" panose="02010609060101010101" pitchFamily="49" charset="-122"/>
              </a:rPr>
              <a:t>的每个约束条件都必须是线性方程或线性不等式，指：</a:t>
            </a:r>
            <a:endParaRPr lang="en-US" altLang="zh-CN" dirty="0">
              <a:latin typeface="楷体" panose="02010609060101010101" pitchFamily="49" charset="-122"/>
              <a:ea typeface="楷体" panose="02010609060101010101" pitchFamily="49" charset="-122"/>
            </a:endParaRPr>
          </a:p>
          <a:p>
            <a:pPr>
              <a:buNone/>
            </a:pPr>
            <a:endParaRPr lang="en-US" altLang="zh-CN" sz="900" dirty="0">
              <a:latin typeface="楷体" panose="02010609060101010101" pitchFamily="49" charset="-122"/>
              <a:ea typeface="楷体" panose="02010609060101010101" pitchFamily="49" charset="-122"/>
            </a:endParaRPr>
          </a:p>
          <a:p>
            <a:pPr>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每个变量对每个约束条件左端的贡献与变量的值成比例。</a:t>
            </a:r>
            <a:endParaRPr lang="en-US" altLang="zh-CN" dirty="0">
              <a:latin typeface="楷体" panose="02010609060101010101" pitchFamily="49" charset="-122"/>
              <a:ea typeface="楷体" panose="02010609060101010101" pitchFamily="49" charset="-122"/>
            </a:endParaRPr>
          </a:p>
          <a:p>
            <a:pPr>
              <a:buNone/>
            </a:pPr>
            <a:endParaRPr lang="en-US" altLang="zh-CN" sz="800" dirty="0">
              <a:latin typeface="楷体" panose="02010609060101010101" pitchFamily="49" charset="-122"/>
              <a:ea typeface="楷体" panose="02010609060101010101" pitchFamily="49" charset="-122"/>
            </a:endParaRPr>
          </a:p>
          <a:p>
            <a:pPr>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一个变量对每个约束条件左端的贡献与其它变量的值无关。</a:t>
            </a:r>
            <a:endParaRPr lang="en-US" altLang="zh-CN" dirty="0">
              <a:latin typeface="楷体" panose="02010609060101010101" pitchFamily="49" charset="-122"/>
              <a:ea typeface="楷体" panose="02010609060101010101" pitchFamily="49" charset="-122"/>
            </a:endParaRPr>
          </a:p>
          <a:p>
            <a:pPr>
              <a:buNone/>
            </a:pPr>
            <a:endParaRPr lang="en-US" altLang="zh-CN" sz="800" dirty="0">
              <a:latin typeface="楷体" panose="02010609060101010101" pitchFamily="49" charset="-122"/>
              <a:ea typeface="楷体" panose="02010609060101010101" pitchFamily="49" charset="-122"/>
            </a:endParaRPr>
          </a:p>
          <a:p>
            <a:pPr>
              <a:buNone/>
            </a:pPr>
            <a:r>
              <a:rPr lang="zh-CN" altLang="en-US" dirty="0">
                <a:latin typeface="楷体" panose="02010609060101010101" pitchFamily="49" charset="-122"/>
                <a:ea typeface="楷体" panose="02010609060101010101" pitchFamily="49" charset="-122"/>
              </a:rPr>
              <a:t>上述</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的含义称之为比例性假定；</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的含义称之为可加性假定</a:t>
            </a:r>
            <a:r>
              <a:rPr lang="zh-CN" altLang="en-US" dirty="0"/>
              <a:t>。</a:t>
            </a:r>
            <a:endParaRPr lang="en-US" altLang="zh-CN"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374848" y="55345"/>
            <a:ext cx="10587066" cy="764704"/>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800" b="1" dirty="0">
                <a:latin typeface="楷体" panose="02010609060101010101" pitchFamily="49" charset="-122"/>
                <a:ea typeface="楷体" panose="02010609060101010101" pitchFamily="49" charset="-122"/>
                <a:cs typeface="+mj-cs"/>
              </a:rPr>
              <a:t>违反</a:t>
            </a: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j-cs"/>
              </a:rPr>
              <a:t>比例性假定的三种情况</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j-cs"/>
            </a:endParaRPr>
          </a:p>
        </p:txBody>
      </p:sp>
      <p:grpSp>
        <p:nvGrpSpPr>
          <p:cNvPr id="3" name="组合 2"/>
          <p:cNvGrpSpPr/>
          <p:nvPr/>
        </p:nvGrpSpPr>
        <p:grpSpPr>
          <a:xfrm>
            <a:off x="107504" y="764704"/>
            <a:ext cx="4824536" cy="3033628"/>
            <a:chOff x="0" y="836712"/>
            <a:chExt cx="4824536" cy="3033628"/>
          </a:xfrm>
        </p:grpSpPr>
        <p:grpSp>
          <p:nvGrpSpPr>
            <p:cNvPr id="4" name="组合 3"/>
            <p:cNvGrpSpPr/>
            <p:nvPr/>
          </p:nvGrpSpPr>
          <p:grpSpPr>
            <a:xfrm>
              <a:off x="0" y="836712"/>
              <a:ext cx="4824536" cy="3033628"/>
              <a:chOff x="251520" y="476672"/>
              <a:chExt cx="4824536" cy="3033628"/>
            </a:xfrm>
          </p:grpSpPr>
          <p:cxnSp>
            <p:nvCxnSpPr>
              <p:cNvPr id="6" name="直接箭头连接符 5"/>
              <p:cNvCxnSpPr/>
              <p:nvPr/>
            </p:nvCxnSpPr>
            <p:spPr bwMode="auto">
              <a:xfrm>
                <a:off x="1691680" y="3068600"/>
                <a:ext cx="3312368"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箭头连接符 6"/>
              <p:cNvCxnSpPr/>
              <p:nvPr/>
            </p:nvCxnSpPr>
            <p:spPr bwMode="auto">
              <a:xfrm flipV="1">
                <a:off x="1691680" y="476672"/>
                <a:ext cx="0" cy="30240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p:cNvCxnSpPr/>
              <p:nvPr/>
            </p:nvCxnSpPr>
            <p:spPr bwMode="auto">
              <a:xfrm flipV="1">
                <a:off x="1691680" y="836352"/>
                <a:ext cx="2304256" cy="2232248"/>
              </a:xfrm>
              <a:prstGeom prst="line">
                <a:avLst/>
              </a:prstGeom>
              <a:solidFill>
                <a:schemeClr val="accent1"/>
              </a:solidFill>
              <a:ln w="19050"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p:cNvCxnSpPr/>
              <p:nvPr/>
            </p:nvCxnSpPr>
            <p:spPr bwMode="auto">
              <a:xfrm flipV="1">
                <a:off x="1691680" y="1124744"/>
                <a:ext cx="2304256" cy="2232248"/>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10"/>
              <p:cNvSpPr txBox="1"/>
              <p:nvPr/>
            </p:nvSpPr>
            <p:spPr>
              <a:xfrm>
                <a:off x="1115616" y="836712"/>
                <a:ext cx="432048" cy="1754326"/>
              </a:xfrm>
              <a:prstGeom prst="rect">
                <a:avLst/>
              </a:prstGeom>
              <a:noFill/>
            </p:spPr>
            <p:txBody>
              <a:bodyPr wrap="square" rtlCol="0">
                <a:spAutoFit/>
              </a:bodyPr>
              <a:lstStyle/>
              <a:p>
                <a:r>
                  <a:rPr lang="en-US" altLang="zh-CN" dirty="0"/>
                  <a:t>x</a:t>
                </a:r>
                <a:r>
                  <a:rPr lang="en-US" altLang="zh-CN" baseline="-25000" dirty="0"/>
                  <a:t>1</a:t>
                </a:r>
                <a:r>
                  <a:rPr lang="zh-CN" altLang="en-US" dirty="0"/>
                  <a:t>对</a:t>
                </a:r>
                <a:r>
                  <a:rPr lang="en-US" altLang="zh-CN" dirty="0"/>
                  <a:t>z</a:t>
                </a:r>
                <a:r>
                  <a:rPr lang="zh-CN" altLang="en-US" dirty="0"/>
                  <a:t>的贡献</a:t>
                </a:r>
                <a:endParaRPr lang="zh-CN" altLang="en-US" dirty="0"/>
              </a:p>
            </p:txBody>
          </p:sp>
          <p:cxnSp>
            <p:nvCxnSpPr>
              <p:cNvPr id="11" name="直接箭头连接符 10"/>
              <p:cNvCxnSpPr/>
              <p:nvPr/>
            </p:nvCxnSpPr>
            <p:spPr bwMode="auto">
              <a:xfrm>
                <a:off x="1259632" y="3356992"/>
                <a:ext cx="360040"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椭圆 11"/>
              <p:cNvSpPr/>
              <p:nvPr/>
            </p:nvSpPr>
            <p:spPr bwMode="auto">
              <a:xfrm>
                <a:off x="1619680" y="3284992"/>
                <a:ext cx="108000" cy="108000"/>
              </a:xfrm>
              <a:prstGeom prst="ellipse">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endParaRPr kumimoji="0" lang="zh-CN" altLang="en-US" sz="1800" b="0" i="0" u="none" strike="noStrike" cap="none" normalizeH="0" baseline="0">
                  <a:ln>
                    <a:noFill/>
                  </a:ln>
                  <a:solidFill>
                    <a:schemeClr val="tx1"/>
                  </a:solidFill>
                  <a:effectLst/>
                  <a:latin typeface="Arial" panose="020B0604020202090204" pitchFamily="34" charset="0"/>
                  <a:ea typeface="宋体" panose="02010600030101010101" pitchFamily="2" charset="-122"/>
                </a:endParaRPr>
              </a:p>
            </p:txBody>
          </p:sp>
          <p:sp>
            <p:nvSpPr>
              <p:cNvPr id="13" name="TextBox 14"/>
              <p:cNvSpPr txBox="1"/>
              <p:nvPr/>
            </p:nvSpPr>
            <p:spPr>
              <a:xfrm>
                <a:off x="251520" y="3140968"/>
                <a:ext cx="1152128" cy="369332"/>
              </a:xfrm>
              <a:prstGeom prst="rect">
                <a:avLst/>
              </a:prstGeom>
              <a:noFill/>
            </p:spPr>
            <p:txBody>
              <a:bodyPr wrap="square" rtlCol="0">
                <a:spAutoFit/>
              </a:bodyPr>
              <a:lstStyle/>
              <a:p>
                <a:r>
                  <a:rPr lang="zh-CN" altLang="en-US" dirty="0"/>
                  <a:t>初始成本</a:t>
                </a:r>
                <a:endParaRPr lang="zh-CN" altLang="en-US" dirty="0"/>
              </a:p>
            </p:txBody>
          </p:sp>
          <p:cxnSp>
            <p:nvCxnSpPr>
              <p:cNvPr id="14" name="直接箭头连接符 13"/>
              <p:cNvCxnSpPr/>
              <p:nvPr/>
            </p:nvCxnSpPr>
            <p:spPr bwMode="auto">
              <a:xfrm>
                <a:off x="3131840" y="1268760"/>
                <a:ext cx="288032"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7"/>
              <p:cNvSpPr txBox="1"/>
              <p:nvPr/>
            </p:nvSpPr>
            <p:spPr>
              <a:xfrm>
                <a:off x="2195736" y="980728"/>
                <a:ext cx="1296144" cy="646331"/>
              </a:xfrm>
              <a:prstGeom prst="rect">
                <a:avLst/>
              </a:prstGeom>
              <a:noFill/>
            </p:spPr>
            <p:txBody>
              <a:bodyPr wrap="square" rtlCol="0">
                <a:spAutoFit/>
              </a:bodyPr>
              <a:lstStyle/>
              <a:p>
                <a:r>
                  <a:rPr lang="zh-CN" altLang="en-US" dirty="0"/>
                  <a:t>满足比例性假设</a:t>
                </a:r>
                <a:endParaRPr lang="zh-CN" altLang="en-US" dirty="0"/>
              </a:p>
            </p:txBody>
          </p:sp>
          <p:sp>
            <p:nvSpPr>
              <p:cNvPr id="16" name="TextBox 18"/>
              <p:cNvSpPr txBox="1"/>
              <p:nvPr/>
            </p:nvSpPr>
            <p:spPr>
              <a:xfrm>
                <a:off x="3779912" y="1556792"/>
                <a:ext cx="1296144" cy="646331"/>
              </a:xfrm>
              <a:prstGeom prst="rect">
                <a:avLst/>
              </a:prstGeom>
              <a:noFill/>
            </p:spPr>
            <p:txBody>
              <a:bodyPr wrap="square" rtlCol="0">
                <a:spAutoFit/>
              </a:bodyPr>
              <a:lstStyle/>
              <a:p>
                <a:r>
                  <a:rPr lang="zh-CN" altLang="en-US" dirty="0"/>
                  <a:t>违反比例性假设</a:t>
                </a:r>
                <a:endParaRPr lang="zh-CN" altLang="en-US" dirty="0"/>
              </a:p>
            </p:txBody>
          </p:sp>
          <p:cxnSp>
            <p:nvCxnSpPr>
              <p:cNvPr id="17" name="直接箭头连接符 16"/>
              <p:cNvCxnSpPr>
                <a:stCxn id="16" idx="1"/>
              </p:cNvCxnSpPr>
              <p:nvPr/>
            </p:nvCxnSpPr>
            <p:spPr bwMode="auto">
              <a:xfrm flipH="1" flipV="1">
                <a:off x="3275856" y="1844824"/>
                <a:ext cx="504056" cy="35134"/>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 name="TextBox 44"/>
            <p:cNvSpPr txBox="1"/>
            <p:nvPr/>
          </p:nvSpPr>
          <p:spPr>
            <a:xfrm>
              <a:off x="2555776" y="2780928"/>
              <a:ext cx="2088232" cy="646331"/>
            </a:xfrm>
            <a:prstGeom prst="rect">
              <a:avLst/>
            </a:prstGeom>
            <a:noFill/>
          </p:spPr>
          <p:txBody>
            <a:bodyPr wrap="square" rtlCol="0">
              <a:spAutoFit/>
            </a:bodyPr>
            <a:lstStyle/>
            <a:p>
              <a:r>
                <a:rPr lang="zh-CN" altLang="en-US" dirty="0"/>
                <a:t>情况</a:t>
              </a:r>
              <a:r>
                <a:rPr lang="en-US" altLang="zh-CN" dirty="0"/>
                <a:t>1</a:t>
              </a:r>
              <a:r>
                <a:rPr lang="zh-CN" altLang="en-US" dirty="0"/>
                <a:t>：初始成本</a:t>
              </a:r>
              <a:r>
                <a:rPr lang="en-US" altLang="zh-CN" dirty="0"/>
                <a:t>/</a:t>
              </a:r>
              <a:r>
                <a:rPr lang="zh-CN" altLang="en-US" dirty="0"/>
                <a:t>固定费用</a:t>
              </a:r>
              <a:endParaRPr lang="zh-CN" altLang="en-US" dirty="0"/>
            </a:p>
          </p:txBody>
        </p:sp>
      </p:grpSp>
      <p:grpSp>
        <p:nvGrpSpPr>
          <p:cNvPr id="18" name="组合 17"/>
          <p:cNvGrpSpPr/>
          <p:nvPr/>
        </p:nvGrpSpPr>
        <p:grpSpPr>
          <a:xfrm>
            <a:off x="6876256" y="852187"/>
            <a:ext cx="4248472" cy="2604233"/>
            <a:chOff x="5004048" y="764704"/>
            <a:chExt cx="4248472" cy="2604233"/>
          </a:xfrm>
        </p:grpSpPr>
        <p:grpSp>
          <p:nvGrpSpPr>
            <p:cNvPr id="19" name="组合 18"/>
            <p:cNvGrpSpPr/>
            <p:nvPr/>
          </p:nvGrpSpPr>
          <p:grpSpPr>
            <a:xfrm>
              <a:off x="5004048" y="764704"/>
              <a:ext cx="4248472" cy="2604233"/>
              <a:chOff x="3491880" y="3141328"/>
              <a:chExt cx="4248472" cy="2604233"/>
            </a:xfrm>
          </p:grpSpPr>
          <p:cxnSp>
            <p:nvCxnSpPr>
              <p:cNvPr id="21" name="直接箭头连接符 20"/>
              <p:cNvCxnSpPr/>
              <p:nvPr/>
            </p:nvCxnSpPr>
            <p:spPr bwMode="auto">
              <a:xfrm>
                <a:off x="4067944" y="5733256"/>
                <a:ext cx="3312368"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箭头连接符 21"/>
              <p:cNvCxnSpPr/>
              <p:nvPr/>
            </p:nvCxnSpPr>
            <p:spPr bwMode="auto">
              <a:xfrm flipV="1">
                <a:off x="4067944" y="3141328"/>
                <a:ext cx="0" cy="25920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p:cNvCxnSpPr/>
              <p:nvPr/>
            </p:nvCxnSpPr>
            <p:spPr bwMode="auto">
              <a:xfrm flipV="1">
                <a:off x="4067944" y="3501008"/>
                <a:ext cx="2304256" cy="2232248"/>
              </a:xfrm>
              <a:prstGeom prst="line">
                <a:avLst/>
              </a:prstGeom>
              <a:solidFill>
                <a:schemeClr val="accent1"/>
              </a:solidFill>
              <a:ln w="19050"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5"/>
              <p:cNvSpPr txBox="1"/>
              <p:nvPr/>
            </p:nvSpPr>
            <p:spPr>
              <a:xfrm>
                <a:off x="3491880" y="3501368"/>
                <a:ext cx="432048" cy="1754326"/>
              </a:xfrm>
              <a:prstGeom prst="rect">
                <a:avLst/>
              </a:prstGeom>
              <a:noFill/>
            </p:spPr>
            <p:txBody>
              <a:bodyPr wrap="square" rtlCol="0">
                <a:spAutoFit/>
              </a:bodyPr>
              <a:lstStyle/>
              <a:p>
                <a:r>
                  <a:rPr lang="en-US" altLang="zh-CN" dirty="0"/>
                  <a:t>x</a:t>
                </a:r>
                <a:r>
                  <a:rPr lang="en-US" altLang="zh-CN" baseline="-25000" dirty="0"/>
                  <a:t>1</a:t>
                </a:r>
                <a:r>
                  <a:rPr lang="zh-CN" altLang="en-US" dirty="0"/>
                  <a:t>对</a:t>
                </a:r>
                <a:r>
                  <a:rPr lang="en-US" altLang="zh-CN" dirty="0"/>
                  <a:t>z</a:t>
                </a:r>
                <a:r>
                  <a:rPr lang="zh-CN" altLang="en-US" dirty="0"/>
                  <a:t>的贡献</a:t>
                </a:r>
                <a:endParaRPr lang="zh-CN" altLang="en-US" dirty="0"/>
              </a:p>
            </p:txBody>
          </p:sp>
          <p:cxnSp>
            <p:nvCxnSpPr>
              <p:cNvPr id="25" name="直接箭头连接符 24"/>
              <p:cNvCxnSpPr/>
              <p:nvPr/>
            </p:nvCxnSpPr>
            <p:spPr bwMode="auto">
              <a:xfrm>
                <a:off x="5076056" y="3573016"/>
                <a:ext cx="504056" cy="144016"/>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30"/>
              <p:cNvSpPr txBox="1"/>
              <p:nvPr/>
            </p:nvSpPr>
            <p:spPr>
              <a:xfrm>
                <a:off x="6444208" y="3284984"/>
                <a:ext cx="1296144" cy="646331"/>
              </a:xfrm>
              <a:prstGeom prst="rect">
                <a:avLst/>
              </a:prstGeom>
              <a:noFill/>
            </p:spPr>
            <p:txBody>
              <a:bodyPr wrap="square" rtlCol="0">
                <a:spAutoFit/>
              </a:bodyPr>
              <a:lstStyle/>
              <a:p>
                <a:r>
                  <a:rPr lang="zh-CN" altLang="en-US" dirty="0"/>
                  <a:t>满足比例性假设</a:t>
                </a:r>
                <a:endParaRPr lang="zh-CN" altLang="en-US" dirty="0"/>
              </a:p>
            </p:txBody>
          </p:sp>
          <p:sp>
            <p:nvSpPr>
              <p:cNvPr id="27" name="TextBox 31"/>
              <p:cNvSpPr txBox="1"/>
              <p:nvPr/>
            </p:nvSpPr>
            <p:spPr>
              <a:xfrm>
                <a:off x="4211960" y="3284984"/>
                <a:ext cx="1296144" cy="646331"/>
              </a:xfrm>
              <a:prstGeom prst="rect">
                <a:avLst/>
              </a:prstGeom>
              <a:noFill/>
            </p:spPr>
            <p:txBody>
              <a:bodyPr wrap="square" rtlCol="0">
                <a:spAutoFit/>
              </a:bodyPr>
              <a:lstStyle/>
              <a:p>
                <a:r>
                  <a:rPr lang="zh-CN" altLang="en-US" dirty="0"/>
                  <a:t>违反比例性假设</a:t>
                </a:r>
                <a:endParaRPr lang="zh-CN" altLang="en-US" dirty="0"/>
              </a:p>
            </p:txBody>
          </p:sp>
          <p:cxnSp>
            <p:nvCxnSpPr>
              <p:cNvPr id="28" name="直接箭头连接符 27"/>
              <p:cNvCxnSpPr>
                <a:stCxn id="26" idx="1"/>
              </p:cNvCxnSpPr>
              <p:nvPr/>
            </p:nvCxnSpPr>
            <p:spPr bwMode="auto">
              <a:xfrm flipH="1">
                <a:off x="6300192" y="3608150"/>
                <a:ext cx="144016" cy="36874"/>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任意多边形 34"/>
              <p:cNvSpPr/>
              <p:nvPr/>
            </p:nvSpPr>
            <p:spPr bwMode="auto">
              <a:xfrm>
                <a:off x="4053677" y="3281082"/>
                <a:ext cx="1789681" cy="2464479"/>
              </a:xfrm>
              <a:custGeom>
                <a:avLst/>
                <a:gdLst>
                  <a:gd name="connsiteX0" fmla="*/ 0 w 1789681"/>
                  <a:gd name="connsiteY0" fmla="*/ 2464479 h 2464479"/>
                  <a:gd name="connsiteX1" fmla="*/ 581891 w 1789681"/>
                  <a:gd name="connsiteY1" fmla="*/ 1877699 h 2464479"/>
                  <a:gd name="connsiteX2" fmla="*/ 1109994 w 1789681"/>
                  <a:gd name="connsiteY2" fmla="*/ 1222460 h 2464479"/>
                  <a:gd name="connsiteX3" fmla="*/ 1559859 w 1789681"/>
                  <a:gd name="connsiteY3" fmla="*/ 484094 h 2464479"/>
                  <a:gd name="connsiteX4" fmla="*/ 1789681 w 1789681"/>
                  <a:gd name="connsiteY4" fmla="*/ 0 h 2464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681" h="2464479">
                    <a:moveTo>
                      <a:pt x="0" y="2464479"/>
                    </a:moveTo>
                    <a:cubicBezTo>
                      <a:pt x="198446" y="2274590"/>
                      <a:pt x="396892" y="2084702"/>
                      <a:pt x="581891" y="1877699"/>
                    </a:cubicBezTo>
                    <a:cubicBezTo>
                      <a:pt x="766890" y="1670696"/>
                      <a:pt x="946999" y="1454728"/>
                      <a:pt x="1109994" y="1222460"/>
                    </a:cubicBezTo>
                    <a:cubicBezTo>
                      <a:pt x="1272989" y="990192"/>
                      <a:pt x="1446578" y="687837"/>
                      <a:pt x="1559859" y="484094"/>
                    </a:cubicBezTo>
                    <a:cubicBezTo>
                      <a:pt x="1673140" y="280351"/>
                      <a:pt x="1731410" y="140175"/>
                      <a:pt x="1789681" y="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endParaRPr kumimoji="0" lang="zh-CN" altLang="en-US" sz="1800" b="0" i="0" u="none" strike="noStrike" cap="none" normalizeH="0" baseline="0">
                  <a:ln>
                    <a:noFill/>
                  </a:ln>
                  <a:solidFill>
                    <a:schemeClr val="tx1"/>
                  </a:solidFill>
                  <a:effectLst/>
                  <a:latin typeface="Arial" panose="020B0604020202090204" pitchFamily="34" charset="0"/>
                  <a:ea typeface="宋体" panose="02010600030101010101" pitchFamily="2" charset="-122"/>
                </a:endParaRPr>
              </a:p>
            </p:txBody>
          </p:sp>
        </p:grpSp>
        <p:sp>
          <p:nvSpPr>
            <p:cNvPr id="20" name="TextBox 45"/>
            <p:cNvSpPr txBox="1"/>
            <p:nvPr/>
          </p:nvSpPr>
          <p:spPr>
            <a:xfrm>
              <a:off x="6804248" y="2492896"/>
              <a:ext cx="2339752" cy="646331"/>
            </a:xfrm>
            <a:prstGeom prst="rect">
              <a:avLst/>
            </a:prstGeom>
            <a:noFill/>
          </p:spPr>
          <p:txBody>
            <a:bodyPr wrap="square" rtlCol="0">
              <a:spAutoFit/>
            </a:bodyPr>
            <a:lstStyle/>
            <a:p>
              <a:r>
                <a:rPr lang="zh-CN" altLang="en-US" dirty="0"/>
                <a:t>情况</a:t>
              </a:r>
              <a:r>
                <a:rPr lang="en-US" altLang="zh-CN" dirty="0"/>
                <a:t>2</a:t>
              </a:r>
              <a:r>
                <a:rPr lang="zh-CN" altLang="en-US" dirty="0"/>
                <a:t>：工作效率提高，边际成本下降</a:t>
              </a:r>
              <a:endParaRPr lang="zh-CN" altLang="en-US" dirty="0"/>
            </a:p>
          </p:txBody>
        </p:sp>
      </p:grpSp>
      <p:grpSp>
        <p:nvGrpSpPr>
          <p:cNvPr id="30" name="组合 29"/>
          <p:cNvGrpSpPr/>
          <p:nvPr/>
        </p:nvGrpSpPr>
        <p:grpSpPr>
          <a:xfrm>
            <a:off x="6880041" y="3833207"/>
            <a:ext cx="4248472" cy="2651522"/>
            <a:chOff x="5148064" y="3789040"/>
            <a:chExt cx="4248472" cy="2651522"/>
          </a:xfrm>
        </p:grpSpPr>
        <p:grpSp>
          <p:nvGrpSpPr>
            <p:cNvPr id="31" name="组合 30"/>
            <p:cNvGrpSpPr/>
            <p:nvPr/>
          </p:nvGrpSpPr>
          <p:grpSpPr>
            <a:xfrm>
              <a:off x="5148064" y="3789040"/>
              <a:ext cx="4248472" cy="2592000"/>
              <a:chOff x="3491880" y="3141328"/>
              <a:chExt cx="4248472" cy="2592000"/>
            </a:xfrm>
          </p:grpSpPr>
          <p:cxnSp>
            <p:nvCxnSpPr>
              <p:cNvPr id="34" name="直接箭头连接符 33"/>
              <p:cNvCxnSpPr/>
              <p:nvPr/>
            </p:nvCxnSpPr>
            <p:spPr bwMode="auto">
              <a:xfrm>
                <a:off x="4067944" y="5733256"/>
                <a:ext cx="3312368"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箭头连接符 34"/>
              <p:cNvCxnSpPr/>
              <p:nvPr/>
            </p:nvCxnSpPr>
            <p:spPr bwMode="auto">
              <a:xfrm flipV="1">
                <a:off x="4067944" y="3141328"/>
                <a:ext cx="0" cy="25920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p:cNvCxnSpPr/>
              <p:nvPr/>
            </p:nvCxnSpPr>
            <p:spPr bwMode="auto">
              <a:xfrm flipV="1">
                <a:off x="4067944" y="3501008"/>
                <a:ext cx="2304256" cy="2232248"/>
              </a:xfrm>
              <a:prstGeom prst="line">
                <a:avLst/>
              </a:prstGeom>
              <a:solidFill>
                <a:schemeClr val="accent1"/>
              </a:solidFill>
              <a:ln w="19050"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TextBox 50"/>
              <p:cNvSpPr txBox="1"/>
              <p:nvPr/>
            </p:nvSpPr>
            <p:spPr>
              <a:xfrm>
                <a:off x="3491880" y="3501368"/>
                <a:ext cx="432048" cy="1754326"/>
              </a:xfrm>
              <a:prstGeom prst="rect">
                <a:avLst/>
              </a:prstGeom>
              <a:noFill/>
            </p:spPr>
            <p:txBody>
              <a:bodyPr wrap="square" rtlCol="0">
                <a:spAutoFit/>
              </a:bodyPr>
              <a:lstStyle/>
              <a:p>
                <a:r>
                  <a:rPr lang="en-US" altLang="zh-CN" dirty="0"/>
                  <a:t>x</a:t>
                </a:r>
                <a:r>
                  <a:rPr lang="en-US" altLang="zh-CN" baseline="-25000" dirty="0"/>
                  <a:t>1</a:t>
                </a:r>
                <a:r>
                  <a:rPr lang="zh-CN" altLang="en-US" dirty="0"/>
                  <a:t>对</a:t>
                </a:r>
                <a:r>
                  <a:rPr lang="en-US" altLang="zh-CN" dirty="0"/>
                  <a:t>z</a:t>
                </a:r>
                <a:r>
                  <a:rPr lang="zh-CN" altLang="en-US" dirty="0"/>
                  <a:t>的贡献</a:t>
                </a:r>
                <a:endParaRPr lang="zh-CN" altLang="en-US" dirty="0"/>
              </a:p>
            </p:txBody>
          </p:sp>
          <p:cxnSp>
            <p:nvCxnSpPr>
              <p:cNvPr id="38" name="直接箭头连接符 37"/>
              <p:cNvCxnSpPr/>
              <p:nvPr/>
            </p:nvCxnSpPr>
            <p:spPr bwMode="auto">
              <a:xfrm flipH="1">
                <a:off x="6732240" y="3933416"/>
                <a:ext cx="72008" cy="288032"/>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Box 52"/>
              <p:cNvSpPr txBox="1"/>
              <p:nvPr/>
            </p:nvSpPr>
            <p:spPr>
              <a:xfrm>
                <a:off x="4572000" y="3285344"/>
                <a:ext cx="1296144" cy="646331"/>
              </a:xfrm>
              <a:prstGeom prst="rect">
                <a:avLst/>
              </a:prstGeom>
              <a:noFill/>
            </p:spPr>
            <p:txBody>
              <a:bodyPr wrap="square" rtlCol="0">
                <a:spAutoFit/>
              </a:bodyPr>
              <a:lstStyle/>
              <a:p>
                <a:r>
                  <a:rPr lang="zh-CN" altLang="en-US" dirty="0"/>
                  <a:t>满足比例性假设</a:t>
                </a:r>
                <a:endParaRPr lang="zh-CN" altLang="en-US" dirty="0"/>
              </a:p>
            </p:txBody>
          </p:sp>
          <p:sp>
            <p:nvSpPr>
              <p:cNvPr id="40" name="TextBox 53"/>
              <p:cNvSpPr txBox="1"/>
              <p:nvPr/>
            </p:nvSpPr>
            <p:spPr>
              <a:xfrm>
                <a:off x="6444208" y="3357352"/>
                <a:ext cx="1296144" cy="646331"/>
              </a:xfrm>
              <a:prstGeom prst="rect">
                <a:avLst/>
              </a:prstGeom>
              <a:noFill/>
            </p:spPr>
            <p:txBody>
              <a:bodyPr wrap="square" rtlCol="0">
                <a:spAutoFit/>
              </a:bodyPr>
              <a:lstStyle/>
              <a:p>
                <a:r>
                  <a:rPr lang="zh-CN" altLang="en-US" dirty="0"/>
                  <a:t>违反比例性假设</a:t>
                </a:r>
                <a:endParaRPr lang="zh-CN" altLang="en-US" dirty="0"/>
              </a:p>
            </p:txBody>
          </p:sp>
          <p:cxnSp>
            <p:nvCxnSpPr>
              <p:cNvPr id="41" name="直接箭头连接符 40"/>
              <p:cNvCxnSpPr/>
              <p:nvPr/>
            </p:nvCxnSpPr>
            <p:spPr bwMode="auto">
              <a:xfrm>
                <a:off x="5652120" y="3501368"/>
                <a:ext cx="432048" cy="216024"/>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2" name="TextBox 56"/>
            <p:cNvSpPr txBox="1"/>
            <p:nvPr/>
          </p:nvSpPr>
          <p:spPr>
            <a:xfrm>
              <a:off x="6876256" y="5517232"/>
              <a:ext cx="2160240" cy="923330"/>
            </a:xfrm>
            <a:prstGeom prst="rect">
              <a:avLst/>
            </a:prstGeom>
            <a:noFill/>
          </p:spPr>
          <p:txBody>
            <a:bodyPr wrap="square" rtlCol="0">
              <a:spAutoFit/>
            </a:bodyPr>
            <a:lstStyle/>
            <a:p>
              <a:r>
                <a:rPr lang="zh-CN" altLang="en-US" dirty="0"/>
                <a:t>情况</a:t>
              </a:r>
              <a:r>
                <a:rPr lang="en-US" altLang="zh-CN" dirty="0"/>
                <a:t>3</a:t>
              </a:r>
              <a:r>
                <a:rPr lang="zh-CN" altLang="en-US" dirty="0"/>
                <a:t>：销售目标增加导致的广告费投入增加</a:t>
              </a:r>
              <a:endParaRPr lang="zh-CN" altLang="en-US" dirty="0"/>
            </a:p>
          </p:txBody>
        </p:sp>
        <p:sp>
          <p:nvSpPr>
            <p:cNvPr id="33" name="任意多边形 69"/>
            <p:cNvSpPr/>
            <p:nvPr/>
          </p:nvSpPr>
          <p:spPr bwMode="auto">
            <a:xfrm>
              <a:off x="5732585" y="4958862"/>
              <a:ext cx="2890910" cy="1434904"/>
            </a:xfrm>
            <a:custGeom>
              <a:avLst/>
              <a:gdLst>
                <a:gd name="connsiteX0" fmla="*/ 0 w 2890910"/>
                <a:gd name="connsiteY0" fmla="*/ 1434904 h 1434904"/>
                <a:gd name="connsiteX1" fmla="*/ 534572 w 2890910"/>
                <a:gd name="connsiteY1" fmla="*/ 921433 h 1434904"/>
                <a:gd name="connsiteX2" fmla="*/ 1153550 w 2890910"/>
                <a:gd name="connsiteY2" fmla="*/ 429064 h 1434904"/>
                <a:gd name="connsiteX3" fmla="*/ 1955409 w 2890910"/>
                <a:gd name="connsiteY3" fmla="*/ 98473 h 1434904"/>
                <a:gd name="connsiteX4" fmla="*/ 2890910 w 2890910"/>
                <a:gd name="connsiteY4" fmla="*/ 0 h 1434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910" h="1434904">
                  <a:moveTo>
                    <a:pt x="0" y="1434904"/>
                  </a:moveTo>
                  <a:cubicBezTo>
                    <a:pt x="171157" y="1261988"/>
                    <a:pt x="342314" y="1089073"/>
                    <a:pt x="534572" y="921433"/>
                  </a:cubicBezTo>
                  <a:cubicBezTo>
                    <a:pt x="726830" y="753793"/>
                    <a:pt x="916744" y="566224"/>
                    <a:pt x="1153550" y="429064"/>
                  </a:cubicBezTo>
                  <a:cubicBezTo>
                    <a:pt x="1390356" y="291904"/>
                    <a:pt x="1665849" y="169984"/>
                    <a:pt x="1955409" y="98473"/>
                  </a:cubicBezTo>
                  <a:cubicBezTo>
                    <a:pt x="2244969" y="26962"/>
                    <a:pt x="2567939" y="13481"/>
                    <a:pt x="2890910" y="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endParaRPr kumimoji="0" lang="zh-CN" altLang="en-US" sz="1800" b="0" i="0" u="none" strike="noStrike" cap="none" normalizeH="0" baseline="0">
                <a:ln>
                  <a:noFill/>
                </a:ln>
                <a:solidFill>
                  <a:schemeClr val="tx1"/>
                </a:solidFill>
                <a:effectLst/>
                <a:latin typeface="Arial" panose="020B0604020202090204" pitchFamily="34" charset="0"/>
                <a:ea typeface="宋体" panose="02010600030101010101" pitchFamily="2" charset="-122"/>
              </a:endParaRPr>
            </a:p>
          </p:txBody>
        </p:sp>
      </p:grpSp>
      <p:sp>
        <p:nvSpPr>
          <p:cNvPr id="42" name="TextBox 78"/>
          <p:cNvSpPr txBox="1"/>
          <p:nvPr/>
        </p:nvSpPr>
        <p:spPr>
          <a:xfrm>
            <a:off x="593769" y="4409271"/>
            <a:ext cx="5617012" cy="1938992"/>
          </a:xfrm>
          <a:prstGeom prst="rect">
            <a:avLst/>
          </a:prstGeom>
          <a:solidFill>
            <a:schemeClr val="bg1">
              <a:lumMod val="95000"/>
            </a:schemeClr>
          </a:solidFill>
        </p:spPr>
        <p:txBody>
          <a:bodyPr wrap="square" rtlCol="0">
            <a:spAutoFit/>
          </a:bodyPr>
          <a:lstStyle/>
          <a:p>
            <a:r>
              <a:rPr lang="en-US" altLang="zh-CN" sz="2400" dirty="0">
                <a:solidFill>
                  <a:srgbClr val="0000AC"/>
                </a:solidFill>
                <a:latin typeface="楷体" panose="02010609060101010101" pitchFamily="49" charset="-122"/>
                <a:ea typeface="楷体" panose="02010609060101010101" pitchFamily="49" charset="-122"/>
              </a:rPr>
              <a:t>Tips</a:t>
            </a:r>
            <a:r>
              <a:rPr lang="zh-CN" altLang="en-US" sz="2400" dirty="0">
                <a:solidFill>
                  <a:srgbClr val="0000AC"/>
                </a:solidFill>
                <a:latin typeface="楷体" panose="02010609060101010101" pitchFamily="49" charset="-122"/>
                <a:ea typeface="楷体" panose="02010609060101010101" pitchFamily="49" charset="-122"/>
              </a:rPr>
              <a:t>：如果比例性假设没有严重歪曲事实，则近似比例性假设成立。否则，需要使用非线性规划来代替线性规划。</a:t>
            </a:r>
            <a:endParaRPr lang="en-US" altLang="zh-CN" sz="2400" dirty="0">
              <a:solidFill>
                <a:srgbClr val="0000AC"/>
              </a:solidFill>
              <a:latin typeface="楷体" panose="02010609060101010101" pitchFamily="49" charset="-122"/>
              <a:ea typeface="楷体" panose="02010609060101010101" pitchFamily="49" charset="-122"/>
            </a:endParaRPr>
          </a:p>
          <a:p>
            <a:r>
              <a:rPr lang="zh-CN" altLang="en-US" sz="2400" dirty="0">
                <a:solidFill>
                  <a:srgbClr val="0000AC"/>
                </a:solidFill>
                <a:latin typeface="楷体" panose="02010609060101010101" pitchFamily="49" charset="-122"/>
                <a:ea typeface="楷体" panose="02010609060101010101" pitchFamily="49" charset="-122"/>
              </a:rPr>
              <a:t>然而，分线段规划问题、固定费用问题是可以转换为线性规划问题来解决的。</a:t>
            </a:r>
            <a:endParaRPr lang="zh-CN" altLang="en-US" sz="2400" dirty="0">
              <a:solidFill>
                <a:srgbClr val="0000AC"/>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20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20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2">
                                            <p:bg/>
                                          </p:spTgt>
                                        </p:tgtEl>
                                        <p:attrNameLst>
                                          <p:attrName>style.visibility</p:attrName>
                                        </p:attrNameLst>
                                      </p:cBhvr>
                                      <p:to>
                                        <p:strVal val="visible"/>
                                      </p:to>
                                    </p:set>
                                    <p:animEffect transition="in" filter="fade">
                                      <p:cBhvr>
                                        <p:cTn id="22" dur="2000"/>
                                        <p:tgtEl>
                                          <p:spTgt spid="42">
                                            <p:bg/>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2">
                                            <p:txEl>
                                              <p:pRg st="0" end="0"/>
                                            </p:txEl>
                                          </p:spTgt>
                                        </p:tgtEl>
                                        <p:attrNameLst>
                                          <p:attrName>style.visibility</p:attrName>
                                        </p:attrNameLst>
                                      </p:cBhvr>
                                      <p:to>
                                        <p:strVal val="visible"/>
                                      </p:to>
                                    </p:set>
                                    <p:animEffect transition="in" filter="fade">
                                      <p:cBhvr>
                                        <p:cTn id="25" dur="2000"/>
                                        <p:tgtEl>
                                          <p:spTgt spid="42">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2">
                                            <p:txEl>
                                              <p:pRg st="1" end="1"/>
                                            </p:txEl>
                                          </p:spTgt>
                                        </p:tgtEl>
                                        <p:attrNameLst>
                                          <p:attrName>style.visibility</p:attrName>
                                        </p:attrNameLst>
                                      </p:cBhvr>
                                      <p:to>
                                        <p:strVal val="visible"/>
                                      </p:to>
                                    </p:set>
                                    <p:animEffect transition="in" filter="fade">
                                      <p:cBhvr>
                                        <p:cTn id="28" dur="2000"/>
                                        <p:tgtEl>
                                          <p:spTgt spid="4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build="allAtOnce"/>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158824" y="119743"/>
            <a:ext cx="8229600" cy="764704"/>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j-cs"/>
              </a:rPr>
              <a:t>违反可加性假定的情况：产品交互</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j-cs"/>
            </a:endParaRPr>
          </a:p>
        </p:txBody>
      </p:sp>
      <p:sp>
        <p:nvSpPr>
          <p:cNvPr id="4" name="TextBox 4"/>
          <p:cNvSpPr txBox="1"/>
          <p:nvPr/>
        </p:nvSpPr>
        <p:spPr>
          <a:xfrm>
            <a:off x="611559" y="949762"/>
            <a:ext cx="10992611" cy="1384995"/>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交互一：两个产品的生产时间 </a:t>
            </a:r>
            <a:r>
              <a:rPr lang="en-US" altLang="zh-CN" sz="2800" dirty="0">
                <a:latin typeface="楷体" panose="02010609060101010101" pitchFamily="49" charset="-122"/>
                <a:ea typeface="楷体" panose="02010609060101010101" pitchFamily="49" charset="-122"/>
              </a:rPr>
              <a:t>= 3x</a:t>
            </a:r>
            <a:r>
              <a:rPr lang="en-US" altLang="zh-CN" sz="2800" baseline="-25000" dirty="0">
                <a:latin typeface="楷体" panose="02010609060101010101" pitchFamily="49" charset="-122"/>
                <a:ea typeface="楷体" panose="02010609060101010101" pitchFamily="49" charset="-122"/>
              </a:rPr>
              <a:t>1</a:t>
            </a:r>
            <a:r>
              <a:rPr lang="en-US" altLang="zh-CN" sz="2800" dirty="0">
                <a:latin typeface="楷体" panose="02010609060101010101" pitchFamily="49" charset="-122"/>
                <a:ea typeface="楷体" panose="02010609060101010101" pitchFamily="49" charset="-122"/>
              </a:rPr>
              <a:t>+5x</a:t>
            </a:r>
            <a:r>
              <a:rPr lang="en-US" altLang="zh-CN" sz="2800" baseline="-25000" dirty="0">
                <a:latin typeface="楷体" panose="02010609060101010101" pitchFamily="49" charset="-122"/>
                <a:ea typeface="楷体" panose="02010609060101010101" pitchFamily="49" charset="-122"/>
              </a:rPr>
              <a:t>2</a:t>
            </a:r>
            <a:r>
              <a:rPr lang="en-US" altLang="zh-CN" sz="2800" dirty="0">
                <a:latin typeface="楷体" panose="02010609060101010101" pitchFamily="49" charset="-122"/>
                <a:ea typeface="楷体" panose="02010609060101010101" pitchFamily="49" charset="-122"/>
              </a:rPr>
              <a:t>+0.5x</a:t>
            </a:r>
            <a:r>
              <a:rPr lang="en-US" altLang="zh-CN" sz="2800" baseline="-25000" dirty="0">
                <a:latin typeface="楷体" panose="02010609060101010101" pitchFamily="49" charset="-122"/>
                <a:ea typeface="楷体" panose="02010609060101010101" pitchFamily="49" charset="-122"/>
              </a:rPr>
              <a:t>1</a:t>
            </a:r>
            <a:r>
              <a:rPr lang="en-US" altLang="zh-CN" sz="2800" dirty="0">
                <a:latin typeface="楷体" panose="02010609060101010101" pitchFamily="49" charset="-122"/>
                <a:ea typeface="楷体" panose="02010609060101010101" pitchFamily="49" charset="-122"/>
              </a:rPr>
              <a:t>x</a:t>
            </a:r>
            <a:r>
              <a:rPr lang="en-US" altLang="zh-CN" sz="2800" baseline="-25000" dirty="0">
                <a:latin typeface="楷体" panose="02010609060101010101" pitchFamily="49" charset="-122"/>
                <a:ea typeface="楷体" panose="02010609060101010101" pitchFamily="49" charset="-122"/>
              </a:rPr>
              <a:t>2</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额外的二次项</a:t>
            </a:r>
            <a:r>
              <a:rPr lang="en-US" altLang="zh-CN" sz="2800" dirty="0">
                <a:latin typeface="楷体" panose="02010609060101010101" pitchFamily="49" charset="-122"/>
                <a:ea typeface="楷体" panose="02010609060101010101" pitchFamily="49" charset="-122"/>
              </a:rPr>
              <a:t>0.5x</a:t>
            </a:r>
            <a:r>
              <a:rPr lang="en-US" altLang="zh-CN" sz="2800" baseline="-25000" dirty="0">
                <a:latin typeface="楷体" panose="02010609060101010101" pitchFamily="49" charset="-122"/>
                <a:ea typeface="楷体" panose="02010609060101010101" pitchFamily="49" charset="-122"/>
              </a:rPr>
              <a:t>1</a:t>
            </a:r>
            <a:r>
              <a:rPr lang="en-US" altLang="zh-CN" sz="2800" dirty="0">
                <a:latin typeface="楷体" panose="02010609060101010101" pitchFamily="49" charset="-122"/>
                <a:ea typeface="楷体" panose="02010609060101010101" pitchFamily="49" charset="-122"/>
              </a:rPr>
              <a:t>x</a:t>
            </a:r>
            <a:r>
              <a:rPr lang="en-US" altLang="zh-CN" sz="2800" baseline="-250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给出了时间浪费的方式，即在两种产品之间来回的转换生产模式导致时间浪费，其消耗了总的生产时间。</a:t>
            </a:r>
            <a:endParaRPr lang="en-US" altLang="zh-CN" sz="2800" dirty="0">
              <a:latin typeface="楷体" panose="02010609060101010101" pitchFamily="49" charset="-122"/>
              <a:ea typeface="楷体" panose="02010609060101010101" pitchFamily="49" charset="-122"/>
            </a:endParaRPr>
          </a:p>
        </p:txBody>
      </p:sp>
      <p:sp>
        <p:nvSpPr>
          <p:cNvPr id="5" name="矩形 4"/>
          <p:cNvSpPr/>
          <p:nvPr/>
        </p:nvSpPr>
        <p:spPr>
          <a:xfrm>
            <a:off x="599695" y="2694058"/>
            <a:ext cx="10992610" cy="1815882"/>
          </a:xfrm>
          <a:prstGeom prst="rect">
            <a:avLst/>
          </a:prstGeom>
        </p:spPr>
        <p:txBody>
          <a:bodyPr wrap="square">
            <a:spAutoFit/>
          </a:bodyPr>
          <a:lstStyle/>
          <a:p>
            <a:pPr lvl="0"/>
            <a:r>
              <a:rPr lang="zh-CN" altLang="en-US" sz="2800" dirty="0">
                <a:latin typeface="楷体" panose="02010609060101010101" pitchFamily="49" charset="-122"/>
                <a:ea typeface="楷体" panose="02010609060101010101" pitchFamily="49" charset="-122"/>
              </a:rPr>
              <a:t>交互二</a:t>
            </a:r>
            <a:r>
              <a:rPr lang="zh-CN" altLang="en-US" sz="2800" dirty="0">
                <a:solidFill>
                  <a:srgbClr val="000000"/>
                </a:solidFill>
                <a:latin typeface="楷体" panose="02010609060101010101" pitchFamily="49" charset="-122"/>
                <a:ea typeface="楷体" panose="02010609060101010101" pitchFamily="49" charset="-122"/>
              </a:rPr>
              <a:t>：两个产品的生产时间 </a:t>
            </a:r>
            <a:r>
              <a:rPr lang="en-US" altLang="zh-CN" sz="2800" dirty="0">
                <a:solidFill>
                  <a:srgbClr val="000000"/>
                </a:solidFill>
                <a:latin typeface="楷体" panose="02010609060101010101" pitchFamily="49" charset="-122"/>
                <a:ea typeface="楷体" panose="02010609060101010101" pitchFamily="49" charset="-122"/>
              </a:rPr>
              <a:t>= 3x</a:t>
            </a:r>
            <a:r>
              <a:rPr lang="en-US" altLang="zh-CN" sz="2800" baseline="-25000" dirty="0">
                <a:solidFill>
                  <a:srgbClr val="000000"/>
                </a:solidFill>
                <a:latin typeface="楷体" panose="02010609060101010101" pitchFamily="49" charset="-122"/>
                <a:ea typeface="楷体" panose="02010609060101010101" pitchFamily="49" charset="-122"/>
              </a:rPr>
              <a:t>1</a:t>
            </a:r>
            <a:r>
              <a:rPr lang="en-US" altLang="zh-CN" sz="2800" dirty="0">
                <a:solidFill>
                  <a:srgbClr val="000000"/>
                </a:solidFill>
                <a:latin typeface="楷体" panose="02010609060101010101" pitchFamily="49" charset="-122"/>
                <a:ea typeface="楷体" panose="02010609060101010101" pitchFamily="49" charset="-122"/>
              </a:rPr>
              <a:t>+2x</a:t>
            </a:r>
            <a:r>
              <a:rPr lang="en-US" altLang="zh-CN" sz="2800" baseline="-25000" dirty="0">
                <a:solidFill>
                  <a:srgbClr val="000000"/>
                </a:solidFill>
                <a:latin typeface="楷体" panose="02010609060101010101" pitchFamily="49" charset="-122"/>
                <a:ea typeface="楷体" panose="02010609060101010101" pitchFamily="49" charset="-122"/>
              </a:rPr>
              <a:t>2</a:t>
            </a:r>
            <a:r>
              <a:rPr lang="en-US" altLang="zh-CN" sz="2800" dirty="0">
                <a:solidFill>
                  <a:srgbClr val="000000"/>
                </a:solidFill>
                <a:latin typeface="楷体" panose="02010609060101010101" pitchFamily="49" charset="-122"/>
                <a:ea typeface="楷体" panose="02010609060101010101" pitchFamily="49" charset="-122"/>
              </a:rPr>
              <a:t>-0.1x</a:t>
            </a:r>
            <a:r>
              <a:rPr lang="en-US" altLang="zh-CN" sz="2800" baseline="30000" dirty="0">
                <a:solidFill>
                  <a:srgbClr val="000000"/>
                </a:solidFill>
                <a:latin typeface="楷体" panose="02010609060101010101" pitchFamily="49" charset="-122"/>
                <a:ea typeface="楷体" panose="02010609060101010101" pitchFamily="49" charset="-122"/>
              </a:rPr>
              <a:t>2</a:t>
            </a:r>
            <a:r>
              <a:rPr lang="en-US" altLang="zh-CN" sz="2800" baseline="-25000" dirty="0">
                <a:solidFill>
                  <a:srgbClr val="000000"/>
                </a:solidFill>
                <a:latin typeface="楷体" panose="02010609060101010101" pitchFamily="49" charset="-122"/>
                <a:ea typeface="楷体" panose="02010609060101010101" pitchFamily="49" charset="-122"/>
              </a:rPr>
              <a:t>1</a:t>
            </a:r>
            <a:r>
              <a:rPr lang="en-US" altLang="zh-CN" sz="2800" dirty="0">
                <a:solidFill>
                  <a:srgbClr val="000000"/>
                </a:solidFill>
                <a:latin typeface="楷体" panose="02010609060101010101" pitchFamily="49" charset="-122"/>
                <a:ea typeface="楷体" panose="02010609060101010101" pitchFamily="49" charset="-122"/>
              </a:rPr>
              <a:t>x</a:t>
            </a:r>
            <a:r>
              <a:rPr lang="en-US" altLang="zh-CN" sz="2800" baseline="-25000" dirty="0">
                <a:solidFill>
                  <a:srgbClr val="000000"/>
                </a:solidFill>
                <a:latin typeface="楷体" panose="02010609060101010101" pitchFamily="49" charset="-122"/>
                <a:ea typeface="楷体" panose="02010609060101010101" pitchFamily="49" charset="-122"/>
              </a:rPr>
              <a:t>2</a:t>
            </a:r>
            <a:endParaRPr lang="en-US" altLang="zh-CN" sz="2800" baseline="-25000" dirty="0">
              <a:solidFill>
                <a:srgbClr val="000000"/>
              </a:solidFill>
              <a:latin typeface="楷体" panose="02010609060101010101" pitchFamily="49" charset="-122"/>
              <a:ea typeface="楷体" panose="02010609060101010101" pitchFamily="49" charset="-122"/>
            </a:endParaRPr>
          </a:p>
          <a:p>
            <a:pPr lvl="0"/>
            <a:r>
              <a:rPr lang="zh-CN" altLang="en-US" sz="2800" dirty="0">
                <a:solidFill>
                  <a:srgbClr val="000000"/>
                </a:solidFill>
                <a:latin typeface="楷体" panose="02010609060101010101" pitchFamily="49" charset="-122"/>
                <a:ea typeface="楷体" panose="02010609060101010101" pitchFamily="49" charset="-122"/>
              </a:rPr>
              <a:t>这种情况可能发生在利用空闲时间并行使用同一机器和设备，达到使多个产品联合生产的时间</a:t>
            </a:r>
            <a:r>
              <a:rPr lang="en-US" altLang="zh-CN" sz="2800" dirty="0">
                <a:solidFill>
                  <a:srgbClr val="000000"/>
                </a:solidFill>
                <a:latin typeface="楷体" panose="02010609060101010101" pitchFamily="49" charset="-122"/>
                <a:ea typeface="楷体" panose="02010609060101010101" pitchFamily="49" charset="-122"/>
              </a:rPr>
              <a:t>(</a:t>
            </a:r>
            <a:r>
              <a:rPr lang="zh-CN" altLang="en-US" sz="2800" dirty="0">
                <a:solidFill>
                  <a:srgbClr val="000000"/>
                </a:solidFill>
                <a:latin typeface="楷体" panose="02010609060101010101" pitchFamily="49" charset="-122"/>
                <a:ea typeface="楷体" panose="02010609060101010101" pitchFamily="49" charset="-122"/>
              </a:rPr>
              <a:t>包括空闲时间</a:t>
            </a:r>
            <a:r>
              <a:rPr lang="en-US" altLang="zh-CN" sz="2800" dirty="0">
                <a:solidFill>
                  <a:srgbClr val="000000"/>
                </a:solidFill>
                <a:latin typeface="楷体" panose="02010609060101010101" pitchFamily="49" charset="-122"/>
                <a:ea typeface="楷体" panose="02010609060101010101" pitchFamily="49" charset="-122"/>
              </a:rPr>
              <a:t>)</a:t>
            </a:r>
            <a:r>
              <a:rPr lang="zh-CN" altLang="en-US" sz="2800" dirty="0">
                <a:solidFill>
                  <a:srgbClr val="000000"/>
                </a:solidFill>
                <a:latin typeface="楷体" panose="02010609060101010101" pitchFamily="49" charset="-122"/>
                <a:ea typeface="楷体" panose="02010609060101010101" pitchFamily="49" charset="-122"/>
              </a:rPr>
              <a:t>将少于各自单独生产产品的时间总和。</a:t>
            </a:r>
            <a:endParaRPr lang="zh-CN" altLang="en-US" sz="2800" dirty="0">
              <a:solidFill>
                <a:srgbClr val="000000"/>
              </a:solidFill>
              <a:latin typeface="楷体" panose="02010609060101010101" pitchFamily="49" charset="-122"/>
              <a:ea typeface="楷体" panose="02010609060101010101" pitchFamily="49" charset="-122"/>
            </a:endParaRPr>
          </a:p>
        </p:txBody>
      </p:sp>
      <p:sp>
        <p:nvSpPr>
          <p:cNvPr id="6" name="矩形 5"/>
          <p:cNvSpPr/>
          <p:nvPr/>
        </p:nvSpPr>
        <p:spPr>
          <a:xfrm>
            <a:off x="524473" y="4768083"/>
            <a:ext cx="11308298" cy="1384995"/>
          </a:xfrm>
          <a:prstGeom prst="rect">
            <a:avLst/>
          </a:prstGeom>
          <a:solidFill>
            <a:schemeClr val="bg1">
              <a:lumMod val="95000"/>
            </a:schemeClr>
          </a:solidFill>
        </p:spPr>
        <p:txBody>
          <a:bodyPr wrap="square">
            <a:spAutoFit/>
          </a:bodyPr>
          <a:lstStyle/>
          <a:p>
            <a:pPr lvl="0"/>
            <a:r>
              <a:rPr lang="en-US" altLang="zh-CN" sz="2800" dirty="0">
                <a:solidFill>
                  <a:srgbClr val="0000AC"/>
                </a:solidFill>
                <a:latin typeface="楷体" panose="02010609060101010101" pitchFamily="49" charset="-122"/>
                <a:ea typeface="楷体" panose="02010609060101010101" pitchFamily="49" charset="-122"/>
              </a:rPr>
              <a:t>Tips</a:t>
            </a:r>
            <a:r>
              <a:rPr lang="zh-CN" altLang="en-US" sz="2800" dirty="0">
                <a:solidFill>
                  <a:srgbClr val="0000AC"/>
                </a:solidFill>
                <a:latin typeface="楷体" panose="02010609060101010101" pitchFamily="49" charset="-122"/>
                <a:ea typeface="楷体" panose="02010609060101010101" pitchFamily="49" charset="-122"/>
              </a:rPr>
              <a:t>：当产品交互情况对于总体的影响不起决定作用时，可以将可加性假定作为近似情况采纳。</a:t>
            </a:r>
            <a:endParaRPr lang="en-US" altLang="zh-CN" sz="2800" dirty="0">
              <a:solidFill>
                <a:srgbClr val="0000AC"/>
              </a:solidFill>
              <a:latin typeface="楷体" panose="02010609060101010101" pitchFamily="49" charset="-122"/>
              <a:ea typeface="楷体" panose="02010609060101010101" pitchFamily="49" charset="-122"/>
            </a:endParaRPr>
          </a:p>
          <a:p>
            <a:pPr lvl="0"/>
            <a:r>
              <a:rPr lang="zh-CN" altLang="en-US" sz="2800" dirty="0">
                <a:solidFill>
                  <a:srgbClr val="0000AC"/>
                </a:solidFill>
                <a:latin typeface="楷体" panose="02010609060101010101" pitchFamily="49" charset="-122"/>
                <a:ea typeface="楷体" panose="02010609060101010101" pitchFamily="49" charset="-122"/>
              </a:rPr>
              <a:t>当可加性不是一个合理的近似情况下，就需要运用非线性规划的知识。</a:t>
            </a:r>
            <a:endParaRPr lang="zh-CN" altLang="en-US" sz="2800" dirty="0">
              <a:solidFill>
                <a:srgbClr val="0000AC"/>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2000"/>
                                        <p:tgtEl>
                                          <p:spTgt spid="5">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2000"/>
                                        <p:tgtEl>
                                          <p:spTgt spid="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bg/>
                                          </p:spTgt>
                                        </p:tgtEl>
                                        <p:attrNameLst>
                                          <p:attrName>style.visibility</p:attrName>
                                        </p:attrNameLst>
                                      </p:cBhvr>
                                      <p:to>
                                        <p:strVal val="visible"/>
                                      </p:to>
                                    </p:set>
                                    <p:animEffect transition="in" filter="fade">
                                      <p:cBhvr>
                                        <p:cTn id="23" dur="2000"/>
                                        <p:tgtEl>
                                          <p:spTgt spid="6">
                                            <p:bg/>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fade">
                                      <p:cBhvr>
                                        <p:cTn id="26" dur="2000"/>
                                        <p:tgtEl>
                                          <p:spTgt spid="6">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Effect transition="in" filter="fade">
                                      <p:cBhvr>
                                        <p:cTn id="29"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animBg="1" build="allAtOnce"/>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351992" y="323461"/>
            <a:ext cx="10983458" cy="5256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latin typeface="楷体" panose="02010609060101010101" pitchFamily="49" charset="-122"/>
                <a:ea typeface="楷体" panose="02010609060101010101" pitchFamily="49" charset="-122"/>
              </a:rPr>
              <a:t>可除性假定</a:t>
            </a:r>
            <a:r>
              <a:rPr lang="en-US" altLang="zh-CN" sz="3200" b="1" dirty="0">
                <a:latin typeface="楷体" panose="02010609060101010101" pitchFamily="49" charset="-122"/>
                <a:ea typeface="楷体" panose="02010609060101010101" pitchFamily="49" charset="-122"/>
              </a:rPr>
              <a:t>(</a:t>
            </a:r>
            <a:r>
              <a:rPr lang="zh-CN" altLang="en-US" sz="3200" b="1" dirty="0">
                <a:latin typeface="楷体" panose="02010609060101010101" pitchFamily="49" charset="-122"/>
                <a:ea typeface="楷体" panose="02010609060101010101" pitchFamily="49" charset="-122"/>
              </a:rPr>
              <a:t>连续性假定</a:t>
            </a:r>
            <a:r>
              <a:rPr lang="en-US" altLang="zh-CN" sz="3200" b="1" dirty="0">
                <a:latin typeface="楷体" panose="02010609060101010101" pitchFamily="49" charset="-122"/>
                <a:ea typeface="楷体" panose="02010609060101010101" pitchFamily="49" charset="-122"/>
              </a:rPr>
              <a:t>)</a:t>
            </a:r>
            <a:endParaRPr lang="en-US" altLang="zh-CN" sz="3200" b="1" dirty="0">
              <a:latin typeface="楷体" panose="02010609060101010101" pitchFamily="49" charset="-122"/>
              <a:ea typeface="楷体" panose="02010609060101010101" pitchFamily="49" charset="-122"/>
            </a:endParaRPr>
          </a:p>
        </p:txBody>
      </p:sp>
      <p:sp>
        <p:nvSpPr>
          <p:cNvPr id="3" name="内容占位符 2"/>
          <p:cNvSpPr txBox="1"/>
          <p:nvPr/>
        </p:nvSpPr>
        <p:spPr>
          <a:xfrm>
            <a:off x="351992" y="1043541"/>
            <a:ext cx="11491664" cy="864096"/>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Arial" panose="020B0604020202090204" pitchFamily="34" charset="0"/>
              <a:buNone/>
            </a:pPr>
            <a:r>
              <a:rPr lang="zh-CN" altLang="en-US" dirty="0">
                <a:latin typeface="楷体" panose="02010609060101010101" pitchFamily="49" charset="-122"/>
                <a:ea typeface="楷体" panose="02010609060101010101" pitchFamily="49" charset="-122"/>
              </a:rPr>
              <a:t>可除性假定</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连续性假定</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允许每个决策变量使用分数值。即活动可用小数方式表示。</a:t>
            </a:r>
            <a:endParaRPr lang="en-US" altLang="zh-CN" dirty="0">
              <a:latin typeface="楷体" panose="02010609060101010101" pitchFamily="49" charset="-122"/>
              <a:ea typeface="楷体" panose="02010609060101010101" pitchFamily="49" charset="-122"/>
            </a:endParaRPr>
          </a:p>
        </p:txBody>
      </p:sp>
      <p:sp>
        <p:nvSpPr>
          <p:cNvPr id="4" name="矩形 3"/>
          <p:cNvSpPr/>
          <p:nvPr/>
        </p:nvSpPr>
        <p:spPr>
          <a:xfrm>
            <a:off x="351992" y="1979645"/>
            <a:ext cx="11339264" cy="1965666"/>
          </a:xfrm>
          <a:prstGeom prst="rect">
            <a:avLst/>
          </a:prstGeom>
        </p:spPr>
        <p:txBody>
          <a:bodyPr wrap="square">
            <a:spAutoFit/>
          </a:bodyPr>
          <a:lstStyle/>
          <a:p>
            <a:pPr marL="342900" lvl="0" indent="-342900" fontAlgn="base">
              <a:lnSpc>
                <a:spcPct val="110000"/>
              </a:lnSpc>
              <a:spcBef>
                <a:spcPts val="1800"/>
              </a:spcBef>
              <a:spcAft>
                <a:spcPct val="0"/>
              </a:spcAft>
            </a:pPr>
            <a:r>
              <a:rPr lang="zh-CN" altLang="en-US" sz="2800" dirty="0">
                <a:solidFill>
                  <a:srgbClr val="000000"/>
                </a:solidFill>
                <a:latin typeface="楷体" panose="02010609060101010101" pitchFamily="49" charset="-122"/>
                <a:ea typeface="楷体" panose="02010609060101010101" pitchFamily="49" charset="-122"/>
              </a:rPr>
              <a:t>近似可除性假定：在许多不具有可除性的情况下，可将</a:t>
            </a:r>
            <a:r>
              <a:rPr lang="en-US" altLang="zh-CN" sz="2800" dirty="0">
                <a:solidFill>
                  <a:srgbClr val="000000"/>
                </a:solidFill>
                <a:latin typeface="楷体" panose="02010609060101010101" pitchFamily="49" charset="-122"/>
                <a:ea typeface="楷体" panose="02010609060101010101" pitchFamily="49" charset="-122"/>
              </a:rPr>
              <a:t>LP</a:t>
            </a:r>
            <a:r>
              <a:rPr lang="zh-CN" altLang="en-US" sz="2800" dirty="0">
                <a:solidFill>
                  <a:srgbClr val="000000"/>
                </a:solidFill>
                <a:latin typeface="楷体" panose="02010609060101010101" pitchFamily="49" charset="-122"/>
                <a:ea typeface="楷体" panose="02010609060101010101" pitchFamily="49" charset="-122"/>
              </a:rPr>
              <a:t>的最优解进行四舍五入为一个整数，可以得到一个合理的解。如一个</a:t>
            </a:r>
            <a:r>
              <a:rPr lang="en-US" altLang="zh-CN" sz="2800" dirty="0">
                <a:solidFill>
                  <a:srgbClr val="000000"/>
                </a:solidFill>
                <a:latin typeface="楷体" panose="02010609060101010101" pitchFamily="49" charset="-122"/>
                <a:ea typeface="楷体" panose="02010609060101010101" pitchFamily="49" charset="-122"/>
              </a:rPr>
              <a:t>LP</a:t>
            </a:r>
            <a:r>
              <a:rPr lang="zh-CN" altLang="en-US" sz="2800" dirty="0">
                <a:solidFill>
                  <a:srgbClr val="000000"/>
                </a:solidFill>
                <a:latin typeface="楷体" panose="02010609060101010101" pitchFamily="49" charset="-122"/>
                <a:ea typeface="楷体" panose="02010609060101010101" pitchFamily="49" charset="-122"/>
              </a:rPr>
              <a:t>问题说明一家汽车公司应当在当年生产</a:t>
            </a:r>
            <a:r>
              <a:rPr lang="en-US" altLang="zh-CN" sz="2800" dirty="0">
                <a:solidFill>
                  <a:srgbClr val="000000"/>
                </a:solidFill>
                <a:latin typeface="楷体" panose="02010609060101010101" pitchFamily="49" charset="-122"/>
                <a:ea typeface="楷体" panose="02010609060101010101" pitchFamily="49" charset="-122"/>
              </a:rPr>
              <a:t>150,000.4</a:t>
            </a:r>
            <a:r>
              <a:rPr lang="zh-CN" altLang="en-US" sz="2800" dirty="0">
                <a:solidFill>
                  <a:srgbClr val="000000"/>
                </a:solidFill>
                <a:latin typeface="楷体" panose="02010609060101010101" pitchFamily="49" charset="-122"/>
                <a:ea typeface="楷体" panose="02010609060101010101" pitchFamily="49" charset="-122"/>
              </a:rPr>
              <a:t>台微型汽车，这是取</a:t>
            </a:r>
            <a:r>
              <a:rPr lang="en-US" altLang="zh-CN" sz="2800" dirty="0">
                <a:solidFill>
                  <a:srgbClr val="000000"/>
                </a:solidFill>
                <a:latin typeface="楷体" panose="02010609060101010101" pitchFamily="49" charset="-122"/>
                <a:ea typeface="楷体" panose="02010609060101010101" pitchFamily="49" charset="-122"/>
              </a:rPr>
              <a:t>150,000</a:t>
            </a:r>
            <a:r>
              <a:rPr lang="zh-CN" altLang="en-US" sz="2800" dirty="0">
                <a:solidFill>
                  <a:srgbClr val="000000"/>
                </a:solidFill>
                <a:latin typeface="楷体" panose="02010609060101010101" pitchFamily="49" charset="-122"/>
                <a:ea typeface="楷体" panose="02010609060101010101" pitchFamily="49" charset="-122"/>
              </a:rPr>
              <a:t>或</a:t>
            </a:r>
            <a:r>
              <a:rPr lang="en-US" altLang="zh-CN" sz="2800" dirty="0">
                <a:solidFill>
                  <a:srgbClr val="000000"/>
                </a:solidFill>
                <a:latin typeface="楷体" panose="02010609060101010101" pitchFamily="49" charset="-122"/>
                <a:ea typeface="楷体" panose="02010609060101010101" pitchFamily="49" charset="-122"/>
              </a:rPr>
              <a:t>150,001</a:t>
            </a:r>
            <a:r>
              <a:rPr lang="zh-CN" altLang="en-US" sz="2800" dirty="0">
                <a:solidFill>
                  <a:srgbClr val="000000"/>
                </a:solidFill>
                <a:latin typeface="楷体" panose="02010609060101010101" pitchFamily="49" charset="-122"/>
                <a:ea typeface="楷体" panose="02010609060101010101" pitchFamily="49" charset="-122"/>
              </a:rPr>
              <a:t>，都可使这家公司确信它相当接近最优的生产计划。</a:t>
            </a:r>
            <a:endParaRPr lang="en-US" altLang="zh-CN" sz="2800" dirty="0">
              <a:solidFill>
                <a:srgbClr val="000000"/>
              </a:solidFill>
              <a:latin typeface="楷体" panose="02010609060101010101" pitchFamily="49" charset="-122"/>
              <a:ea typeface="楷体" panose="02010609060101010101" pitchFamily="49" charset="-122"/>
            </a:endParaRPr>
          </a:p>
        </p:txBody>
      </p:sp>
      <p:sp>
        <p:nvSpPr>
          <p:cNvPr id="5" name="矩形 4"/>
          <p:cNvSpPr/>
          <p:nvPr/>
        </p:nvSpPr>
        <p:spPr>
          <a:xfrm>
            <a:off x="351992" y="4145109"/>
            <a:ext cx="11195248" cy="1815882"/>
          </a:xfrm>
          <a:prstGeom prst="rect">
            <a:avLst/>
          </a:prstGeom>
        </p:spPr>
        <p:txBody>
          <a:bodyPr wrap="square">
            <a:spAutoFit/>
          </a:bodyPr>
          <a:lstStyle/>
          <a:p>
            <a:r>
              <a:rPr lang="zh-CN" altLang="en-US" sz="2800" dirty="0">
                <a:solidFill>
                  <a:srgbClr val="000000"/>
                </a:solidFill>
                <a:latin typeface="楷体" panose="02010609060101010101" pitchFamily="49" charset="-122"/>
                <a:ea typeface="楷体" panose="02010609060101010101" pitchFamily="49" charset="-122"/>
              </a:rPr>
              <a:t>假定不成立：但，如果是决策导弹发射场的建设问题，这个</a:t>
            </a:r>
            <a:r>
              <a:rPr lang="en-US" altLang="zh-CN" sz="2800" dirty="0">
                <a:solidFill>
                  <a:srgbClr val="000000"/>
                </a:solidFill>
                <a:latin typeface="楷体" panose="02010609060101010101" pitchFamily="49" charset="-122"/>
                <a:ea typeface="楷体" panose="02010609060101010101" pitchFamily="49" charset="-122"/>
              </a:rPr>
              <a:t>LP</a:t>
            </a:r>
            <a:r>
              <a:rPr lang="zh-CN" altLang="en-US" sz="2800" dirty="0">
                <a:solidFill>
                  <a:srgbClr val="000000"/>
                </a:solidFill>
                <a:latin typeface="楷体" panose="02010609060101010101" pitchFamily="49" charset="-122"/>
                <a:ea typeface="楷体" panose="02010609060101010101" pitchFamily="49" charset="-122"/>
              </a:rPr>
              <a:t>的最优问题说明应当建设</a:t>
            </a:r>
            <a:r>
              <a:rPr lang="en-US" altLang="zh-CN" sz="2800" dirty="0">
                <a:solidFill>
                  <a:srgbClr val="000000"/>
                </a:solidFill>
                <a:latin typeface="楷体" panose="02010609060101010101" pitchFamily="49" charset="-122"/>
                <a:ea typeface="楷体" panose="02010609060101010101" pitchFamily="49" charset="-122"/>
              </a:rPr>
              <a:t>0.4</a:t>
            </a:r>
            <a:r>
              <a:rPr lang="zh-CN" altLang="en-US" sz="2800" dirty="0">
                <a:solidFill>
                  <a:srgbClr val="000000"/>
                </a:solidFill>
                <a:latin typeface="楷体" panose="02010609060101010101" pitchFamily="49" charset="-122"/>
                <a:ea typeface="楷体" panose="02010609060101010101" pitchFamily="49" charset="-122"/>
              </a:rPr>
              <a:t>个导弹发射场，这时将导弹发射场的数量确定为</a:t>
            </a:r>
            <a:r>
              <a:rPr lang="en-US" altLang="zh-CN" sz="2800" dirty="0">
                <a:solidFill>
                  <a:srgbClr val="000000"/>
                </a:solidFill>
                <a:latin typeface="楷体" panose="02010609060101010101" pitchFamily="49" charset="-122"/>
                <a:ea typeface="楷体" panose="02010609060101010101" pitchFamily="49" charset="-122"/>
              </a:rPr>
              <a:t>0</a:t>
            </a:r>
            <a:r>
              <a:rPr lang="zh-CN" altLang="en-US" sz="2800" dirty="0">
                <a:solidFill>
                  <a:srgbClr val="000000"/>
                </a:solidFill>
                <a:latin typeface="楷体" panose="02010609060101010101" pitchFamily="49" charset="-122"/>
                <a:ea typeface="楷体" panose="02010609060101010101" pitchFamily="49" charset="-122"/>
              </a:rPr>
              <a:t>或</a:t>
            </a:r>
            <a:r>
              <a:rPr lang="en-US" altLang="zh-CN" sz="2800" dirty="0">
                <a:solidFill>
                  <a:srgbClr val="000000"/>
                </a:solidFill>
                <a:latin typeface="楷体" panose="02010609060101010101" pitchFamily="49" charset="-122"/>
                <a:ea typeface="楷体" panose="02010609060101010101" pitchFamily="49" charset="-122"/>
              </a:rPr>
              <a:t>1</a:t>
            </a:r>
            <a:r>
              <a:rPr lang="zh-CN" altLang="en-US" sz="2800" dirty="0">
                <a:solidFill>
                  <a:srgbClr val="000000"/>
                </a:solidFill>
                <a:latin typeface="楷体" panose="02010609060101010101" pitchFamily="49" charset="-122"/>
                <a:ea typeface="楷体" panose="02010609060101010101" pitchFamily="49" charset="-122"/>
              </a:rPr>
              <a:t>，将有很大的区别</a:t>
            </a:r>
            <a:r>
              <a:rPr lang="en-US" altLang="zh-CN" sz="2800" dirty="0">
                <a:solidFill>
                  <a:srgbClr val="000000"/>
                </a:solidFill>
                <a:latin typeface="楷体" panose="02010609060101010101" pitchFamily="49" charset="-122"/>
                <a:ea typeface="楷体" panose="02010609060101010101" pitchFamily="49" charset="-122"/>
              </a:rPr>
              <a:t>!</a:t>
            </a:r>
            <a:r>
              <a:rPr lang="zh-CN" altLang="en-US" sz="2800" dirty="0">
                <a:solidFill>
                  <a:srgbClr val="000000"/>
                </a:solidFill>
                <a:latin typeface="楷体" panose="02010609060101010101" pitchFamily="49" charset="-122"/>
                <a:ea typeface="楷体" panose="02010609060101010101" pitchFamily="49" charset="-122"/>
              </a:rPr>
              <a:t>这时，需要运用整数规划的方法，因为导弹发射场的数量肯定是不可除的。具有此种限制的问题称为整数规划问题。</a:t>
            </a:r>
            <a:endParaRPr lang="zh-CN" altLang="en-US" sz="20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67544" y="0"/>
            <a:ext cx="8229600" cy="7937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latin typeface="楷体" panose="02010609060101010101" pitchFamily="49" charset="-122"/>
                <a:ea typeface="楷体" panose="02010609060101010101" pitchFamily="49" charset="-122"/>
              </a:rPr>
              <a:t>确定性假定</a:t>
            </a:r>
            <a:endParaRPr lang="en-US" altLang="zh-CN" sz="3200" b="1" dirty="0">
              <a:latin typeface="楷体" panose="02010609060101010101" pitchFamily="49" charset="-122"/>
              <a:ea typeface="楷体" panose="02010609060101010101" pitchFamily="49" charset="-122"/>
            </a:endParaRPr>
          </a:p>
        </p:txBody>
      </p:sp>
      <p:sp>
        <p:nvSpPr>
          <p:cNvPr id="3" name="内容占位符 2"/>
          <p:cNvSpPr txBox="1"/>
          <p:nvPr/>
        </p:nvSpPr>
        <p:spPr>
          <a:xfrm>
            <a:off x="141515" y="620688"/>
            <a:ext cx="11789228" cy="1218998"/>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Arial" panose="020B0604020202090204" pitchFamily="34" charset="0"/>
              <a:buNone/>
            </a:pPr>
            <a:r>
              <a:rPr lang="zh-CN" altLang="en-US" sz="2400" dirty="0">
                <a:latin typeface="楷体" panose="02010609060101010101" pitchFamily="49" charset="-122"/>
                <a:ea typeface="楷体" panose="02010609060101010101" pitchFamily="49" charset="-122"/>
              </a:rPr>
              <a:t>确定性假定指已经确切的知道了每个参数</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需要的数据：目标函数系数</a:t>
            </a:r>
            <a:r>
              <a:rPr lang="en-US" altLang="zh-CN" sz="2400" dirty="0">
                <a:latin typeface="楷体" panose="02010609060101010101" pitchFamily="49" charset="-122"/>
                <a:ea typeface="楷体" panose="02010609060101010101" pitchFamily="49" charset="-122"/>
              </a:rPr>
              <a:t>c</a:t>
            </a:r>
            <a:r>
              <a:rPr lang="en-US" altLang="zh-CN" sz="2400" baseline="-25000" dirty="0">
                <a:latin typeface="楷体" panose="02010609060101010101" pitchFamily="49" charset="-122"/>
                <a:ea typeface="楷体" panose="02010609060101010101" pitchFamily="49" charset="-122"/>
              </a:rPr>
              <a:t>i</a:t>
            </a:r>
            <a:r>
              <a:rPr lang="zh-CN" altLang="en-US" sz="2400" dirty="0">
                <a:latin typeface="楷体" panose="02010609060101010101" pitchFamily="49" charset="-122"/>
                <a:ea typeface="楷体" panose="02010609060101010101" pitchFamily="49" charset="-122"/>
              </a:rPr>
              <a:t>；右值，资源可使用量</a:t>
            </a:r>
            <a:r>
              <a:rPr lang="en-US" altLang="zh-CN" sz="2400" dirty="0" err="1">
                <a:latin typeface="楷体" panose="02010609060101010101" pitchFamily="49" charset="-122"/>
                <a:ea typeface="楷体" panose="02010609060101010101" pitchFamily="49" charset="-122"/>
              </a:rPr>
              <a:t>b</a:t>
            </a:r>
            <a:r>
              <a:rPr lang="en-US" altLang="zh-CN" sz="2400" baseline="-25000" dirty="0" err="1">
                <a:latin typeface="楷体" panose="02010609060101010101" pitchFamily="49" charset="-122"/>
                <a:ea typeface="楷体" panose="02010609060101010101" pitchFamily="49" charset="-122"/>
              </a:rPr>
              <a:t>j</a:t>
            </a:r>
            <a:r>
              <a:rPr lang="zh-CN" altLang="en-US" sz="2400" dirty="0">
                <a:latin typeface="楷体" panose="02010609060101010101" pitchFamily="49" charset="-122"/>
                <a:ea typeface="楷体" panose="02010609060101010101" pitchFamily="49" charset="-122"/>
              </a:rPr>
              <a:t>；技术系数</a:t>
            </a:r>
            <a:r>
              <a:rPr lang="en-US" altLang="zh-CN" sz="2400" dirty="0" err="1">
                <a:latin typeface="楷体" panose="02010609060101010101" pitchFamily="49" charset="-122"/>
                <a:ea typeface="楷体" panose="02010609060101010101" pitchFamily="49" charset="-122"/>
              </a:rPr>
              <a:t>a</a:t>
            </a:r>
            <a:r>
              <a:rPr lang="en-US" altLang="zh-CN" sz="2400" baseline="-25000" dirty="0" err="1">
                <a:latin typeface="楷体" panose="02010609060101010101" pitchFamily="49" charset="-122"/>
                <a:ea typeface="楷体" panose="02010609060101010101" pitchFamily="49" charset="-122"/>
              </a:rPr>
              <a:t>ij</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a:buFont typeface="Arial" panose="020B0604020202090204" pitchFamily="34" charset="0"/>
              <a:buNone/>
            </a:pPr>
            <a:r>
              <a:rPr lang="zh-CN" altLang="en-US" sz="2400" dirty="0">
                <a:latin typeface="楷体" panose="02010609060101010101" pitchFamily="49" charset="-122"/>
                <a:ea typeface="楷体" panose="02010609060101010101" pitchFamily="49" charset="-122"/>
              </a:rPr>
              <a:t>例如，如果对生产饼干需要使用的准确的设备时间没有把握，这就违背了确定性假定。</a:t>
            </a:r>
            <a:endParaRPr lang="en-US" altLang="zh-CN" sz="2400" dirty="0">
              <a:latin typeface="楷体" panose="02010609060101010101" pitchFamily="49" charset="-122"/>
              <a:ea typeface="楷体" panose="02010609060101010101" pitchFamily="49" charset="-122"/>
            </a:endParaRPr>
          </a:p>
        </p:txBody>
      </p:sp>
      <p:sp>
        <p:nvSpPr>
          <p:cNvPr id="4" name="矩形 3"/>
          <p:cNvSpPr/>
          <p:nvPr/>
        </p:nvSpPr>
        <p:spPr>
          <a:xfrm>
            <a:off x="141515" y="2003795"/>
            <a:ext cx="11313300" cy="855234"/>
          </a:xfrm>
          <a:prstGeom prst="rect">
            <a:avLst/>
          </a:prstGeom>
          <a:solidFill>
            <a:schemeClr val="bg1">
              <a:lumMod val="95000"/>
            </a:schemeClr>
          </a:solidFill>
        </p:spPr>
        <p:txBody>
          <a:bodyPr wrap="square">
            <a:spAutoFit/>
          </a:bodyPr>
          <a:lstStyle/>
          <a:p>
            <a:pPr marL="342900" lvl="0" indent="-342900" fontAlgn="base">
              <a:lnSpc>
                <a:spcPct val="110000"/>
              </a:lnSpc>
              <a:spcBef>
                <a:spcPts val="1800"/>
              </a:spcBef>
              <a:spcAft>
                <a:spcPct val="0"/>
              </a:spcAft>
            </a:pPr>
            <a:r>
              <a:rPr lang="zh-CN" altLang="en-US" sz="2400" dirty="0">
                <a:solidFill>
                  <a:srgbClr val="0000AC"/>
                </a:solidFill>
                <a:latin typeface="楷体" panose="02010609060101010101" pitchFamily="49" charset="-122"/>
                <a:ea typeface="楷体" panose="02010609060101010101" pitchFamily="49" charset="-122"/>
              </a:rPr>
              <a:t>应当知道，上述确定性参数是对未来生产条件</a:t>
            </a:r>
            <a:r>
              <a:rPr lang="en-US" altLang="zh-CN" sz="2400" dirty="0">
                <a:solidFill>
                  <a:srgbClr val="0000AC"/>
                </a:solidFill>
                <a:latin typeface="楷体" panose="02010609060101010101" pitchFamily="49" charset="-122"/>
                <a:ea typeface="楷体" panose="02010609060101010101" pitchFamily="49" charset="-122"/>
              </a:rPr>
              <a:t>/</a:t>
            </a:r>
            <a:r>
              <a:rPr lang="zh-CN" altLang="en-US" sz="2400" dirty="0">
                <a:solidFill>
                  <a:srgbClr val="0000AC"/>
                </a:solidFill>
                <a:latin typeface="楷体" panose="02010609060101010101" pitchFamily="49" charset="-122"/>
                <a:ea typeface="楷体" panose="02010609060101010101" pitchFamily="49" charset="-122"/>
              </a:rPr>
              <a:t>环境的一种预期，不可避免的带来一定程度的不确定性，即事实上存在不确定性。</a:t>
            </a:r>
            <a:endParaRPr lang="en-US" altLang="zh-CN" sz="2400" dirty="0">
              <a:solidFill>
                <a:srgbClr val="0000AC"/>
              </a:solidFill>
              <a:latin typeface="楷体" panose="02010609060101010101" pitchFamily="49" charset="-122"/>
              <a:ea typeface="楷体" panose="02010609060101010101" pitchFamily="49" charset="-122"/>
            </a:endParaRPr>
          </a:p>
        </p:txBody>
      </p:sp>
      <p:sp>
        <p:nvSpPr>
          <p:cNvPr id="5" name="矩形 4"/>
          <p:cNvSpPr/>
          <p:nvPr/>
        </p:nvSpPr>
        <p:spPr>
          <a:xfrm>
            <a:off x="141515" y="3196277"/>
            <a:ext cx="11317493" cy="2104294"/>
          </a:xfrm>
          <a:prstGeom prst="rect">
            <a:avLst/>
          </a:prstGeom>
          <a:solidFill>
            <a:schemeClr val="bg1">
              <a:lumMod val="95000"/>
            </a:schemeClr>
          </a:solidFill>
        </p:spPr>
        <p:txBody>
          <a:bodyPr wrap="square">
            <a:spAutoFit/>
          </a:bodyPr>
          <a:lstStyle/>
          <a:p>
            <a:pPr marL="342900" lvl="0" indent="-342900" fontAlgn="base">
              <a:lnSpc>
                <a:spcPct val="110000"/>
              </a:lnSpc>
              <a:spcBef>
                <a:spcPts val="1800"/>
              </a:spcBef>
              <a:spcAft>
                <a:spcPct val="0"/>
              </a:spcAft>
            </a:pPr>
            <a:r>
              <a:rPr lang="zh-CN" altLang="en-US" sz="2400" dirty="0">
                <a:solidFill>
                  <a:srgbClr val="060606"/>
                </a:solidFill>
                <a:latin typeface="楷体" panose="02010609060101010101" pitchFamily="49" charset="-122"/>
                <a:ea typeface="楷体" panose="02010609060101010101" pitchFamily="49" charset="-122"/>
              </a:rPr>
              <a:t>做出确定性假设的目的，是在假设的参数确定之下找到一个最优解，这个最优解将作为一个初步方案通常需要进行优化后分析，如</a:t>
            </a:r>
            <a:r>
              <a:rPr lang="zh-CN" altLang="en-US" sz="2400" dirty="0">
                <a:solidFill>
                  <a:srgbClr val="0000AC"/>
                </a:solidFill>
                <a:latin typeface="楷体" panose="02010609060101010101" pitchFamily="49" charset="-122"/>
                <a:ea typeface="楷体" panose="02010609060101010101" pitchFamily="49" charset="-122"/>
              </a:rPr>
              <a:t>灵敏度分析</a:t>
            </a:r>
            <a:r>
              <a:rPr lang="zh-CN" altLang="en-US" sz="2400" dirty="0">
                <a:solidFill>
                  <a:srgbClr val="060606"/>
                </a:solidFill>
                <a:latin typeface="楷体" panose="02010609060101010101" pitchFamily="49" charset="-122"/>
                <a:ea typeface="楷体" panose="02010609060101010101" pitchFamily="49" charset="-122"/>
              </a:rPr>
              <a:t>，从而对最优解</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即生产安排</a:t>
            </a:r>
            <a:r>
              <a:rPr lang="en-US" altLang="zh-CN" sz="2400" dirty="0">
                <a:solidFill>
                  <a:srgbClr val="060606"/>
                </a:solidFill>
                <a:latin typeface="楷体" panose="02010609060101010101" pitchFamily="49" charset="-122"/>
                <a:ea typeface="楷体" panose="02010609060101010101" pitchFamily="49" charset="-122"/>
              </a:rPr>
              <a:t>)</a:t>
            </a:r>
            <a:r>
              <a:rPr lang="zh-CN" altLang="en-US" sz="2400" dirty="0">
                <a:solidFill>
                  <a:srgbClr val="060606"/>
                </a:solidFill>
                <a:latin typeface="楷体" panose="02010609060101010101" pitchFamily="49" charset="-122"/>
                <a:ea typeface="楷体" panose="02010609060101010101" pitchFamily="49" charset="-122"/>
              </a:rPr>
              <a:t>有一个全面的了解以帮助决策，如决策是否增加某种资源时：如果分析的结果表明每增加单元资源或停止生产某种利润低的老产品，增加别的产品的生产可以增加利润，那么可以帮助做出合理的决策。</a:t>
            </a:r>
            <a:endParaRPr lang="en-US" altLang="zh-CN" sz="2400" dirty="0">
              <a:solidFill>
                <a:srgbClr val="060606"/>
              </a:solidFill>
              <a:latin typeface="楷体" panose="02010609060101010101" pitchFamily="49" charset="-122"/>
              <a:ea typeface="楷体" panose="02010609060101010101" pitchFamily="49" charset="-122"/>
            </a:endParaRPr>
          </a:p>
        </p:txBody>
      </p:sp>
      <p:sp>
        <p:nvSpPr>
          <p:cNvPr id="6" name="矩形 5"/>
          <p:cNvSpPr/>
          <p:nvPr/>
        </p:nvSpPr>
        <p:spPr>
          <a:xfrm>
            <a:off x="141515" y="5689270"/>
            <a:ext cx="11313300" cy="885499"/>
          </a:xfrm>
          <a:prstGeom prst="rect">
            <a:avLst/>
          </a:prstGeom>
          <a:solidFill>
            <a:schemeClr val="bg1">
              <a:lumMod val="95000"/>
            </a:schemeClr>
          </a:solidFill>
        </p:spPr>
        <p:txBody>
          <a:bodyPr wrap="square">
            <a:spAutoFit/>
          </a:bodyPr>
          <a:lstStyle/>
          <a:p>
            <a:pPr marL="342900" lvl="0" indent="-342900" fontAlgn="base">
              <a:lnSpc>
                <a:spcPct val="110000"/>
              </a:lnSpc>
              <a:spcBef>
                <a:spcPts val="1800"/>
              </a:spcBef>
              <a:spcAft>
                <a:spcPct val="0"/>
              </a:spcAft>
            </a:pPr>
            <a:r>
              <a:rPr lang="zh-CN" altLang="en-US" sz="2400" dirty="0">
                <a:solidFill>
                  <a:srgbClr val="060606"/>
                </a:solidFill>
                <a:latin typeface="楷体" panose="02010609060101010101" pitchFamily="49" charset="-122"/>
                <a:ea typeface="楷体" panose="02010609060101010101" pitchFamily="49" charset="-122"/>
              </a:rPr>
              <a:t>若参数的不确定性程度很大，则需明确将参数作为</a:t>
            </a:r>
            <a:r>
              <a:rPr lang="zh-CN" altLang="en-US" sz="2400" dirty="0">
                <a:solidFill>
                  <a:srgbClr val="0000AC"/>
                </a:solidFill>
                <a:latin typeface="楷体" panose="02010609060101010101" pitchFamily="49" charset="-122"/>
                <a:ea typeface="楷体" panose="02010609060101010101" pitchFamily="49" charset="-122"/>
              </a:rPr>
              <a:t>随机变量，如</a:t>
            </a:r>
            <a:r>
              <a:rPr lang="en-US" altLang="zh-CN" sz="2400" dirty="0">
                <a:solidFill>
                  <a:srgbClr val="0000AC"/>
                </a:solidFill>
                <a:latin typeface="楷体" panose="02010609060101010101" pitchFamily="49" charset="-122"/>
                <a:ea typeface="楷体" panose="02010609060101010101" pitchFamily="49" charset="-122"/>
              </a:rPr>
              <a:t>PERT</a:t>
            </a:r>
            <a:r>
              <a:rPr lang="zh-CN" altLang="en-US" sz="2400" dirty="0">
                <a:solidFill>
                  <a:srgbClr val="0000AC"/>
                </a:solidFill>
                <a:latin typeface="楷体" panose="02010609060101010101" pitchFamily="49" charset="-122"/>
                <a:ea typeface="楷体" panose="02010609060101010101" pitchFamily="49" charset="-122"/>
              </a:rPr>
              <a:t>用于</a:t>
            </a:r>
            <a:r>
              <a:rPr lang="zh-CN" altLang="en-US" sz="2400" b="1" u="sng" dirty="0">
                <a:solidFill>
                  <a:srgbClr val="0000AC"/>
                </a:solidFill>
                <a:latin typeface="楷体" panose="02010609060101010101" pitchFamily="49" charset="-122"/>
                <a:ea typeface="楷体" panose="02010609060101010101" pitchFamily="49" charset="-122"/>
              </a:rPr>
              <a:t>不能</a:t>
            </a:r>
            <a:r>
              <a:rPr lang="zh-CN" altLang="zh-CN" sz="2400" b="1" u="sng" dirty="0">
                <a:solidFill>
                  <a:srgbClr val="0000AC"/>
                </a:solidFill>
                <a:latin typeface="楷体" panose="02010609060101010101" pitchFamily="49" charset="-122"/>
                <a:ea typeface="楷体" panose="02010609060101010101" pitchFamily="49" charset="-122"/>
              </a:rPr>
              <a:t>确切的</a:t>
            </a:r>
            <a:r>
              <a:rPr lang="zh-CN" altLang="zh-CN" sz="2400" dirty="0">
                <a:solidFill>
                  <a:srgbClr val="0000AC"/>
                </a:solidFill>
                <a:latin typeface="楷体" panose="02010609060101010101" pitchFamily="49" charset="-122"/>
                <a:ea typeface="楷体" panose="02010609060101010101" pitchFamily="49" charset="-122"/>
              </a:rPr>
              <a:t>知道活动的</a:t>
            </a:r>
            <a:r>
              <a:rPr lang="zh-CN" altLang="zh-CN" sz="2400" b="1" u="sng" dirty="0">
                <a:solidFill>
                  <a:srgbClr val="0000AC"/>
                </a:solidFill>
                <a:latin typeface="楷体" panose="02010609060101010101" pitchFamily="49" charset="-122"/>
                <a:ea typeface="楷体" panose="02010609060101010101" pitchFamily="49" charset="-122"/>
              </a:rPr>
              <a:t>持续时间</a:t>
            </a:r>
            <a:r>
              <a:rPr lang="zh-CN" altLang="en-US" sz="2400" b="1" u="sng" dirty="0">
                <a:solidFill>
                  <a:srgbClr val="0000AC"/>
                </a:solidFill>
                <a:latin typeface="楷体" panose="02010609060101010101" pitchFamily="49" charset="-122"/>
                <a:ea typeface="楷体" panose="02010609060101010101" pitchFamily="49" charset="-122"/>
              </a:rPr>
              <a:t>时</a:t>
            </a:r>
            <a:r>
              <a:rPr lang="zh-CN" altLang="en-US" sz="2400" dirty="0">
                <a:solidFill>
                  <a:srgbClr val="0000AC"/>
                </a:solidFill>
                <a:latin typeface="楷体" panose="02010609060101010101" pitchFamily="49" charset="-122"/>
                <a:ea typeface="楷体" panose="02010609060101010101" pitchFamily="49" charset="-122"/>
              </a:rPr>
              <a:t>估计在给定期限前</a:t>
            </a:r>
            <a:r>
              <a:rPr lang="zh-CN" altLang="zh-CN" sz="2400" dirty="0">
                <a:solidFill>
                  <a:srgbClr val="0000AC"/>
                </a:solidFill>
                <a:latin typeface="楷体" panose="02010609060101010101" pitchFamily="49" charset="-122"/>
                <a:ea typeface="楷体" panose="02010609060101010101" pitchFamily="49" charset="-122"/>
              </a:rPr>
              <a:t>完成一项目的</a:t>
            </a:r>
            <a:r>
              <a:rPr lang="zh-CN" altLang="en-US" sz="2400" dirty="0">
                <a:solidFill>
                  <a:srgbClr val="0000AC"/>
                </a:solidFill>
                <a:latin typeface="楷体" panose="02010609060101010101" pitchFamily="49" charset="-122"/>
                <a:ea typeface="楷体" panose="02010609060101010101" pitchFamily="49" charset="-122"/>
              </a:rPr>
              <a:t>概率数。</a:t>
            </a:r>
            <a:endParaRPr lang="en-US" altLang="zh-CN" sz="2400" dirty="0">
              <a:solidFill>
                <a:srgbClr val="0000AC"/>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fade">
                                      <p:cBhvr>
                                        <p:cTn id="15" dur="2000"/>
                                        <p:tgtEl>
                                          <p:spTgt spid="5">
                                            <p:bg/>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bg/>
                                          </p:spTgt>
                                        </p:tgtEl>
                                        <p:attrNameLst>
                                          <p:attrName>style.visibility</p:attrName>
                                        </p:attrNameLst>
                                      </p:cBhvr>
                                      <p:to>
                                        <p:strVal val="visible"/>
                                      </p:to>
                                    </p:set>
                                    <p:animEffect transition="in" filter="fade">
                                      <p:cBhvr>
                                        <p:cTn id="23" dur="2000"/>
                                        <p:tgtEl>
                                          <p:spTgt spid="6">
                                            <p:bg/>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fade">
                                      <p:cBhvr>
                                        <p:cTn id="26"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build="allAtOnce"/>
      <p:bldP spid="5" grpId="0" animBg="1" build="allAtOnce"/>
      <p:bldP spid="6" grpId="0" animBg="1" build="allAtOnce"/>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1888" y="169683"/>
            <a:ext cx="11800112" cy="1200329"/>
          </a:xfrm>
          <a:prstGeom prst="rect">
            <a:avLst/>
          </a:prstGeom>
          <a:noFill/>
        </p:spPr>
        <p:txBody>
          <a:bodyPr wrap="square" rtlCol="0">
            <a:spAutoFit/>
          </a:bodyPr>
          <a:lstStyle/>
          <a:p>
            <a:pPr algn="ctr"/>
            <a:r>
              <a:rPr lang="zh-CN" altLang="en-US" sz="3600" dirty="0">
                <a:latin typeface="楷体" panose="02010609060101010101" pitchFamily="49" charset="-122"/>
                <a:ea typeface="楷体" panose="02010609060101010101" pitchFamily="49" charset="-122"/>
              </a:rPr>
              <a:t>那么，接下来，再一次根据前面建立问题的数学形式的过程以及问题的</a:t>
            </a:r>
            <a:r>
              <a:rPr lang="en-US" altLang="zh-CN" sz="3600" dirty="0">
                <a:latin typeface="楷体" panose="02010609060101010101" pitchFamily="49" charset="-122"/>
                <a:ea typeface="楷体" panose="02010609060101010101" pitchFamily="49" charset="-122"/>
              </a:rPr>
              <a:t>4</a:t>
            </a:r>
            <a:r>
              <a:rPr lang="zh-CN" altLang="en-US" sz="3600" dirty="0">
                <a:latin typeface="楷体" panose="02010609060101010101" pitchFamily="49" charset="-122"/>
                <a:ea typeface="楷体" panose="02010609060101010101" pitchFamily="49" charset="-122"/>
              </a:rPr>
              <a:t>个假定试着推出：“数学建模方法”。</a:t>
            </a:r>
            <a:endParaRPr lang="en-US" altLang="zh-CN" sz="3600" dirty="0">
              <a:latin typeface="楷体" panose="02010609060101010101" pitchFamily="49" charset="-122"/>
              <a:ea typeface="楷体" panose="02010609060101010101" pitchFamily="49" charset="-122"/>
            </a:endParaRPr>
          </a:p>
        </p:txBody>
      </p:sp>
      <p:sp>
        <p:nvSpPr>
          <p:cNvPr id="3" name="箭头: 下 2"/>
          <p:cNvSpPr/>
          <p:nvPr/>
        </p:nvSpPr>
        <p:spPr>
          <a:xfrm>
            <a:off x="5191027" y="6480928"/>
            <a:ext cx="1809946" cy="37707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91888" y="1677552"/>
            <a:ext cx="11507627" cy="4633691"/>
            <a:chOff x="391888" y="1677552"/>
            <a:chExt cx="11507627" cy="4633691"/>
          </a:xfrm>
        </p:grpSpPr>
        <p:pic>
          <p:nvPicPr>
            <p:cNvPr id="5" name="图片 4"/>
            <p:cNvPicPr>
              <a:picLocks noChangeAspect="1"/>
            </p:cNvPicPr>
            <p:nvPr/>
          </p:nvPicPr>
          <p:blipFill>
            <a:blip r:embed="rId1"/>
            <a:stretch>
              <a:fillRect/>
            </a:stretch>
          </p:blipFill>
          <p:spPr>
            <a:xfrm>
              <a:off x="391889" y="1807027"/>
              <a:ext cx="11507626" cy="4373588"/>
            </a:xfrm>
            <a:prstGeom prst="rect">
              <a:avLst/>
            </a:prstGeom>
          </p:spPr>
        </p:pic>
        <p:sp>
          <p:nvSpPr>
            <p:cNvPr id="6" name="矩形: 折角 5"/>
            <p:cNvSpPr/>
            <p:nvPr/>
          </p:nvSpPr>
          <p:spPr>
            <a:xfrm flipV="1">
              <a:off x="391888" y="1677552"/>
              <a:ext cx="11507627" cy="4633691"/>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0371" y="97971"/>
            <a:ext cx="11364685" cy="461665"/>
          </a:xfrm>
          <a:prstGeom prst="rect">
            <a:avLst/>
          </a:prstGeom>
          <a:noFill/>
        </p:spPr>
        <p:txBody>
          <a:bodyPr wrap="square" rtlCol="0">
            <a:spAutoFit/>
          </a:bodyPr>
          <a:lstStyle/>
          <a:p>
            <a:r>
              <a:rPr lang="zh-CN" altLang="en-US" sz="2400" dirty="0"/>
              <a:t>术语</a:t>
            </a:r>
            <a:endParaRPr lang="zh-CN" altLang="en-US" sz="2400" dirty="0"/>
          </a:p>
        </p:txBody>
      </p:sp>
      <p:pic>
        <p:nvPicPr>
          <p:cNvPr id="8" name="图片 7"/>
          <p:cNvPicPr>
            <a:picLocks noChangeAspect="1"/>
          </p:cNvPicPr>
          <p:nvPr/>
        </p:nvPicPr>
        <p:blipFill>
          <a:blip r:embed="rId1"/>
          <a:stretch>
            <a:fillRect/>
          </a:stretch>
        </p:blipFill>
        <p:spPr>
          <a:xfrm>
            <a:off x="0" y="610120"/>
            <a:ext cx="12192000" cy="563775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163497" y="312193"/>
                <a:ext cx="11865006" cy="6124754"/>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建模方法：</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第一步，陈述这个问题，当然，这是一个数学规划问题</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解决在一些给定的约束条件下，求所考察的目标函数在某种意义下的极值问题。</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第二步，考察文字陈述的问题是否满足</a:t>
                </a:r>
                <a:r>
                  <a:rPr lang="en-US" altLang="zh-CN" sz="2800" dirty="0">
                    <a:latin typeface="楷体" panose="02010609060101010101" pitchFamily="49" charset="-122"/>
                    <a:ea typeface="楷体" panose="02010609060101010101" pitchFamily="49" charset="-122"/>
                  </a:rPr>
                  <a:t>4</a:t>
                </a:r>
                <a:r>
                  <a:rPr lang="zh-CN" altLang="en-US" sz="2800" dirty="0">
                    <a:latin typeface="楷体" panose="02010609060101010101" pitchFamily="49" charset="-122"/>
                    <a:ea typeface="楷体" panose="02010609060101010101" pitchFamily="49" charset="-122"/>
                  </a:rPr>
                  <a:t>个假定（可加性假定、比例性假定、可除性假定、确定性假定）。满足，则可建立线性规划模型，否则，考虑其他方法，比如整数规划、非线性规划。</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第三步，在满足</a:t>
                </a:r>
                <a:r>
                  <a:rPr lang="en-US" altLang="zh-CN" sz="2800" dirty="0">
                    <a:latin typeface="楷体" panose="02010609060101010101" pitchFamily="49" charset="-122"/>
                    <a:ea typeface="楷体" panose="02010609060101010101" pitchFamily="49" charset="-122"/>
                  </a:rPr>
                  <a:t>4</a:t>
                </a:r>
                <a:r>
                  <a:rPr lang="zh-CN" altLang="en-US" sz="2800" dirty="0">
                    <a:latin typeface="楷体" panose="02010609060101010101" pitchFamily="49" charset="-122"/>
                    <a:ea typeface="楷体" panose="02010609060101010101" pitchFamily="49" charset="-122"/>
                  </a:rPr>
                  <a:t>个假定情况下，可用表格表示问题。然后进一步用代数形式表示问题。</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第四步，思考：决策什么？即为完成目标任务的竞争性活动有哪些？用决策变量</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𝑖</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2</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𝑛</m:t>
                    </m:r>
                    <m:r>
                      <a:rPr lang="en-US" altLang="zh-CN" sz="2800" b="0" i="1" smtClean="0">
                        <a:latin typeface="Cambria Math" panose="02040503050406030204" pitchFamily="18" charset="0"/>
                      </a:rPr>
                      <m:t>)</m:t>
                    </m:r>
                    <m:r>
                      <a:rPr lang="zh-CN" altLang="en-US" sz="2800" i="1">
                        <a:latin typeface="Cambria Math" panose="02040503050406030204" pitchFamily="18" charset="0"/>
                      </a:rPr>
                      <m:t>来</m:t>
                    </m:r>
                  </m:oMath>
                </a14:m>
                <a:r>
                  <a:rPr lang="zh-CN" altLang="en-US" sz="2800" dirty="0">
                    <a:latin typeface="楷体" panose="02010609060101010101" pitchFamily="49" charset="-122"/>
                    <a:ea typeface="楷体" panose="02010609060101010101" pitchFamily="49" charset="-122"/>
                  </a:rPr>
                  <a:t>表示每一竞争性活动。</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第五步，思考：目标是什么？回答这个问题，得到一个冠以</a:t>
                </a:r>
                <a:r>
                  <a:rPr lang="en-US" altLang="zh-CN" sz="2800" dirty="0">
                    <a:latin typeface="楷体" panose="02010609060101010101" pitchFamily="49" charset="-122"/>
                    <a:ea typeface="楷体" panose="02010609060101010101" pitchFamily="49" charset="-122"/>
                  </a:rPr>
                  <a:t>max</a:t>
                </a:r>
                <a:r>
                  <a:rPr lang="zh-CN" altLang="en-US" sz="2800" dirty="0">
                    <a:latin typeface="楷体" panose="02010609060101010101" pitchFamily="49" charset="-122"/>
                    <a:ea typeface="楷体" panose="02010609060101010101" pitchFamily="49" charset="-122"/>
                  </a:rPr>
                  <a:t>或</a:t>
                </a:r>
                <a:r>
                  <a:rPr lang="en-US" altLang="zh-CN" sz="2800" dirty="0">
                    <a:latin typeface="楷体" panose="02010609060101010101" pitchFamily="49" charset="-122"/>
                    <a:ea typeface="楷体" panose="02010609060101010101" pitchFamily="49" charset="-122"/>
                  </a:rPr>
                  <a:t>min</a:t>
                </a:r>
                <a:r>
                  <a:rPr lang="zh-CN" altLang="en-US" sz="2800" dirty="0">
                    <a:latin typeface="楷体" panose="02010609060101010101" pitchFamily="49" charset="-122"/>
                    <a:ea typeface="楷体" panose="02010609060101010101" pitchFamily="49" charset="-122"/>
                  </a:rPr>
                  <a:t>的线性函数。</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第六步，思考：约束条件是什么？列出约束条件，并确定决策变量的取值范围（符号约束）。</a:t>
                </a:r>
                <a:endParaRPr lang="zh-CN" altLang="en-US" sz="2800" dirty="0">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63497" y="312193"/>
                <a:ext cx="11865006" cy="6124754"/>
              </a:xfrm>
              <a:prstGeom prst="rect">
                <a:avLst/>
              </a:prstGeom>
              <a:blipFill rotWithShape="1">
                <a:blip r:embed="rId1"/>
                <a:stretch>
                  <a:fillRect l="-3" t="-7" r="-1169" b="10"/>
                </a:stretch>
              </a:blipFill>
            </p:spPr>
            <p:txBody>
              <a:bodyPr/>
              <a:lstStyle/>
              <a:p>
                <a:r>
                  <a:rPr lang="zh-CN"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0523" y="1272619"/>
            <a:ext cx="10871200" cy="2800767"/>
          </a:xfrm>
          <a:prstGeom prst="rect">
            <a:avLst/>
          </a:prstGeom>
          <a:noFill/>
        </p:spPr>
        <p:txBody>
          <a:bodyPr wrap="square" rtlCol="0">
            <a:spAutoFit/>
          </a:bodyPr>
          <a:lstStyle/>
          <a:p>
            <a:pPr algn="ctr"/>
            <a:r>
              <a:rPr lang="zh-CN" altLang="en-US" sz="4400" dirty="0">
                <a:latin typeface="楷体" panose="02010609060101010101" pitchFamily="49" charset="-122"/>
                <a:ea typeface="楷体" panose="02010609060101010101" pitchFamily="49" charset="-122"/>
              </a:rPr>
              <a:t>接下来，通过练习，认识线性规划问题，训练以掌握线性规划问题的数学建模方法</a:t>
            </a:r>
            <a:endParaRPr lang="en-US" altLang="zh-CN" sz="4400" dirty="0">
              <a:latin typeface="楷体" panose="02010609060101010101" pitchFamily="49" charset="-122"/>
              <a:ea typeface="楷体" panose="02010609060101010101" pitchFamily="49" charset="-122"/>
            </a:endParaRPr>
          </a:p>
          <a:p>
            <a:pPr algn="ctr"/>
            <a:r>
              <a:rPr lang="en-US" altLang="zh-CN" sz="4400" dirty="0">
                <a:latin typeface="楷体" panose="02010609060101010101" pitchFamily="49" charset="-122"/>
                <a:ea typeface="楷体" panose="02010609060101010101" pitchFamily="49" charset="-122"/>
              </a:rPr>
              <a:t>【</a:t>
            </a:r>
            <a:r>
              <a:rPr lang="zh-CN" altLang="en-US" sz="4400" dirty="0">
                <a:latin typeface="楷体" panose="02010609060101010101" pitchFamily="49" charset="-122"/>
                <a:ea typeface="楷体" panose="02010609060101010101" pitchFamily="49" charset="-122"/>
              </a:rPr>
              <a:t>练习的目的：在大脑中建构精确的线性规划问题的数学建模逻辑</a:t>
            </a:r>
            <a:r>
              <a:rPr lang="en-US" altLang="zh-CN" sz="4400" dirty="0">
                <a:latin typeface="楷体" panose="02010609060101010101" pitchFamily="49" charset="-122"/>
                <a:ea typeface="楷体" panose="02010609060101010101" pitchFamily="49" charset="-122"/>
              </a:rPr>
              <a:t>】</a:t>
            </a:r>
            <a:endParaRPr lang="en-US" altLang="zh-CN" sz="4400" dirty="0">
              <a:latin typeface="楷体" panose="02010609060101010101" pitchFamily="49" charset="-122"/>
              <a:ea typeface="楷体" panose="02010609060101010101" pitchFamily="49" charset="-122"/>
            </a:endParaRPr>
          </a:p>
        </p:txBody>
      </p:sp>
      <p:sp>
        <p:nvSpPr>
          <p:cNvPr id="3" name="箭头: 下 2"/>
          <p:cNvSpPr/>
          <p:nvPr/>
        </p:nvSpPr>
        <p:spPr>
          <a:xfrm>
            <a:off x="5187885" y="4969504"/>
            <a:ext cx="1809946" cy="37707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1</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451771" cy="5262979"/>
            </a:xfrm>
            <a:prstGeom prst="rect">
              <a:avLst/>
            </a:prstGeom>
            <a:noFill/>
          </p:spPr>
          <p:txBody>
            <a:bodyPr wrap="square" rtlCol="0">
              <a:spAutoFit/>
            </a:bodyPr>
            <a:lstStyle/>
            <a:p>
              <a:r>
                <a:rPr lang="zh-CN" altLang="en-US" sz="2400" dirty="0"/>
                <a:t>考虑在将来的一个星期中关于四种产品的生产组合的决策问题，对于每一种产品，单位产品在三种机器上需要的生产时间是已知的。每周一种产品都有一定的可用生产时间，生产每单位产品带来一定的利润。</a:t>
              </a:r>
              <a:endParaRPr lang="en-US" altLang="zh-CN" sz="2400" dirty="0"/>
            </a:p>
            <a:p>
              <a:r>
                <a:rPr lang="zh-CN" altLang="en-US" sz="2400" dirty="0"/>
                <a:t>下表给出了三种类型的数据：机器相关数据、产品相关数据，机器和产品组合的相关数据。</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目标是决定每一种产品该生产多少以使总利润最大，但不超过每以机器的生产能力。</a:t>
              </a:r>
              <a:r>
                <a:rPr lang="en-US" altLang="zh-CN" sz="2400" dirty="0"/>
                <a:t>(</a:t>
              </a:r>
              <a:r>
                <a:rPr lang="zh-CN" altLang="en-US" sz="2400" dirty="0"/>
                <a:t>假设都能卖出去。</a:t>
              </a:r>
              <a:r>
                <a:rPr lang="en-US" altLang="zh-CN" sz="2400" dirty="0"/>
                <a:t>)</a:t>
              </a:r>
              <a:endParaRPr lang="zh-CN" altLang="en-US" sz="2400" dirty="0"/>
            </a:p>
          </p:txBody>
        </p:sp>
      </p:grpSp>
      <p:graphicFrame>
        <p:nvGraphicFramePr>
          <p:cNvPr id="6" name="表格 5"/>
          <p:cNvGraphicFramePr>
            <a:graphicFrameLocks noGrp="1"/>
          </p:cNvGraphicFramePr>
          <p:nvPr/>
        </p:nvGraphicFramePr>
        <p:xfrm>
          <a:off x="1775520" y="2685918"/>
          <a:ext cx="8640960" cy="2514600"/>
        </p:xfrm>
        <a:graphic>
          <a:graphicData uri="http://schemas.openxmlformats.org/drawingml/2006/table">
            <a:tbl>
              <a:tblPr firstRow="1" bandRow="1">
                <a:tableStyleId>{93296810-A885-4BE3-A3E7-6D5BEEA58F35}</a:tableStyleId>
              </a:tblPr>
              <a:tblGrid>
                <a:gridCol w="1872208"/>
                <a:gridCol w="1296144"/>
                <a:gridCol w="1224136"/>
                <a:gridCol w="1152128"/>
                <a:gridCol w="1440160"/>
                <a:gridCol w="1656184"/>
              </a:tblGrid>
              <a:tr h="370840">
                <a:tc rowSpan="3">
                  <a:txBody>
                    <a:bodyPr/>
                    <a:lstStyle/>
                    <a:p>
                      <a:pPr algn="ctr"/>
                      <a:r>
                        <a:rPr lang="zh-CN" altLang="en-US" dirty="0"/>
                        <a:t>机器</a:t>
                      </a:r>
                      <a:endParaRPr lang="zh-CN" altLang="en-US" dirty="0"/>
                    </a:p>
                  </a:txBody>
                  <a:tcPr/>
                </a:tc>
                <a:tc gridSpan="4">
                  <a:txBody>
                    <a:bodyPr/>
                    <a:lstStyle/>
                    <a:p>
                      <a:pPr algn="ctr"/>
                      <a:r>
                        <a:rPr lang="zh-CN" altLang="en-US" dirty="0"/>
                        <a:t>每个单位的生产时间</a:t>
                      </a:r>
                      <a:r>
                        <a:rPr lang="en-US" altLang="zh-CN" dirty="0"/>
                        <a:t>(</a:t>
                      </a:r>
                      <a:r>
                        <a:rPr lang="zh-CN" altLang="en-US" dirty="0"/>
                        <a:t>小时</a:t>
                      </a:r>
                      <a:r>
                        <a:rPr lang="en-US" altLang="zh-CN" dirty="0"/>
                        <a:t>)</a:t>
                      </a:r>
                      <a:endParaRPr lang="zh-CN" altLang="en-US" dirty="0"/>
                    </a:p>
                  </a:txBody>
                  <a:tcPr/>
                </a:tc>
                <a:tc hMerge="1">
                  <a:tcPr/>
                </a:tc>
                <a:tc hMerge="1">
                  <a:tcPr/>
                </a:tc>
                <a:tc hMerge="1">
                  <a:tcPr/>
                </a:tc>
                <a:tc rowSpan="3">
                  <a:txBody>
                    <a:bodyPr/>
                    <a:lstStyle/>
                    <a:p>
                      <a:pPr algn="ctr"/>
                      <a:r>
                        <a:rPr lang="zh-CN" altLang="en-US" dirty="0"/>
                        <a:t>每周可获得的生产时间</a:t>
                      </a:r>
                      <a:endParaRPr lang="en-US" altLang="zh-CN" dirty="0"/>
                    </a:p>
                    <a:p>
                      <a:pPr algn="ctr"/>
                      <a:r>
                        <a:rPr lang="en-US" altLang="zh-CN" dirty="0"/>
                        <a:t>(</a:t>
                      </a:r>
                      <a:r>
                        <a:rPr lang="zh-CN" altLang="en-US" dirty="0"/>
                        <a:t>小时</a:t>
                      </a:r>
                      <a:r>
                        <a:rPr lang="en-US" altLang="zh-CN" dirty="0"/>
                        <a:t>)</a:t>
                      </a:r>
                      <a:endParaRPr lang="zh-CN" altLang="en-US" dirty="0"/>
                    </a:p>
                  </a:txBody>
                  <a:tcPr/>
                </a:tc>
              </a:tr>
              <a:tr h="370840">
                <a:tc vMerge="1">
                  <a:tcPr/>
                </a:tc>
                <a:tc gridSpan="4">
                  <a:txBody>
                    <a:bodyPr/>
                    <a:lstStyle/>
                    <a:p>
                      <a:pPr algn="ctr"/>
                      <a:r>
                        <a:rPr lang="zh-CN" altLang="en-US" dirty="0"/>
                        <a:t>产品</a:t>
                      </a:r>
                      <a:endParaRPr lang="zh-CN" altLang="en-US" dirty="0"/>
                    </a:p>
                  </a:txBody>
                  <a:tcPr/>
                </a:tc>
                <a:tc hMerge="1">
                  <a:tcPr/>
                </a:tc>
                <a:tc hMerge="1">
                  <a:tcPr/>
                </a:tc>
                <a:tc hMerge="1">
                  <a:tcPr/>
                </a:tc>
                <a:tc vMerge="1">
                  <a:tcPr/>
                </a:tc>
              </a:tr>
              <a:tr h="370840">
                <a:tc vMerge="1">
                  <a:tcPr/>
                </a:tc>
                <a:tc>
                  <a:txBody>
                    <a:bodyPr/>
                    <a:lstStyle/>
                    <a:p>
                      <a:r>
                        <a:rPr lang="en-US" altLang="zh-CN" dirty="0"/>
                        <a:t>P01</a:t>
                      </a:r>
                      <a:endParaRPr lang="zh-CN" altLang="en-US" dirty="0"/>
                    </a:p>
                  </a:txBody>
                  <a:tcPr/>
                </a:tc>
                <a:tc>
                  <a:txBody>
                    <a:bodyPr/>
                    <a:lstStyle/>
                    <a:p>
                      <a:r>
                        <a:rPr lang="en-US" altLang="zh-CN" dirty="0"/>
                        <a:t>P02</a:t>
                      </a:r>
                      <a:endParaRPr lang="zh-CN" altLang="en-US" dirty="0"/>
                    </a:p>
                  </a:txBody>
                  <a:tcPr/>
                </a:tc>
                <a:tc>
                  <a:txBody>
                    <a:bodyPr/>
                    <a:lstStyle/>
                    <a:p>
                      <a:r>
                        <a:rPr lang="en-US" altLang="zh-CN" dirty="0"/>
                        <a:t>P03</a:t>
                      </a:r>
                      <a:endParaRPr lang="zh-CN" altLang="en-US" dirty="0"/>
                    </a:p>
                  </a:txBody>
                  <a:tcPr/>
                </a:tc>
                <a:tc>
                  <a:txBody>
                    <a:bodyPr/>
                    <a:lstStyle/>
                    <a:p>
                      <a:r>
                        <a:rPr lang="en-US" altLang="zh-CN" dirty="0"/>
                        <a:t>P04</a:t>
                      </a:r>
                      <a:endParaRPr lang="zh-CN" altLang="en-US" dirty="0"/>
                    </a:p>
                  </a:txBody>
                  <a:tcPr/>
                </a:tc>
                <a:tc vMerge="1">
                  <a:tcPr/>
                </a:tc>
              </a:tr>
              <a:tr h="370840">
                <a:tc>
                  <a:txBody>
                    <a:bodyPr/>
                    <a:lstStyle/>
                    <a:p>
                      <a:r>
                        <a:rPr lang="zh-CN" altLang="en-US" dirty="0"/>
                        <a:t>滚动</a:t>
                      </a:r>
                      <a:endParaRPr lang="en-US" altLang="zh-CN" dirty="0"/>
                    </a:p>
                    <a:p>
                      <a:r>
                        <a:rPr lang="zh-CN" altLang="en-US" dirty="0"/>
                        <a:t>切割</a:t>
                      </a:r>
                      <a:endParaRPr lang="en-US" altLang="zh-CN" dirty="0"/>
                    </a:p>
                    <a:p>
                      <a:r>
                        <a:rPr lang="zh-CN" altLang="en-US" dirty="0"/>
                        <a:t>焊接</a:t>
                      </a:r>
                      <a:endParaRPr lang="zh-CN" altLang="en-US" dirty="0"/>
                    </a:p>
                  </a:txBody>
                  <a:tcPr/>
                </a:tc>
                <a:tc>
                  <a:txBody>
                    <a:bodyPr/>
                    <a:lstStyle/>
                    <a:p>
                      <a:r>
                        <a:rPr lang="en-US" altLang="zh-CN" sz="2000" dirty="0"/>
                        <a:t>1.7</a:t>
                      </a:r>
                      <a:endParaRPr lang="en-US" altLang="zh-CN" sz="2000" dirty="0"/>
                    </a:p>
                    <a:p>
                      <a:r>
                        <a:rPr lang="en-US" altLang="zh-CN" sz="2000" dirty="0"/>
                        <a:t>1.1</a:t>
                      </a:r>
                      <a:endParaRPr lang="en-US" altLang="zh-CN" sz="2000" dirty="0"/>
                    </a:p>
                    <a:p>
                      <a:r>
                        <a:rPr lang="en-US" altLang="zh-CN" sz="2000" dirty="0"/>
                        <a:t>1.6</a:t>
                      </a:r>
                      <a:endParaRPr lang="zh-CN" altLang="en-US" sz="2000" dirty="0"/>
                    </a:p>
                  </a:txBody>
                  <a:tcPr/>
                </a:tc>
                <a:tc>
                  <a:txBody>
                    <a:bodyPr/>
                    <a:lstStyle/>
                    <a:p>
                      <a:r>
                        <a:rPr lang="en-US" altLang="zh-CN" sz="2000" dirty="0"/>
                        <a:t>2.1</a:t>
                      </a:r>
                      <a:endParaRPr lang="en-US" altLang="zh-CN" sz="2000" dirty="0"/>
                    </a:p>
                    <a:p>
                      <a:r>
                        <a:rPr lang="en-US" altLang="zh-CN" sz="2000" dirty="0"/>
                        <a:t>2.5</a:t>
                      </a:r>
                      <a:endParaRPr lang="en-US" altLang="zh-CN" sz="2000" dirty="0"/>
                    </a:p>
                    <a:p>
                      <a:r>
                        <a:rPr lang="en-US" altLang="zh-CN" sz="2000" dirty="0"/>
                        <a:t>1.3</a:t>
                      </a:r>
                      <a:endParaRPr lang="zh-CN" altLang="en-US" sz="2000" dirty="0"/>
                    </a:p>
                  </a:txBody>
                  <a:tcPr/>
                </a:tc>
                <a:tc>
                  <a:txBody>
                    <a:bodyPr/>
                    <a:lstStyle/>
                    <a:p>
                      <a:r>
                        <a:rPr lang="en-US" altLang="zh-CN" sz="2000" dirty="0"/>
                        <a:t>1.4</a:t>
                      </a:r>
                      <a:endParaRPr lang="en-US" altLang="zh-CN" sz="2000" dirty="0"/>
                    </a:p>
                    <a:p>
                      <a:r>
                        <a:rPr lang="en-US" altLang="zh-CN" sz="2000" dirty="0"/>
                        <a:t>1.7</a:t>
                      </a:r>
                      <a:endParaRPr lang="en-US" altLang="zh-CN" sz="2000" dirty="0"/>
                    </a:p>
                    <a:p>
                      <a:r>
                        <a:rPr lang="en-US" altLang="zh-CN" sz="2000" dirty="0"/>
                        <a:t>1.6</a:t>
                      </a:r>
                      <a:endParaRPr lang="zh-CN" altLang="en-US" sz="2000" dirty="0"/>
                    </a:p>
                  </a:txBody>
                  <a:tcPr/>
                </a:tc>
                <a:tc>
                  <a:txBody>
                    <a:bodyPr/>
                    <a:lstStyle/>
                    <a:p>
                      <a:r>
                        <a:rPr lang="en-US" altLang="zh-CN" sz="2000" dirty="0"/>
                        <a:t>2.4</a:t>
                      </a:r>
                      <a:endParaRPr lang="en-US" altLang="zh-CN" sz="2000" dirty="0"/>
                    </a:p>
                    <a:p>
                      <a:r>
                        <a:rPr lang="en-US" altLang="zh-CN" sz="2000" dirty="0"/>
                        <a:t>2.6</a:t>
                      </a:r>
                      <a:endParaRPr lang="en-US" altLang="zh-CN" sz="2000" dirty="0"/>
                    </a:p>
                    <a:p>
                      <a:r>
                        <a:rPr lang="en-US" altLang="zh-CN" sz="2000" dirty="0"/>
                        <a:t>0.8</a:t>
                      </a:r>
                      <a:endParaRPr lang="zh-CN" altLang="en-US" sz="2000" dirty="0"/>
                    </a:p>
                  </a:txBody>
                  <a:tcPr/>
                </a:tc>
                <a:tc>
                  <a:txBody>
                    <a:bodyPr/>
                    <a:lstStyle/>
                    <a:p>
                      <a:r>
                        <a:rPr lang="en-US" altLang="zh-CN" sz="2000" dirty="0"/>
                        <a:t>28</a:t>
                      </a:r>
                      <a:endParaRPr lang="en-US" altLang="zh-CN" sz="2000" dirty="0"/>
                    </a:p>
                    <a:p>
                      <a:r>
                        <a:rPr lang="en-US" altLang="zh-CN" sz="2000" dirty="0"/>
                        <a:t>34</a:t>
                      </a:r>
                      <a:endParaRPr lang="en-US" altLang="zh-CN" sz="2000" dirty="0"/>
                    </a:p>
                    <a:p>
                      <a:r>
                        <a:rPr lang="en-US" altLang="zh-CN" sz="2000" dirty="0"/>
                        <a:t>21</a:t>
                      </a:r>
                      <a:endParaRPr lang="zh-CN" altLang="en-US" sz="2000" dirty="0"/>
                    </a:p>
                  </a:txBody>
                  <a:tcPr/>
                </a:tc>
              </a:tr>
              <a:tr h="370840">
                <a:tc>
                  <a:txBody>
                    <a:bodyPr/>
                    <a:lstStyle/>
                    <a:p>
                      <a:r>
                        <a:rPr lang="zh-CN" altLang="en-US" dirty="0"/>
                        <a:t>每单位的利润</a:t>
                      </a:r>
                      <a:endParaRPr lang="zh-CN" altLang="en-US" dirty="0"/>
                    </a:p>
                  </a:txBody>
                  <a:tcPr/>
                </a:tc>
                <a:tc>
                  <a:txBody>
                    <a:bodyPr/>
                    <a:lstStyle/>
                    <a:p>
                      <a:r>
                        <a:rPr lang="en-US" altLang="zh-CN" sz="2000" dirty="0"/>
                        <a:t>26</a:t>
                      </a:r>
                      <a:endParaRPr lang="zh-CN" altLang="en-US" sz="2000" dirty="0"/>
                    </a:p>
                  </a:txBody>
                  <a:tcPr/>
                </a:tc>
                <a:tc>
                  <a:txBody>
                    <a:bodyPr/>
                    <a:lstStyle/>
                    <a:p>
                      <a:r>
                        <a:rPr lang="en-US" altLang="zh-CN" sz="2000" dirty="0"/>
                        <a:t>35</a:t>
                      </a:r>
                      <a:endParaRPr lang="zh-CN" altLang="en-US" sz="2000" dirty="0"/>
                    </a:p>
                  </a:txBody>
                  <a:tcPr/>
                </a:tc>
                <a:tc>
                  <a:txBody>
                    <a:bodyPr/>
                    <a:lstStyle/>
                    <a:p>
                      <a:r>
                        <a:rPr lang="en-US" altLang="zh-CN" sz="2000" dirty="0"/>
                        <a:t>25</a:t>
                      </a:r>
                      <a:endParaRPr lang="zh-CN" altLang="en-US" sz="2000" dirty="0"/>
                    </a:p>
                  </a:txBody>
                  <a:tcPr/>
                </a:tc>
                <a:tc>
                  <a:txBody>
                    <a:bodyPr/>
                    <a:lstStyle/>
                    <a:p>
                      <a:r>
                        <a:rPr lang="en-US" altLang="zh-CN" sz="2000" dirty="0"/>
                        <a:t>37</a:t>
                      </a:r>
                      <a:endParaRPr lang="zh-CN" altLang="en-US" sz="2000" dirty="0"/>
                    </a:p>
                  </a:txBody>
                  <a:tcPr/>
                </a:tc>
                <a:tc>
                  <a:txBody>
                    <a:bodyPr/>
                    <a:lstStyle/>
                    <a:p>
                      <a:endParaRPr lang="zh-CN" altLang="en-US" sz="2000" dirty="0"/>
                    </a:p>
                  </a:txBody>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2</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582400" cy="1200329"/>
            </a:xfrm>
            <a:prstGeom prst="rect">
              <a:avLst/>
            </a:prstGeom>
            <a:noFill/>
          </p:spPr>
          <p:txBody>
            <a:bodyPr wrap="square" rtlCol="0">
              <a:spAutoFit/>
            </a:bodyPr>
            <a:lstStyle/>
            <a:p>
              <a:r>
                <a:rPr lang="zh-CN" altLang="en-US" sz="2400" dirty="0"/>
                <a:t>某昼夜服务的公交线路每天各时间区段所需司乘人员数如表所示。</a:t>
              </a:r>
              <a:endParaRPr lang="en-US" altLang="zh-CN" sz="2400" dirty="0"/>
            </a:p>
            <a:p>
              <a:r>
                <a:rPr lang="zh-CN" altLang="en-US" sz="2400" dirty="0"/>
                <a:t>设司乘人员分别在各时间区段一开始上班，并连续工作</a:t>
              </a:r>
              <a:r>
                <a:rPr lang="en-US" altLang="zh-CN" sz="2400" dirty="0"/>
                <a:t>8</a:t>
              </a:r>
              <a:r>
                <a:rPr lang="zh-CN" altLang="en-US" sz="2400" dirty="0"/>
                <a:t>小时，问该公交线路至少配备多少名司乘人员，列出这个问题的线性规划模型。</a:t>
              </a:r>
              <a:endParaRPr lang="zh-CN" altLang="en-US" sz="2400" dirty="0"/>
            </a:p>
          </p:txBody>
        </p:sp>
      </p:grpSp>
      <p:graphicFrame>
        <p:nvGraphicFramePr>
          <p:cNvPr id="6" name="表格 6"/>
          <p:cNvGraphicFramePr>
            <a:graphicFrameLocks noGrp="1"/>
          </p:cNvGraphicFramePr>
          <p:nvPr/>
        </p:nvGraphicFramePr>
        <p:xfrm>
          <a:off x="2010228" y="2526694"/>
          <a:ext cx="8127999" cy="3200400"/>
        </p:xfrm>
        <a:graphic>
          <a:graphicData uri="http://schemas.openxmlformats.org/drawingml/2006/table">
            <a:tbl>
              <a:tblPr firstRow="1" bandRow="1">
                <a:tableStyleId>{93296810-A885-4BE3-A3E7-6D5BEEA58F35}</a:tableStyleId>
              </a:tblPr>
              <a:tblGrid>
                <a:gridCol w="2709333"/>
                <a:gridCol w="2709333"/>
                <a:gridCol w="2709333"/>
              </a:tblGrid>
              <a:tr h="370840">
                <a:tc>
                  <a:txBody>
                    <a:bodyPr/>
                    <a:lstStyle/>
                    <a:p>
                      <a:pPr algn="ctr"/>
                      <a:r>
                        <a:rPr lang="zh-CN" altLang="en-US" sz="2400" dirty="0"/>
                        <a:t>班次</a:t>
                      </a:r>
                      <a:endParaRPr lang="zh-CN" altLang="en-US" sz="2400" dirty="0"/>
                    </a:p>
                  </a:txBody>
                  <a:tcPr/>
                </a:tc>
                <a:tc>
                  <a:txBody>
                    <a:bodyPr/>
                    <a:lstStyle/>
                    <a:p>
                      <a:pPr algn="ctr"/>
                      <a:r>
                        <a:rPr lang="zh-CN" altLang="en-US" sz="2400" dirty="0"/>
                        <a:t>时间</a:t>
                      </a:r>
                      <a:endParaRPr lang="zh-CN" altLang="en-US" sz="2400" dirty="0"/>
                    </a:p>
                  </a:txBody>
                  <a:tcPr/>
                </a:tc>
                <a:tc>
                  <a:txBody>
                    <a:bodyPr/>
                    <a:lstStyle/>
                    <a:p>
                      <a:pPr algn="ctr"/>
                      <a:r>
                        <a:rPr lang="zh-CN" altLang="en-US" sz="2400" dirty="0"/>
                        <a:t>所需人数</a:t>
                      </a:r>
                      <a:endParaRPr lang="zh-CN" altLang="en-US" sz="2400" dirty="0"/>
                    </a:p>
                  </a:txBody>
                  <a:tcPr/>
                </a:tc>
              </a:tr>
              <a:tr h="370840">
                <a:tc>
                  <a:txBody>
                    <a:bodyPr/>
                    <a:lstStyle/>
                    <a:p>
                      <a:r>
                        <a:rPr lang="en-US" altLang="zh-CN" sz="2400" dirty="0"/>
                        <a:t>1</a:t>
                      </a:r>
                      <a:endParaRPr lang="zh-CN" altLang="en-US" sz="2400" dirty="0"/>
                    </a:p>
                  </a:txBody>
                  <a:tcPr/>
                </a:tc>
                <a:tc>
                  <a:txBody>
                    <a:bodyPr/>
                    <a:lstStyle/>
                    <a:p>
                      <a:r>
                        <a:rPr lang="en-US" altLang="zh-CN" sz="2400" dirty="0"/>
                        <a:t>6:00~10:00</a:t>
                      </a:r>
                      <a:endParaRPr lang="zh-CN" altLang="en-US" sz="2400" dirty="0"/>
                    </a:p>
                  </a:txBody>
                  <a:tcPr/>
                </a:tc>
                <a:tc>
                  <a:txBody>
                    <a:bodyPr/>
                    <a:lstStyle/>
                    <a:p>
                      <a:r>
                        <a:rPr lang="en-US" altLang="zh-CN" sz="2400" dirty="0"/>
                        <a:t>60</a:t>
                      </a:r>
                      <a:endParaRPr lang="zh-CN" altLang="en-US" sz="2400" dirty="0"/>
                    </a:p>
                  </a:txBody>
                  <a:tcPr/>
                </a:tc>
              </a:tr>
              <a:tr h="370840">
                <a:tc>
                  <a:txBody>
                    <a:bodyPr/>
                    <a:lstStyle/>
                    <a:p>
                      <a:r>
                        <a:rPr lang="en-US" altLang="zh-CN" sz="2400" dirty="0"/>
                        <a:t>2</a:t>
                      </a:r>
                      <a:endParaRPr lang="zh-CN" altLang="en-US" sz="2400" dirty="0"/>
                    </a:p>
                  </a:txBody>
                  <a:tcPr/>
                </a:tc>
                <a:tc>
                  <a:txBody>
                    <a:bodyPr/>
                    <a:lstStyle/>
                    <a:p>
                      <a:r>
                        <a:rPr lang="en-US" altLang="zh-CN" sz="2400" dirty="0"/>
                        <a:t>10:00~14:00</a:t>
                      </a:r>
                      <a:endParaRPr lang="zh-CN" altLang="en-US" sz="2400" dirty="0"/>
                    </a:p>
                  </a:txBody>
                  <a:tcPr/>
                </a:tc>
                <a:tc>
                  <a:txBody>
                    <a:bodyPr/>
                    <a:lstStyle/>
                    <a:p>
                      <a:r>
                        <a:rPr lang="en-US" altLang="zh-CN" sz="2400" dirty="0"/>
                        <a:t>70</a:t>
                      </a:r>
                      <a:endParaRPr lang="zh-CN" altLang="en-US" sz="2400" dirty="0"/>
                    </a:p>
                  </a:txBody>
                  <a:tcPr/>
                </a:tc>
              </a:tr>
              <a:tr h="370840">
                <a:tc>
                  <a:txBody>
                    <a:bodyPr/>
                    <a:lstStyle/>
                    <a:p>
                      <a:r>
                        <a:rPr lang="en-US" altLang="zh-CN" sz="2400" dirty="0"/>
                        <a:t>3</a:t>
                      </a:r>
                      <a:endParaRPr lang="zh-CN" altLang="en-US" sz="2400" dirty="0"/>
                    </a:p>
                  </a:txBody>
                  <a:tcPr/>
                </a:tc>
                <a:tc>
                  <a:txBody>
                    <a:bodyPr/>
                    <a:lstStyle/>
                    <a:p>
                      <a:r>
                        <a:rPr lang="en-US" altLang="zh-CN" sz="2400" dirty="0"/>
                        <a:t>14:00~18:00</a:t>
                      </a:r>
                      <a:endParaRPr lang="zh-CN" altLang="en-US" sz="2400" dirty="0"/>
                    </a:p>
                  </a:txBody>
                  <a:tcPr/>
                </a:tc>
                <a:tc>
                  <a:txBody>
                    <a:bodyPr/>
                    <a:lstStyle/>
                    <a:p>
                      <a:r>
                        <a:rPr lang="en-US" altLang="zh-CN" sz="2400" dirty="0"/>
                        <a:t>60</a:t>
                      </a:r>
                      <a:endParaRPr lang="zh-CN" altLang="en-US" sz="2400" dirty="0"/>
                    </a:p>
                  </a:txBody>
                  <a:tcPr/>
                </a:tc>
              </a:tr>
              <a:tr h="370840">
                <a:tc>
                  <a:txBody>
                    <a:bodyPr/>
                    <a:lstStyle/>
                    <a:p>
                      <a:r>
                        <a:rPr lang="en-US" altLang="zh-CN" sz="2400" dirty="0"/>
                        <a:t>4</a:t>
                      </a:r>
                      <a:endParaRPr lang="zh-CN" altLang="en-US" sz="2400" dirty="0"/>
                    </a:p>
                  </a:txBody>
                  <a:tcPr/>
                </a:tc>
                <a:tc>
                  <a:txBody>
                    <a:bodyPr/>
                    <a:lstStyle/>
                    <a:p>
                      <a:r>
                        <a:rPr lang="en-US" altLang="zh-CN" sz="2400" dirty="0"/>
                        <a:t>18:00~22:00</a:t>
                      </a:r>
                      <a:endParaRPr lang="zh-CN" altLang="en-US" sz="2400" dirty="0"/>
                    </a:p>
                  </a:txBody>
                  <a:tcPr/>
                </a:tc>
                <a:tc>
                  <a:txBody>
                    <a:bodyPr/>
                    <a:lstStyle/>
                    <a:p>
                      <a:r>
                        <a:rPr lang="en-US" altLang="zh-CN" sz="2400" dirty="0"/>
                        <a:t>50</a:t>
                      </a:r>
                      <a:endParaRPr lang="zh-CN" altLang="en-US" sz="2400" dirty="0"/>
                    </a:p>
                  </a:txBody>
                  <a:tcPr/>
                </a:tc>
              </a:tr>
              <a:tr h="370840">
                <a:tc>
                  <a:txBody>
                    <a:bodyPr/>
                    <a:lstStyle/>
                    <a:p>
                      <a:r>
                        <a:rPr lang="en-US" altLang="zh-CN" sz="2400" dirty="0"/>
                        <a:t>5</a:t>
                      </a:r>
                      <a:endParaRPr lang="zh-CN" altLang="en-US" sz="2400" dirty="0"/>
                    </a:p>
                  </a:txBody>
                  <a:tcPr/>
                </a:tc>
                <a:tc>
                  <a:txBody>
                    <a:bodyPr/>
                    <a:lstStyle/>
                    <a:p>
                      <a:r>
                        <a:rPr lang="en-US" altLang="zh-CN" sz="2400" dirty="0"/>
                        <a:t>22:00~2:00</a:t>
                      </a:r>
                      <a:endParaRPr lang="zh-CN" altLang="en-US" sz="2400" dirty="0"/>
                    </a:p>
                  </a:txBody>
                  <a:tcPr/>
                </a:tc>
                <a:tc>
                  <a:txBody>
                    <a:bodyPr/>
                    <a:lstStyle/>
                    <a:p>
                      <a:r>
                        <a:rPr lang="en-US" altLang="zh-CN" sz="2400" dirty="0"/>
                        <a:t>20</a:t>
                      </a:r>
                      <a:endParaRPr lang="zh-CN" altLang="en-US" sz="2400" dirty="0"/>
                    </a:p>
                  </a:txBody>
                  <a:tcPr/>
                </a:tc>
              </a:tr>
              <a:tr h="370840">
                <a:tc>
                  <a:txBody>
                    <a:bodyPr/>
                    <a:lstStyle/>
                    <a:p>
                      <a:r>
                        <a:rPr lang="en-US" altLang="zh-CN" sz="2400" dirty="0"/>
                        <a:t>6</a:t>
                      </a:r>
                      <a:endParaRPr lang="zh-CN" altLang="en-US" sz="2400" dirty="0"/>
                    </a:p>
                  </a:txBody>
                  <a:tcPr/>
                </a:tc>
                <a:tc>
                  <a:txBody>
                    <a:bodyPr/>
                    <a:lstStyle/>
                    <a:p>
                      <a:r>
                        <a:rPr lang="en-US" altLang="zh-CN" sz="2400" dirty="0"/>
                        <a:t>2:00~6:00</a:t>
                      </a:r>
                      <a:endParaRPr lang="zh-CN" altLang="en-US" sz="2400" dirty="0"/>
                    </a:p>
                  </a:txBody>
                  <a:tcPr/>
                </a:tc>
                <a:tc>
                  <a:txBody>
                    <a:bodyPr/>
                    <a:lstStyle/>
                    <a:p>
                      <a:r>
                        <a:rPr lang="en-US" altLang="zh-CN" sz="2400" dirty="0"/>
                        <a:t>30</a:t>
                      </a:r>
                      <a:endParaRPr lang="zh-CN" altLang="en-US" sz="2400" dirty="0"/>
                    </a:p>
                  </a:txBody>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3</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364685" cy="5693866"/>
            </a:xfrm>
            <a:prstGeom prst="rect">
              <a:avLst/>
            </a:prstGeom>
            <a:noFill/>
          </p:spPr>
          <p:txBody>
            <a:bodyPr wrap="square" rtlCol="0">
              <a:spAutoFit/>
            </a:bodyPr>
            <a:lstStyle/>
            <a:p>
              <a:pPr algn="l"/>
              <a:r>
                <a:rPr lang="en-US" altLang="zh-CN" sz="2800" kern="100" dirty="0" err="1">
                  <a:effectLst/>
                  <a:latin typeface="等线" panose="02010600030101010101" pitchFamily="2" charset="-122"/>
                  <a:ea typeface="等线" panose="02010600030101010101" pitchFamily="2" charset="-122"/>
                  <a:cs typeface="Times New Roman" panose="02020503050405090304" pitchFamily="18" charset="0"/>
                </a:rPr>
                <a:t>G.A.Tanner</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公司生产的一种产品是一种特别的玩具</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预计每一种这种玩具可以带来</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3</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美元的利润</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由于这种玩具的需求量很大</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因此经理希望能够从当前每天生产</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1000</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件产品的基础上增加产量</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但是</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由于从供应商那里获得部件</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A</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B</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的数量有限</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所以很难提高产量</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每个玩具需要两个</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A</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部件和一个</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B</a:t>
              </a:r>
              <a:r>
                <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rPr>
                <a:t>部件</a:t>
              </a:r>
              <a:r>
                <a:rPr lang="en-US" altLang="zh-CN" sz="2800" kern="100" dirty="0">
                  <a:effectLst/>
                  <a:latin typeface="等线" panose="02010600030101010101" pitchFamily="2" charset="-122"/>
                  <a:ea typeface="等线" panose="02010600030101010101" pitchFamily="2" charset="-122"/>
                  <a:cs typeface="Times New Roman" panose="0202050305040509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503050405090304" pitchFamily="18" charset="0"/>
              </a:endParaRPr>
            </a:p>
            <a:p>
              <a:r>
                <a:rPr lang="zh-CN" altLang="zh-CN" sz="2800" dirty="0">
                  <a:effectLst/>
                  <a:ea typeface="等线" panose="02010600030101010101" pitchFamily="2" charset="-122"/>
                  <a:cs typeface="Times New Roman" panose="02020503050405090304" pitchFamily="18" charset="0"/>
                </a:rPr>
                <a:t>供应商对于</a:t>
              </a:r>
              <a:r>
                <a:rPr lang="en-US" altLang="zh-CN" sz="2800" dirty="0">
                  <a:effectLst/>
                  <a:ea typeface="等线" panose="02010600030101010101" pitchFamily="2" charset="-122"/>
                  <a:cs typeface="Times New Roman" panose="02020503050405090304" pitchFamily="18" charset="0"/>
                </a:rPr>
                <a:t>A</a:t>
              </a:r>
              <a:r>
                <a:rPr lang="zh-CN" altLang="zh-CN" sz="2800" dirty="0">
                  <a:effectLst/>
                  <a:ea typeface="等线" panose="02010600030101010101" pitchFamily="2" charset="-122"/>
                  <a:cs typeface="Times New Roman" panose="02020503050405090304" pitchFamily="18" charset="0"/>
                </a:rPr>
                <a:t>部件的供应数量只能从现在的每天</a:t>
              </a:r>
              <a:r>
                <a:rPr lang="en-US" altLang="zh-CN" sz="2800" dirty="0">
                  <a:effectLst/>
                  <a:ea typeface="等线" panose="02010600030101010101" pitchFamily="2" charset="-122"/>
                  <a:cs typeface="Times New Roman" panose="02020503050405090304" pitchFamily="18" charset="0"/>
                </a:rPr>
                <a:t>2000</a:t>
              </a:r>
              <a:r>
                <a:rPr lang="zh-CN" altLang="zh-CN" sz="2800" dirty="0">
                  <a:effectLst/>
                  <a:ea typeface="等线" panose="02010600030101010101" pitchFamily="2" charset="-122"/>
                  <a:cs typeface="Times New Roman" panose="02020503050405090304" pitchFamily="18" charset="0"/>
                </a:rPr>
                <a:t>个提高到</a:t>
              </a:r>
              <a:r>
                <a:rPr lang="en-US" altLang="zh-CN" sz="2800" dirty="0">
                  <a:effectLst/>
                  <a:ea typeface="等线" panose="02010600030101010101" pitchFamily="2" charset="-122"/>
                  <a:cs typeface="Times New Roman" panose="02020503050405090304" pitchFamily="18" charset="0"/>
                </a:rPr>
                <a:t>3000</a:t>
              </a:r>
              <a:r>
                <a:rPr lang="zh-CN" altLang="zh-CN" sz="2800" dirty="0">
                  <a:effectLst/>
                  <a:ea typeface="等线" panose="02010600030101010101" pitchFamily="2" charset="-122"/>
                  <a:cs typeface="Times New Roman" panose="02020503050405090304" pitchFamily="18" charset="0"/>
                </a:rPr>
                <a:t>个</a:t>
              </a:r>
              <a:r>
                <a:rPr lang="en-US" altLang="zh-CN" sz="2800" dirty="0">
                  <a:effectLst/>
                  <a:ea typeface="等线" panose="02010600030101010101" pitchFamily="2" charset="-122"/>
                  <a:cs typeface="Times New Roman" panose="02020503050405090304" pitchFamily="18" charset="0"/>
                </a:rPr>
                <a:t>; </a:t>
              </a:r>
              <a:r>
                <a:rPr lang="zh-CN" altLang="zh-CN" sz="2800" dirty="0">
                  <a:effectLst/>
                  <a:ea typeface="等线" panose="02010600030101010101" pitchFamily="2" charset="-122"/>
                  <a:cs typeface="Times New Roman" panose="02020503050405090304" pitchFamily="18" charset="0"/>
                </a:rPr>
                <a:t>而对于</a:t>
              </a:r>
              <a:r>
                <a:rPr lang="en-US" altLang="zh-CN" sz="2800" dirty="0">
                  <a:effectLst/>
                  <a:ea typeface="等线" panose="02010600030101010101" pitchFamily="2" charset="-122"/>
                  <a:cs typeface="Times New Roman" panose="02020503050405090304" pitchFamily="18" charset="0"/>
                </a:rPr>
                <a:t>B</a:t>
              </a:r>
              <a:r>
                <a:rPr lang="zh-CN" altLang="zh-CN" sz="2800" dirty="0">
                  <a:effectLst/>
                  <a:ea typeface="等线" panose="02010600030101010101" pitchFamily="2" charset="-122"/>
                  <a:cs typeface="Times New Roman" panose="02020503050405090304" pitchFamily="18" charset="0"/>
                </a:rPr>
                <a:t>部件的供应数量仍然为</a:t>
              </a:r>
              <a:r>
                <a:rPr lang="en-US" altLang="zh-CN" sz="2800" dirty="0">
                  <a:effectLst/>
                  <a:ea typeface="等线" panose="02010600030101010101" pitchFamily="2" charset="-122"/>
                  <a:cs typeface="Times New Roman" panose="02020503050405090304" pitchFamily="18" charset="0"/>
                </a:rPr>
                <a:t>1000</a:t>
              </a:r>
              <a:r>
                <a:rPr lang="zh-CN" altLang="zh-CN" sz="2800" dirty="0">
                  <a:effectLst/>
                  <a:ea typeface="等线" panose="02010600030101010101" pitchFamily="2" charset="-122"/>
                  <a:cs typeface="Times New Roman" panose="02020503050405090304" pitchFamily="18" charset="0"/>
                </a:rPr>
                <a:t>个</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由于目前没有办法找到其他提供这两种部件的供应商</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所以经理决定自己生产这两种部件来满足需求</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但是生产时由于某种原因</a:t>
              </a:r>
              <a:r>
                <a:rPr lang="en-US" altLang="zh-CN" sz="2800" dirty="0">
                  <a:effectLst/>
                  <a:ea typeface="等线" panose="02010600030101010101" pitchFamily="2" charset="-122"/>
                  <a:cs typeface="Times New Roman" panose="02020503050405090304" pitchFamily="18" charset="0"/>
                </a:rPr>
                <a:t>A</a:t>
              </a:r>
              <a:r>
                <a:rPr lang="zh-CN" altLang="zh-CN" sz="2800" dirty="0">
                  <a:effectLst/>
                  <a:ea typeface="等线" panose="02010600030101010101" pitchFamily="2" charset="-122"/>
                  <a:cs typeface="Times New Roman" panose="02020503050405090304" pitchFamily="18" charset="0"/>
                </a:rPr>
                <a:t>和</a:t>
              </a:r>
              <a:r>
                <a:rPr lang="en-US" altLang="zh-CN" sz="2800" dirty="0">
                  <a:effectLst/>
                  <a:ea typeface="等线" panose="02010600030101010101" pitchFamily="2" charset="-122"/>
                  <a:cs typeface="Times New Roman" panose="02020503050405090304" pitchFamily="18" charset="0"/>
                </a:rPr>
                <a:t>B</a:t>
              </a:r>
              <a:r>
                <a:rPr lang="zh-CN" altLang="zh-CN" sz="2800" dirty="0">
                  <a:effectLst/>
                  <a:ea typeface="等线" panose="02010600030101010101" pitchFamily="2" charset="-122"/>
                  <a:cs typeface="Times New Roman" panose="02020503050405090304" pitchFamily="18" charset="0"/>
                </a:rPr>
                <a:t>必须等量同时生产</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按照估计</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如果公司自己生产这两种部件的话</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因为</a:t>
              </a:r>
              <a:r>
                <a:rPr lang="en-US" altLang="zh-CN" sz="2800" dirty="0">
                  <a:effectLst/>
                  <a:ea typeface="等线" panose="02010600030101010101" pitchFamily="2" charset="-122"/>
                  <a:cs typeface="Times New Roman" panose="02020503050405090304" pitchFamily="18" charset="0"/>
                </a:rPr>
                <a:t>A</a:t>
              </a:r>
              <a:r>
                <a:rPr lang="zh-CN" altLang="zh-CN" sz="2800" dirty="0">
                  <a:effectLst/>
                  <a:ea typeface="等线" panose="02010600030101010101" pitchFamily="2" charset="-122"/>
                  <a:cs typeface="Times New Roman" panose="02020503050405090304" pitchFamily="18" charset="0"/>
                </a:rPr>
                <a:t>和</a:t>
              </a:r>
              <a:r>
                <a:rPr lang="en-US" altLang="zh-CN" sz="2800" dirty="0">
                  <a:effectLst/>
                  <a:ea typeface="等线" panose="02010600030101010101" pitchFamily="2" charset="-122"/>
                  <a:cs typeface="Times New Roman" panose="02020503050405090304" pitchFamily="18" charset="0"/>
                </a:rPr>
                <a:t>B</a:t>
              </a:r>
              <a:r>
                <a:rPr lang="zh-CN" altLang="zh-CN" sz="2800" dirty="0">
                  <a:effectLst/>
                  <a:ea typeface="等线" panose="02010600030101010101" pitchFamily="2" charset="-122"/>
                  <a:cs typeface="Times New Roman" panose="02020503050405090304" pitchFamily="18" charset="0"/>
                </a:rPr>
                <a:t>同时生产</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那么每生产一组</a:t>
              </a:r>
              <a:r>
                <a:rPr lang="en-US" altLang="zh-CN" sz="2800" dirty="0">
                  <a:effectLst/>
                  <a:ea typeface="等线" panose="02010600030101010101" pitchFamily="2" charset="-122"/>
                  <a:cs typeface="Times New Roman" panose="02020503050405090304" pitchFamily="18" charset="0"/>
                </a:rPr>
                <a:t>A</a:t>
              </a:r>
              <a:r>
                <a:rPr lang="zh-CN" altLang="zh-CN" sz="2800" dirty="0">
                  <a:effectLst/>
                  <a:ea typeface="等线" panose="02010600030101010101" pitchFamily="2" charset="-122"/>
                  <a:cs typeface="Times New Roman" panose="02020503050405090304" pitchFamily="18" charset="0"/>
                </a:rPr>
                <a:t>和</a:t>
              </a:r>
              <a:r>
                <a:rPr lang="en-US" altLang="zh-CN" sz="2800" dirty="0">
                  <a:effectLst/>
                  <a:ea typeface="等线" panose="02010600030101010101" pitchFamily="2" charset="-122"/>
                  <a:cs typeface="Times New Roman" panose="02020503050405090304" pitchFamily="18" charset="0"/>
                </a:rPr>
                <a:t>B,</a:t>
              </a:r>
              <a:r>
                <a:rPr lang="zh-CN" altLang="zh-CN" sz="2800" dirty="0">
                  <a:effectLst/>
                  <a:ea typeface="等线" panose="02010600030101010101" pitchFamily="2" charset="-122"/>
                  <a:cs typeface="Times New Roman" panose="02020503050405090304" pitchFamily="18" charset="0"/>
                </a:rPr>
                <a:t>所花费的总成本较之从供应商那里购买花费的总成本相比</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每一组</a:t>
              </a:r>
              <a:r>
                <a:rPr lang="en-US" altLang="zh-CN" sz="2800" dirty="0">
                  <a:effectLst/>
                  <a:ea typeface="等线" panose="02010600030101010101" pitchFamily="2" charset="-122"/>
                  <a:cs typeface="Times New Roman" panose="02020503050405090304" pitchFamily="18" charset="0"/>
                </a:rPr>
                <a:t>A</a:t>
              </a:r>
              <a:r>
                <a:rPr lang="zh-CN" altLang="zh-CN" sz="2800" dirty="0">
                  <a:effectLst/>
                  <a:ea typeface="等线" panose="02010600030101010101" pitchFamily="2" charset="-122"/>
                  <a:cs typeface="Times New Roman" panose="02020503050405090304" pitchFamily="18" charset="0"/>
                </a:rPr>
                <a:t>和</a:t>
              </a:r>
              <a:r>
                <a:rPr lang="en-US" altLang="zh-CN" sz="2800" dirty="0">
                  <a:effectLst/>
                  <a:ea typeface="等线" panose="02010600030101010101" pitchFamily="2" charset="-122"/>
                  <a:cs typeface="Times New Roman" panose="02020503050405090304" pitchFamily="18" charset="0"/>
                </a:rPr>
                <a:t>B</a:t>
              </a:r>
              <a:r>
                <a:rPr lang="zh-CN" altLang="zh-CN" sz="2800" dirty="0">
                  <a:effectLst/>
                  <a:ea typeface="等线" panose="02010600030101010101" pitchFamily="2" charset="-122"/>
                  <a:cs typeface="Times New Roman" panose="02020503050405090304" pitchFamily="18" charset="0"/>
                </a:rPr>
                <a:t>都会高出</a:t>
              </a:r>
              <a:r>
                <a:rPr lang="en-US" altLang="zh-CN" sz="2800" dirty="0">
                  <a:effectLst/>
                  <a:ea typeface="等线" panose="02010600030101010101" pitchFamily="2" charset="-122"/>
                  <a:cs typeface="Times New Roman" panose="02020503050405090304" pitchFamily="18" charset="0"/>
                </a:rPr>
                <a:t>2.5</a:t>
              </a:r>
              <a:r>
                <a:rPr lang="zh-CN" altLang="zh-CN" sz="2800" dirty="0">
                  <a:effectLst/>
                  <a:ea typeface="等线" panose="02010600030101010101" pitchFamily="2" charset="-122"/>
                  <a:cs typeface="Times New Roman" panose="02020503050405090304" pitchFamily="18" charset="0"/>
                </a:rPr>
                <a:t>美元</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因此</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经理想要得到玩具和两种部件各自产量分别都是多少</a:t>
              </a:r>
              <a:r>
                <a:rPr lang="en-US" altLang="zh-CN" sz="2800" dirty="0">
                  <a:effectLst/>
                  <a:ea typeface="等线" panose="02010600030101010101" pitchFamily="2" charset="-122"/>
                  <a:cs typeface="Times New Roman" panose="02020503050405090304" pitchFamily="18" charset="0"/>
                </a:rPr>
                <a:t>,</a:t>
              </a:r>
              <a:r>
                <a:rPr lang="zh-CN" altLang="zh-CN" sz="2800" dirty="0">
                  <a:effectLst/>
                  <a:ea typeface="等线" panose="02010600030101010101" pitchFamily="2" charset="-122"/>
                  <a:cs typeface="Times New Roman" panose="02020503050405090304" pitchFamily="18" charset="0"/>
                </a:rPr>
                <a:t>来使利润实现最大化</a:t>
              </a:r>
              <a:r>
                <a:rPr lang="en-US" altLang="zh-CN" sz="2800" dirty="0">
                  <a:effectLst/>
                  <a:ea typeface="等线" panose="02010600030101010101" pitchFamily="2" charset="-122"/>
                  <a:cs typeface="Times New Roman" panose="02020503050405090304" pitchFamily="18" charset="0"/>
                </a:rPr>
                <a:t>.</a:t>
              </a:r>
              <a:endParaRPr lang="zh-CN" altLang="en-US" sz="3600" dirty="0"/>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4</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168742" cy="1938992"/>
            </a:xfrm>
            <a:prstGeom prst="rect">
              <a:avLst/>
            </a:prstGeom>
            <a:noFill/>
          </p:spPr>
          <p:txBody>
            <a:bodyPr wrap="square" rtlCol="0">
              <a:spAutoFit/>
            </a:bodyPr>
            <a:lstStyle/>
            <a:p>
              <a:r>
                <a:rPr lang="zh-CN" altLang="en-US" sz="2400" dirty="0"/>
                <a:t>某糖果厂用原料</a:t>
              </a:r>
              <a:r>
                <a:rPr lang="en-US" altLang="zh-CN" sz="2400" dirty="0"/>
                <a:t>A</a:t>
              </a:r>
              <a:r>
                <a:rPr lang="zh-CN" altLang="en-US" sz="2400" dirty="0"/>
                <a:t>、</a:t>
              </a:r>
              <a:r>
                <a:rPr lang="en-US" altLang="zh-CN" sz="2400" dirty="0"/>
                <a:t>B</a:t>
              </a:r>
              <a:r>
                <a:rPr lang="zh-CN" altLang="en-US" sz="2400" dirty="0"/>
                <a:t>、</a:t>
              </a:r>
              <a:r>
                <a:rPr lang="en-US" altLang="zh-CN" sz="2400" dirty="0"/>
                <a:t>C</a:t>
              </a:r>
              <a:r>
                <a:rPr lang="zh-CN" altLang="en-US" sz="2400" dirty="0"/>
                <a:t>加工成</a:t>
              </a:r>
              <a:r>
                <a:rPr lang="en-US" altLang="zh-CN" sz="2400" dirty="0"/>
                <a:t>3</a:t>
              </a:r>
              <a:r>
                <a:rPr lang="zh-CN" altLang="en-US" sz="2400" dirty="0"/>
                <a:t>种不同牌号得糖果甲、乙、丙。已知各种牌号糖果中，原料成本，各种原料的每月限制用量，三种牌号的糖果的加工费用及其售价如表所示。</a:t>
              </a:r>
              <a:endParaRPr lang="en-US" altLang="zh-CN" sz="2400" dirty="0"/>
            </a:p>
            <a:p>
              <a:r>
                <a:rPr lang="zh-CN" altLang="en-US" sz="2400" dirty="0"/>
                <a:t>问，该厂每月应生产这三种牌号的糖果各多少千克，使该厂获利最大？试建立这个问题的线性规划的数学模型。</a:t>
              </a:r>
              <a:endParaRPr lang="en-US" altLang="zh-CN" sz="2400" dirty="0"/>
            </a:p>
          </p:txBody>
        </p:sp>
      </p:grpSp>
      <p:graphicFrame>
        <p:nvGraphicFramePr>
          <p:cNvPr id="6" name="表格 6"/>
          <p:cNvGraphicFramePr>
            <a:graphicFrameLocks noGrp="1"/>
          </p:cNvGraphicFramePr>
          <p:nvPr/>
        </p:nvGraphicFramePr>
        <p:xfrm>
          <a:off x="776513" y="3015972"/>
          <a:ext cx="10860318" cy="3291840"/>
        </p:xfrm>
        <a:graphic>
          <a:graphicData uri="http://schemas.openxmlformats.org/drawingml/2006/table">
            <a:tbl>
              <a:tblPr firstRow="1" bandRow="1">
                <a:tableStyleId>{5C22544A-7EE6-4342-B048-85BDC9FD1C3A}</a:tableStyleId>
              </a:tblPr>
              <a:tblGrid>
                <a:gridCol w="1810053"/>
                <a:gridCol w="1810053"/>
                <a:gridCol w="1810053"/>
                <a:gridCol w="1810053"/>
                <a:gridCol w="1810053"/>
                <a:gridCol w="1810053"/>
              </a:tblGrid>
              <a:tr h="370840">
                <a:tc>
                  <a:txBody>
                    <a:bodyPr/>
                    <a:lstStyle/>
                    <a:p>
                      <a:pPr algn="ctr"/>
                      <a:endParaRPr lang="zh-CN" altLang="en-US" sz="2400" dirty="0"/>
                    </a:p>
                  </a:txBody>
                  <a:tcPr/>
                </a:tc>
                <a:tc>
                  <a:txBody>
                    <a:bodyPr/>
                    <a:lstStyle/>
                    <a:p>
                      <a:pPr algn="ctr"/>
                      <a:r>
                        <a:rPr lang="zh-CN" altLang="en-US" sz="2400" dirty="0"/>
                        <a:t>甲</a:t>
                      </a:r>
                      <a:endParaRPr lang="zh-CN" altLang="en-US" sz="2400" dirty="0"/>
                    </a:p>
                  </a:txBody>
                  <a:tcPr/>
                </a:tc>
                <a:tc>
                  <a:txBody>
                    <a:bodyPr/>
                    <a:lstStyle/>
                    <a:p>
                      <a:pPr algn="ctr"/>
                      <a:r>
                        <a:rPr lang="zh-CN" altLang="en-US" sz="2400" dirty="0"/>
                        <a:t>乙</a:t>
                      </a:r>
                      <a:endParaRPr lang="zh-CN" altLang="en-US" sz="2400" dirty="0"/>
                    </a:p>
                  </a:txBody>
                  <a:tcPr/>
                </a:tc>
                <a:tc>
                  <a:txBody>
                    <a:bodyPr/>
                    <a:lstStyle/>
                    <a:p>
                      <a:pPr algn="ctr"/>
                      <a:r>
                        <a:rPr lang="zh-CN" altLang="en-US" sz="2400" dirty="0"/>
                        <a:t>丙</a:t>
                      </a:r>
                      <a:endParaRPr lang="zh-CN" altLang="en-US" sz="2400" dirty="0"/>
                    </a:p>
                  </a:txBody>
                  <a:tcPr/>
                </a:tc>
                <a:tc>
                  <a:txBody>
                    <a:bodyPr/>
                    <a:lstStyle/>
                    <a:p>
                      <a:pPr algn="ctr"/>
                      <a:r>
                        <a:rPr lang="zh-CN" altLang="en-US" sz="2400" dirty="0"/>
                        <a:t>原料成本</a:t>
                      </a:r>
                      <a:endParaRPr lang="en-US" altLang="zh-CN" sz="2400" dirty="0"/>
                    </a:p>
                    <a:p>
                      <a:pPr algn="ctr"/>
                      <a:r>
                        <a:rPr lang="zh-CN" altLang="en-US" sz="2400" dirty="0"/>
                        <a:t>（元</a:t>
                      </a:r>
                      <a:r>
                        <a:rPr lang="en-US" altLang="zh-CN" sz="2400" dirty="0"/>
                        <a:t>/</a:t>
                      </a:r>
                      <a:r>
                        <a:rPr lang="zh-CN" altLang="en-US" sz="2400" dirty="0"/>
                        <a:t>千克）</a:t>
                      </a:r>
                      <a:endParaRPr lang="zh-CN" altLang="en-US" sz="2400" dirty="0"/>
                    </a:p>
                  </a:txBody>
                  <a:tcPr/>
                </a:tc>
                <a:tc>
                  <a:txBody>
                    <a:bodyPr/>
                    <a:lstStyle/>
                    <a:p>
                      <a:pPr algn="ctr"/>
                      <a:r>
                        <a:rPr lang="zh-CN" altLang="en-US" sz="2400" dirty="0"/>
                        <a:t>每月限制用量（千克）</a:t>
                      </a:r>
                      <a:endParaRPr lang="zh-CN" altLang="en-US" sz="2400" dirty="0"/>
                    </a:p>
                  </a:txBody>
                  <a:tcPr/>
                </a:tc>
              </a:tr>
              <a:tr h="370840">
                <a:tc>
                  <a:txBody>
                    <a:bodyPr/>
                    <a:lstStyle/>
                    <a:p>
                      <a:pPr algn="r"/>
                      <a:r>
                        <a:rPr lang="en-US" altLang="zh-CN" sz="2400" dirty="0"/>
                        <a:t>A</a:t>
                      </a:r>
                      <a:endParaRPr lang="en-US" altLang="zh-CN" sz="2400" dirty="0"/>
                    </a:p>
                    <a:p>
                      <a:pPr algn="r"/>
                      <a:r>
                        <a:rPr lang="en-US" altLang="zh-CN" sz="2400" dirty="0"/>
                        <a:t>B</a:t>
                      </a:r>
                      <a:endParaRPr lang="en-US" altLang="zh-CN" sz="2400" dirty="0"/>
                    </a:p>
                    <a:p>
                      <a:pPr algn="r"/>
                      <a:r>
                        <a:rPr lang="en-US" altLang="zh-CN" sz="2400" dirty="0"/>
                        <a:t>C</a:t>
                      </a:r>
                      <a:endParaRPr lang="zh-CN" altLang="en-US" sz="2400" dirty="0"/>
                    </a:p>
                  </a:txBody>
                  <a:tcPr/>
                </a:tc>
                <a:tc>
                  <a:txBody>
                    <a:bodyPr/>
                    <a:lstStyle/>
                    <a:p>
                      <a:r>
                        <a:rPr lang="zh-CN" altLang="en-US" sz="2400" dirty="0"/>
                        <a:t>≥</a:t>
                      </a:r>
                      <a:r>
                        <a:rPr lang="en-US" altLang="zh-CN" sz="2400" dirty="0"/>
                        <a:t>60%</a:t>
                      </a:r>
                      <a:endParaRPr lang="en-US" altLang="zh-CN" sz="2400" dirty="0"/>
                    </a:p>
                    <a:p>
                      <a:endParaRPr lang="en-US" altLang="zh-CN" sz="2400" dirty="0"/>
                    </a:p>
                    <a:p>
                      <a:r>
                        <a:rPr lang="zh-CN" altLang="en-US" sz="2400" dirty="0"/>
                        <a:t>≤</a:t>
                      </a:r>
                      <a:r>
                        <a:rPr lang="en-US" altLang="zh-CN" sz="2400" dirty="0"/>
                        <a:t>20%</a:t>
                      </a:r>
                      <a:endParaRPr lang="zh-CN" altLang="en-US" sz="2400" dirty="0"/>
                    </a:p>
                  </a:txBody>
                  <a:tcPr/>
                </a:tc>
                <a:tc>
                  <a:txBody>
                    <a:bodyPr/>
                    <a:lstStyle/>
                    <a:p>
                      <a:r>
                        <a:rPr lang="zh-CN" altLang="en-US" sz="2400" dirty="0"/>
                        <a:t>≥</a:t>
                      </a:r>
                      <a:r>
                        <a:rPr lang="en-US" altLang="zh-CN" sz="2400" dirty="0"/>
                        <a:t>15%</a:t>
                      </a:r>
                      <a:endParaRPr lang="en-US" altLang="zh-CN" sz="2400" dirty="0"/>
                    </a:p>
                    <a:p>
                      <a:endParaRPr lang="en-US" altLang="zh-CN" sz="2400" dirty="0"/>
                    </a:p>
                    <a:p>
                      <a:r>
                        <a:rPr lang="zh-CN" altLang="en-US" sz="2400" dirty="0"/>
                        <a:t>≤</a:t>
                      </a:r>
                      <a:r>
                        <a:rPr lang="en-US" altLang="zh-CN" sz="2400" dirty="0"/>
                        <a:t>60%</a:t>
                      </a:r>
                      <a:endParaRPr lang="zh-CN" altLang="en-US" sz="2400" dirty="0"/>
                    </a:p>
                  </a:txBody>
                  <a:tcPr/>
                </a:tc>
                <a:tc>
                  <a:txBody>
                    <a:bodyPr/>
                    <a:lstStyle/>
                    <a:p>
                      <a:endParaRPr lang="en-US" altLang="zh-CN" sz="2400" dirty="0"/>
                    </a:p>
                    <a:p>
                      <a:endParaRPr lang="en-US" altLang="zh-CN" sz="2400" dirty="0"/>
                    </a:p>
                    <a:p>
                      <a:r>
                        <a:rPr lang="zh-CN" altLang="en-US" sz="2400" dirty="0"/>
                        <a:t>≤</a:t>
                      </a:r>
                      <a:r>
                        <a:rPr lang="en-US" altLang="zh-CN" sz="2400" dirty="0"/>
                        <a:t>50%</a:t>
                      </a:r>
                      <a:endParaRPr lang="zh-CN" altLang="en-US" sz="2400" dirty="0"/>
                    </a:p>
                  </a:txBody>
                  <a:tcPr/>
                </a:tc>
                <a:tc>
                  <a:txBody>
                    <a:bodyPr/>
                    <a:lstStyle/>
                    <a:p>
                      <a:r>
                        <a:rPr lang="en-US" altLang="zh-CN" sz="2400" dirty="0"/>
                        <a:t>2.00</a:t>
                      </a:r>
                      <a:endParaRPr lang="en-US" altLang="zh-CN" sz="2400" dirty="0"/>
                    </a:p>
                    <a:p>
                      <a:r>
                        <a:rPr lang="en-US" altLang="zh-CN" sz="2400" dirty="0"/>
                        <a:t>1.50</a:t>
                      </a:r>
                      <a:endParaRPr lang="en-US" altLang="zh-CN" sz="2400" dirty="0"/>
                    </a:p>
                    <a:p>
                      <a:r>
                        <a:rPr lang="en-US" altLang="zh-CN" sz="2400" dirty="0"/>
                        <a:t>1.00</a:t>
                      </a:r>
                      <a:endParaRPr lang="zh-CN" altLang="en-US" sz="2400" dirty="0"/>
                    </a:p>
                  </a:txBody>
                  <a:tcPr/>
                </a:tc>
                <a:tc>
                  <a:txBody>
                    <a:bodyPr/>
                    <a:lstStyle/>
                    <a:p>
                      <a:r>
                        <a:rPr lang="en-US" altLang="zh-CN" sz="2400" dirty="0"/>
                        <a:t>2000</a:t>
                      </a:r>
                      <a:endParaRPr lang="en-US" altLang="zh-CN" sz="2400" dirty="0"/>
                    </a:p>
                    <a:p>
                      <a:r>
                        <a:rPr lang="en-US" altLang="zh-CN" sz="2400" dirty="0"/>
                        <a:t>2500</a:t>
                      </a:r>
                      <a:endParaRPr lang="en-US" altLang="zh-CN" sz="2400" dirty="0"/>
                    </a:p>
                    <a:p>
                      <a:r>
                        <a:rPr lang="en-US" altLang="zh-CN" sz="2400" dirty="0"/>
                        <a:t>1200</a:t>
                      </a:r>
                      <a:endParaRPr lang="zh-CN" altLang="en-US" sz="2400" dirty="0"/>
                    </a:p>
                  </a:txBody>
                  <a:tcPr/>
                </a:tc>
              </a:tr>
              <a:tr h="370840">
                <a:tc>
                  <a:txBody>
                    <a:bodyPr/>
                    <a:lstStyle/>
                    <a:p>
                      <a:pPr algn="ctr"/>
                      <a:r>
                        <a:rPr lang="zh-CN" altLang="en-US" sz="2400" dirty="0"/>
                        <a:t>加工费（元</a:t>
                      </a:r>
                      <a:r>
                        <a:rPr lang="en-US" altLang="zh-CN" sz="2400" dirty="0"/>
                        <a:t>/</a:t>
                      </a:r>
                      <a:r>
                        <a:rPr lang="zh-CN" altLang="en-US" sz="2400" dirty="0"/>
                        <a:t>千克）</a:t>
                      </a:r>
                      <a:endParaRPr lang="zh-CN" altLang="en-US" sz="2400" dirty="0"/>
                    </a:p>
                  </a:txBody>
                  <a:tcPr/>
                </a:tc>
                <a:tc>
                  <a:txBody>
                    <a:bodyPr/>
                    <a:lstStyle/>
                    <a:p>
                      <a:r>
                        <a:rPr lang="en-US" altLang="zh-CN" sz="2400" dirty="0"/>
                        <a:t>0.50</a:t>
                      </a:r>
                      <a:endParaRPr lang="zh-CN" altLang="en-US" sz="2400" dirty="0"/>
                    </a:p>
                  </a:txBody>
                  <a:tcPr/>
                </a:tc>
                <a:tc>
                  <a:txBody>
                    <a:bodyPr/>
                    <a:lstStyle/>
                    <a:p>
                      <a:r>
                        <a:rPr lang="en-US" altLang="zh-CN" sz="2400" dirty="0"/>
                        <a:t>0.40</a:t>
                      </a:r>
                      <a:endParaRPr lang="zh-CN" altLang="en-US" sz="2400" dirty="0"/>
                    </a:p>
                  </a:txBody>
                  <a:tcPr/>
                </a:tc>
                <a:tc>
                  <a:txBody>
                    <a:bodyPr/>
                    <a:lstStyle/>
                    <a:p>
                      <a:r>
                        <a:rPr lang="en-US" altLang="zh-CN" sz="2400" dirty="0"/>
                        <a:t>0.30</a:t>
                      </a:r>
                      <a:endParaRPr lang="zh-CN" altLang="en-US" sz="2400" dirty="0"/>
                    </a:p>
                  </a:txBody>
                  <a:tcPr/>
                </a:tc>
                <a:tc>
                  <a:txBody>
                    <a:bodyPr/>
                    <a:lstStyle/>
                    <a:p>
                      <a:endParaRPr lang="zh-CN" altLang="en-US" sz="2400"/>
                    </a:p>
                  </a:txBody>
                  <a:tcPr/>
                </a:tc>
                <a:tc>
                  <a:txBody>
                    <a:bodyPr/>
                    <a:lstStyle/>
                    <a:p>
                      <a:endParaRPr lang="zh-CN" altLang="en-US" sz="2400"/>
                    </a:p>
                  </a:txBody>
                  <a:tcPr/>
                </a:tc>
              </a:tr>
              <a:tr h="370840">
                <a:tc>
                  <a:txBody>
                    <a:bodyPr/>
                    <a:lstStyle/>
                    <a:p>
                      <a:pPr algn="ctr"/>
                      <a:r>
                        <a:rPr lang="zh-CN" altLang="en-US" sz="2400" dirty="0"/>
                        <a:t>售价</a:t>
                      </a:r>
                      <a:endParaRPr lang="zh-CN" altLang="en-US" sz="2400" dirty="0"/>
                    </a:p>
                  </a:txBody>
                  <a:tcPr/>
                </a:tc>
                <a:tc>
                  <a:txBody>
                    <a:bodyPr/>
                    <a:lstStyle/>
                    <a:p>
                      <a:r>
                        <a:rPr lang="en-US" altLang="zh-CN" sz="2400" dirty="0"/>
                        <a:t>3.4</a:t>
                      </a:r>
                      <a:endParaRPr lang="zh-CN" altLang="en-US" sz="2400" dirty="0"/>
                    </a:p>
                  </a:txBody>
                  <a:tcPr/>
                </a:tc>
                <a:tc>
                  <a:txBody>
                    <a:bodyPr/>
                    <a:lstStyle/>
                    <a:p>
                      <a:r>
                        <a:rPr lang="en-US" altLang="zh-CN" sz="2400" dirty="0"/>
                        <a:t>2.85</a:t>
                      </a:r>
                      <a:endParaRPr lang="zh-CN" altLang="en-US" sz="2400" dirty="0"/>
                    </a:p>
                  </a:txBody>
                  <a:tcPr/>
                </a:tc>
                <a:tc>
                  <a:txBody>
                    <a:bodyPr/>
                    <a:lstStyle/>
                    <a:p>
                      <a:r>
                        <a:rPr lang="en-US" altLang="zh-CN" sz="2400" dirty="0"/>
                        <a:t>2.25</a:t>
                      </a:r>
                      <a:endParaRPr lang="zh-CN" altLang="en-US" sz="2400" dirty="0"/>
                    </a:p>
                  </a:txBody>
                  <a:tcPr/>
                </a:tc>
                <a:tc>
                  <a:txBody>
                    <a:bodyPr/>
                    <a:lstStyle/>
                    <a:p>
                      <a:endParaRPr lang="zh-CN" altLang="en-US" sz="2400"/>
                    </a:p>
                  </a:txBody>
                  <a:tcPr/>
                </a:tc>
                <a:tc>
                  <a:txBody>
                    <a:bodyPr/>
                    <a:lstStyle/>
                    <a:p>
                      <a:endParaRPr lang="zh-CN" altLang="en-US" sz="2400" dirty="0"/>
                    </a:p>
                  </a:txBody>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21772"/>
            <a:ext cx="11821885" cy="523220"/>
          </a:xfrm>
          <a:prstGeom prst="rect">
            <a:avLst/>
          </a:prstGeom>
          <a:noFill/>
        </p:spPr>
        <p:txBody>
          <a:bodyPr wrap="square" rtlCol="0">
            <a:spAutoFit/>
          </a:bodyPr>
          <a:lstStyle/>
          <a:p>
            <a:r>
              <a:rPr lang="zh-CN" altLang="en-US" sz="2800" dirty="0"/>
              <a:t>练习</a:t>
            </a:r>
            <a:r>
              <a:rPr lang="en-US" altLang="zh-CN" sz="2800" dirty="0"/>
              <a:t>5</a:t>
            </a:r>
            <a:endParaRPr lang="zh-CN" altLang="en-US" sz="2800" dirty="0"/>
          </a:p>
        </p:txBody>
      </p:sp>
      <p:grpSp>
        <p:nvGrpSpPr>
          <p:cNvPr id="5" name="组合 4"/>
          <p:cNvGrpSpPr/>
          <p:nvPr/>
        </p:nvGrpSpPr>
        <p:grpSpPr>
          <a:xfrm>
            <a:off x="108857" y="576941"/>
            <a:ext cx="11930743" cy="6183087"/>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865145"/>
              <a:ext cx="11190514" cy="2677656"/>
            </a:xfrm>
            <a:prstGeom prst="rect">
              <a:avLst/>
            </a:prstGeom>
            <a:noFill/>
          </p:spPr>
          <p:txBody>
            <a:bodyPr wrap="square" rtlCol="0">
              <a:spAutoFit/>
            </a:bodyPr>
            <a:lstStyle/>
            <a:p>
              <a:r>
                <a:rPr lang="zh-CN" altLang="en-US" sz="2400" dirty="0"/>
                <a:t>某厂生产三种产品</a:t>
              </a:r>
              <a:r>
                <a:rPr lang="en-US" altLang="zh-CN" sz="2400" dirty="0"/>
                <a:t>Ⅰ</a:t>
              </a:r>
              <a:r>
                <a:rPr lang="zh-CN" altLang="en-US" sz="2400" dirty="0"/>
                <a:t>，</a:t>
              </a:r>
              <a:r>
                <a:rPr lang="en-US" altLang="zh-CN" sz="2400" dirty="0">
                  <a:latin typeface="等线" panose="02010600030101010101" pitchFamily="2" charset="-122"/>
                  <a:ea typeface="等线" panose="02010600030101010101" pitchFamily="2" charset="-122"/>
                </a:rPr>
                <a:t>Ⅱ</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Ⅲ</a:t>
              </a:r>
              <a:r>
                <a:rPr lang="zh-CN" altLang="en-US" sz="2400" dirty="0">
                  <a:latin typeface="等线" panose="02010600030101010101" pitchFamily="2" charset="-122"/>
                  <a:ea typeface="等线" panose="02010600030101010101" pitchFamily="2" charset="-122"/>
                </a:rPr>
                <a:t>，每种产品要经过</a:t>
              </a:r>
              <a:r>
                <a:rPr lang="en-US" altLang="zh-CN" sz="2400" dirty="0">
                  <a:latin typeface="等线" panose="02010600030101010101" pitchFamily="2" charset="-122"/>
                  <a:ea typeface="等线" panose="02010600030101010101" pitchFamily="2" charset="-122"/>
                </a:rPr>
                <a:t>A</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B</a:t>
              </a:r>
              <a:r>
                <a:rPr lang="zh-CN" altLang="en-US" sz="2400" dirty="0">
                  <a:latin typeface="等线" panose="02010600030101010101" pitchFamily="2" charset="-122"/>
                  <a:ea typeface="等线" panose="02010600030101010101" pitchFamily="2" charset="-122"/>
                </a:rPr>
                <a:t>两道工序。设该厂有两种规格的设备能完成</a:t>
              </a:r>
              <a:r>
                <a:rPr lang="en-US" altLang="zh-CN" sz="2400" dirty="0">
                  <a:latin typeface="等线" panose="02010600030101010101" pitchFamily="2" charset="-122"/>
                  <a:ea typeface="等线" panose="02010600030101010101" pitchFamily="2" charset="-122"/>
                </a:rPr>
                <a:t>A</a:t>
              </a:r>
              <a:r>
                <a:rPr lang="zh-CN" altLang="en-US" sz="2400" dirty="0">
                  <a:latin typeface="等线" panose="02010600030101010101" pitchFamily="2" charset="-122"/>
                  <a:ea typeface="等线" panose="02010600030101010101" pitchFamily="2" charset="-122"/>
                </a:rPr>
                <a:t>工序，它们以</a:t>
              </a:r>
              <a:r>
                <a:rPr lang="en-US" altLang="zh-CN" sz="2400" dirty="0">
                  <a:latin typeface="等线" panose="02010600030101010101" pitchFamily="2" charset="-122"/>
                  <a:ea typeface="等线" panose="02010600030101010101" pitchFamily="2" charset="-122"/>
                </a:rPr>
                <a:t>A</a:t>
              </a:r>
              <a:r>
                <a:rPr lang="en-US" altLang="zh-CN" sz="2400" baseline="-25000" dirty="0">
                  <a:latin typeface="等线" panose="02010600030101010101" pitchFamily="2" charset="-122"/>
                  <a:ea typeface="等线" panose="02010600030101010101" pitchFamily="2" charset="-122"/>
                </a:rPr>
                <a:t>1</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A</a:t>
              </a:r>
              <a:r>
                <a:rPr lang="en-US" altLang="zh-CN" sz="2400" baseline="-25000" dirty="0">
                  <a:latin typeface="等线" panose="02010600030101010101" pitchFamily="2" charset="-122"/>
                  <a:ea typeface="等线" panose="02010600030101010101" pitchFamily="2" charset="-122"/>
                </a:rPr>
                <a:t>2</a:t>
              </a:r>
              <a:r>
                <a:rPr lang="zh-CN" altLang="en-US" sz="2400" dirty="0">
                  <a:latin typeface="等线" panose="02010600030101010101" pitchFamily="2" charset="-122"/>
                  <a:ea typeface="等线" panose="02010600030101010101" pitchFamily="2" charset="-122"/>
                </a:rPr>
                <a:t>表示；有</a:t>
              </a:r>
              <a:r>
                <a:rPr lang="en-US" altLang="zh-CN" sz="2400" dirty="0">
                  <a:latin typeface="等线" panose="02010600030101010101" pitchFamily="2" charset="-122"/>
                  <a:ea typeface="等线" panose="02010600030101010101" pitchFamily="2" charset="-122"/>
                </a:rPr>
                <a:t>3</a:t>
              </a:r>
              <a:r>
                <a:rPr lang="zh-CN" altLang="en-US" sz="2400" dirty="0">
                  <a:latin typeface="等线" panose="02010600030101010101" pitchFamily="2" charset="-122"/>
                  <a:ea typeface="等线" panose="02010600030101010101" pitchFamily="2" charset="-122"/>
                </a:rPr>
                <a:t>种规格的设备能完成</a:t>
              </a:r>
              <a:r>
                <a:rPr lang="en-US" altLang="zh-CN" sz="2400" dirty="0">
                  <a:latin typeface="等线" panose="02010600030101010101" pitchFamily="2" charset="-122"/>
                  <a:ea typeface="等线" panose="02010600030101010101" pitchFamily="2" charset="-122"/>
                </a:rPr>
                <a:t>B</a:t>
              </a:r>
              <a:r>
                <a:rPr lang="zh-CN" altLang="en-US" sz="2400" dirty="0">
                  <a:latin typeface="等线" panose="02010600030101010101" pitchFamily="2" charset="-122"/>
                  <a:ea typeface="等线" panose="02010600030101010101" pitchFamily="2" charset="-122"/>
                </a:rPr>
                <a:t>工序，它们以</a:t>
              </a:r>
              <a:r>
                <a:rPr lang="en-US" altLang="zh-CN" sz="2400" dirty="0">
                  <a:latin typeface="等线" panose="02010600030101010101" pitchFamily="2" charset="-122"/>
                  <a:ea typeface="等线" panose="02010600030101010101" pitchFamily="2" charset="-122"/>
                </a:rPr>
                <a:t>B</a:t>
              </a:r>
              <a:r>
                <a:rPr lang="en-US" altLang="zh-CN" sz="2400" baseline="-25000" dirty="0">
                  <a:latin typeface="等线" panose="02010600030101010101" pitchFamily="2" charset="-122"/>
                  <a:ea typeface="等线" panose="02010600030101010101" pitchFamily="2" charset="-122"/>
                </a:rPr>
                <a:t>1</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B</a:t>
              </a:r>
              <a:r>
                <a:rPr lang="en-US" altLang="zh-CN" sz="2400" baseline="-25000" dirty="0">
                  <a:latin typeface="等线" panose="02010600030101010101" pitchFamily="2" charset="-122"/>
                  <a:ea typeface="等线" panose="02010600030101010101" pitchFamily="2" charset="-122"/>
                </a:rPr>
                <a:t>2</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B</a:t>
              </a:r>
              <a:r>
                <a:rPr lang="en-US" altLang="zh-CN" sz="2400" baseline="-25000" dirty="0">
                  <a:latin typeface="等线" panose="02010600030101010101" pitchFamily="2" charset="-122"/>
                  <a:ea typeface="等线" panose="02010600030101010101" pitchFamily="2" charset="-122"/>
                </a:rPr>
                <a:t>3</a:t>
              </a:r>
              <a:r>
                <a:rPr lang="zh-CN" altLang="en-US" sz="2400" dirty="0">
                  <a:latin typeface="等线" panose="02010600030101010101" pitchFamily="2" charset="-122"/>
                  <a:ea typeface="等线" panose="02010600030101010101" pitchFamily="2" charset="-122"/>
                </a:rPr>
                <a:t>表示。产品</a:t>
              </a:r>
              <a:r>
                <a:rPr lang="en-US" altLang="zh-CN" sz="2400" dirty="0"/>
                <a:t>Ⅰ</a:t>
              </a:r>
              <a:r>
                <a:rPr lang="zh-CN" altLang="en-US" sz="2400" dirty="0"/>
                <a:t>可在</a:t>
              </a:r>
              <a:r>
                <a:rPr lang="en-US" altLang="zh-CN" sz="2400" dirty="0"/>
                <a:t>A</a:t>
              </a:r>
              <a:r>
                <a:rPr lang="zh-CN" altLang="en-US" sz="2400" dirty="0"/>
                <a:t>、</a:t>
              </a:r>
              <a:r>
                <a:rPr lang="en-US" altLang="zh-CN" sz="2400" dirty="0"/>
                <a:t>B</a:t>
              </a:r>
              <a:r>
                <a:rPr lang="zh-CN" altLang="en-US" sz="2400" dirty="0"/>
                <a:t>任一种规格设备上加工；产品</a:t>
              </a:r>
              <a:r>
                <a:rPr lang="en-US" altLang="zh-CN" sz="2400" dirty="0">
                  <a:latin typeface="等线" panose="02010600030101010101" pitchFamily="2" charset="-122"/>
                  <a:ea typeface="等线" panose="02010600030101010101" pitchFamily="2" charset="-122"/>
                </a:rPr>
                <a:t>Ⅱ</a:t>
              </a:r>
              <a:r>
                <a:rPr lang="zh-CN" altLang="en-US" sz="2400" dirty="0">
                  <a:latin typeface="等线" panose="02010600030101010101" pitchFamily="2" charset="-122"/>
                  <a:ea typeface="等线" panose="02010600030101010101" pitchFamily="2" charset="-122"/>
                </a:rPr>
                <a:t>可在任何规格的</a:t>
              </a:r>
              <a:r>
                <a:rPr lang="en-US" altLang="zh-CN" sz="2400" dirty="0">
                  <a:latin typeface="等线" panose="02010600030101010101" pitchFamily="2" charset="-122"/>
                  <a:ea typeface="等线" panose="02010600030101010101" pitchFamily="2" charset="-122"/>
                </a:rPr>
                <a:t>A</a:t>
              </a:r>
              <a:r>
                <a:rPr lang="zh-CN" altLang="en-US" sz="2400" dirty="0">
                  <a:latin typeface="等线" panose="02010600030101010101" pitchFamily="2" charset="-122"/>
                  <a:ea typeface="等线" panose="02010600030101010101" pitchFamily="2" charset="-122"/>
                </a:rPr>
                <a:t>设备上加工，但完成</a:t>
              </a:r>
              <a:r>
                <a:rPr lang="en-US" altLang="zh-CN" sz="2400" dirty="0">
                  <a:latin typeface="等线" panose="02010600030101010101" pitchFamily="2" charset="-122"/>
                  <a:ea typeface="等线" panose="02010600030101010101" pitchFamily="2" charset="-122"/>
                </a:rPr>
                <a:t>B</a:t>
              </a:r>
              <a:r>
                <a:rPr lang="zh-CN" altLang="en-US" sz="2400" dirty="0">
                  <a:latin typeface="等线" panose="02010600030101010101" pitchFamily="2" charset="-122"/>
                  <a:ea typeface="等线" panose="02010600030101010101" pitchFamily="2" charset="-122"/>
                </a:rPr>
                <a:t>工序时，只能在</a:t>
              </a:r>
              <a:r>
                <a:rPr lang="en-US" altLang="zh-CN" sz="2400" dirty="0">
                  <a:latin typeface="等线" panose="02010600030101010101" pitchFamily="2" charset="-122"/>
                  <a:ea typeface="等线" panose="02010600030101010101" pitchFamily="2" charset="-122"/>
                </a:rPr>
                <a:t>B</a:t>
              </a:r>
              <a:r>
                <a:rPr lang="en-US" altLang="zh-CN" sz="2400" baseline="-25000" dirty="0">
                  <a:latin typeface="等线" panose="02010600030101010101" pitchFamily="2" charset="-122"/>
                  <a:ea typeface="等线" panose="02010600030101010101" pitchFamily="2" charset="-122"/>
                </a:rPr>
                <a:t>1</a:t>
              </a:r>
              <a:r>
                <a:rPr lang="zh-CN" altLang="en-US" sz="2400" dirty="0">
                  <a:latin typeface="等线" panose="02010600030101010101" pitchFamily="2" charset="-122"/>
                  <a:ea typeface="等线" panose="02010600030101010101" pitchFamily="2" charset="-122"/>
                </a:rPr>
                <a:t>设备上加工；产品</a:t>
              </a:r>
              <a:r>
                <a:rPr lang="en-US" altLang="zh-CN" sz="2400" dirty="0">
                  <a:latin typeface="等线" panose="02010600030101010101" pitchFamily="2" charset="-122"/>
                  <a:ea typeface="等线" panose="02010600030101010101" pitchFamily="2" charset="-122"/>
                </a:rPr>
                <a:t>Ⅲ</a:t>
              </a:r>
              <a:r>
                <a:rPr lang="zh-CN" altLang="en-US" sz="2400" dirty="0">
                  <a:latin typeface="等线" panose="02010600030101010101" pitchFamily="2" charset="-122"/>
                  <a:ea typeface="等线" panose="02010600030101010101" pitchFamily="2" charset="-122"/>
                </a:rPr>
                <a:t>只能在</a:t>
              </a:r>
              <a:r>
                <a:rPr lang="en-US" altLang="zh-CN" sz="2400" dirty="0">
                  <a:latin typeface="等线" panose="02010600030101010101" pitchFamily="2" charset="-122"/>
                  <a:ea typeface="等线" panose="02010600030101010101" pitchFamily="2" charset="-122"/>
                </a:rPr>
                <a:t>A</a:t>
              </a:r>
              <a:r>
                <a:rPr lang="en-US" altLang="zh-CN" sz="2400" baseline="-25000" dirty="0">
                  <a:latin typeface="等线" panose="02010600030101010101" pitchFamily="2" charset="-122"/>
                  <a:ea typeface="等线" panose="02010600030101010101" pitchFamily="2" charset="-122"/>
                </a:rPr>
                <a:t>2</a:t>
              </a:r>
              <a:r>
                <a:rPr lang="zh-CN" altLang="en-US" sz="2400" dirty="0">
                  <a:latin typeface="等线" panose="02010600030101010101" pitchFamily="2" charset="-122"/>
                  <a:ea typeface="等线" panose="02010600030101010101" pitchFamily="2" charset="-122"/>
                </a:rPr>
                <a:t>和</a:t>
              </a:r>
              <a:r>
                <a:rPr lang="en-US" altLang="zh-CN" sz="2400" baseline="-25000" dirty="0">
                  <a:latin typeface="等线" panose="02010600030101010101" pitchFamily="2" charset="-122"/>
                  <a:ea typeface="等线" panose="02010600030101010101" pitchFamily="2" charset="-122"/>
                </a:rPr>
                <a:t>B</a:t>
              </a:r>
              <a:r>
                <a:rPr lang="zh-CN" altLang="en-US" sz="2400" dirty="0">
                  <a:latin typeface="等线" panose="02010600030101010101" pitchFamily="2" charset="-122"/>
                  <a:ea typeface="等线" panose="02010600030101010101" pitchFamily="2" charset="-122"/>
                </a:rPr>
                <a:t>设备上加工。已知在各种机床设备的单价工时、原材料费、产品销售价格、各种设备有效台时以及满负荷操作机床设备的费用如表所示。要求安排最优的生产计划，使得该厂利润最大。</a:t>
              </a:r>
              <a:endParaRPr lang="zh-CN" altLang="en-US" sz="2400" dirty="0"/>
            </a:p>
          </p:txBody>
        </p:sp>
      </p:grpSp>
      <p:graphicFrame>
        <p:nvGraphicFramePr>
          <p:cNvPr id="6" name="表格 6"/>
          <p:cNvGraphicFramePr>
            <a:graphicFrameLocks noGrp="1"/>
          </p:cNvGraphicFramePr>
          <p:nvPr/>
        </p:nvGraphicFramePr>
        <p:xfrm>
          <a:off x="2547260" y="2891246"/>
          <a:ext cx="9100455" cy="3749040"/>
        </p:xfrm>
        <a:graphic>
          <a:graphicData uri="http://schemas.openxmlformats.org/drawingml/2006/table">
            <a:tbl>
              <a:tblPr firstRow="1" bandRow="1">
                <a:tableStyleId>{5C22544A-7EE6-4342-B048-85BDC9FD1C3A}</a:tableStyleId>
              </a:tblPr>
              <a:tblGrid>
                <a:gridCol w="2601683"/>
                <a:gridCol w="892629"/>
                <a:gridCol w="1545771"/>
                <a:gridCol w="794658"/>
                <a:gridCol w="1143000"/>
                <a:gridCol w="2122714"/>
              </a:tblGrid>
              <a:tr h="370840">
                <a:tc rowSpan="2">
                  <a:txBody>
                    <a:bodyPr/>
                    <a:lstStyle/>
                    <a:p>
                      <a:pPr algn="ctr"/>
                      <a:r>
                        <a:rPr lang="zh-CN" altLang="en-US" sz="2400" dirty="0"/>
                        <a:t>设备</a:t>
                      </a:r>
                      <a:endParaRPr lang="zh-CN" altLang="en-US" sz="2400" dirty="0"/>
                    </a:p>
                  </a:txBody>
                  <a:tcPr/>
                </a:tc>
                <a:tc gridSpan="3">
                  <a:txBody>
                    <a:bodyPr/>
                    <a:lstStyle/>
                    <a:p>
                      <a:pPr algn="ctr"/>
                      <a:r>
                        <a:rPr lang="zh-CN" altLang="en-US" sz="2400" dirty="0"/>
                        <a:t>产品</a:t>
                      </a:r>
                      <a:endParaRPr lang="zh-CN" altLang="en-US" sz="2400" dirty="0"/>
                    </a:p>
                  </a:txBody>
                  <a:tcPr/>
                </a:tc>
                <a:tc hMerge="1">
                  <a:tcPr/>
                </a:tc>
                <a:tc hMerge="1">
                  <a:tcPr/>
                </a:tc>
                <a:tc rowSpan="2">
                  <a:txBody>
                    <a:bodyPr/>
                    <a:lstStyle/>
                    <a:p>
                      <a:r>
                        <a:rPr lang="zh-CN" altLang="en-US" sz="2400" dirty="0"/>
                        <a:t>设备有效台时</a:t>
                      </a:r>
                      <a:endParaRPr lang="zh-CN" altLang="en-US" sz="2400" dirty="0"/>
                    </a:p>
                  </a:txBody>
                  <a:tcPr/>
                </a:tc>
                <a:tc rowSpan="2">
                  <a:txBody>
                    <a:bodyPr/>
                    <a:lstStyle/>
                    <a:p>
                      <a:r>
                        <a:rPr lang="zh-CN" altLang="en-US" sz="2400" dirty="0">
                          <a:latin typeface="等线" panose="02010600030101010101" pitchFamily="2" charset="-122"/>
                          <a:ea typeface="+mn-ea"/>
                        </a:rPr>
                        <a:t>满负荷时的设备费用（元）</a:t>
                      </a:r>
                      <a:endParaRPr lang="zh-CN" altLang="en-US" sz="2400" dirty="0"/>
                    </a:p>
                  </a:txBody>
                  <a:tcPr/>
                </a:tc>
              </a:tr>
              <a:tr h="370840">
                <a:tc vMerge="1">
                  <a:tcPr/>
                </a:tc>
                <a:tc>
                  <a:txBody>
                    <a:bodyPr/>
                    <a:lstStyle/>
                    <a:p>
                      <a:pPr algn="ctr"/>
                      <a:r>
                        <a:rPr lang="en-US" altLang="zh-CN" sz="2400" dirty="0"/>
                        <a:t>Ⅰ</a:t>
                      </a:r>
                      <a:endParaRPr lang="zh-CN" altLang="en-US" sz="2400" dirty="0"/>
                    </a:p>
                  </a:txBody>
                  <a:tcPr/>
                </a:tc>
                <a:tc>
                  <a:txBody>
                    <a:bodyPr/>
                    <a:lstStyle/>
                    <a:p>
                      <a:pPr algn="ctr"/>
                      <a:r>
                        <a:rPr lang="en-US" altLang="zh-CN" sz="2400" dirty="0">
                          <a:latin typeface="等线" panose="02010600030101010101" pitchFamily="2" charset="-122"/>
                          <a:ea typeface="+mn-ea"/>
                        </a:rPr>
                        <a:t>Ⅱ</a:t>
                      </a:r>
                      <a:endParaRPr lang="zh-CN" altLang="en-US" sz="2400" dirty="0"/>
                    </a:p>
                  </a:txBody>
                  <a:tcPr/>
                </a:tc>
                <a:tc>
                  <a:txBody>
                    <a:bodyPr/>
                    <a:lstStyle/>
                    <a:p>
                      <a:pPr algn="ctr"/>
                      <a:r>
                        <a:rPr lang="en-US" altLang="zh-CN" sz="2400" dirty="0">
                          <a:latin typeface="等线" panose="02010600030101010101" pitchFamily="2" charset="-122"/>
                          <a:ea typeface="+mn-ea"/>
                        </a:rPr>
                        <a:t>Ⅲ</a:t>
                      </a:r>
                      <a:endParaRPr lang="zh-CN" altLang="en-US" sz="2400" dirty="0"/>
                    </a:p>
                  </a:txBody>
                  <a:tcPr/>
                </a:tc>
                <a:tc vMerge="1">
                  <a:tcPr/>
                </a:tc>
                <a:tc vMerge="1">
                  <a:tcPr/>
                </a:tc>
              </a:tr>
              <a:tr h="370840">
                <a:tc>
                  <a:txBody>
                    <a:bodyPr/>
                    <a:lstStyle/>
                    <a:p>
                      <a:pPr algn="r"/>
                      <a:r>
                        <a:rPr lang="en-US" altLang="zh-CN" sz="2400" dirty="0">
                          <a:latin typeface="等线" panose="02010600030101010101" pitchFamily="2" charset="-122"/>
                          <a:ea typeface="+mn-ea"/>
                        </a:rPr>
                        <a:t>A</a:t>
                      </a:r>
                      <a:r>
                        <a:rPr lang="en-US" altLang="zh-CN" sz="2400" baseline="-25000" dirty="0">
                          <a:latin typeface="等线" panose="02010600030101010101" pitchFamily="2" charset="-122"/>
                          <a:ea typeface="+mn-ea"/>
                        </a:rPr>
                        <a:t>1</a:t>
                      </a:r>
                      <a:endParaRPr lang="en-US" altLang="zh-CN" sz="2400" dirty="0">
                        <a:latin typeface="等线" panose="02010600030101010101" pitchFamily="2" charset="-122"/>
                        <a:ea typeface="+mn-ea"/>
                      </a:endParaRPr>
                    </a:p>
                    <a:p>
                      <a:pPr algn="r"/>
                      <a:r>
                        <a:rPr lang="en-US" altLang="zh-CN" sz="2400" dirty="0">
                          <a:latin typeface="等线" panose="02010600030101010101" pitchFamily="2" charset="-122"/>
                          <a:ea typeface="+mn-ea"/>
                        </a:rPr>
                        <a:t>A</a:t>
                      </a:r>
                      <a:r>
                        <a:rPr lang="en-US" altLang="zh-CN" sz="2400" baseline="-25000" dirty="0">
                          <a:latin typeface="等线" panose="02010600030101010101" pitchFamily="2" charset="-122"/>
                          <a:ea typeface="+mn-ea"/>
                        </a:rPr>
                        <a:t>2</a:t>
                      </a:r>
                      <a:endParaRPr lang="en-US" altLang="zh-CN" sz="2400" baseline="-25000" dirty="0">
                        <a:latin typeface="等线" panose="02010600030101010101" pitchFamily="2" charset="-122"/>
                        <a:ea typeface="+mn-ea"/>
                      </a:endParaRPr>
                    </a:p>
                    <a:p>
                      <a:pPr algn="r"/>
                      <a:r>
                        <a:rPr lang="en-US" altLang="zh-CN" sz="2400" dirty="0">
                          <a:latin typeface="等线" panose="02010600030101010101" pitchFamily="2" charset="-122"/>
                          <a:ea typeface="+mn-ea"/>
                        </a:rPr>
                        <a:t>B</a:t>
                      </a:r>
                      <a:r>
                        <a:rPr lang="en-US" altLang="zh-CN" sz="2400" baseline="-25000" dirty="0">
                          <a:latin typeface="等线" panose="02010600030101010101" pitchFamily="2" charset="-122"/>
                          <a:ea typeface="+mn-ea"/>
                        </a:rPr>
                        <a:t>1</a:t>
                      </a:r>
                      <a:endParaRPr lang="en-US" altLang="zh-CN" sz="2400" dirty="0">
                        <a:latin typeface="等线" panose="02010600030101010101" pitchFamily="2" charset="-122"/>
                        <a:ea typeface="+mn-ea"/>
                      </a:endParaRPr>
                    </a:p>
                    <a:p>
                      <a:pPr algn="r"/>
                      <a:r>
                        <a:rPr lang="en-US" altLang="zh-CN" sz="2400" dirty="0">
                          <a:latin typeface="等线" panose="02010600030101010101" pitchFamily="2" charset="-122"/>
                          <a:ea typeface="+mn-ea"/>
                        </a:rPr>
                        <a:t>B</a:t>
                      </a:r>
                      <a:r>
                        <a:rPr lang="en-US" altLang="zh-CN" sz="2400" baseline="-25000" dirty="0">
                          <a:latin typeface="等线" panose="02010600030101010101" pitchFamily="2" charset="-122"/>
                          <a:ea typeface="+mn-ea"/>
                        </a:rPr>
                        <a:t>2</a:t>
                      </a:r>
                      <a:endParaRPr lang="en-US" altLang="zh-CN" sz="2400" dirty="0">
                        <a:latin typeface="等线" panose="02010600030101010101" pitchFamily="2" charset="-122"/>
                        <a:ea typeface="+mn-ea"/>
                      </a:endParaRPr>
                    </a:p>
                    <a:p>
                      <a:pPr algn="r"/>
                      <a:r>
                        <a:rPr lang="en-US" altLang="zh-CN" sz="2400" dirty="0">
                          <a:latin typeface="等线" panose="02010600030101010101" pitchFamily="2" charset="-122"/>
                          <a:ea typeface="+mn-ea"/>
                        </a:rPr>
                        <a:t>B</a:t>
                      </a:r>
                      <a:r>
                        <a:rPr lang="en-US" altLang="zh-CN" sz="2400" baseline="-25000" dirty="0">
                          <a:latin typeface="等线" panose="02010600030101010101" pitchFamily="2" charset="-122"/>
                          <a:ea typeface="+mn-ea"/>
                        </a:rPr>
                        <a:t>3</a:t>
                      </a:r>
                      <a:endParaRPr lang="zh-CN" altLang="en-US" sz="2400" dirty="0"/>
                    </a:p>
                  </a:txBody>
                  <a:tcPr/>
                </a:tc>
                <a:tc>
                  <a:txBody>
                    <a:bodyPr/>
                    <a:lstStyle/>
                    <a:p>
                      <a:r>
                        <a:rPr lang="en-US" altLang="zh-CN" sz="2400" dirty="0"/>
                        <a:t>5</a:t>
                      </a:r>
                      <a:endParaRPr lang="en-US" altLang="zh-CN" sz="2400" dirty="0"/>
                    </a:p>
                    <a:p>
                      <a:r>
                        <a:rPr lang="en-US" altLang="zh-CN" sz="2400" dirty="0"/>
                        <a:t>7</a:t>
                      </a:r>
                      <a:endParaRPr lang="en-US" altLang="zh-CN" sz="2400" dirty="0"/>
                    </a:p>
                    <a:p>
                      <a:r>
                        <a:rPr lang="en-US" altLang="zh-CN" sz="2400" dirty="0"/>
                        <a:t>6</a:t>
                      </a:r>
                      <a:endParaRPr lang="en-US" altLang="zh-CN" sz="2400" dirty="0"/>
                    </a:p>
                    <a:p>
                      <a:r>
                        <a:rPr lang="en-US" altLang="zh-CN" sz="2400" dirty="0"/>
                        <a:t>4</a:t>
                      </a:r>
                      <a:endParaRPr lang="en-US" altLang="zh-CN" sz="2400" dirty="0"/>
                    </a:p>
                    <a:p>
                      <a:r>
                        <a:rPr lang="en-US" altLang="zh-CN" sz="2400" dirty="0"/>
                        <a:t>7</a:t>
                      </a:r>
                      <a:endParaRPr lang="zh-CN" altLang="en-US" sz="2400" dirty="0"/>
                    </a:p>
                  </a:txBody>
                  <a:tcPr/>
                </a:tc>
                <a:tc>
                  <a:txBody>
                    <a:bodyPr/>
                    <a:lstStyle/>
                    <a:p>
                      <a:r>
                        <a:rPr lang="en-US" altLang="zh-CN" sz="2400" dirty="0"/>
                        <a:t>10</a:t>
                      </a:r>
                      <a:endParaRPr lang="en-US" altLang="zh-CN" sz="2400" dirty="0"/>
                    </a:p>
                    <a:p>
                      <a:r>
                        <a:rPr lang="en-US" altLang="zh-CN" sz="2400" dirty="0"/>
                        <a:t>9</a:t>
                      </a:r>
                      <a:endParaRPr lang="en-US" altLang="zh-CN" sz="2400" dirty="0"/>
                    </a:p>
                    <a:p>
                      <a:r>
                        <a:rPr lang="en-US" altLang="zh-CN" sz="2400" dirty="0"/>
                        <a:t>8</a:t>
                      </a:r>
                      <a:endParaRPr lang="zh-CN" altLang="en-US" sz="2400" dirty="0"/>
                    </a:p>
                  </a:txBody>
                  <a:tcPr/>
                </a:tc>
                <a:tc>
                  <a:txBody>
                    <a:bodyPr/>
                    <a:lstStyle/>
                    <a:p>
                      <a:endParaRPr lang="en-US" altLang="zh-CN" sz="2400" dirty="0"/>
                    </a:p>
                    <a:p>
                      <a:r>
                        <a:rPr lang="en-US" altLang="zh-CN" sz="2400" dirty="0"/>
                        <a:t>12</a:t>
                      </a:r>
                      <a:endParaRPr lang="en-US" altLang="zh-CN" sz="2400" dirty="0"/>
                    </a:p>
                    <a:p>
                      <a:endParaRPr lang="en-US" altLang="zh-CN" sz="2400" dirty="0"/>
                    </a:p>
                    <a:p>
                      <a:r>
                        <a:rPr lang="en-US" altLang="zh-CN" sz="2400" dirty="0"/>
                        <a:t>11</a:t>
                      </a:r>
                      <a:endParaRPr lang="zh-CN" altLang="en-US" sz="2400" dirty="0"/>
                    </a:p>
                  </a:txBody>
                  <a:tcPr/>
                </a:tc>
                <a:tc>
                  <a:txBody>
                    <a:bodyPr/>
                    <a:lstStyle/>
                    <a:p>
                      <a:r>
                        <a:rPr lang="en-US" altLang="zh-CN" sz="2400" dirty="0"/>
                        <a:t>6000</a:t>
                      </a:r>
                      <a:endParaRPr lang="en-US" altLang="zh-CN" sz="2400" dirty="0"/>
                    </a:p>
                    <a:p>
                      <a:r>
                        <a:rPr lang="en-US" altLang="zh-CN" sz="2400" dirty="0"/>
                        <a:t>10000</a:t>
                      </a:r>
                      <a:endParaRPr lang="en-US" altLang="zh-CN" sz="2400" dirty="0"/>
                    </a:p>
                    <a:p>
                      <a:r>
                        <a:rPr lang="en-US" altLang="zh-CN" sz="2400" dirty="0"/>
                        <a:t>4000</a:t>
                      </a:r>
                      <a:endParaRPr lang="en-US" altLang="zh-CN" sz="2400" dirty="0"/>
                    </a:p>
                    <a:p>
                      <a:r>
                        <a:rPr lang="en-US" altLang="zh-CN" sz="2400" dirty="0"/>
                        <a:t>7000</a:t>
                      </a:r>
                      <a:endParaRPr lang="en-US" altLang="zh-CN" sz="2400" dirty="0"/>
                    </a:p>
                    <a:p>
                      <a:r>
                        <a:rPr lang="en-US" altLang="zh-CN" sz="2400" dirty="0"/>
                        <a:t>4000</a:t>
                      </a:r>
                      <a:endParaRPr lang="zh-CN" altLang="en-US" sz="2400" dirty="0"/>
                    </a:p>
                  </a:txBody>
                  <a:tcPr/>
                </a:tc>
                <a:tc>
                  <a:txBody>
                    <a:bodyPr/>
                    <a:lstStyle/>
                    <a:p>
                      <a:r>
                        <a:rPr lang="en-US" altLang="zh-CN" sz="2400" dirty="0"/>
                        <a:t>300</a:t>
                      </a:r>
                      <a:endParaRPr lang="en-US" altLang="zh-CN" sz="2400" dirty="0"/>
                    </a:p>
                    <a:p>
                      <a:r>
                        <a:rPr lang="en-US" altLang="zh-CN" sz="2400" dirty="0"/>
                        <a:t>321</a:t>
                      </a:r>
                      <a:endParaRPr lang="en-US" altLang="zh-CN" sz="2400" dirty="0"/>
                    </a:p>
                    <a:p>
                      <a:r>
                        <a:rPr lang="en-US" altLang="zh-CN" sz="2400" dirty="0"/>
                        <a:t>250</a:t>
                      </a:r>
                      <a:endParaRPr lang="en-US" altLang="zh-CN" sz="2400" dirty="0"/>
                    </a:p>
                    <a:p>
                      <a:r>
                        <a:rPr lang="en-US" altLang="zh-CN" sz="2400" dirty="0"/>
                        <a:t>783</a:t>
                      </a:r>
                      <a:endParaRPr lang="en-US" altLang="zh-CN" sz="2400" dirty="0"/>
                    </a:p>
                    <a:p>
                      <a:r>
                        <a:rPr lang="en-US" altLang="zh-CN" sz="2400" dirty="0"/>
                        <a:t>200</a:t>
                      </a:r>
                      <a:endParaRPr lang="zh-CN" altLang="en-US" sz="2400" dirty="0"/>
                    </a:p>
                  </a:txBody>
                  <a:tcPr/>
                </a:tc>
              </a:tr>
              <a:tr h="370840">
                <a:tc>
                  <a:txBody>
                    <a:bodyPr/>
                    <a:lstStyle/>
                    <a:p>
                      <a:r>
                        <a:rPr lang="zh-CN" altLang="en-US" sz="2400" dirty="0"/>
                        <a:t>原料费用（元</a:t>
                      </a:r>
                      <a:r>
                        <a:rPr lang="en-US" altLang="zh-CN" sz="2400" dirty="0"/>
                        <a:t>/</a:t>
                      </a:r>
                      <a:r>
                        <a:rPr lang="zh-CN" altLang="en-US" sz="2400" dirty="0"/>
                        <a:t>件）</a:t>
                      </a:r>
                      <a:endParaRPr lang="zh-CN" altLang="en-US" sz="2400" dirty="0"/>
                    </a:p>
                  </a:txBody>
                  <a:tcPr/>
                </a:tc>
                <a:tc>
                  <a:txBody>
                    <a:bodyPr/>
                    <a:lstStyle/>
                    <a:p>
                      <a:r>
                        <a:rPr lang="en-US" altLang="zh-CN" sz="2400" dirty="0"/>
                        <a:t>0.25</a:t>
                      </a:r>
                      <a:endParaRPr lang="zh-CN" altLang="en-US" sz="2400" dirty="0"/>
                    </a:p>
                  </a:txBody>
                  <a:tcPr/>
                </a:tc>
                <a:tc>
                  <a:txBody>
                    <a:bodyPr/>
                    <a:lstStyle/>
                    <a:p>
                      <a:r>
                        <a:rPr lang="en-US" altLang="zh-CN" sz="2400" dirty="0"/>
                        <a:t>0.35</a:t>
                      </a:r>
                      <a:endParaRPr lang="zh-CN" altLang="en-US" sz="2400" dirty="0"/>
                    </a:p>
                  </a:txBody>
                  <a:tcPr/>
                </a:tc>
                <a:tc>
                  <a:txBody>
                    <a:bodyPr/>
                    <a:lstStyle/>
                    <a:p>
                      <a:r>
                        <a:rPr lang="en-US" altLang="zh-CN" sz="2400" dirty="0"/>
                        <a:t>0.5</a:t>
                      </a:r>
                      <a:endParaRPr lang="zh-CN" altLang="en-US" sz="2400" dirty="0"/>
                    </a:p>
                  </a:txBody>
                  <a:tcPr/>
                </a:tc>
                <a:tc>
                  <a:txBody>
                    <a:bodyPr/>
                    <a:lstStyle/>
                    <a:p>
                      <a:endParaRPr lang="zh-CN" altLang="en-US" sz="2400"/>
                    </a:p>
                  </a:txBody>
                  <a:tcPr/>
                </a:tc>
                <a:tc>
                  <a:txBody>
                    <a:bodyPr/>
                    <a:lstStyle/>
                    <a:p>
                      <a:endParaRPr lang="zh-CN" altLang="en-US" sz="240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dirty="0"/>
                        <a:t>单价（元</a:t>
                      </a:r>
                      <a:r>
                        <a:rPr lang="en-US" altLang="zh-CN" sz="2400" dirty="0"/>
                        <a:t>/</a:t>
                      </a:r>
                      <a:r>
                        <a:rPr lang="zh-CN" altLang="en-US" sz="2400" dirty="0"/>
                        <a:t>件）</a:t>
                      </a:r>
                      <a:endParaRPr lang="zh-CN" altLang="en-US" sz="2400" dirty="0"/>
                    </a:p>
                  </a:txBody>
                  <a:tcPr/>
                </a:tc>
                <a:tc>
                  <a:txBody>
                    <a:bodyPr/>
                    <a:lstStyle/>
                    <a:p>
                      <a:r>
                        <a:rPr lang="en-US" altLang="zh-CN" sz="2400" dirty="0"/>
                        <a:t>1.25</a:t>
                      </a:r>
                      <a:endParaRPr lang="zh-CN" altLang="en-US" sz="2400" dirty="0"/>
                    </a:p>
                  </a:txBody>
                  <a:tcPr/>
                </a:tc>
                <a:tc>
                  <a:txBody>
                    <a:bodyPr/>
                    <a:lstStyle/>
                    <a:p>
                      <a:r>
                        <a:rPr lang="en-US" altLang="zh-CN" sz="2400" dirty="0"/>
                        <a:t>2.00</a:t>
                      </a:r>
                      <a:endParaRPr lang="zh-CN" altLang="en-US" sz="2400" dirty="0"/>
                    </a:p>
                  </a:txBody>
                  <a:tcPr/>
                </a:tc>
                <a:tc>
                  <a:txBody>
                    <a:bodyPr/>
                    <a:lstStyle/>
                    <a:p>
                      <a:r>
                        <a:rPr lang="en-US" altLang="zh-CN" sz="2400" dirty="0"/>
                        <a:t>2.8</a:t>
                      </a:r>
                      <a:endParaRPr lang="zh-CN" altLang="en-US" sz="2400" dirty="0"/>
                    </a:p>
                  </a:txBody>
                  <a:tcPr/>
                </a:tc>
                <a:tc>
                  <a:txBody>
                    <a:bodyPr/>
                    <a:lstStyle/>
                    <a:p>
                      <a:endParaRPr lang="zh-CN" altLang="en-US" sz="2400"/>
                    </a:p>
                  </a:txBody>
                  <a:tcPr/>
                </a:tc>
                <a:tc>
                  <a:txBody>
                    <a:bodyPr/>
                    <a:lstStyle/>
                    <a:p>
                      <a:endParaRPr lang="zh-CN" altLang="en-US" sz="2400" dirty="0"/>
                    </a:p>
                  </a:txBody>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6</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23171" cy="1569660"/>
            </a:xfrm>
            <a:prstGeom prst="rect">
              <a:avLst/>
            </a:prstGeom>
            <a:noFill/>
          </p:spPr>
          <p:txBody>
            <a:bodyPr wrap="square" rtlCol="0">
              <a:spAutoFit/>
            </a:bodyPr>
            <a:lstStyle/>
            <a:p>
              <a:r>
                <a:rPr lang="zh-CN" altLang="en-US" sz="2400" dirty="0"/>
                <a:t>某外商对可以投资的四家企业进行调查，发现可能遇到的风险、收益以及回收全部资金的年限都作了预测。其预测结果如表。</a:t>
              </a:r>
              <a:endParaRPr lang="en-US" altLang="zh-CN" sz="2400" dirty="0"/>
            </a:p>
            <a:p>
              <a:r>
                <a:rPr lang="zh-CN" altLang="en-US" sz="2400" dirty="0"/>
                <a:t>外商希望将有限制资金分配给这</a:t>
              </a:r>
              <a:r>
                <a:rPr lang="en-US" altLang="zh-CN" sz="2400" dirty="0"/>
                <a:t>4</a:t>
              </a:r>
              <a:r>
                <a:rPr lang="zh-CN" altLang="en-US" sz="2400" dirty="0"/>
                <a:t>个企业，但希望期望风险（加权平均的风险）因素不大于</a:t>
              </a:r>
              <a:r>
                <a:rPr lang="en-US" altLang="zh-CN" sz="2400" dirty="0"/>
                <a:t>0.25</a:t>
              </a:r>
              <a:r>
                <a:rPr lang="zh-CN" altLang="en-US" sz="2400" dirty="0"/>
                <a:t>，加权平均的回收期允许超过</a:t>
              </a:r>
              <a:r>
                <a:rPr lang="en-US" altLang="zh-CN" sz="2400" dirty="0"/>
                <a:t>5</a:t>
              </a:r>
              <a:r>
                <a:rPr lang="zh-CN" altLang="en-US" sz="2400" dirty="0"/>
                <a:t>年，试问如何分配资金使收益最大？</a:t>
              </a:r>
              <a:endParaRPr lang="zh-CN" altLang="en-US" sz="2400" dirty="0"/>
            </a:p>
          </p:txBody>
        </p:sp>
      </p:grpSp>
      <p:graphicFrame>
        <p:nvGraphicFramePr>
          <p:cNvPr id="6" name="表格 6"/>
          <p:cNvGraphicFramePr>
            <a:graphicFrameLocks noGrp="1"/>
          </p:cNvGraphicFramePr>
          <p:nvPr/>
        </p:nvGraphicFramePr>
        <p:xfrm>
          <a:off x="899884" y="3187248"/>
          <a:ext cx="9985828" cy="2377440"/>
        </p:xfrm>
        <a:graphic>
          <a:graphicData uri="http://schemas.openxmlformats.org/drawingml/2006/table">
            <a:tbl>
              <a:tblPr firstRow="1" bandRow="1">
                <a:tableStyleId>{93296810-A885-4BE3-A3E7-6D5BEEA58F35}</a:tableStyleId>
              </a:tblPr>
              <a:tblGrid>
                <a:gridCol w="2496457"/>
                <a:gridCol w="2496457"/>
                <a:gridCol w="2496457"/>
                <a:gridCol w="2496457"/>
              </a:tblGrid>
              <a:tr h="370840">
                <a:tc>
                  <a:txBody>
                    <a:bodyPr/>
                    <a:lstStyle/>
                    <a:p>
                      <a:pPr algn="ctr"/>
                      <a:r>
                        <a:rPr lang="zh-CN" altLang="en-US" sz="2400" dirty="0"/>
                        <a:t>投资对象</a:t>
                      </a:r>
                      <a:endParaRPr lang="zh-CN" altLang="en-US" sz="2400" dirty="0"/>
                    </a:p>
                  </a:txBody>
                  <a:tcPr/>
                </a:tc>
                <a:tc>
                  <a:txBody>
                    <a:bodyPr/>
                    <a:lstStyle/>
                    <a:p>
                      <a:pPr algn="ctr"/>
                      <a:r>
                        <a:rPr lang="zh-CN" altLang="en-US" sz="2400" dirty="0"/>
                        <a:t>风险因素</a:t>
                      </a:r>
                      <a:endParaRPr lang="zh-CN" altLang="en-US" sz="2400" dirty="0"/>
                    </a:p>
                  </a:txBody>
                  <a:tcPr/>
                </a:tc>
                <a:tc>
                  <a:txBody>
                    <a:bodyPr/>
                    <a:lstStyle/>
                    <a:p>
                      <a:pPr algn="ctr"/>
                      <a:r>
                        <a:rPr lang="zh-CN" altLang="en-US" sz="2400" dirty="0"/>
                        <a:t>期望年限收益率</a:t>
                      </a:r>
                      <a:r>
                        <a:rPr lang="en-US" altLang="zh-CN" sz="2400" dirty="0"/>
                        <a:t>(%)</a:t>
                      </a:r>
                      <a:endParaRPr lang="zh-CN" altLang="en-US" sz="2400" dirty="0"/>
                    </a:p>
                  </a:txBody>
                  <a:tcPr/>
                </a:tc>
                <a:tc>
                  <a:txBody>
                    <a:bodyPr/>
                    <a:lstStyle/>
                    <a:p>
                      <a:pPr algn="ctr"/>
                      <a:r>
                        <a:rPr lang="zh-CN" altLang="en-US" sz="2400" dirty="0"/>
                        <a:t>回收年限（年）</a:t>
                      </a:r>
                      <a:endParaRPr lang="zh-CN" altLang="en-US" sz="2400" dirty="0"/>
                    </a:p>
                  </a:txBody>
                  <a:tcPr/>
                </a:tc>
              </a:tr>
              <a:tr h="370840">
                <a:tc>
                  <a:txBody>
                    <a:bodyPr/>
                    <a:lstStyle/>
                    <a:p>
                      <a:r>
                        <a:rPr lang="en-US" altLang="zh-CN" sz="2400" dirty="0"/>
                        <a:t>1</a:t>
                      </a:r>
                      <a:endParaRPr lang="en-US" altLang="zh-CN" sz="2400" dirty="0"/>
                    </a:p>
                    <a:p>
                      <a:r>
                        <a:rPr lang="en-US" altLang="zh-CN" sz="2400" dirty="0"/>
                        <a:t>2</a:t>
                      </a:r>
                      <a:endParaRPr lang="en-US" altLang="zh-CN" sz="2400" dirty="0"/>
                    </a:p>
                    <a:p>
                      <a:r>
                        <a:rPr lang="en-US" altLang="zh-CN" sz="2400" dirty="0"/>
                        <a:t>3</a:t>
                      </a:r>
                      <a:endParaRPr lang="en-US" altLang="zh-CN" sz="2400" dirty="0"/>
                    </a:p>
                    <a:p>
                      <a:r>
                        <a:rPr lang="en-US" altLang="zh-CN" sz="2400" dirty="0"/>
                        <a:t>4</a:t>
                      </a:r>
                      <a:endParaRPr lang="zh-CN" altLang="en-US" sz="2400" dirty="0"/>
                    </a:p>
                  </a:txBody>
                  <a:tcPr/>
                </a:tc>
                <a:tc>
                  <a:txBody>
                    <a:bodyPr/>
                    <a:lstStyle/>
                    <a:p>
                      <a:r>
                        <a:rPr lang="en-US" altLang="zh-CN" sz="2400" dirty="0"/>
                        <a:t>0.06</a:t>
                      </a:r>
                      <a:endParaRPr lang="en-US" altLang="zh-CN" sz="2400" dirty="0"/>
                    </a:p>
                    <a:p>
                      <a:r>
                        <a:rPr lang="en-US" altLang="zh-CN" sz="2400" dirty="0"/>
                        <a:t>0.02</a:t>
                      </a:r>
                      <a:endParaRPr lang="en-US" altLang="zh-CN" sz="2400" dirty="0"/>
                    </a:p>
                    <a:p>
                      <a:r>
                        <a:rPr lang="en-US" altLang="zh-CN" sz="2400" dirty="0"/>
                        <a:t>0.13</a:t>
                      </a:r>
                      <a:endParaRPr lang="en-US" altLang="zh-CN" sz="2400" dirty="0"/>
                    </a:p>
                    <a:p>
                      <a:r>
                        <a:rPr lang="en-US" altLang="zh-CN" sz="2400" dirty="0"/>
                        <a:t>0.50</a:t>
                      </a:r>
                      <a:endParaRPr lang="zh-CN" altLang="en-US" sz="2400" dirty="0"/>
                    </a:p>
                  </a:txBody>
                  <a:tcPr/>
                </a:tc>
                <a:tc>
                  <a:txBody>
                    <a:bodyPr/>
                    <a:lstStyle/>
                    <a:p>
                      <a:r>
                        <a:rPr lang="en-US" altLang="zh-CN" sz="2400" dirty="0"/>
                        <a:t>6.00</a:t>
                      </a:r>
                      <a:endParaRPr lang="en-US" altLang="zh-CN" sz="2400" dirty="0"/>
                    </a:p>
                    <a:p>
                      <a:r>
                        <a:rPr lang="en-US" altLang="zh-CN" sz="2400" dirty="0"/>
                        <a:t>5.25</a:t>
                      </a:r>
                      <a:endParaRPr lang="en-US" altLang="zh-CN" sz="2400" dirty="0"/>
                    </a:p>
                    <a:p>
                      <a:r>
                        <a:rPr lang="en-US" altLang="zh-CN" sz="2400" dirty="0"/>
                        <a:t>6.50</a:t>
                      </a:r>
                      <a:endParaRPr lang="en-US" altLang="zh-CN" sz="2400" dirty="0"/>
                    </a:p>
                    <a:p>
                      <a:r>
                        <a:rPr lang="en-US" altLang="zh-CN" sz="2400" dirty="0"/>
                        <a:t>14.00</a:t>
                      </a:r>
                      <a:endParaRPr lang="zh-CN" altLang="en-US" sz="2400" dirty="0"/>
                    </a:p>
                  </a:txBody>
                  <a:tcPr/>
                </a:tc>
                <a:tc>
                  <a:txBody>
                    <a:bodyPr/>
                    <a:lstStyle/>
                    <a:p>
                      <a:r>
                        <a:rPr lang="en-US" altLang="zh-CN" sz="2400" dirty="0"/>
                        <a:t>10</a:t>
                      </a:r>
                      <a:endParaRPr lang="en-US" altLang="zh-CN" sz="2400" dirty="0"/>
                    </a:p>
                    <a:p>
                      <a:r>
                        <a:rPr lang="en-US" altLang="zh-CN" sz="2400" dirty="0"/>
                        <a:t>4</a:t>
                      </a:r>
                      <a:endParaRPr lang="en-US" altLang="zh-CN" sz="2400" dirty="0"/>
                    </a:p>
                    <a:p>
                      <a:r>
                        <a:rPr lang="en-US" altLang="zh-CN" sz="2400" dirty="0"/>
                        <a:t>5</a:t>
                      </a:r>
                      <a:endParaRPr lang="en-US" altLang="zh-CN" sz="2400" dirty="0"/>
                    </a:p>
                    <a:p>
                      <a:r>
                        <a:rPr lang="en-US" altLang="zh-CN" sz="2400" dirty="0"/>
                        <a:t>2</a:t>
                      </a:r>
                      <a:endParaRPr lang="zh-CN" altLang="en-US" sz="2400" dirty="0"/>
                    </a:p>
                  </a:txBody>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b="1" dirty="0">
                <a:latin typeface="+mj-ea"/>
                <a:ea typeface="+mj-ea"/>
              </a:rPr>
              <a:t>练习</a:t>
            </a:r>
            <a:r>
              <a:rPr lang="en-US" altLang="zh-CN" sz="2800" b="1" dirty="0">
                <a:latin typeface="+mj-ea"/>
                <a:ea typeface="+mj-ea"/>
              </a:rPr>
              <a:t>7</a:t>
            </a:r>
            <a:r>
              <a:rPr lang="zh-CN" altLang="en-US" sz="2800" b="1" dirty="0">
                <a:solidFill>
                  <a:srgbClr val="060606"/>
                </a:solidFill>
                <a:latin typeface="+mj-ea"/>
                <a:ea typeface="+mj-ea"/>
              </a:rPr>
              <a:t>工作调度问题</a:t>
            </a:r>
            <a:endParaRPr lang="zh-CN" altLang="en-US" sz="2800" b="1" dirty="0">
              <a:latin typeface="+mj-ea"/>
              <a:ea typeface="+mj-ea"/>
            </a:endParaRPr>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582400" cy="2677656"/>
            </a:xfrm>
            <a:prstGeom prst="rect">
              <a:avLst/>
            </a:prstGeom>
            <a:noFill/>
          </p:spPr>
          <p:txBody>
            <a:bodyPr wrap="square" rtlCol="0">
              <a:spAutoFit/>
            </a:bodyPr>
            <a:lstStyle/>
            <a:p>
              <a:pPr>
                <a:buNone/>
              </a:pPr>
              <a:r>
                <a:rPr lang="zh-CN" altLang="en-US" sz="2400" dirty="0">
                  <a:solidFill>
                    <a:srgbClr val="060606"/>
                  </a:solidFill>
                </a:rPr>
                <a:t>在每周的不同工作日，一个邮局需要不同数量的专职员工。右表给出了每天需要的专职员工的数量。</a:t>
              </a:r>
              <a:endParaRPr lang="en-US" altLang="zh-CN" sz="2400" dirty="0">
                <a:solidFill>
                  <a:srgbClr val="060606"/>
                </a:solidFill>
              </a:endParaRPr>
            </a:p>
            <a:p>
              <a:pPr>
                <a:buNone/>
              </a:pPr>
              <a:r>
                <a:rPr lang="zh-CN" altLang="en-US" sz="2400" dirty="0">
                  <a:solidFill>
                    <a:srgbClr val="060606"/>
                  </a:solidFill>
                </a:rPr>
                <a:t>工会的章程规定，每个专职员工每周必须连续工作五天，然后休息</a:t>
              </a:r>
              <a:r>
                <a:rPr lang="en-US" altLang="zh-CN" sz="2400" dirty="0">
                  <a:solidFill>
                    <a:srgbClr val="060606"/>
                  </a:solidFill>
                </a:rPr>
                <a:t>2</a:t>
              </a:r>
              <a:r>
                <a:rPr lang="zh-CN" altLang="en-US" sz="2400" dirty="0">
                  <a:solidFill>
                    <a:srgbClr val="060606"/>
                  </a:solidFill>
                </a:rPr>
                <a:t>天。例如，周一到周五工作的员工必须在周六和周日休息。这个邮局希望通过只使用专职员工来满足它每天的需要。</a:t>
              </a:r>
              <a:endParaRPr lang="en-US" altLang="zh-CN" sz="2400" dirty="0">
                <a:solidFill>
                  <a:srgbClr val="060606"/>
                </a:solidFill>
              </a:endParaRPr>
            </a:p>
            <a:p>
              <a:pPr>
                <a:buNone/>
              </a:pPr>
              <a:r>
                <a:rPr lang="zh-CN" altLang="en-US" sz="2400" dirty="0">
                  <a:solidFill>
                    <a:srgbClr val="060606"/>
                  </a:solidFill>
                </a:rPr>
                <a:t>表述一个</a:t>
              </a:r>
              <a:r>
                <a:rPr lang="en-US" altLang="zh-CN" sz="2400" dirty="0">
                  <a:solidFill>
                    <a:srgbClr val="060606"/>
                  </a:solidFill>
                </a:rPr>
                <a:t>LP</a:t>
              </a:r>
              <a:r>
                <a:rPr lang="zh-CN" altLang="en-US" sz="2400" dirty="0">
                  <a:solidFill>
                    <a:srgbClr val="060606"/>
                  </a:solidFill>
                </a:rPr>
                <a:t>，使该邮局可以利用它使必须聘用的专职员工最少。</a:t>
              </a:r>
              <a:endParaRPr lang="zh-CN" altLang="en-US" sz="2400" dirty="0">
                <a:solidFill>
                  <a:srgbClr val="060606"/>
                </a:solidFill>
              </a:endParaRPr>
            </a:p>
            <a:p>
              <a:endParaRPr lang="zh-CN" altLang="en-US" sz="2400" dirty="0"/>
            </a:p>
          </p:txBody>
        </p:sp>
      </p:grpSp>
      <p:graphicFrame>
        <p:nvGraphicFramePr>
          <p:cNvPr id="6" name="表格 5"/>
          <p:cNvGraphicFramePr>
            <a:graphicFrameLocks noGrp="1"/>
          </p:cNvGraphicFramePr>
          <p:nvPr/>
        </p:nvGraphicFramePr>
        <p:xfrm>
          <a:off x="3098913" y="3469325"/>
          <a:ext cx="5098030" cy="2966720"/>
        </p:xfrm>
        <a:graphic>
          <a:graphicData uri="http://schemas.openxmlformats.org/drawingml/2006/table">
            <a:tbl>
              <a:tblPr firstRow="1" bandRow="1">
                <a:tableStyleId>{5C22544A-7EE6-4342-B048-85BDC9FD1C3A}</a:tableStyleId>
              </a:tblPr>
              <a:tblGrid>
                <a:gridCol w="2410597"/>
                <a:gridCol w="2687433"/>
              </a:tblGrid>
              <a:tr h="370840">
                <a:tc>
                  <a:txBody>
                    <a:bodyPr/>
                    <a:lstStyle/>
                    <a:p>
                      <a:r>
                        <a:rPr lang="zh-CN" altLang="en-US" dirty="0">
                          <a:solidFill>
                            <a:srgbClr val="060606"/>
                          </a:solidFill>
                        </a:rPr>
                        <a:t>工作日</a:t>
                      </a:r>
                      <a:endParaRPr lang="zh-CN" altLang="en-US" dirty="0">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r>
                        <a:rPr lang="zh-CN" altLang="en-US" dirty="0">
                          <a:solidFill>
                            <a:srgbClr val="060606"/>
                          </a:solidFill>
                        </a:rPr>
                        <a:t>需要专职员工数</a:t>
                      </a:r>
                      <a:endParaRPr lang="zh-CN" altLang="en-US" dirty="0">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370840">
                <a:tc>
                  <a:txBody>
                    <a:bodyPr/>
                    <a:lstStyle/>
                    <a:p>
                      <a:r>
                        <a:rPr lang="en-US" altLang="zh-CN" dirty="0">
                          <a:solidFill>
                            <a:srgbClr val="060606"/>
                          </a:solidFill>
                        </a:rPr>
                        <a:t>1=</a:t>
                      </a:r>
                      <a:r>
                        <a:rPr lang="zh-CN" altLang="en-US" dirty="0">
                          <a:solidFill>
                            <a:srgbClr val="060606"/>
                          </a:solidFill>
                        </a:rPr>
                        <a:t>周一</a:t>
                      </a:r>
                      <a:endParaRPr lang="zh-CN" altLang="en-US"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dirty="0">
                          <a:solidFill>
                            <a:srgbClr val="060606"/>
                          </a:solidFill>
                        </a:rPr>
                        <a:t>17</a:t>
                      </a:r>
                      <a:endParaRPr lang="zh-CN" altLang="en-US"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r>
                        <a:rPr lang="en-US" altLang="zh-CN" dirty="0">
                          <a:solidFill>
                            <a:srgbClr val="060606"/>
                          </a:solidFill>
                        </a:rPr>
                        <a:t>2=</a:t>
                      </a:r>
                      <a:r>
                        <a:rPr lang="zh-CN" altLang="en-US" dirty="0">
                          <a:solidFill>
                            <a:srgbClr val="060606"/>
                          </a:solidFill>
                        </a:rPr>
                        <a:t>周二</a:t>
                      </a:r>
                      <a:endParaRPr lang="en-US" altLang="zh-CN"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dirty="0">
                          <a:solidFill>
                            <a:srgbClr val="060606"/>
                          </a:solidFill>
                        </a:rPr>
                        <a:t>13</a:t>
                      </a:r>
                      <a:endParaRPr lang="zh-CN" altLang="en-US"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r>
                        <a:rPr lang="en-US" altLang="zh-CN" dirty="0">
                          <a:solidFill>
                            <a:srgbClr val="060606"/>
                          </a:solidFill>
                        </a:rPr>
                        <a:t>3=</a:t>
                      </a:r>
                      <a:r>
                        <a:rPr lang="zh-CN" altLang="en-US" dirty="0">
                          <a:solidFill>
                            <a:srgbClr val="060606"/>
                          </a:solidFill>
                        </a:rPr>
                        <a:t>周三</a:t>
                      </a:r>
                      <a:endParaRPr lang="zh-CN" altLang="en-US"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dirty="0">
                          <a:solidFill>
                            <a:srgbClr val="060606"/>
                          </a:solidFill>
                        </a:rPr>
                        <a:t>15</a:t>
                      </a:r>
                      <a:endParaRPr lang="zh-CN" altLang="en-US"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r>
                        <a:rPr lang="en-US" altLang="zh-CN" dirty="0">
                          <a:solidFill>
                            <a:srgbClr val="060606"/>
                          </a:solidFill>
                        </a:rPr>
                        <a:t>4=</a:t>
                      </a:r>
                      <a:r>
                        <a:rPr lang="zh-CN" altLang="en-US" dirty="0">
                          <a:solidFill>
                            <a:srgbClr val="060606"/>
                          </a:solidFill>
                        </a:rPr>
                        <a:t>周四</a:t>
                      </a:r>
                      <a:endParaRPr lang="zh-CN" altLang="en-US"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dirty="0">
                          <a:solidFill>
                            <a:srgbClr val="060606"/>
                          </a:solidFill>
                        </a:rPr>
                        <a:t>19</a:t>
                      </a:r>
                      <a:endParaRPr lang="zh-CN" altLang="en-US"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r>
                        <a:rPr lang="en-US" altLang="zh-CN" dirty="0">
                          <a:solidFill>
                            <a:srgbClr val="060606"/>
                          </a:solidFill>
                        </a:rPr>
                        <a:t>5=</a:t>
                      </a:r>
                      <a:r>
                        <a:rPr lang="zh-CN" altLang="en-US" dirty="0">
                          <a:solidFill>
                            <a:srgbClr val="060606"/>
                          </a:solidFill>
                        </a:rPr>
                        <a:t>周五</a:t>
                      </a:r>
                      <a:endParaRPr lang="zh-CN" altLang="en-US"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dirty="0">
                          <a:solidFill>
                            <a:srgbClr val="060606"/>
                          </a:solidFill>
                        </a:rPr>
                        <a:t>14</a:t>
                      </a:r>
                      <a:endParaRPr lang="zh-CN" altLang="en-US"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r>
                        <a:rPr lang="en-US" altLang="zh-CN" dirty="0">
                          <a:solidFill>
                            <a:srgbClr val="060606"/>
                          </a:solidFill>
                        </a:rPr>
                        <a:t>6=</a:t>
                      </a:r>
                      <a:r>
                        <a:rPr lang="zh-CN" altLang="en-US" dirty="0">
                          <a:solidFill>
                            <a:srgbClr val="060606"/>
                          </a:solidFill>
                        </a:rPr>
                        <a:t>周六</a:t>
                      </a:r>
                      <a:endParaRPr lang="zh-CN" altLang="en-US"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altLang="zh-CN" dirty="0">
                          <a:solidFill>
                            <a:srgbClr val="060606"/>
                          </a:solidFill>
                        </a:rPr>
                        <a:t>16</a:t>
                      </a:r>
                      <a:endParaRPr lang="zh-CN" altLang="en-US"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r>
                        <a:rPr lang="en-US" altLang="zh-CN" dirty="0">
                          <a:solidFill>
                            <a:srgbClr val="060606"/>
                          </a:solidFill>
                        </a:rPr>
                        <a:t>7=</a:t>
                      </a:r>
                      <a:r>
                        <a:rPr lang="zh-CN" altLang="en-US" dirty="0">
                          <a:solidFill>
                            <a:srgbClr val="060606"/>
                          </a:solidFill>
                        </a:rPr>
                        <a:t>周日</a:t>
                      </a:r>
                      <a:endParaRPr lang="zh-CN" altLang="en-US"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pPr algn="ctr"/>
                      <a:r>
                        <a:rPr lang="en-US" altLang="zh-CN" dirty="0">
                          <a:solidFill>
                            <a:srgbClr val="060606"/>
                          </a:solidFill>
                        </a:rPr>
                        <a:t>11</a:t>
                      </a:r>
                      <a:endParaRPr lang="zh-CN" altLang="en-US"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4332"/>
            <a:ext cx="11821885" cy="523220"/>
          </a:xfrm>
          <a:prstGeom prst="rect">
            <a:avLst/>
          </a:prstGeom>
          <a:noFill/>
        </p:spPr>
        <p:txBody>
          <a:bodyPr wrap="square" rtlCol="0">
            <a:spAutoFit/>
          </a:bodyPr>
          <a:lstStyle/>
          <a:p>
            <a:r>
              <a:rPr lang="zh-CN" altLang="en-US" sz="2800" b="1" dirty="0">
                <a:latin typeface="+mj-ea"/>
                <a:ea typeface="+mj-ea"/>
              </a:rPr>
              <a:t>练习</a:t>
            </a:r>
            <a:r>
              <a:rPr lang="en-US" altLang="zh-CN" sz="2800" b="1" dirty="0">
                <a:latin typeface="+mj-ea"/>
                <a:ea typeface="+mj-ea"/>
              </a:rPr>
              <a:t>8</a:t>
            </a:r>
            <a:r>
              <a:rPr lang="zh-CN" altLang="en-US" sz="2800" b="1" dirty="0">
                <a:solidFill>
                  <a:srgbClr val="060606"/>
                </a:solidFill>
                <a:latin typeface="+mj-ea"/>
                <a:ea typeface="+mj-ea"/>
              </a:rPr>
              <a:t>短期财务计划</a:t>
            </a:r>
            <a:endParaRPr lang="zh-CN" altLang="en-US" sz="2800" b="1" dirty="0">
              <a:latin typeface="+mj-ea"/>
              <a:ea typeface="+mj-ea"/>
            </a:endParaRPr>
          </a:p>
        </p:txBody>
      </p:sp>
      <p:grpSp>
        <p:nvGrpSpPr>
          <p:cNvPr id="5" name="组合 4"/>
          <p:cNvGrpSpPr/>
          <p:nvPr/>
        </p:nvGrpSpPr>
        <p:grpSpPr>
          <a:xfrm>
            <a:off x="108857" y="527478"/>
            <a:ext cx="11930743" cy="6247864"/>
            <a:chOff x="108857" y="838200"/>
            <a:chExt cx="11930743" cy="5884176"/>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52400" y="838200"/>
              <a:ext cx="11326427" cy="5884176"/>
            </a:xfrm>
            <a:prstGeom prst="rect">
              <a:avLst/>
            </a:prstGeom>
            <a:noFill/>
          </p:spPr>
          <p:txBody>
            <a:bodyPr wrap="square" rtlCol="0">
              <a:spAutoFit/>
            </a:bodyPr>
            <a:lstStyle/>
            <a:p>
              <a:r>
                <a:rPr lang="en-US" altLang="zh-CN" sz="2000" dirty="0" err="1">
                  <a:solidFill>
                    <a:srgbClr val="060606"/>
                  </a:solidFill>
                </a:rPr>
                <a:t>Semicond</a:t>
              </a:r>
              <a:r>
                <a:rPr lang="zh-CN" altLang="en-US" sz="2000" dirty="0">
                  <a:solidFill>
                    <a:srgbClr val="060606"/>
                  </a:solidFill>
                </a:rPr>
                <a:t>公司是一家小型电子公司，它生产磁带录音机和收音机。表</a:t>
              </a:r>
              <a:r>
                <a:rPr lang="en-US" altLang="zh-CN" sz="2000" dirty="0">
                  <a:solidFill>
                    <a:srgbClr val="060606"/>
                  </a:solidFill>
                </a:rPr>
                <a:t>8</a:t>
              </a:r>
              <a:r>
                <a:rPr lang="zh-CN" altLang="en-US" sz="2000" dirty="0">
                  <a:solidFill>
                    <a:srgbClr val="060606"/>
                  </a:solidFill>
                </a:rPr>
                <a:t>中列出了每件产品的单位劳动力成本、原材料成本和售价。</a:t>
              </a:r>
              <a:endParaRPr lang="en-US" altLang="zh-CN" sz="2000" dirty="0">
                <a:solidFill>
                  <a:srgbClr val="060606"/>
                </a:solidFill>
              </a:endParaRPr>
            </a:p>
            <a:p>
              <a:r>
                <a:rPr lang="en-US" altLang="zh-CN" sz="2000" dirty="0">
                  <a:solidFill>
                    <a:srgbClr val="060606"/>
                  </a:solidFill>
                </a:rPr>
                <a:t>2002</a:t>
              </a:r>
              <a:r>
                <a:rPr lang="zh-CN" altLang="en-US" sz="2000" dirty="0">
                  <a:solidFill>
                    <a:srgbClr val="060606"/>
                  </a:solidFill>
                </a:rPr>
                <a:t>年</a:t>
              </a:r>
              <a:r>
                <a:rPr lang="en-US" altLang="zh-CN" sz="2000" dirty="0">
                  <a:solidFill>
                    <a:srgbClr val="060606"/>
                  </a:solidFill>
                </a:rPr>
                <a:t>12</a:t>
              </a:r>
              <a:r>
                <a:rPr lang="zh-CN" altLang="en-US" sz="2000" dirty="0">
                  <a:solidFill>
                    <a:srgbClr val="060606"/>
                  </a:solidFill>
                </a:rPr>
                <a:t>月</a:t>
              </a:r>
              <a:r>
                <a:rPr lang="en-US" altLang="zh-CN" sz="2000" dirty="0">
                  <a:solidFill>
                    <a:srgbClr val="060606"/>
                  </a:solidFill>
                </a:rPr>
                <a:t>1</a:t>
              </a:r>
              <a:r>
                <a:rPr lang="zh-CN" altLang="en-US" sz="2000" dirty="0">
                  <a:solidFill>
                    <a:srgbClr val="060606"/>
                  </a:solidFill>
                </a:rPr>
                <a:t>日，</a:t>
              </a:r>
              <a:r>
                <a:rPr lang="en-US" altLang="zh-CN" sz="2000" dirty="0" err="1">
                  <a:solidFill>
                    <a:srgbClr val="060606"/>
                  </a:solidFill>
                </a:rPr>
                <a:t>Semicond</a:t>
              </a:r>
              <a:r>
                <a:rPr lang="zh-CN" altLang="en-US" sz="2000" dirty="0">
                  <a:solidFill>
                    <a:srgbClr val="060606"/>
                  </a:solidFill>
                </a:rPr>
                <a:t>公司的原料足够生产</a:t>
              </a:r>
              <a:r>
                <a:rPr lang="en-US" altLang="zh-CN" sz="2000" dirty="0">
                  <a:solidFill>
                    <a:srgbClr val="060606"/>
                  </a:solidFill>
                </a:rPr>
                <a:t>100</a:t>
              </a:r>
              <a:r>
                <a:rPr lang="zh-CN" altLang="en-US" sz="2000" dirty="0">
                  <a:solidFill>
                    <a:srgbClr val="060606"/>
                  </a:solidFill>
                </a:rPr>
                <a:t>台磁带机</a:t>
              </a:r>
              <a:endParaRPr lang="en-US" altLang="zh-CN" sz="2000" dirty="0">
                <a:solidFill>
                  <a:srgbClr val="060606"/>
                </a:solidFill>
              </a:endParaRPr>
            </a:p>
            <a:p>
              <a:r>
                <a:rPr lang="zh-CN" altLang="en-US" sz="2000" dirty="0">
                  <a:solidFill>
                    <a:srgbClr val="060606"/>
                  </a:solidFill>
                </a:rPr>
                <a:t>和</a:t>
              </a:r>
              <a:r>
                <a:rPr lang="en-US" altLang="zh-CN" sz="2000" dirty="0">
                  <a:solidFill>
                    <a:srgbClr val="060606"/>
                  </a:solidFill>
                </a:rPr>
                <a:t>100</a:t>
              </a:r>
              <a:r>
                <a:rPr lang="zh-CN" altLang="en-US" sz="2000" dirty="0">
                  <a:solidFill>
                    <a:srgbClr val="060606"/>
                  </a:solidFill>
                </a:rPr>
                <a:t>台收音机。同一天，该公司的资产负债表如表</a:t>
              </a:r>
              <a:r>
                <a:rPr lang="en-US" altLang="zh-CN" sz="2000" dirty="0">
                  <a:solidFill>
                    <a:srgbClr val="060606"/>
                  </a:solidFill>
                </a:rPr>
                <a:t>8-2</a:t>
              </a:r>
              <a:r>
                <a:rPr lang="zh-CN" altLang="en-US" sz="2000" dirty="0">
                  <a:solidFill>
                    <a:srgbClr val="060606"/>
                  </a:solidFill>
                </a:rPr>
                <a:t>所示，</a:t>
              </a:r>
              <a:endParaRPr lang="en-US" altLang="zh-CN" sz="2000" dirty="0">
                <a:solidFill>
                  <a:srgbClr val="060606"/>
                </a:solidFill>
              </a:endParaRPr>
            </a:p>
            <a:p>
              <a:r>
                <a:rPr lang="zh-CN" altLang="en-US" sz="2000" dirty="0">
                  <a:solidFill>
                    <a:srgbClr val="060606"/>
                  </a:solidFill>
                </a:rPr>
                <a:t>资产负债比值</a:t>
              </a:r>
              <a:r>
                <a:rPr lang="en-US" altLang="zh-CN" sz="2000" dirty="0">
                  <a:solidFill>
                    <a:srgbClr val="060606"/>
                  </a:solidFill>
                </a:rPr>
                <a:t>(</a:t>
              </a:r>
              <a:r>
                <a:rPr lang="zh-CN" altLang="en-US" sz="2000" dirty="0">
                  <a:solidFill>
                    <a:srgbClr val="060606"/>
                  </a:solidFill>
                </a:rPr>
                <a:t>即流动比值</a:t>
              </a:r>
              <a:r>
                <a:rPr lang="en-US" altLang="zh-CN" sz="2000" dirty="0">
                  <a:solidFill>
                    <a:srgbClr val="060606"/>
                  </a:solidFill>
                </a:rPr>
                <a:t>)</a:t>
              </a:r>
              <a:r>
                <a:rPr lang="zh-CN" altLang="en-US" sz="2000" dirty="0">
                  <a:solidFill>
                    <a:srgbClr val="060606"/>
                  </a:solidFill>
                </a:rPr>
                <a:t>是</a:t>
              </a:r>
              <a:r>
                <a:rPr lang="en-US" altLang="zh-CN" sz="2000" dirty="0">
                  <a:solidFill>
                    <a:srgbClr val="060606"/>
                  </a:solidFill>
                </a:rPr>
                <a:t>20,000/10,000 = 2</a:t>
              </a:r>
              <a:r>
                <a:rPr lang="zh-CN" altLang="en-US" sz="2000" dirty="0">
                  <a:solidFill>
                    <a:srgbClr val="060606"/>
                  </a:solidFill>
                </a:rPr>
                <a:t>。</a:t>
              </a:r>
              <a:endParaRPr lang="en-US" altLang="zh-CN" sz="2000" dirty="0">
                <a:solidFill>
                  <a:srgbClr val="060606"/>
                </a:solidFill>
              </a:endParaRPr>
            </a:p>
            <a:p>
              <a:r>
                <a:rPr lang="en-US" altLang="zh-CN" sz="2000" dirty="0" err="1">
                  <a:solidFill>
                    <a:srgbClr val="060606"/>
                  </a:solidFill>
                </a:rPr>
                <a:t>Semicond</a:t>
              </a:r>
              <a:r>
                <a:rPr lang="zh-CN" altLang="en-US" sz="2000" dirty="0">
                  <a:solidFill>
                    <a:srgbClr val="060606"/>
                  </a:solidFill>
                </a:rPr>
                <a:t>公司必须确定在</a:t>
              </a:r>
              <a:r>
                <a:rPr lang="en-US" altLang="zh-CN" sz="2000" dirty="0">
                  <a:solidFill>
                    <a:srgbClr val="060606"/>
                  </a:solidFill>
                </a:rPr>
                <a:t>12</a:t>
              </a:r>
              <a:r>
                <a:rPr lang="zh-CN" altLang="en-US" sz="2000" dirty="0">
                  <a:solidFill>
                    <a:srgbClr val="060606"/>
                  </a:solidFill>
                </a:rPr>
                <a:t>月份应当生产多少台磁带机和</a:t>
              </a:r>
              <a:endParaRPr lang="en-US" altLang="zh-CN" sz="2000" dirty="0">
                <a:solidFill>
                  <a:srgbClr val="060606"/>
                </a:solidFill>
              </a:endParaRPr>
            </a:p>
            <a:p>
              <a:r>
                <a:rPr lang="zh-CN" altLang="en-US" sz="2000" dirty="0">
                  <a:solidFill>
                    <a:srgbClr val="060606"/>
                  </a:solidFill>
                </a:rPr>
                <a:t>收音机</a:t>
              </a:r>
              <a:r>
                <a:rPr lang="en-US" altLang="zh-CN" sz="2000" dirty="0">
                  <a:solidFill>
                    <a:srgbClr val="060606"/>
                  </a:solidFill>
                </a:rPr>
                <a:t>(</a:t>
              </a:r>
              <a:r>
                <a:rPr lang="zh-CN" altLang="en-US" sz="2000" dirty="0">
                  <a:solidFill>
                    <a:srgbClr val="060606"/>
                  </a:solidFill>
                </a:rPr>
                <a:t>因为并非生产的越多越好</a:t>
              </a:r>
              <a:r>
                <a:rPr lang="en-US" altLang="zh-CN" sz="2000" dirty="0">
                  <a:solidFill>
                    <a:srgbClr val="060606"/>
                  </a:solidFill>
                </a:rPr>
                <a:t>)</a:t>
              </a:r>
              <a:r>
                <a:rPr lang="zh-CN" altLang="en-US" sz="2000" dirty="0">
                  <a:solidFill>
                    <a:srgbClr val="060606"/>
                  </a:solidFill>
                </a:rPr>
                <a:t>。</a:t>
              </a:r>
              <a:endParaRPr lang="en-US" altLang="zh-CN" sz="2000" dirty="0">
                <a:solidFill>
                  <a:srgbClr val="060606"/>
                </a:solidFill>
              </a:endParaRPr>
            </a:p>
            <a:p>
              <a:r>
                <a:rPr lang="zh-CN" altLang="en-US" sz="2000" dirty="0">
                  <a:solidFill>
                    <a:srgbClr val="060606"/>
                  </a:solidFill>
                </a:rPr>
                <a:t>产品的需求量非常大，足以保证生产的所有产品都能够</a:t>
              </a:r>
              <a:endParaRPr lang="en-US" altLang="zh-CN" sz="2000" dirty="0">
                <a:solidFill>
                  <a:srgbClr val="060606"/>
                </a:solidFill>
              </a:endParaRPr>
            </a:p>
            <a:p>
              <a:r>
                <a:rPr lang="zh-CN" altLang="en-US" sz="2000" dirty="0">
                  <a:solidFill>
                    <a:srgbClr val="060606"/>
                  </a:solidFill>
                </a:rPr>
                <a:t>销售出去。但是销售的所有产品都是以信用卡支付的，</a:t>
              </a:r>
              <a:endParaRPr lang="en-US" altLang="zh-CN" sz="2000" dirty="0">
                <a:solidFill>
                  <a:srgbClr val="060606"/>
                </a:solidFill>
              </a:endParaRPr>
            </a:p>
            <a:p>
              <a:r>
                <a:rPr lang="en-US" altLang="zh-CN" sz="2000" dirty="0">
                  <a:solidFill>
                    <a:srgbClr val="060606"/>
                  </a:solidFill>
                </a:rPr>
                <a:t>12</a:t>
              </a:r>
              <a:r>
                <a:rPr lang="zh-CN" altLang="en-US" sz="2000" dirty="0">
                  <a:solidFill>
                    <a:srgbClr val="060606"/>
                  </a:solidFill>
                </a:rPr>
                <a:t>月生产的产品的销售款在</a:t>
              </a:r>
              <a:r>
                <a:rPr lang="en-US" altLang="zh-CN" sz="2000" dirty="0">
                  <a:solidFill>
                    <a:srgbClr val="060606"/>
                  </a:solidFill>
                </a:rPr>
                <a:t>2003</a:t>
              </a:r>
              <a:r>
                <a:rPr lang="zh-CN" altLang="en-US" sz="2000" dirty="0">
                  <a:solidFill>
                    <a:srgbClr val="060606"/>
                  </a:solidFill>
                </a:rPr>
                <a:t>年</a:t>
              </a:r>
              <a:r>
                <a:rPr lang="en-US" altLang="zh-CN" sz="2000" dirty="0">
                  <a:solidFill>
                    <a:srgbClr val="060606"/>
                  </a:solidFill>
                </a:rPr>
                <a:t>2</a:t>
              </a:r>
              <a:r>
                <a:rPr lang="zh-CN" altLang="en-US" sz="2000" dirty="0">
                  <a:solidFill>
                    <a:srgbClr val="060606"/>
                  </a:solidFill>
                </a:rPr>
                <a:t>月</a:t>
              </a:r>
              <a:r>
                <a:rPr lang="en-US" altLang="zh-CN" sz="2000" dirty="0">
                  <a:solidFill>
                    <a:srgbClr val="060606"/>
                  </a:solidFill>
                </a:rPr>
                <a:t>1</a:t>
              </a:r>
              <a:r>
                <a:rPr lang="zh-CN" altLang="en-US" sz="2000" dirty="0">
                  <a:solidFill>
                    <a:srgbClr val="060606"/>
                  </a:solidFill>
                </a:rPr>
                <a:t>日才能收回。</a:t>
              </a:r>
              <a:endParaRPr lang="en-US" altLang="zh-CN" sz="2000" dirty="0">
                <a:solidFill>
                  <a:srgbClr val="060606"/>
                </a:solidFill>
              </a:endParaRPr>
            </a:p>
            <a:p>
              <a:r>
                <a:rPr lang="zh-CN" altLang="en-US" sz="2000" dirty="0">
                  <a:solidFill>
                    <a:srgbClr val="060606"/>
                  </a:solidFill>
                </a:rPr>
                <a:t>在</a:t>
              </a:r>
              <a:r>
                <a:rPr lang="en-US" altLang="zh-CN" sz="2000" dirty="0">
                  <a:solidFill>
                    <a:srgbClr val="060606"/>
                  </a:solidFill>
                </a:rPr>
                <a:t>12</a:t>
              </a:r>
              <a:r>
                <a:rPr lang="zh-CN" altLang="en-US" sz="2000" dirty="0">
                  <a:solidFill>
                    <a:srgbClr val="060606"/>
                  </a:solidFill>
                </a:rPr>
                <a:t>月份，</a:t>
              </a:r>
              <a:r>
                <a:rPr lang="en-US" altLang="zh-CN" sz="2000" dirty="0" err="1">
                  <a:solidFill>
                    <a:srgbClr val="060606"/>
                  </a:solidFill>
                </a:rPr>
                <a:t>Semicond</a:t>
              </a:r>
              <a:r>
                <a:rPr lang="zh-CN" altLang="en-US" sz="2000" dirty="0">
                  <a:solidFill>
                    <a:srgbClr val="060606"/>
                  </a:solidFill>
                </a:rPr>
                <a:t>公司的应收账款上将到账</a:t>
              </a:r>
              <a:endParaRPr lang="en-US" altLang="zh-CN" sz="2000" dirty="0">
                <a:solidFill>
                  <a:srgbClr val="060606"/>
                </a:solidFill>
              </a:endParaRPr>
            </a:p>
            <a:p>
              <a:r>
                <a:rPr lang="en-US" altLang="zh-CN" sz="2000" dirty="0">
                  <a:solidFill>
                    <a:srgbClr val="060606"/>
                  </a:solidFill>
                </a:rPr>
                <a:t>2000</a:t>
              </a:r>
              <a:r>
                <a:rPr lang="zh-CN" altLang="en-US" sz="2000" dirty="0">
                  <a:solidFill>
                    <a:srgbClr val="060606"/>
                  </a:solidFill>
                </a:rPr>
                <a:t>美元，但必须偿还</a:t>
              </a:r>
              <a:r>
                <a:rPr lang="en-US" altLang="zh-CN" sz="2000" dirty="0">
                  <a:solidFill>
                    <a:srgbClr val="060606"/>
                  </a:solidFill>
                </a:rPr>
                <a:t>1000</a:t>
              </a:r>
              <a:r>
                <a:rPr lang="zh-CN" altLang="en-US" sz="2000" dirty="0">
                  <a:solidFill>
                    <a:srgbClr val="060606"/>
                  </a:solidFill>
                </a:rPr>
                <a:t>美元的未偿贷款和</a:t>
              </a:r>
              <a:endParaRPr lang="en-US" altLang="zh-CN" sz="2000" dirty="0">
                <a:solidFill>
                  <a:srgbClr val="060606"/>
                </a:solidFill>
              </a:endParaRPr>
            </a:p>
            <a:p>
              <a:r>
                <a:rPr lang="en-US" altLang="zh-CN" sz="2000" dirty="0">
                  <a:solidFill>
                    <a:srgbClr val="060606"/>
                  </a:solidFill>
                </a:rPr>
                <a:t>1000</a:t>
              </a:r>
              <a:r>
                <a:rPr lang="zh-CN" altLang="en-US" sz="2000" dirty="0">
                  <a:solidFill>
                    <a:srgbClr val="060606"/>
                  </a:solidFill>
                </a:rPr>
                <a:t>美元的月租金。</a:t>
              </a:r>
              <a:r>
                <a:rPr lang="en-US" altLang="zh-CN" sz="2000" dirty="0">
                  <a:solidFill>
                    <a:srgbClr val="060606"/>
                  </a:solidFill>
                </a:rPr>
                <a:t>2003</a:t>
              </a:r>
              <a:r>
                <a:rPr lang="zh-CN" altLang="en-US" sz="2000" dirty="0">
                  <a:solidFill>
                    <a:srgbClr val="060606"/>
                  </a:solidFill>
                </a:rPr>
                <a:t>年</a:t>
              </a:r>
              <a:r>
                <a:rPr lang="en-US" altLang="zh-CN" sz="2000" dirty="0">
                  <a:solidFill>
                    <a:srgbClr val="060606"/>
                  </a:solidFill>
                </a:rPr>
                <a:t>1</a:t>
              </a:r>
              <a:r>
                <a:rPr lang="zh-CN" altLang="en-US" sz="2000" dirty="0">
                  <a:solidFill>
                    <a:srgbClr val="060606"/>
                  </a:solidFill>
                </a:rPr>
                <a:t>月</a:t>
              </a:r>
              <a:r>
                <a:rPr lang="en-US" altLang="zh-CN" sz="2000" dirty="0">
                  <a:solidFill>
                    <a:srgbClr val="060606"/>
                  </a:solidFill>
                </a:rPr>
                <a:t>1</a:t>
              </a:r>
              <a:r>
                <a:rPr lang="zh-CN" altLang="en-US" sz="2000" dirty="0">
                  <a:solidFill>
                    <a:srgbClr val="060606"/>
                  </a:solidFill>
                </a:rPr>
                <a:t>日，</a:t>
              </a:r>
              <a:endParaRPr lang="en-US" altLang="zh-CN" sz="2000" dirty="0">
                <a:solidFill>
                  <a:srgbClr val="060606"/>
                </a:solidFill>
              </a:endParaRPr>
            </a:p>
            <a:p>
              <a:r>
                <a:rPr lang="en-US" altLang="zh-CN" sz="2000" dirty="0" err="1">
                  <a:solidFill>
                    <a:srgbClr val="060606"/>
                  </a:solidFill>
                </a:rPr>
                <a:t>Semicond</a:t>
              </a:r>
              <a:r>
                <a:rPr lang="zh-CN" altLang="en-US" sz="2000" dirty="0">
                  <a:solidFill>
                    <a:srgbClr val="060606"/>
                  </a:solidFill>
                </a:rPr>
                <a:t>公司将收到一批价值</a:t>
              </a:r>
              <a:r>
                <a:rPr lang="en-US" altLang="zh-CN" sz="2000" dirty="0">
                  <a:solidFill>
                    <a:srgbClr val="060606"/>
                  </a:solidFill>
                </a:rPr>
                <a:t>2000</a:t>
              </a:r>
              <a:r>
                <a:rPr lang="zh-CN" altLang="en-US" sz="2000" dirty="0">
                  <a:solidFill>
                    <a:srgbClr val="060606"/>
                  </a:solidFill>
                </a:rPr>
                <a:t>美元的原料，</a:t>
              </a:r>
              <a:endParaRPr lang="en-US" altLang="zh-CN" sz="2000" dirty="0">
                <a:solidFill>
                  <a:srgbClr val="060606"/>
                </a:solidFill>
              </a:endParaRPr>
            </a:p>
            <a:p>
              <a:r>
                <a:rPr lang="zh-CN" altLang="en-US" sz="2000" dirty="0">
                  <a:solidFill>
                    <a:srgbClr val="060606"/>
                  </a:solidFill>
                </a:rPr>
                <a:t>原料货款要在</a:t>
              </a:r>
              <a:r>
                <a:rPr lang="en-US" altLang="zh-CN" sz="2000" dirty="0">
                  <a:solidFill>
                    <a:srgbClr val="060606"/>
                  </a:solidFill>
                </a:rPr>
                <a:t>2003</a:t>
              </a:r>
              <a:r>
                <a:rPr lang="zh-CN" altLang="en-US" sz="2000" dirty="0">
                  <a:solidFill>
                    <a:srgbClr val="060606"/>
                  </a:solidFill>
                </a:rPr>
                <a:t>年</a:t>
              </a:r>
              <a:r>
                <a:rPr lang="en-US" altLang="zh-CN" sz="2000" dirty="0">
                  <a:solidFill>
                    <a:srgbClr val="060606"/>
                  </a:solidFill>
                </a:rPr>
                <a:t>2</a:t>
              </a:r>
              <a:r>
                <a:rPr lang="zh-CN" altLang="en-US" sz="2000" dirty="0">
                  <a:solidFill>
                    <a:srgbClr val="060606"/>
                  </a:solidFill>
                </a:rPr>
                <a:t>月</a:t>
              </a:r>
              <a:r>
                <a:rPr lang="en-US" altLang="zh-CN" sz="2000" dirty="0">
                  <a:solidFill>
                    <a:srgbClr val="060606"/>
                  </a:solidFill>
                </a:rPr>
                <a:t>1</a:t>
              </a:r>
              <a:r>
                <a:rPr lang="zh-CN" altLang="en-US" sz="2000" dirty="0">
                  <a:solidFill>
                    <a:srgbClr val="060606"/>
                  </a:solidFill>
                </a:rPr>
                <a:t>日付清。</a:t>
              </a:r>
              <a:r>
                <a:rPr lang="en-US" altLang="zh-CN" sz="2000" dirty="0" err="1">
                  <a:solidFill>
                    <a:srgbClr val="060606"/>
                  </a:solidFill>
                </a:rPr>
                <a:t>Semicond</a:t>
              </a:r>
              <a:r>
                <a:rPr lang="zh-CN" altLang="en-US" sz="2000" dirty="0">
                  <a:solidFill>
                    <a:srgbClr val="060606"/>
                  </a:solidFill>
                </a:rPr>
                <a:t>公司</a:t>
              </a:r>
              <a:endParaRPr lang="en-US" altLang="zh-CN" sz="2000" dirty="0">
                <a:solidFill>
                  <a:srgbClr val="060606"/>
                </a:solidFill>
              </a:endParaRPr>
            </a:p>
            <a:p>
              <a:r>
                <a:rPr lang="zh-CN" altLang="en-US" sz="2000" dirty="0">
                  <a:solidFill>
                    <a:srgbClr val="060606"/>
                  </a:solidFill>
                </a:rPr>
                <a:t>管理层认为</a:t>
              </a:r>
              <a:r>
                <a:rPr lang="en-US" altLang="zh-CN" sz="2000" dirty="0">
                  <a:solidFill>
                    <a:srgbClr val="060606"/>
                  </a:solidFill>
                </a:rPr>
                <a:t>2003</a:t>
              </a:r>
              <a:r>
                <a:rPr lang="zh-CN" altLang="en-US" sz="2000" dirty="0">
                  <a:solidFill>
                    <a:srgbClr val="060606"/>
                  </a:solidFill>
                </a:rPr>
                <a:t>年</a:t>
              </a:r>
              <a:r>
                <a:rPr lang="en-US" altLang="zh-CN" sz="2000" dirty="0">
                  <a:solidFill>
                    <a:srgbClr val="060606"/>
                  </a:solidFill>
                </a:rPr>
                <a:t>1</a:t>
              </a:r>
              <a:r>
                <a:rPr lang="zh-CN" altLang="en-US" sz="2000" dirty="0">
                  <a:solidFill>
                    <a:srgbClr val="060606"/>
                  </a:solidFill>
                </a:rPr>
                <a:t>月</a:t>
              </a:r>
              <a:r>
                <a:rPr lang="en-US" altLang="zh-CN" sz="2000" dirty="0">
                  <a:solidFill>
                    <a:srgbClr val="060606"/>
                  </a:solidFill>
                </a:rPr>
                <a:t>1</a:t>
              </a:r>
              <a:r>
                <a:rPr lang="zh-CN" altLang="en-US" sz="2000" dirty="0">
                  <a:solidFill>
                    <a:srgbClr val="060606"/>
                  </a:solidFill>
                </a:rPr>
                <a:t>日的现金余额至少必须达到</a:t>
              </a:r>
              <a:endParaRPr lang="en-US" altLang="zh-CN" sz="2000" dirty="0">
                <a:solidFill>
                  <a:srgbClr val="060606"/>
                </a:solidFill>
              </a:endParaRPr>
            </a:p>
            <a:p>
              <a:r>
                <a:rPr lang="en-US" altLang="zh-CN" sz="2000" dirty="0">
                  <a:solidFill>
                    <a:srgbClr val="060606"/>
                  </a:solidFill>
                </a:rPr>
                <a:t>4000</a:t>
              </a:r>
              <a:r>
                <a:rPr lang="zh-CN" altLang="en-US" sz="2000" dirty="0">
                  <a:solidFill>
                    <a:srgbClr val="060606"/>
                  </a:solidFill>
                </a:rPr>
                <a:t>美元。此外，</a:t>
              </a:r>
              <a:r>
                <a:rPr lang="en-US" altLang="zh-CN" sz="2000" dirty="0" err="1">
                  <a:solidFill>
                    <a:srgbClr val="060606"/>
                  </a:solidFill>
                </a:rPr>
                <a:t>Semicond</a:t>
              </a:r>
              <a:r>
                <a:rPr lang="zh-CN" altLang="en-US" sz="2000" dirty="0">
                  <a:solidFill>
                    <a:srgbClr val="060606"/>
                  </a:solidFill>
                </a:rPr>
                <a:t>公司的开户行要求</a:t>
              </a:r>
              <a:endParaRPr lang="en-US" altLang="zh-CN" sz="2000" dirty="0">
                <a:solidFill>
                  <a:srgbClr val="060606"/>
                </a:solidFill>
              </a:endParaRPr>
            </a:p>
            <a:p>
              <a:r>
                <a:rPr lang="en-US" altLang="zh-CN" sz="2000" dirty="0">
                  <a:solidFill>
                    <a:srgbClr val="060606"/>
                  </a:solidFill>
                </a:rPr>
                <a:t>1</a:t>
              </a:r>
              <a:r>
                <a:rPr lang="zh-CN" altLang="en-US" sz="2000" dirty="0">
                  <a:solidFill>
                    <a:srgbClr val="060606"/>
                  </a:solidFill>
                </a:rPr>
                <a:t>月</a:t>
              </a:r>
              <a:r>
                <a:rPr lang="en-US" altLang="zh-CN" sz="2000" dirty="0">
                  <a:solidFill>
                    <a:srgbClr val="060606"/>
                  </a:solidFill>
                </a:rPr>
                <a:t>1</a:t>
              </a:r>
              <a:r>
                <a:rPr lang="zh-CN" altLang="en-US" sz="2000" dirty="0">
                  <a:solidFill>
                    <a:srgbClr val="060606"/>
                  </a:solidFill>
                </a:rPr>
                <a:t>日的流动比值至少应当是</a:t>
              </a:r>
              <a:r>
                <a:rPr lang="en-US" altLang="zh-CN" sz="2000" dirty="0">
                  <a:solidFill>
                    <a:srgbClr val="060606"/>
                  </a:solidFill>
                </a:rPr>
                <a:t>2</a:t>
              </a:r>
              <a:r>
                <a:rPr lang="zh-CN" altLang="en-US" sz="2000" dirty="0">
                  <a:solidFill>
                    <a:srgbClr val="060606"/>
                  </a:solidFill>
                </a:rPr>
                <a:t>。</a:t>
              </a:r>
              <a:endParaRPr lang="en-US" altLang="zh-CN" sz="2000" dirty="0">
                <a:solidFill>
                  <a:srgbClr val="060606"/>
                </a:solidFill>
              </a:endParaRPr>
            </a:p>
            <a:p>
              <a:r>
                <a:rPr lang="zh-CN" altLang="en-US" sz="2000" dirty="0">
                  <a:solidFill>
                    <a:srgbClr val="060606"/>
                  </a:solidFill>
                </a:rPr>
                <a:t>为了使</a:t>
              </a:r>
              <a:r>
                <a:rPr lang="en-US" altLang="zh-CN" sz="2000" dirty="0">
                  <a:solidFill>
                    <a:srgbClr val="060606"/>
                  </a:solidFill>
                </a:rPr>
                <a:t>12</a:t>
              </a:r>
              <a:r>
                <a:rPr lang="zh-CN" altLang="en-US" sz="2000" dirty="0">
                  <a:solidFill>
                    <a:srgbClr val="060606"/>
                  </a:solidFill>
                </a:rPr>
                <a:t>月份的利润最大化，即</a:t>
              </a:r>
              <a:endParaRPr lang="en-US" altLang="zh-CN" sz="2000" dirty="0">
                <a:solidFill>
                  <a:srgbClr val="060606"/>
                </a:solidFill>
              </a:endParaRPr>
            </a:p>
            <a:p>
              <a:r>
                <a:rPr lang="en-US" altLang="zh-CN" sz="2000" dirty="0">
                  <a:solidFill>
                    <a:srgbClr val="060606"/>
                  </a:solidFill>
                </a:rPr>
                <a:t>[(</a:t>
              </a:r>
              <a:r>
                <a:rPr lang="zh-CN" altLang="en-US" sz="2000" dirty="0">
                  <a:solidFill>
                    <a:srgbClr val="060606"/>
                  </a:solidFill>
                </a:rPr>
                <a:t>应得收入</a:t>
              </a:r>
              <a:r>
                <a:rPr lang="en-US" altLang="zh-CN" sz="2000" dirty="0">
                  <a:solidFill>
                    <a:srgbClr val="060606"/>
                  </a:solidFill>
                </a:rPr>
                <a:t>)-(</a:t>
              </a:r>
              <a:r>
                <a:rPr lang="zh-CN" altLang="en-US" sz="2000" dirty="0">
                  <a:solidFill>
                    <a:srgbClr val="060606"/>
                  </a:solidFill>
                </a:rPr>
                <a:t>可变生产成本</a:t>
              </a:r>
              <a:r>
                <a:rPr lang="en-US" altLang="zh-CN" sz="2000" dirty="0">
                  <a:solidFill>
                    <a:srgbClr val="060606"/>
                  </a:solidFill>
                </a:rPr>
                <a:t>)]</a:t>
              </a:r>
              <a:r>
                <a:rPr lang="zh-CN" altLang="en-US" sz="2000" dirty="0">
                  <a:solidFill>
                    <a:srgbClr val="060606"/>
                  </a:solidFill>
                </a:rPr>
                <a:t>最大化，</a:t>
              </a:r>
              <a:r>
                <a:rPr lang="en-US" altLang="zh-CN" sz="2000" dirty="0" err="1">
                  <a:solidFill>
                    <a:srgbClr val="060606"/>
                  </a:solidFill>
                </a:rPr>
                <a:t>Semicond</a:t>
              </a:r>
              <a:r>
                <a:rPr lang="zh-CN" altLang="en-US" sz="2000" dirty="0">
                  <a:solidFill>
                    <a:srgbClr val="060606"/>
                  </a:solidFill>
                </a:rPr>
                <a:t>公司在</a:t>
              </a:r>
              <a:r>
                <a:rPr lang="en-US" altLang="zh-CN" sz="2000" dirty="0">
                  <a:solidFill>
                    <a:srgbClr val="060606"/>
                  </a:solidFill>
                </a:rPr>
                <a:t>12</a:t>
              </a:r>
              <a:r>
                <a:rPr lang="zh-CN" altLang="en-US" sz="2000" dirty="0">
                  <a:solidFill>
                    <a:srgbClr val="060606"/>
                  </a:solidFill>
                </a:rPr>
                <a:t>月份应如何安排生产？</a:t>
              </a:r>
              <a:endParaRPr lang="zh-CN" altLang="en-US" sz="2000" dirty="0"/>
            </a:p>
          </p:txBody>
        </p:sp>
      </p:grpSp>
      <p:graphicFrame>
        <p:nvGraphicFramePr>
          <p:cNvPr id="6" name="表格 5"/>
          <p:cNvGraphicFramePr>
            <a:graphicFrameLocks noGrp="1"/>
          </p:cNvGraphicFramePr>
          <p:nvPr/>
        </p:nvGraphicFramePr>
        <p:xfrm>
          <a:off x="7442657" y="936346"/>
          <a:ext cx="4509857" cy="1828800"/>
        </p:xfrm>
        <a:graphic>
          <a:graphicData uri="http://schemas.openxmlformats.org/drawingml/2006/table">
            <a:tbl>
              <a:tblPr firstRow="1" bandRow="1">
                <a:tableStyleId>{5C22544A-7EE6-4342-B048-85BDC9FD1C3A}</a:tableStyleId>
              </a:tblPr>
              <a:tblGrid>
                <a:gridCol w="1580377"/>
                <a:gridCol w="2929480"/>
              </a:tblGrid>
              <a:tr h="355908">
                <a:tc gridSpan="2">
                  <a:txBody>
                    <a:bodyPr/>
                    <a:lstStyle/>
                    <a:p>
                      <a:pPr algn="ctr"/>
                      <a:r>
                        <a:rPr lang="zh-CN" altLang="en-US" sz="1800" dirty="0">
                          <a:solidFill>
                            <a:srgbClr val="000018"/>
                          </a:solidFill>
                        </a:rPr>
                        <a:t>表</a:t>
                      </a:r>
                      <a:r>
                        <a:rPr lang="en-US" altLang="zh-CN" sz="1800" dirty="0">
                          <a:solidFill>
                            <a:srgbClr val="000018"/>
                          </a:solidFill>
                        </a:rPr>
                        <a:t>8-1.</a:t>
                      </a:r>
                      <a:r>
                        <a:rPr lang="zh-CN" altLang="en-US" sz="1800" dirty="0">
                          <a:solidFill>
                            <a:srgbClr val="000018"/>
                          </a:solidFill>
                        </a:rPr>
                        <a:t>成本信息</a:t>
                      </a:r>
                      <a:endParaRPr lang="zh-CN" altLang="en-US" sz="1800" dirty="0">
                        <a:solidFill>
                          <a:srgbClr val="000018"/>
                        </a:solidFill>
                      </a:endParaRPr>
                    </a:p>
                  </a:txBody>
                  <a:tcPr>
                    <a:lnB w="38100" cap="flat" cmpd="sng" algn="ctr">
                      <a:solidFill>
                        <a:schemeClr val="tx1"/>
                      </a:solidFill>
                      <a:prstDash val="solid"/>
                      <a:round/>
                      <a:headEnd type="none" w="med" len="med"/>
                      <a:tailEnd type="none" w="med" len="med"/>
                    </a:lnB>
                    <a:noFill/>
                  </a:tcPr>
                </a:tc>
                <a:tc hMerge="1">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355908">
                <a:tc>
                  <a:txBody>
                    <a:bodyPr/>
                    <a:lstStyle/>
                    <a:p>
                      <a:endParaRPr lang="zh-CN" altLang="en-US" sz="1800"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zh-CN" altLang="en-US" sz="1800" dirty="0">
                          <a:solidFill>
                            <a:srgbClr val="000018"/>
                          </a:solidFill>
                        </a:rPr>
                        <a:t>磁带录音机       </a:t>
                      </a:r>
                      <a:r>
                        <a:rPr lang="en-US" altLang="zh-CN" sz="1800" dirty="0">
                          <a:solidFill>
                            <a:srgbClr val="000018"/>
                          </a:solidFill>
                        </a:rPr>
                        <a:t>     </a:t>
                      </a:r>
                      <a:r>
                        <a:rPr lang="zh-CN" altLang="en-US" sz="1800" dirty="0">
                          <a:solidFill>
                            <a:srgbClr val="000018"/>
                          </a:solidFill>
                        </a:rPr>
                        <a:t>收音机</a:t>
                      </a:r>
                      <a:endParaRPr lang="zh-CN" altLang="en-US" sz="1800"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55908">
                <a:tc>
                  <a:txBody>
                    <a:bodyPr/>
                    <a:lstStyle/>
                    <a:p>
                      <a:r>
                        <a:rPr lang="zh-CN" altLang="en-US" sz="1800" dirty="0">
                          <a:solidFill>
                            <a:srgbClr val="000018"/>
                          </a:solidFill>
                        </a:rPr>
                        <a:t>售价</a:t>
                      </a:r>
                      <a:endParaRPr lang="zh-CN" altLang="en-US" sz="1800"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800" dirty="0">
                          <a:solidFill>
                            <a:srgbClr val="000018"/>
                          </a:solidFill>
                        </a:rPr>
                        <a:t>100</a:t>
                      </a:r>
                      <a:r>
                        <a:rPr lang="zh-CN" altLang="en-US" sz="1800" dirty="0">
                          <a:solidFill>
                            <a:srgbClr val="000018"/>
                          </a:solidFill>
                        </a:rPr>
                        <a:t>美元</a:t>
                      </a:r>
                      <a:r>
                        <a:rPr lang="zh-CN" altLang="en-US" sz="1800" baseline="0" dirty="0">
                          <a:solidFill>
                            <a:srgbClr val="000018"/>
                          </a:solidFill>
                        </a:rPr>
                        <a:t>                  </a:t>
                      </a:r>
                      <a:r>
                        <a:rPr lang="en-US" altLang="zh-CN" sz="1800" baseline="0" dirty="0">
                          <a:solidFill>
                            <a:srgbClr val="000018"/>
                          </a:solidFill>
                        </a:rPr>
                        <a:t>90</a:t>
                      </a:r>
                      <a:r>
                        <a:rPr lang="zh-CN" altLang="en-US" sz="1800" baseline="0" dirty="0">
                          <a:solidFill>
                            <a:srgbClr val="000018"/>
                          </a:solidFill>
                        </a:rPr>
                        <a:t>美元</a:t>
                      </a:r>
                      <a:endParaRPr lang="zh-CN" altLang="en-US" sz="1800"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55908">
                <a:tc>
                  <a:txBody>
                    <a:bodyPr/>
                    <a:lstStyle/>
                    <a:p>
                      <a:r>
                        <a:rPr lang="zh-CN" altLang="en-US" sz="1800" dirty="0">
                          <a:solidFill>
                            <a:srgbClr val="000018"/>
                          </a:solidFill>
                        </a:rPr>
                        <a:t>劳动力成本</a:t>
                      </a:r>
                      <a:endParaRPr lang="zh-CN" altLang="en-US" sz="1800"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800" dirty="0">
                          <a:solidFill>
                            <a:srgbClr val="000018"/>
                          </a:solidFill>
                        </a:rPr>
                        <a:t>50</a:t>
                      </a:r>
                      <a:r>
                        <a:rPr lang="zh-CN" altLang="en-US" sz="1800" dirty="0">
                          <a:solidFill>
                            <a:srgbClr val="000018"/>
                          </a:solidFill>
                        </a:rPr>
                        <a:t>美元                    </a:t>
                      </a:r>
                      <a:r>
                        <a:rPr lang="en-US" altLang="zh-CN" sz="1800" dirty="0">
                          <a:solidFill>
                            <a:srgbClr val="000018"/>
                          </a:solidFill>
                        </a:rPr>
                        <a:t>35</a:t>
                      </a:r>
                      <a:r>
                        <a:rPr lang="zh-CN" altLang="en-US" sz="1800" dirty="0">
                          <a:solidFill>
                            <a:srgbClr val="000018"/>
                          </a:solidFill>
                        </a:rPr>
                        <a:t>美元</a:t>
                      </a:r>
                      <a:endParaRPr lang="zh-CN" altLang="en-US" sz="1800"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55908">
                <a:tc>
                  <a:txBody>
                    <a:bodyPr/>
                    <a:lstStyle/>
                    <a:p>
                      <a:r>
                        <a:rPr lang="zh-CN" altLang="en-US" sz="1800" dirty="0">
                          <a:solidFill>
                            <a:srgbClr val="000018"/>
                          </a:solidFill>
                        </a:rPr>
                        <a:t>原料成本</a:t>
                      </a:r>
                      <a:endParaRPr lang="zh-CN" altLang="en-US" sz="1800"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1800" dirty="0">
                          <a:solidFill>
                            <a:srgbClr val="000018"/>
                          </a:solidFill>
                        </a:rPr>
                        <a:t>30</a:t>
                      </a:r>
                      <a:r>
                        <a:rPr lang="zh-CN" altLang="en-US" sz="1800" dirty="0">
                          <a:solidFill>
                            <a:srgbClr val="000018"/>
                          </a:solidFill>
                        </a:rPr>
                        <a:t>美元                    </a:t>
                      </a:r>
                      <a:r>
                        <a:rPr lang="en-US" altLang="zh-CN" sz="1800" dirty="0">
                          <a:solidFill>
                            <a:srgbClr val="000018"/>
                          </a:solidFill>
                        </a:rPr>
                        <a:t>40</a:t>
                      </a:r>
                      <a:r>
                        <a:rPr lang="zh-CN" altLang="en-US" sz="1800" dirty="0">
                          <a:solidFill>
                            <a:srgbClr val="000018"/>
                          </a:solidFill>
                        </a:rPr>
                        <a:t>美元</a:t>
                      </a:r>
                      <a:endParaRPr lang="zh-CN" altLang="en-US" sz="1800"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graphicFrame>
        <p:nvGraphicFramePr>
          <p:cNvPr id="7" name="表格 6"/>
          <p:cNvGraphicFramePr>
            <a:graphicFrameLocks noGrp="1"/>
          </p:cNvGraphicFramePr>
          <p:nvPr/>
        </p:nvGraphicFramePr>
        <p:xfrm>
          <a:off x="6331256" y="2765146"/>
          <a:ext cx="5708344" cy="3373430"/>
        </p:xfrm>
        <a:graphic>
          <a:graphicData uri="http://schemas.openxmlformats.org/drawingml/2006/table">
            <a:tbl>
              <a:tblPr firstRow="1" bandRow="1">
                <a:tableStyleId>{5C22544A-7EE6-4342-B048-85BDC9FD1C3A}</a:tableStyleId>
              </a:tblPr>
              <a:tblGrid>
                <a:gridCol w="1230589"/>
                <a:gridCol w="4477755"/>
              </a:tblGrid>
              <a:tr h="371649">
                <a:tc gridSpan="2">
                  <a:txBody>
                    <a:bodyPr/>
                    <a:lstStyle/>
                    <a:p>
                      <a:pPr algn="ctr"/>
                      <a:r>
                        <a:rPr lang="zh-CN" altLang="en-US" sz="1800" dirty="0">
                          <a:solidFill>
                            <a:srgbClr val="000018"/>
                          </a:solidFill>
                        </a:rPr>
                        <a:t>表</a:t>
                      </a:r>
                      <a:r>
                        <a:rPr lang="en-US" altLang="zh-CN" sz="1800" dirty="0">
                          <a:solidFill>
                            <a:srgbClr val="000018"/>
                          </a:solidFill>
                        </a:rPr>
                        <a:t>8-2.</a:t>
                      </a:r>
                      <a:r>
                        <a:rPr lang="zh-CN" altLang="en-US" sz="1800" dirty="0">
                          <a:solidFill>
                            <a:srgbClr val="000018"/>
                          </a:solidFill>
                        </a:rPr>
                        <a:t>资产负债表</a:t>
                      </a:r>
                      <a:r>
                        <a:rPr lang="en-US" altLang="zh-CN" sz="1800" dirty="0">
                          <a:solidFill>
                            <a:srgbClr val="0000AC"/>
                          </a:solidFill>
                        </a:rPr>
                        <a:t>(12</a:t>
                      </a:r>
                      <a:r>
                        <a:rPr lang="zh-CN" altLang="en-US" sz="1800" dirty="0">
                          <a:solidFill>
                            <a:srgbClr val="0000AC"/>
                          </a:solidFill>
                        </a:rPr>
                        <a:t>月</a:t>
                      </a:r>
                      <a:r>
                        <a:rPr lang="en-US" altLang="zh-CN" sz="1800" dirty="0">
                          <a:solidFill>
                            <a:srgbClr val="0000AC"/>
                          </a:solidFill>
                        </a:rPr>
                        <a:t>1</a:t>
                      </a:r>
                      <a:r>
                        <a:rPr lang="zh-CN" altLang="en-US" sz="1800" dirty="0">
                          <a:solidFill>
                            <a:srgbClr val="0000AC"/>
                          </a:solidFill>
                        </a:rPr>
                        <a:t>日</a:t>
                      </a:r>
                      <a:r>
                        <a:rPr lang="en-US" altLang="zh-CN" sz="1800" dirty="0">
                          <a:solidFill>
                            <a:srgbClr val="0000AC"/>
                          </a:solidFill>
                        </a:rPr>
                        <a:t>)</a:t>
                      </a:r>
                      <a:endParaRPr lang="zh-CN" altLang="en-US" sz="1800" dirty="0">
                        <a:solidFill>
                          <a:srgbClr val="0000AC"/>
                        </a:solidFill>
                      </a:endParaRPr>
                    </a:p>
                  </a:txBody>
                  <a:tcPr>
                    <a:lnB w="38100" cap="flat" cmpd="sng" algn="ctr">
                      <a:solidFill>
                        <a:schemeClr val="tx1"/>
                      </a:solidFill>
                      <a:prstDash val="solid"/>
                      <a:round/>
                      <a:headEnd type="none" w="med" len="med"/>
                      <a:tailEnd type="none" w="med" len="med"/>
                    </a:lnB>
                    <a:noFill/>
                  </a:tcPr>
                </a:tc>
                <a:tc hMerge="1">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371649">
                <a:tc>
                  <a:txBody>
                    <a:bodyPr/>
                    <a:lstStyle/>
                    <a:p>
                      <a:endParaRPr lang="zh-CN" altLang="en-US" sz="1800"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zh-CN" altLang="en-US" sz="1800" dirty="0">
                          <a:solidFill>
                            <a:srgbClr val="000018"/>
                          </a:solidFill>
                        </a:rPr>
                        <a:t>资产</a:t>
                      </a:r>
                      <a:r>
                        <a:rPr lang="zh-CN" altLang="en-US" sz="1800" baseline="0" dirty="0">
                          <a:solidFill>
                            <a:srgbClr val="000018"/>
                          </a:solidFill>
                        </a:rPr>
                        <a:t>     </a:t>
                      </a:r>
                      <a:r>
                        <a:rPr lang="en-US" altLang="zh-CN" sz="1800" dirty="0">
                          <a:solidFill>
                            <a:srgbClr val="000018"/>
                          </a:solidFill>
                        </a:rPr>
                        <a:t>	                                           </a:t>
                      </a:r>
                      <a:r>
                        <a:rPr lang="zh-CN" altLang="en-US" sz="1800" dirty="0">
                          <a:solidFill>
                            <a:srgbClr val="000018"/>
                          </a:solidFill>
                        </a:rPr>
                        <a:t>负债</a:t>
                      </a:r>
                      <a:endParaRPr lang="zh-CN" altLang="en-US" sz="1800"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649">
                <a:tc>
                  <a:txBody>
                    <a:bodyPr/>
                    <a:lstStyle/>
                    <a:p>
                      <a:r>
                        <a:rPr lang="zh-CN" altLang="en-US" sz="1800" dirty="0">
                          <a:solidFill>
                            <a:srgbClr val="000018"/>
                          </a:solidFill>
                        </a:rPr>
                        <a:t>现金</a:t>
                      </a:r>
                      <a:endParaRPr lang="zh-CN" altLang="en-US" sz="1800"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800" dirty="0">
                          <a:solidFill>
                            <a:srgbClr val="000018"/>
                          </a:solidFill>
                        </a:rPr>
                        <a:t>10,000</a:t>
                      </a:r>
                      <a:r>
                        <a:rPr lang="zh-CN" altLang="en-US" sz="1800" dirty="0">
                          <a:solidFill>
                            <a:srgbClr val="000018"/>
                          </a:solidFill>
                        </a:rPr>
                        <a:t>美元</a:t>
                      </a:r>
                      <a:endParaRPr lang="zh-CN" altLang="en-US" sz="1800"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657533">
                <a:tc>
                  <a:txBody>
                    <a:bodyPr/>
                    <a:lstStyle/>
                    <a:p>
                      <a:r>
                        <a:rPr lang="zh-CN" altLang="en-US" sz="1800" dirty="0">
                          <a:solidFill>
                            <a:srgbClr val="000018"/>
                          </a:solidFill>
                        </a:rPr>
                        <a:t>应收款项</a:t>
                      </a:r>
                      <a:endParaRPr lang="zh-CN" altLang="en-US" sz="1800"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800" dirty="0">
                          <a:solidFill>
                            <a:srgbClr val="000018"/>
                          </a:solidFill>
                        </a:rPr>
                        <a:t>3,000</a:t>
                      </a:r>
                      <a:r>
                        <a:rPr lang="zh-CN" altLang="en-US" sz="1800" dirty="0">
                          <a:solidFill>
                            <a:srgbClr val="000018"/>
                          </a:solidFill>
                        </a:rPr>
                        <a:t>美元</a:t>
                      </a:r>
                      <a:endParaRPr lang="en-US" altLang="zh-CN" sz="1800" dirty="0">
                        <a:solidFill>
                          <a:srgbClr val="000018"/>
                        </a:solidFill>
                      </a:endParaRPr>
                    </a:p>
                    <a:p>
                      <a:r>
                        <a:rPr lang="en-US" altLang="zh-CN" sz="1800" dirty="0">
                          <a:solidFill>
                            <a:srgbClr val="000018"/>
                          </a:solidFill>
                        </a:rPr>
                        <a:t>(</a:t>
                      </a:r>
                      <a:r>
                        <a:rPr lang="zh-CN" altLang="en-US" sz="1800" dirty="0">
                          <a:solidFill>
                            <a:srgbClr val="000018"/>
                          </a:solidFill>
                        </a:rPr>
                        <a:t>先前售出的产品，顾客欠款</a:t>
                      </a:r>
                      <a:r>
                        <a:rPr lang="en-US" altLang="zh-CN" sz="1800" dirty="0">
                          <a:solidFill>
                            <a:srgbClr val="000018"/>
                          </a:solidFill>
                        </a:rPr>
                        <a:t>)</a:t>
                      </a:r>
                      <a:endParaRPr lang="zh-CN" altLang="en-US" sz="1800"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229301">
                <a:tc>
                  <a:txBody>
                    <a:bodyPr/>
                    <a:lstStyle/>
                    <a:p>
                      <a:r>
                        <a:rPr lang="zh-CN" altLang="en-US" sz="1800" dirty="0">
                          <a:solidFill>
                            <a:srgbClr val="000018"/>
                          </a:solidFill>
                        </a:rPr>
                        <a:t>库存未收回款</a:t>
                      </a:r>
                      <a:endParaRPr lang="zh-CN" altLang="en-US" sz="1800"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800" dirty="0">
                          <a:solidFill>
                            <a:srgbClr val="000018"/>
                          </a:solidFill>
                        </a:rPr>
                        <a:t>7,000</a:t>
                      </a:r>
                      <a:r>
                        <a:rPr lang="zh-CN" altLang="en-US" sz="1800" dirty="0">
                          <a:solidFill>
                            <a:srgbClr val="000018"/>
                          </a:solidFill>
                        </a:rPr>
                        <a:t>美元</a:t>
                      </a:r>
                      <a:endParaRPr lang="en-US" altLang="zh-CN" sz="1800" dirty="0">
                        <a:solidFill>
                          <a:srgbClr val="000018"/>
                        </a:solidFill>
                      </a:endParaRPr>
                    </a:p>
                    <a:p>
                      <a:r>
                        <a:rPr lang="en-US" altLang="zh-CN" sz="1800" dirty="0">
                          <a:solidFill>
                            <a:srgbClr val="000018"/>
                          </a:solidFill>
                        </a:rPr>
                        <a:t>(</a:t>
                      </a:r>
                      <a:r>
                        <a:rPr lang="zh-CN" altLang="en-US" sz="1800" dirty="0">
                          <a:solidFill>
                            <a:srgbClr val="000018"/>
                          </a:solidFill>
                        </a:rPr>
                        <a:t>库存即足够生产</a:t>
                      </a:r>
                      <a:r>
                        <a:rPr lang="en-US" altLang="zh-CN" sz="1800" dirty="0">
                          <a:solidFill>
                            <a:srgbClr val="000018"/>
                          </a:solidFill>
                        </a:rPr>
                        <a:t>100</a:t>
                      </a:r>
                      <a:r>
                        <a:rPr lang="zh-CN" altLang="en-US" sz="1800" dirty="0">
                          <a:solidFill>
                            <a:srgbClr val="000018"/>
                          </a:solidFill>
                        </a:rPr>
                        <a:t>台</a:t>
                      </a:r>
                      <a:r>
                        <a:rPr lang="zh-CN" altLang="en-US" sz="1800" dirty="0">
                          <a:solidFill>
                            <a:srgbClr val="060606"/>
                          </a:solidFill>
                        </a:rPr>
                        <a:t>磁带机</a:t>
                      </a:r>
                      <a:endParaRPr lang="en-US" altLang="zh-CN" sz="1800" dirty="0">
                        <a:solidFill>
                          <a:srgbClr val="060606"/>
                        </a:solidFill>
                      </a:endParaRPr>
                    </a:p>
                    <a:p>
                      <a:r>
                        <a:rPr lang="zh-CN" altLang="en-US" sz="1800" dirty="0">
                          <a:solidFill>
                            <a:srgbClr val="060606"/>
                          </a:solidFill>
                        </a:rPr>
                        <a:t>和</a:t>
                      </a:r>
                      <a:r>
                        <a:rPr lang="en-US" altLang="zh-CN" sz="1800" dirty="0">
                          <a:solidFill>
                            <a:srgbClr val="060606"/>
                          </a:solidFill>
                        </a:rPr>
                        <a:t>100</a:t>
                      </a:r>
                      <a:r>
                        <a:rPr lang="zh-CN" altLang="en-US" sz="1800" dirty="0">
                          <a:solidFill>
                            <a:srgbClr val="060606"/>
                          </a:solidFill>
                        </a:rPr>
                        <a:t>台收音机的原料成本</a:t>
                      </a:r>
                      <a:endParaRPr lang="en-US" altLang="zh-CN" sz="1800" dirty="0">
                        <a:solidFill>
                          <a:srgbClr val="060606"/>
                        </a:solidFill>
                      </a:endParaRPr>
                    </a:p>
                    <a:p>
                      <a:r>
                        <a:rPr lang="en-US" altLang="zh-CN" sz="1800" dirty="0">
                          <a:solidFill>
                            <a:srgbClr val="060606"/>
                          </a:solidFill>
                        </a:rPr>
                        <a:t>=30×100 +</a:t>
                      </a:r>
                      <a:r>
                        <a:rPr lang="en-US" altLang="zh-CN" sz="1800" baseline="0" dirty="0">
                          <a:solidFill>
                            <a:srgbClr val="060606"/>
                          </a:solidFill>
                        </a:rPr>
                        <a:t> 40×100</a:t>
                      </a:r>
                      <a:r>
                        <a:rPr lang="en-US" altLang="zh-CN" sz="1800" dirty="0">
                          <a:solidFill>
                            <a:srgbClr val="000018"/>
                          </a:solidFill>
                        </a:rPr>
                        <a:t>)</a:t>
                      </a:r>
                      <a:endParaRPr lang="zh-CN" altLang="en-US" sz="1800"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649">
                <a:tc>
                  <a:txBody>
                    <a:bodyPr/>
                    <a:lstStyle/>
                    <a:p>
                      <a:r>
                        <a:rPr lang="zh-CN" altLang="en-US" sz="1800" dirty="0">
                          <a:solidFill>
                            <a:srgbClr val="000018"/>
                          </a:solidFill>
                        </a:rPr>
                        <a:t>银行贷款</a:t>
                      </a:r>
                      <a:endParaRPr lang="zh-CN" altLang="en-US" sz="1800"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1800" dirty="0">
                          <a:solidFill>
                            <a:srgbClr val="000018"/>
                          </a:solidFill>
                        </a:rPr>
                        <a:t>                                                   10,000</a:t>
                      </a:r>
                      <a:r>
                        <a:rPr lang="zh-CN" altLang="en-US" sz="1800" dirty="0">
                          <a:solidFill>
                            <a:srgbClr val="000018"/>
                          </a:solidFill>
                        </a:rPr>
                        <a:t>美元</a:t>
                      </a:r>
                      <a:endParaRPr lang="zh-CN" altLang="en-US" sz="1800"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9</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089266" cy="2308324"/>
            </a:xfrm>
            <a:prstGeom prst="rect">
              <a:avLst/>
            </a:prstGeom>
            <a:noFill/>
          </p:spPr>
          <p:txBody>
            <a:bodyPr wrap="square" rtlCol="0">
              <a:spAutoFit/>
            </a:bodyPr>
            <a:lstStyle/>
            <a:p>
              <a:r>
                <a:rPr lang="zh-CN" altLang="en-US" sz="2400" dirty="0"/>
                <a:t>某钢铁公司有</a:t>
              </a:r>
              <a:r>
                <a:rPr lang="en-US" altLang="zh-CN" sz="2400" dirty="0"/>
                <a:t>2</a:t>
              </a:r>
              <a:r>
                <a:rPr lang="zh-CN" altLang="en-US" sz="2400" dirty="0"/>
                <a:t>个冶炼厂，</a:t>
              </a:r>
              <a:r>
                <a:rPr lang="en-US" altLang="zh-CN" sz="2400" dirty="0"/>
                <a:t>A</a:t>
              </a:r>
              <a:r>
                <a:rPr lang="zh-CN" altLang="en-US" sz="2400" dirty="0"/>
                <a:t>厂每天可生产高、中、低三种不同型号的钢材</a:t>
              </a:r>
              <a:r>
                <a:rPr lang="en-US" altLang="zh-CN" sz="2400" dirty="0"/>
                <a:t>100</a:t>
              </a:r>
              <a:r>
                <a:rPr lang="zh-CN" altLang="en-US" sz="2400" dirty="0"/>
                <a:t>、</a:t>
              </a:r>
              <a:r>
                <a:rPr lang="en-US" altLang="zh-CN" sz="2400" dirty="0"/>
                <a:t>300</a:t>
              </a:r>
              <a:r>
                <a:rPr lang="zh-CN" altLang="en-US" sz="2400" dirty="0"/>
                <a:t>和</a:t>
              </a:r>
              <a:r>
                <a:rPr lang="en-US" altLang="zh-CN" sz="2400" dirty="0"/>
                <a:t>200</a:t>
              </a:r>
              <a:r>
                <a:rPr lang="zh-CN" altLang="en-US" sz="2400" dirty="0"/>
                <a:t>吨；</a:t>
              </a:r>
              <a:r>
                <a:rPr lang="en-US" altLang="zh-CN" sz="2400" dirty="0"/>
                <a:t>B</a:t>
              </a:r>
              <a:r>
                <a:rPr lang="zh-CN" altLang="en-US" sz="2400" dirty="0"/>
                <a:t>厂一天可以炼出上述三种不同型号的钢材</a:t>
              </a:r>
              <a:r>
                <a:rPr lang="en-US" altLang="zh-CN" sz="2400" dirty="0"/>
                <a:t>200</a:t>
              </a:r>
              <a:r>
                <a:rPr lang="zh-CN" altLang="en-US" sz="2400" dirty="0"/>
                <a:t>、</a:t>
              </a:r>
              <a:r>
                <a:rPr lang="en-US" altLang="zh-CN" sz="2400" dirty="0"/>
                <a:t>400</a:t>
              </a:r>
              <a:r>
                <a:rPr lang="zh-CN" altLang="en-US" sz="2400" dirty="0"/>
                <a:t>和</a:t>
              </a:r>
              <a:r>
                <a:rPr lang="en-US" altLang="zh-CN" sz="2400" dirty="0"/>
                <a:t>100</a:t>
              </a:r>
              <a:r>
                <a:rPr lang="zh-CN" altLang="en-US" sz="2400" dirty="0"/>
                <a:t>吨，现公司需要这三种钢材数量分别为</a:t>
              </a:r>
              <a:r>
                <a:rPr lang="en-US" altLang="zh-CN" sz="2400" dirty="0"/>
                <a:t>12000</a:t>
              </a:r>
              <a:r>
                <a:rPr lang="zh-CN" altLang="en-US" sz="2400" dirty="0"/>
                <a:t>、</a:t>
              </a:r>
              <a:r>
                <a:rPr lang="en-US" altLang="zh-CN" sz="2400" dirty="0"/>
                <a:t>20000</a:t>
              </a:r>
              <a:r>
                <a:rPr lang="zh-CN" altLang="en-US" sz="2400" dirty="0"/>
                <a:t>和</a:t>
              </a:r>
              <a:r>
                <a:rPr lang="en-US" altLang="zh-CN" sz="2400" dirty="0"/>
                <a:t>15000</a:t>
              </a:r>
              <a:r>
                <a:rPr lang="zh-CN" altLang="en-US" sz="2400" dirty="0"/>
                <a:t>吨，</a:t>
              </a:r>
              <a:r>
                <a:rPr lang="en-US" altLang="zh-CN" sz="2400" dirty="0"/>
                <a:t>A</a:t>
              </a:r>
              <a:r>
                <a:rPr lang="zh-CN" altLang="en-US" sz="2400" dirty="0"/>
                <a:t>、</a:t>
              </a:r>
              <a:r>
                <a:rPr lang="en-US" altLang="zh-CN" sz="2400" dirty="0"/>
                <a:t>B</a:t>
              </a:r>
              <a:r>
                <a:rPr lang="zh-CN" altLang="en-US" sz="2400" dirty="0"/>
                <a:t>两厂每天的运行支出分别是</a:t>
              </a:r>
              <a:r>
                <a:rPr lang="en-US" altLang="zh-CN" sz="2400" dirty="0"/>
                <a:t>4000</a:t>
              </a:r>
              <a:r>
                <a:rPr lang="zh-CN" altLang="en-US" sz="2400" dirty="0"/>
                <a:t>元和</a:t>
              </a:r>
              <a:r>
                <a:rPr lang="en-US" altLang="zh-CN" sz="2400" dirty="0"/>
                <a:t>3000</a:t>
              </a:r>
              <a:r>
                <a:rPr lang="zh-CN" altLang="en-US" sz="2400" dirty="0"/>
                <a:t>元。试问：</a:t>
              </a:r>
              <a:endParaRPr lang="en-US" altLang="zh-CN" sz="2400" dirty="0"/>
            </a:p>
            <a:p>
              <a:r>
                <a:rPr lang="zh-CN" altLang="en-US" sz="2400" dirty="0"/>
                <a:t>（</a:t>
              </a:r>
              <a:r>
                <a:rPr lang="en-US" altLang="zh-CN" sz="2400" dirty="0"/>
                <a:t>1</a:t>
              </a:r>
              <a:r>
                <a:rPr lang="zh-CN" altLang="en-US" sz="2400" dirty="0"/>
                <a:t>）公司应安排这两个工厂各生产多少天最经济？</a:t>
              </a:r>
              <a:endParaRPr lang="en-US" altLang="zh-CN" sz="2400" dirty="0"/>
            </a:p>
            <a:p>
              <a:r>
                <a:rPr lang="zh-CN" altLang="en-US" sz="2400" dirty="0"/>
                <a:t>（</a:t>
              </a:r>
              <a:r>
                <a:rPr lang="en-US" altLang="zh-CN" sz="2400" dirty="0"/>
                <a:t>2</a:t>
              </a:r>
              <a:r>
                <a:rPr lang="zh-CN" altLang="en-US" sz="2400" dirty="0"/>
                <a:t>）若两厂的运行费用都为每天</a:t>
              </a:r>
              <a:r>
                <a:rPr lang="en-US" altLang="zh-CN" sz="2400" dirty="0"/>
                <a:t>3500</a:t>
              </a:r>
              <a:r>
                <a:rPr lang="zh-CN" altLang="en-US" sz="2400" dirty="0"/>
                <a:t>元，则公司如何安排各厂的产量？</a:t>
              </a:r>
              <a:endParaRPr lang="zh-CN" altLang="en-US" sz="2400" dirty="0"/>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10</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036000" cy="1569660"/>
            </a:xfrm>
            <a:prstGeom prst="rect">
              <a:avLst/>
            </a:prstGeom>
            <a:noFill/>
          </p:spPr>
          <p:txBody>
            <a:bodyPr wrap="square" rtlCol="0">
              <a:spAutoFit/>
            </a:bodyPr>
            <a:lstStyle/>
            <a:p>
              <a:r>
                <a:rPr lang="zh-CN" altLang="en-US" sz="2400" dirty="0"/>
                <a:t>某商业银行准备向甲、乙、丙三个企业投资，银行对此三企业的短期和长期经营预测得到的收益占投资金额的百分比估计值如下表所示。</a:t>
              </a:r>
              <a:endParaRPr lang="en-US" altLang="zh-CN" sz="2400" dirty="0"/>
            </a:p>
            <a:p>
              <a:r>
                <a:rPr lang="zh-CN" altLang="en-US" sz="2400" dirty="0"/>
                <a:t>银行希望明年至少有</a:t>
              </a:r>
              <a:r>
                <a:rPr lang="en-US" altLang="zh-CN" sz="2400" dirty="0"/>
                <a:t>200</a:t>
              </a:r>
              <a:r>
                <a:rPr lang="zh-CN" altLang="en-US" sz="2400" dirty="0"/>
                <a:t>万元收益，</a:t>
              </a:r>
              <a:r>
                <a:rPr lang="en-US" altLang="zh-CN" sz="2400" dirty="0"/>
                <a:t>12</a:t>
              </a:r>
              <a:r>
                <a:rPr lang="zh-CN" altLang="en-US" sz="2400" dirty="0"/>
                <a:t>年内回收资金</a:t>
              </a:r>
              <a:r>
                <a:rPr lang="en-US" altLang="zh-CN" sz="2400" dirty="0"/>
                <a:t>3000</a:t>
              </a:r>
              <a:r>
                <a:rPr lang="zh-CN" altLang="en-US" sz="2400" dirty="0"/>
                <a:t>万。每年收益</a:t>
              </a:r>
              <a:r>
                <a:rPr lang="en-US" altLang="zh-CN" sz="2400" dirty="0"/>
                <a:t>150</a:t>
              </a:r>
              <a:r>
                <a:rPr lang="zh-CN" altLang="en-US" sz="2400" dirty="0"/>
                <a:t>万元。试问银行如何向三家企业进行投资使得总收益最大。</a:t>
              </a:r>
              <a:endParaRPr lang="zh-CN" altLang="en-US" sz="2400" dirty="0"/>
            </a:p>
          </p:txBody>
        </p:sp>
      </p:grpSp>
      <p:graphicFrame>
        <p:nvGraphicFramePr>
          <p:cNvPr id="6" name="表格 6"/>
          <p:cNvGraphicFramePr>
            <a:graphicFrameLocks noGrp="1"/>
          </p:cNvGraphicFramePr>
          <p:nvPr/>
        </p:nvGraphicFramePr>
        <p:xfrm>
          <a:off x="2032000" y="2787588"/>
          <a:ext cx="8128000" cy="2282079"/>
        </p:xfrm>
        <a:graphic>
          <a:graphicData uri="http://schemas.openxmlformats.org/drawingml/2006/table">
            <a:tbl>
              <a:tblPr firstRow="1" bandRow="1">
                <a:tableStyleId>{93296810-A885-4BE3-A3E7-6D5BEEA58F35}</a:tableStyleId>
              </a:tblPr>
              <a:tblGrid>
                <a:gridCol w="2032000"/>
                <a:gridCol w="2032000"/>
                <a:gridCol w="2032000"/>
                <a:gridCol w="2032000"/>
              </a:tblGrid>
              <a:tr h="455893">
                <a:tc>
                  <a:txBody>
                    <a:bodyPr/>
                    <a:lstStyle/>
                    <a:p>
                      <a:r>
                        <a:rPr lang="zh-CN" altLang="en-US" dirty="0"/>
                        <a:t>                     企业</a:t>
                      </a:r>
                      <a:endParaRPr lang="en-US" altLang="zh-CN" dirty="0"/>
                    </a:p>
                    <a:p>
                      <a:endParaRPr lang="en-US" altLang="zh-CN" dirty="0"/>
                    </a:p>
                    <a:p>
                      <a:r>
                        <a:rPr lang="zh-CN" altLang="en-US" dirty="0"/>
                        <a:t>资金回收率</a:t>
                      </a:r>
                      <a:endParaRPr lang="zh-CN"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zh-CN" altLang="en-US" dirty="0"/>
                        <a:t>甲</a:t>
                      </a:r>
                      <a:endParaRPr lang="en-US" altLang="zh-CN" dirty="0"/>
                    </a:p>
                    <a:p>
                      <a:pPr algn="ctr"/>
                      <a:r>
                        <a:rPr lang="en-US" altLang="zh-CN" dirty="0"/>
                        <a:t>%</a:t>
                      </a:r>
                      <a:endParaRPr lang="zh-CN" altLang="en-US" dirty="0"/>
                    </a:p>
                  </a:txBody>
                  <a:tcPr/>
                </a:tc>
                <a:tc>
                  <a:txBody>
                    <a:bodyPr/>
                    <a:lstStyle/>
                    <a:p>
                      <a:pPr algn="ctr"/>
                      <a:r>
                        <a:rPr lang="zh-CN" altLang="en-US" dirty="0"/>
                        <a:t>乙</a:t>
                      </a:r>
                      <a:endParaRPr lang="en-US" altLang="zh-CN" dirty="0"/>
                    </a:p>
                    <a:p>
                      <a:pPr algn="ctr"/>
                      <a:r>
                        <a:rPr lang="en-US" altLang="zh-CN" dirty="0"/>
                        <a:t>%</a:t>
                      </a:r>
                      <a:endParaRPr lang="zh-CN" altLang="en-US" dirty="0"/>
                    </a:p>
                  </a:txBody>
                  <a:tcPr/>
                </a:tc>
                <a:tc>
                  <a:txBody>
                    <a:bodyPr/>
                    <a:lstStyle/>
                    <a:p>
                      <a:pPr algn="ctr"/>
                      <a:r>
                        <a:rPr lang="zh-CN" altLang="en-US" dirty="0"/>
                        <a:t>丙</a:t>
                      </a:r>
                      <a:endParaRPr lang="en-US" altLang="zh-CN" dirty="0"/>
                    </a:p>
                    <a:p>
                      <a:pPr algn="ctr"/>
                      <a:r>
                        <a:rPr lang="en-US" altLang="zh-CN" dirty="0"/>
                        <a:t>%</a:t>
                      </a:r>
                      <a:endParaRPr lang="zh-CN" altLang="en-US" dirty="0"/>
                    </a:p>
                  </a:txBody>
                  <a:tcPr/>
                </a:tc>
              </a:tr>
              <a:tr h="455893">
                <a:tc>
                  <a:txBody>
                    <a:bodyPr/>
                    <a:lstStyle/>
                    <a:p>
                      <a:pPr algn="ctr"/>
                      <a:r>
                        <a:rPr lang="zh-CN" altLang="en-US" dirty="0"/>
                        <a:t>明年的资金回收率</a:t>
                      </a:r>
                      <a:endParaRPr lang="zh-CN" altLang="en-US" dirty="0"/>
                    </a:p>
                  </a:txBody>
                  <a:tcPr/>
                </a:tc>
                <a:tc>
                  <a:txBody>
                    <a:bodyPr/>
                    <a:lstStyle/>
                    <a:p>
                      <a:r>
                        <a:rPr lang="en-US" altLang="zh-CN" dirty="0"/>
                        <a:t>3.2</a:t>
                      </a:r>
                      <a:endParaRPr lang="zh-CN" altLang="en-US" dirty="0"/>
                    </a:p>
                  </a:txBody>
                  <a:tcPr/>
                </a:tc>
                <a:tc>
                  <a:txBody>
                    <a:bodyPr/>
                    <a:lstStyle/>
                    <a:p>
                      <a:r>
                        <a:rPr lang="en-US" altLang="zh-CN" dirty="0"/>
                        <a:t>3.0</a:t>
                      </a:r>
                      <a:endParaRPr lang="zh-CN" altLang="en-US" dirty="0"/>
                    </a:p>
                  </a:txBody>
                  <a:tcPr/>
                </a:tc>
                <a:tc>
                  <a:txBody>
                    <a:bodyPr/>
                    <a:lstStyle/>
                    <a:p>
                      <a:r>
                        <a:rPr lang="en-US" altLang="zh-CN" dirty="0"/>
                        <a:t>2.5</a:t>
                      </a:r>
                      <a:endParaRPr lang="zh-CN" altLang="en-US" dirty="0"/>
                    </a:p>
                  </a:txBody>
                  <a:tcPr/>
                </a:tc>
              </a:tr>
              <a:tr h="455893">
                <a:tc>
                  <a:txBody>
                    <a:bodyPr/>
                    <a:lstStyle/>
                    <a:p>
                      <a:pPr algn="ctr"/>
                      <a:r>
                        <a:rPr lang="en-US" altLang="zh-CN" dirty="0"/>
                        <a:t>12</a:t>
                      </a:r>
                      <a:r>
                        <a:rPr lang="zh-CN" altLang="en-US" dirty="0"/>
                        <a:t>年的资金回收率</a:t>
                      </a:r>
                      <a:endParaRPr lang="zh-CN" altLang="en-US" dirty="0"/>
                    </a:p>
                  </a:txBody>
                  <a:tcPr/>
                </a:tc>
                <a:tc>
                  <a:txBody>
                    <a:bodyPr/>
                    <a:lstStyle/>
                    <a:p>
                      <a:r>
                        <a:rPr lang="en-US" altLang="zh-CN" dirty="0"/>
                        <a:t>100</a:t>
                      </a:r>
                      <a:endParaRPr lang="zh-CN" altLang="en-US" dirty="0"/>
                    </a:p>
                  </a:txBody>
                  <a:tcPr/>
                </a:tc>
                <a:tc>
                  <a:txBody>
                    <a:bodyPr/>
                    <a:lstStyle/>
                    <a:p>
                      <a:r>
                        <a:rPr lang="en-US" altLang="zh-CN" dirty="0"/>
                        <a:t>140</a:t>
                      </a:r>
                      <a:endParaRPr lang="zh-CN" altLang="en-US" dirty="0"/>
                    </a:p>
                  </a:txBody>
                  <a:tcPr/>
                </a:tc>
                <a:tc>
                  <a:txBody>
                    <a:bodyPr/>
                    <a:lstStyle/>
                    <a:p>
                      <a:r>
                        <a:rPr lang="en-US" altLang="zh-CN" dirty="0"/>
                        <a:t>70</a:t>
                      </a:r>
                      <a:endParaRPr lang="zh-CN" altLang="en-US" dirty="0"/>
                    </a:p>
                  </a:txBody>
                  <a:tcPr/>
                </a:tc>
              </a:tr>
              <a:tr h="455893">
                <a:tc>
                  <a:txBody>
                    <a:bodyPr/>
                    <a:lstStyle/>
                    <a:p>
                      <a:pPr algn="ctr"/>
                      <a:r>
                        <a:rPr lang="zh-CN" altLang="en-US" dirty="0"/>
                        <a:t>年收益率</a:t>
                      </a:r>
                      <a:endParaRPr lang="zh-CN" altLang="en-US" dirty="0"/>
                    </a:p>
                  </a:txBody>
                  <a:tcPr/>
                </a:tc>
                <a:tc>
                  <a:txBody>
                    <a:bodyPr/>
                    <a:lstStyle/>
                    <a:p>
                      <a:r>
                        <a:rPr lang="en-US" altLang="zh-CN" dirty="0"/>
                        <a:t>3</a:t>
                      </a:r>
                      <a:endParaRPr lang="zh-CN" altLang="en-US" dirty="0"/>
                    </a:p>
                  </a:txBody>
                  <a:tcPr/>
                </a:tc>
                <a:tc>
                  <a:txBody>
                    <a:bodyPr/>
                    <a:lstStyle/>
                    <a:p>
                      <a:r>
                        <a:rPr lang="en-US" altLang="zh-CN" dirty="0"/>
                        <a:t>3.6</a:t>
                      </a:r>
                      <a:endParaRPr lang="zh-CN" altLang="en-US" dirty="0"/>
                    </a:p>
                  </a:txBody>
                  <a:tcPr/>
                </a:tc>
                <a:tc>
                  <a:txBody>
                    <a:bodyPr/>
                    <a:lstStyle/>
                    <a:p>
                      <a:r>
                        <a:rPr lang="en-US" altLang="zh-CN" dirty="0"/>
                        <a:t>3.9</a:t>
                      </a:r>
                      <a:endParaRPr lang="zh-CN" altLang="en-US" dirty="0"/>
                    </a:p>
                  </a:txBody>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11</a:t>
            </a:r>
            <a:endParaRPr lang="zh-CN" altLang="en-US" sz="2800" dirty="0"/>
          </a:p>
        </p:txBody>
      </p:sp>
      <p:grpSp>
        <p:nvGrpSpPr>
          <p:cNvPr id="5" name="组合 4"/>
          <p:cNvGrpSpPr/>
          <p:nvPr/>
        </p:nvGrpSpPr>
        <p:grpSpPr>
          <a:xfrm>
            <a:off x="144369" y="72279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66820" cy="3046988"/>
            </a:xfrm>
            <a:prstGeom prst="rect">
              <a:avLst/>
            </a:prstGeom>
            <a:noFill/>
          </p:spPr>
          <p:txBody>
            <a:bodyPr wrap="square" rtlCol="0">
              <a:spAutoFit/>
            </a:bodyPr>
            <a:lstStyle/>
            <a:p>
              <a:r>
                <a:rPr lang="zh-CN" altLang="en-US" sz="2400" dirty="0"/>
                <a:t>根据预测，某电视机厂有三种不同型号产品在今年头四个月的合同预订数如下表所示。</a:t>
              </a:r>
              <a:endParaRPr lang="en-US" altLang="zh-CN" sz="2400" dirty="0"/>
            </a:p>
            <a:p>
              <a:r>
                <a:rPr lang="zh-CN" altLang="en-US" sz="2400" dirty="0"/>
                <a:t>该三种型号电视机</a:t>
              </a:r>
              <a:r>
                <a:rPr lang="en-US" altLang="zh-CN" sz="2400" dirty="0"/>
                <a:t>1</a:t>
              </a:r>
              <a:r>
                <a:rPr lang="zh-CN" altLang="en-US" sz="2400" dirty="0"/>
                <a:t>月初无库存，要求</a:t>
              </a:r>
              <a:r>
                <a:rPr lang="en-US" altLang="zh-CN" sz="2400" dirty="0"/>
                <a:t>4</a:t>
              </a:r>
              <a:r>
                <a:rPr lang="zh-CN" altLang="en-US" sz="2400" dirty="0"/>
                <a:t>月末各库存</a:t>
              </a:r>
              <a:r>
                <a:rPr lang="en-US" altLang="zh-CN" sz="2400" dirty="0"/>
                <a:t>150</a:t>
              </a:r>
              <a:r>
                <a:rPr lang="zh-CN" altLang="en-US" sz="2400" dirty="0"/>
                <a:t>台，已知该厂每月生产工时为</a:t>
              </a:r>
              <a:r>
                <a:rPr lang="en-US" altLang="zh-CN" sz="2400" dirty="0"/>
                <a:t>15000</a:t>
              </a:r>
              <a:r>
                <a:rPr lang="zh-CN" altLang="en-US" sz="2400" dirty="0"/>
                <a:t>小时，组装</a:t>
              </a:r>
              <a:r>
                <a:rPr lang="en-US" altLang="zh-CN" sz="2400" dirty="0"/>
                <a:t>21</a:t>
              </a:r>
              <a:r>
                <a:rPr lang="zh-CN" altLang="en-US" sz="2400" dirty="0"/>
                <a:t>、</a:t>
              </a:r>
              <a:r>
                <a:rPr lang="en-US" altLang="zh-CN" sz="2400" dirty="0"/>
                <a:t>25</a:t>
              </a:r>
              <a:r>
                <a:rPr lang="zh-CN" altLang="en-US" sz="2400" dirty="0"/>
                <a:t>和</a:t>
              </a:r>
              <a:r>
                <a:rPr lang="en-US" altLang="zh-CN" sz="2400" dirty="0"/>
                <a:t>29</a:t>
              </a:r>
              <a:r>
                <a:rPr lang="zh-CN" altLang="en-US" sz="2400" dirty="0"/>
                <a:t>英寸产品，每台分别需要</a:t>
              </a:r>
              <a:r>
                <a:rPr lang="en-US" altLang="zh-CN" sz="2400" dirty="0"/>
                <a:t>2</a:t>
              </a:r>
              <a:r>
                <a:rPr lang="zh-CN" altLang="en-US" sz="2400" dirty="0"/>
                <a:t>、</a:t>
              </a:r>
              <a:r>
                <a:rPr lang="en-US" altLang="zh-CN" sz="2400" dirty="0"/>
                <a:t>4</a:t>
              </a:r>
              <a:r>
                <a:rPr lang="zh-CN" altLang="en-US" sz="2400" dirty="0"/>
                <a:t>、</a:t>
              </a:r>
              <a:r>
                <a:rPr lang="en-US" altLang="zh-CN" sz="2400" dirty="0"/>
                <a:t>3</a:t>
              </a:r>
              <a:r>
                <a:rPr lang="zh-CN" altLang="en-US" sz="2400" dirty="0"/>
                <a:t>小时。因更换工艺装备，</a:t>
              </a:r>
              <a:r>
                <a:rPr lang="en-US" altLang="zh-CN" sz="2400" dirty="0"/>
                <a:t>21</a:t>
              </a:r>
              <a:r>
                <a:rPr lang="zh-CN" altLang="en-US" sz="2400" dirty="0"/>
                <a:t>英寸彩电在</a:t>
              </a:r>
              <a:r>
                <a:rPr lang="en-US" altLang="zh-CN" sz="2400" dirty="0"/>
                <a:t>2</a:t>
              </a:r>
              <a:r>
                <a:rPr lang="zh-CN" altLang="en-US" sz="2400" dirty="0"/>
                <a:t>月份无法生产，按合同规定，每当产品不能按期交货时，</a:t>
              </a:r>
              <a:r>
                <a:rPr lang="en-US" altLang="zh-CN" sz="2400" dirty="0"/>
                <a:t>21</a:t>
              </a:r>
              <a:r>
                <a:rPr lang="zh-CN" altLang="en-US" sz="2400" dirty="0"/>
                <a:t>和</a:t>
              </a:r>
              <a:r>
                <a:rPr lang="en-US" altLang="zh-CN" sz="2400" dirty="0"/>
                <a:t>25</a:t>
              </a:r>
              <a:r>
                <a:rPr lang="zh-CN" altLang="en-US" sz="2400" dirty="0"/>
                <a:t>英寸每台每迟交一个月需赔偿</a:t>
              </a:r>
              <a:r>
                <a:rPr lang="en-US" altLang="zh-CN" sz="2400" dirty="0"/>
                <a:t>20</a:t>
              </a:r>
              <a:r>
                <a:rPr lang="zh-CN" altLang="en-US" sz="2400" dirty="0"/>
                <a:t>元，而</a:t>
              </a:r>
              <a:r>
                <a:rPr lang="en-US" altLang="zh-CN" sz="2400" dirty="0"/>
                <a:t>29</a:t>
              </a:r>
              <a:r>
                <a:rPr lang="zh-CN" altLang="en-US" sz="2400" dirty="0"/>
                <a:t>英寸的则每台需要</a:t>
              </a:r>
              <a:r>
                <a:rPr lang="en-US" altLang="zh-CN" sz="2400" dirty="0"/>
                <a:t>30</a:t>
              </a:r>
              <a:r>
                <a:rPr lang="zh-CN" altLang="en-US" sz="2400" dirty="0"/>
                <a:t>元；又生产出来的产品不能在本月交货的，每件每月的库存费用为</a:t>
              </a:r>
              <a:r>
                <a:rPr lang="en-US" altLang="zh-CN" sz="2400" dirty="0"/>
                <a:t>5</a:t>
              </a:r>
              <a:r>
                <a:rPr lang="zh-CN" altLang="en-US" sz="2400" dirty="0"/>
                <a:t>元。试问该厂应如何安排生产，使总的损失费用（赔偿费和库存费）为最小。</a:t>
              </a:r>
              <a:endParaRPr lang="zh-CN" altLang="en-US" sz="2400" dirty="0"/>
            </a:p>
          </p:txBody>
        </p:sp>
      </p:grpSp>
      <p:graphicFrame>
        <p:nvGraphicFramePr>
          <p:cNvPr id="6" name="表格 6"/>
          <p:cNvGraphicFramePr>
            <a:graphicFrameLocks noGrp="1"/>
          </p:cNvGraphicFramePr>
          <p:nvPr/>
        </p:nvGraphicFramePr>
        <p:xfrm>
          <a:off x="2045740" y="3996057"/>
          <a:ext cx="8128000" cy="2286000"/>
        </p:xfrm>
        <a:graphic>
          <a:graphicData uri="http://schemas.openxmlformats.org/drawingml/2006/table">
            <a:tbl>
              <a:tblPr firstRow="1" bandRow="1">
                <a:tableStyleId>{5C22544A-7EE6-4342-B048-85BDC9FD1C3A}</a:tableStyleId>
              </a:tblPr>
              <a:tblGrid>
                <a:gridCol w="1625600"/>
                <a:gridCol w="1625600"/>
                <a:gridCol w="1625600"/>
                <a:gridCol w="1625600"/>
                <a:gridCol w="1625600"/>
              </a:tblGrid>
              <a:tr h="370840">
                <a:tc rowSpan="2">
                  <a:txBody>
                    <a:bodyPr/>
                    <a:lstStyle/>
                    <a:p>
                      <a:pPr algn="ctr"/>
                      <a:r>
                        <a:rPr lang="zh-CN" altLang="en-US" sz="2400" dirty="0"/>
                        <a:t>型号</a:t>
                      </a:r>
                      <a:endParaRPr lang="zh-CN" altLang="en-US" sz="2400" dirty="0"/>
                    </a:p>
                  </a:txBody>
                  <a:tcPr/>
                </a:tc>
                <a:tc gridSpan="4">
                  <a:txBody>
                    <a:bodyPr/>
                    <a:lstStyle/>
                    <a:p>
                      <a:pPr algn="ctr"/>
                      <a:r>
                        <a:rPr lang="zh-CN" altLang="en-US" sz="2400" dirty="0"/>
                        <a:t>月份</a:t>
                      </a:r>
                      <a:endParaRPr lang="zh-CN" altLang="en-US" sz="2400" dirty="0"/>
                    </a:p>
                  </a:txBody>
                  <a:tcPr/>
                </a:tc>
                <a:tc hMerge="1">
                  <a:tcPr/>
                </a:tc>
                <a:tc hMerge="1">
                  <a:tcPr/>
                </a:tc>
                <a:tc hMerge="1">
                  <a:tcPr/>
                </a:tc>
              </a:tr>
              <a:tr h="370840">
                <a:tc vMerge="1">
                  <a:tcPr/>
                </a:tc>
                <a:tc>
                  <a:txBody>
                    <a:bodyPr/>
                    <a:lstStyle/>
                    <a:p>
                      <a:pPr algn="ctr"/>
                      <a:r>
                        <a:rPr lang="en-US" altLang="zh-CN" sz="2400" dirty="0"/>
                        <a:t>1</a:t>
                      </a:r>
                      <a:endParaRPr lang="zh-CN" altLang="en-US" sz="2400" dirty="0"/>
                    </a:p>
                  </a:txBody>
                  <a:tcPr/>
                </a:tc>
                <a:tc>
                  <a:txBody>
                    <a:bodyPr/>
                    <a:lstStyle/>
                    <a:p>
                      <a:pPr algn="ctr"/>
                      <a:r>
                        <a:rPr lang="en-US" altLang="zh-CN" sz="2400" dirty="0"/>
                        <a:t>2</a:t>
                      </a:r>
                      <a:endParaRPr lang="zh-CN" altLang="en-US" sz="2400" dirty="0"/>
                    </a:p>
                  </a:txBody>
                  <a:tcPr/>
                </a:tc>
                <a:tc>
                  <a:txBody>
                    <a:bodyPr/>
                    <a:lstStyle/>
                    <a:p>
                      <a:pPr algn="ctr"/>
                      <a:r>
                        <a:rPr lang="en-US" altLang="zh-CN" sz="2400" dirty="0"/>
                        <a:t>3</a:t>
                      </a:r>
                      <a:endParaRPr lang="zh-CN" altLang="en-US" sz="2400" dirty="0"/>
                    </a:p>
                  </a:txBody>
                  <a:tcPr/>
                </a:tc>
                <a:tc>
                  <a:txBody>
                    <a:bodyPr/>
                    <a:lstStyle/>
                    <a:p>
                      <a:pPr algn="ctr"/>
                      <a:r>
                        <a:rPr lang="en-US" altLang="zh-CN" sz="2400" dirty="0"/>
                        <a:t>4</a:t>
                      </a:r>
                      <a:endParaRPr lang="zh-CN" altLang="en-US" sz="2400" dirty="0"/>
                    </a:p>
                  </a:txBody>
                  <a:tcPr/>
                </a:tc>
              </a:tr>
              <a:tr h="370840">
                <a:tc>
                  <a:txBody>
                    <a:bodyPr/>
                    <a:lstStyle/>
                    <a:p>
                      <a:r>
                        <a:rPr lang="en-US" altLang="zh-CN" sz="2400" dirty="0"/>
                        <a:t>21</a:t>
                      </a:r>
                      <a:r>
                        <a:rPr lang="zh-CN" altLang="en-US" sz="2400" dirty="0"/>
                        <a:t>英寸</a:t>
                      </a:r>
                      <a:endParaRPr lang="zh-CN" altLang="en-US" sz="2400" dirty="0"/>
                    </a:p>
                  </a:txBody>
                  <a:tcPr/>
                </a:tc>
                <a:tc>
                  <a:txBody>
                    <a:bodyPr/>
                    <a:lstStyle/>
                    <a:p>
                      <a:r>
                        <a:rPr lang="en-US" altLang="zh-CN" sz="2400" dirty="0"/>
                        <a:t>1500</a:t>
                      </a:r>
                      <a:endParaRPr lang="zh-CN" altLang="en-US" sz="2400" dirty="0"/>
                    </a:p>
                  </a:txBody>
                  <a:tcPr/>
                </a:tc>
                <a:tc>
                  <a:txBody>
                    <a:bodyPr/>
                    <a:lstStyle/>
                    <a:p>
                      <a:r>
                        <a:rPr lang="en-US" altLang="zh-CN" sz="2400" dirty="0"/>
                        <a:t>1000</a:t>
                      </a:r>
                      <a:endParaRPr lang="zh-CN" altLang="en-US" sz="2400" dirty="0"/>
                    </a:p>
                  </a:txBody>
                  <a:tcPr/>
                </a:tc>
                <a:tc>
                  <a:txBody>
                    <a:bodyPr/>
                    <a:lstStyle/>
                    <a:p>
                      <a:r>
                        <a:rPr lang="en-US" altLang="zh-CN" sz="2400" dirty="0"/>
                        <a:t>2000</a:t>
                      </a:r>
                      <a:endParaRPr lang="zh-CN" altLang="en-US" sz="2400" dirty="0"/>
                    </a:p>
                  </a:txBody>
                  <a:tcPr/>
                </a:tc>
                <a:tc>
                  <a:txBody>
                    <a:bodyPr/>
                    <a:lstStyle/>
                    <a:p>
                      <a:r>
                        <a:rPr lang="en-US" altLang="zh-CN" sz="2400" dirty="0"/>
                        <a:t>1200</a:t>
                      </a:r>
                      <a:endParaRPr lang="zh-CN" altLang="en-US" sz="2400" dirty="0"/>
                    </a:p>
                  </a:txBody>
                  <a:tcPr/>
                </a:tc>
              </a:tr>
              <a:tr h="370840">
                <a:tc>
                  <a:txBody>
                    <a:bodyPr/>
                    <a:lstStyle/>
                    <a:p>
                      <a:r>
                        <a:rPr lang="en-US" altLang="zh-CN" sz="2400" dirty="0"/>
                        <a:t>25</a:t>
                      </a:r>
                      <a:r>
                        <a:rPr lang="zh-CN" altLang="en-US" sz="2400" dirty="0"/>
                        <a:t>英寸</a:t>
                      </a:r>
                      <a:endParaRPr lang="zh-CN" altLang="en-US" sz="2400" dirty="0"/>
                    </a:p>
                  </a:txBody>
                  <a:tcPr/>
                </a:tc>
                <a:tc>
                  <a:txBody>
                    <a:bodyPr/>
                    <a:lstStyle/>
                    <a:p>
                      <a:r>
                        <a:rPr lang="en-US" altLang="zh-CN" sz="2400" dirty="0"/>
                        <a:t>1500</a:t>
                      </a:r>
                      <a:endParaRPr lang="zh-CN" altLang="en-US" sz="2400" dirty="0"/>
                    </a:p>
                  </a:txBody>
                  <a:tcPr/>
                </a:tc>
                <a:tc>
                  <a:txBody>
                    <a:bodyPr/>
                    <a:lstStyle/>
                    <a:p>
                      <a:r>
                        <a:rPr lang="en-US" altLang="zh-CN" sz="2400" dirty="0"/>
                        <a:t>1500</a:t>
                      </a:r>
                      <a:endParaRPr lang="zh-CN" altLang="en-US" sz="2400" dirty="0"/>
                    </a:p>
                  </a:txBody>
                  <a:tcPr/>
                </a:tc>
                <a:tc>
                  <a:txBody>
                    <a:bodyPr/>
                    <a:lstStyle/>
                    <a:p>
                      <a:r>
                        <a:rPr lang="en-US" altLang="zh-CN" sz="2400" dirty="0"/>
                        <a:t>1200</a:t>
                      </a:r>
                      <a:endParaRPr lang="zh-CN" altLang="en-US" sz="2400" dirty="0"/>
                    </a:p>
                  </a:txBody>
                  <a:tcPr/>
                </a:tc>
                <a:tc>
                  <a:txBody>
                    <a:bodyPr/>
                    <a:lstStyle/>
                    <a:p>
                      <a:r>
                        <a:rPr lang="en-US" altLang="zh-CN" sz="2400" dirty="0"/>
                        <a:t>1500</a:t>
                      </a:r>
                      <a:endParaRPr lang="zh-CN" altLang="en-US" sz="2400" dirty="0"/>
                    </a:p>
                  </a:txBody>
                  <a:tcPr/>
                </a:tc>
              </a:tr>
              <a:tr h="370840">
                <a:tc>
                  <a:txBody>
                    <a:bodyPr/>
                    <a:lstStyle/>
                    <a:p>
                      <a:r>
                        <a:rPr lang="en-US" altLang="zh-CN" sz="2400" dirty="0"/>
                        <a:t>29</a:t>
                      </a:r>
                      <a:r>
                        <a:rPr lang="zh-CN" altLang="en-US" sz="2400" dirty="0"/>
                        <a:t>英寸</a:t>
                      </a:r>
                      <a:endParaRPr lang="zh-CN" altLang="en-US" sz="2400" dirty="0"/>
                    </a:p>
                  </a:txBody>
                  <a:tcPr/>
                </a:tc>
                <a:tc>
                  <a:txBody>
                    <a:bodyPr/>
                    <a:lstStyle/>
                    <a:p>
                      <a:r>
                        <a:rPr lang="en-US" altLang="zh-CN" sz="2400" dirty="0"/>
                        <a:t>1000</a:t>
                      </a:r>
                      <a:endParaRPr lang="zh-CN" altLang="en-US" sz="2400" dirty="0"/>
                    </a:p>
                  </a:txBody>
                  <a:tcPr/>
                </a:tc>
                <a:tc>
                  <a:txBody>
                    <a:bodyPr/>
                    <a:lstStyle/>
                    <a:p>
                      <a:r>
                        <a:rPr lang="en-US" altLang="zh-CN" sz="2400" dirty="0"/>
                        <a:t>2000</a:t>
                      </a:r>
                      <a:endParaRPr lang="zh-CN" altLang="en-US" sz="2400" dirty="0"/>
                    </a:p>
                  </a:txBody>
                  <a:tcPr/>
                </a:tc>
                <a:tc>
                  <a:txBody>
                    <a:bodyPr/>
                    <a:lstStyle/>
                    <a:p>
                      <a:r>
                        <a:rPr lang="en-US" altLang="zh-CN" sz="2400" dirty="0"/>
                        <a:t>1500</a:t>
                      </a:r>
                      <a:endParaRPr lang="zh-CN" altLang="en-US" sz="2400" dirty="0"/>
                    </a:p>
                  </a:txBody>
                  <a:tcPr/>
                </a:tc>
                <a:tc>
                  <a:txBody>
                    <a:bodyPr/>
                    <a:lstStyle/>
                    <a:p>
                      <a:r>
                        <a:rPr lang="en-US" altLang="zh-CN" sz="2400" dirty="0"/>
                        <a:t>2500</a:t>
                      </a:r>
                      <a:endParaRPr lang="zh-CN" altLang="en-US" sz="2400" dirty="0"/>
                    </a:p>
                  </a:txBody>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12</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186921" cy="1938992"/>
            </a:xfrm>
            <a:prstGeom prst="rect">
              <a:avLst/>
            </a:prstGeom>
            <a:noFill/>
          </p:spPr>
          <p:txBody>
            <a:bodyPr wrap="square" rtlCol="0">
              <a:spAutoFit/>
            </a:bodyPr>
            <a:lstStyle/>
            <a:p>
              <a:r>
                <a:rPr lang="zh-CN" altLang="en-US" sz="2400" dirty="0"/>
                <a:t>某机加工车间有</a:t>
              </a:r>
              <a:r>
                <a:rPr lang="en-US" altLang="zh-CN" sz="2400" dirty="0"/>
                <a:t>5</a:t>
              </a:r>
              <a:r>
                <a:rPr lang="zh-CN" altLang="en-US" sz="2400" dirty="0"/>
                <a:t>台车床、</a:t>
              </a:r>
              <a:r>
                <a:rPr lang="en-US" altLang="zh-CN" sz="2400" dirty="0"/>
                <a:t>10</a:t>
              </a:r>
              <a:r>
                <a:rPr lang="zh-CN" altLang="en-US" sz="2400" dirty="0"/>
                <a:t>台磨床，</a:t>
              </a:r>
              <a:r>
                <a:rPr lang="en-US" altLang="zh-CN" sz="2400" dirty="0"/>
                <a:t>3</a:t>
              </a:r>
              <a:r>
                <a:rPr lang="zh-CN" altLang="en-US" sz="2400" dirty="0"/>
                <a:t>台钻床，</a:t>
              </a:r>
              <a:r>
                <a:rPr lang="en-US" altLang="zh-CN" sz="2400" dirty="0"/>
                <a:t>6</a:t>
              </a:r>
              <a:r>
                <a:rPr lang="zh-CN" altLang="en-US" sz="2400" dirty="0"/>
                <a:t>台铣床和</a:t>
              </a:r>
              <a:r>
                <a:rPr lang="en-US" altLang="zh-CN" sz="2400" dirty="0"/>
                <a:t>20</a:t>
              </a:r>
              <a:r>
                <a:rPr lang="zh-CN" altLang="en-US" sz="2400" dirty="0"/>
                <a:t>台冲床。现在生产某种产品每件加工分别需要车、磨、冲床各</a:t>
              </a:r>
              <a:r>
                <a:rPr lang="en-US" altLang="zh-CN" sz="2400" dirty="0"/>
                <a:t>0.5</a:t>
              </a:r>
              <a:r>
                <a:rPr lang="zh-CN" altLang="en-US" sz="2400" dirty="0"/>
                <a:t>、</a:t>
              </a:r>
              <a:r>
                <a:rPr lang="en-US" altLang="zh-CN" sz="2400" dirty="0"/>
                <a:t>0.3</a:t>
              </a:r>
              <a:r>
                <a:rPr lang="zh-CN" altLang="en-US" sz="2400" dirty="0"/>
                <a:t>和</a:t>
              </a:r>
              <a:r>
                <a:rPr lang="en-US" altLang="zh-CN" sz="2400" dirty="0"/>
                <a:t>0.5</a:t>
              </a:r>
              <a:r>
                <a:rPr lang="zh-CN" altLang="en-US" sz="2400" dirty="0"/>
                <a:t>小时；而生产另一种产品每件加工需要冲床、钻床、铣床和磨床分别为</a:t>
              </a:r>
              <a:r>
                <a:rPr lang="en-US" altLang="zh-CN" sz="2400" dirty="0"/>
                <a:t>0.8</a:t>
              </a:r>
              <a:r>
                <a:rPr lang="zh-CN" altLang="en-US" sz="2400" dirty="0"/>
                <a:t>、</a:t>
              </a:r>
              <a:r>
                <a:rPr lang="en-US" altLang="zh-CN" sz="2400" dirty="0"/>
                <a:t>0.1</a:t>
              </a:r>
              <a:r>
                <a:rPr lang="zh-CN" altLang="en-US" sz="2400" dirty="0"/>
                <a:t>、</a:t>
              </a:r>
              <a:r>
                <a:rPr lang="en-US" altLang="zh-CN" sz="2400" dirty="0"/>
                <a:t>0.3</a:t>
              </a:r>
              <a:r>
                <a:rPr lang="zh-CN" altLang="en-US" sz="2400" dirty="0"/>
                <a:t>和</a:t>
              </a:r>
              <a:r>
                <a:rPr lang="en-US" altLang="zh-CN" sz="2400" dirty="0"/>
                <a:t>0.5</a:t>
              </a:r>
              <a:r>
                <a:rPr lang="zh-CN" altLang="en-US" sz="2400" dirty="0"/>
                <a:t>小时。各机床都可以全天使用，如每天工作</a:t>
              </a:r>
              <a:r>
                <a:rPr lang="en-US" altLang="zh-CN" sz="2400" dirty="0"/>
                <a:t>8</a:t>
              </a:r>
              <a:r>
                <a:rPr lang="zh-CN" altLang="en-US" sz="2400" dirty="0"/>
                <a:t>小时，每月工作</a:t>
              </a:r>
              <a:r>
                <a:rPr lang="en-US" altLang="zh-CN" sz="2400" dirty="0"/>
                <a:t>25</a:t>
              </a:r>
              <a:r>
                <a:rPr lang="zh-CN" altLang="en-US" sz="2400" dirty="0"/>
                <a:t>天。试建立一个使两种产品每月产量最多的线性规划模型。</a:t>
              </a:r>
              <a:endParaRPr lang="zh-CN" altLang="en-US" sz="2400" dirty="0"/>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13</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582400" cy="2677656"/>
            </a:xfrm>
            <a:prstGeom prst="rect">
              <a:avLst/>
            </a:prstGeom>
            <a:noFill/>
          </p:spPr>
          <p:txBody>
            <a:bodyPr wrap="square" rtlCol="0">
              <a:spAutoFit/>
            </a:bodyPr>
            <a:lstStyle/>
            <a:p>
              <a:r>
                <a:rPr lang="zh-CN" altLang="en-US" sz="2400" dirty="0"/>
                <a:t>某投资公司在今年</a:t>
              </a:r>
              <a:r>
                <a:rPr lang="en-US" altLang="zh-CN" sz="2400" dirty="0"/>
                <a:t>5</a:t>
              </a:r>
              <a:r>
                <a:rPr lang="zh-CN" altLang="en-US" sz="2400" dirty="0"/>
                <a:t>月将考虑给下述</a:t>
              </a:r>
              <a:r>
                <a:rPr lang="en-US" altLang="zh-CN" sz="2400" dirty="0"/>
                <a:t>4</a:t>
              </a:r>
              <a:r>
                <a:rPr lang="zh-CN" altLang="en-US" sz="2400" dirty="0"/>
                <a:t>个项目投资，已知</a:t>
              </a:r>
              <a:endParaRPr lang="en-US" altLang="zh-CN" sz="2400" dirty="0"/>
            </a:p>
            <a:p>
              <a:r>
                <a:rPr lang="zh-CN" altLang="en-US" sz="2400" dirty="0"/>
                <a:t>项目一从第</a:t>
              </a:r>
              <a:r>
                <a:rPr lang="en-US" altLang="zh-CN" sz="2400" dirty="0"/>
                <a:t>1</a:t>
              </a:r>
              <a:r>
                <a:rPr lang="zh-CN" altLang="en-US" sz="2400" dirty="0"/>
                <a:t>年到第</a:t>
              </a:r>
              <a:r>
                <a:rPr lang="en-US" altLang="zh-CN" sz="2400" dirty="0"/>
                <a:t>3</a:t>
              </a:r>
              <a:r>
                <a:rPr lang="zh-CN" altLang="en-US" sz="2400" dirty="0"/>
                <a:t>年每年初需要投资，并当年投资第</a:t>
              </a:r>
              <a:r>
                <a:rPr lang="en-US" altLang="zh-CN" sz="2400" dirty="0"/>
                <a:t>3</a:t>
              </a:r>
              <a:r>
                <a:rPr lang="zh-CN" altLang="en-US" sz="2400" dirty="0"/>
                <a:t>年才回收本利</a:t>
              </a:r>
              <a:r>
                <a:rPr lang="en-US" altLang="zh-CN" sz="2400" dirty="0"/>
                <a:t>210%</a:t>
              </a:r>
              <a:endParaRPr lang="en-US" altLang="zh-CN" sz="2400" dirty="0"/>
            </a:p>
            <a:p>
              <a:r>
                <a:rPr lang="zh-CN" altLang="en-US" sz="2400" dirty="0"/>
                <a:t>项目二第</a:t>
              </a:r>
              <a:r>
                <a:rPr lang="en-US" altLang="zh-CN" sz="2400" dirty="0"/>
                <a:t>2</a:t>
              </a:r>
              <a:r>
                <a:rPr lang="zh-CN" altLang="en-US" sz="2400" dirty="0"/>
                <a:t>年初需要投资到第</a:t>
              </a:r>
              <a:r>
                <a:rPr lang="en-US" altLang="zh-CN" sz="2400" dirty="0"/>
                <a:t>5</a:t>
              </a:r>
              <a:r>
                <a:rPr lang="zh-CN" altLang="en-US" sz="2400" dirty="0"/>
                <a:t>年末回收本利</a:t>
              </a:r>
              <a:r>
                <a:rPr lang="en-US" altLang="zh-CN" sz="2400" dirty="0"/>
                <a:t>175%</a:t>
              </a:r>
              <a:r>
                <a:rPr lang="zh-CN" altLang="en-US" sz="2400" dirty="0"/>
                <a:t>，但规定最大投资额不超过</a:t>
              </a:r>
              <a:r>
                <a:rPr lang="en-US" altLang="zh-CN" sz="2400" dirty="0"/>
                <a:t>A</a:t>
              </a:r>
              <a:r>
                <a:rPr lang="zh-CN" altLang="en-US" sz="2400" dirty="0"/>
                <a:t>万元；项目三从第</a:t>
              </a:r>
              <a:r>
                <a:rPr lang="en-US" altLang="zh-CN" sz="2400" dirty="0"/>
                <a:t>3</a:t>
              </a:r>
              <a:r>
                <a:rPr lang="zh-CN" altLang="en-US" sz="2400" dirty="0"/>
                <a:t>年开始每年需要投资，于当年末回收本利</a:t>
              </a:r>
              <a:r>
                <a:rPr lang="en-US" altLang="zh-CN" sz="2400" dirty="0"/>
                <a:t>104%</a:t>
              </a:r>
              <a:endParaRPr lang="en-US" altLang="zh-CN" sz="2400" dirty="0"/>
            </a:p>
            <a:p>
              <a:r>
                <a:rPr lang="zh-CN" altLang="en-US" sz="2400" dirty="0"/>
                <a:t>项目四在</a:t>
              </a:r>
              <a:r>
                <a:rPr lang="en-US" altLang="zh-CN" sz="2400" dirty="0"/>
                <a:t>5</a:t>
              </a:r>
              <a:r>
                <a:rPr lang="zh-CN" altLang="en-US" sz="2400" dirty="0"/>
                <a:t>年内年初购买公债，于当年归还，加利息</a:t>
              </a:r>
              <a:r>
                <a:rPr lang="en-US" altLang="zh-CN" sz="2400" dirty="0"/>
                <a:t>5%</a:t>
              </a:r>
              <a:r>
                <a:rPr lang="zh-CN" altLang="en-US" sz="2400" dirty="0"/>
                <a:t>；</a:t>
              </a:r>
              <a:endParaRPr lang="en-US" altLang="zh-CN" sz="2400" dirty="0"/>
            </a:p>
            <a:p>
              <a:r>
                <a:rPr lang="zh-CN" altLang="en-US" sz="2400" dirty="0"/>
                <a:t>该投资公司现有资金</a:t>
              </a:r>
              <a:r>
                <a:rPr lang="en-US" altLang="zh-CN" sz="2400" dirty="0"/>
                <a:t>Q</a:t>
              </a:r>
              <a:r>
                <a:rPr lang="zh-CN" altLang="en-US" sz="2400" dirty="0"/>
                <a:t>万元，试问如如何对这些项目进行投资，使得在第</a:t>
              </a:r>
              <a:r>
                <a:rPr lang="en-US" altLang="zh-CN" sz="2400" dirty="0"/>
                <a:t>5</a:t>
              </a:r>
              <a:r>
                <a:rPr lang="zh-CN" altLang="en-US" sz="2400" dirty="0"/>
                <a:t>年末所得资金的本利总额最大？</a:t>
              </a:r>
              <a:endParaRPr lang="zh-CN" altLang="en-US" sz="2400" dirty="0"/>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14</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582400" cy="1938992"/>
            </a:xfrm>
            <a:prstGeom prst="rect">
              <a:avLst/>
            </a:prstGeom>
            <a:noFill/>
          </p:spPr>
          <p:txBody>
            <a:bodyPr wrap="square" rtlCol="0">
              <a:spAutoFit/>
            </a:bodyPr>
            <a:lstStyle/>
            <a:p>
              <a:r>
                <a:rPr lang="zh-CN" altLang="en-US" sz="2400" dirty="0"/>
                <a:t>某炼油厂从两种原油种提炼汽油、煤油和燃油，使用的轻质原油和重质原油每桶价格分别为</a:t>
              </a:r>
              <a:r>
                <a:rPr lang="en-US" altLang="zh-CN" sz="2400" dirty="0"/>
                <a:t>33</a:t>
              </a:r>
              <a:r>
                <a:rPr lang="zh-CN" altLang="en-US" sz="2400" dirty="0"/>
                <a:t>元和</a:t>
              </a:r>
              <a:r>
                <a:rPr lang="en-US" altLang="zh-CN" sz="2400" dirty="0"/>
                <a:t>27</a:t>
              </a:r>
              <a:r>
                <a:rPr lang="zh-CN" altLang="en-US" sz="2400" dirty="0"/>
                <a:t>元，每桶原油中可以提炼出的汽油、煤油和燃油量如下表所示。</a:t>
              </a:r>
              <a:endParaRPr lang="en-US" altLang="zh-CN" sz="2400" dirty="0"/>
            </a:p>
            <a:p>
              <a:r>
                <a:rPr lang="zh-CN" altLang="en-US" sz="2400" dirty="0"/>
                <a:t>在提炼过程中这两种原油要分别损失掉</a:t>
              </a:r>
              <a:r>
                <a:rPr lang="en-US" altLang="zh-CN" sz="2400" dirty="0"/>
                <a:t>5%</a:t>
              </a:r>
              <a:r>
                <a:rPr lang="zh-CN" altLang="en-US" sz="2400" dirty="0"/>
                <a:t>和</a:t>
              </a:r>
              <a:r>
                <a:rPr lang="en-US" altLang="zh-CN" sz="2400" dirty="0"/>
                <a:t>8%</a:t>
              </a:r>
              <a:r>
                <a:rPr lang="zh-CN" altLang="en-US" sz="2400" dirty="0"/>
                <a:t>，该炼油厂与用户订立的合同要保证供应</a:t>
              </a:r>
              <a:r>
                <a:rPr lang="en-US" altLang="zh-CN" sz="2400" dirty="0"/>
                <a:t>300</a:t>
              </a:r>
              <a:r>
                <a:rPr lang="zh-CN" altLang="en-US" sz="2400" dirty="0"/>
                <a:t>桶汽油、</a:t>
              </a:r>
              <a:r>
                <a:rPr lang="en-US" altLang="zh-CN" sz="2400" dirty="0"/>
                <a:t>400</a:t>
              </a:r>
              <a:r>
                <a:rPr lang="zh-CN" altLang="en-US" sz="2400" dirty="0"/>
                <a:t>桶煤油和</a:t>
              </a:r>
              <a:r>
                <a:rPr lang="en-US" altLang="zh-CN" sz="2400" dirty="0"/>
                <a:t>250</a:t>
              </a:r>
              <a:r>
                <a:rPr lang="zh-CN" altLang="en-US" sz="2400" dirty="0"/>
                <a:t>桶燃油。试确定这两种原油的订购数量，使得在保证供应量的前提下，成本最低。</a:t>
              </a:r>
              <a:endParaRPr lang="zh-CN" altLang="en-US" sz="2400" dirty="0"/>
            </a:p>
          </p:txBody>
        </p:sp>
      </p:grpSp>
      <p:graphicFrame>
        <p:nvGraphicFramePr>
          <p:cNvPr id="6" name="表格 6"/>
          <p:cNvGraphicFramePr>
            <a:graphicFrameLocks noGrp="1"/>
          </p:cNvGraphicFramePr>
          <p:nvPr/>
        </p:nvGraphicFramePr>
        <p:xfrm>
          <a:off x="861133" y="3092172"/>
          <a:ext cx="10777490" cy="2103120"/>
        </p:xfrm>
        <a:graphic>
          <a:graphicData uri="http://schemas.openxmlformats.org/drawingml/2006/table">
            <a:tbl>
              <a:tblPr firstRow="1" bandRow="1">
                <a:tableStyleId>{5C22544A-7EE6-4342-B048-85BDC9FD1C3A}</a:tableStyleId>
              </a:tblPr>
              <a:tblGrid>
                <a:gridCol w="2155498"/>
                <a:gridCol w="2155498"/>
                <a:gridCol w="2155498"/>
                <a:gridCol w="2155498"/>
                <a:gridCol w="2155498"/>
              </a:tblGrid>
              <a:tr h="370840">
                <a:tc>
                  <a:txBody>
                    <a:bodyPr/>
                    <a:lstStyle/>
                    <a:p>
                      <a:r>
                        <a:rPr lang="en-US" altLang="zh-CN" sz="2400" dirty="0"/>
                        <a:t>        </a:t>
                      </a:r>
                      <a:r>
                        <a:rPr lang="zh-CN" altLang="en-US" sz="2400" dirty="0"/>
                        <a:t>提炼油种</a:t>
                      </a:r>
                      <a:endParaRPr lang="en-US" altLang="zh-CN" sz="2400" dirty="0"/>
                    </a:p>
                    <a:p>
                      <a:endParaRPr lang="en-US" altLang="zh-CN" sz="2400" dirty="0"/>
                    </a:p>
                    <a:p>
                      <a:r>
                        <a:rPr lang="zh-CN" altLang="en-US" sz="2400" dirty="0"/>
                        <a:t>原油</a:t>
                      </a:r>
                      <a:endParaRPr lang="zh-CN" altLang="en-US" sz="2400" dirty="0"/>
                    </a:p>
                  </a:txBody>
                  <a:tcPr>
                    <a:lnTlToBr w="12700" cap="flat" cmpd="sng" algn="ctr">
                      <a:solidFill>
                        <a:schemeClr val="tx1"/>
                      </a:solidFill>
                      <a:prstDash val="solid"/>
                      <a:round/>
                      <a:headEnd type="none" w="med" len="med"/>
                      <a:tailEnd type="none" w="med" len="med"/>
                    </a:lnTlToBr>
                  </a:tcPr>
                </a:tc>
                <a:tc>
                  <a:txBody>
                    <a:bodyPr/>
                    <a:lstStyle/>
                    <a:p>
                      <a:r>
                        <a:rPr lang="zh-CN" altLang="en-US" sz="2400" dirty="0"/>
                        <a:t>汽油（</a:t>
                      </a:r>
                      <a:r>
                        <a:rPr lang="en-US" altLang="zh-CN" sz="2400" dirty="0"/>
                        <a:t>%</a:t>
                      </a:r>
                      <a:r>
                        <a:rPr lang="zh-CN" altLang="en-US" sz="2400" dirty="0"/>
                        <a:t>）</a:t>
                      </a:r>
                      <a:endParaRPr lang="zh-CN" altLang="en-US" sz="2400" dirty="0"/>
                    </a:p>
                  </a:txBody>
                  <a:tcPr/>
                </a:tc>
                <a:tc>
                  <a:txBody>
                    <a:bodyPr/>
                    <a:lstStyle/>
                    <a:p>
                      <a:r>
                        <a:rPr lang="zh-CN" altLang="en-US" sz="2400" dirty="0"/>
                        <a:t>煤油（</a:t>
                      </a:r>
                      <a:r>
                        <a:rPr lang="en-US" altLang="zh-CN" sz="2400" dirty="0"/>
                        <a:t>%</a:t>
                      </a:r>
                      <a:r>
                        <a:rPr lang="zh-CN" altLang="en-US" sz="2400" dirty="0"/>
                        <a:t>）</a:t>
                      </a:r>
                      <a:endParaRPr lang="zh-CN" altLang="en-US" sz="2400" dirty="0"/>
                    </a:p>
                  </a:txBody>
                  <a:tcPr/>
                </a:tc>
                <a:tc>
                  <a:txBody>
                    <a:bodyPr/>
                    <a:lstStyle/>
                    <a:p>
                      <a:r>
                        <a:rPr lang="zh-CN" altLang="en-US" sz="2400" dirty="0"/>
                        <a:t>燃油（</a:t>
                      </a:r>
                      <a:r>
                        <a:rPr lang="en-US" altLang="zh-CN" sz="2400" dirty="0"/>
                        <a:t>%</a:t>
                      </a:r>
                      <a:r>
                        <a:rPr lang="zh-CN" altLang="en-US" sz="2400" dirty="0"/>
                        <a:t>）</a:t>
                      </a:r>
                      <a:endParaRPr lang="zh-CN" altLang="en-US" sz="2400" dirty="0"/>
                    </a:p>
                  </a:txBody>
                  <a:tcPr/>
                </a:tc>
                <a:tc>
                  <a:txBody>
                    <a:bodyPr/>
                    <a:lstStyle/>
                    <a:p>
                      <a:r>
                        <a:rPr lang="zh-CN" altLang="en-US" sz="2400" dirty="0"/>
                        <a:t>价格</a:t>
                      </a:r>
                      <a:endParaRPr lang="zh-CN" altLang="en-US" sz="2400" dirty="0"/>
                    </a:p>
                  </a:txBody>
                  <a:tcPr/>
                </a:tc>
              </a:tr>
              <a:tr h="370840">
                <a:tc>
                  <a:txBody>
                    <a:bodyPr/>
                    <a:lstStyle/>
                    <a:p>
                      <a:r>
                        <a:rPr lang="zh-CN" altLang="en-US" sz="2400" dirty="0"/>
                        <a:t>轻质原油</a:t>
                      </a:r>
                      <a:endParaRPr lang="zh-CN" altLang="en-US" sz="2400" dirty="0"/>
                    </a:p>
                  </a:txBody>
                  <a:tcPr/>
                </a:tc>
                <a:tc>
                  <a:txBody>
                    <a:bodyPr/>
                    <a:lstStyle/>
                    <a:p>
                      <a:r>
                        <a:rPr lang="en-US" altLang="zh-CN" sz="2400" dirty="0"/>
                        <a:t>0.40</a:t>
                      </a:r>
                      <a:endParaRPr lang="zh-CN" altLang="en-US" sz="2400" dirty="0"/>
                    </a:p>
                  </a:txBody>
                  <a:tcPr/>
                </a:tc>
                <a:tc>
                  <a:txBody>
                    <a:bodyPr/>
                    <a:lstStyle/>
                    <a:p>
                      <a:r>
                        <a:rPr lang="en-US" altLang="zh-CN" sz="2400" dirty="0"/>
                        <a:t>0.20</a:t>
                      </a:r>
                      <a:endParaRPr lang="zh-CN" altLang="en-US" sz="2400" dirty="0"/>
                    </a:p>
                  </a:txBody>
                  <a:tcPr/>
                </a:tc>
                <a:tc>
                  <a:txBody>
                    <a:bodyPr/>
                    <a:lstStyle/>
                    <a:p>
                      <a:r>
                        <a:rPr lang="en-US" altLang="zh-CN" sz="2400" dirty="0"/>
                        <a:t>0.35</a:t>
                      </a:r>
                      <a:endParaRPr lang="zh-CN" altLang="en-US" sz="2400" dirty="0"/>
                    </a:p>
                  </a:txBody>
                  <a:tcPr/>
                </a:tc>
                <a:tc>
                  <a:txBody>
                    <a:bodyPr/>
                    <a:lstStyle/>
                    <a:p>
                      <a:r>
                        <a:rPr lang="en-US" altLang="zh-CN" sz="2400" dirty="0"/>
                        <a:t>33</a:t>
                      </a:r>
                      <a:endParaRPr lang="zh-CN" altLang="en-US" sz="2400" dirty="0"/>
                    </a:p>
                  </a:txBody>
                  <a:tcPr/>
                </a:tc>
              </a:tr>
              <a:tr h="370840">
                <a:tc>
                  <a:txBody>
                    <a:bodyPr/>
                    <a:lstStyle/>
                    <a:p>
                      <a:r>
                        <a:rPr lang="zh-CN" altLang="en-US" sz="2400" dirty="0"/>
                        <a:t>硬质原油</a:t>
                      </a:r>
                      <a:endParaRPr lang="zh-CN" altLang="en-US" sz="2400" dirty="0"/>
                    </a:p>
                  </a:txBody>
                  <a:tcPr/>
                </a:tc>
                <a:tc>
                  <a:txBody>
                    <a:bodyPr/>
                    <a:lstStyle/>
                    <a:p>
                      <a:r>
                        <a:rPr lang="en-US" altLang="zh-CN" sz="2400" dirty="0"/>
                        <a:t>0.32</a:t>
                      </a:r>
                      <a:endParaRPr lang="zh-CN" altLang="en-US" sz="2400" dirty="0"/>
                    </a:p>
                  </a:txBody>
                  <a:tcPr/>
                </a:tc>
                <a:tc>
                  <a:txBody>
                    <a:bodyPr/>
                    <a:lstStyle/>
                    <a:p>
                      <a:r>
                        <a:rPr lang="en-US" altLang="zh-CN" sz="2400" dirty="0"/>
                        <a:t>0.40</a:t>
                      </a:r>
                      <a:endParaRPr lang="zh-CN" altLang="en-US" sz="2400" dirty="0"/>
                    </a:p>
                  </a:txBody>
                  <a:tcPr/>
                </a:tc>
                <a:tc>
                  <a:txBody>
                    <a:bodyPr/>
                    <a:lstStyle/>
                    <a:p>
                      <a:r>
                        <a:rPr lang="en-US" altLang="zh-CN" sz="2400" dirty="0"/>
                        <a:t>0.20</a:t>
                      </a:r>
                      <a:endParaRPr lang="zh-CN" altLang="en-US" sz="2400" dirty="0"/>
                    </a:p>
                  </a:txBody>
                  <a:tcPr/>
                </a:tc>
                <a:tc>
                  <a:txBody>
                    <a:bodyPr/>
                    <a:lstStyle/>
                    <a:p>
                      <a:r>
                        <a:rPr lang="en-US" altLang="zh-CN" sz="2400" dirty="0"/>
                        <a:t>27</a:t>
                      </a:r>
                      <a:endParaRPr lang="zh-CN" altLang="en-US" sz="2400" dirty="0"/>
                    </a:p>
                  </a:txBody>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8857" y="149301"/>
            <a:ext cx="11821885" cy="523220"/>
          </a:xfrm>
          <a:prstGeom prst="rect">
            <a:avLst/>
          </a:prstGeom>
          <a:noFill/>
        </p:spPr>
        <p:txBody>
          <a:bodyPr wrap="square" rtlCol="0">
            <a:spAutoFit/>
          </a:bodyPr>
          <a:lstStyle/>
          <a:p>
            <a:r>
              <a:rPr lang="zh-CN" altLang="en-US" sz="2800" dirty="0"/>
              <a:t>练习</a:t>
            </a:r>
            <a:r>
              <a:rPr lang="en-US" altLang="zh-CN" sz="2800" dirty="0"/>
              <a:t>15</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文本框 3"/>
                <p:cNvSpPr txBox="1"/>
                <p:nvPr/>
              </p:nvSpPr>
              <p:spPr>
                <a:xfrm>
                  <a:off x="283029" y="957943"/>
                  <a:ext cx="11582400" cy="2397579"/>
                </a:xfrm>
                <a:prstGeom prst="rect">
                  <a:avLst/>
                </a:prstGeom>
                <a:noFill/>
              </p:spPr>
              <p:txBody>
                <a:bodyPr wrap="square" rtlCol="0">
                  <a:spAutoFit/>
                </a:bodyPr>
                <a:lstStyle/>
                <a:p>
                  <a:r>
                    <a:rPr lang="zh-CN" altLang="en-US" sz="2400" dirty="0"/>
                    <a:t>某企业有</a:t>
                  </a:r>
                  <a14:m>
                    <m:oMath xmlns:m="http://schemas.openxmlformats.org/officeDocument/2006/math">
                      <m:r>
                        <a:rPr lang="en-US" altLang="zh-CN" sz="2400" b="0" i="1" smtClean="0">
                          <a:latin typeface="Cambria Math" panose="02040503050406030204" pitchFamily="18" charset="0"/>
                        </a:rPr>
                        <m:t>𝑚</m:t>
                      </m:r>
                    </m:oMath>
                  </a14:m>
                  <a:r>
                    <a:rPr lang="zh-CN" altLang="en-US" sz="2400" dirty="0"/>
                    <a:t>类设备要生产</a:t>
                  </a:r>
                  <a14:m>
                    <m:oMath xmlns:m="http://schemas.openxmlformats.org/officeDocument/2006/math">
                      <m:r>
                        <a:rPr lang="en-US" altLang="zh-CN" sz="2400" b="0" i="1" smtClean="0">
                          <a:latin typeface="Cambria Math" panose="02040503050406030204" pitchFamily="18" charset="0"/>
                        </a:rPr>
                        <m:t>𝑛</m:t>
                      </m:r>
                    </m:oMath>
                  </a14:m>
                  <a:r>
                    <a:rPr lang="zh-CN" altLang="en-US" sz="2400" dirty="0"/>
                    <a:t>种产品，现考虑第一季度的生产计划按月分配。设</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𝑖𝑗</m:t>
                          </m:r>
                        </m:sub>
                      </m:sSub>
                    </m:oMath>
                  </a14:m>
                  <a:r>
                    <a:rPr lang="zh-CN" altLang="en-US" sz="2400" dirty="0"/>
                    <a:t>表示加工第</a:t>
                  </a:r>
                  <a14:m>
                    <m:oMath xmlns:m="http://schemas.openxmlformats.org/officeDocument/2006/math">
                      <m:r>
                        <a:rPr lang="en-US" altLang="zh-CN" sz="2400" b="0" i="1" smtClean="0">
                          <a:latin typeface="Cambria Math" panose="02040503050406030204" pitchFamily="18" charset="0"/>
                        </a:rPr>
                        <m:t>𝑗</m:t>
                      </m:r>
                    </m:oMath>
                  </a14:m>
                  <a:r>
                    <a:rPr lang="zh-CN" altLang="en-US" sz="2400" dirty="0"/>
                    <a:t>种产品需要的第</a:t>
                  </a:r>
                  <a14:m>
                    <m:oMath xmlns:m="http://schemas.openxmlformats.org/officeDocument/2006/math">
                      <m:r>
                        <a:rPr lang="en-US" altLang="zh-CN" sz="2400" b="0" i="1" smtClean="0">
                          <a:latin typeface="Cambria Math" panose="02040503050406030204" pitchFamily="18" charset="0"/>
                        </a:rPr>
                        <m:t>𝑖</m:t>
                      </m:r>
                    </m:oMath>
                  </a14:m>
                  <a:r>
                    <a:rPr lang="zh-CN" altLang="en-US" sz="2400" dirty="0"/>
                    <a:t>类设备的台时数（</a:t>
                  </a:r>
                  <a:r>
                    <a:rPr lang="en-US" altLang="zh-CN" sz="2400" dirty="0"/>
                    <a:t> </a:t>
                  </a:r>
                  <a14:m>
                    <m:oMath xmlns:m="http://schemas.openxmlformats.org/officeDocument/2006/math">
                      <m:r>
                        <a:rPr lang="en-US" altLang="zh-CN" sz="2400" i="1">
                          <a:latin typeface="Cambria Math" panose="02040503050406030204" pitchFamily="18" charset="0"/>
                        </a:rPr>
                        <m:t>𝑖</m:t>
                      </m:r>
                      <m:r>
                        <a:rPr lang="en-US" altLang="zh-CN" sz="2400" i="1">
                          <a:latin typeface="Cambria Math" panose="02040503050406030204" pitchFamily="18" charset="0"/>
                        </a:rPr>
                        <m:t> </m:t>
                      </m:r>
                    </m:oMath>
                  </a14:m>
                  <a:r>
                    <a:rPr lang="en-US" altLang="zh-CN" sz="2400" dirty="0"/>
                    <a:t>=1,2,…,m ; </a:t>
                  </a:r>
                  <a14:m>
                    <m:oMath xmlns:m="http://schemas.openxmlformats.org/officeDocument/2006/math">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m:t>
                      </m:r>
                      <m:r>
                        <a:rPr lang="en-US" altLang="zh-CN" sz="2400" i="1">
                          <a:latin typeface="Cambria Math" panose="02040503050406030204" pitchFamily="18" charset="0"/>
                        </a:rPr>
                        <m:t> </m:t>
                      </m:r>
                    </m:oMath>
                  </a14:m>
                  <a:r>
                    <a:rPr lang="zh-CN" altLang="en-US" sz="2400" dirty="0"/>
                    <a:t>）；</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𝑏</m:t>
                          </m:r>
                        </m:e>
                        <m:sub>
                          <m:r>
                            <a:rPr lang="en-US" altLang="zh-CN" sz="2400" b="0" i="1" smtClean="0">
                              <a:latin typeface="Cambria Math" panose="02040503050406030204" pitchFamily="18" charset="0"/>
                            </a:rPr>
                            <m:t>𝑖𝑘</m:t>
                          </m:r>
                        </m:sub>
                      </m:sSub>
                    </m:oMath>
                  </a14:m>
                  <a:r>
                    <a:rPr lang="zh-CN" altLang="en-US" sz="2400" dirty="0"/>
                    <a:t>表示第</a:t>
                  </a:r>
                  <a14:m>
                    <m:oMath xmlns:m="http://schemas.openxmlformats.org/officeDocument/2006/math">
                      <m:r>
                        <a:rPr lang="en-US" altLang="zh-CN" sz="2400" b="0" i="1" smtClean="0">
                          <a:latin typeface="Cambria Math" panose="02040503050406030204" pitchFamily="18" charset="0"/>
                        </a:rPr>
                        <m:t>𝑘</m:t>
                      </m:r>
                    </m:oMath>
                  </a14:m>
                  <a:r>
                    <a:rPr lang="zh-CN" altLang="en-US" sz="2400" dirty="0"/>
                    <a:t>月份（</a:t>
                  </a:r>
                  <a:r>
                    <a:rPr lang="en-US" altLang="zh-CN" sz="2400" dirty="0"/>
                    <a:t> </a:t>
                  </a:r>
                  <a14:m>
                    <m:oMath xmlns:m="http://schemas.openxmlformats.org/officeDocument/2006/math">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 </m:t>
                      </m:r>
                    </m:oMath>
                  </a14:m>
                  <a:r>
                    <a:rPr lang="zh-CN" altLang="en-US" sz="2400" dirty="0"/>
                    <a:t>）内第</a:t>
                  </a:r>
                  <a14:m>
                    <m:oMath xmlns:m="http://schemas.openxmlformats.org/officeDocument/2006/math">
                      <m:r>
                        <a:rPr lang="en-US" altLang="zh-CN" sz="2400" i="1">
                          <a:latin typeface="Cambria Math" panose="02040503050406030204" pitchFamily="18" charset="0"/>
                        </a:rPr>
                        <m:t>𝑖</m:t>
                      </m:r>
                    </m:oMath>
                  </a14:m>
                  <a:r>
                    <a:rPr lang="zh-CN" altLang="en-US" sz="2400" dirty="0"/>
                    <a:t>类设备的生产能力（单位：台时），</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𝑗𝑘</m:t>
                          </m:r>
                        </m:sub>
                      </m:sSub>
                    </m:oMath>
                  </a14:m>
                  <a:r>
                    <a:rPr lang="zh-CN" altLang="en-US" sz="2400" dirty="0"/>
                    <a:t>表示第</a:t>
                  </a:r>
                  <a14:m>
                    <m:oMath xmlns:m="http://schemas.openxmlformats.org/officeDocument/2006/math">
                      <m:r>
                        <a:rPr lang="en-US" altLang="zh-CN" sz="2400" b="0" i="1" smtClean="0">
                          <a:latin typeface="Cambria Math" panose="02040503050406030204" pitchFamily="18" charset="0"/>
                        </a:rPr>
                        <m:t>𝑘</m:t>
                      </m:r>
                    </m:oMath>
                  </a14:m>
                  <a:r>
                    <a:rPr lang="zh-CN" altLang="en-US" sz="2400" dirty="0"/>
                    <a:t>月份计划生产第</a:t>
                  </a:r>
                  <a14:m>
                    <m:oMath xmlns:m="http://schemas.openxmlformats.org/officeDocument/2006/math">
                      <m:r>
                        <a:rPr lang="en-US" altLang="zh-CN" sz="2400" b="0" i="1" smtClean="0">
                          <a:latin typeface="Cambria Math" panose="02040503050406030204" pitchFamily="18" charset="0"/>
                        </a:rPr>
                        <m:t>𝑗</m:t>
                      </m:r>
                    </m:oMath>
                  </a14:m>
                  <a:r>
                    <a:rPr lang="zh-CN" altLang="en-US" sz="2400" dirty="0"/>
                    <a:t>种产品的数量。已知第</a:t>
                  </a:r>
                  <a14:m>
                    <m:oMath xmlns:m="http://schemas.openxmlformats.org/officeDocument/2006/math">
                      <m:r>
                        <a:rPr lang="en-US" altLang="zh-CN" sz="2400" b="0" i="1" smtClean="0">
                          <a:latin typeface="Cambria Math" panose="02040503050406030204" pitchFamily="18" charset="0"/>
                        </a:rPr>
                        <m:t>𝑗</m:t>
                      </m:r>
                    </m:oMath>
                  </a14:m>
                  <a:r>
                    <a:rPr lang="zh-CN" altLang="en-US" sz="2400" dirty="0"/>
                    <a:t>种产品第一季度的计划产量是</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b="0" i="1" smtClean="0">
                              <a:latin typeface="Cambria Math" panose="02040503050406030204" pitchFamily="18" charset="0"/>
                            </a:rPr>
                            <m:t>𝑗</m:t>
                          </m:r>
                        </m:sub>
                      </m:sSub>
                    </m:oMath>
                  </a14:m>
                  <a:r>
                    <a:rPr lang="zh-CN" altLang="en-US" sz="2400" dirty="0"/>
                    <a:t>（</a:t>
                  </a:r>
                  <a:r>
                    <a:rPr lang="en-US" altLang="zh-CN" sz="2400" dirty="0"/>
                    <a:t> </a:t>
                  </a:r>
                  <a14:m>
                    <m:oMath xmlns:m="http://schemas.openxmlformats.org/officeDocument/2006/math">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m:t>
                      </m:r>
                      <m:r>
                        <a:rPr lang="en-US" altLang="zh-CN" sz="2400" i="1">
                          <a:latin typeface="Cambria Math" panose="02040503050406030204" pitchFamily="18" charset="0"/>
                        </a:rPr>
                        <m:t> </m:t>
                      </m:r>
                    </m:oMath>
                  </a14:m>
                  <a:r>
                    <a:rPr lang="zh-CN" altLang="en-US" sz="2400" dirty="0"/>
                    <a:t>）。若第</a:t>
                  </a:r>
                  <a:r>
                    <a:rPr lang="en-US" altLang="zh-CN" sz="2400" dirty="0"/>
                    <a:t>3</a:t>
                  </a:r>
                  <a:r>
                    <a:rPr lang="zh-CN" altLang="en-US" sz="2400" dirty="0"/>
                    <a:t>种和第</a:t>
                  </a:r>
                  <a:r>
                    <a:rPr lang="en-US" altLang="zh-CN" sz="2400" dirty="0"/>
                    <a:t>5</a:t>
                  </a:r>
                  <a:r>
                    <a:rPr lang="zh-CN" altLang="en-US" sz="2400" dirty="0"/>
                    <a:t>种产品在</a:t>
                  </a:r>
                  <a:r>
                    <a:rPr lang="en-US" altLang="zh-CN" sz="2400" dirty="0"/>
                    <a:t>2</a:t>
                  </a:r>
                  <a:r>
                    <a:rPr lang="zh-CN" altLang="en-US" sz="2400" dirty="0"/>
                    <a:t>月份才开始投产，而第</a:t>
                  </a:r>
                  <a:r>
                    <a:rPr lang="en-US" altLang="zh-CN" sz="2400" dirty="0"/>
                    <a:t>2</a:t>
                  </a:r>
                  <a:r>
                    <a:rPr lang="zh-CN" altLang="en-US" sz="2400" dirty="0"/>
                    <a:t>种产要求</a:t>
                  </a:r>
                  <a:r>
                    <a:rPr lang="en-US" altLang="zh-CN" sz="2400" dirty="0"/>
                    <a:t>2</a:t>
                  </a:r>
                  <a:r>
                    <a:rPr lang="zh-CN" altLang="en-US" sz="2400" dirty="0"/>
                    <a:t>月底以前必须完成该季度的计划。试建立第一季度各月的生产计划模型。</a:t>
                  </a:r>
                  <a:endParaRPr lang="zh-CN" altLang="en-US" sz="2400" dirty="0"/>
                </a:p>
              </p:txBody>
            </p:sp>
          </mc:Choice>
          <mc:Fallback>
            <p:sp>
              <p:nvSpPr>
                <p:cNvPr id="4" name="文本框 3"/>
                <p:cNvSpPr txBox="1">
                  <a:spLocks noRot="1" noChangeAspect="1" noMove="1" noResize="1" noEditPoints="1" noAdjustHandles="1" noChangeArrowheads="1" noChangeShapeType="1" noTextEdit="1"/>
                </p:cNvSpPr>
                <p:nvPr/>
              </p:nvSpPr>
              <p:spPr>
                <a:xfrm>
                  <a:off x="283029" y="957943"/>
                  <a:ext cx="11582400" cy="2397579"/>
                </a:xfrm>
                <a:prstGeom prst="rect">
                  <a:avLst/>
                </a:prstGeom>
                <a:blipFill rotWithShape="1">
                  <a:blip r:embed="rId1"/>
                </a:blipFill>
              </p:spPr>
              <p:txBody>
                <a:bodyPr/>
                <a:lstStyle/>
                <a:p>
                  <a:r>
                    <a:rPr lang="zh-CN" altLang="en-US">
                      <a:noFill/>
                    </a:rPr>
                    <a:t> </a:t>
                  </a:r>
                </a:p>
              </p:txBody>
            </p:sp>
          </mc:Fallback>
        </mc:AlternateContent>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16</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582400" cy="830997"/>
            </a:xfrm>
            <a:prstGeom prst="rect">
              <a:avLst/>
            </a:prstGeom>
            <a:noFill/>
          </p:spPr>
          <p:txBody>
            <a:bodyPr wrap="square" rtlCol="0">
              <a:spAutoFit/>
            </a:bodyPr>
            <a:lstStyle/>
            <a:p>
              <a:r>
                <a:rPr lang="zh-CN" altLang="en-US" sz="2400" dirty="0"/>
                <a:t>某家具厂要求做</a:t>
              </a:r>
              <a:r>
                <a:rPr lang="en-US" altLang="zh-CN" sz="2400" dirty="0"/>
                <a:t>60</a:t>
              </a:r>
              <a:r>
                <a:rPr lang="zh-CN" altLang="en-US" sz="2400" dirty="0"/>
                <a:t>套钢制家具，每套需用长</a:t>
              </a:r>
              <a:r>
                <a:rPr lang="en-US" altLang="zh-CN" sz="2400" dirty="0"/>
                <a:t>2.5m</a:t>
              </a:r>
              <a:r>
                <a:rPr lang="zh-CN" altLang="en-US" sz="2400" dirty="0"/>
                <a:t>和</a:t>
              </a:r>
              <a:r>
                <a:rPr lang="en-US" altLang="zh-CN" sz="2400" dirty="0"/>
                <a:t>1.2m</a:t>
              </a:r>
              <a:r>
                <a:rPr lang="zh-CN" altLang="en-US" sz="2400" dirty="0"/>
                <a:t>的圆钢各</a:t>
              </a:r>
              <a:r>
                <a:rPr lang="en-US" altLang="zh-CN" sz="2400" dirty="0"/>
                <a:t>1</a:t>
              </a:r>
              <a:r>
                <a:rPr lang="zh-CN" altLang="en-US" sz="2400" dirty="0"/>
                <a:t>根。已知每根原料长</a:t>
              </a:r>
              <a:r>
                <a:rPr lang="en-US" altLang="zh-CN" sz="2400" dirty="0"/>
                <a:t>5m</a:t>
              </a:r>
              <a:r>
                <a:rPr lang="zh-CN" altLang="en-US" sz="2400" dirty="0"/>
                <a:t>，试问如下下料，使得做成这</a:t>
              </a:r>
              <a:r>
                <a:rPr lang="en-US" altLang="zh-CN" sz="2400" dirty="0"/>
                <a:t>60</a:t>
              </a:r>
              <a:r>
                <a:rPr lang="zh-CN" altLang="en-US" sz="2400" dirty="0"/>
                <a:t>套钢制家具所用原材料最省？</a:t>
              </a:r>
              <a:endParaRPr lang="zh-CN" altLang="en-US" sz="2400" dirty="0"/>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17</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13554" cy="1569660"/>
            </a:xfrm>
            <a:prstGeom prst="rect">
              <a:avLst/>
            </a:prstGeom>
            <a:noFill/>
          </p:spPr>
          <p:txBody>
            <a:bodyPr wrap="square" rtlCol="0">
              <a:spAutoFit/>
            </a:bodyPr>
            <a:lstStyle/>
            <a:p>
              <a:r>
                <a:rPr lang="zh-CN" altLang="en-US" sz="2400" dirty="0"/>
                <a:t>一个面包师有</a:t>
              </a:r>
              <a:r>
                <a:rPr lang="en-US" altLang="zh-CN" sz="2400" dirty="0"/>
                <a:t>30</a:t>
              </a:r>
              <a:r>
                <a:rPr lang="zh-CN" altLang="en-US" sz="2400" dirty="0"/>
                <a:t>盎司面粉和</a:t>
              </a:r>
              <a:r>
                <a:rPr lang="en-US" altLang="zh-CN" sz="2400" dirty="0"/>
                <a:t>5</a:t>
              </a:r>
              <a:r>
                <a:rPr lang="zh-CN" altLang="en-US" sz="2400" dirty="0"/>
                <a:t>包发酵粉。烤制一块面包需要</a:t>
              </a:r>
              <a:r>
                <a:rPr lang="en-US" altLang="zh-CN" sz="2400" dirty="0"/>
                <a:t>5</a:t>
              </a:r>
              <a:r>
                <a:rPr lang="zh-CN" altLang="en-US" sz="2400" dirty="0"/>
                <a:t>盎司面粉和</a:t>
              </a:r>
              <a:r>
                <a:rPr lang="en-US" altLang="zh-CN" sz="2400" dirty="0"/>
                <a:t>1</a:t>
              </a:r>
              <a:r>
                <a:rPr lang="zh-CN" altLang="en-US" sz="2400" dirty="0"/>
                <a:t>包发酵粉。每块面包的售价是</a:t>
              </a:r>
              <a:r>
                <a:rPr lang="en-US" altLang="zh-CN" sz="2400" dirty="0"/>
                <a:t>30</a:t>
              </a:r>
              <a:r>
                <a:rPr lang="zh-CN" altLang="en-US" sz="2400" dirty="0"/>
                <a:t>美分。这个面包师可以</a:t>
              </a:r>
              <a:r>
                <a:rPr lang="en-US" altLang="zh-CN" sz="2400" dirty="0"/>
                <a:t>4</a:t>
              </a:r>
              <a:r>
                <a:rPr lang="zh-CN" altLang="en-US" sz="2400" dirty="0"/>
                <a:t>美分</a:t>
              </a:r>
              <a:r>
                <a:rPr lang="en-US" altLang="zh-CN" sz="2400" dirty="0"/>
                <a:t>/</a:t>
              </a:r>
              <a:r>
                <a:rPr lang="zh-CN" altLang="en-US" sz="2400" dirty="0"/>
                <a:t>盎司的价格另外购买面粉，或者以相同的价格出售剩余的面粉。</a:t>
              </a:r>
              <a:endParaRPr lang="en-US" altLang="zh-CN" sz="2400" dirty="0"/>
            </a:p>
            <a:p>
              <a:r>
                <a:rPr lang="zh-CN" altLang="en-US" sz="2400" dirty="0">
                  <a:solidFill>
                    <a:srgbClr val="060606"/>
                  </a:solidFill>
                </a:rPr>
                <a:t>试问可以怎样帮助这个面包师实现利润</a:t>
              </a:r>
              <a:r>
                <a:rPr lang="en-US" altLang="zh-CN" sz="2400" dirty="0">
                  <a:solidFill>
                    <a:srgbClr val="060606"/>
                  </a:solidFill>
                </a:rPr>
                <a:t>(</a:t>
              </a:r>
              <a:r>
                <a:rPr lang="zh-CN" altLang="en-US" sz="2400" dirty="0">
                  <a:solidFill>
                    <a:srgbClr val="060606"/>
                  </a:solidFill>
                </a:rPr>
                <a:t>收入</a:t>
              </a:r>
              <a:r>
                <a:rPr lang="en-US" altLang="zh-CN" sz="2400" dirty="0">
                  <a:solidFill>
                    <a:srgbClr val="060606"/>
                  </a:solidFill>
                </a:rPr>
                <a:t>-</a:t>
              </a:r>
              <a:r>
                <a:rPr lang="zh-CN" altLang="en-US" sz="2400" dirty="0">
                  <a:solidFill>
                    <a:srgbClr val="060606"/>
                  </a:solidFill>
                </a:rPr>
                <a:t>成本</a:t>
              </a:r>
              <a:r>
                <a:rPr lang="en-US" altLang="zh-CN" sz="2400" dirty="0">
                  <a:solidFill>
                    <a:srgbClr val="060606"/>
                  </a:solidFill>
                </a:rPr>
                <a:t>)</a:t>
              </a:r>
              <a:r>
                <a:rPr lang="zh-CN" altLang="en-US" sz="2400" dirty="0">
                  <a:solidFill>
                    <a:srgbClr val="060606"/>
                  </a:solidFill>
                </a:rPr>
                <a:t>最大化？</a:t>
              </a:r>
              <a:endParaRPr lang="zh-CN" altLang="zh-CN" sz="2400" dirty="0">
                <a:solidFill>
                  <a:srgbClr val="060606"/>
                </a:solidFill>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18</a:t>
            </a:r>
            <a:r>
              <a:rPr lang="zh-CN" altLang="en-US" sz="2800" dirty="0"/>
              <a:t>食油生产问题</a:t>
            </a:r>
            <a:r>
              <a:rPr lang="en-US" altLang="zh-CN" dirty="0"/>
              <a:t>[</a:t>
            </a:r>
            <a:r>
              <a:rPr lang="zh-CN" altLang="en-US" dirty="0"/>
              <a:t>从实际管理中简化而来的案例，说明先建模后计算的原因，建模的意义所在</a:t>
            </a:r>
            <a:r>
              <a:rPr lang="en-US" altLang="zh-CN" dirty="0"/>
              <a:t>]</a:t>
            </a:r>
            <a:endParaRPr lang="zh-CN" altLang="en-US" sz="2400" dirty="0"/>
          </a:p>
        </p:txBody>
      </p:sp>
      <p:grpSp>
        <p:nvGrpSpPr>
          <p:cNvPr id="5" name="组合 4"/>
          <p:cNvGrpSpPr/>
          <p:nvPr/>
        </p:nvGrpSpPr>
        <p:grpSpPr>
          <a:xfrm>
            <a:off x="108857" y="838200"/>
            <a:ext cx="11930743" cy="6252785"/>
            <a:chOff x="108857" y="838200"/>
            <a:chExt cx="11930743" cy="6252785"/>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23226" y="904676"/>
              <a:ext cx="11740509" cy="6186309"/>
            </a:xfrm>
            <a:prstGeom prst="rect">
              <a:avLst/>
            </a:prstGeom>
            <a:noFill/>
          </p:spPr>
          <p:txBody>
            <a:bodyPr wrap="square" rtlCol="0">
              <a:spAutoFit/>
            </a:bodyPr>
            <a:lstStyle/>
            <a:p>
              <a:r>
                <a:rPr lang="zh-CN" altLang="en-US" sz="2200" dirty="0">
                  <a:solidFill>
                    <a:srgbClr val="060606"/>
                  </a:solidFill>
                </a:rPr>
                <a:t>食油厂通过精炼两种硬质原料油和软质原料油，得到一种食油，以下简称产品油。硬质原料油来自</a:t>
              </a:r>
              <a:r>
                <a:rPr lang="en-US" altLang="zh-CN" sz="2200" dirty="0">
                  <a:solidFill>
                    <a:srgbClr val="060606"/>
                  </a:solidFill>
                </a:rPr>
                <a:t>2</a:t>
              </a:r>
              <a:r>
                <a:rPr lang="zh-CN" altLang="en-US" sz="2200" dirty="0">
                  <a:solidFill>
                    <a:srgbClr val="060606"/>
                  </a:solidFill>
                </a:rPr>
                <a:t>个产地：产地</a:t>
              </a:r>
              <a:r>
                <a:rPr lang="en-US" altLang="zh-CN" sz="2200" dirty="0">
                  <a:solidFill>
                    <a:srgbClr val="060606"/>
                  </a:solidFill>
                </a:rPr>
                <a:t>1</a:t>
              </a:r>
              <a:r>
                <a:rPr lang="zh-CN" altLang="en-US" sz="2200" dirty="0">
                  <a:solidFill>
                    <a:srgbClr val="060606"/>
                  </a:solidFill>
                </a:rPr>
                <a:t>和产地</a:t>
              </a:r>
              <a:r>
                <a:rPr lang="en-US" altLang="zh-CN" sz="2200" dirty="0">
                  <a:solidFill>
                    <a:srgbClr val="060606"/>
                  </a:solidFill>
                </a:rPr>
                <a:t>2</a:t>
              </a:r>
              <a:r>
                <a:rPr lang="zh-CN" altLang="en-US" sz="2200" dirty="0">
                  <a:solidFill>
                    <a:srgbClr val="060606"/>
                  </a:solidFill>
                </a:rPr>
                <a:t>；而软质原料油来自另外</a:t>
              </a:r>
              <a:r>
                <a:rPr lang="en-US" altLang="zh-CN" sz="2200" dirty="0">
                  <a:solidFill>
                    <a:srgbClr val="060606"/>
                  </a:solidFill>
                </a:rPr>
                <a:t>3</a:t>
              </a:r>
              <a:r>
                <a:rPr lang="zh-CN" altLang="en-US" sz="2200" dirty="0">
                  <a:solidFill>
                    <a:srgbClr val="060606"/>
                  </a:solidFill>
                </a:rPr>
                <a:t>个产地：产地</a:t>
              </a:r>
              <a:r>
                <a:rPr lang="en-US" altLang="zh-CN" sz="2200" dirty="0">
                  <a:solidFill>
                    <a:srgbClr val="060606"/>
                  </a:solidFill>
                </a:rPr>
                <a:t>3</a:t>
              </a:r>
              <a:r>
                <a:rPr lang="zh-CN" altLang="en-US" sz="2200" dirty="0">
                  <a:solidFill>
                    <a:srgbClr val="060606"/>
                  </a:solidFill>
                </a:rPr>
                <a:t>、产地</a:t>
              </a:r>
              <a:r>
                <a:rPr lang="en-US" altLang="zh-CN" sz="2200" dirty="0">
                  <a:solidFill>
                    <a:srgbClr val="060606"/>
                  </a:solidFill>
                </a:rPr>
                <a:t>4</a:t>
              </a:r>
              <a:r>
                <a:rPr lang="zh-CN" altLang="en-US" sz="2200" dirty="0">
                  <a:solidFill>
                    <a:srgbClr val="060606"/>
                  </a:solidFill>
                </a:rPr>
                <a:t>和产地</a:t>
              </a:r>
              <a:r>
                <a:rPr lang="en-US" altLang="zh-CN" sz="2200" dirty="0">
                  <a:solidFill>
                    <a:srgbClr val="060606"/>
                  </a:solidFill>
                </a:rPr>
                <a:t>5</a:t>
              </a:r>
              <a:r>
                <a:rPr lang="zh-CN" altLang="en-US" sz="2200" dirty="0">
                  <a:solidFill>
                    <a:srgbClr val="060606"/>
                  </a:solidFill>
                </a:rPr>
                <a:t>。根据预测，这</a:t>
              </a:r>
              <a:r>
                <a:rPr lang="en-US" altLang="zh-CN" sz="2200" dirty="0">
                  <a:solidFill>
                    <a:srgbClr val="060606"/>
                  </a:solidFill>
                </a:rPr>
                <a:t>5</a:t>
              </a:r>
              <a:r>
                <a:rPr lang="zh-CN" altLang="en-US" sz="2200" dirty="0">
                  <a:solidFill>
                    <a:srgbClr val="060606"/>
                  </a:solidFill>
                </a:rPr>
                <a:t>种原料油的价格（单位：元</a:t>
              </a:r>
              <a:r>
                <a:rPr lang="en-US" altLang="zh-CN" sz="2200" dirty="0">
                  <a:solidFill>
                    <a:srgbClr val="060606"/>
                  </a:solidFill>
                </a:rPr>
                <a:t>/</a:t>
              </a:r>
              <a:r>
                <a:rPr lang="zh-CN" altLang="en-US" sz="2200" dirty="0">
                  <a:solidFill>
                    <a:srgbClr val="060606"/>
                  </a:solidFill>
                </a:rPr>
                <a:t>吨）从一至六月份如表所示，产品油售价</a:t>
              </a:r>
              <a:r>
                <a:rPr lang="en-US" altLang="zh-CN" sz="2200" dirty="0">
                  <a:solidFill>
                    <a:srgbClr val="060606"/>
                  </a:solidFill>
                </a:rPr>
                <a:t>200</a:t>
              </a:r>
              <a:r>
                <a:rPr lang="zh-CN" altLang="en-US" sz="2200" dirty="0">
                  <a:solidFill>
                    <a:srgbClr val="060606"/>
                  </a:solidFill>
                </a:rPr>
                <a:t>元</a:t>
              </a:r>
              <a:r>
                <a:rPr lang="en-US" altLang="zh-CN" sz="2200" dirty="0">
                  <a:solidFill>
                    <a:srgbClr val="060606"/>
                  </a:solidFill>
                </a:rPr>
                <a:t>/</a:t>
              </a:r>
              <a:r>
                <a:rPr lang="zh-CN" altLang="en-US" sz="2200" dirty="0">
                  <a:solidFill>
                    <a:srgbClr val="060606"/>
                  </a:solidFill>
                </a:rPr>
                <a:t>吨。</a:t>
              </a:r>
              <a:endParaRPr lang="en-US" altLang="zh-CN" sz="2200" dirty="0">
                <a:solidFill>
                  <a:srgbClr val="060606"/>
                </a:solidFill>
              </a:endParaRPr>
            </a:p>
            <a:p>
              <a:r>
                <a:rPr lang="zh-CN" altLang="en-US" sz="2200" dirty="0">
                  <a:solidFill>
                    <a:srgbClr val="060606"/>
                  </a:solidFill>
                </a:rPr>
                <a:t>硬质油和软质油需要由不同的生产线来精炼。硬质油生</a:t>
              </a:r>
              <a:endParaRPr lang="en-US" altLang="zh-CN" sz="2200" dirty="0">
                <a:solidFill>
                  <a:srgbClr val="060606"/>
                </a:solidFill>
              </a:endParaRPr>
            </a:p>
            <a:p>
              <a:r>
                <a:rPr lang="zh-CN" altLang="en-US" sz="2200" dirty="0">
                  <a:solidFill>
                    <a:srgbClr val="060606"/>
                  </a:solidFill>
                </a:rPr>
                <a:t>产线每月最大处理能力为</a:t>
              </a:r>
              <a:r>
                <a:rPr lang="en-US" altLang="zh-CN" sz="2200" dirty="0">
                  <a:solidFill>
                    <a:srgbClr val="060606"/>
                  </a:solidFill>
                </a:rPr>
                <a:t>200</a:t>
              </a:r>
              <a:r>
                <a:rPr lang="zh-CN" altLang="en-US" sz="2200" dirty="0">
                  <a:solidFill>
                    <a:srgbClr val="060606"/>
                  </a:solidFill>
                </a:rPr>
                <a:t>吨，软质油生产线最大处</a:t>
              </a:r>
              <a:endParaRPr lang="en-US" altLang="zh-CN" sz="2200" dirty="0">
                <a:solidFill>
                  <a:srgbClr val="060606"/>
                </a:solidFill>
              </a:endParaRPr>
            </a:p>
            <a:p>
              <a:r>
                <a:rPr lang="zh-CN" altLang="en-US" sz="2200" dirty="0">
                  <a:solidFill>
                    <a:srgbClr val="060606"/>
                  </a:solidFill>
                </a:rPr>
                <a:t>理能力为</a:t>
              </a:r>
              <a:r>
                <a:rPr lang="en-US" altLang="zh-CN" sz="2200" dirty="0">
                  <a:solidFill>
                    <a:srgbClr val="060606"/>
                  </a:solidFill>
                </a:rPr>
                <a:t>250</a:t>
              </a:r>
              <a:r>
                <a:rPr lang="zh-CN" altLang="en-US" sz="2200" dirty="0">
                  <a:solidFill>
                    <a:srgbClr val="060606"/>
                  </a:solidFill>
                </a:rPr>
                <a:t>吨</a:t>
              </a:r>
              <a:r>
                <a:rPr lang="en-US" altLang="zh-CN" sz="2200" dirty="0">
                  <a:solidFill>
                    <a:srgbClr val="060606"/>
                  </a:solidFill>
                </a:rPr>
                <a:t>/</a:t>
              </a:r>
              <a:r>
                <a:rPr lang="zh-CN" altLang="en-US" sz="2200" dirty="0">
                  <a:solidFill>
                    <a:srgbClr val="060606"/>
                  </a:solidFill>
                </a:rPr>
                <a:t>月，五种原料油都备有储罐，每个储罐</a:t>
              </a:r>
              <a:endParaRPr lang="en-US" altLang="zh-CN" sz="2200" dirty="0">
                <a:solidFill>
                  <a:srgbClr val="060606"/>
                </a:solidFill>
              </a:endParaRPr>
            </a:p>
            <a:p>
              <a:r>
                <a:rPr lang="zh-CN" altLang="en-US" sz="2200" dirty="0">
                  <a:solidFill>
                    <a:srgbClr val="060606"/>
                  </a:solidFill>
                </a:rPr>
                <a:t>容量均为</a:t>
              </a:r>
              <a:r>
                <a:rPr lang="en-US" altLang="zh-CN" sz="2200" dirty="0">
                  <a:solidFill>
                    <a:srgbClr val="060606"/>
                  </a:solidFill>
                </a:rPr>
                <a:t>1000</a:t>
              </a:r>
              <a:r>
                <a:rPr lang="zh-CN" altLang="en-US" sz="2200" dirty="0">
                  <a:solidFill>
                    <a:srgbClr val="060606"/>
                  </a:solidFill>
                </a:rPr>
                <a:t>吨，每吨原料每月存储费用为</a:t>
              </a:r>
              <a:r>
                <a:rPr lang="en-US" altLang="zh-CN" sz="2200" dirty="0">
                  <a:solidFill>
                    <a:srgbClr val="060606"/>
                  </a:solidFill>
                </a:rPr>
                <a:t>5</a:t>
              </a:r>
              <a:r>
                <a:rPr lang="zh-CN" altLang="en-US" sz="2200" dirty="0">
                  <a:solidFill>
                    <a:srgbClr val="060606"/>
                  </a:solidFill>
                </a:rPr>
                <a:t>元，而各</a:t>
              </a:r>
              <a:endParaRPr lang="en-US" altLang="zh-CN" sz="2200" dirty="0">
                <a:solidFill>
                  <a:srgbClr val="060606"/>
                </a:solidFill>
              </a:endParaRPr>
            </a:p>
            <a:p>
              <a:r>
                <a:rPr lang="zh-CN" altLang="en-US" sz="2200" dirty="0">
                  <a:solidFill>
                    <a:srgbClr val="060606"/>
                  </a:solidFill>
                </a:rPr>
                <a:t>种精制油和产品无油罐可存储。精制的加工费可略去</a:t>
              </a:r>
              <a:endParaRPr lang="en-US" altLang="zh-CN" sz="2200" dirty="0">
                <a:solidFill>
                  <a:srgbClr val="060606"/>
                </a:solidFill>
              </a:endParaRPr>
            </a:p>
            <a:p>
              <a:r>
                <a:rPr lang="zh-CN" altLang="en-US" sz="2200" dirty="0">
                  <a:solidFill>
                    <a:srgbClr val="060606"/>
                  </a:solidFill>
                </a:rPr>
                <a:t>不计，产品销售没有任何问题。</a:t>
              </a:r>
              <a:endParaRPr lang="en-US" altLang="zh-CN" sz="2200" dirty="0">
                <a:solidFill>
                  <a:srgbClr val="060606"/>
                </a:solidFill>
              </a:endParaRPr>
            </a:p>
            <a:p>
              <a:r>
                <a:rPr lang="zh-CN" altLang="en-US" sz="2200" dirty="0">
                  <a:solidFill>
                    <a:srgbClr val="060606"/>
                  </a:solidFill>
                </a:rPr>
                <a:t>产品油的硬度有一定的技术要求，它取决于各种原料油</a:t>
              </a:r>
              <a:endParaRPr lang="en-US" altLang="zh-CN" sz="2200" dirty="0">
                <a:solidFill>
                  <a:srgbClr val="060606"/>
                </a:solidFill>
              </a:endParaRPr>
            </a:p>
            <a:p>
              <a:r>
                <a:rPr lang="zh-CN" altLang="en-US" sz="2200" dirty="0">
                  <a:solidFill>
                    <a:srgbClr val="060606"/>
                  </a:solidFill>
                </a:rPr>
                <a:t>的硬度以及混合比例。产品油的硬度与各种成分的硬度</a:t>
              </a:r>
              <a:endParaRPr lang="en-US" altLang="zh-CN" sz="2200" dirty="0">
                <a:solidFill>
                  <a:srgbClr val="060606"/>
                </a:solidFill>
              </a:endParaRPr>
            </a:p>
            <a:p>
              <a:r>
                <a:rPr lang="zh-CN" altLang="en-US" sz="2200" dirty="0">
                  <a:solidFill>
                    <a:srgbClr val="060606"/>
                  </a:solidFill>
                </a:rPr>
                <a:t>以及所占比例成线性关系。根据技术要求，产品油的</a:t>
              </a:r>
              <a:endParaRPr lang="en-US" altLang="zh-CN" sz="2200" dirty="0">
                <a:solidFill>
                  <a:srgbClr val="060606"/>
                </a:solidFill>
              </a:endParaRPr>
            </a:p>
            <a:p>
              <a:r>
                <a:rPr lang="zh-CN" altLang="en-US" sz="2200" dirty="0">
                  <a:solidFill>
                    <a:srgbClr val="060606"/>
                  </a:solidFill>
                </a:rPr>
                <a:t>硬度必须不小于</a:t>
              </a:r>
              <a:r>
                <a:rPr lang="en-US" altLang="zh-CN" sz="2200" dirty="0">
                  <a:solidFill>
                    <a:srgbClr val="060606"/>
                  </a:solidFill>
                </a:rPr>
                <a:t>3.0</a:t>
              </a:r>
              <a:r>
                <a:rPr lang="zh-CN" altLang="en-US" sz="2200" dirty="0">
                  <a:solidFill>
                    <a:srgbClr val="060606"/>
                  </a:solidFill>
                </a:rPr>
                <a:t>而不大于</a:t>
              </a:r>
              <a:r>
                <a:rPr lang="en-US" altLang="zh-CN" sz="2200" dirty="0">
                  <a:solidFill>
                    <a:srgbClr val="060606"/>
                  </a:solidFill>
                </a:rPr>
                <a:t>6.0</a:t>
              </a:r>
              <a:r>
                <a:rPr lang="zh-CN" altLang="en-US" sz="2200" dirty="0">
                  <a:solidFill>
                    <a:srgbClr val="060606"/>
                  </a:solidFill>
                </a:rPr>
                <a:t>。硬质</a:t>
              </a:r>
              <a:r>
                <a:rPr lang="en-US" altLang="zh-CN" sz="2200" dirty="0">
                  <a:solidFill>
                    <a:srgbClr val="060606"/>
                  </a:solidFill>
                </a:rPr>
                <a:t>1</a:t>
              </a:r>
              <a:r>
                <a:rPr lang="zh-CN" altLang="en-US" sz="2200" dirty="0">
                  <a:solidFill>
                    <a:srgbClr val="060606"/>
                  </a:solidFill>
                </a:rPr>
                <a:t>、硬质</a:t>
              </a:r>
              <a:r>
                <a:rPr lang="en-US" altLang="zh-CN" sz="2200" dirty="0">
                  <a:solidFill>
                    <a:srgbClr val="060606"/>
                  </a:solidFill>
                </a:rPr>
                <a:t>2</a:t>
              </a:r>
              <a:r>
                <a:rPr lang="zh-CN" altLang="en-US" sz="2200" dirty="0">
                  <a:solidFill>
                    <a:srgbClr val="060606"/>
                  </a:solidFill>
                </a:rPr>
                <a:t>、软质</a:t>
              </a:r>
              <a:r>
                <a:rPr lang="en-US" altLang="zh-CN" sz="2200" dirty="0">
                  <a:solidFill>
                    <a:srgbClr val="060606"/>
                  </a:solidFill>
                </a:rPr>
                <a:t>3</a:t>
              </a:r>
              <a:r>
                <a:rPr lang="zh-CN" altLang="en-US" sz="2200" dirty="0">
                  <a:solidFill>
                    <a:srgbClr val="060606"/>
                  </a:solidFill>
                </a:rPr>
                <a:t>、软质</a:t>
              </a:r>
              <a:r>
                <a:rPr lang="en-US" altLang="zh-CN" sz="2200" dirty="0">
                  <a:solidFill>
                    <a:srgbClr val="060606"/>
                  </a:solidFill>
                </a:rPr>
                <a:t>4</a:t>
              </a:r>
              <a:r>
                <a:rPr lang="zh-CN" altLang="en-US" sz="2200" dirty="0">
                  <a:solidFill>
                    <a:srgbClr val="060606"/>
                  </a:solidFill>
                </a:rPr>
                <a:t>、软质</a:t>
              </a:r>
              <a:r>
                <a:rPr lang="en-US" altLang="zh-CN" sz="2200" dirty="0">
                  <a:solidFill>
                    <a:srgbClr val="060606"/>
                  </a:solidFill>
                </a:rPr>
                <a:t>5</a:t>
              </a:r>
              <a:r>
                <a:rPr lang="zh-CN" altLang="en-US" sz="2200" dirty="0">
                  <a:solidFill>
                    <a:srgbClr val="060606"/>
                  </a:solidFill>
                </a:rPr>
                <a:t>等各种原料油的硬度为</a:t>
              </a:r>
              <a:r>
                <a:rPr lang="en-US" altLang="zh-CN" sz="2200" dirty="0">
                  <a:solidFill>
                    <a:srgbClr val="060606"/>
                  </a:solidFill>
                </a:rPr>
                <a:t>8.8</a:t>
              </a:r>
              <a:r>
                <a:rPr lang="zh-CN" altLang="en-US" sz="2200" dirty="0">
                  <a:solidFill>
                    <a:srgbClr val="060606"/>
                  </a:solidFill>
                </a:rPr>
                <a:t>、</a:t>
              </a:r>
              <a:r>
                <a:rPr lang="en-US" altLang="zh-CN" sz="2200" dirty="0">
                  <a:solidFill>
                    <a:srgbClr val="060606"/>
                  </a:solidFill>
                </a:rPr>
                <a:t>6.1</a:t>
              </a:r>
              <a:r>
                <a:rPr lang="zh-CN" altLang="en-US" sz="2200" dirty="0">
                  <a:solidFill>
                    <a:srgbClr val="060606"/>
                  </a:solidFill>
                </a:rPr>
                <a:t>、</a:t>
              </a:r>
              <a:r>
                <a:rPr lang="en-US" altLang="zh-CN" sz="2200" dirty="0">
                  <a:solidFill>
                    <a:srgbClr val="060606"/>
                  </a:solidFill>
                </a:rPr>
                <a:t>2.0</a:t>
              </a:r>
              <a:r>
                <a:rPr lang="zh-CN" altLang="en-US" sz="2200" dirty="0">
                  <a:solidFill>
                    <a:srgbClr val="060606"/>
                  </a:solidFill>
                </a:rPr>
                <a:t>、</a:t>
              </a:r>
              <a:r>
                <a:rPr lang="en-US" altLang="zh-CN" sz="2200" dirty="0">
                  <a:solidFill>
                    <a:srgbClr val="060606"/>
                  </a:solidFill>
                </a:rPr>
                <a:t>4.2</a:t>
              </a:r>
              <a:r>
                <a:rPr lang="zh-CN" altLang="en-US" sz="2200" dirty="0">
                  <a:solidFill>
                    <a:srgbClr val="060606"/>
                  </a:solidFill>
                </a:rPr>
                <a:t>、</a:t>
              </a:r>
              <a:r>
                <a:rPr lang="en-US" altLang="zh-CN" sz="2200" dirty="0">
                  <a:solidFill>
                    <a:srgbClr val="060606"/>
                  </a:solidFill>
                </a:rPr>
                <a:t>5.0</a:t>
              </a:r>
              <a:r>
                <a:rPr lang="zh-CN" altLang="en-US" sz="2200" dirty="0">
                  <a:solidFill>
                    <a:srgbClr val="060606"/>
                  </a:solidFill>
                </a:rPr>
                <a:t>，其中硬度单位是无量纲的，并且这里假定精制过程不会影响硬度。</a:t>
              </a:r>
              <a:endParaRPr lang="en-US" altLang="zh-CN" sz="2200" dirty="0">
                <a:solidFill>
                  <a:srgbClr val="060606"/>
                </a:solidFill>
              </a:endParaRPr>
            </a:p>
            <a:p>
              <a:r>
                <a:rPr lang="zh-CN" altLang="en-US" sz="2200" dirty="0">
                  <a:solidFill>
                    <a:srgbClr val="060606"/>
                  </a:solidFill>
                </a:rPr>
                <a:t>假设在一月初，每种原料油有</a:t>
              </a:r>
              <a:r>
                <a:rPr lang="en-US" altLang="zh-CN" sz="2200" dirty="0">
                  <a:solidFill>
                    <a:srgbClr val="060606"/>
                  </a:solidFill>
                </a:rPr>
                <a:t>500</a:t>
              </a:r>
              <a:r>
                <a:rPr lang="zh-CN" altLang="en-US" sz="2200" dirty="0">
                  <a:solidFill>
                    <a:srgbClr val="060606"/>
                  </a:solidFill>
                </a:rPr>
                <a:t>吨存储而要求在</a:t>
              </a:r>
              <a:r>
                <a:rPr lang="en-US" altLang="zh-CN" sz="2200" dirty="0">
                  <a:solidFill>
                    <a:srgbClr val="060606"/>
                  </a:solidFill>
                </a:rPr>
                <a:t>6</a:t>
              </a:r>
              <a:r>
                <a:rPr lang="zh-CN" altLang="en-US" sz="2200" dirty="0">
                  <a:solidFill>
                    <a:srgbClr val="060606"/>
                  </a:solidFill>
                </a:rPr>
                <a:t>月底仍然保持同样储备。</a:t>
              </a:r>
              <a:endParaRPr lang="en-US" altLang="zh-CN" sz="2200" dirty="0">
                <a:solidFill>
                  <a:srgbClr val="060606"/>
                </a:solidFill>
              </a:endParaRPr>
            </a:p>
            <a:p>
              <a:r>
                <a:rPr lang="zh-CN" altLang="en-US" sz="2200" dirty="0">
                  <a:solidFill>
                    <a:srgbClr val="060606"/>
                  </a:solidFill>
                </a:rPr>
                <a:t>现请根据表中预测的原油价格，编制逐月各种原料油采购量、耗用量及其库存量计划，使得本年内的利润最大</a:t>
              </a:r>
              <a:endParaRPr lang="en-US" altLang="zh-CN" sz="2200" dirty="0">
                <a:solidFill>
                  <a:srgbClr val="060606"/>
                </a:solidFill>
              </a:endParaRPr>
            </a:p>
            <a:p>
              <a:endParaRPr lang="zh-CN" altLang="zh-CN" sz="2200" dirty="0">
                <a:solidFill>
                  <a:srgbClr val="060606"/>
                </a:solidFill>
              </a:endParaRPr>
            </a:p>
          </p:txBody>
        </p:sp>
      </p:grpSp>
      <p:graphicFrame>
        <p:nvGraphicFramePr>
          <p:cNvPr id="6" name="表格 6"/>
          <p:cNvGraphicFramePr>
            <a:graphicFrameLocks noGrp="1"/>
          </p:cNvGraphicFramePr>
          <p:nvPr/>
        </p:nvGraphicFramePr>
        <p:xfrm>
          <a:off x="7039989" y="2148973"/>
          <a:ext cx="4851156" cy="2595880"/>
        </p:xfrm>
        <a:graphic>
          <a:graphicData uri="http://schemas.openxmlformats.org/drawingml/2006/table">
            <a:tbl>
              <a:tblPr firstRow="1" bandRow="1">
                <a:tableStyleId>{5C22544A-7EE6-4342-B048-85BDC9FD1C3A}</a:tableStyleId>
              </a:tblPr>
              <a:tblGrid>
                <a:gridCol w="808526"/>
                <a:gridCol w="808526"/>
                <a:gridCol w="808526"/>
                <a:gridCol w="808526"/>
                <a:gridCol w="808526"/>
                <a:gridCol w="808526"/>
              </a:tblGrid>
              <a:tr h="370840">
                <a:tc>
                  <a:txBody>
                    <a:bodyPr/>
                    <a:lstStyle/>
                    <a:p>
                      <a:endParaRPr lang="zh-CN" altLang="en-US" dirty="0"/>
                    </a:p>
                  </a:txBody>
                  <a:tcPr/>
                </a:tc>
                <a:tc>
                  <a:txBody>
                    <a:bodyPr/>
                    <a:lstStyle/>
                    <a:p>
                      <a:r>
                        <a:rPr lang="zh-CN" altLang="en-US" dirty="0"/>
                        <a:t>硬质</a:t>
                      </a:r>
                      <a:r>
                        <a:rPr lang="en-US" altLang="zh-CN" dirty="0"/>
                        <a:t>1</a:t>
                      </a:r>
                      <a:endParaRPr lang="zh-CN" altLang="en-US" dirty="0"/>
                    </a:p>
                  </a:txBody>
                  <a:tcPr/>
                </a:tc>
                <a:tc>
                  <a:txBody>
                    <a:bodyPr/>
                    <a:lstStyle/>
                    <a:p>
                      <a:r>
                        <a:rPr lang="zh-CN" altLang="en-US" dirty="0"/>
                        <a:t>硬质</a:t>
                      </a:r>
                      <a:r>
                        <a:rPr lang="en-US" altLang="zh-CN" dirty="0"/>
                        <a:t>2</a:t>
                      </a:r>
                      <a:endParaRPr lang="zh-CN" altLang="en-US" dirty="0"/>
                    </a:p>
                  </a:txBody>
                  <a:tcPr/>
                </a:tc>
                <a:tc>
                  <a:txBody>
                    <a:bodyPr/>
                    <a:lstStyle/>
                    <a:p>
                      <a:r>
                        <a:rPr lang="zh-CN" altLang="en-US" dirty="0"/>
                        <a:t>软质</a:t>
                      </a:r>
                      <a:r>
                        <a:rPr lang="en-US" altLang="zh-CN" dirty="0"/>
                        <a:t>3</a:t>
                      </a:r>
                      <a:endParaRPr lang="zh-CN" altLang="en-US" dirty="0"/>
                    </a:p>
                  </a:txBody>
                  <a:tcPr/>
                </a:tc>
                <a:tc>
                  <a:txBody>
                    <a:bodyPr/>
                    <a:lstStyle/>
                    <a:p>
                      <a:r>
                        <a:rPr lang="zh-CN" altLang="en-US" dirty="0"/>
                        <a:t>软质</a:t>
                      </a:r>
                      <a:r>
                        <a:rPr lang="en-US" altLang="zh-CN" dirty="0"/>
                        <a:t>4</a:t>
                      </a:r>
                      <a:endParaRPr lang="zh-CN" altLang="en-US" dirty="0"/>
                    </a:p>
                  </a:txBody>
                  <a:tcPr/>
                </a:tc>
                <a:tc>
                  <a:txBody>
                    <a:bodyPr/>
                    <a:lstStyle/>
                    <a:p>
                      <a:r>
                        <a:rPr lang="zh-CN" altLang="en-US" dirty="0"/>
                        <a:t>软质</a:t>
                      </a:r>
                      <a:r>
                        <a:rPr lang="en-US" altLang="zh-CN" dirty="0"/>
                        <a:t>5</a:t>
                      </a:r>
                      <a:endParaRPr lang="zh-CN" altLang="en-US" dirty="0"/>
                    </a:p>
                  </a:txBody>
                  <a:tcPr/>
                </a:tc>
              </a:tr>
              <a:tr h="370840">
                <a:tc>
                  <a:txBody>
                    <a:bodyPr/>
                    <a:lstStyle/>
                    <a:p>
                      <a:r>
                        <a:rPr lang="en-US" altLang="zh-CN" dirty="0"/>
                        <a:t>1</a:t>
                      </a:r>
                      <a:r>
                        <a:rPr lang="zh-CN" altLang="en-US" dirty="0"/>
                        <a:t>月</a:t>
                      </a:r>
                      <a:endParaRPr lang="zh-CN" altLang="en-US" dirty="0"/>
                    </a:p>
                  </a:txBody>
                  <a:tcPr/>
                </a:tc>
                <a:tc>
                  <a:txBody>
                    <a:bodyPr/>
                    <a:lstStyle/>
                    <a:p>
                      <a:r>
                        <a:rPr lang="en-US" altLang="zh-CN" dirty="0"/>
                        <a:t>110</a:t>
                      </a:r>
                      <a:endParaRPr lang="zh-CN" altLang="en-US" dirty="0"/>
                    </a:p>
                  </a:txBody>
                  <a:tcPr/>
                </a:tc>
                <a:tc>
                  <a:txBody>
                    <a:bodyPr/>
                    <a:lstStyle/>
                    <a:p>
                      <a:r>
                        <a:rPr lang="en-US" altLang="zh-CN" dirty="0"/>
                        <a:t>120</a:t>
                      </a:r>
                      <a:endParaRPr lang="zh-CN" altLang="en-US" dirty="0"/>
                    </a:p>
                  </a:txBody>
                  <a:tcPr/>
                </a:tc>
                <a:tc>
                  <a:txBody>
                    <a:bodyPr/>
                    <a:lstStyle/>
                    <a:p>
                      <a:r>
                        <a:rPr lang="en-US" altLang="zh-CN" dirty="0"/>
                        <a:t>130</a:t>
                      </a:r>
                      <a:endParaRPr lang="zh-CN" altLang="en-US" dirty="0"/>
                    </a:p>
                  </a:txBody>
                  <a:tcPr/>
                </a:tc>
                <a:tc>
                  <a:txBody>
                    <a:bodyPr/>
                    <a:lstStyle/>
                    <a:p>
                      <a:r>
                        <a:rPr lang="en-US" altLang="zh-CN" dirty="0"/>
                        <a:t>110</a:t>
                      </a:r>
                      <a:endParaRPr lang="zh-CN" altLang="en-US" dirty="0"/>
                    </a:p>
                  </a:txBody>
                  <a:tcPr/>
                </a:tc>
                <a:tc>
                  <a:txBody>
                    <a:bodyPr/>
                    <a:lstStyle/>
                    <a:p>
                      <a:r>
                        <a:rPr lang="en-US" altLang="zh-CN" dirty="0"/>
                        <a:t>115</a:t>
                      </a:r>
                      <a:endParaRPr lang="zh-CN" altLang="en-US" dirty="0"/>
                    </a:p>
                  </a:txBody>
                  <a:tcPr/>
                </a:tc>
              </a:tr>
              <a:tr h="370840">
                <a:tc>
                  <a:txBody>
                    <a:bodyPr/>
                    <a:lstStyle/>
                    <a:p>
                      <a:r>
                        <a:rPr lang="en-US" altLang="zh-CN" dirty="0"/>
                        <a:t>2</a:t>
                      </a:r>
                      <a:r>
                        <a:rPr lang="zh-CN" altLang="en-US" dirty="0"/>
                        <a:t>月</a:t>
                      </a:r>
                      <a:endParaRPr lang="zh-CN" altLang="en-US" dirty="0"/>
                    </a:p>
                  </a:txBody>
                  <a:tcPr/>
                </a:tc>
                <a:tc>
                  <a:txBody>
                    <a:bodyPr/>
                    <a:lstStyle/>
                    <a:p>
                      <a:r>
                        <a:rPr lang="en-US" altLang="zh-CN" dirty="0"/>
                        <a:t>130</a:t>
                      </a:r>
                      <a:endParaRPr lang="zh-CN" altLang="en-US" dirty="0"/>
                    </a:p>
                  </a:txBody>
                  <a:tcPr/>
                </a:tc>
                <a:tc>
                  <a:txBody>
                    <a:bodyPr/>
                    <a:lstStyle/>
                    <a:p>
                      <a:r>
                        <a:rPr lang="en-US" altLang="zh-CN" dirty="0"/>
                        <a:t>130</a:t>
                      </a:r>
                      <a:endParaRPr lang="zh-CN" altLang="en-US" dirty="0"/>
                    </a:p>
                  </a:txBody>
                  <a:tcPr/>
                </a:tc>
                <a:tc>
                  <a:txBody>
                    <a:bodyPr/>
                    <a:lstStyle/>
                    <a:p>
                      <a:r>
                        <a:rPr lang="en-US" altLang="zh-CN" dirty="0"/>
                        <a:t>110</a:t>
                      </a:r>
                      <a:endParaRPr lang="zh-CN" altLang="en-US" dirty="0"/>
                    </a:p>
                  </a:txBody>
                  <a:tcPr/>
                </a:tc>
                <a:tc>
                  <a:txBody>
                    <a:bodyPr/>
                    <a:lstStyle/>
                    <a:p>
                      <a:r>
                        <a:rPr lang="en-US" altLang="zh-CN" dirty="0"/>
                        <a:t>90</a:t>
                      </a:r>
                      <a:endParaRPr lang="zh-CN" altLang="en-US" dirty="0"/>
                    </a:p>
                  </a:txBody>
                  <a:tcPr/>
                </a:tc>
                <a:tc>
                  <a:txBody>
                    <a:bodyPr/>
                    <a:lstStyle/>
                    <a:p>
                      <a:r>
                        <a:rPr lang="en-US" altLang="zh-CN" dirty="0"/>
                        <a:t>115</a:t>
                      </a:r>
                      <a:endParaRPr lang="zh-CN" altLang="en-US" dirty="0"/>
                    </a:p>
                  </a:txBody>
                  <a:tcPr/>
                </a:tc>
              </a:tr>
              <a:tr h="370840">
                <a:tc>
                  <a:txBody>
                    <a:bodyPr/>
                    <a:lstStyle/>
                    <a:p>
                      <a:r>
                        <a:rPr lang="en-US" altLang="zh-CN" dirty="0"/>
                        <a:t>3</a:t>
                      </a:r>
                      <a:r>
                        <a:rPr lang="zh-CN" altLang="en-US" dirty="0"/>
                        <a:t>月</a:t>
                      </a:r>
                      <a:endParaRPr lang="zh-CN" altLang="en-US" dirty="0"/>
                    </a:p>
                  </a:txBody>
                  <a:tcPr/>
                </a:tc>
                <a:tc>
                  <a:txBody>
                    <a:bodyPr/>
                    <a:lstStyle/>
                    <a:p>
                      <a:r>
                        <a:rPr lang="en-US" altLang="zh-CN" dirty="0"/>
                        <a:t>110</a:t>
                      </a:r>
                      <a:endParaRPr lang="zh-CN" altLang="en-US" dirty="0"/>
                    </a:p>
                  </a:txBody>
                  <a:tcPr/>
                </a:tc>
                <a:tc>
                  <a:txBody>
                    <a:bodyPr/>
                    <a:lstStyle/>
                    <a:p>
                      <a:r>
                        <a:rPr lang="en-US" altLang="zh-CN" dirty="0"/>
                        <a:t>140</a:t>
                      </a:r>
                      <a:endParaRPr lang="zh-CN" altLang="en-US" dirty="0"/>
                    </a:p>
                  </a:txBody>
                  <a:tcPr/>
                </a:tc>
                <a:tc>
                  <a:txBody>
                    <a:bodyPr/>
                    <a:lstStyle/>
                    <a:p>
                      <a:r>
                        <a:rPr lang="en-US" altLang="zh-CN" dirty="0"/>
                        <a:t>130</a:t>
                      </a:r>
                      <a:endParaRPr lang="zh-CN" altLang="en-US" dirty="0"/>
                    </a:p>
                  </a:txBody>
                  <a:tcPr/>
                </a:tc>
                <a:tc>
                  <a:txBody>
                    <a:bodyPr/>
                    <a:lstStyle/>
                    <a:p>
                      <a:r>
                        <a:rPr lang="en-US" altLang="zh-CN" dirty="0"/>
                        <a:t>100</a:t>
                      </a:r>
                      <a:endParaRPr lang="zh-CN" altLang="en-US" dirty="0"/>
                    </a:p>
                  </a:txBody>
                  <a:tcPr/>
                </a:tc>
                <a:tc>
                  <a:txBody>
                    <a:bodyPr/>
                    <a:lstStyle/>
                    <a:p>
                      <a:r>
                        <a:rPr lang="en-US" altLang="zh-CN" dirty="0"/>
                        <a:t>95</a:t>
                      </a:r>
                      <a:endParaRPr lang="zh-CN" altLang="en-US" dirty="0"/>
                    </a:p>
                  </a:txBody>
                  <a:tcPr/>
                </a:tc>
              </a:tr>
              <a:tr h="370840">
                <a:tc>
                  <a:txBody>
                    <a:bodyPr/>
                    <a:lstStyle/>
                    <a:p>
                      <a:r>
                        <a:rPr lang="en-US" altLang="zh-CN" dirty="0"/>
                        <a:t>4</a:t>
                      </a:r>
                      <a:r>
                        <a:rPr lang="zh-CN" altLang="en-US" dirty="0"/>
                        <a:t>月</a:t>
                      </a:r>
                      <a:endParaRPr lang="zh-CN" altLang="en-US" dirty="0"/>
                    </a:p>
                  </a:txBody>
                  <a:tcPr/>
                </a:tc>
                <a:tc>
                  <a:txBody>
                    <a:bodyPr/>
                    <a:lstStyle/>
                    <a:p>
                      <a:r>
                        <a:rPr lang="en-US" altLang="zh-CN" dirty="0"/>
                        <a:t>120</a:t>
                      </a:r>
                      <a:endParaRPr lang="zh-CN" altLang="en-US" dirty="0"/>
                    </a:p>
                  </a:txBody>
                  <a:tcPr/>
                </a:tc>
                <a:tc>
                  <a:txBody>
                    <a:bodyPr/>
                    <a:lstStyle/>
                    <a:p>
                      <a:r>
                        <a:rPr lang="en-US" altLang="zh-CN" dirty="0"/>
                        <a:t>110</a:t>
                      </a:r>
                      <a:endParaRPr lang="zh-CN" altLang="en-US" dirty="0"/>
                    </a:p>
                  </a:txBody>
                  <a:tcPr/>
                </a:tc>
                <a:tc>
                  <a:txBody>
                    <a:bodyPr/>
                    <a:lstStyle/>
                    <a:p>
                      <a:r>
                        <a:rPr lang="en-US" altLang="zh-CN" dirty="0"/>
                        <a:t>120</a:t>
                      </a:r>
                      <a:endParaRPr lang="zh-CN" altLang="en-US" dirty="0"/>
                    </a:p>
                  </a:txBody>
                  <a:tcPr/>
                </a:tc>
                <a:tc>
                  <a:txBody>
                    <a:bodyPr/>
                    <a:lstStyle/>
                    <a:p>
                      <a:r>
                        <a:rPr lang="en-US" altLang="zh-CN" dirty="0"/>
                        <a:t>120</a:t>
                      </a:r>
                      <a:endParaRPr lang="zh-CN" altLang="en-US" dirty="0"/>
                    </a:p>
                  </a:txBody>
                  <a:tcPr/>
                </a:tc>
                <a:tc>
                  <a:txBody>
                    <a:bodyPr/>
                    <a:lstStyle/>
                    <a:p>
                      <a:r>
                        <a:rPr lang="en-US" altLang="zh-CN" dirty="0"/>
                        <a:t>125</a:t>
                      </a:r>
                      <a:endParaRPr lang="zh-CN" altLang="en-US" dirty="0"/>
                    </a:p>
                  </a:txBody>
                  <a:tcPr/>
                </a:tc>
              </a:tr>
              <a:tr h="370840">
                <a:tc>
                  <a:txBody>
                    <a:bodyPr/>
                    <a:lstStyle/>
                    <a:p>
                      <a:r>
                        <a:rPr lang="en-US" altLang="zh-CN" dirty="0"/>
                        <a:t>5</a:t>
                      </a:r>
                      <a:r>
                        <a:rPr lang="zh-CN" altLang="en-US" dirty="0"/>
                        <a:t>月</a:t>
                      </a:r>
                      <a:endParaRPr lang="zh-CN" altLang="en-US" dirty="0"/>
                    </a:p>
                  </a:txBody>
                  <a:tcPr/>
                </a:tc>
                <a:tc>
                  <a:txBody>
                    <a:bodyPr/>
                    <a:lstStyle/>
                    <a:p>
                      <a:r>
                        <a:rPr lang="en-US" altLang="zh-CN" dirty="0"/>
                        <a:t>100</a:t>
                      </a:r>
                      <a:endParaRPr lang="zh-CN" altLang="en-US" dirty="0"/>
                    </a:p>
                  </a:txBody>
                  <a:tcPr/>
                </a:tc>
                <a:tc>
                  <a:txBody>
                    <a:bodyPr/>
                    <a:lstStyle/>
                    <a:p>
                      <a:r>
                        <a:rPr lang="en-US" altLang="zh-CN" dirty="0"/>
                        <a:t>120</a:t>
                      </a:r>
                      <a:endParaRPr lang="zh-CN" altLang="en-US" dirty="0"/>
                    </a:p>
                  </a:txBody>
                  <a:tcPr/>
                </a:tc>
                <a:tc>
                  <a:txBody>
                    <a:bodyPr/>
                    <a:lstStyle/>
                    <a:p>
                      <a:r>
                        <a:rPr lang="en-US" altLang="zh-CN" dirty="0"/>
                        <a:t>150</a:t>
                      </a:r>
                      <a:endParaRPr lang="zh-CN" altLang="en-US" dirty="0"/>
                    </a:p>
                  </a:txBody>
                  <a:tcPr/>
                </a:tc>
                <a:tc>
                  <a:txBody>
                    <a:bodyPr/>
                    <a:lstStyle/>
                    <a:p>
                      <a:r>
                        <a:rPr lang="en-US" altLang="zh-CN" dirty="0"/>
                        <a:t>110</a:t>
                      </a:r>
                      <a:endParaRPr lang="zh-CN" altLang="en-US" dirty="0"/>
                    </a:p>
                  </a:txBody>
                  <a:tcPr/>
                </a:tc>
                <a:tc>
                  <a:txBody>
                    <a:bodyPr/>
                    <a:lstStyle/>
                    <a:p>
                      <a:r>
                        <a:rPr lang="en-US" altLang="zh-CN" dirty="0"/>
                        <a:t>105</a:t>
                      </a:r>
                      <a:endParaRPr lang="zh-CN" altLang="en-US" dirty="0"/>
                    </a:p>
                  </a:txBody>
                  <a:tcPr/>
                </a:tc>
              </a:tr>
              <a:tr h="370840">
                <a:tc>
                  <a:txBody>
                    <a:bodyPr/>
                    <a:lstStyle/>
                    <a:p>
                      <a:r>
                        <a:rPr lang="en-US" altLang="zh-CN" dirty="0"/>
                        <a:t>6</a:t>
                      </a:r>
                      <a:r>
                        <a:rPr lang="zh-CN" altLang="en-US" dirty="0"/>
                        <a:t>月</a:t>
                      </a:r>
                      <a:endParaRPr lang="zh-CN" altLang="en-US" dirty="0"/>
                    </a:p>
                  </a:txBody>
                  <a:tcPr/>
                </a:tc>
                <a:tc>
                  <a:txBody>
                    <a:bodyPr/>
                    <a:lstStyle/>
                    <a:p>
                      <a:r>
                        <a:rPr lang="en-US" altLang="zh-CN" dirty="0"/>
                        <a:t>90</a:t>
                      </a:r>
                      <a:endParaRPr lang="zh-CN" altLang="en-US" dirty="0"/>
                    </a:p>
                  </a:txBody>
                  <a:tcPr/>
                </a:tc>
                <a:tc>
                  <a:txBody>
                    <a:bodyPr/>
                    <a:lstStyle/>
                    <a:p>
                      <a:r>
                        <a:rPr lang="en-US" altLang="zh-CN" dirty="0"/>
                        <a:t>110</a:t>
                      </a:r>
                      <a:endParaRPr lang="zh-CN" altLang="en-US" dirty="0"/>
                    </a:p>
                  </a:txBody>
                  <a:tcPr/>
                </a:tc>
                <a:tc>
                  <a:txBody>
                    <a:bodyPr/>
                    <a:lstStyle/>
                    <a:p>
                      <a:r>
                        <a:rPr lang="en-US" altLang="zh-CN" dirty="0"/>
                        <a:t>140</a:t>
                      </a:r>
                      <a:endParaRPr lang="zh-CN" altLang="en-US" dirty="0"/>
                    </a:p>
                  </a:txBody>
                  <a:tcPr/>
                </a:tc>
                <a:tc>
                  <a:txBody>
                    <a:bodyPr/>
                    <a:lstStyle/>
                    <a:p>
                      <a:r>
                        <a:rPr lang="en-US" altLang="zh-CN" dirty="0"/>
                        <a:t>80</a:t>
                      </a:r>
                      <a:endParaRPr lang="zh-CN" altLang="en-US" dirty="0"/>
                    </a:p>
                  </a:txBody>
                  <a:tcPr/>
                </a:tc>
                <a:tc>
                  <a:txBody>
                    <a:bodyPr/>
                    <a:lstStyle/>
                    <a:p>
                      <a:r>
                        <a:rPr lang="en-US" altLang="zh-CN" dirty="0"/>
                        <a:t>135</a:t>
                      </a:r>
                      <a:endParaRPr lang="zh-CN" altLang="en-US" dirty="0"/>
                    </a:p>
                  </a:txBody>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b="1" dirty="0">
                <a:latin typeface="+mj-ea"/>
                <a:ea typeface="+mj-ea"/>
              </a:rPr>
              <a:t>练习</a:t>
            </a:r>
            <a:r>
              <a:rPr lang="en-US" altLang="zh-CN" sz="2800" b="1" dirty="0">
                <a:latin typeface="+mj-ea"/>
                <a:ea typeface="+mj-ea"/>
              </a:rPr>
              <a:t>19</a:t>
            </a:r>
            <a:r>
              <a:rPr lang="zh-CN" altLang="en-US" sz="2800" b="1" dirty="0">
                <a:solidFill>
                  <a:srgbClr val="060606"/>
                </a:solidFill>
                <a:latin typeface="+mj-ea"/>
                <a:ea typeface="+mj-ea"/>
              </a:rPr>
              <a:t>计算机租赁</a:t>
            </a:r>
            <a:endParaRPr lang="zh-CN" altLang="en-US" sz="2800" b="1" dirty="0">
              <a:latin typeface="+mj-ea"/>
              <a:ea typeface="+mj-ea"/>
            </a:endParaRPr>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13554" cy="2677656"/>
            </a:xfrm>
            <a:prstGeom prst="rect">
              <a:avLst/>
            </a:prstGeom>
            <a:noFill/>
          </p:spPr>
          <p:txBody>
            <a:bodyPr wrap="square" rtlCol="0">
              <a:spAutoFit/>
            </a:bodyPr>
            <a:lstStyle/>
            <a:p>
              <a:pPr>
                <a:buNone/>
              </a:pPr>
              <a:r>
                <a:rPr lang="zh-CN" altLang="en-US" sz="2400" dirty="0">
                  <a:solidFill>
                    <a:srgbClr val="060606"/>
                  </a:solidFill>
                </a:rPr>
                <a:t>一家保险公司认为它在今后</a:t>
              </a:r>
              <a:r>
                <a:rPr lang="en-US" altLang="zh-CN" sz="2400" dirty="0">
                  <a:solidFill>
                    <a:srgbClr val="060606"/>
                  </a:solidFill>
                </a:rPr>
                <a:t>6</a:t>
              </a:r>
              <a:r>
                <a:rPr lang="zh-CN" altLang="en-US" sz="2400" dirty="0">
                  <a:solidFill>
                    <a:srgbClr val="060606"/>
                  </a:solidFill>
                </a:rPr>
                <a:t>个月需要下列数量的个人计算机：</a:t>
              </a:r>
              <a:r>
                <a:rPr lang="en-US" altLang="zh-CN" sz="2400" dirty="0">
                  <a:solidFill>
                    <a:srgbClr val="060606"/>
                  </a:solidFill>
                </a:rPr>
                <a:t>1</a:t>
              </a:r>
              <a:r>
                <a:rPr lang="zh-CN" altLang="en-US" sz="2400" dirty="0">
                  <a:solidFill>
                    <a:srgbClr val="060606"/>
                  </a:solidFill>
                </a:rPr>
                <a:t>月</a:t>
              </a:r>
              <a:r>
                <a:rPr lang="en-US" altLang="zh-CN" sz="2400" dirty="0">
                  <a:solidFill>
                    <a:srgbClr val="060606"/>
                  </a:solidFill>
                </a:rPr>
                <a:t>9</a:t>
              </a:r>
              <a:r>
                <a:rPr lang="zh-CN" altLang="en-US" sz="2400" dirty="0">
                  <a:solidFill>
                    <a:srgbClr val="060606"/>
                  </a:solidFill>
                </a:rPr>
                <a:t>台，</a:t>
              </a:r>
              <a:r>
                <a:rPr lang="en-US" altLang="zh-CN" sz="2400" dirty="0">
                  <a:solidFill>
                    <a:srgbClr val="060606"/>
                  </a:solidFill>
                </a:rPr>
                <a:t>2</a:t>
              </a:r>
              <a:r>
                <a:rPr lang="zh-CN" altLang="en-US" sz="2400" dirty="0">
                  <a:solidFill>
                    <a:srgbClr val="060606"/>
                  </a:solidFill>
                </a:rPr>
                <a:t>月</a:t>
              </a:r>
              <a:r>
                <a:rPr lang="en-US" altLang="zh-CN" sz="2400" dirty="0">
                  <a:solidFill>
                    <a:srgbClr val="060606"/>
                  </a:solidFill>
                </a:rPr>
                <a:t>5</a:t>
              </a:r>
              <a:r>
                <a:rPr lang="zh-CN" altLang="en-US" sz="2400" dirty="0">
                  <a:solidFill>
                    <a:srgbClr val="060606"/>
                  </a:solidFill>
                </a:rPr>
                <a:t>台，</a:t>
              </a:r>
              <a:r>
                <a:rPr lang="en-US" altLang="zh-CN" sz="2400" dirty="0">
                  <a:solidFill>
                    <a:srgbClr val="060606"/>
                  </a:solidFill>
                </a:rPr>
                <a:t> 3</a:t>
              </a:r>
              <a:r>
                <a:rPr lang="zh-CN" altLang="en-US" sz="2400" dirty="0">
                  <a:solidFill>
                    <a:srgbClr val="060606"/>
                  </a:solidFill>
                </a:rPr>
                <a:t>月</a:t>
              </a:r>
              <a:r>
                <a:rPr lang="en-US" altLang="zh-CN" sz="2400" dirty="0">
                  <a:solidFill>
                    <a:srgbClr val="060606"/>
                  </a:solidFill>
                </a:rPr>
                <a:t>7</a:t>
              </a:r>
              <a:r>
                <a:rPr lang="zh-CN" altLang="en-US" sz="2400" dirty="0">
                  <a:solidFill>
                    <a:srgbClr val="060606"/>
                  </a:solidFill>
                </a:rPr>
                <a:t>台，</a:t>
              </a:r>
              <a:r>
                <a:rPr lang="en-US" altLang="zh-CN" sz="2400" dirty="0">
                  <a:solidFill>
                    <a:srgbClr val="060606"/>
                  </a:solidFill>
                </a:rPr>
                <a:t>4</a:t>
              </a:r>
              <a:r>
                <a:rPr lang="zh-CN" altLang="en-US" sz="2400" dirty="0">
                  <a:solidFill>
                    <a:srgbClr val="060606"/>
                  </a:solidFill>
                </a:rPr>
                <a:t>月</a:t>
              </a:r>
              <a:r>
                <a:rPr lang="en-US" altLang="zh-CN" sz="2400" dirty="0">
                  <a:solidFill>
                    <a:srgbClr val="060606"/>
                  </a:solidFill>
                </a:rPr>
                <a:t>9</a:t>
              </a:r>
              <a:r>
                <a:rPr lang="zh-CN" altLang="en-US" sz="2400" dirty="0">
                  <a:solidFill>
                    <a:srgbClr val="060606"/>
                  </a:solidFill>
                </a:rPr>
                <a:t>台，</a:t>
              </a:r>
              <a:r>
                <a:rPr lang="en-US" altLang="zh-CN" sz="2400" dirty="0">
                  <a:solidFill>
                    <a:srgbClr val="060606"/>
                  </a:solidFill>
                </a:rPr>
                <a:t>5</a:t>
              </a:r>
              <a:r>
                <a:rPr lang="zh-CN" altLang="en-US" sz="2400" dirty="0">
                  <a:solidFill>
                    <a:srgbClr val="060606"/>
                  </a:solidFill>
                </a:rPr>
                <a:t>月</a:t>
              </a:r>
              <a:r>
                <a:rPr lang="en-US" altLang="zh-CN" sz="2400" dirty="0">
                  <a:solidFill>
                    <a:srgbClr val="060606"/>
                  </a:solidFill>
                </a:rPr>
                <a:t>10</a:t>
              </a:r>
              <a:r>
                <a:rPr lang="zh-CN" altLang="en-US" sz="2400" dirty="0">
                  <a:solidFill>
                    <a:srgbClr val="060606"/>
                  </a:solidFill>
                </a:rPr>
                <a:t>台，</a:t>
              </a:r>
              <a:r>
                <a:rPr lang="en-US" altLang="zh-CN" sz="2400" dirty="0">
                  <a:solidFill>
                    <a:srgbClr val="060606"/>
                  </a:solidFill>
                </a:rPr>
                <a:t> 6</a:t>
              </a:r>
              <a:r>
                <a:rPr lang="zh-CN" altLang="en-US" sz="2400" dirty="0">
                  <a:solidFill>
                    <a:srgbClr val="060606"/>
                  </a:solidFill>
                </a:rPr>
                <a:t>月</a:t>
              </a:r>
              <a:r>
                <a:rPr lang="en-US" altLang="zh-CN" sz="2400" dirty="0">
                  <a:solidFill>
                    <a:srgbClr val="060606"/>
                  </a:solidFill>
                </a:rPr>
                <a:t>5</a:t>
              </a:r>
              <a:r>
                <a:rPr lang="zh-CN" altLang="en-US" sz="2400" dirty="0">
                  <a:solidFill>
                    <a:srgbClr val="060606"/>
                  </a:solidFill>
                </a:rPr>
                <a:t>台。</a:t>
              </a:r>
              <a:endParaRPr lang="en-US" altLang="zh-CN" sz="2400" dirty="0">
                <a:solidFill>
                  <a:srgbClr val="060606"/>
                </a:solidFill>
              </a:endParaRPr>
            </a:p>
            <a:p>
              <a:pPr>
                <a:buNone/>
              </a:pPr>
              <a:r>
                <a:rPr lang="zh-CN" altLang="en-US" sz="2400" dirty="0">
                  <a:solidFill>
                    <a:srgbClr val="060606"/>
                  </a:solidFill>
                </a:rPr>
                <a:t>该公司可以租赁计算机，时间为</a:t>
              </a:r>
              <a:r>
                <a:rPr lang="en-US" altLang="zh-CN" sz="2400" dirty="0">
                  <a:solidFill>
                    <a:srgbClr val="060606"/>
                  </a:solidFill>
                </a:rPr>
                <a:t>1</a:t>
              </a:r>
              <a:r>
                <a:rPr lang="zh-CN" altLang="en-US" sz="2400" dirty="0">
                  <a:solidFill>
                    <a:srgbClr val="060606"/>
                  </a:solidFill>
                </a:rPr>
                <a:t>个月、</a:t>
              </a:r>
              <a:r>
                <a:rPr lang="en-US" altLang="zh-CN" sz="2400" dirty="0">
                  <a:solidFill>
                    <a:srgbClr val="060606"/>
                  </a:solidFill>
                </a:rPr>
                <a:t>2</a:t>
              </a:r>
              <a:r>
                <a:rPr lang="zh-CN" altLang="en-US" sz="2400" dirty="0">
                  <a:solidFill>
                    <a:srgbClr val="060606"/>
                  </a:solidFill>
                </a:rPr>
                <a:t>个月或</a:t>
              </a:r>
              <a:r>
                <a:rPr lang="en-US" altLang="zh-CN" sz="2400" dirty="0">
                  <a:solidFill>
                    <a:srgbClr val="060606"/>
                  </a:solidFill>
                </a:rPr>
                <a:t>3</a:t>
              </a:r>
              <a:r>
                <a:rPr lang="zh-CN" altLang="en-US" sz="2400" dirty="0">
                  <a:solidFill>
                    <a:srgbClr val="060606"/>
                  </a:solidFill>
                </a:rPr>
                <a:t>个月。一台计算机的租赁费分别为：</a:t>
              </a:r>
              <a:r>
                <a:rPr lang="en-US" altLang="zh-CN" sz="2400" dirty="0">
                  <a:solidFill>
                    <a:srgbClr val="060606"/>
                  </a:solidFill>
                </a:rPr>
                <a:t>1</a:t>
              </a:r>
              <a:r>
                <a:rPr lang="zh-CN" altLang="en-US" sz="2400" dirty="0">
                  <a:solidFill>
                    <a:srgbClr val="060606"/>
                  </a:solidFill>
                </a:rPr>
                <a:t>个月的是</a:t>
              </a:r>
              <a:r>
                <a:rPr lang="en-US" altLang="zh-CN" sz="2400" dirty="0">
                  <a:solidFill>
                    <a:srgbClr val="060606"/>
                  </a:solidFill>
                </a:rPr>
                <a:t>200</a:t>
              </a:r>
              <a:r>
                <a:rPr lang="zh-CN" altLang="en-US" sz="2400" dirty="0">
                  <a:solidFill>
                    <a:srgbClr val="060606"/>
                  </a:solidFill>
                </a:rPr>
                <a:t>美元，</a:t>
              </a:r>
              <a:r>
                <a:rPr lang="en-US" altLang="zh-CN" sz="2400" dirty="0">
                  <a:solidFill>
                    <a:srgbClr val="060606"/>
                  </a:solidFill>
                </a:rPr>
                <a:t>2</a:t>
              </a:r>
              <a:r>
                <a:rPr lang="zh-CN" altLang="en-US" sz="2400" dirty="0">
                  <a:solidFill>
                    <a:srgbClr val="060606"/>
                  </a:solidFill>
                </a:rPr>
                <a:t>个月的是</a:t>
              </a:r>
              <a:r>
                <a:rPr lang="en-US" altLang="zh-CN" sz="2400" dirty="0">
                  <a:solidFill>
                    <a:srgbClr val="060606"/>
                  </a:solidFill>
                </a:rPr>
                <a:t>350</a:t>
              </a:r>
              <a:r>
                <a:rPr lang="zh-CN" altLang="en-US" sz="2400" dirty="0">
                  <a:solidFill>
                    <a:srgbClr val="060606"/>
                  </a:solidFill>
                </a:rPr>
                <a:t>美元，</a:t>
              </a:r>
              <a:r>
                <a:rPr lang="en-US" altLang="zh-CN" sz="2400" dirty="0">
                  <a:solidFill>
                    <a:srgbClr val="060606"/>
                  </a:solidFill>
                </a:rPr>
                <a:t> 3</a:t>
              </a:r>
              <a:r>
                <a:rPr lang="zh-CN" altLang="en-US" sz="2400" dirty="0">
                  <a:solidFill>
                    <a:srgbClr val="060606"/>
                  </a:solidFill>
                </a:rPr>
                <a:t>个月的是</a:t>
              </a:r>
              <a:r>
                <a:rPr lang="en-US" altLang="zh-CN" sz="2400" dirty="0">
                  <a:solidFill>
                    <a:srgbClr val="060606"/>
                  </a:solidFill>
                </a:rPr>
                <a:t>450</a:t>
              </a:r>
              <a:r>
                <a:rPr lang="zh-CN" altLang="en-US" sz="2400" dirty="0">
                  <a:solidFill>
                    <a:srgbClr val="060606"/>
                  </a:solidFill>
                </a:rPr>
                <a:t>美元</a:t>
              </a:r>
              <a:r>
                <a:rPr lang="en-US" altLang="zh-CN" sz="2400" dirty="0">
                  <a:solidFill>
                    <a:srgbClr val="060606"/>
                  </a:solidFill>
                </a:rPr>
                <a:t>(</a:t>
              </a:r>
              <a:r>
                <a:rPr lang="zh-CN" altLang="en-US" sz="2400" dirty="0">
                  <a:solidFill>
                    <a:srgbClr val="060606"/>
                  </a:solidFill>
                </a:rPr>
                <a:t>注意：假设租期超过</a:t>
              </a:r>
              <a:r>
                <a:rPr lang="en-US" altLang="zh-CN" sz="2400" dirty="0">
                  <a:solidFill>
                    <a:srgbClr val="060606"/>
                  </a:solidFill>
                </a:rPr>
                <a:t>6</a:t>
              </a:r>
              <a:r>
                <a:rPr lang="zh-CN" altLang="en-US" sz="2400" dirty="0">
                  <a:solidFill>
                    <a:srgbClr val="060606"/>
                  </a:solidFill>
                </a:rPr>
                <a:t>月份，则按月按比例分摊租赁费，如</a:t>
              </a:r>
              <a:r>
                <a:rPr lang="en-US" altLang="zh-CN" sz="2400" dirty="0">
                  <a:solidFill>
                    <a:srgbClr val="060606"/>
                  </a:solidFill>
                </a:rPr>
                <a:t>5</a:t>
              </a:r>
              <a:r>
                <a:rPr lang="zh-CN" altLang="en-US" sz="2400" dirty="0">
                  <a:solidFill>
                    <a:srgbClr val="060606"/>
                  </a:solidFill>
                </a:rPr>
                <a:t>月租了</a:t>
              </a:r>
              <a:r>
                <a:rPr lang="en-US" altLang="zh-CN" sz="2400" dirty="0">
                  <a:solidFill>
                    <a:srgbClr val="060606"/>
                  </a:solidFill>
                </a:rPr>
                <a:t>1</a:t>
              </a:r>
              <a:r>
                <a:rPr lang="zh-CN" altLang="en-US" sz="2400" dirty="0">
                  <a:solidFill>
                    <a:srgbClr val="060606"/>
                  </a:solidFill>
                </a:rPr>
                <a:t>台计算机，租期</a:t>
              </a:r>
              <a:r>
                <a:rPr lang="en-US" altLang="zh-CN" sz="2400" dirty="0">
                  <a:solidFill>
                    <a:srgbClr val="060606"/>
                  </a:solidFill>
                </a:rPr>
                <a:t>3</a:t>
              </a:r>
              <a:r>
                <a:rPr lang="zh-CN" altLang="en-US" sz="2400" dirty="0">
                  <a:solidFill>
                    <a:srgbClr val="060606"/>
                  </a:solidFill>
                </a:rPr>
                <a:t>个月，则租赁费为</a:t>
              </a:r>
              <a:r>
                <a:rPr lang="en-US" altLang="zh-CN" sz="2400" dirty="0">
                  <a:solidFill>
                    <a:srgbClr val="060606"/>
                  </a:solidFill>
                </a:rPr>
                <a:t>(2/3) ×450 = 300</a:t>
              </a:r>
              <a:r>
                <a:rPr lang="zh-CN" altLang="en-US" sz="2400" dirty="0">
                  <a:solidFill>
                    <a:srgbClr val="060606"/>
                  </a:solidFill>
                </a:rPr>
                <a:t>美元</a:t>
              </a:r>
              <a:r>
                <a:rPr lang="en-US" altLang="zh-CN" sz="2400" dirty="0">
                  <a:solidFill>
                    <a:srgbClr val="060606"/>
                  </a:solidFill>
                </a:rPr>
                <a:t>,</a:t>
              </a:r>
              <a:r>
                <a:rPr lang="zh-CN" altLang="en-US" sz="2400" dirty="0">
                  <a:solidFill>
                    <a:srgbClr val="060606"/>
                  </a:solidFill>
                </a:rPr>
                <a:t>而非</a:t>
              </a:r>
              <a:r>
                <a:rPr lang="en-US" altLang="zh-CN" sz="2400" dirty="0">
                  <a:solidFill>
                    <a:srgbClr val="060606"/>
                  </a:solidFill>
                </a:rPr>
                <a:t>450</a:t>
              </a:r>
              <a:r>
                <a:rPr lang="zh-CN" altLang="en-US" sz="2400" dirty="0">
                  <a:solidFill>
                    <a:srgbClr val="060606"/>
                  </a:solidFill>
                </a:rPr>
                <a:t>美元，算</a:t>
              </a:r>
              <a:r>
                <a:rPr lang="en-US" altLang="zh-CN" sz="2400" dirty="0">
                  <a:solidFill>
                    <a:srgbClr val="060606"/>
                  </a:solidFill>
                </a:rPr>
                <a:t>5</a:t>
              </a:r>
              <a:r>
                <a:rPr lang="zh-CN" altLang="en-US" sz="2400" dirty="0">
                  <a:solidFill>
                    <a:srgbClr val="060606"/>
                  </a:solidFill>
                </a:rPr>
                <a:t>月份和</a:t>
              </a:r>
              <a:r>
                <a:rPr lang="en-US" altLang="zh-CN" sz="2400" dirty="0">
                  <a:solidFill>
                    <a:srgbClr val="060606"/>
                  </a:solidFill>
                </a:rPr>
                <a:t>6</a:t>
              </a:r>
              <a:r>
                <a:rPr lang="zh-CN" altLang="en-US" sz="2400" dirty="0">
                  <a:solidFill>
                    <a:srgbClr val="060606"/>
                  </a:solidFill>
                </a:rPr>
                <a:t>月份的）。</a:t>
              </a:r>
              <a:endParaRPr lang="en-US" altLang="zh-CN" sz="2400" dirty="0">
                <a:solidFill>
                  <a:srgbClr val="060606"/>
                </a:solidFill>
              </a:endParaRPr>
            </a:p>
            <a:p>
              <a:pPr>
                <a:buNone/>
              </a:pPr>
              <a:r>
                <a:rPr lang="zh-CN" altLang="en-US" sz="2400" dirty="0">
                  <a:solidFill>
                    <a:srgbClr val="060606"/>
                  </a:solidFill>
                </a:rPr>
                <a:t>表述一个</a:t>
              </a:r>
              <a:r>
                <a:rPr lang="en-US" altLang="zh-CN" sz="2400" dirty="0">
                  <a:solidFill>
                    <a:srgbClr val="060606"/>
                  </a:solidFill>
                </a:rPr>
                <a:t>LP</a:t>
              </a:r>
              <a:r>
                <a:rPr lang="zh-CN" altLang="en-US" sz="2400" dirty="0">
                  <a:solidFill>
                    <a:srgbClr val="060606"/>
                  </a:solidFill>
                </a:rPr>
                <a:t>，使租赁所需计算机的成本最少。</a:t>
              </a:r>
              <a:endParaRPr lang="zh-CN" altLang="en-US" sz="2400" dirty="0">
                <a:solidFill>
                  <a:srgbClr val="060606"/>
                </a:solidFill>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b="1" dirty="0">
                <a:latin typeface="+mj-ea"/>
                <a:ea typeface="+mj-ea"/>
              </a:rPr>
              <a:t>练习</a:t>
            </a:r>
            <a:r>
              <a:rPr lang="en-US" altLang="zh-CN" sz="2800" b="1" dirty="0">
                <a:latin typeface="+mj-ea"/>
                <a:ea typeface="+mj-ea"/>
              </a:rPr>
              <a:t>20</a:t>
            </a:r>
            <a:r>
              <a:rPr lang="zh-CN" altLang="en-US" sz="2800" b="1" dirty="0">
                <a:solidFill>
                  <a:srgbClr val="060606"/>
                </a:solidFill>
                <a:latin typeface="+mj-ea"/>
                <a:ea typeface="+mj-ea"/>
              </a:rPr>
              <a:t>多阶段员工调度</a:t>
            </a:r>
            <a:endParaRPr lang="zh-CN" altLang="en-US" sz="2800" b="1" dirty="0">
              <a:latin typeface="+mj-ea"/>
              <a:ea typeface="+mj-ea"/>
            </a:endParaRPr>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13554" cy="4524315"/>
            </a:xfrm>
            <a:prstGeom prst="rect">
              <a:avLst/>
            </a:prstGeom>
            <a:noFill/>
          </p:spPr>
          <p:txBody>
            <a:bodyPr wrap="square" rtlCol="0">
              <a:spAutoFit/>
            </a:bodyPr>
            <a:lstStyle/>
            <a:p>
              <a:pPr>
                <a:buNone/>
              </a:pPr>
              <a:r>
                <a:rPr lang="en-US" altLang="zh-CN" sz="2400" dirty="0">
                  <a:solidFill>
                    <a:srgbClr val="00000C"/>
                  </a:solidFill>
                </a:rPr>
                <a:t>CSL</a:t>
              </a:r>
              <a:r>
                <a:rPr lang="zh-CN" altLang="en-US" sz="2400" dirty="0">
                  <a:solidFill>
                    <a:srgbClr val="00000C"/>
                  </a:solidFill>
                </a:rPr>
                <a:t>是一家计算机服务连锁店。</a:t>
              </a:r>
              <a:r>
                <a:rPr lang="en-US" altLang="zh-CN" sz="2400" dirty="0">
                  <a:solidFill>
                    <a:srgbClr val="00000C"/>
                  </a:solidFill>
                </a:rPr>
                <a:t>CSL</a:t>
              </a:r>
              <a:r>
                <a:rPr lang="zh-CN" altLang="en-US" sz="2400" dirty="0">
                  <a:solidFill>
                    <a:srgbClr val="00000C"/>
                  </a:solidFill>
                </a:rPr>
                <a:t>在今后</a:t>
              </a:r>
              <a:r>
                <a:rPr lang="en-US" altLang="zh-CN" sz="2400" dirty="0">
                  <a:solidFill>
                    <a:srgbClr val="00000C"/>
                  </a:solidFill>
                </a:rPr>
                <a:t>5</a:t>
              </a:r>
              <a:r>
                <a:rPr lang="zh-CN" altLang="en-US" sz="2400" dirty="0">
                  <a:solidFill>
                    <a:srgbClr val="00000C"/>
                  </a:solidFill>
                </a:rPr>
                <a:t>个月需要的熟练修理时间如下所示：第</a:t>
              </a:r>
              <a:r>
                <a:rPr lang="en-US" altLang="zh-CN" sz="2400" dirty="0">
                  <a:solidFill>
                    <a:srgbClr val="00000C"/>
                  </a:solidFill>
                </a:rPr>
                <a:t>1</a:t>
              </a:r>
              <a:r>
                <a:rPr lang="zh-CN" altLang="en-US" sz="2400" dirty="0">
                  <a:solidFill>
                    <a:srgbClr val="00000C"/>
                  </a:solidFill>
                </a:rPr>
                <a:t>个月</a:t>
              </a:r>
              <a:r>
                <a:rPr lang="en-US" altLang="zh-CN" sz="2400" dirty="0">
                  <a:solidFill>
                    <a:srgbClr val="00000C"/>
                  </a:solidFill>
                </a:rPr>
                <a:t>——6,000</a:t>
              </a:r>
              <a:r>
                <a:rPr lang="zh-CN" altLang="en-US" sz="2400" dirty="0">
                  <a:solidFill>
                    <a:srgbClr val="00000C"/>
                  </a:solidFill>
                </a:rPr>
                <a:t>小时；</a:t>
              </a:r>
              <a:r>
                <a:rPr lang="zh-CN" altLang="zh-CN" sz="2400" dirty="0">
                  <a:solidFill>
                    <a:srgbClr val="00000C"/>
                  </a:solidFill>
                </a:rPr>
                <a:t>第</a:t>
              </a:r>
              <a:r>
                <a:rPr lang="en-US" altLang="zh-CN" sz="2400" dirty="0">
                  <a:solidFill>
                    <a:srgbClr val="00000C"/>
                  </a:solidFill>
                </a:rPr>
                <a:t>2</a:t>
              </a:r>
              <a:r>
                <a:rPr lang="zh-CN" altLang="zh-CN" sz="2400" dirty="0">
                  <a:solidFill>
                    <a:srgbClr val="00000C"/>
                  </a:solidFill>
                </a:rPr>
                <a:t>个月</a:t>
              </a:r>
              <a:r>
                <a:rPr lang="en-US" altLang="zh-CN" sz="2400" dirty="0">
                  <a:solidFill>
                    <a:srgbClr val="00000C"/>
                  </a:solidFill>
                </a:rPr>
                <a:t>——7,000</a:t>
              </a:r>
              <a:r>
                <a:rPr lang="zh-CN" altLang="zh-CN" sz="2400" dirty="0">
                  <a:solidFill>
                    <a:srgbClr val="00000C"/>
                  </a:solidFill>
                </a:rPr>
                <a:t>小时；</a:t>
              </a:r>
              <a:r>
                <a:rPr lang="zh-CN" altLang="en-US" sz="2400" dirty="0">
                  <a:solidFill>
                    <a:srgbClr val="00000C"/>
                  </a:solidFill>
                </a:rPr>
                <a:t>第</a:t>
              </a:r>
              <a:r>
                <a:rPr lang="en-US" altLang="zh-CN" sz="2400" dirty="0">
                  <a:solidFill>
                    <a:srgbClr val="00000C"/>
                  </a:solidFill>
                </a:rPr>
                <a:t>3</a:t>
              </a:r>
              <a:r>
                <a:rPr lang="zh-CN" altLang="en-US" sz="2400" dirty="0">
                  <a:solidFill>
                    <a:srgbClr val="00000C"/>
                  </a:solidFill>
                </a:rPr>
                <a:t>个月</a:t>
              </a:r>
              <a:r>
                <a:rPr lang="en-US" altLang="zh-CN" sz="2400" dirty="0">
                  <a:solidFill>
                    <a:srgbClr val="00000C"/>
                  </a:solidFill>
                </a:rPr>
                <a:t>——8,000</a:t>
              </a:r>
              <a:r>
                <a:rPr lang="zh-CN" altLang="en-US" sz="2400" dirty="0">
                  <a:solidFill>
                    <a:srgbClr val="00000C"/>
                  </a:solidFill>
                </a:rPr>
                <a:t>小时；</a:t>
              </a:r>
              <a:r>
                <a:rPr lang="zh-CN" altLang="zh-CN" sz="2400" dirty="0">
                  <a:solidFill>
                    <a:srgbClr val="00000C"/>
                  </a:solidFill>
                </a:rPr>
                <a:t>第</a:t>
              </a:r>
              <a:r>
                <a:rPr lang="en-US" altLang="zh-CN" sz="2400" dirty="0">
                  <a:solidFill>
                    <a:srgbClr val="00000C"/>
                  </a:solidFill>
                </a:rPr>
                <a:t>4</a:t>
              </a:r>
              <a:r>
                <a:rPr lang="zh-CN" altLang="zh-CN" sz="2400" dirty="0">
                  <a:solidFill>
                    <a:srgbClr val="00000C"/>
                  </a:solidFill>
                </a:rPr>
                <a:t>个月</a:t>
              </a:r>
              <a:r>
                <a:rPr lang="en-US" altLang="zh-CN" sz="2400" dirty="0">
                  <a:solidFill>
                    <a:srgbClr val="00000C"/>
                  </a:solidFill>
                </a:rPr>
                <a:t>——9,500</a:t>
              </a:r>
              <a:r>
                <a:rPr lang="zh-CN" altLang="zh-CN" sz="2400" dirty="0">
                  <a:solidFill>
                    <a:srgbClr val="00000C"/>
                  </a:solidFill>
                </a:rPr>
                <a:t>小时；</a:t>
              </a:r>
              <a:r>
                <a:rPr lang="zh-CN" altLang="en-US" sz="2400" dirty="0">
                  <a:solidFill>
                    <a:srgbClr val="00000C"/>
                  </a:solidFill>
                </a:rPr>
                <a:t>第</a:t>
              </a:r>
              <a:r>
                <a:rPr lang="en-US" altLang="zh-CN" sz="2400" dirty="0">
                  <a:solidFill>
                    <a:srgbClr val="00000C"/>
                  </a:solidFill>
                </a:rPr>
                <a:t>5</a:t>
              </a:r>
              <a:r>
                <a:rPr lang="zh-CN" altLang="en-US" sz="2400" dirty="0">
                  <a:solidFill>
                    <a:srgbClr val="00000C"/>
                  </a:solidFill>
                </a:rPr>
                <a:t>个月</a:t>
              </a:r>
              <a:r>
                <a:rPr lang="en-US" altLang="zh-CN" sz="2400" dirty="0">
                  <a:solidFill>
                    <a:srgbClr val="00000C"/>
                  </a:solidFill>
                </a:rPr>
                <a:t>——11,000</a:t>
              </a:r>
              <a:r>
                <a:rPr lang="zh-CN" altLang="en-US" sz="2400" dirty="0">
                  <a:solidFill>
                    <a:srgbClr val="00000C"/>
                  </a:solidFill>
                </a:rPr>
                <a:t>小时。</a:t>
              </a:r>
              <a:endParaRPr lang="en-US" altLang="zh-CN" sz="2400" dirty="0">
                <a:solidFill>
                  <a:srgbClr val="00000C"/>
                </a:solidFill>
              </a:endParaRPr>
            </a:p>
            <a:p>
              <a:pPr>
                <a:buNone/>
              </a:pPr>
              <a:r>
                <a:rPr lang="en-US" altLang="zh-CN" sz="2400" dirty="0">
                  <a:solidFill>
                    <a:srgbClr val="00000C"/>
                  </a:solidFill>
                </a:rPr>
                <a:t>1</a:t>
              </a:r>
              <a:r>
                <a:rPr lang="zh-CN" altLang="en-US" sz="2400" dirty="0">
                  <a:solidFill>
                    <a:srgbClr val="00000C"/>
                  </a:solidFill>
                </a:rPr>
                <a:t>月初，在</a:t>
              </a:r>
              <a:r>
                <a:rPr lang="en-US" altLang="zh-CN" sz="2400" dirty="0">
                  <a:solidFill>
                    <a:srgbClr val="00000C"/>
                  </a:solidFill>
                </a:rPr>
                <a:t>CSL</a:t>
              </a:r>
              <a:r>
                <a:rPr lang="zh-CN" altLang="en-US" sz="2400" dirty="0">
                  <a:solidFill>
                    <a:srgbClr val="00000C"/>
                  </a:solidFill>
                </a:rPr>
                <a:t>工作的熟练技术人员有</a:t>
              </a:r>
              <a:r>
                <a:rPr lang="en-US" altLang="zh-CN" sz="2400" dirty="0">
                  <a:solidFill>
                    <a:srgbClr val="00000C"/>
                  </a:solidFill>
                </a:rPr>
                <a:t>50</a:t>
              </a:r>
              <a:r>
                <a:rPr lang="zh-CN" altLang="en-US" sz="2400" dirty="0">
                  <a:solidFill>
                    <a:srgbClr val="00000C"/>
                  </a:solidFill>
                </a:rPr>
                <a:t>名。每名熟练技术人员每月最多可以工作</a:t>
              </a:r>
              <a:r>
                <a:rPr lang="en-US" altLang="zh-CN" sz="2400" dirty="0">
                  <a:solidFill>
                    <a:srgbClr val="00000C"/>
                  </a:solidFill>
                </a:rPr>
                <a:t>160</a:t>
              </a:r>
              <a:r>
                <a:rPr lang="zh-CN" altLang="en-US" sz="2400" dirty="0">
                  <a:solidFill>
                    <a:srgbClr val="00000C"/>
                  </a:solidFill>
                </a:rPr>
                <a:t>小时。为了满足将来的需要，必须培训新的技术人员。培训新技术人员需要时间为</a:t>
              </a:r>
              <a:r>
                <a:rPr lang="en-US" altLang="zh-CN" sz="2400" dirty="0">
                  <a:solidFill>
                    <a:srgbClr val="00000C"/>
                  </a:solidFill>
                </a:rPr>
                <a:t>1</a:t>
              </a:r>
              <a:r>
                <a:rPr lang="zh-CN" altLang="en-US" sz="2400" dirty="0">
                  <a:solidFill>
                    <a:srgbClr val="00000C"/>
                  </a:solidFill>
                </a:rPr>
                <a:t>个月。在培训 的这</a:t>
              </a:r>
              <a:r>
                <a:rPr lang="en-US" altLang="zh-CN" sz="2400" dirty="0">
                  <a:solidFill>
                    <a:srgbClr val="00000C"/>
                  </a:solidFill>
                </a:rPr>
                <a:t>1</a:t>
              </a:r>
              <a:r>
                <a:rPr lang="zh-CN" altLang="en-US" sz="2400" dirty="0">
                  <a:solidFill>
                    <a:srgbClr val="00000C"/>
                  </a:solidFill>
                </a:rPr>
                <a:t>个月中，受培训人员必须由熟练技术人员指导</a:t>
              </a:r>
              <a:r>
                <a:rPr lang="en-US" altLang="zh-CN" sz="2400" dirty="0">
                  <a:solidFill>
                    <a:srgbClr val="00000C"/>
                  </a:solidFill>
                </a:rPr>
                <a:t>50</a:t>
              </a:r>
              <a:r>
                <a:rPr lang="zh-CN" altLang="en-US" sz="2400" dirty="0">
                  <a:solidFill>
                    <a:srgbClr val="00000C"/>
                  </a:solidFill>
                </a:rPr>
                <a:t>小时。每个熟练技术人员的月工资为</a:t>
              </a:r>
              <a:r>
                <a:rPr lang="en-US" altLang="zh-CN" sz="2400" dirty="0">
                  <a:solidFill>
                    <a:srgbClr val="00000C"/>
                  </a:solidFill>
                </a:rPr>
                <a:t>2,000</a:t>
              </a:r>
              <a:r>
                <a:rPr lang="zh-CN" altLang="en-US" sz="2400" dirty="0">
                  <a:solidFill>
                    <a:srgbClr val="00000C"/>
                  </a:solidFill>
                </a:rPr>
                <a:t>美元</a:t>
              </a:r>
              <a:r>
                <a:rPr lang="en-US" altLang="zh-CN" sz="2400" dirty="0">
                  <a:solidFill>
                    <a:srgbClr val="00000C"/>
                  </a:solidFill>
                </a:rPr>
                <a:t>(</a:t>
              </a:r>
              <a:r>
                <a:rPr lang="zh-CN" altLang="en-US" sz="2400" dirty="0">
                  <a:solidFill>
                    <a:srgbClr val="00000C"/>
                  </a:solidFill>
                </a:rPr>
                <a:t>即使工作时间不足</a:t>
              </a:r>
              <a:r>
                <a:rPr lang="en-US" altLang="zh-CN" sz="2400" dirty="0">
                  <a:solidFill>
                    <a:srgbClr val="00000C"/>
                  </a:solidFill>
                </a:rPr>
                <a:t>160</a:t>
              </a:r>
              <a:r>
                <a:rPr lang="zh-CN" altLang="en-US" sz="2400" dirty="0">
                  <a:solidFill>
                    <a:srgbClr val="00000C"/>
                  </a:solidFill>
                </a:rPr>
                <a:t>小时</a:t>
              </a:r>
              <a:r>
                <a:rPr lang="en-US" altLang="zh-CN" sz="2400" dirty="0">
                  <a:solidFill>
                    <a:srgbClr val="00000C"/>
                  </a:solidFill>
                </a:rPr>
                <a:t>)</a:t>
              </a:r>
              <a:r>
                <a:rPr lang="zh-CN" altLang="en-US" sz="2400" dirty="0">
                  <a:solidFill>
                    <a:srgbClr val="00000C"/>
                  </a:solidFill>
                </a:rPr>
                <a:t>。在培训的这个月中，受培训人员工资</a:t>
              </a:r>
              <a:r>
                <a:rPr lang="en-US" altLang="zh-CN" sz="2400" dirty="0">
                  <a:solidFill>
                    <a:srgbClr val="00000C"/>
                  </a:solidFill>
                </a:rPr>
                <a:t>1,000</a:t>
              </a:r>
              <a:r>
                <a:rPr lang="zh-CN" altLang="en-US" sz="2400" dirty="0">
                  <a:solidFill>
                    <a:srgbClr val="00000C"/>
                  </a:solidFill>
                </a:rPr>
                <a:t>美元。每月末，</a:t>
              </a:r>
              <a:r>
                <a:rPr lang="en-US" altLang="zh-CN" sz="2400" dirty="0">
                  <a:solidFill>
                    <a:srgbClr val="00000C"/>
                  </a:solidFill>
                </a:rPr>
                <a:t>CSL</a:t>
              </a:r>
              <a:r>
                <a:rPr lang="zh-CN" altLang="en-US" sz="2400" dirty="0">
                  <a:solidFill>
                    <a:srgbClr val="00000C"/>
                  </a:solidFill>
                </a:rPr>
                <a:t>的熟练技术人员将有</a:t>
              </a:r>
              <a:r>
                <a:rPr lang="en-US" altLang="zh-CN" sz="2400" dirty="0">
                  <a:solidFill>
                    <a:srgbClr val="00000C"/>
                  </a:solidFill>
                </a:rPr>
                <a:t>5%</a:t>
              </a:r>
              <a:r>
                <a:rPr lang="zh-CN" altLang="en-US" sz="2400" dirty="0">
                  <a:solidFill>
                    <a:srgbClr val="00000C"/>
                  </a:solidFill>
                </a:rPr>
                <a:t>辞职，他们将加入</a:t>
              </a:r>
              <a:r>
                <a:rPr lang="en-US" altLang="zh-CN" sz="2400" dirty="0">
                  <a:solidFill>
                    <a:srgbClr val="00000C"/>
                  </a:solidFill>
                </a:rPr>
                <a:t>Plum</a:t>
              </a:r>
              <a:r>
                <a:rPr lang="zh-CN" altLang="en-US" sz="2400" dirty="0">
                  <a:solidFill>
                    <a:srgbClr val="00000C"/>
                  </a:solidFill>
                </a:rPr>
                <a:t>计算机公司。</a:t>
              </a:r>
              <a:endParaRPr lang="en-US" altLang="zh-CN" sz="2400" dirty="0">
                <a:solidFill>
                  <a:srgbClr val="00000C"/>
                </a:solidFill>
              </a:endParaRPr>
            </a:p>
            <a:p>
              <a:pPr>
                <a:buNone/>
              </a:pPr>
              <a:r>
                <a:rPr lang="zh-CN" altLang="en-US" sz="2400" dirty="0">
                  <a:solidFill>
                    <a:srgbClr val="00000C"/>
                  </a:solidFill>
                </a:rPr>
                <a:t>表述一个</a:t>
              </a:r>
              <a:r>
                <a:rPr lang="en-US" altLang="zh-CN" sz="2400" dirty="0">
                  <a:solidFill>
                    <a:srgbClr val="00000C"/>
                  </a:solidFill>
                </a:rPr>
                <a:t>LP</a:t>
              </a:r>
              <a:r>
                <a:rPr lang="zh-CN" altLang="en-US" sz="2400" dirty="0">
                  <a:solidFill>
                    <a:srgbClr val="00000C"/>
                  </a:solidFill>
                </a:rPr>
                <a:t>，它的解能够使</a:t>
              </a:r>
              <a:r>
                <a:rPr lang="en-US" altLang="zh-CN" sz="2400" dirty="0">
                  <a:solidFill>
                    <a:srgbClr val="00000C"/>
                  </a:solidFill>
                </a:rPr>
                <a:t>CSL</a:t>
              </a:r>
              <a:r>
                <a:rPr lang="zh-CN" altLang="en-US" sz="2400" dirty="0">
                  <a:solidFill>
                    <a:srgbClr val="00000C"/>
                  </a:solidFill>
                </a:rPr>
                <a:t>在满足今后</a:t>
              </a:r>
              <a:r>
                <a:rPr lang="en-US" altLang="zh-CN" sz="2400" dirty="0">
                  <a:solidFill>
                    <a:srgbClr val="00000C"/>
                  </a:solidFill>
                </a:rPr>
                <a:t>5</a:t>
              </a:r>
              <a:r>
                <a:rPr lang="zh-CN" altLang="en-US" sz="2400" dirty="0">
                  <a:solidFill>
                    <a:srgbClr val="00000C"/>
                  </a:solidFill>
                </a:rPr>
                <a:t>个月的服务要求时产生的劳动力成本最少。</a:t>
              </a:r>
              <a:endParaRPr lang="zh-CN" altLang="en-US" sz="2400" dirty="0">
                <a:solidFill>
                  <a:srgbClr val="00000C"/>
                </a:solidFill>
              </a:endParaRPr>
            </a:p>
            <a:p>
              <a:endParaRPr lang="zh-CN" altLang="zh-CN" sz="2400" dirty="0">
                <a:solidFill>
                  <a:srgbClr val="060606"/>
                </a:solidFill>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b="1" dirty="0">
                <a:latin typeface="+mj-ea"/>
                <a:ea typeface="+mj-ea"/>
              </a:rPr>
              <a:t>练习</a:t>
            </a:r>
            <a:r>
              <a:rPr lang="en-US" altLang="zh-CN" sz="2800" b="1" dirty="0">
                <a:latin typeface="+mj-ea"/>
                <a:ea typeface="+mj-ea"/>
              </a:rPr>
              <a:t>21</a:t>
            </a:r>
            <a:r>
              <a:rPr lang="en-US" altLang="zh-CN" sz="2800" b="1" dirty="0">
                <a:solidFill>
                  <a:srgbClr val="060606"/>
                </a:solidFill>
                <a:latin typeface="+mj-ea"/>
                <a:ea typeface="+mj-ea"/>
              </a:rPr>
              <a:t> </a:t>
            </a:r>
            <a:r>
              <a:rPr lang="en-US" altLang="zh-CN" sz="2800" b="1" dirty="0" err="1">
                <a:solidFill>
                  <a:srgbClr val="060606"/>
                </a:solidFill>
                <a:latin typeface="+mj-ea"/>
                <a:ea typeface="+mj-ea"/>
              </a:rPr>
              <a:t>Finco</a:t>
            </a:r>
            <a:r>
              <a:rPr lang="zh-CN" altLang="en-US" sz="2800" b="1" dirty="0">
                <a:solidFill>
                  <a:srgbClr val="060606"/>
                </a:solidFill>
                <a:latin typeface="+mj-ea"/>
                <a:ea typeface="+mj-ea"/>
              </a:rPr>
              <a:t>投资公司的多阶段投资</a:t>
            </a:r>
            <a:endParaRPr lang="zh-CN" altLang="en-US" sz="2800" b="1" dirty="0">
              <a:latin typeface="+mj-ea"/>
              <a:ea typeface="+mj-ea"/>
            </a:endParaRPr>
          </a:p>
        </p:txBody>
      </p:sp>
      <p:grpSp>
        <p:nvGrpSpPr>
          <p:cNvPr id="5" name="组合 4"/>
          <p:cNvGrpSpPr/>
          <p:nvPr/>
        </p:nvGrpSpPr>
        <p:grpSpPr>
          <a:xfrm>
            <a:off x="108857" y="705036"/>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13554" cy="5632311"/>
            </a:xfrm>
            <a:prstGeom prst="rect">
              <a:avLst/>
            </a:prstGeom>
            <a:noFill/>
          </p:spPr>
          <p:txBody>
            <a:bodyPr wrap="square" rtlCol="0">
              <a:spAutoFit/>
            </a:bodyPr>
            <a:lstStyle/>
            <a:p>
              <a:pPr>
                <a:buNone/>
              </a:pPr>
              <a:r>
                <a:rPr lang="zh-CN" altLang="en-US" sz="2000" dirty="0">
                  <a:solidFill>
                    <a:srgbClr val="060606"/>
                  </a:solidFill>
                </a:rPr>
                <a:t>本练习说明如何使用线性规划建立现金管理问题的模型。其中关键是确定不同阶段库存现金的关系。</a:t>
              </a:r>
              <a:endParaRPr lang="en-US" altLang="zh-CN" sz="2000" dirty="0">
                <a:solidFill>
                  <a:srgbClr val="060606"/>
                </a:solidFill>
              </a:endParaRPr>
            </a:p>
            <a:p>
              <a:pPr>
                <a:buNone/>
              </a:pPr>
              <a:r>
                <a:rPr lang="en-US" altLang="zh-CN" sz="2000" dirty="0" err="1">
                  <a:solidFill>
                    <a:srgbClr val="060606"/>
                  </a:solidFill>
                </a:rPr>
                <a:t>Finco</a:t>
              </a:r>
              <a:r>
                <a:rPr lang="zh-CN" altLang="en-US" sz="2000" dirty="0">
                  <a:solidFill>
                    <a:srgbClr val="060606"/>
                  </a:solidFill>
                </a:rPr>
                <a:t>公司必须确定该公司在今后</a:t>
              </a:r>
              <a:r>
                <a:rPr lang="en-US" altLang="zh-CN" sz="2000" dirty="0">
                  <a:solidFill>
                    <a:srgbClr val="060606"/>
                  </a:solidFill>
                </a:rPr>
                <a:t>3</a:t>
              </a:r>
              <a:r>
                <a:rPr lang="zh-CN" altLang="en-US" sz="2000" dirty="0">
                  <a:solidFill>
                    <a:srgbClr val="060606"/>
                  </a:solidFill>
                </a:rPr>
                <a:t>个年度的投资策略。目前</a:t>
              </a:r>
              <a:r>
                <a:rPr lang="en-US" altLang="zh-CN" sz="2000" dirty="0">
                  <a:solidFill>
                    <a:srgbClr val="060606"/>
                  </a:solidFill>
                </a:rPr>
                <a:t>(</a:t>
              </a:r>
              <a:r>
                <a:rPr lang="zh-CN" altLang="en-US" sz="2000" dirty="0">
                  <a:solidFill>
                    <a:srgbClr val="060606"/>
                  </a:solidFill>
                </a:rPr>
                <a:t>时间</a:t>
              </a:r>
              <a:r>
                <a:rPr lang="en-US" altLang="zh-CN" sz="2000" dirty="0">
                  <a:solidFill>
                    <a:srgbClr val="060606"/>
                  </a:solidFill>
                </a:rPr>
                <a:t>0)</a:t>
              </a:r>
              <a:r>
                <a:rPr lang="zh-CN" altLang="en-US" sz="2000" dirty="0">
                  <a:solidFill>
                    <a:srgbClr val="060606"/>
                  </a:solidFill>
                </a:rPr>
                <a:t>可用于投资的资金为</a:t>
              </a:r>
              <a:r>
                <a:rPr lang="en-US" altLang="zh-CN" sz="2000" dirty="0">
                  <a:solidFill>
                    <a:srgbClr val="060606"/>
                  </a:solidFill>
                </a:rPr>
                <a:t>100,000</a:t>
              </a:r>
              <a:r>
                <a:rPr lang="zh-CN" altLang="en-US" sz="2000" dirty="0">
                  <a:solidFill>
                    <a:srgbClr val="060606"/>
                  </a:solidFill>
                </a:rPr>
                <a:t>美元。投资项目有</a:t>
              </a:r>
              <a:r>
                <a:rPr lang="en-US" altLang="zh-CN" sz="2000" dirty="0">
                  <a:solidFill>
                    <a:srgbClr val="060606"/>
                  </a:solidFill>
                </a:rPr>
                <a:t>A</a:t>
              </a:r>
              <a:r>
                <a:rPr lang="zh-CN" altLang="en-US" sz="2000" dirty="0">
                  <a:solidFill>
                    <a:srgbClr val="060606"/>
                  </a:solidFill>
                </a:rPr>
                <a:t>、</a:t>
              </a:r>
              <a:r>
                <a:rPr lang="en-US" altLang="zh-CN" sz="2000" dirty="0">
                  <a:solidFill>
                    <a:srgbClr val="060606"/>
                  </a:solidFill>
                </a:rPr>
                <a:t>B</a:t>
              </a:r>
              <a:r>
                <a:rPr lang="zh-CN" altLang="en-US" sz="2000" dirty="0">
                  <a:solidFill>
                    <a:srgbClr val="060606"/>
                  </a:solidFill>
                </a:rPr>
                <a:t>、</a:t>
              </a:r>
              <a:r>
                <a:rPr lang="en-US" altLang="zh-CN" sz="2000" dirty="0">
                  <a:solidFill>
                    <a:srgbClr val="060606"/>
                  </a:solidFill>
                </a:rPr>
                <a:t>C</a:t>
              </a:r>
              <a:r>
                <a:rPr lang="zh-CN" altLang="en-US" sz="2000" dirty="0">
                  <a:solidFill>
                    <a:srgbClr val="060606"/>
                  </a:solidFill>
                </a:rPr>
                <a:t>、</a:t>
              </a:r>
              <a:r>
                <a:rPr lang="en-US" altLang="zh-CN" sz="2000" dirty="0">
                  <a:solidFill>
                    <a:srgbClr val="060606"/>
                  </a:solidFill>
                </a:rPr>
                <a:t>D</a:t>
              </a:r>
              <a:r>
                <a:rPr lang="zh-CN" altLang="en-US" sz="2000" dirty="0">
                  <a:solidFill>
                    <a:srgbClr val="060606"/>
                  </a:solidFill>
                </a:rPr>
                <a:t>和</a:t>
              </a:r>
              <a:r>
                <a:rPr lang="en-US" altLang="zh-CN" sz="2000" dirty="0">
                  <a:solidFill>
                    <a:srgbClr val="060606"/>
                  </a:solidFill>
                </a:rPr>
                <a:t>E</a:t>
              </a:r>
              <a:r>
                <a:rPr lang="zh-CN" altLang="en-US" sz="2000" dirty="0">
                  <a:solidFill>
                    <a:srgbClr val="060606"/>
                  </a:solidFill>
                </a:rPr>
                <a:t>。下表给出与投资于每个项目</a:t>
              </a:r>
              <a:r>
                <a:rPr lang="en-US" altLang="zh-CN" sz="2000" dirty="0">
                  <a:solidFill>
                    <a:srgbClr val="060606"/>
                  </a:solidFill>
                </a:rPr>
                <a:t>1</a:t>
              </a:r>
              <a:r>
                <a:rPr lang="zh-CN" altLang="en-US" sz="2000" dirty="0">
                  <a:solidFill>
                    <a:srgbClr val="060606"/>
                  </a:solidFill>
                </a:rPr>
                <a:t>美元有关的现金流。</a:t>
              </a:r>
              <a:endParaRPr lang="en-US" altLang="zh-CN" sz="2000" dirty="0">
                <a:solidFill>
                  <a:srgbClr val="060606"/>
                </a:solidFill>
              </a:endParaRPr>
            </a:p>
            <a:p>
              <a:pPr>
                <a:buNone/>
              </a:pPr>
              <a:r>
                <a:rPr lang="zh-CN" altLang="en-US" sz="2000" dirty="0">
                  <a:solidFill>
                    <a:srgbClr val="060606"/>
                  </a:solidFill>
                </a:rPr>
                <a:t>表中，以</a:t>
              </a:r>
              <a:r>
                <a:rPr lang="en-US" altLang="zh-CN" sz="2000" dirty="0">
                  <a:solidFill>
                    <a:srgbClr val="060606"/>
                  </a:solidFill>
                </a:rPr>
                <a:t>B</a:t>
              </a:r>
              <a:r>
                <a:rPr lang="zh-CN" altLang="en-US" sz="2000" dirty="0">
                  <a:solidFill>
                    <a:srgbClr val="060606"/>
                  </a:solidFill>
                </a:rPr>
                <a:t>为例，指投资</a:t>
              </a:r>
              <a:r>
                <a:rPr lang="en-US" altLang="zh-CN" sz="2000" dirty="0">
                  <a:solidFill>
                    <a:srgbClr val="060606"/>
                  </a:solidFill>
                </a:rPr>
                <a:t>B</a:t>
              </a:r>
              <a:r>
                <a:rPr lang="zh-CN" altLang="en-US" sz="2000" dirty="0">
                  <a:solidFill>
                    <a:srgbClr val="060606"/>
                  </a:solidFill>
                </a:rPr>
                <a:t>项目</a:t>
              </a:r>
              <a:r>
                <a:rPr lang="en-US" altLang="zh-CN" sz="2000" dirty="0">
                  <a:solidFill>
                    <a:srgbClr val="060606"/>
                  </a:solidFill>
                </a:rPr>
                <a:t>1</a:t>
              </a:r>
              <a:r>
                <a:rPr lang="zh-CN" altLang="en-US" sz="2000" dirty="0">
                  <a:solidFill>
                    <a:srgbClr val="060606"/>
                  </a:solidFill>
                </a:rPr>
                <a:t>美元需要的现金流出量在时间</a:t>
              </a:r>
              <a:r>
                <a:rPr lang="en-US" altLang="zh-CN" sz="2000" dirty="0">
                  <a:solidFill>
                    <a:srgbClr val="060606"/>
                  </a:solidFill>
                </a:rPr>
                <a:t>1</a:t>
              </a:r>
              <a:r>
                <a:rPr lang="zh-CN" altLang="en-US" sz="2000" dirty="0">
                  <a:solidFill>
                    <a:srgbClr val="060606"/>
                  </a:solidFill>
                </a:rPr>
                <a:t>为</a:t>
              </a:r>
              <a:r>
                <a:rPr lang="en-US" altLang="zh-CN" sz="2000" dirty="0">
                  <a:solidFill>
                    <a:srgbClr val="060606"/>
                  </a:solidFill>
                </a:rPr>
                <a:t>1</a:t>
              </a:r>
              <a:r>
                <a:rPr lang="zh-CN" altLang="en-US" sz="2000" dirty="0">
                  <a:solidFill>
                    <a:srgbClr val="060606"/>
                  </a:solidFill>
                </a:rPr>
                <a:t>美元，在时间</a:t>
              </a:r>
              <a:r>
                <a:rPr lang="en-US" altLang="zh-CN" sz="2000" dirty="0">
                  <a:solidFill>
                    <a:srgbClr val="060606"/>
                  </a:solidFill>
                </a:rPr>
                <a:t>2</a:t>
              </a:r>
              <a:r>
                <a:rPr lang="zh-CN" altLang="en-US" sz="2000" dirty="0">
                  <a:solidFill>
                    <a:srgbClr val="060606"/>
                  </a:solidFill>
                </a:rPr>
                <a:t>现金回报</a:t>
              </a:r>
              <a:r>
                <a:rPr lang="en-US" altLang="zh-CN" sz="2000" dirty="0">
                  <a:solidFill>
                    <a:srgbClr val="060606"/>
                  </a:solidFill>
                </a:rPr>
                <a:t>0.50</a:t>
              </a:r>
              <a:r>
                <a:rPr lang="zh-CN" altLang="en-US" sz="2000" dirty="0">
                  <a:solidFill>
                    <a:srgbClr val="060606"/>
                  </a:solidFill>
                </a:rPr>
                <a:t>美元，在时间</a:t>
              </a:r>
              <a:r>
                <a:rPr lang="en-US" altLang="zh-CN" sz="2000" dirty="0">
                  <a:solidFill>
                    <a:srgbClr val="060606"/>
                  </a:solidFill>
                </a:rPr>
                <a:t>3</a:t>
              </a:r>
              <a:r>
                <a:rPr lang="zh-CN" altLang="en-US" sz="2000" dirty="0">
                  <a:solidFill>
                    <a:srgbClr val="060606"/>
                  </a:solidFill>
                </a:rPr>
                <a:t>现金回报</a:t>
              </a:r>
              <a:r>
                <a:rPr lang="en-US" altLang="zh-CN" sz="2000" dirty="0">
                  <a:solidFill>
                    <a:srgbClr val="060606"/>
                  </a:solidFill>
                </a:rPr>
                <a:t>1</a:t>
              </a:r>
              <a:r>
                <a:rPr lang="zh-CN" altLang="en-US" sz="2000" dirty="0">
                  <a:solidFill>
                    <a:srgbClr val="060606"/>
                  </a:solidFill>
                </a:rPr>
                <a:t>美元。</a:t>
              </a:r>
              <a:endParaRPr lang="en-US" altLang="zh-CN" sz="2000" dirty="0">
                <a:solidFill>
                  <a:srgbClr val="060606"/>
                </a:solidFill>
              </a:endParaRPr>
            </a:p>
            <a:p>
              <a:pPr>
                <a:buNone/>
              </a:pPr>
              <a:endParaRPr lang="en-US" altLang="zh-CN" sz="2000" dirty="0">
                <a:solidFill>
                  <a:srgbClr val="060606"/>
                </a:solidFill>
              </a:endParaRPr>
            </a:p>
            <a:p>
              <a:pPr>
                <a:buNone/>
              </a:pPr>
              <a:endParaRPr lang="en-US" altLang="zh-CN" sz="2000" dirty="0">
                <a:solidFill>
                  <a:srgbClr val="060606"/>
                </a:solidFill>
              </a:endParaRPr>
            </a:p>
            <a:p>
              <a:pPr>
                <a:buNone/>
              </a:pPr>
              <a:endParaRPr lang="en-US" altLang="zh-CN" sz="2000" dirty="0">
                <a:solidFill>
                  <a:srgbClr val="060606"/>
                </a:solidFill>
              </a:endParaRPr>
            </a:p>
            <a:p>
              <a:pPr>
                <a:buNone/>
              </a:pPr>
              <a:endParaRPr lang="en-US" altLang="zh-CN" sz="2000" dirty="0">
                <a:solidFill>
                  <a:srgbClr val="060606"/>
                </a:solidFill>
              </a:endParaRPr>
            </a:p>
            <a:p>
              <a:pPr>
                <a:buNone/>
              </a:pPr>
              <a:endParaRPr lang="en-US" altLang="zh-CN" sz="2000" dirty="0">
                <a:solidFill>
                  <a:srgbClr val="060606"/>
                </a:solidFill>
              </a:endParaRPr>
            </a:p>
            <a:p>
              <a:pPr>
                <a:buNone/>
              </a:pPr>
              <a:endParaRPr lang="en-US" altLang="zh-CN" sz="2000" dirty="0">
                <a:solidFill>
                  <a:srgbClr val="060606"/>
                </a:solidFill>
              </a:endParaRPr>
            </a:p>
            <a:p>
              <a:pPr>
                <a:buNone/>
              </a:pPr>
              <a:endParaRPr lang="en-US" altLang="zh-CN" sz="2000" dirty="0">
                <a:solidFill>
                  <a:srgbClr val="060606"/>
                </a:solidFill>
              </a:endParaRPr>
            </a:p>
            <a:p>
              <a:pPr>
                <a:buNone/>
              </a:pPr>
              <a:endParaRPr lang="en-US" altLang="zh-CN" sz="2000" dirty="0">
                <a:solidFill>
                  <a:srgbClr val="060606"/>
                </a:solidFill>
              </a:endParaRPr>
            </a:p>
            <a:p>
              <a:pPr>
                <a:buNone/>
              </a:pPr>
              <a:r>
                <a:rPr lang="zh-CN" altLang="en-US" sz="2000" dirty="0">
                  <a:solidFill>
                    <a:srgbClr val="060606"/>
                  </a:solidFill>
                </a:rPr>
                <a:t>为了确保公司投资多样化，</a:t>
              </a:r>
              <a:r>
                <a:rPr lang="en-US" altLang="zh-CN" sz="2000" dirty="0" err="1">
                  <a:solidFill>
                    <a:srgbClr val="060606"/>
                  </a:solidFill>
                </a:rPr>
                <a:t>Finco</a:t>
              </a:r>
              <a:r>
                <a:rPr lang="zh-CN" altLang="en-US" sz="2000" dirty="0">
                  <a:solidFill>
                    <a:srgbClr val="060606"/>
                  </a:solidFill>
                </a:rPr>
                <a:t>公司要求投资于单个项目的资金最多为</a:t>
              </a:r>
              <a:r>
                <a:rPr lang="en-US" altLang="zh-CN" sz="2000" dirty="0">
                  <a:solidFill>
                    <a:srgbClr val="060606"/>
                  </a:solidFill>
                </a:rPr>
                <a:t>75,000</a:t>
              </a:r>
              <a:r>
                <a:rPr lang="zh-CN" altLang="en-US" sz="2000" dirty="0">
                  <a:solidFill>
                    <a:srgbClr val="060606"/>
                  </a:solidFill>
                </a:rPr>
                <a:t>美元。除了投资</a:t>
              </a:r>
              <a:r>
                <a:rPr lang="en-US" altLang="zh-CN" sz="2000" dirty="0">
                  <a:solidFill>
                    <a:srgbClr val="060606"/>
                  </a:solidFill>
                </a:rPr>
                <a:t>A</a:t>
              </a:r>
              <a:r>
                <a:rPr lang="zh-CN" altLang="en-US" sz="2000" dirty="0">
                  <a:solidFill>
                    <a:srgbClr val="060606"/>
                  </a:solidFill>
                </a:rPr>
                <a:t>、</a:t>
              </a:r>
              <a:r>
                <a:rPr lang="en-US" altLang="zh-CN" sz="2000" dirty="0">
                  <a:solidFill>
                    <a:srgbClr val="060606"/>
                  </a:solidFill>
                </a:rPr>
                <a:t>B</a:t>
              </a:r>
              <a:r>
                <a:rPr lang="zh-CN" altLang="en-US" sz="2000" dirty="0">
                  <a:solidFill>
                    <a:srgbClr val="060606"/>
                  </a:solidFill>
                </a:rPr>
                <a:t>、</a:t>
              </a:r>
              <a:r>
                <a:rPr lang="en-US" altLang="zh-CN" sz="2000" dirty="0">
                  <a:solidFill>
                    <a:srgbClr val="060606"/>
                  </a:solidFill>
                </a:rPr>
                <a:t>C</a:t>
              </a:r>
              <a:r>
                <a:rPr lang="zh-CN" altLang="en-US" sz="2000" dirty="0">
                  <a:solidFill>
                    <a:srgbClr val="060606"/>
                  </a:solidFill>
                </a:rPr>
                <a:t>、</a:t>
              </a:r>
              <a:r>
                <a:rPr lang="en-US" altLang="zh-CN" sz="2000" dirty="0">
                  <a:solidFill>
                    <a:srgbClr val="060606"/>
                  </a:solidFill>
                </a:rPr>
                <a:t>D</a:t>
              </a:r>
              <a:r>
                <a:rPr lang="zh-CN" altLang="en-US" sz="2000" dirty="0">
                  <a:solidFill>
                    <a:srgbClr val="060606"/>
                  </a:solidFill>
                </a:rPr>
                <a:t>和</a:t>
              </a:r>
              <a:r>
                <a:rPr lang="en-US" altLang="zh-CN" sz="2000" dirty="0">
                  <a:solidFill>
                    <a:srgbClr val="060606"/>
                  </a:solidFill>
                </a:rPr>
                <a:t>E</a:t>
              </a:r>
              <a:r>
                <a:rPr lang="zh-CN" altLang="en-US" sz="2000" dirty="0">
                  <a:solidFill>
                    <a:srgbClr val="060606"/>
                  </a:solidFill>
                </a:rPr>
                <a:t>外，通过将没有用于投资的现金投入货币市场基金，</a:t>
              </a:r>
              <a:r>
                <a:rPr lang="en-US" altLang="zh-CN" sz="2000" dirty="0" err="1">
                  <a:solidFill>
                    <a:srgbClr val="060606"/>
                  </a:solidFill>
                </a:rPr>
                <a:t>Finco</a:t>
              </a:r>
              <a:r>
                <a:rPr lang="zh-CN" altLang="en-US" sz="2000" dirty="0">
                  <a:solidFill>
                    <a:srgbClr val="060606"/>
                  </a:solidFill>
                </a:rPr>
                <a:t>公司每年可以得到</a:t>
              </a:r>
              <a:r>
                <a:rPr lang="en-US" altLang="zh-CN" sz="2000" dirty="0">
                  <a:solidFill>
                    <a:srgbClr val="060606"/>
                  </a:solidFill>
                </a:rPr>
                <a:t>8%</a:t>
              </a:r>
              <a:r>
                <a:rPr lang="zh-CN" altLang="en-US" sz="2000" dirty="0">
                  <a:solidFill>
                    <a:srgbClr val="060606"/>
                  </a:solidFill>
                </a:rPr>
                <a:t>的利息。投资回报可以马上用于再投资。例如，在时间</a:t>
              </a:r>
              <a:r>
                <a:rPr lang="en-US" altLang="zh-CN" sz="2000" dirty="0">
                  <a:solidFill>
                    <a:srgbClr val="060606"/>
                  </a:solidFill>
                </a:rPr>
                <a:t>1</a:t>
              </a:r>
              <a:r>
                <a:rPr lang="zh-CN" altLang="en-US" sz="2000" dirty="0">
                  <a:solidFill>
                    <a:srgbClr val="060606"/>
                  </a:solidFill>
                </a:rPr>
                <a:t>从投资项目</a:t>
              </a:r>
              <a:r>
                <a:rPr lang="en-US" altLang="zh-CN" sz="2000" dirty="0">
                  <a:solidFill>
                    <a:srgbClr val="060606"/>
                  </a:solidFill>
                </a:rPr>
                <a:t>C</a:t>
              </a:r>
              <a:r>
                <a:rPr lang="zh-CN" altLang="en-US" sz="2000" dirty="0">
                  <a:solidFill>
                    <a:srgbClr val="060606"/>
                  </a:solidFill>
                </a:rPr>
                <a:t>获得的正现金流可以马上再投资于项目</a:t>
              </a:r>
              <a:r>
                <a:rPr lang="en-US" altLang="zh-CN" sz="2000" dirty="0">
                  <a:solidFill>
                    <a:srgbClr val="060606"/>
                  </a:solidFill>
                </a:rPr>
                <a:t>B</a:t>
              </a:r>
              <a:r>
                <a:rPr lang="zh-CN" altLang="en-US" sz="2000" dirty="0">
                  <a:solidFill>
                    <a:srgbClr val="060606"/>
                  </a:solidFill>
                </a:rPr>
                <a:t>。</a:t>
              </a:r>
              <a:endParaRPr lang="en-US" altLang="zh-CN" sz="2000" dirty="0">
                <a:solidFill>
                  <a:srgbClr val="060606"/>
                </a:solidFill>
              </a:endParaRPr>
            </a:p>
            <a:p>
              <a:pPr>
                <a:buNone/>
              </a:pPr>
              <a:r>
                <a:rPr lang="en-US" altLang="zh-CN" sz="2000" dirty="0" err="1">
                  <a:solidFill>
                    <a:srgbClr val="060606"/>
                  </a:solidFill>
                </a:rPr>
                <a:t>Finco</a:t>
              </a:r>
              <a:r>
                <a:rPr lang="zh-CN" altLang="en-US" sz="2000" dirty="0">
                  <a:solidFill>
                    <a:srgbClr val="060606"/>
                  </a:solidFill>
                </a:rPr>
                <a:t>公司不能借款，所以任何时间可用于投资的现金仅限于库存现金。</a:t>
              </a:r>
              <a:endParaRPr lang="en-US" altLang="zh-CN" sz="2000" dirty="0">
                <a:solidFill>
                  <a:srgbClr val="060606"/>
                </a:solidFill>
              </a:endParaRPr>
            </a:p>
            <a:p>
              <a:pPr>
                <a:buNone/>
              </a:pPr>
              <a:r>
                <a:rPr lang="zh-CN" altLang="en-US" sz="2000" dirty="0">
                  <a:solidFill>
                    <a:srgbClr val="060606"/>
                  </a:solidFill>
                </a:rPr>
                <a:t>表述一个使时间</a:t>
              </a:r>
              <a:r>
                <a:rPr lang="en-US" altLang="zh-CN" sz="2000" dirty="0">
                  <a:solidFill>
                    <a:srgbClr val="060606"/>
                  </a:solidFill>
                </a:rPr>
                <a:t>3</a:t>
              </a:r>
              <a:r>
                <a:rPr lang="zh-CN" altLang="en-US" sz="2000" dirty="0">
                  <a:solidFill>
                    <a:srgbClr val="060606"/>
                  </a:solidFill>
                </a:rPr>
                <a:t>时的库存现金最大化的</a:t>
              </a:r>
              <a:r>
                <a:rPr lang="en-US" altLang="zh-CN" sz="2000" dirty="0">
                  <a:solidFill>
                    <a:srgbClr val="060606"/>
                  </a:solidFill>
                </a:rPr>
                <a:t>LP</a:t>
              </a:r>
              <a:r>
                <a:rPr lang="zh-CN" altLang="en-US" sz="2000" dirty="0">
                  <a:solidFill>
                    <a:srgbClr val="060606"/>
                  </a:solidFill>
                </a:rPr>
                <a:t>。</a:t>
              </a:r>
              <a:endParaRPr lang="zh-CN" altLang="en-US" sz="2000" dirty="0">
                <a:solidFill>
                  <a:srgbClr val="060606"/>
                </a:solidFill>
              </a:endParaRPr>
            </a:p>
          </p:txBody>
        </p:sp>
      </p:grpSp>
      <p:graphicFrame>
        <p:nvGraphicFramePr>
          <p:cNvPr id="6" name="表格 5"/>
          <p:cNvGraphicFramePr>
            <a:graphicFrameLocks noGrp="1"/>
          </p:cNvGraphicFramePr>
          <p:nvPr/>
        </p:nvGraphicFramePr>
        <p:xfrm>
          <a:off x="3700061" y="2141220"/>
          <a:ext cx="8208910" cy="2575560"/>
        </p:xfrm>
        <a:graphic>
          <a:graphicData uri="http://schemas.openxmlformats.org/drawingml/2006/table">
            <a:tbl>
              <a:tblPr firstRow="1" bandRow="1">
                <a:tableStyleId>{5C22544A-7EE6-4342-B048-85BDC9FD1C3A}</a:tableStyleId>
              </a:tblPr>
              <a:tblGrid>
                <a:gridCol w="1641782"/>
                <a:gridCol w="1641782"/>
                <a:gridCol w="1641782"/>
                <a:gridCol w="1641782"/>
                <a:gridCol w="1641782"/>
              </a:tblGrid>
              <a:tr h="370840">
                <a:tc gridSpan="5">
                  <a:txBody>
                    <a:bodyPr/>
                    <a:lstStyle/>
                    <a:p>
                      <a:pPr algn="ctr"/>
                      <a:r>
                        <a:rPr lang="zh-CN" altLang="en-US" dirty="0">
                          <a:solidFill>
                            <a:srgbClr val="000018"/>
                          </a:solidFill>
                        </a:rPr>
                        <a:t>练习</a:t>
                      </a:r>
                      <a:r>
                        <a:rPr lang="en-US" altLang="zh-CN" dirty="0">
                          <a:solidFill>
                            <a:srgbClr val="000018"/>
                          </a:solidFill>
                        </a:rPr>
                        <a:t>21</a:t>
                      </a:r>
                      <a:r>
                        <a:rPr lang="zh-CN" altLang="en-US" dirty="0">
                          <a:solidFill>
                            <a:srgbClr val="000018"/>
                          </a:solidFill>
                        </a:rPr>
                        <a:t>的表  与投资有关的现金流</a:t>
                      </a:r>
                      <a:endParaRPr lang="zh-CN" altLang="en-US" dirty="0">
                        <a:solidFill>
                          <a:srgbClr val="000018"/>
                        </a:solidFill>
                      </a:endParaRPr>
                    </a:p>
                  </a:txBody>
                  <a:tcPr>
                    <a:lnB w="38100" cap="flat" cmpd="sng" algn="ctr">
                      <a:solidFill>
                        <a:schemeClr val="tx1"/>
                      </a:solidFill>
                      <a:prstDash val="solid"/>
                      <a:round/>
                      <a:headEnd type="none" w="med" len="med"/>
                      <a:tailEnd type="none" w="med" len="med"/>
                    </a:lnB>
                  </a:tcPr>
                </a:tc>
                <a:tc hMerge="1">
                  <a:tcPr/>
                </a:tc>
                <a:tc hMerge="1">
                  <a:tcPr/>
                </a:tc>
                <a:tc hMerge="1">
                  <a:tcPr/>
                </a:tc>
                <a:tc hMerge="1">
                  <a:tcPr/>
                </a:tc>
              </a:tr>
              <a:tr h="370840">
                <a:tc rowSpan="2">
                  <a:txBody>
                    <a:bodyPr/>
                    <a:lstStyle/>
                    <a:p>
                      <a:pPr algn="ctr"/>
                      <a:endParaRPr lang="zh-CN" altLang="en-US"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gridSpan="4">
                  <a:txBody>
                    <a:bodyPr/>
                    <a:lstStyle/>
                    <a:p>
                      <a:pPr algn="ctr"/>
                      <a:r>
                        <a:rPr lang="zh-CN" altLang="en-US" dirty="0">
                          <a:solidFill>
                            <a:srgbClr val="000018"/>
                          </a:solidFill>
                        </a:rPr>
                        <a:t>不同时间的现金流</a:t>
                      </a:r>
                      <a:r>
                        <a:rPr lang="en-US" altLang="zh-CN" dirty="0">
                          <a:solidFill>
                            <a:srgbClr val="000018"/>
                          </a:solidFill>
                        </a:rPr>
                        <a:t>(</a:t>
                      </a:r>
                      <a:r>
                        <a:rPr lang="zh-CN" altLang="en-US" dirty="0">
                          <a:solidFill>
                            <a:srgbClr val="000018"/>
                          </a:solidFill>
                        </a:rPr>
                        <a:t>美元</a:t>
                      </a:r>
                      <a:r>
                        <a:rPr lang="en-US" altLang="zh-CN" dirty="0">
                          <a:solidFill>
                            <a:srgbClr val="000018"/>
                          </a:solidFill>
                        </a:rPr>
                        <a:t>)</a:t>
                      </a:r>
                      <a:endParaRPr lang="zh-CN" altLang="en-US"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dirty="0">
                          <a:solidFill>
                            <a:srgbClr val="000018"/>
                          </a:solidFill>
                        </a:rPr>
                        <a:t>0=</a:t>
                      </a:r>
                      <a:r>
                        <a:rPr lang="zh-CN" altLang="en-US" dirty="0">
                          <a:solidFill>
                            <a:srgbClr val="000018"/>
                          </a:solidFill>
                        </a:rPr>
                        <a:t>现在</a:t>
                      </a:r>
                      <a:endParaRPr lang="zh-CN" altLang="en-US" dirty="0">
                        <a:solidFill>
                          <a:srgbClr val="000018"/>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dirty="0">
                          <a:solidFill>
                            <a:srgbClr val="000018"/>
                          </a:solidFill>
                        </a:rPr>
                        <a:t>1=</a:t>
                      </a:r>
                      <a:r>
                        <a:rPr lang="zh-CN" altLang="en-US" dirty="0">
                          <a:solidFill>
                            <a:srgbClr val="000018"/>
                          </a:solidFill>
                        </a:rPr>
                        <a:t>距今</a:t>
                      </a:r>
                      <a:r>
                        <a:rPr lang="en-US" altLang="zh-CN" dirty="0">
                          <a:solidFill>
                            <a:srgbClr val="000018"/>
                          </a:solidFill>
                        </a:rPr>
                        <a:t>1</a:t>
                      </a:r>
                      <a:r>
                        <a:rPr lang="zh-CN" altLang="en-US" dirty="0">
                          <a:solidFill>
                            <a:srgbClr val="000018"/>
                          </a:solidFill>
                        </a:rPr>
                        <a:t>年</a:t>
                      </a:r>
                      <a:endParaRPr lang="zh-CN" altLang="en-US" dirty="0">
                        <a:solidFill>
                          <a:srgbClr val="000018"/>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dirty="0">
                          <a:solidFill>
                            <a:srgbClr val="000018"/>
                          </a:solidFill>
                        </a:rPr>
                        <a:t>2=</a:t>
                      </a:r>
                      <a:r>
                        <a:rPr lang="zh-CN" altLang="en-US" dirty="0">
                          <a:solidFill>
                            <a:srgbClr val="000018"/>
                          </a:solidFill>
                        </a:rPr>
                        <a:t>距今</a:t>
                      </a:r>
                      <a:r>
                        <a:rPr lang="en-US" altLang="zh-CN" dirty="0">
                          <a:solidFill>
                            <a:srgbClr val="000018"/>
                          </a:solidFill>
                        </a:rPr>
                        <a:t>2</a:t>
                      </a:r>
                      <a:r>
                        <a:rPr lang="zh-CN" altLang="en-US" dirty="0">
                          <a:solidFill>
                            <a:srgbClr val="000018"/>
                          </a:solidFill>
                        </a:rPr>
                        <a:t>年</a:t>
                      </a:r>
                      <a:endParaRPr lang="zh-CN" altLang="en-US" dirty="0">
                        <a:solidFill>
                          <a:srgbClr val="000018"/>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dirty="0">
                          <a:solidFill>
                            <a:srgbClr val="000018"/>
                          </a:solidFill>
                        </a:rPr>
                        <a:t>3=</a:t>
                      </a:r>
                      <a:r>
                        <a:rPr lang="zh-CN" altLang="en-US" dirty="0">
                          <a:solidFill>
                            <a:srgbClr val="000018"/>
                          </a:solidFill>
                        </a:rPr>
                        <a:t>距今</a:t>
                      </a:r>
                      <a:r>
                        <a:rPr lang="en-US" altLang="zh-CN" dirty="0">
                          <a:solidFill>
                            <a:srgbClr val="000018"/>
                          </a:solidFill>
                        </a:rPr>
                        <a:t>3</a:t>
                      </a:r>
                      <a:r>
                        <a:rPr lang="zh-CN" altLang="en-US" dirty="0">
                          <a:solidFill>
                            <a:srgbClr val="000018"/>
                          </a:solidFill>
                        </a:rPr>
                        <a:t>年</a:t>
                      </a:r>
                      <a:endParaRPr lang="zh-CN" altLang="en-US"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a:txBody>
                    <a:bodyPr/>
                    <a:lstStyle/>
                    <a:p>
                      <a:pPr algn="ctr"/>
                      <a:r>
                        <a:rPr lang="en-US" altLang="zh-CN" dirty="0">
                          <a:solidFill>
                            <a:srgbClr val="000018"/>
                          </a:solidFill>
                        </a:rPr>
                        <a:t>A</a:t>
                      </a:r>
                      <a:endParaRPr lang="en-US" altLang="zh-CN" dirty="0">
                        <a:solidFill>
                          <a:srgbClr val="000018"/>
                        </a:solidFill>
                      </a:endParaRPr>
                    </a:p>
                    <a:p>
                      <a:pPr algn="ctr"/>
                      <a:r>
                        <a:rPr lang="en-US" altLang="zh-CN" dirty="0">
                          <a:solidFill>
                            <a:srgbClr val="000018"/>
                          </a:solidFill>
                        </a:rPr>
                        <a:t>B</a:t>
                      </a:r>
                      <a:endParaRPr lang="en-US" altLang="zh-CN" dirty="0">
                        <a:solidFill>
                          <a:srgbClr val="000018"/>
                        </a:solidFill>
                      </a:endParaRPr>
                    </a:p>
                    <a:p>
                      <a:pPr algn="ctr"/>
                      <a:r>
                        <a:rPr lang="en-US" altLang="zh-CN" dirty="0">
                          <a:solidFill>
                            <a:srgbClr val="000018"/>
                          </a:solidFill>
                        </a:rPr>
                        <a:t>C</a:t>
                      </a:r>
                      <a:endParaRPr lang="en-US" altLang="zh-CN" dirty="0">
                        <a:solidFill>
                          <a:srgbClr val="000018"/>
                        </a:solidFill>
                      </a:endParaRPr>
                    </a:p>
                    <a:p>
                      <a:pPr algn="ctr"/>
                      <a:r>
                        <a:rPr lang="en-US" altLang="zh-CN" dirty="0">
                          <a:solidFill>
                            <a:srgbClr val="000018"/>
                          </a:solidFill>
                        </a:rPr>
                        <a:t>D</a:t>
                      </a:r>
                      <a:endParaRPr lang="en-US" altLang="zh-CN" dirty="0">
                        <a:solidFill>
                          <a:srgbClr val="000018"/>
                        </a:solidFill>
                      </a:endParaRPr>
                    </a:p>
                    <a:p>
                      <a:pPr algn="ctr"/>
                      <a:r>
                        <a:rPr lang="en-US" altLang="zh-CN" dirty="0">
                          <a:solidFill>
                            <a:srgbClr val="000018"/>
                          </a:solidFill>
                        </a:rPr>
                        <a:t>E</a:t>
                      </a:r>
                      <a:endParaRPr lang="zh-CN" altLang="en-US" dirty="0">
                        <a:solidFill>
                          <a:srgbClr val="000018"/>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en-US" altLang="zh-CN" dirty="0">
                          <a:solidFill>
                            <a:srgbClr val="000018"/>
                          </a:solidFill>
                        </a:rPr>
                        <a:t>-1</a:t>
                      </a:r>
                      <a:endParaRPr lang="en-US" altLang="zh-CN" dirty="0">
                        <a:solidFill>
                          <a:srgbClr val="000018"/>
                        </a:solidFill>
                      </a:endParaRPr>
                    </a:p>
                    <a:p>
                      <a:pPr algn="ctr"/>
                      <a:r>
                        <a:rPr lang="en-US" altLang="zh-CN" dirty="0">
                          <a:solidFill>
                            <a:srgbClr val="000018"/>
                          </a:solidFill>
                        </a:rPr>
                        <a:t>0</a:t>
                      </a:r>
                      <a:endParaRPr lang="en-US" altLang="zh-CN" dirty="0">
                        <a:solidFill>
                          <a:srgbClr val="000018"/>
                        </a:solidFill>
                      </a:endParaRPr>
                    </a:p>
                    <a:p>
                      <a:pPr algn="ctr"/>
                      <a:r>
                        <a:rPr lang="en-US" altLang="zh-CN" dirty="0">
                          <a:solidFill>
                            <a:srgbClr val="000018"/>
                          </a:solidFill>
                        </a:rPr>
                        <a:t>-1</a:t>
                      </a:r>
                      <a:endParaRPr lang="en-US" altLang="zh-CN" dirty="0">
                        <a:solidFill>
                          <a:srgbClr val="000018"/>
                        </a:solidFill>
                      </a:endParaRPr>
                    </a:p>
                    <a:p>
                      <a:pPr algn="ctr"/>
                      <a:r>
                        <a:rPr lang="en-US" altLang="zh-CN" dirty="0">
                          <a:solidFill>
                            <a:srgbClr val="000018"/>
                          </a:solidFill>
                        </a:rPr>
                        <a:t>-1</a:t>
                      </a:r>
                      <a:endParaRPr lang="en-US" altLang="zh-CN" dirty="0">
                        <a:solidFill>
                          <a:srgbClr val="000018"/>
                        </a:solidFill>
                      </a:endParaRPr>
                    </a:p>
                    <a:p>
                      <a:pPr algn="ctr"/>
                      <a:r>
                        <a:rPr lang="en-US" altLang="zh-CN" dirty="0">
                          <a:solidFill>
                            <a:srgbClr val="000018"/>
                          </a:solidFill>
                        </a:rPr>
                        <a:t>0</a:t>
                      </a:r>
                      <a:endParaRPr lang="zh-CN" altLang="en-US" dirty="0">
                        <a:solidFill>
                          <a:srgbClr val="000018"/>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en-US" altLang="zh-CN" dirty="0">
                          <a:solidFill>
                            <a:srgbClr val="000018"/>
                          </a:solidFill>
                        </a:rPr>
                        <a:t>+0.50</a:t>
                      </a:r>
                      <a:endParaRPr lang="en-US" altLang="zh-CN" dirty="0">
                        <a:solidFill>
                          <a:srgbClr val="000018"/>
                        </a:solidFill>
                      </a:endParaRPr>
                    </a:p>
                    <a:p>
                      <a:pPr algn="ctr"/>
                      <a:r>
                        <a:rPr lang="en-US" altLang="zh-CN" dirty="0">
                          <a:solidFill>
                            <a:srgbClr val="000018"/>
                          </a:solidFill>
                        </a:rPr>
                        <a:t>-1</a:t>
                      </a:r>
                      <a:endParaRPr lang="en-US" altLang="zh-CN" dirty="0">
                        <a:solidFill>
                          <a:srgbClr val="000018"/>
                        </a:solidFill>
                      </a:endParaRPr>
                    </a:p>
                    <a:p>
                      <a:pPr algn="ctr"/>
                      <a:r>
                        <a:rPr lang="en-US" altLang="zh-CN" dirty="0">
                          <a:solidFill>
                            <a:srgbClr val="000018"/>
                          </a:solidFill>
                        </a:rPr>
                        <a:t>+1.2</a:t>
                      </a:r>
                      <a:endParaRPr lang="en-US" altLang="zh-CN" dirty="0">
                        <a:solidFill>
                          <a:srgbClr val="000018"/>
                        </a:solidFill>
                      </a:endParaRPr>
                    </a:p>
                    <a:p>
                      <a:pPr algn="ctr"/>
                      <a:r>
                        <a:rPr lang="en-US" altLang="zh-CN" dirty="0">
                          <a:solidFill>
                            <a:srgbClr val="000018"/>
                          </a:solidFill>
                        </a:rPr>
                        <a:t>0</a:t>
                      </a:r>
                      <a:endParaRPr lang="en-US" altLang="zh-CN" dirty="0">
                        <a:solidFill>
                          <a:srgbClr val="000018"/>
                        </a:solidFill>
                      </a:endParaRPr>
                    </a:p>
                    <a:p>
                      <a:pPr algn="ctr"/>
                      <a:r>
                        <a:rPr lang="en-US" altLang="zh-CN" dirty="0">
                          <a:solidFill>
                            <a:srgbClr val="000018"/>
                          </a:solidFill>
                        </a:rPr>
                        <a:t>0</a:t>
                      </a:r>
                      <a:endParaRPr lang="zh-CN" altLang="en-US" dirty="0">
                        <a:solidFill>
                          <a:srgbClr val="000018"/>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en-US" altLang="zh-CN" dirty="0">
                          <a:solidFill>
                            <a:srgbClr val="000018"/>
                          </a:solidFill>
                        </a:rPr>
                        <a:t>+1</a:t>
                      </a:r>
                      <a:endParaRPr lang="en-US" altLang="zh-CN" dirty="0">
                        <a:solidFill>
                          <a:srgbClr val="000018"/>
                        </a:solidFill>
                      </a:endParaRPr>
                    </a:p>
                    <a:p>
                      <a:pPr algn="ctr"/>
                      <a:r>
                        <a:rPr lang="en-US" altLang="zh-CN" dirty="0">
                          <a:solidFill>
                            <a:srgbClr val="000018"/>
                          </a:solidFill>
                        </a:rPr>
                        <a:t>+0.50</a:t>
                      </a:r>
                      <a:endParaRPr lang="en-US" altLang="zh-CN" dirty="0">
                        <a:solidFill>
                          <a:srgbClr val="000018"/>
                        </a:solidFill>
                      </a:endParaRPr>
                    </a:p>
                    <a:p>
                      <a:pPr algn="ctr"/>
                      <a:r>
                        <a:rPr lang="en-US" altLang="zh-CN" dirty="0">
                          <a:solidFill>
                            <a:srgbClr val="000018"/>
                          </a:solidFill>
                        </a:rPr>
                        <a:t>0</a:t>
                      </a:r>
                      <a:endParaRPr lang="en-US" altLang="zh-CN" dirty="0">
                        <a:solidFill>
                          <a:srgbClr val="000018"/>
                        </a:solidFill>
                      </a:endParaRPr>
                    </a:p>
                    <a:p>
                      <a:pPr algn="ctr"/>
                      <a:r>
                        <a:rPr lang="en-US" altLang="zh-CN" dirty="0">
                          <a:solidFill>
                            <a:srgbClr val="000018"/>
                          </a:solidFill>
                        </a:rPr>
                        <a:t>0</a:t>
                      </a:r>
                      <a:endParaRPr lang="en-US" altLang="zh-CN" dirty="0">
                        <a:solidFill>
                          <a:srgbClr val="000018"/>
                        </a:solidFill>
                      </a:endParaRPr>
                    </a:p>
                    <a:p>
                      <a:pPr algn="ctr"/>
                      <a:r>
                        <a:rPr lang="en-US" altLang="zh-CN" dirty="0">
                          <a:solidFill>
                            <a:srgbClr val="000018"/>
                          </a:solidFill>
                        </a:rPr>
                        <a:t>-1</a:t>
                      </a:r>
                      <a:endParaRPr lang="zh-CN" altLang="en-US" dirty="0">
                        <a:solidFill>
                          <a:srgbClr val="000018"/>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en-US" altLang="zh-CN" dirty="0">
                          <a:solidFill>
                            <a:srgbClr val="000018"/>
                          </a:solidFill>
                        </a:rPr>
                        <a:t>0</a:t>
                      </a:r>
                      <a:endParaRPr lang="en-US" altLang="zh-CN" dirty="0">
                        <a:solidFill>
                          <a:srgbClr val="000018"/>
                        </a:solidFill>
                      </a:endParaRPr>
                    </a:p>
                    <a:p>
                      <a:pPr algn="ctr"/>
                      <a:r>
                        <a:rPr lang="en-US" altLang="zh-CN" dirty="0">
                          <a:solidFill>
                            <a:srgbClr val="000018"/>
                          </a:solidFill>
                        </a:rPr>
                        <a:t>+1</a:t>
                      </a:r>
                      <a:endParaRPr lang="en-US" altLang="zh-CN" dirty="0">
                        <a:solidFill>
                          <a:srgbClr val="000018"/>
                        </a:solidFill>
                      </a:endParaRPr>
                    </a:p>
                    <a:p>
                      <a:pPr algn="ctr"/>
                      <a:r>
                        <a:rPr lang="en-US" altLang="zh-CN" dirty="0">
                          <a:solidFill>
                            <a:srgbClr val="000018"/>
                          </a:solidFill>
                        </a:rPr>
                        <a:t>0</a:t>
                      </a:r>
                      <a:endParaRPr lang="en-US" altLang="zh-CN" dirty="0">
                        <a:solidFill>
                          <a:srgbClr val="000018"/>
                        </a:solidFill>
                      </a:endParaRPr>
                    </a:p>
                    <a:p>
                      <a:pPr algn="ctr"/>
                      <a:r>
                        <a:rPr lang="en-US" altLang="zh-CN" dirty="0">
                          <a:solidFill>
                            <a:srgbClr val="000018"/>
                          </a:solidFill>
                        </a:rPr>
                        <a:t>+1.9</a:t>
                      </a:r>
                      <a:endParaRPr lang="en-US" altLang="zh-CN" dirty="0">
                        <a:solidFill>
                          <a:srgbClr val="000018"/>
                        </a:solidFill>
                      </a:endParaRPr>
                    </a:p>
                    <a:p>
                      <a:pPr algn="ctr"/>
                      <a:r>
                        <a:rPr lang="en-US" altLang="zh-CN" dirty="0">
                          <a:solidFill>
                            <a:srgbClr val="000018"/>
                          </a:solidFill>
                        </a:rPr>
                        <a:t>+1.5</a:t>
                      </a:r>
                      <a:endParaRPr lang="zh-CN" altLang="en-US" dirty="0">
                        <a:solidFill>
                          <a:srgbClr val="000018"/>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b="1" dirty="0">
                <a:latin typeface="+mj-ea"/>
                <a:ea typeface="+mj-ea"/>
              </a:rPr>
              <a:t>练习</a:t>
            </a:r>
            <a:r>
              <a:rPr lang="en-US" altLang="zh-CN" sz="2800" b="1" dirty="0">
                <a:latin typeface="+mj-ea"/>
                <a:ea typeface="+mj-ea"/>
              </a:rPr>
              <a:t>22</a:t>
            </a:r>
            <a:r>
              <a:rPr lang="en-US" altLang="zh-CN" sz="2800" b="1" dirty="0">
                <a:solidFill>
                  <a:srgbClr val="060606"/>
                </a:solidFill>
                <a:latin typeface="+mj-ea"/>
                <a:ea typeface="+mj-ea"/>
              </a:rPr>
              <a:t> </a:t>
            </a:r>
            <a:r>
              <a:rPr lang="en-US" altLang="zh-CN" sz="2800" b="1" dirty="0" err="1">
                <a:solidFill>
                  <a:srgbClr val="060606"/>
                </a:solidFill>
                <a:latin typeface="+mj-ea"/>
                <a:ea typeface="+mj-ea"/>
              </a:rPr>
              <a:t>Sailco</a:t>
            </a:r>
            <a:r>
              <a:rPr lang="zh-CN" altLang="en-US" sz="2800" b="1" dirty="0">
                <a:solidFill>
                  <a:srgbClr val="060606"/>
                </a:solidFill>
                <a:latin typeface="+mj-ea"/>
                <a:ea typeface="+mj-ea"/>
              </a:rPr>
              <a:t>公司的库存</a:t>
            </a:r>
            <a:endParaRPr lang="zh-CN" altLang="en-US" sz="2800" b="1" dirty="0">
              <a:latin typeface="+mj-ea"/>
              <a:ea typeface="+mj-ea"/>
            </a:endParaRPr>
          </a:p>
        </p:txBody>
      </p:sp>
      <p:grpSp>
        <p:nvGrpSpPr>
          <p:cNvPr id="5" name="组合 4"/>
          <p:cNvGrpSpPr/>
          <p:nvPr/>
        </p:nvGrpSpPr>
        <p:grpSpPr>
          <a:xfrm>
            <a:off x="108857" y="660645"/>
            <a:ext cx="11930743" cy="6370976"/>
            <a:chOff x="108857" y="838199"/>
            <a:chExt cx="11930743" cy="6370976"/>
          </a:xfrm>
        </p:grpSpPr>
        <p:sp>
          <p:nvSpPr>
            <p:cNvPr id="3" name="矩形: 折角 2"/>
            <p:cNvSpPr/>
            <p:nvPr/>
          </p:nvSpPr>
          <p:spPr>
            <a:xfrm flipV="1">
              <a:off x="108857" y="838199"/>
              <a:ext cx="11930743" cy="6077611"/>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52400" y="838200"/>
              <a:ext cx="11213554" cy="6370975"/>
            </a:xfrm>
            <a:prstGeom prst="rect">
              <a:avLst/>
            </a:prstGeom>
            <a:noFill/>
          </p:spPr>
          <p:txBody>
            <a:bodyPr wrap="square" rtlCol="0">
              <a:spAutoFit/>
            </a:bodyPr>
            <a:lstStyle/>
            <a:p>
              <a:pPr>
                <a:buNone/>
              </a:pPr>
              <a:r>
                <a:rPr lang="en-US" altLang="zh-CN" sz="2400" dirty="0">
                  <a:solidFill>
                    <a:srgbClr val="060606"/>
                  </a:solidFill>
                </a:rPr>
                <a:t>【</a:t>
              </a:r>
              <a:r>
                <a:rPr lang="zh-CN" altLang="en-US" sz="2400" dirty="0">
                  <a:solidFill>
                    <a:srgbClr val="060606"/>
                  </a:solidFill>
                </a:rPr>
                <a:t>区别于静态或单阶段模型</a:t>
              </a:r>
              <a:r>
                <a:rPr lang="en-US" altLang="zh-CN" sz="2400" dirty="0">
                  <a:solidFill>
                    <a:srgbClr val="060606"/>
                  </a:solidFill>
                </a:rPr>
                <a:t>,</a:t>
              </a:r>
              <a:r>
                <a:rPr lang="zh-CN" altLang="en-US" sz="2400" dirty="0">
                  <a:solidFill>
                    <a:srgbClr val="060606"/>
                  </a:solidFill>
                </a:rPr>
                <a:t>即假定所以决策都是在单个时间点做出的。动态模型出现在决策者在多个时间点做出决策之时，在动态模型中，当前阶段做出的决策将影响未来阶段做出的决策。例如，一家公司必须确定每个月应当生产多少件产品。如果当月生产的产品很多，这将减少以后月份生产的产品数量。</a:t>
              </a:r>
              <a:endParaRPr lang="en-US" altLang="zh-CN" sz="2400" dirty="0">
                <a:solidFill>
                  <a:srgbClr val="060606"/>
                </a:solidFill>
              </a:endParaRPr>
            </a:p>
            <a:p>
              <a:pPr>
                <a:buNone/>
              </a:pPr>
              <a:r>
                <a:rPr lang="zh-CN" altLang="en-US" sz="2400" dirty="0">
                  <a:solidFill>
                    <a:srgbClr val="060606"/>
                  </a:solidFill>
                </a:rPr>
                <a:t>多阶段线性规划问题说明的是早期决策如何影响后期决策的</a:t>
              </a:r>
              <a:r>
                <a:rPr lang="en-US" altLang="zh-CN" sz="2400" dirty="0">
                  <a:solidFill>
                    <a:srgbClr val="060606"/>
                  </a:solidFill>
                </a:rPr>
                <a:t>!】</a:t>
              </a:r>
              <a:endParaRPr lang="en-US" altLang="zh-CN" sz="2400" dirty="0">
                <a:solidFill>
                  <a:srgbClr val="060606"/>
                </a:solidFill>
              </a:endParaRPr>
            </a:p>
            <a:p>
              <a:pPr>
                <a:buNone/>
              </a:pPr>
              <a:endParaRPr lang="en-US" altLang="zh-CN" sz="900" dirty="0">
                <a:solidFill>
                  <a:srgbClr val="060606"/>
                </a:solidFill>
              </a:endParaRPr>
            </a:p>
            <a:p>
              <a:pPr>
                <a:buNone/>
              </a:pPr>
              <a:r>
                <a:rPr lang="en-US" altLang="zh-CN" sz="2400" dirty="0" err="1">
                  <a:solidFill>
                    <a:srgbClr val="060606"/>
                  </a:solidFill>
                </a:rPr>
                <a:t>Sailco</a:t>
              </a:r>
              <a:r>
                <a:rPr lang="zh-CN" altLang="en-US" sz="2400" dirty="0">
                  <a:solidFill>
                    <a:srgbClr val="060606"/>
                  </a:solidFill>
                </a:rPr>
                <a:t>公司必须确定在今后</a:t>
              </a:r>
              <a:r>
                <a:rPr lang="en-US" altLang="zh-CN" sz="2400" dirty="0">
                  <a:solidFill>
                    <a:srgbClr val="060606"/>
                  </a:solidFill>
                </a:rPr>
                <a:t>4</a:t>
              </a:r>
              <a:r>
                <a:rPr lang="zh-CN" altLang="en-US" sz="2400" dirty="0">
                  <a:solidFill>
                    <a:srgbClr val="060606"/>
                  </a:solidFill>
                </a:rPr>
                <a:t>个季度每个季度中应当生产多少艘帆船。在今后</a:t>
              </a:r>
              <a:r>
                <a:rPr lang="en-US" altLang="zh-CN" sz="2400" dirty="0">
                  <a:solidFill>
                    <a:srgbClr val="060606"/>
                  </a:solidFill>
                </a:rPr>
                <a:t>4</a:t>
              </a:r>
              <a:r>
                <a:rPr lang="zh-CN" altLang="en-US" sz="2400" dirty="0">
                  <a:solidFill>
                    <a:srgbClr val="060606"/>
                  </a:solidFill>
                </a:rPr>
                <a:t>个季度中，每个季度的需求量是：第</a:t>
              </a:r>
              <a:r>
                <a:rPr lang="en-US" altLang="zh-CN" sz="2400" dirty="0">
                  <a:solidFill>
                    <a:srgbClr val="060606"/>
                  </a:solidFill>
                </a:rPr>
                <a:t>1</a:t>
              </a:r>
              <a:r>
                <a:rPr lang="zh-CN" altLang="en-US" sz="2400" dirty="0">
                  <a:solidFill>
                    <a:srgbClr val="060606"/>
                  </a:solidFill>
                </a:rPr>
                <a:t>季度为</a:t>
              </a:r>
              <a:r>
                <a:rPr lang="en-US" altLang="zh-CN" sz="2400" dirty="0">
                  <a:solidFill>
                    <a:srgbClr val="060606"/>
                  </a:solidFill>
                </a:rPr>
                <a:t>40</a:t>
              </a:r>
              <a:r>
                <a:rPr lang="zh-CN" altLang="en-US" sz="2400" dirty="0">
                  <a:solidFill>
                    <a:srgbClr val="060606"/>
                  </a:solidFill>
                </a:rPr>
                <a:t>艘帆船，</a:t>
              </a:r>
              <a:r>
                <a:rPr lang="zh-CN" altLang="zh-CN" sz="2400" dirty="0">
                  <a:solidFill>
                    <a:srgbClr val="060606"/>
                  </a:solidFill>
                </a:rPr>
                <a:t>第</a:t>
              </a:r>
              <a:r>
                <a:rPr lang="en-US" altLang="zh-CN" sz="2400" dirty="0">
                  <a:solidFill>
                    <a:srgbClr val="060606"/>
                  </a:solidFill>
                </a:rPr>
                <a:t>2</a:t>
              </a:r>
              <a:r>
                <a:rPr lang="zh-CN" altLang="zh-CN" sz="2400" dirty="0">
                  <a:solidFill>
                    <a:srgbClr val="060606"/>
                  </a:solidFill>
                </a:rPr>
                <a:t>季度为</a:t>
              </a:r>
              <a:r>
                <a:rPr lang="en-US" altLang="zh-CN" sz="2400" dirty="0">
                  <a:solidFill>
                    <a:srgbClr val="060606"/>
                  </a:solidFill>
                </a:rPr>
                <a:t>60</a:t>
              </a:r>
              <a:r>
                <a:rPr lang="zh-CN" altLang="zh-CN" sz="2400" dirty="0">
                  <a:solidFill>
                    <a:srgbClr val="060606"/>
                  </a:solidFill>
                </a:rPr>
                <a:t>艘帆船</a:t>
              </a:r>
              <a:r>
                <a:rPr lang="zh-CN" altLang="en-US" sz="2400" dirty="0">
                  <a:solidFill>
                    <a:srgbClr val="060606"/>
                  </a:solidFill>
                </a:rPr>
                <a:t>，</a:t>
              </a:r>
              <a:r>
                <a:rPr lang="zh-CN" altLang="zh-CN" sz="2400" dirty="0">
                  <a:solidFill>
                    <a:srgbClr val="060606"/>
                  </a:solidFill>
                </a:rPr>
                <a:t>第</a:t>
              </a:r>
              <a:r>
                <a:rPr lang="en-US" altLang="zh-CN" sz="2400" dirty="0">
                  <a:solidFill>
                    <a:srgbClr val="060606"/>
                  </a:solidFill>
                </a:rPr>
                <a:t>3</a:t>
              </a:r>
              <a:r>
                <a:rPr lang="zh-CN" altLang="zh-CN" sz="2400" dirty="0">
                  <a:solidFill>
                    <a:srgbClr val="060606"/>
                  </a:solidFill>
                </a:rPr>
                <a:t>季度为</a:t>
              </a:r>
              <a:r>
                <a:rPr lang="en-US" altLang="zh-CN" sz="2400" dirty="0">
                  <a:solidFill>
                    <a:srgbClr val="060606"/>
                  </a:solidFill>
                </a:rPr>
                <a:t>75</a:t>
              </a:r>
              <a:r>
                <a:rPr lang="zh-CN" altLang="zh-CN" sz="2400" dirty="0">
                  <a:solidFill>
                    <a:srgbClr val="060606"/>
                  </a:solidFill>
                </a:rPr>
                <a:t>艘帆船</a:t>
              </a:r>
              <a:r>
                <a:rPr lang="zh-CN" altLang="en-US" sz="2400" dirty="0">
                  <a:solidFill>
                    <a:srgbClr val="060606"/>
                  </a:solidFill>
                </a:rPr>
                <a:t>，</a:t>
              </a:r>
              <a:r>
                <a:rPr lang="zh-CN" altLang="zh-CN" sz="2400" dirty="0">
                  <a:solidFill>
                    <a:srgbClr val="060606"/>
                  </a:solidFill>
                </a:rPr>
                <a:t>第</a:t>
              </a:r>
              <a:r>
                <a:rPr lang="en-US" altLang="zh-CN" sz="2400" dirty="0">
                  <a:solidFill>
                    <a:srgbClr val="060606"/>
                  </a:solidFill>
                </a:rPr>
                <a:t>4</a:t>
              </a:r>
              <a:r>
                <a:rPr lang="zh-CN" altLang="zh-CN" sz="2400" dirty="0">
                  <a:solidFill>
                    <a:srgbClr val="060606"/>
                  </a:solidFill>
                </a:rPr>
                <a:t>季度为</a:t>
              </a:r>
              <a:r>
                <a:rPr lang="en-US" altLang="zh-CN" sz="2400" dirty="0">
                  <a:solidFill>
                    <a:srgbClr val="060606"/>
                  </a:solidFill>
                </a:rPr>
                <a:t>25</a:t>
              </a:r>
              <a:r>
                <a:rPr lang="zh-CN" altLang="zh-CN" sz="2400" dirty="0">
                  <a:solidFill>
                    <a:srgbClr val="060606"/>
                  </a:solidFill>
                </a:rPr>
                <a:t>艘帆船</a:t>
              </a:r>
              <a:r>
                <a:rPr lang="zh-CN" altLang="en-US" sz="2400" dirty="0">
                  <a:solidFill>
                    <a:srgbClr val="060606"/>
                  </a:solidFill>
                </a:rPr>
                <a:t>。</a:t>
              </a:r>
              <a:r>
                <a:rPr lang="en-US" altLang="zh-CN" sz="2400" dirty="0" err="1">
                  <a:solidFill>
                    <a:srgbClr val="060606"/>
                  </a:solidFill>
                </a:rPr>
                <a:t>Sailco</a:t>
              </a:r>
              <a:r>
                <a:rPr lang="zh-CN" altLang="en-US" sz="2400" dirty="0">
                  <a:solidFill>
                    <a:srgbClr val="060606"/>
                  </a:solidFill>
                </a:rPr>
                <a:t>公司必须满足需求。</a:t>
              </a:r>
              <a:endParaRPr lang="en-US" altLang="zh-CN" sz="2400" dirty="0">
                <a:solidFill>
                  <a:srgbClr val="060606"/>
                </a:solidFill>
              </a:endParaRPr>
            </a:p>
            <a:p>
              <a:pPr>
                <a:buNone/>
              </a:pPr>
              <a:r>
                <a:rPr lang="zh-CN" altLang="en-US" sz="2400" dirty="0">
                  <a:solidFill>
                    <a:srgbClr val="060606"/>
                  </a:solidFill>
                </a:rPr>
                <a:t>当前，</a:t>
              </a:r>
              <a:r>
                <a:rPr lang="en-US" altLang="zh-CN" sz="2400" dirty="0" err="1">
                  <a:solidFill>
                    <a:srgbClr val="060606"/>
                  </a:solidFill>
                </a:rPr>
                <a:t>Sailco</a:t>
              </a:r>
              <a:r>
                <a:rPr lang="zh-CN" altLang="en-US" sz="2400" dirty="0">
                  <a:solidFill>
                    <a:srgbClr val="060606"/>
                  </a:solidFill>
                </a:rPr>
                <a:t>公司的库存量为</a:t>
              </a:r>
              <a:r>
                <a:rPr lang="en-US" altLang="zh-CN" sz="2400" dirty="0">
                  <a:solidFill>
                    <a:srgbClr val="060606"/>
                  </a:solidFill>
                </a:rPr>
                <a:t>10</a:t>
              </a:r>
              <a:r>
                <a:rPr lang="zh-CN" altLang="en-US" sz="2400" dirty="0">
                  <a:solidFill>
                    <a:srgbClr val="060606"/>
                  </a:solidFill>
                </a:rPr>
                <a:t>艘帆船。</a:t>
              </a:r>
              <a:endParaRPr lang="en-US" altLang="zh-CN" sz="2400" dirty="0">
                <a:solidFill>
                  <a:srgbClr val="060606"/>
                </a:solidFill>
              </a:endParaRPr>
            </a:p>
            <a:p>
              <a:pPr>
                <a:buNone/>
              </a:pPr>
              <a:r>
                <a:rPr lang="en-US" altLang="zh-CN" sz="2400" dirty="0" err="1">
                  <a:solidFill>
                    <a:srgbClr val="060606"/>
                  </a:solidFill>
                </a:rPr>
                <a:t>Sailco</a:t>
              </a:r>
              <a:r>
                <a:rPr lang="zh-CN" altLang="en-US" sz="2400" dirty="0">
                  <a:solidFill>
                    <a:srgbClr val="060606"/>
                  </a:solidFill>
                </a:rPr>
                <a:t>公司必须在每季度初决定该季度应当生产多少艘帆船。为了简化问题，假定一个季度生产的帆船能够满足该季度的需求。在正常工作时间内，</a:t>
              </a:r>
              <a:r>
                <a:rPr lang="en-US" altLang="zh-CN" sz="2400" dirty="0" err="1">
                  <a:solidFill>
                    <a:srgbClr val="060606"/>
                  </a:solidFill>
                </a:rPr>
                <a:t>Sailco</a:t>
              </a:r>
              <a:r>
                <a:rPr lang="zh-CN" altLang="en-US" sz="2400" dirty="0">
                  <a:solidFill>
                    <a:srgbClr val="060606"/>
                  </a:solidFill>
                </a:rPr>
                <a:t>公司每季度最多可以生产</a:t>
              </a:r>
              <a:r>
                <a:rPr lang="en-US" altLang="zh-CN" sz="2400" dirty="0">
                  <a:solidFill>
                    <a:srgbClr val="060606"/>
                  </a:solidFill>
                </a:rPr>
                <a:t>40</a:t>
              </a:r>
              <a:r>
                <a:rPr lang="zh-CN" altLang="en-US" sz="2400" dirty="0">
                  <a:solidFill>
                    <a:srgbClr val="060606"/>
                  </a:solidFill>
                </a:rPr>
                <a:t>艘帆船，每艘帆船的总成本为</a:t>
              </a:r>
              <a:r>
                <a:rPr lang="en-US" altLang="zh-CN" sz="2400" dirty="0">
                  <a:solidFill>
                    <a:srgbClr val="060606"/>
                  </a:solidFill>
                </a:rPr>
                <a:t>400</a:t>
              </a:r>
              <a:r>
                <a:rPr lang="zh-CN" altLang="en-US" sz="2400" dirty="0">
                  <a:solidFill>
                    <a:srgbClr val="060606"/>
                  </a:solidFill>
                </a:rPr>
                <a:t>美元。如果让员工加班的话，</a:t>
              </a:r>
              <a:r>
                <a:rPr lang="en-US" altLang="zh-CN" sz="2400" dirty="0" err="1">
                  <a:solidFill>
                    <a:srgbClr val="060606"/>
                  </a:solidFill>
                </a:rPr>
                <a:t>Sailco</a:t>
              </a:r>
              <a:r>
                <a:rPr lang="zh-CN" altLang="en-US" sz="2400" dirty="0">
                  <a:solidFill>
                    <a:srgbClr val="060606"/>
                  </a:solidFill>
                </a:rPr>
                <a:t>公司可以生产一些帆船，每艘帆船的总成本为</a:t>
              </a:r>
              <a:r>
                <a:rPr lang="en-US" altLang="zh-CN" sz="2400" dirty="0">
                  <a:solidFill>
                    <a:srgbClr val="060606"/>
                  </a:solidFill>
                </a:rPr>
                <a:t>450</a:t>
              </a:r>
              <a:r>
                <a:rPr lang="zh-CN" altLang="en-US" sz="2400" dirty="0">
                  <a:solidFill>
                    <a:srgbClr val="060606"/>
                  </a:solidFill>
                </a:rPr>
                <a:t>美元。</a:t>
              </a:r>
              <a:endParaRPr lang="en-US" altLang="zh-CN" sz="2400" dirty="0">
                <a:solidFill>
                  <a:srgbClr val="060606"/>
                </a:solidFill>
              </a:endParaRPr>
            </a:p>
            <a:p>
              <a:pPr>
                <a:buNone/>
              </a:pPr>
              <a:r>
                <a:rPr lang="zh-CN" altLang="en-US" sz="2400" dirty="0">
                  <a:solidFill>
                    <a:srgbClr val="060606"/>
                  </a:solidFill>
                </a:rPr>
                <a:t>每季度末，即在已经开始生产，并且满足了当前季度的需求以后，发生的仓储费用是每艘帆船</a:t>
              </a:r>
              <a:r>
                <a:rPr lang="en-US" altLang="zh-CN" sz="2400" dirty="0">
                  <a:solidFill>
                    <a:srgbClr val="060606"/>
                  </a:solidFill>
                </a:rPr>
                <a:t>20</a:t>
              </a:r>
              <a:r>
                <a:rPr lang="zh-CN" altLang="en-US" sz="2400" dirty="0">
                  <a:solidFill>
                    <a:srgbClr val="060606"/>
                  </a:solidFill>
                </a:rPr>
                <a:t>美元。</a:t>
              </a:r>
              <a:endParaRPr lang="en-US" altLang="zh-CN" sz="2400" dirty="0">
                <a:solidFill>
                  <a:srgbClr val="060606"/>
                </a:solidFill>
              </a:endParaRPr>
            </a:p>
            <a:p>
              <a:pPr>
                <a:buNone/>
              </a:pPr>
              <a:r>
                <a:rPr lang="zh-CN" altLang="en-US" sz="2400" dirty="0">
                  <a:solidFill>
                    <a:srgbClr val="060606"/>
                  </a:solidFill>
                </a:rPr>
                <a:t>使用线性规划确定一个生产调度计划，使今后</a:t>
              </a:r>
              <a:r>
                <a:rPr lang="en-US" altLang="zh-CN" sz="2400" dirty="0">
                  <a:solidFill>
                    <a:srgbClr val="060606"/>
                  </a:solidFill>
                </a:rPr>
                <a:t>4</a:t>
              </a:r>
              <a:r>
                <a:rPr lang="zh-CN" altLang="en-US" sz="2400" dirty="0">
                  <a:solidFill>
                    <a:srgbClr val="060606"/>
                  </a:solidFill>
                </a:rPr>
                <a:t>个季度的生产和仓储成本最少。</a:t>
              </a:r>
              <a:endParaRPr lang="zh-CN" altLang="en-US" sz="2400" dirty="0">
                <a:solidFill>
                  <a:srgbClr val="060606"/>
                </a:solidFill>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b="1" dirty="0">
                <a:latin typeface="+mj-ea"/>
                <a:ea typeface="+mj-ea"/>
              </a:rPr>
              <a:t>练习</a:t>
            </a:r>
            <a:r>
              <a:rPr lang="en-US" altLang="zh-CN" sz="2800" b="1" dirty="0">
                <a:latin typeface="+mj-ea"/>
                <a:ea typeface="+mj-ea"/>
              </a:rPr>
              <a:t>23</a:t>
            </a:r>
            <a:r>
              <a:rPr lang="en-US" altLang="zh-CN" sz="2800" b="1" dirty="0">
                <a:solidFill>
                  <a:srgbClr val="060606"/>
                </a:solidFill>
                <a:latin typeface="+mj-ea"/>
                <a:ea typeface="+mj-ea"/>
              </a:rPr>
              <a:t> Brute</a:t>
            </a:r>
            <a:r>
              <a:rPr lang="zh-CN" altLang="en-US" sz="2800" b="1" dirty="0">
                <a:solidFill>
                  <a:srgbClr val="060606"/>
                </a:solidFill>
                <a:latin typeface="+mj-ea"/>
                <a:ea typeface="+mj-ea"/>
              </a:rPr>
              <a:t>香水的生产过程</a:t>
            </a:r>
            <a:endParaRPr lang="zh-CN" altLang="en-US" sz="2800" b="1" dirty="0">
              <a:latin typeface="+mj-ea"/>
              <a:ea typeface="+mj-ea"/>
            </a:endParaRPr>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13554" cy="4154984"/>
            </a:xfrm>
            <a:prstGeom prst="rect">
              <a:avLst/>
            </a:prstGeom>
            <a:noFill/>
          </p:spPr>
          <p:txBody>
            <a:bodyPr wrap="square" rtlCol="0">
              <a:spAutoFit/>
            </a:bodyPr>
            <a:lstStyle/>
            <a:p>
              <a:r>
                <a:rPr lang="en-US" altLang="zh-CN" sz="2400" dirty="0" err="1">
                  <a:solidFill>
                    <a:srgbClr val="060606"/>
                  </a:solidFill>
                </a:rPr>
                <a:t>Rylon</a:t>
              </a:r>
              <a:r>
                <a:rPr lang="zh-CN" altLang="en-US" sz="2400" dirty="0">
                  <a:solidFill>
                    <a:srgbClr val="060606"/>
                  </a:solidFill>
                </a:rPr>
                <a:t>公司生产</a:t>
              </a:r>
              <a:r>
                <a:rPr lang="en-US" altLang="zh-CN" sz="2400" dirty="0">
                  <a:solidFill>
                    <a:srgbClr val="060606"/>
                  </a:solidFill>
                </a:rPr>
                <a:t>Brute</a:t>
              </a:r>
              <a:r>
                <a:rPr lang="zh-CN" altLang="en-US" sz="2400" dirty="0">
                  <a:solidFill>
                    <a:srgbClr val="060606"/>
                  </a:solidFill>
                </a:rPr>
                <a:t>和</a:t>
              </a:r>
              <a:r>
                <a:rPr lang="en-US" altLang="zh-CN" sz="2400" dirty="0">
                  <a:solidFill>
                    <a:srgbClr val="060606"/>
                  </a:solidFill>
                </a:rPr>
                <a:t>Chanelle</a:t>
              </a:r>
              <a:r>
                <a:rPr lang="zh-CN" altLang="en-US" sz="2400" dirty="0">
                  <a:solidFill>
                    <a:srgbClr val="060606"/>
                  </a:solidFill>
                </a:rPr>
                <a:t>香水。生产每种香水所需原料的购买价格是每磅</a:t>
              </a:r>
              <a:r>
                <a:rPr lang="en-US" altLang="zh-CN" sz="2400" dirty="0">
                  <a:solidFill>
                    <a:srgbClr val="060606"/>
                  </a:solidFill>
                </a:rPr>
                <a:t>3</a:t>
              </a:r>
              <a:r>
                <a:rPr lang="zh-CN" altLang="en-US" sz="2400" dirty="0">
                  <a:solidFill>
                    <a:srgbClr val="060606"/>
                  </a:solidFill>
                </a:rPr>
                <a:t>美元。处理</a:t>
              </a:r>
              <a:r>
                <a:rPr lang="en-US" altLang="zh-CN" sz="2400" dirty="0">
                  <a:solidFill>
                    <a:srgbClr val="060606"/>
                  </a:solidFill>
                </a:rPr>
                <a:t>1</a:t>
              </a:r>
              <a:r>
                <a:rPr lang="zh-CN" altLang="en-US" sz="2400" dirty="0">
                  <a:solidFill>
                    <a:srgbClr val="060606"/>
                  </a:solidFill>
                </a:rPr>
                <a:t>磅原料需要</a:t>
              </a:r>
              <a:r>
                <a:rPr lang="en-US" altLang="zh-CN" sz="2400" dirty="0">
                  <a:solidFill>
                    <a:srgbClr val="060606"/>
                  </a:solidFill>
                </a:rPr>
                <a:t>1</a:t>
              </a:r>
              <a:r>
                <a:rPr lang="zh-CN" altLang="en-US" sz="2400" dirty="0">
                  <a:solidFill>
                    <a:srgbClr val="060606"/>
                  </a:solidFill>
                </a:rPr>
                <a:t>小时的实验时间。</a:t>
              </a:r>
              <a:r>
                <a:rPr lang="en-US" altLang="zh-CN" sz="2400" dirty="0">
                  <a:solidFill>
                    <a:srgbClr val="060606"/>
                  </a:solidFill>
                </a:rPr>
                <a:t>1</a:t>
              </a:r>
              <a:r>
                <a:rPr lang="zh-CN" altLang="en-US" sz="2400" dirty="0">
                  <a:solidFill>
                    <a:srgbClr val="060606"/>
                  </a:solidFill>
                </a:rPr>
                <a:t>磅经过处理的原料可以生产</a:t>
              </a:r>
              <a:r>
                <a:rPr lang="en-US" altLang="zh-CN" sz="2400" dirty="0">
                  <a:solidFill>
                    <a:srgbClr val="060606"/>
                  </a:solidFill>
                </a:rPr>
                <a:t>3</a:t>
              </a:r>
              <a:r>
                <a:rPr lang="zh-CN" altLang="en-US" sz="2400" dirty="0">
                  <a:solidFill>
                    <a:srgbClr val="060606"/>
                  </a:solidFill>
                </a:rPr>
                <a:t>盎司普通</a:t>
              </a:r>
              <a:r>
                <a:rPr lang="en-US" altLang="zh-CN" sz="2400" dirty="0">
                  <a:solidFill>
                    <a:srgbClr val="060606"/>
                  </a:solidFill>
                </a:rPr>
                <a:t>Brute</a:t>
              </a:r>
              <a:r>
                <a:rPr lang="zh-CN" altLang="en-US" sz="2400" dirty="0">
                  <a:solidFill>
                    <a:srgbClr val="060606"/>
                  </a:solidFill>
                </a:rPr>
                <a:t>香水和</a:t>
              </a:r>
              <a:r>
                <a:rPr lang="en-US" altLang="zh-CN" sz="2400" dirty="0">
                  <a:solidFill>
                    <a:srgbClr val="060606"/>
                  </a:solidFill>
                </a:rPr>
                <a:t>4</a:t>
              </a:r>
              <a:r>
                <a:rPr lang="zh-CN" altLang="en-US" sz="2400" dirty="0">
                  <a:solidFill>
                    <a:srgbClr val="060606"/>
                  </a:solidFill>
                </a:rPr>
                <a:t>盎司普通</a:t>
              </a:r>
              <a:r>
                <a:rPr lang="en-US" altLang="zh-CN" sz="2400" dirty="0">
                  <a:solidFill>
                    <a:srgbClr val="060606"/>
                  </a:solidFill>
                </a:rPr>
                <a:t>Chanelle</a:t>
              </a:r>
              <a:r>
                <a:rPr lang="zh-CN" altLang="en-US" sz="2400" dirty="0">
                  <a:solidFill>
                    <a:srgbClr val="060606"/>
                  </a:solidFill>
                </a:rPr>
                <a:t>香水。</a:t>
              </a:r>
              <a:r>
                <a:rPr lang="zh-CN" altLang="zh-CN" sz="2400" dirty="0">
                  <a:solidFill>
                    <a:srgbClr val="060606"/>
                  </a:solidFill>
                </a:rPr>
                <a:t>普通</a:t>
              </a:r>
              <a:r>
                <a:rPr lang="en-US" altLang="zh-CN" sz="2400" dirty="0">
                  <a:solidFill>
                    <a:srgbClr val="060606"/>
                  </a:solidFill>
                </a:rPr>
                <a:t>Brute</a:t>
              </a:r>
              <a:r>
                <a:rPr lang="zh-CN" altLang="zh-CN" sz="2400" dirty="0">
                  <a:solidFill>
                    <a:srgbClr val="060606"/>
                  </a:solidFill>
                </a:rPr>
                <a:t>香水</a:t>
              </a:r>
              <a:r>
                <a:rPr lang="zh-CN" altLang="en-US" sz="2400" dirty="0">
                  <a:solidFill>
                    <a:srgbClr val="060606"/>
                  </a:solidFill>
                </a:rPr>
                <a:t>的售价是</a:t>
              </a:r>
              <a:r>
                <a:rPr lang="en-US" altLang="zh-CN" sz="2400" dirty="0">
                  <a:solidFill>
                    <a:srgbClr val="060606"/>
                  </a:solidFill>
                </a:rPr>
                <a:t>7</a:t>
              </a:r>
              <a:r>
                <a:rPr lang="zh-CN" altLang="en-US" sz="2400" dirty="0">
                  <a:solidFill>
                    <a:srgbClr val="060606"/>
                  </a:solidFill>
                </a:rPr>
                <a:t>美元每盎司，</a:t>
              </a:r>
              <a:r>
                <a:rPr lang="zh-CN" altLang="zh-CN" sz="2400" dirty="0">
                  <a:solidFill>
                    <a:srgbClr val="060606"/>
                  </a:solidFill>
                </a:rPr>
                <a:t>普通</a:t>
              </a:r>
              <a:r>
                <a:rPr lang="en-US" altLang="zh-CN" sz="2400" dirty="0">
                  <a:solidFill>
                    <a:srgbClr val="060606"/>
                  </a:solidFill>
                </a:rPr>
                <a:t>Chanelle</a:t>
              </a:r>
              <a:r>
                <a:rPr lang="zh-CN" altLang="zh-CN" sz="2400" dirty="0">
                  <a:solidFill>
                    <a:srgbClr val="060606"/>
                  </a:solidFill>
                </a:rPr>
                <a:t>香水</a:t>
              </a:r>
              <a:r>
                <a:rPr lang="zh-CN" altLang="en-US" sz="2400" dirty="0">
                  <a:solidFill>
                    <a:srgbClr val="060606"/>
                  </a:solidFill>
                </a:rPr>
                <a:t>的售价是</a:t>
              </a:r>
              <a:r>
                <a:rPr lang="en-US" altLang="zh-CN" sz="2400" dirty="0">
                  <a:solidFill>
                    <a:srgbClr val="060606"/>
                  </a:solidFill>
                </a:rPr>
                <a:t>6</a:t>
              </a:r>
              <a:r>
                <a:rPr lang="zh-CN" altLang="en-US" sz="2400" dirty="0">
                  <a:solidFill>
                    <a:srgbClr val="060606"/>
                  </a:solidFill>
                </a:rPr>
                <a:t>美元每盎司。</a:t>
              </a:r>
              <a:r>
                <a:rPr lang="en-US" altLang="zh-CN" sz="2400" dirty="0">
                  <a:solidFill>
                    <a:srgbClr val="060606"/>
                  </a:solidFill>
                </a:rPr>
                <a:t> </a:t>
              </a:r>
              <a:r>
                <a:rPr lang="en-US" altLang="zh-CN" sz="2400" dirty="0" err="1">
                  <a:solidFill>
                    <a:srgbClr val="060606"/>
                  </a:solidFill>
                </a:rPr>
                <a:t>Rylon</a:t>
              </a:r>
              <a:r>
                <a:rPr lang="zh-CN" altLang="en-US" sz="2400" dirty="0">
                  <a:solidFill>
                    <a:srgbClr val="060606"/>
                  </a:solidFill>
                </a:rPr>
                <a:t>公司还可以选择进一步处理</a:t>
              </a:r>
              <a:r>
                <a:rPr lang="zh-CN" altLang="zh-CN" sz="2400" dirty="0">
                  <a:solidFill>
                    <a:srgbClr val="060606"/>
                  </a:solidFill>
                </a:rPr>
                <a:t>普通</a:t>
              </a:r>
              <a:r>
                <a:rPr lang="en-US" altLang="zh-CN" sz="2400" dirty="0">
                  <a:solidFill>
                    <a:srgbClr val="060606"/>
                  </a:solidFill>
                </a:rPr>
                <a:t>Brute</a:t>
              </a:r>
              <a:r>
                <a:rPr lang="zh-CN" altLang="zh-CN" sz="2400" dirty="0">
                  <a:solidFill>
                    <a:srgbClr val="060606"/>
                  </a:solidFill>
                </a:rPr>
                <a:t>香水</a:t>
              </a:r>
              <a:r>
                <a:rPr lang="zh-CN" altLang="en-US" sz="2400" dirty="0">
                  <a:solidFill>
                    <a:srgbClr val="060606"/>
                  </a:solidFill>
                </a:rPr>
                <a:t>和</a:t>
              </a:r>
              <a:r>
                <a:rPr lang="zh-CN" altLang="zh-CN" sz="2400" dirty="0">
                  <a:solidFill>
                    <a:srgbClr val="060606"/>
                  </a:solidFill>
                </a:rPr>
                <a:t>普通</a:t>
              </a:r>
              <a:r>
                <a:rPr lang="en-US" altLang="zh-CN" sz="2400" dirty="0">
                  <a:solidFill>
                    <a:srgbClr val="060606"/>
                  </a:solidFill>
                </a:rPr>
                <a:t>Chanelle</a:t>
              </a:r>
              <a:r>
                <a:rPr lang="zh-CN" altLang="zh-CN" sz="2400" dirty="0">
                  <a:solidFill>
                    <a:srgbClr val="060606"/>
                  </a:solidFill>
                </a:rPr>
                <a:t>香水</a:t>
              </a:r>
              <a:r>
                <a:rPr lang="zh-CN" altLang="en-US" sz="2400" dirty="0">
                  <a:solidFill>
                    <a:srgbClr val="060606"/>
                  </a:solidFill>
                </a:rPr>
                <a:t>，生产售价为</a:t>
              </a:r>
              <a:r>
                <a:rPr lang="en-US" altLang="zh-CN" sz="2400" dirty="0">
                  <a:solidFill>
                    <a:srgbClr val="060606"/>
                  </a:solidFill>
                </a:rPr>
                <a:t>18</a:t>
              </a:r>
              <a:r>
                <a:rPr lang="zh-CN" altLang="en-US" sz="2400" dirty="0">
                  <a:solidFill>
                    <a:srgbClr val="060606"/>
                  </a:solidFill>
                </a:rPr>
                <a:t>美元每盎司的高级</a:t>
              </a:r>
              <a:r>
                <a:rPr lang="en-US" altLang="zh-CN" sz="2400" dirty="0">
                  <a:solidFill>
                    <a:srgbClr val="060606"/>
                  </a:solidFill>
                </a:rPr>
                <a:t>Brute</a:t>
              </a:r>
              <a:r>
                <a:rPr lang="zh-CN" altLang="zh-CN" sz="2400" dirty="0">
                  <a:solidFill>
                    <a:srgbClr val="060606"/>
                  </a:solidFill>
                </a:rPr>
                <a:t>香水</a:t>
              </a:r>
              <a:r>
                <a:rPr lang="zh-CN" altLang="en-US" sz="2400" dirty="0">
                  <a:solidFill>
                    <a:srgbClr val="060606"/>
                  </a:solidFill>
                </a:rPr>
                <a:t>和售价为</a:t>
              </a:r>
              <a:r>
                <a:rPr lang="en-US" altLang="zh-CN" sz="2400" dirty="0">
                  <a:solidFill>
                    <a:srgbClr val="060606"/>
                  </a:solidFill>
                </a:rPr>
                <a:t>14</a:t>
              </a:r>
              <a:r>
                <a:rPr lang="zh-CN" altLang="en-US" sz="2400" dirty="0">
                  <a:solidFill>
                    <a:srgbClr val="060606"/>
                  </a:solidFill>
                </a:rPr>
                <a:t>美元每盎司的高级</a:t>
              </a:r>
              <a:r>
                <a:rPr lang="en-US" altLang="zh-CN" sz="2400" dirty="0">
                  <a:solidFill>
                    <a:srgbClr val="060606"/>
                  </a:solidFill>
                </a:rPr>
                <a:t>Chanelle</a:t>
              </a:r>
              <a:r>
                <a:rPr lang="zh-CN" altLang="zh-CN" sz="2400" dirty="0">
                  <a:solidFill>
                    <a:srgbClr val="060606"/>
                  </a:solidFill>
                </a:rPr>
                <a:t>香水</a:t>
              </a:r>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盎司经过进一步处理的</a:t>
              </a:r>
              <a:r>
                <a:rPr lang="zh-CN" altLang="zh-CN" sz="2400" dirty="0">
                  <a:solidFill>
                    <a:srgbClr val="060606"/>
                  </a:solidFill>
                </a:rPr>
                <a:t>普通</a:t>
              </a:r>
              <a:r>
                <a:rPr lang="en-US" altLang="zh-CN" sz="2400" dirty="0">
                  <a:solidFill>
                    <a:srgbClr val="060606"/>
                  </a:solidFill>
                </a:rPr>
                <a:t>Brute</a:t>
              </a:r>
              <a:r>
                <a:rPr lang="zh-CN" altLang="zh-CN" sz="2400" dirty="0">
                  <a:solidFill>
                    <a:srgbClr val="060606"/>
                  </a:solidFill>
                </a:rPr>
                <a:t>香水</a:t>
              </a:r>
              <a:r>
                <a:rPr lang="zh-CN" altLang="en-US" sz="2400" dirty="0">
                  <a:solidFill>
                    <a:srgbClr val="060606"/>
                  </a:solidFill>
                </a:rPr>
                <a:t>还需要</a:t>
              </a:r>
              <a:r>
                <a:rPr lang="en-US" altLang="zh-CN" sz="2400" dirty="0">
                  <a:solidFill>
                    <a:srgbClr val="060606"/>
                  </a:solidFill>
                </a:rPr>
                <a:t>3</a:t>
              </a:r>
              <a:r>
                <a:rPr lang="zh-CN" altLang="en-US" sz="2400" dirty="0">
                  <a:solidFill>
                    <a:srgbClr val="060606"/>
                  </a:solidFill>
                </a:rPr>
                <a:t>小时的实验时间和</a:t>
              </a:r>
              <a:r>
                <a:rPr lang="en-US" altLang="zh-CN" sz="2400" dirty="0">
                  <a:solidFill>
                    <a:srgbClr val="060606"/>
                  </a:solidFill>
                </a:rPr>
                <a:t>4</a:t>
              </a:r>
              <a:r>
                <a:rPr lang="zh-CN" altLang="en-US" sz="2400" dirty="0">
                  <a:solidFill>
                    <a:srgbClr val="060606"/>
                  </a:solidFill>
                </a:rPr>
                <a:t>美元的处理费用，才能生产出</a:t>
              </a:r>
              <a:r>
                <a:rPr lang="en-US" altLang="zh-CN" sz="2400" dirty="0">
                  <a:solidFill>
                    <a:srgbClr val="060606"/>
                  </a:solidFill>
                </a:rPr>
                <a:t>1</a:t>
              </a:r>
              <a:r>
                <a:rPr lang="zh-CN" altLang="en-US" sz="2400" dirty="0">
                  <a:solidFill>
                    <a:srgbClr val="060606"/>
                  </a:solidFill>
                </a:rPr>
                <a:t>盎司的高级</a:t>
              </a:r>
              <a:r>
                <a:rPr lang="en-US" altLang="zh-CN" sz="2400" dirty="0">
                  <a:solidFill>
                    <a:srgbClr val="060606"/>
                  </a:solidFill>
                </a:rPr>
                <a:t>Brute</a:t>
              </a:r>
              <a:r>
                <a:rPr lang="zh-CN" altLang="zh-CN" sz="2400" dirty="0">
                  <a:solidFill>
                    <a:srgbClr val="060606"/>
                  </a:solidFill>
                </a:rPr>
                <a:t>香水</a:t>
              </a:r>
              <a:r>
                <a:rPr lang="zh-CN" altLang="en-US" sz="2400" dirty="0">
                  <a:solidFill>
                    <a:srgbClr val="060606"/>
                  </a:solidFill>
                </a:rPr>
                <a:t>。</a:t>
              </a:r>
              <a:r>
                <a:rPr lang="en-US" altLang="zh-CN" sz="2400" dirty="0"/>
                <a:t>1</a:t>
              </a:r>
              <a:r>
                <a:rPr lang="zh-CN" altLang="zh-CN" sz="2400" dirty="0"/>
                <a:t>盎司经过进一步处理的普通</a:t>
              </a:r>
              <a:r>
                <a:rPr lang="en-US" altLang="zh-CN" sz="2400" dirty="0">
                  <a:solidFill>
                    <a:srgbClr val="060606"/>
                  </a:solidFill>
                </a:rPr>
                <a:t>Chanelle</a:t>
              </a:r>
              <a:r>
                <a:rPr lang="zh-CN" altLang="zh-CN" sz="2400" dirty="0">
                  <a:solidFill>
                    <a:srgbClr val="060606"/>
                  </a:solidFill>
                </a:rPr>
                <a:t>香水</a:t>
              </a:r>
              <a:r>
                <a:rPr lang="zh-CN" altLang="zh-CN" sz="2400" dirty="0"/>
                <a:t>还需要</a:t>
              </a:r>
              <a:r>
                <a:rPr lang="en-US" altLang="zh-CN" sz="2400" dirty="0"/>
                <a:t>2</a:t>
              </a:r>
              <a:r>
                <a:rPr lang="zh-CN" altLang="zh-CN" sz="2400" dirty="0"/>
                <a:t>小时的实验时间和</a:t>
              </a:r>
              <a:r>
                <a:rPr lang="en-US" altLang="zh-CN" sz="2400" dirty="0"/>
                <a:t>4</a:t>
              </a:r>
              <a:r>
                <a:rPr lang="zh-CN" altLang="zh-CN" sz="2400" dirty="0"/>
                <a:t>美元的处理费用，才能生产出</a:t>
              </a:r>
              <a:r>
                <a:rPr lang="en-US" altLang="zh-CN" sz="2400" dirty="0"/>
                <a:t>1</a:t>
              </a:r>
              <a:r>
                <a:rPr lang="zh-CN" altLang="zh-CN" sz="2400" dirty="0"/>
                <a:t>盎司的高级</a:t>
              </a:r>
              <a:r>
                <a:rPr lang="en-US" altLang="zh-CN" sz="2400" dirty="0">
                  <a:solidFill>
                    <a:srgbClr val="060606"/>
                  </a:solidFill>
                </a:rPr>
                <a:t>Chanelle</a:t>
              </a:r>
              <a:r>
                <a:rPr lang="zh-CN" altLang="zh-CN" sz="2400" dirty="0">
                  <a:solidFill>
                    <a:srgbClr val="060606"/>
                  </a:solidFill>
                </a:rPr>
                <a:t>香水</a:t>
              </a:r>
              <a:r>
                <a:rPr lang="zh-CN" altLang="en-US" sz="2400" dirty="0">
                  <a:solidFill>
                    <a:srgbClr val="060606"/>
                  </a:solidFill>
                </a:rPr>
                <a:t>。</a:t>
              </a:r>
              <a:r>
                <a:rPr lang="en-US" altLang="zh-CN" sz="2400" dirty="0">
                  <a:solidFill>
                    <a:srgbClr val="060606"/>
                  </a:solidFill>
                </a:rPr>
                <a:t> </a:t>
              </a:r>
              <a:r>
                <a:rPr lang="en-US" altLang="zh-CN" sz="2400" dirty="0" err="1">
                  <a:solidFill>
                    <a:srgbClr val="060606"/>
                  </a:solidFill>
                </a:rPr>
                <a:t>Rylon</a:t>
              </a:r>
              <a:r>
                <a:rPr lang="zh-CN" altLang="en-US" sz="2400" dirty="0">
                  <a:solidFill>
                    <a:srgbClr val="060606"/>
                  </a:solidFill>
                </a:rPr>
                <a:t>公司每年可以使用的实验时间为</a:t>
              </a:r>
              <a:r>
                <a:rPr lang="en-US" altLang="zh-CN" sz="2400" dirty="0">
                  <a:solidFill>
                    <a:srgbClr val="060606"/>
                  </a:solidFill>
                </a:rPr>
                <a:t>6000</a:t>
              </a:r>
              <a:r>
                <a:rPr lang="zh-CN" altLang="en-US" sz="2400" dirty="0">
                  <a:solidFill>
                    <a:srgbClr val="060606"/>
                  </a:solidFill>
                </a:rPr>
                <a:t>小时，可以购买的原料最多为</a:t>
              </a:r>
              <a:r>
                <a:rPr lang="en-US" altLang="zh-CN" sz="2400" dirty="0">
                  <a:solidFill>
                    <a:srgbClr val="060606"/>
                  </a:solidFill>
                </a:rPr>
                <a:t>4000</a:t>
              </a:r>
              <a:r>
                <a:rPr lang="zh-CN" altLang="en-US" sz="2400" dirty="0">
                  <a:solidFill>
                    <a:srgbClr val="060606"/>
                  </a:solidFill>
                </a:rPr>
                <a:t>磅。表述一个使</a:t>
              </a:r>
              <a:r>
                <a:rPr lang="en-US" altLang="zh-CN" sz="2400" dirty="0" err="1">
                  <a:solidFill>
                    <a:srgbClr val="060606"/>
                  </a:solidFill>
                </a:rPr>
                <a:t>Rylon</a:t>
              </a:r>
              <a:r>
                <a:rPr lang="zh-CN" altLang="en-US" sz="2400" dirty="0">
                  <a:solidFill>
                    <a:srgbClr val="060606"/>
                  </a:solidFill>
                </a:rPr>
                <a:t>公司利润最大化的</a:t>
              </a:r>
              <a:r>
                <a:rPr lang="en-US" altLang="zh-CN" sz="2400" dirty="0">
                  <a:solidFill>
                    <a:srgbClr val="060606"/>
                  </a:solidFill>
                </a:rPr>
                <a:t>LP</a:t>
              </a:r>
              <a:r>
                <a:rPr lang="zh-CN" altLang="en-US" sz="2400" dirty="0">
                  <a:solidFill>
                    <a:srgbClr val="060606"/>
                  </a:solidFill>
                </a:rPr>
                <a:t>。假定实验时间的费用是固定成本。</a:t>
              </a:r>
              <a:endParaRPr lang="zh-CN" altLang="en-US" sz="2400" dirty="0">
                <a:solidFill>
                  <a:srgbClr val="060606"/>
                </a:solidFill>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24</a:t>
            </a:r>
            <a:r>
              <a:rPr lang="en-US" altLang="zh-CN" sz="2800" dirty="0">
                <a:solidFill>
                  <a:srgbClr val="060606"/>
                </a:solidFill>
              </a:rPr>
              <a:t> </a:t>
            </a:r>
            <a:r>
              <a:rPr lang="en-US" altLang="zh-CN" sz="2800" dirty="0" err="1">
                <a:solidFill>
                  <a:srgbClr val="060606"/>
                </a:solidFill>
              </a:rPr>
              <a:t>Furnco</a:t>
            </a:r>
            <a:r>
              <a:rPr lang="zh-CN" altLang="en-US" sz="2800" dirty="0">
                <a:solidFill>
                  <a:srgbClr val="060606"/>
                </a:solidFill>
              </a:rPr>
              <a:t>公司</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13554" cy="1569660"/>
            </a:xfrm>
            <a:prstGeom prst="rect">
              <a:avLst/>
            </a:prstGeom>
            <a:noFill/>
          </p:spPr>
          <p:txBody>
            <a:bodyPr wrap="square" rtlCol="0">
              <a:spAutoFit/>
            </a:bodyPr>
            <a:lstStyle/>
            <a:p>
              <a:r>
                <a:rPr lang="en-US" altLang="zh-CN" sz="2400" dirty="0" err="1">
                  <a:solidFill>
                    <a:srgbClr val="060606"/>
                  </a:solidFill>
                </a:rPr>
                <a:t>Furnco</a:t>
              </a:r>
              <a:r>
                <a:rPr lang="zh-CN" altLang="en-US" sz="2400" dirty="0">
                  <a:solidFill>
                    <a:srgbClr val="060606"/>
                  </a:solidFill>
                </a:rPr>
                <a:t>公司生产办公桌和椅子。每张办公桌使用</a:t>
              </a:r>
              <a:r>
                <a:rPr lang="en-US" altLang="zh-CN" sz="2400" dirty="0">
                  <a:solidFill>
                    <a:srgbClr val="060606"/>
                  </a:solidFill>
                </a:rPr>
                <a:t>4</a:t>
              </a:r>
              <a:r>
                <a:rPr lang="zh-CN" altLang="en-US" sz="2400" dirty="0">
                  <a:solidFill>
                    <a:srgbClr val="060606"/>
                  </a:solidFill>
                </a:rPr>
                <a:t>个单位的木材，每把椅子使用</a:t>
              </a:r>
              <a:r>
                <a:rPr lang="en-US" altLang="zh-CN" sz="2400" dirty="0">
                  <a:solidFill>
                    <a:srgbClr val="060606"/>
                  </a:solidFill>
                </a:rPr>
                <a:t>3</a:t>
              </a:r>
              <a:r>
                <a:rPr lang="zh-CN" altLang="en-US" sz="2400" dirty="0">
                  <a:solidFill>
                    <a:srgbClr val="060606"/>
                  </a:solidFill>
                </a:rPr>
                <a:t>个单位的。每张办公桌的利润为</a:t>
              </a:r>
              <a:r>
                <a:rPr lang="en-US" altLang="zh-CN" sz="2400" dirty="0">
                  <a:solidFill>
                    <a:srgbClr val="060606"/>
                  </a:solidFill>
                </a:rPr>
                <a:t>40</a:t>
              </a:r>
              <a:r>
                <a:rPr lang="zh-CN" altLang="en-US" sz="2400" dirty="0">
                  <a:solidFill>
                    <a:srgbClr val="060606"/>
                  </a:solidFill>
                </a:rPr>
                <a:t>美元，每把椅子的利润是</a:t>
              </a:r>
              <a:r>
                <a:rPr lang="en-US" altLang="zh-CN" sz="2400" dirty="0">
                  <a:solidFill>
                    <a:srgbClr val="060606"/>
                  </a:solidFill>
                </a:rPr>
                <a:t>25</a:t>
              </a:r>
              <a:r>
                <a:rPr lang="zh-CN" altLang="en-US" sz="2400" dirty="0">
                  <a:solidFill>
                    <a:srgbClr val="060606"/>
                  </a:solidFill>
                </a:rPr>
                <a:t>美元。销售限制条件要求生产椅子的数量至少应当是办公桌的</a:t>
              </a:r>
              <a:r>
                <a:rPr lang="en-US" altLang="zh-CN" sz="2400" dirty="0">
                  <a:solidFill>
                    <a:srgbClr val="060606"/>
                  </a:solidFill>
                </a:rPr>
                <a:t>2</a:t>
              </a:r>
              <a:r>
                <a:rPr lang="zh-CN" altLang="en-US" sz="2400" dirty="0">
                  <a:solidFill>
                    <a:srgbClr val="060606"/>
                  </a:solidFill>
                </a:rPr>
                <a:t>倍。如果有</a:t>
              </a:r>
              <a:r>
                <a:rPr lang="en-US" altLang="zh-CN" sz="2400" dirty="0">
                  <a:solidFill>
                    <a:srgbClr val="060606"/>
                  </a:solidFill>
                </a:rPr>
                <a:t>20</a:t>
              </a:r>
              <a:r>
                <a:rPr lang="zh-CN" altLang="en-US" sz="2400" dirty="0">
                  <a:solidFill>
                    <a:srgbClr val="060606"/>
                  </a:solidFill>
                </a:rPr>
                <a:t>个单位的木材可以使用，请表述一个使</a:t>
              </a:r>
              <a:r>
                <a:rPr lang="en-US" altLang="zh-CN" sz="2400" dirty="0" err="1">
                  <a:solidFill>
                    <a:srgbClr val="060606"/>
                  </a:solidFill>
                </a:rPr>
                <a:t>Furnco</a:t>
              </a:r>
              <a:r>
                <a:rPr lang="zh-CN" altLang="en-US" sz="2400" dirty="0">
                  <a:solidFill>
                    <a:srgbClr val="060606"/>
                  </a:solidFill>
                </a:rPr>
                <a:t>公司利润最大化的</a:t>
              </a:r>
              <a:r>
                <a:rPr lang="en-US" altLang="zh-CN" sz="2400" dirty="0">
                  <a:solidFill>
                    <a:srgbClr val="060606"/>
                  </a:solidFill>
                </a:rPr>
                <a:t>LPQ</a:t>
              </a:r>
              <a:r>
                <a:rPr lang="zh-CN" altLang="en-US" sz="2400" dirty="0">
                  <a:solidFill>
                    <a:srgbClr val="060606"/>
                  </a:solidFill>
                </a:rPr>
                <a:t>并计算。</a:t>
              </a:r>
              <a:endParaRPr lang="zh-CN" altLang="en-US" sz="2400" dirty="0">
                <a:solidFill>
                  <a:srgbClr val="060606"/>
                </a:solidFill>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b="1" dirty="0">
                <a:latin typeface="+mj-ea"/>
                <a:ea typeface="+mj-ea"/>
              </a:rPr>
              <a:t>练习</a:t>
            </a:r>
            <a:r>
              <a:rPr lang="en-US" altLang="zh-CN" sz="2800" b="1" dirty="0">
                <a:latin typeface="+mj-ea"/>
                <a:ea typeface="+mj-ea"/>
              </a:rPr>
              <a:t>25</a:t>
            </a:r>
            <a:r>
              <a:rPr lang="en-US" altLang="zh-CN" sz="2800" b="1" dirty="0">
                <a:solidFill>
                  <a:srgbClr val="060606"/>
                </a:solidFill>
                <a:latin typeface="+mj-ea"/>
                <a:ea typeface="+mj-ea"/>
              </a:rPr>
              <a:t> Dorian</a:t>
            </a:r>
            <a:r>
              <a:rPr lang="zh-CN" altLang="en-US" sz="2800" b="1" dirty="0">
                <a:solidFill>
                  <a:srgbClr val="060606"/>
                </a:solidFill>
                <a:latin typeface="+mj-ea"/>
                <a:ea typeface="+mj-ea"/>
              </a:rPr>
              <a:t>汽车公司</a:t>
            </a:r>
            <a:endParaRPr lang="zh-CN" altLang="en-US" sz="2800" b="1" dirty="0">
              <a:latin typeface="+mj-ea"/>
              <a:ea typeface="+mj-ea"/>
            </a:endParaRPr>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13554" cy="3416320"/>
            </a:xfrm>
            <a:prstGeom prst="rect">
              <a:avLst/>
            </a:prstGeom>
            <a:noFill/>
          </p:spPr>
          <p:txBody>
            <a:bodyPr wrap="square" rtlCol="0">
              <a:spAutoFit/>
            </a:bodyPr>
            <a:lstStyle/>
            <a:p>
              <a:r>
                <a:rPr lang="en-US" altLang="zh-CN" sz="2400" dirty="0">
                  <a:solidFill>
                    <a:srgbClr val="060606"/>
                  </a:solidFill>
                </a:rPr>
                <a:t>Dorian</a:t>
              </a:r>
              <a:r>
                <a:rPr lang="zh-CN" altLang="en-US" sz="2400" dirty="0">
                  <a:solidFill>
                    <a:srgbClr val="060606"/>
                  </a:solidFill>
                </a:rPr>
                <a:t>汽车公司生产豪华汽车和卡车。该公司将客户定位于高收入的男性和女性。为了抓住这些群体，</a:t>
              </a:r>
              <a:r>
                <a:rPr lang="en-US" altLang="zh-CN" sz="2400" dirty="0">
                  <a:solidFill>
                    <a:srgbClr val="060606"/>
                  </a:solidFill>
                </a:rPr>
                <a:t>Dorian</a:t>
              </a:r>
              <a:r>
                <a:rPr lang="zh-CN" altLang="en-US" sz="2400" dirty="0">
                  <a:solidFill>
                    <a:srgbClr val="060606"/>
                  </a:solidFill>
                </a:rPr>
                <a:t>汽车公司实施了</a:t>
              </a:r>
              <a:r>
                <a:rPr lang="en-US" altLang="zh-CN" sz="2400" dirty="0">
                  <a:solidFill>
                    <a:srgbClr val="060606"/>
                  </a:solidFill>
                </a:rPr>
                <a:t>2</a:t>
              </a:r>
              <a:r>
                <a:rPr lang="zh-CN" altLang="en-US" sz="2400" dirty="0">
                  <a:solidFill>
                    <a:srgbClr val="060606"/>
                  </a:solidFill>
                </a:rPr>
                <a:t>个野心勃勃的电视广告计划，决定在两类节目上购买</a:t>
              </a:r>
              <a:r>
                <a:rPr lang="en-US" altLang="zh-CN" sz="2400" dirty="0">
                  <a:solidFill>
                    <a:srgbClr val="060606"/>
                  </a:solidFill>
                </a:rPr>
                <a:t>1</a:t>
              </a:r>
              <a:r>
                <a:rPr lang="zh-CN" altLang="en-US" sz="2400" dirty="0">
                  <a:solidFill>
                    <a:srgbClr val="060606"/>
                  </a:solidFill>
                </a:rPr>
                <a:t>分钟的商业广告时段：喜剧片和足球比赛。</a:t>
              </a:r>
              <a:endParaRPr lang="en-US" altLang="zh-CN" sz="2400" dirty="0">
                <a:solidFill>
                  <a:srgbClr val="060606"/>
                </a:solidFill>
              </a:endParaRPr>
            </a:p>
            <a:p>
              <a:r>
                <a:rPr lang="zh-CN" altLang="en-US" sz="2400" dirty="0">
                  <a:solidFill>
                    <a:srgbClr val="060606"/>
                  </a:solidFill>
                </a:rPr>
                <a:t>每个喜剧商业广告的观众可以达到</a:t>
              </a:r>
              <a:r>
                <a:rPr lang="en-US" altLang="zh-CN" sz="2400" dirty="0">
                  <a:solidFill>
                    <a:srgbClr val="060606"/>
                  </a:solidFill>
                </a:rPr>
                <a:t>700</a:t>
              </a:r>
              <a:r>
                <a:rPr lang="zh-CN" altLang="en-US" sz="2400" dirty="0">
                  <a:solidFill>
                    <a:srgbClr val="060606"/>
                  </a:solidFill>
                </a:rPr>
                <a:t>万名高收入的女性和</a:t>
              </a:r>
              <a:r>
                <a:rPr lang="en-US" altLang="zh-CN" sz="2400" dirty="0">
                  <a:solidFill>
                    <a:srgbClr val="060606"/>
                  </a:solidFill>
                </a:rPr>
                <a:t>200</a:t>
              </a:r>
              <a:r>
                <a:rPr lang="zh-CN" altLang="en-US" sz="2400" dirty="0">
                  <a:solidFill>
                    <a:srgbClr val="060606"/>
                  </a:solidFill>
                </a:rPr>
                <a:t>万名高收入的男性。</a:t>
              </a:r>
              <a:endParaRPr lang="en-US" altLang="zh-CN" sz="2400" dirty="0">
                <a:solidFill>
                  <a:srgbClr val="060606"/>
                </a:solidFill>
              </a:endParaRPr>
            </a:p>
            <a:p>
              <a:r>
                <a:rPr lang="zh-CN" altLang="en-US" sz="2400" dirty="0">
                  <a:solidFill>
                    <a:srgbClr val="060606"/>
                  </a:solidFill>
                </a:rPr>
                <a:t>每个足球商业广告的观众可以达到</a:t>
              </a:r>
              <a:r>
                <a:rPr lang="en-US" altLang="zh-CN" sz="2400" dirty="0">
                  <a:solidFill>
                    <a:srgbClr val="060606"/>
                  </a:solidFill>
                </a:rPr>
                <a:t>1200</a:t>
              </a:r>
              <a:r>
                <a:rPr lang="zh-CN" altLang="en-US" sz="2400" dirty="0">
                  <a:solidFill>
                    <a:srgbClr val="060606"/>
                  </a:solidFill>
                </a:rPr>
                <a:t>万名高收入的男性和</a:t>
              </a:r>
              <a:r>
                <a:rPr lang="en-US" altLang="zh-CN" sz="2400" dirty="0">
                  <a:solidFill>
                    <a:srgbClr val="060606"/>
                  </a:solidFill>
                </a:rPr>
                <a:t>200</a:t>
              </a:r>
              <a:r>
                <a:rPr lang="zh-CN" altLang="en-US" sz="2400" dirty="0">
                  <a:solidFill>
                    <a:srgbClr val="060606"/>
                  </a:solidFill>
                </a:rPr>
                <a:t>万名高收入的女性。</a:t>
              </a:r>
              <a:endParaRPr lang="en-US" altLang="zh-CN" sz="2400" dirty="0">
                <a:solidFill>
                  <a:srgbClr val="060606"/>
                </a:solidFill>
              </a:endParaRPr>
            </a:p>
            <a:p>
              <a:r>
                <a:rPr lang="en-US" altLang="zh-CN" sz="2400" dirty="0">
                  <a:solidFill>
                    <a:srgbClr val="060606"/>
                  </a:solidFill>
                </a:rPr>
                <a:t>1</a:t>
              </a:r>
              <a:r>
                <a:rPr lang="zh-CN" altLang="en-US" sz="2400" dirty="0">
                  <a:solidFill>
                    <a:srgbClr val="060606"/>
                  </a:solidFill>
                </a:rPr>
                <a:t>分钟喜剧广告的费用是</a:t>
              </a:r>
              <a:r>
                <a:rPr lang="en-US" altLang="zh-CN" sz="2400" dirty="0">
                  <a:solidFill>
                    <a:srgbClr val="060606"/>
                  </a:solidFill>
                </a:rPr>
                <a:t>50,000</a:t>
              </a:r>
              <a:r>
                <a:rPr lang="zh-CN" altLang="en-US" sz="2400" dirty="0">
                  <a:solidFill>
                    <a:srgbClr val="060606"/>
                  </a:solidFill>
                </a:rPr>
                <a:t>美元，</a:t>
              </a:r>
              <a:r>
                <a:rPr lang="en-US" altLang="zh-CN" sz="2400" dirty="0">
                  <a:solidFill>
                    <a:srgbClr val="060606"/>
                  </a:solidFill>
                </a:rPr>
                <a:t> 1</a:t>
              </a:r>
              <a:r>
                <a:rPr lang="zh-CN" altLang="en-US" sz="2400" dirty="0">
                  <a:solidFill>
                    <a:srgbClr val="060606"/>
                  </a:solidFill>
                </a:rPr>
                <a:t>分钟足球广告得费用是</a:t>
              </a:r>
              <a:r>
                <a:rPr lang="en-US" altLang="zh-CN" sz="2400" dirty="0">
                  <a:solidFill>
                    <a:srgbClr val="060606"/>
                  </a:solidFill>
                </a:rPr>
                <a:t>100,000</a:t>
              </a:r>
              <a:r>
                <a:rPr lang="zh-CN" altLang="en-US" sz="2400" dirty="0">
                  <a:solidFill>
                    <a:srgbClr val="060606"/>
                  </a:solidFill>
                </a:rPr>
                <a:t>美元。</a:t>
              </a:r>
              <a:r>
                <a:rPr lang="en-US" altLang="zh-CN" sz="2400" dirty="0">
                  <a:solidFill>
                    <a:srgbClr val="060606"/>
                  </a:solidFill>
                </a:rPr>
                <a:t>Dorian</a:t>
              </a:r>
              <a:r>
                <a:rPr lang="zh-CN" altLang="en-US" sz="2400" dirty="0">
                  <a:solidFill>
                    <a:srgbClr val="060606"/>
                  </a:solidFill>
                </a:rPr>
                <a:t>汽车公司希望这些商业广告能够被至少</a:t>
              </a:r>
              <a:r>
                <a:rPr lang="en-US" altLang="zh-CN" sz="2400" dirty="0">
                  <a:solidFill>
                    <a:srgbClr val="060606"/>
                  </a:solidFill>
                </a:rPr>
                <a:t>2800</a:t>
              </a:r>
              <a:r>
                <a:rPr lang="zh-CN" altLang="en-US" sz="2400" dirty="0">
                  <a:solidFill>
                    <a:srgbClr val="060606"/>
                  </a:solidFill>
                </a:rPr>
                <a:t>万名高收入的女性和</a:t>
              </a:r>
              <a:r>
                <a:rPr lang="en-US" altLang="zh-CN" sz="2400" dirty="0">
                  <a:solidFill>
                    <a:srgbClr val="060606"/>
                  </a:solidFill>
                </a:rPr>
                <a:t>24000</a:t>
              </a:r>
              <a:r>
                <a:rPr lang="zh-CN" altLang="en-US" sz="2400" dirty="0">
                  <a:solidFill>
                    <a:srgbClr val="060606"/>
                  </a:solidFill>
                </a:rPr>
                <a:t>名高收入的男性看到。</a:t>
              </a:r>
              <a:endParaRPr lang="en-US" altLang="zh-CN" sz="2400" dirty="0">
                <a:solidFill>
                  <a:srgbClr val="060606"/>
                </a:solidFill>
              </a:endParaRPr>
            </a:p>
            <a:p>
              <a:r>
                <a:rPr lang="zh-CN" altLang="en-US" sz="2400" dirty="0">
                  <a:solidFill>
                    <a:srgbClr val="060606"/>
                  </a:solidFill>
                </a:rPr>
                <a:t>使用线性规划确定</a:t>
              </a:r>
              <a:r>
                <a:rPr lang="en-US" altLang="zh-CN" sz="2400" dirty="0">
                  <a:solidFill>
                    <a:srgbClr val="060606"/>
                  </a:solidFill>
                </a:rPr>
                <a:t>Dorian</a:t>
              </a:r>
              <a:r>
                <a:rPr lang="zh-CN" altLang="en-US" sz="2400" dirty="0">
                  <a:solidFill>
                    <a:srgbClr val="060606"/>
                  </a:solidFill>
                </a:rPr>
                <a:t>汽车公司如何以最小的费用满足它的广告要求。</a:t>
              </a:r>
              <a:endParaRPr lang="zh-CN" altLang="en-US" sz="2400" dirty="0">
                <a:solidFill>
                  <a:srgbClr val="060606"/>
                </a:solidFill>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dirty="0"/>
              <a:t>练习</a:t>
            </a:r>
            <a:r>
              <a:rPr lang="en-US" altLang="zh-CN" sz="2800" dirty="0"/>
              <a:t>26</a:t>
            </a:r>
            <a:r>
              <a:rPr lang="zh-CN" altLang="en-US" sz="2800" dirty="0"/>
              <a:t>饮食问题</a:t>
            </a:r>
            <a:endParaRPr lang="zh-CN" altLang="en-US" sz="2800" dirty="0"/>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13554" cy="2677656"/>
            </a:xfrm>
            <a:prstGeom prst="rect">
              <a:avLst/>
            </a:prstGeom>
            <a:noFill/>
          </p:spPr>
          <p:txBody>
            <a:bodyPr wrap="square" rtlCol="0">
              <a:spAutoFit/>
            </a:bodyPr>
            <a:lstStyle/>
            <a:p>
              <a:r>
                <a:rPr lang="zh-CN" altLang="en-US" sz="2400" dirty="0">
                  <a:solidFill>
                    <a:srgbClr val="060606"/>
                  </a:solidFill>
                </a:rPr>
                <a:t>汤姆的饮食方案要求他的所有食物都来自于</a:t>
              </a:r>
              <a:r>
                <a:rPr lang="en-US" altLang="zh-CN" sz="2400" dirty="0">
                  <a:solidFill>
                    <a:srgbClr val="060606"/>
                  </a:solidFill>
                </a:rPr>
                <a:t>”4</a:t>
              </a:r>
              <a:r>
                <a:rPr lang="zh-CN" altLang="en-US" sz="2400" dirty="0">
                  <a:solidFill>
                    <a:srgbClr val="060606"/>
                  </a:solidFill>
                </a:rPr>
                <a:t>个基本食物组</a:t>
              </a:r>
              <a:r>
                <a:rPr lang="en-US" altLang="zh-CN" sz="2400" dirty="0">
                  <a:solidFill>
                    <a:srgbClr val="060606"/>
                  </a:solidFill>
                </a:rPr>
                <a:t>”</a:t>
              </a:r>
              <a:r>
                <a:rPr lang="zh-CN" altLang="en-US" sz="2400" dirty="0">
                  <a:solidFill>
                    <a:srgbClr val="060606"/>
                  </a:solidFill>
                </a:rPr>
                <a:t>之一</a:t>
              </a:r>
              <a:r>
                <a:rPr lang="en-US" altLang="zh-CN" sz="2400" dirty="0">
                  <a:solidFill>
                    <a:srgbClr val="060606"/>
                  </a:solidFill>
                </a:rPr>
                <a:t>(</a:t>
              </a:r>
              <a:r>
                <a:rPr lang="zh-CN" altLang="en-US" sz="2400" dirty="0">
                  <a:solidFill>
                    <a:srgbClr val="060606"/>
                  </a:solidFill>
                </a:rPr>
                <a:t>巧克力蛋糕、冰激凌、苏打水和干酪蛋糕</a:t>
              </a:r>
              <a:r>
                <a:rPr lang="en-US" altLang="zh-CN" sz="2400" dirty="0">
                  <a:solidFill>
                    <a:srgbClr val="060606"/>
                  </a:solidFill>
                </a:rPr>
                <a:t>)</a:t>
              </a:r>
              <a:r>
                <a:rPr lang="zh-CN" altLang="en-US" sz="2400" dirty="0">
                  <a:solidFill>
                    <a:srgbClr val="060606"/>
                  </a:solidFill>
                </a:rPr>
                <a:t>。目前可以消费的食物有以下</a:t>
              </a:r>
              <a:r>
                <a:rPr lang="en-US" altLang="zh-CN" sz="2400" dirty="0">
                  <a:solidFill>
                    <a:srgbClr val="060606"/>
                  </a:solidFill>
                </a:rPr>
                <a:t>4</a:t>
              </a:r>
              <a:r>
                <a:rPr lang="zh-CN" altLang="en-US" sz="2400" dirty="0">
                  <a:solidFill>
                    <a:srgbClr val="060606"/>
                  </a:solidFill>
                </a:rPr>
                <a:t>种：胡桃巧克力糖、巧克力冰激凌、可口可乐和菠萝干酪蛋糕。一块胡桃巧克力的价格是</a:t>
              </a:r>
              <a:r>
                <a:rPr lang="en-US" altLang="zh-CN" sz="2400" dirty="0">
                  <a:solidFill>
                    <a:srgbClr val="060606"/>
                  </a:solidFill>
                </a:rPr>
                <a:t>50</a:t>
              </a:r>
              <a:r>
                <a:rPr lang="zh-CN" altLang="en-US" sz="2400" dirty="0">
                  <a:solidFill>
                    <a:srgbClr val="060606"/>
                  </a:solidFill>
                </a:rPr>
                <a:t>美分、一勺巧克力冰激凌的价格是</a:t>
              </a:r>
              <a:r>
                <a:rPr lang="en-US" altLang="zh-CN" sz="2400" dirty="0">
                  <a:solidFill>
                    <a:srgbClr val="060606"/>
                  </a:solidFill>
                </a:rPr>
                <a:t>20</a:t>
              </a:r>
              <a:r>
                <a:rPr lang="zh-CN" altLang="en-US" sz="2400" dirty="0">
                  <a:solidFill>
                    <a:srgbClr val="060606"/>
                  </a:solidFill>
                </a:rPr>
                <a:t>美分，一瓶可口可乐的价格是</a:t>
              </a:r>
              <a:r>
                <a:rPr lang="en-US" altLang="zh-CN" sz="2400" dirty="0">
                  <a:solidFill>
                    <a:srgbClr val="060606"/>
                  </a:solidFill>
                </a:rPr>
                <a:t>30</a:t>
              </a:r>
              <a:r>
                <a:rPr lang="zh-CN" altLang="en-US" sz="2400" dirty="0">
                  <a:solidFill>
                    <a:srgbClr val="060606"/>
                  </a:solidFill>
                </a:rPr>
                <a:t>美分，一块菠萝干酪蛋糕的价格是</a:t>
              </a:r>
              <a:r>
                <a:rPr lang="en-US" altLang="zh-CN" sz="2400" dirty="0">
                  <a:solidFill>
                    <a:srgbClr val="060606"/>
                  </a:solidFill>
                </a:rPr>
                <a:t>80</a:t>
              </a:r>
              <a:r>
                <a:rPr lang="zh-CN" altLang="en-US" sz="2400" dirty="0">
                  <a:solidFill>
                    <a:srgbClr val="060606"/>
                  </a:solidFill>
                </a:rPr>
                <a:t>美分。汤姆每天至少需要摄入</a:t>
              </a:r>
              <a:r>
                <a:rPr lang="en-US" altLang="zh-CN" sz="2400" dirty="0">
                  <a:solidFill>
                    <a:srgbClr val="060606"/>
                  </a:solidFill>
                </a:rPr>
                <a:t>500</a:t>
              </a:r>
              <a:r>
                <a:rPr lang="zh-CN" altLang="en-US" sz="2400" dirty="0">
                  <a:solidFill>
                    <a:srgbClr val="060606"/>
                  </a:solidFill>
                </a:rPr>
                <a:t>卡路里，</a:t>
              </a:r>
              <a:r>
                <a:rPr lang="en-US" altLang="zh-CN" sz="2400" dirty="0">
                  <a:solidFill>
                    <a:srgbClr val="060606"/>
                  </a:solidFill>
                </a:rPr>
                <a:t>6</a:t>
              </a:r>
              <a:r>
                <a:rPr lang="zh-CN" altLang="en-US" sz="2400" dirty="0">
                  <a:solidFill>
                    <a:srgbClr val="060606"/>
                  </a:solidFill>
                </a:rPr>
                <a:t>盎司巧克力，</a:t>
              </a:r>
              <a:r>
                <a:rPr lang="en-US" altLang="zh-CN" sz="2400" dirty="0">
                  <a:solidFill>
                    <a:srgbClr val="060606"/>
                  </a:solidFill>
                </a:rPr>
                <a:t>10</a:t>
              </a:r>
              <a:r>
                <a:rPr lang="zh-CN" altLang="en-US" sz="2400" dirty="0">
                  <a:solidFill>
                    <a:srgbClr val="060606"/>
                  </a:solidFill>
                </a:rPr>
                <a:t>盎司糖和</a:t>
              </a:r>
              <a:r>
                <a:rPr lang="en-US" altLang="zh-CN" sz="2400" dirty="0">
                  <a:solidFill>
                    <a:srgbClr val="060606"/>
                  </a:solidFill>
                </a:rPr>
                <a:t>8</a:t>
              </a:r>
              <a:r>
                <a:rPr lang="zh-CN" altLang="en-US" sz="2400" dirty="0">
                  <a:solidFill>
                    <a:srgbClr val="060606"/>
                  </a:solidFill>
                </a:rPr>
                <a:t>盎司脂肪。下表列出了每种食物每单位的营养含量。问题是怎样可以以最小成本满足汤姆每日所需营养？</a:t>
              </a:r>
              <a:endParaRPr lang="zh-CN" altLang="en-US" sz="2400" dirty="0"/>
            </a:p>
          </p:txBody>
        </p:sp>
      </p:grpSp>
      <p:graphicFrame>
        <p:nvGraphicFramePr>
          <p:cNvPr id="6" name="表格 5"/>
          <p:cNvGraphicFramePr>
            <a:graphicFrameLocks noGrp="1"/>
          </p:cNvGraphicFramePr>
          <p:nvPr/>
        </p:nvGraphicFramePr>
        <p:xfrm>
          <a:off x="2883648" y="3755342"/>
          <a:ext cx="7920476" cy="2485660"/>
        </p:xfrm>
        <a:graphic>
          <a:graphicData uri="http://schemas.openxmlformats.org/drawingml/2006/table">
            <a:tbl>
              <a:tblPr firstRow="1" bandRow="1">
                <a:tableStyleId>{5C22544A-7EE6-4342-B048-85BDC9FD1C3A}</a:tableStyleId>
              </a:tblPr>
              <a:tblGrid>
                <a:gridCol w="2420102"/>
                <a:gridCol w="5500374"/>
              </a:tblGrid>
              <a:tr h="497132">
                <a:tc>
                  <a:txBody>
                    <a:bodyPr/>
                    <a:lstStyle/>
                    <a:p>
                      <a:r>
                        <a:rPr lang="zh-CN" altLang="en-US" sz="1800" dirty="0">
                          <a:solidFill>
                            <a:srgbClr val="060606"/>
                          </a:solidFill>
                        </a:rPr>
                        <a:t>食物类型</a:t>
                      </a:r>
                      <a:endParaRPr lang="zh-CN" altLang="en-US" sz="1800" dirty="0">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r>
                        <a:rPr lang="zh-CN" altLang="en-US" sz="1800" dirty="0">
                          <a:solidFill>
                            <a:srgbClr val="060606"/>
                          </a:solidFill>
                        </a:rPr>
                        <a:t>卡路里   巧克力</a:t>
                      </a:r>
                      <a:r>
                        <a:rPr lang="en-US" altLang="zh-CN" sz="1800" dirty="0">
                          <a:solidFill>
                            <a:srgbClr val="060606"/>
                          </a:solidFill>
                        </a:rPr>
                        <a:t>(</a:t>
                      </a:r>
                      <a:r>
                        <a:rPr lang="zh-CN" altLang="en-US" sz="1800" dirty="0">
                          <a:solidFill>
                            <a:srgbClr val="060606"/>
                          </a:solidFill>
                        </a:rPr>
                        <a:t>盎司</a:t>
                      </a:r>
                      <a:r>
                        <a:rPr lang="en-US" altLang="zh-CN" sz="1800" dirty="0">
                          <a:solidFill>
                            <a:srgbClr val="060606"/>
                          </a:solidFill>
                        </a:rPr>
                        <a:t>)  </a:t>
                      </a:r>
                      <a:r>
                        <a:rPr lang="zh-CN" altLang="en-US" sz="1800" dirty="0">
                          <a:solidFill>
                            <a:srgbClr val="060606"/>
                          </a:solidFill>
                        </a:rPr>
                        <a:t>糖</a:t>
                      </a:r>
                      <a:r>
                        <a:rPr lang="en-US" altLang="zh-CN" sz="1800" dirty="0">
                          <a:solidFill>
                            <a:srgbClr val="060606"/>
                          </a:solidFill>
                        </a:rPr>
                        <a:t>(</a:t>
                      </a:r>
                      <a:r>
                        <a:rPr lang="zh-CN" altLang="en-US" sz="1800" dirty="0">
                          <a:solidFill>
                            <a:srgbClr val="060606"/>
                          </a:solidFill>
                        </a:rPr>
                        <a:t>盎司</a:t>
                      </a:r>
                      <a:r>
                        <a:rPr lang="en-US" altLang="zh-CN" sz="1800" dirty="0">
                          <a:solidFill>
                            <a:srgbClr val="060606"/>
                          </a:solidFill>
                        </a:rPr>
                        <a:t>)   </a:t>
                      </a:r>
                      <a:r>
                        <a:rPr lang="zh-CN" altLang="en-US" sz="1800" dirty="0">
                          <a:solidFill>
                            <a:srgbClr val="060606"/>
                          </a:solidFill>
                        </a:rPr>
                        <a:t>脂肪</a:t>
                      </a:r>
                      <a:r>
                        <a:rPr lang="en-US" altLang="zh-CN" sz="1800" dirty="0">
                          <a:solidFill>
                            <a:srgbClr val="060606"/>
                          </a:solidFill>
                        </a:rPr>
                        <a:t>(</a:t>
                      </a:r>
                      <a:r>
                        <a:rPr lang="zh-CN" altLang="en-US" sz="1800" dirty="0">
                          <a:solidFill>
                            <a:srgbClr val="060606"/>
                          </a:solidFill>
                        </a:rPr>
                        <a:t>盎司</a:t>
                      </a:r>
                      <a:r>
                        <a:rPr lang="en-US" altLang="zh-CN" sz="1800" dirty="0">
                          <a:solidFill>
                            <a:srgbClr val="060606"/>
                          </a:solidFill>
                        </a:rPr>
                        <a:t>)</a:t>
                      </a:r>
                      <a:endParaRPr lang="zh-CN" altLang="en-US" sz="1800" dirty="0">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497132">
                <a:tc>
                  <a:txBody>
                    <a:bodyPr/>
                    <a:lstStyle/>
                    <a:p>
                      <a:r>
                        <a:rPr lang="zh-CN" altLang="en-US" sz="1800" dirty="0">
                          <a:solidFill>
                            <a:srgbClr val="060606"/>
                          </a:solidFill>
                        </a:rPr>
                        <a:t>胡桃巧克力糖</a:t>
                      </a:r>
                      <a:endParaRPr lang="zh-CN" altLang="en-US" sz="1800"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800" dirty="0">
                          <a:solidFill>
                            <a:srgbClr val="060606"/>
                          </a:solidFill>
                        </a:rPr>
                        <a:t>400              3                    2                2</a:t>
                      </a:r>
                      <a:endParaRPr lang="zh-CN" altLang="en-US" sz="1800"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497132">
                <a:tc>
                  <a:txBody>
                    <a:bodyPr/>
                    <a:lstStyle/>
                    <a:p>
                      <a:r>
                        <a:rPr lang="zh-CN" altLang="en-US" sz="1800" dirty="0">
                          <a:solidFill>
                            <a:srgbClr val="060606"/>
                          </a:solidFill>
                        </a:rPr>
                        <a:t>巧克力冰激凌</a:t>
                      </a:r>
                      <a:r>
                        <a:rPr lang="en-US" altLang="zh-CN" sz="1800" dirty="0">
                          <a:solidFill>
                            <a:srgbClr val="060606"/>
                          </a:solidFill>
                        </a:rPr>
                        <a:t>(1</a:t>
                      </a:r>
                      <a:r>
                        <a:rPr lang="zh-CN" altLang="en-US" sz="1800" dirty="0">
                          <a:solidFill>
                            <a:srgbClr val="060606"/>
                          </a:solidFill>
                        </a:rPr>
                        <a:t>勺</a:t>
                      </a:r>
                      <a:r>
                        <a:rPr lang="en-US" altLang="zh-CN" sz="1800" dirty="0">
                          <a:solidFill>
                            <a:srgbClr val="060606"/>
                          </a:solidFill>
                        </a:rPr>
                        <a:t>)</a:t>
                      </a:r>
                      <a:endParaRPr lang="zh-CN" altLang="en-US" sz="1800"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800" dirty="0">
                          <a:solidFill>
                            <a:srgbClr val="060606"/>
                          </a:solidFill>
                        </a:rPr>
                        <a:t>200              2                    2                4</a:t>
                      </a:r>
                      <a:endParaRPr lang="zh-CN" altLang="en-US" sz="1800"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497132">
                <a:tc>
                  <a:txBody>
                    <a:bodyPr/>
                    <a:lstStyle/>
                    <a:p>
                      <a:r>
                        <a:rPr lang="zh-CN" altLang="en-US" sz="1800" dirty="0">
                          <a:solidFill>
                            <a:srgbClr val="060606"/>
                          </a:solidFill>
                        </a:rPr>
                        <a:t>可口可乐</a:t>
                      </a:r>
                      <a:r>
                        <a:rPr lang="en-US" altLang="zh-CN" sz="1800" dirty="0">
                          <a:solidFill>
                            <a:srgbClr val="060606"/>
                          </a:solidFill>
                        </a:rPr>
                        <a:t>(1</a:t>
                      </a:r>
                      <a:r>
                        <a:rPr lang="zh-CN" altLang="en-US" sz="1800" dirty="0">
                          <a:solidFill>
                            <a:srgbClr val="060606"/>
                          </a:solidFill>
                        </a:rPr>
                        <a:t>瓶</a:t>
                      </a:r>
                      <a:r>
                        <a:rPr lang="en-US" altLang="zh-CN" sz="1800" dirty="0">
                          <a:solidFill>
                            <a:srgbClr val="060606"/>
                          </a:solidFill>
                        </a:rPr>
                        <a:t>)</a:t>
                      </a:r>
                      <a:endParaRPr lang="zh-CN" altLang="en-US" sz="1800"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1800" dirty="0">
                          <a:solidFill>
                            <a:srgbClr val="060606"/>
                          </a:solidFill>
                        </a:rPr>
                        <a:t>150              0                    4                1</a:t>
                      </a:r>
                      <a:endParaRPr lang="zh-CN" altLang="en-US" sz="1800"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497132">
                <a:tc>
                  <a:txBody>
                    <a:bodyPr/>
                    <a:lstStyle/>
                    <a:p>
                      <a:r>
                        <a:rPr lang="zh-CN" altLang="en-US" sz="1800" dirty="0">
                          <a:solidFill>
                            <a:srgbClr val="060606"/>
                          </a:solidFill>
                        </a:rPr>
                        <a:t>菠萝干酪蛋糕</a:t>
                      </a:r>
                      <a:r>
                        <a:rPr lang="en-US" altLang="zh-CN" sz="1800" dirty="0">
                          <a:solidFill>
                            <a:srgbClr val="060606"/>
                          </a:solidFill>
                        </a:rPr>
                        <a:t>(1</a:t>
                      </a:r>
                      <a:r>
                        <a:rPr lang="zh-CN" altLang="en-US" sz="1800" dirty="0">
                          <a:solidFill>
                            <a:srgbClr val="060606"/>
                          </a:solidFill>
                        </a:rPr>
                        <a:t>块</a:t>
                      </a:r>
                      <a:r>
                        <a:rPr lang="en-US" altLang="zh-CN" sz="1800" dirty="0">
                          <a:solidFill>
                            <a:srgbClr val="060606"/>
                          </a:solidFill>
                        </a:rPr>
                        <a:t>)</a:t>
                      </a:r>
                      <a:endParaRPr lang="zh-CN" altLang="en-US" sz="1800"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1800" dirty="0">
                          <a:solidFill>
                            <a:srgbClr val="060606"/>
                          </a:solidFill>
                        </a:rPr>
                        <a:t>500              0                    4                 5</a:t>
                      </a:r>
                      <a:endParaRPr lang="zh-CN" altLang="en-US" sz="1800" dirty="0">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629" y="119743"/>
            <a:ext cx="11821885" cy="523220"/>
          </a:xfrm>
          <a:prstGeom prst="rect">
            <a:avLst/>
          </a:prstGeom>
          <a:noFill/>
        </p:spPr>
        <p:txBody>
          <a:bodyPr wrap="square" rtlCol="0">
            <a:spAutoFit/>
          </a:bodyPr>
          <a:lstStyle/>
          <a:p>
            <a:r>
              <a:rPr lang="zh-CN" altLang="en-US" sz="2800" b="1" dirty="0">
                <a:latin typeface="+mj-ea"/>
                <a:ea typeface="+mj-ea"/>
              </a:rPr>
              <a:t>练习</a:t>
            </a:r>
            <a:r>
              <a:rPr lang="en-US" altLang="zh-CN" sz="2800" b="1" dirty="0">
                <a:latin typeface="+mj-ea"/>
                <a:ea typeface="+mj-ea"/>
              </a:rPr>
              <a:t>27</a:t>
            </a:r>
            <a:r>
              <a:rPr lang="en-US" altLang="zh-CN" sz="2800" b="1" dirty="0">
                <a:solidFill>
                  <a:srgbClr val="00000C"/>
                </a:solidFill>
                <a:latin typeface="+mj-ea"/>
                <a:ea typeface="+mj-ea"/>
              </a:rPr>
              <a:t> Dakota</a:t>
            </a:r>
            <a:r>
              <a:rPr lang="zh-CN" altLang="en-US" sz="2800" b="1" dirty="0">
                <a:solidFill>
                  <a:srgbClr val="00000C"/>
                </a:solidFill>
                <a:latin typeface="+mj-ea"/>
                <a:ea typeface="+mj-ea"/>
              </a:rPr>
              <a:t>问题</a:t>
            </a:r>
            <a:endParaRPr lang="zh-CN" altLang="en-US" sz="2800" b="1" dirty="0">
              <a:latin typeface="+mj-ea"/>
              <a:ea typeface="+mj-ea"/>
            </a:endParaRPr>
          </a:p>
        </p:txBody>
      </p:sp>
      <p:grpSp>
        <p:nvGrpSpPr>
          <p:cNvPr id="5" name="组合 4"/>
          <p:cNvGrpSpPr/>
          <p:nvPr/>
        </p:nvGrpSpPr>
        <p:grpSpPr>
          <a:xfrm>
            <a:off x="108857" y="838200"/>
            <a:ext cx="11930743" cy="5856514"/>
            <a:chOff x="108857" y="838200"/>
            <a:chExt cx="11930743" cy="5856514"/>
          </a:xfrm>
        </p:grpSpPr>
        <p:sp>
          <p:nvSpPr>
            <p:cNvPr id="3" name="矩形: 折角 2"/>
            <p:cNvSpPr/>
            <p:nvPr/>
          </p:nvSpPr>
          <p:spPr>
            <a:xfrm flipV="1">
              <a:off x="108857" y="838200"/>
              <a:ext cx="11930743" cy="5856514"/>
            </a:xfrm>
            <a:prstGeom prst="foldedCorner">
              <a:avLst>
                <a:gd name="adj" fmla="val 86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3029" y="957943"/>
              <a:ext cx="11213554" cy="461665"/>
            </a:xfrm>
            <a:prstGeom prst="rect">
              <a:avLst/>
            </a:prstGeom>
            <a:noFill/>
          </p:spPr>
          <p:txBody>
            <a:bodyPr wrap="square" rtlCol="0">
              <a:spAutoFit/>
            </a:bodyPr>
            <a:lstStyle/>
            <a:p>
              <a:r>
                <a:rPr lang="en-US" altLang="zh-CN" sz="2400" dirty="0">
                  <a:solidFill>
                    <a:srgbClr val="00000C"/>
                  </a:solidFill>
                </a:rPr>
                <a:t>Dakota</a:t>
              </a:r>
              <a:r>
                <a:rPr lang="zh-CN" altLang="en-US" sz="2400" dirty="0">
                  <a:solidFill>
                    <a:srgbClr val="00000C"/>
                  </a:solidFill>
                </a:rPr>
                <a:t>问题：如何安排生产</a:t>
              </a:r>
              <a:r>
                <a:rPr lang="en-US" altLang="zh-CN" sz="2400" dirty="0">
                  <a:solidFill>
                    <a:srgbClr val="00000C"/>
                  </a:solidFill>
                </a:rPr>
                <a:t>,  </a:t>
              </a:r>
              <a:r>
                <a:rPr lang="zh-CN" altLang="en-US" sz="2400" dirty="0">
                  <a:solidFill>
                    <a:srgbClr val="00000C"/>
                  </a:solidFill>
                </a:rPr>
                <a:t>使收入最大化</a:t>
              </a:r>
              <a:r>
                <a:rPr lang="en-US" altLang="zh-CN" sz="2400" dirty="0">
                  <a:solidFill>
                    <a:srgbClr val="00000C"/>
                  </a:solidFill>
                </a:rPr>
                <a:t>? </a:t>
              </a:r>
              <a:r>
                <a:rPr lang="zh-CN" altLang="en-US" sz="2400" dirty="0"/>
                <a:t>请建模</a:t>
              </a:r>
              <a:r>
                <a:rPr lang="en-US" altLang="zh-CN" sz="2400" dirty="0"/>
                <a:t>LPQ</a:t>
              </a:r>
              <a:r>
                <a:rPr lang="zh-CN" altLang="en-US" sz="2400" dirty="0"/>
                <a:t>。</a:t>
              </a:r>
              <a:endParaRPr lang="zh-CN" altLang="en-US" sz="2400" dirty="0"/>
            </a:p>
          </p:txBody>
        </p:sp>
      </p:grpSp>
      <p:graphicFrame>
        <p:nvGraphicFramePr>
          <p:cNvPr id="6" name="表格 5"/>
          <p:cNvGraphicFramePr>
            <a:graphicFrameLocks noGrp="1"/>
          </p:cNvGraphicFramePr>
          <p:nvPr/>
        </p:nvGraphicFramePr>
        <p:xfrm>
          <a:off x="2311141" y="1978974"/>
          <a:ext cx="7468260" cy="3736424"/>
        </p:xfrm>
        <a:graphic>
          <a:graphicData uri="http://schemas.openxmlformats.org/drawingml/2006/table">
            <a:tbl>
              <a:tblPr firstRow="1" bandRow="1">
                <a:tableStyleId>{5C22544A-7EE6-4342-B048-85BDC9FD1C3A}</a:tableStyleId>
              </a:tblPr>
              <a:tblGrid>
                <a:gridCol w="2489420"/>
                <a:gridCol w="1244710"/>
                <a:gridCol w="1244710"/>
                <a:gridCol w="1244710"/>
                <a:gridCol w="1244710"/>
              </a:tblGrid>
              <a:tr h="636926">
                <a:tc gridSpan="5">
                  <a:txBody>
                    <a:bodyPr/>
                    <a:lstStyle/>
                    <a:p>
                      <a:pPr algn="ctr"/>
                      <a:r>
                        <a:rPr lang="en-US" altLang="zh-CN" sz="2400" dirty="0">
                          <a:solidFill>
                            <a:srgbClr val="00000C"/>
                          </a:solidFill>
                        </a:rPr>
                        <a:t>Dakota</a:t>
                      </a:r>
                      <a:r>
                        <a:rPr lang="zh-CN" altLang="en-US" sz="2400" dirty="0">
                          <a:solidFill>
                            <a:srgbClr val="00000C"/>
                          </a:solidFill>
                        </a:rPr>
                        <a:t>问题的相关信息</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636926">
                <a:tc rowSpan="2">
                  <a:txBody>
                    <a:bodyPr/>
                    <a:lstStyle/>
                    <a:p>
                      <a:r>
                        <a:rPr lang="zh-CN" altLang="en-US" sz="2400" dirty="0">
                          <a:solidFill>
                            <a:srgbClr val="00000C"/>
                          </a:solidFill>
                        </a:rPr>
                        <a:t>资源</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3">
                  <a:txBody>
                    <a:bodyPr/>
                    <a:lstStyle/>
                    <a:p>
                      <a:pPr algn="ctr"/>
                      <a:r>
                        <a:rPr lang="zh-CN" altLang="en-US" sz="2400" dirty="0">
                          <a:solidFill>
                            <a:srgbClr val="00000C"/>
                          </a:solidFill>
                        </a:rPr>
                        <a:t>产品</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rowSpan="2">
                  <a:txBody>
                    <a:bodyPr/>
                    <a:lstStyle/>
                    <a:p>
                      <a:r>
                        <a:rPr lang="zh-CN" altLang="en-US" sz="2400" dirty="0">
                          <a:solidFill>
                            <a:srgbClr val="00000C"/>
                          </a:solidFill>
                        </a:rPr>
                        <a:t>可用资源数量</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636926">
                <a:tc v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zh-CN" altLang="en-US" sz="2400" baseline="0" dirty="0">
                          <a:solidFill>
                            <a:srgbClr val="00000C"/>
                          </a:solidFill>
                        </a:rPr>
                        <a:t>书桌</a:t>
                      </a:r>
                      <a:endParaRPr lang="zh-CN" altLang="en-US" sz="2400" baseline="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zh-CN" altLang="en-US" sz="2400" baseline="0" dirty="0">
                          <a:solidFill>
                            <a:srgbClr val="00000C"/>
                          </a:solidFill>
                        </a:rPr>
                        <a:t>餐桌</a:t>
                      </a:r>
                      <a:endParaRPr lang="zh-CN" altLang="en-US" sz="2400" baseline="0" dirty="0">
                        <a:solidFill>
                          <a:srgbClr val="00000C"/>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zh-CN" altLang="en-US" sz="2400" baseline="0" dirty="0">
                          <a:solidFill>
                            <a:srgbClr val="00000C"/>
                          </a:solidFill>
                        </a:rPr>
                        <a:t>椅子</a:t>
                      </a:r>
                      <a:endParaRPr lang="zh-CN" altLang="en-US" sz="2400" baseline="0" dirty="0">
                        <a:solidFill>
                          <a:srgbClr val="00000C"/>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636926">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baseline="0" dirty="0">
                          <a:solidFill>
                            <a:srgbClr val="00000C"/>
                          </a:solidFill>
                        </a:rPr>
                        <a:t>木材</a:t>
                      </a:r>
                      <a:r>
                        <a:rPr lang="en-US" altLang="zh-CN" sz="2400" baseline="0" dirty="0">
                          <a:solidFill>
                            <a:srgbClr val="00000C"/>
                          </a:solidFill>
                        </a:rPr>
                        <a:t>(</a:t>
                      </a:r>
                      <a:r>
                        <a:rPr lang="zh-CN" altLang="en-US" sz="2400" baseline="0" dirty="0">
                          <a:solidFill>
                            <a:srgbClr val="00000C"/>
                          </a:solidFill>
                        </a:rPr>
                        <a:t>立方英尺</a:t>
                      </a:r>
                      <a:r>
                        <a:rPr lang="en-US" altLang="zh-CN" sz="2400" baseline="0" dirty="0">
                          <a:solidFill>
                            <a:srgbClr val="00000C"/>
                          </a:solidFill>
                        </a:rPr>
                        <a:t>)</a:t>
                      </a:r>
                      <a:r>
                        <a:rPr lang="zh-CN" altLang="en-US" sz="2400" baseline="0" dirty="0">
                          <a:solidFill>
                            <a:srgbClr val="00000C"/>
                          </a:solidFill>
                        </a:rPr>
                        <a:t>抛光时间</a:t>
                      </a:r>
                      <a:r>
                        <a:rPr lang="en-US" altLang="zh-CN" sz="2400" baseline="0" dirty="0">
                          <a:solidFill>
                            <a:srgbClr val="00000C"/>
                          </a:solidFill>
                        </a:rPr>
                        <a:t>(</a:t>
                      </a:r>
                      <a:r>
                        <a:rPr lang="zh-CN" altLang="en-US" sz="2400" baseline="0" dirty="0">
                          <a:solidFill>
                            <a:srgbClr val="00000C"/>
                          </a:solidFill>
                        </a:rPr>
                        <a:t>小时</a:t>
                      </a:r>
                      <a:r>
                        <a:rPr lang="en-US" altLang="zh-CN" sz="2400" baseline="0" dirty="0">
                          <a:solidFill>
                            <a:srgbClr val="00000C"/>
                          </a:solidFill>
                        </a:rPr>
                        <a:t>)</a:t>
                      </a:r>
                      <a:endParaRPr lang="en-US" altLang="zh-CN" sz="2400" baseline="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2400" baseline="0" dirty="0">
                          <a:solidFill>
                            <a:srgbClr val="00000C"/>
                          </a:solidFill>
                        </a:rPr>
                        <a:t>木工时间</a:t>
                      </a:r>
                      <a:r>
                        <a:rPr lang="en-US" altLang="zh-CN" sz="2400" baseline="0" dirty="0">
                          <a:solidFill>
                            <a:srgbClr val="00000C"/>
                          </a:solidFill>
                        </a:rPr>
                        <a:t>(</a:t>
                      </a:r>
                      <a:r>
                        <a:rPr lang="zh-CN" altLang="en-US" sz="2400" baseline="0" dirty="0">
                          <a:solidFill>
                            <a:srgbClr val="00000C"/>
                          </a:solidFill>
                        </a:rPr>
                        <a:t>小时</a:t>
                      </a:r>
                      <a:r>
                        <a:rPr lang="en-US" altLang="zh-CN" sz="2400" baseline="0" dirty="0">
                          <a:solidFill>
                            <a:srgbClr val="00000C"/>
                          </a:solidFill>
                        </a:rPr>
                        <a:t>)</a:t>
                      </a:r>
                      <a:endParaRPr lang="en-US" altLang="zh-CN" sz="2400" baseline="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baseline="0" dirty="0">
                          <a:solidFill>
                            <a:srgbClr val="00000C"/>
                          </a:solidFill>
                        </a:rPr>
                        <a:t>8</a:t>
                      </a:r>
                      <a:endParaRPr lang="en-US" altLang="zh-CN" sz="2400" baseline="0" dirty="0">
                        <a:solidFill>
                          <a:srgbClr val="00000C"/>
                        </a:solidFill>
                      </a:endParaRPr>
                    </a:p>
                    <a:p>
                      <a:r>
                        <a:rPr lang="en-US" altLang="zh-CN" sz="2400" baseline="0" dirty="0">
                          <a:solidFill>
                            <a:srgbClr val="00000C"/>
                          </a:solidFill>
                        </a:rPr>
                        <a:t>4</a:t>
                      </a:r>
                      <a:endParaRPr lang="en-US" altLang="zh-CN" sz="2400" baseline="0" dirty="0">
                        <a:solidFill>
                          <a:srgbClr val="00000C"/>
                        </a:solidFill>
                      </a:endParaRPr>
                    </a:p>
                    <a:p>
                      <a:r>
                        <a:rPr lang="en-US" altLang="zh-CN" sz="2400" baseline="0" dirty="0">
                          <a:solidFill>
                            <a:srgbClr val="00000C"/>
                          </a:solidFill>
                        </a:rPr>
                        <a:t>2</a:t>
                      </a:r>
                      <a:endParaRPr lang="zh-CN" altLang="en-US" sz="2400" baseline="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baseline="0" dirty="0">
                          <a:solidFill>
                            <a:srgbClr val="00000C"/>
                          </a:solidFill>
                        </a:rPr>
                        <a:t>6</a:t>
                      </a:r>
                      <a:endParaRPr lang="en-US" altLang="zh-CN" sz="2400" baseline="0" dirty="0">
                        <a:solidFill>
                          <a:srgbClr val="00000C"/>
                        </a:solidFill>
                      </a:endParaRPr>
                    </a:p>
                    <a:p>
                      <a:r>
                        <a:rPr lang="en-US" altLang="zh-CN" sz="2400" baseline="0" dirty="0">
                          <a:solidFill>
                            <a:srgbClr val="00000C"/>
                          </a:solidFill>
                        </a:rPr>
                        <a:t>2</a:t>
                      </a:r>
                      <a:endParaRPr lang="en-US" altLang="zh-CN" sz="2400" baseline="0" dirty="0">
                        <a:solidFill>
                          <a:srgbClr val="00000C"/>
                        </a:solidFill>
                      </a:endParaRPr>
                    </a:p>
                    <a:p>
                      <a:r>
                        <a:rPr lang="en-US" altLang="zh-CN" sz="2400" baseline="0" dirty="0">
                          <a:solidFill>
                            <a:srgbClr val="00000C"/>
                          </a:solidFill>
                        </a:rPr>
                        <a:t>1.5</a:t>
                      </a:r>
                      <a:endParaRPr lang="zh-CN" altLang="en-US" sz="2400" baseline="0" dirty="0">
                        <a:solidFill>
                          <a:srgbClr val="00000C"/>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baseline="0" dirty="0">
                          <a:solidFill>
                            <a:srgbClr val="00000C"/>
                          </a:solidFill>
                        </a:rPr>
                        <a:t>1</a:t>
                      </a:r>
                      <a:endParaRPr lang="en-US" altLang="zh-CN" sz="2400" baseline="0" dirty="0">
                        <a:solidFill>
                          <a:srgbClr val="00000C"/>
                        </a:solidFill>
                      </a:endParaRPr>
                    </a:p>
                    <a:p>
                      <a:r>
                        <a:rPr lang="en-US" altLang="zh-CN" sz="2400" baseline="0" dirty="0">
                          <a:solidFill>
                            <a:srgbClr val="00000C"/>
                          </a:solidFill>
                        </a:rPr>
                        <a:t>1.5</a:t>
                      </a:r>
                      <a:endParaRPr lang="en-US" altLang="zh-CN" sz="2400" baseline="0" dirty="0">
                        <a:solidFill>
                          <a:srgbClr val="00000C"/>
                        </a:solidFill>
                      </a:endParaRPr>
                    </a:p>
                    <a:p>
                      <a:r>
                        <a:rPr lang="en-US" altLang="zh-CN" sz="2400" baseline="0" dirty="0">
                          <a:solidFill>
                            <a:srgbClr val="00000C"/>
                          </a:solidFill>
                        </a:rPr>
                        <a:t>0.5</a:t>
                      </a:r>
                      <a:endParaRPr lang="zh-CN" altLang="en-US" sz="2400" baseline="0" dirty="0">
                        <a:solidFill>
                          <a:srgbClr val="00000C"/>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solidFill>
                            <a:srgbClr val="00000C"/>
                          </a:solidFill>
                        </a:rPr>
                        <a:t>48</a:t>
                      </a:r>
                      <a:endParaRPr lang="en-US" altLang="zh-CN" sz="2400" baseline="-25000" dirty="0">
                        <a:solidFill>
                          <a:srgbClr val="00000C"/>
                        </a:solidFill>
                      </a:endParaRPr>
                    </a:p>
                    <a:p>
                      <a:r>
                        <a:rPr lang="en-US" altLang="zh-CN" sz="2400" baseline="0" dirty="0">
                          <a:solidFill>
                            <a:srgbClr val="00000C"/>
                          </a:solidFill>
                        </a:rPr>
                        <a:t>20</a:t>
                      </a:r>
                      <a:endParaRPr lang="en-US" altLang="zh-CN" sz="2400" baseline="0" dirty="0">
                        <a:solidFill>
                          <a:srgbClr val="00000C"/>
                        </a:solidFill>
                      </a:endParaRPr>
                    </a:p>
                    <a:p>
                      <a:r>
                        <a:rPr lang="en-US" altLang="zh-CN" sz="2400" baseline="0" dirty="0">
                          <a:solidFill>
                            <a:srgbClr val="00000C"/>
                          </a:solidFill>
                        </a:rPr>
                        <a:t>8</a:t>
                      </a:r>
                      <a:endParaRPr lang="en-US" altLang="zh-CN" sz="2400" baseline="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636926">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baseline="0" dirty="0">
                          <a:solidFill>
                            <a:srgbClr val="00000C"/>
                          </a:solidFill>
                        </a:rPr>
                        <a:t>售价</a:t>
                      </a:r>
                      <a:endParaRPr lang="zh-CN" altLang="en-US" sz="2400" baseline="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baseline="0" dirty="0">
                          <a:solidFill>
                            <a:srgbClr val="00000C"/>
                          </a:solidFill>
                        </a:rPr>
                        <a:t>60</a:t>
                      </a:r>
                      <a:endParaRPr lang="zh-CN" altLang="en-US" sz="2400" baseline="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baseline="0" dirty="0">
                          <a:solidFill>
                            <a:srgbClr val="00000C"/>
                          </a:solidFill>
                        </a:rPr>
                        <a:t>30</a:t>
                      </a:r>
                      <a:endParaRPr lang="zh-CN" altLang="en-US" sz="2400" baseline="0" dirty="0">
                        <a:solidFill>
                          <a:srgbClr val="00000C"/>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baseline="0" dirty="0">
                          <a:solidFill>
                            <a:srgbClr val="00000C"/>
                          </a:solidFill>
                        </a:rPr>
                        <a:t>20</a:t>
                      </a:r>
                      <a:endParaRPr lang="zh-CN" altLang="en-US" sz="2400" baseline="0" dirty="0">
                        <a:solidFill>
                          <a:srgbClr val="00000C"/>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ltLang="zh-CN" sz="2400" baseline="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3738" y="529248"/>
            <a:ext cx="10515600" cy="2135798"/>
          </a:xfrm>
        </p:spPr>
        <p:txBody>
          <a:bodyPr>
            <a:normAutofit/>
          </a:bodyPr>
          <a:lstStyle/>
          <a:p>
            <a:r>
              <a:rPr lang="zh-CN" altLang="en-US" dirty="0">
                <a:latin typeface="楷体" panose="02010609060101010101" pitchFamily="49" charset="-122"/>
                <a:ea typeface="楷体" panose="02010609060101010101" pitchFamily="49" charset="-122"/>
              </a:rPr>
              <a:t>至此，你认为建立线性规划问题的数学模型的方法是？</a:t>
            </a:r>
            <a:br>
              <a:rPr lang="en-US" altLang="zh-CN" dirty="0">
                <a:latin typeface="楷体" panose="02010609060101010101" pitchFamily="49" charset="-122"/>
                <a:ea typeface="楷体" panose="02010609060101010101" pitchFamily="49" charset="-122"/>
              </a:rPr>
            </a:br>
            <a:r>
              <a:rPr lang="zh-CN" altLang="en-US" dirty="0">
                <a:latin typeface="楷体" panose="02010609060101010101" pitchFamily="49" charset="-122"/>
                <a:ea typeface="楷体" panose="02010609060101010101" pitchFamily="49" charset="-122"/>
              </a:rPr>
              <a:t>请用“活动图</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注释”的形式给出</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楷体" panose="02010609060101010101" pitchFamily="49" charset="-122"/>
                <a:ea typeface="楷体" panose="02010609060101010101" pitchFamily="49" charset="-122"/>
              </a:rPr>
              <a:t>第二部分，求解线性规划问题</a:t>
            </a:r>
            <a:endParaRPr lang="zh-CN" altLang="en-US" dirty="0">
              <a:latin typeface="楷体" panose="02010609060101010101" pitchFamily="49" charset="-122"/>
              <a:ea typeface="楷体" panose="02010609060101010101" pitchFamily="49" charset="-122"/>
            </a:endParaRPr>
          </a:p>
        </p:txBody>
      </p:sp>
      <p:sp>
        <p:nvSpPr>
          <p:cNvPr id="3" name="文本占位符 2"/>
          <p:cNvSpPr>
            <a:spLocks noGrp="1"/>
          </p:cNvSpPr>
          <p:nvPr>
            <p:ph type="body" idx="1"/>
          </p:nvPr>
        </p:nvSpPr>
        <p:spPr/>
        <p:txBody>
          <a:bodyPr/>
          <a:lstStyle/>
          <a:p>
            <a:r>
              <a:rPr lang="zh-CN" altLang="en-US" dirty="0">
                <a:latin typeface="楷体" panose="02010609060101010101" pitchFamily="49" charset="-122"/>
                <a:ea typeface="楷体" panose="02010609060101010101" pitchFamily="49" charset="-122"/>
              </a:rPr>
              <a:t>第二部分的学习目标：掌握单纯性法以及背后的线性规划思想，因为计算过程就是一个规划过程，计算方法是规划过程的数学抽象</a:t>
            </a:r>
            <a:br>
              <a:rPr lang="en-US" altLang="zh-CN" dirty="0">
                <a:latin typeface="楷体" panose="02010609060101010101" pitchFamily="49" charset="-122"/>
                <a:ea typeface="楷体" panose="02010609060101010101" pitchFamily="49" charset="-122"/>
              </a:rPr>
            </a:br>
            <a:r>
              <a:rPr lang="zh-CN" altLang="en-US" dirty="0">
                <a:latin typeface="楷体" panose="02010609060101010101" pitchFamily="49" charset="-122"/>
                <a:ea typeface="楷体" panose="02010609060101010101" pitchFamily="49" charset="-122"/>
              </a:rPr>
              <a:t>学习方法：同样通过大量的计算练习，再次归纳出单纯形法</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6593" y="1281497"/>
            <a:ext cx="10344378" cy="3477875"/>
          </a:xfrm>
          <a:prstGeom prst="rect">
            <a:avLst/>
          </a:prstGeom>
          <a:noFill/>
        </p:spPr>
        <p:txBody>
          <a:bodyPr wrap="square" rtlCol="0">
            <a:spAutoFit/>
          </a:bodyPr>
          <a:lstStyle/>
          <a:p>
            <a:pPr algn="ctr"/>
            <a:r>
              <a:rPr lang="zh-CN" altLang="en-US" sz="4400" dirty="0">
                <a:latin typeface="楷体" panose="02010609060101010101" pitchFamily="49" charset="-122"/>
                <a:ea typeface="楷体" panose="02010609060101010101" pitchFamily="49" charset="-122"/>
              </a:rPr>
              <a:t>线性规划数学模型建立之后，接下来要做的事情就是求解</a:t>
            </a:r>
            <a:r>
              <a:rPr lang="en-US" altLang="zh-CN" sz="4400" dirty="0">
                <a:latin typeface="楷体" panose="02010609060101010101" pitchFamily="49" charset="-122"/>
                <a:ea typeface="楷体" panose="02010609060101010101" pitchFamily="49" charset="-122"/>
              </a:rPr>
              <a:t>——</a:t>
            </a:r>
            <a:r>
              <a:rPr lang="zh-CN" altLang="en-US" sz="4400" dirty="0">
                <a:latin typeface="楷体" panose="02010609060101010101" pitchFamily="49" charset="-122"/>
                <a:ea typeface="楷体" panose="02010609060101010101" pitchFamily="49" charset="-122"/>
              </a:rPr>
              <a:t>因为得到最优方案才是我们的目的（把问题写成数学形式不是目的，它只是更方便求解）。所以，接下来，我们讨论线性规划的求解方法</a:t>
            </a:r>
            <a:r>
              <a:rPr lang="zh-CN" altLang="en-US" sz="4400" dirty="0"/>
              <a:t>。</a:t>
            </a:r>
            <a:endParaRPr lang="en-US" altLang="zh-CN" sz="4400" dirty="0"/>
          </a:p>
        </p:txBody>
      </p:sp>
      <p:sp>
        <p:nvSpPr>
          <p:cNvPr id="3" name="箭头: 下 2"/>
          <p:cNvSpPr/>
          <p:nvPr/>
        </p:nvSpPr>
        <p:spPr>
          <a:xfrm>
            <a:off x="5133177" y="5672889"/>
            <a:ext cx="1809946" cy="37707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2097" y="674703"/>
            <a:ext cx="11407806" cy="3416320"/>
          </a:xfrm>
          <a:prstGeom prst="rect">
            <a:avLst/>
          </a:prstGeom>
          <a:noFill/>
        </p:spPr>
        <p:txBody>
          <a:bodyPr wrap="square" rtlCol="0">
            <a:spAutoFit/>
          </a:bodyPr>
          <a:lstStyle/>
          <a:p>
            <a:r>
              <a:rPr lang="zh-CN" altLang="en-US" sz="3600" dirty="0">
                <a:latin typeface="楷体" panose="02010609060101010101" pitchFamily="49" charset="-122"/>
                <a:ea typeface="楷体" panose="02010609060101010101" pitchFamily="49" charset="-122"/>
              </a:rPr>
              <a:t>你需要知道的“线性规划的思想”：</a:t>
            </a:r>
            <a:endParaRPr lang="en-US" altLang="zh-CN" sz="3600" dirty="0">
              <a:latin typeface="楷体" panose="02010609060101010101" pitchFamily="49" charset="-122"/>
              <a:ea typeface="楷体" panose="02010609060101010101" pitchFamily="49" charset="-122"/>
            </a:endParaRPr>
          </a:p>
          <a:p>
            <a:r>
              <a:rPr lang="en-US" altLang="zh-CN" sz="3600" dirty="0">
                <a:latin typeface="楷体" panose="02010609060101010101" pitchFamily="49" charset="-122"/>
                <a:ea typeface="楷体" panose="02010609060101010101" pitchFamily="49" charset="-122"/>
              </a:rPr>
              <a:t>1</a:t>
            </a:r>
            <a:r>
              <a:rPr lang="zh-CN" altLang="en-US" sz="3600" dirty="0">
                <a:latin typeface="楷体" panose="02010609060101010101" pitchFamily="49" charset="-122"/>
                <a:ea typeface="楷体" panose="02010609060101010101" pitchFamily="49" charset="-122"/>
              </a:rPr>
              <a:t>，计算过程就是一个规划过程，计算算法是规划过程的数学抽象。</a:t>
            </a:r>
            <a:endParaRPr lang="en-US" altLang="zh-CN" sz="3600" dirty="0">
              <a:latin typeface="楷体" panose="02010609060101010101" pitchFamily="49" charset="-122"/>
              <a:ea typeface="楷体" panose="02010609060101010101" pitchFamily="49" charset="-122"/>
            </a:endParaRPr>
          </a:p>
          <a:p>
            <a:r>
              <a:rPr lang="en-US" altLang="zh-CN" sz="3600" dirty="0">
                <a:latin typeface="楷体" panose="02010609060101010101" pitchFamily="49" charset="-122"/>
                <a:ea typeface="楷体" panose="02010609060101010101" pitchFamily="49" charset="-122"/>
              </a:rPr>
              <a:t>2</a:t>
            </a:r>
            <a:r>
              <a:rPr lang="zh-CN" altLang="en-US" sz="3600" dirty="0">
                <a:latin typeface="楷体" panose="02010609060101010101" pitchFamily="49" charset="-122"/>
                <a:ea typeface="楷体" panose="02010609060101010101" pitchFamily="49" charset="-122"/>
              </a:rPr>
              <a:t>，我们按如下两个规划原则规划：</a:t>
            </a:r>
            <a:endParaRPr lang="en-US" altLang="zh-CN" sz="3600" dirty="0">
              <a:latin typeface="楷体" panose="02010609060101010101" pitchFamily="49" charset="-122"/>
              <a:ea typeface="楷体" panose="02010609060101010101" pitchFamily="49" charset="-122"/>
            </a:endParaRPr>
          </a:p>
          <a:p>
            <a:r>
              <a:rPr lang="zh-CN" altLang="en-US" sz="3600" dirty="0">
                <a:latin typeface="楷体" panose="02010609060101010101" pitchFamily="49" charset="-122"/>
                <a:ea typeface="楷体" panose="02010609060101010101" pitchFamily="49" charset="-122"/>
              </a:rPr>
              <a:t>原则（</a:t>
            </a:r>
            <a:r>
              <a:rPr lang="en-US" altLang="zh-CN" sz="3600" dirty="0">
                <a:latin typeface="楷体" panose="02010609060101010101" pitchFamily="49" charset="-122"/>
                <a:ea typeface="楷体" panose="02010609060101010101" pitchFamily="49" charset="-122"/>
              </a:rPr>
              <a:t>1</a:t>
            </a:r>
            <a:r>
              <a:rPr lang="zh-CN" altLang="en-US" sz="3600" dirty="0">
                <a:latin typeface="楷体" panose="02010609060101010101" pitchFamily="49" charset="-122"/>
                <a:ea typeface="楷体" panose="02010609060101010101" pitchFamily="49" charset="-122"/>
              </a:rPr>
              <a:t>），优先为优势竞争性活动安排资源</a:t>
            </a:r>
            <a:endParaRPr lang="en-US" altLang="zh-CN" sz="3600" dirty="0">
              <a:latin typeface="楷体" panose="02010609060101010101" pitchFamily="49" charset="-122"/>
              <a:ea typeface="楷体" panose="02010609060101010101" pitchFamily="49" charset="-122"/>
            </a:endParaRPr>
          </a:p>
          <a:p>
            <a:r>
              <a:rPr lang="zh-CN" altLang="en-US" sz="3600" dirty="0">
                <a:latin typeface="楷体" panose="02010609060101010101" pitchFamily="49" charset="-122"/>
                <a:ea typeface="楷体" panose="02010609060101010101" pitchFamily="49" charset="-122"/>
              </a:rPr>
              <a:t>原则（</a:t>
            </a:r>
            <a:r>
              <a:rPr lang="en-US" altLang="zh-CN" sz="3600" dirty="0">
                <a:latin typeface="楷体" panose="02010609060101010101" pitchFamily="49" charset="-122"/>
                <a:ea typeface="楷体" panose="02010609060101010101" pitchFamily="49" charset="-122"/>
              </a:rPr>
              <a:t>2</a:t>
            </a:r>
            <a:r>
              <a:rPr lang="zh-CN" altLang="en-US" sz="3600" dirty="0">
                <a:latin typeface="楷体" panose="02010609060101010101" pitchFamily="49" charset="-122"/>
                <a:ea typeface="楷体" panose="02010609060101010101" pitchFamily="49" charset="-122"/>
              </a:rPr>
              <a:t>），紧缺资源具有最大的限制性</a:t>
            </a:r>
            <a:endParaRPr lang="zh-CN" altLang="en-US" sz="3600" dirty="0">
              <a:latin typeface="楷体" panose="02010609060101010101" pitchFamily="49" charset="-122"/>
              <a:ea typeface="楷体" panose="02010609060101010101" pitchFamily="49"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2097" y="674703"/>
            <a:ext cx="11407806" cy="3970318"/>
          </a:xfrm>
          <a:prstGeom prst="rect">
            <a:avLst/>
          </a:prstGeom>
          <a:noFill/>
        </p:spPr>
        <p:txBody>
          <a:bodyPr wrap="square" rtlCol="0">
            <a:spAutoFit/>
          </a:bodyPr>
          <a:lstStyle/>
          <a:p>
            <a:r>
              <a:rPr lang="zh-CN" altLang="en-US" sz="3600" dirty="0">
                <a:latin typeface="楷体" panose="02010609060101010101" pitchFamily="49" charset="-122"/>
                <a:ea typeface="楷体" panose="02010609060101010101" pitchFamily="49" charset="-122"/>
              </a:rPr>
              <a:t>方法综述：</a:t>
            </a:r>
            <a:endParaRPr lang="en-US" altLang="zh-CN" sz="3600" dirty="0">
              <a:latin typeface="楷体" panose="02010609060101010101" pitchFamily="49" charset="-122"/>
              <a:ea typeface="楷体" panose="02010609060101010101" pitchFamily="49" charset="-122"/>
            </a:endParaRPr>
          </a:p>
          <a:p>
            <a:r>
              <a:rPr lang="en-US" altLang="zh-CN" sz="3600" dirty="0">
                <a:latin typeface="楷体" panose="02010609060101010101" pitchFamily="49" charset="-122"/>
                <a:ea typeface="楷体" panose="02010609060101010101" pitchFamily="49" charset="-122"/>
              </a:rPr>
              <a:t>1</a:t>
            </a:r>
            <a:r>
              <a:rPr lang="zh-CN" altLang="en-US" sz="3600" dirty="0">
                <a:latin typeface="楷体" panose="02010609060101010101" pitchFamily="49" charset="-122"/>
                <a:ea typeface="楷体" panose="02010609060101010101" pitchFamily="49" charset="-122"/>
              </a:rPr>
              <a:t>，一种求解算法（如单纯形法）总是针对一种数学模型的，所以，第一步需要将为</a:t>
            </a:r>
            <a:r>
              <a:rPr lang="en-US" altLang="zh-CN" sz="3600" dirty="0">
                <a:latin typeface="楷体" panose="02010609060101010101" pitchFamily="49" charset="-122"/>
                <a:ea typeface="楷体" panose="02010609060101010101" pitchFamily="49" charset="-122"/>
              </a:rPr>
              <a:t>LPQ</a:t>
            </a:r>
            <a:r>
              <a:rPr lang="zh-CN" altLang="en-US" sz="3600" dirty="0">
                <a:latin typeface="楷体" panose="02010609060101010101" pitchFamily="49" charset="-122"/>
                <a:ea typeface="楷体" panose="02010609060101010101" pitchFamily="49" charset="-122"/>
              </a:rPr>
              <a:t>建立的数学模型转换为标准形式。</a:t>
            </a:r>
            <a:endParaRPr lang="en-US" altLang="zh-CN" sz="3600" dirty="0">
              <a:latin typeface="楷体" panose="02010609060101010101" pitchFamily="49" charset="-122"/>
              <a:ea typeface="楷体" panose="02010609060101010101" pitchFamily="49" charset="-122"/>
            </a:endParaRPr>
          </a:p>
          <a:p>
            <a:r>
              <a:rPr lang="en-US" altLang="zh-CN" sz="3600" dirty="0">
                <a:latin typeface="楷体" panose="02010609060101010101" pitchFamily="49" charset="-122"/>
                <a:ea typeface="楷体" panose="02010609060101010101" pitchFamily="49" charset="-122"/>
              </a:rPr>
              <a:t>2</a:t>
            </a:r>
            <a:r>
              <a:rPr lang="zh-CN" altLang="en-US" sz="3600" dirty="0">
                <a:latin typeface="楷体" panose="02010609060101010101" pitchFamily="49" charset="-122"/>
                <a:ea typeface="楷体" panose="02010609060101010101" pitchFamily="49" charset="-122"/>
              </a:rPr>
              <a:t>，求解，求解的算法有：图解法、单纯形法、大</a:t>
            </a:r>
            <a:r>
              <a:rPr lang="en-US" altLang="zh-CN" sz="3600" dirty="0">
                <a:latin typeface="楷体" panose="02010609060101010101" pitchFamily="49" charset="-122"/>
                <a:ea typeface="楷体" panose="02010609060101010101" pitchFamily="49" charset="-122"/>
              </a:rPr>
              <a:t>M</a:t>
            </a:r>
            <a:r>
              <a:rPr lang="zh-CN" altLang="en-US" sz="3600" dirty="0">
                <a:latin typeface="楷体" panose="02010609060101010101" pitchFamily="49" charset="-122"/>
                <a:ea typeface="楷体" panose="02010609060101010101" pitchFamily="49" charset="-122"/>
              </a:rPr>
              <a:t>法和两阶段法。</a:t>
            </a:r>
            <a:endParaRPr lang="en-US" altLang="zh-CN" sz="3600" dirty="0">
              <a:latin typeface="楷体" panose="02010609060101010101" pitchFamily="49" charset="-122"/>
              <a:ea typeface="楷体" panose="02010609060101010101" pitchFamily="49" charset="-122"/>
            </a:endParaRPr>
          </a:p>
          <a:p>
            <a:r>
              <a:rPr lang="en-US" altLang="zh-CN" sz="3600" dirty="0">
                <a:latin typeface="楷体" panose="02010609060101010101" pitchFamily="49" charset="-122"/>
                <a:ea typeface="楷体" panose="02010609060101010101" pitchFamily="49" charset="-122"/>
              </a:rPr>
              <a:t>【</a:t>
            </a:r>
            <a:r>
              <a:rPr lang="zh-CN" altLang="en-US" sz="3600" dirty="0">
                <a:latin typeface="楷体" panose="02010609060101010101" pitchFamily="49" charset="-122"/>
                <a:ea typeface="楷体" panose="02010609060101010101" pitchFamily="49" charset="-122"/>
              </a:rPr>
              <a:t>在对偶理论之后，还有一个对偶单纯形法。</a:t>
            </a:r>
            <a:r>
              <a:rPr lang="en-US" altLang="zh-CN" sz="3600" dirty="0">
                <a:latin typeface="楷体" panose="02010609060101010101" pitchFamily="49" charset="-122"/>
                <a:ea typeface="楷体" panose="02010609060101010101" pitchFamily="49" charset="-122"/>
              </a:rPr>
              <a:t>】</a:t>
            </a:r>
            <a:endParaRPr lang="zh-CN" altLang="en-US" sz="3600" dirty="0">
              <a:latin typeface="楷体" panose="02010609060101010101" pitchFamily="49" charset="-122"/>
              <a:ea typeface="楷体" panose="02010609060101010101" pitchFamily="49"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66656" y="1393794"/>
            <a:ext cx="8362765" cy="2800767"/>
          </a:xfrm>
          <a:prstGeom prst="rect">
            <a:avLst/>
          </a:prstGeom>
          <a:noFill/>
        </p:spPr>
        <p:txBody>
          <a:bodyPr wrap="square" rtlCol="0">
            <a:spAutoFit/>
          </a:bodyPr>
          <a:lstStyle/>
          <a:p>
            <a:pPr algn="ctr"/>
            <a:r>
              <a:rPr lang="zh-CN" altLang="en-US" sz="4400" dirty="0">
                <a:latin typeface="楷体" panose="02010609060101010101" pitchFamily="49" charset="-122"/>
                <a:ea typeface="楷体" panose="02010609060101010101" pitchFamily="49" charset="-122"/>
              </a:rPr>
              <a:t>首先，再次整理为</a:t>
            </a:r>
            <a:r>
              <a:rPr lang="en-US" altLang="zh-CN" sz="4400" dirty="0">
                <a:latin typeface="楷体" panose="02010609060101010101" pitchFamily="49" charset="-122"/>
                <a:ea typeface="楷体" panose="02010609060101010101" pitchFamily="49" charset="-122"/>
              </a:rPr>
              <a:t>LPQ</a:t>
            </a:r>
            <a:r>
              <a:rPr lang="zh-CN" altLang="en-US" sz="4400" dirty="0">
                <a:latin typeface="楷体" panose="02010609060101010101" pitchFamily="49" charset="-122"/>
                <a:ea typeface="楷体" panose="02010609060101010101" pitchFamily="49" charset="-122"/>
              </a:rPr>
              <a:t>建立的数学模型的一般形式，这里，我们给出</a:t>
            </a:r>
            <a:r>
              <a:rPr lang="en-US" altLang="zh-CN" sz="4400" dirty="0">
                <a:latin typeface="楷体" panose="02010609060101010101" pitchFamily="49" charset="-122"/>
                <a:ea typeface="楷体" panose="02010609060101010101" pitchFamily="49" charset="-122"/>
              </a:rPr>
              <a:t>4</a:t>
            </a:r>
            <a:r>
              <a:rPr lang="zh-CN" altLang="en-US" sz="4400" dirty="0">
                <a:latin typeface="楷体" panose="02010609060101010101" pitchFamily="49" charset="-122"/>
                <a:ea typeface="楷体" panose="02010609060101010101" pitchFamily="49" charset="-122"/>
              </a:rPr>
              <a:t>种形式</a:t>
            </a:r>
            <a:r>
              <a:rPr lang="en-US" altLang="zh-CN" sz="4400" dirty="0">
                <a:latin typeface="楷体" panose="02010609060101010101" pitchFamily="49" charset="-122"/>
                <a:ea typeface="楷体" panose="02010609060101010101" pitchFamily="49" charset="-122"/>
              </a:rPr>
              <a:t>——</a:t>
            </a:r>
            <a:r>
              <a:rPr lang="zh-CN" altLang="en-US" sz="4400" dirty="0">
                <a:latin typeface="楷体" panose="02010609060101010101" pitchFamily="49" charset="-122"/>
                <a:ea typeface="楷体" panose="02010609060101010101" pitchFamily="49" charset="-122"/>
              </a:rPr>
              <a:t>展开形式；简化形式；向量形式；矩阵形式。</a:t>
            </a:r>
            <a:endParaRPr lang="zh-CN" altLang="en-US" sz="4400" dirty="0">
              <a:latin typeface="楷体" panose="02010609060101010101" pitchFamily="49" charset="-122"/>
              <a:ea typeface="楷体" panose="02010609060101010101" pitchFamily="49" charset="-122"/>
            </a:endParaRPr>
          </a:p>
        </p:txBody>
      </p:sp>
      <p:sp>
        <p:nvSpPr>
          <p:cNvPr id="3" name="箭头: 下 2"/>
          <p:cNvSpPr/>
          <p:nvPr/>
        </p:nvSpPr>
        <p:spPr>
          <a:xfrm>
            <a:off x="5086905" y="4900473"/>
            <a:ext cx="1562470" cy="47939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1412" y="134992"/>
            <a:ext cx="7704856" cy="432048"/>
          </a:xfrm>
        </p:spPr>
        <p:txBody>
          <a:bodyPr>
            <a:normAutofit fontScale="92500" lnSpcReduction="10000"/>
          </a:bodyPr>
          <a:lstStyle/>
          <a:p>
            <a:pPr>
              <a:spcBef>
                <a:spcPts val="0"/>
              </a:spcBef>
              <a:buNone/>
            </a:pPr>
            <a:r>
              <a:rPr lang="zh-CN" altLang="en-US" dirty="0">
                <a:solidFill>
                  <a:srgbClr val="060606"/>
                </a:solidFill>
              </a:rPr>
              <a:t>线性规划模型</a:t>
            </a:r>
            <a:r>
              <a:rPr lang="en-US" altLang="zh-CN" dirty="0">
                <a:solidFill>
                  <a:srgbClr val="060606"/>
                </a:solidFill>
              </a:rPr>
              <a:t>:</a:t>
            </a:r>
            <a:endParaRPr lang="en-US" altLang="zh-CN" dirty="0">
              <a:solidFill>
                <a:srgbClr val="060606"/>
              </a:solidFill>
            </a:endParaRPr>
          </a:p>
          <a:p>
            <a:pPr>
              <a:spcBef>
                <a:spcPts val="0"/>
              </a:spcBef>
              <a:buNone/>
            </a:pPr>
            <a:endParaRPr lang="en-US" altLang="zh-CN" dirty="0">
              <a:solidFill>
                <a:srgbClr val="060606"/>
              </a:solidFill>
            </a:endParaRPr>
          </a:p>
          <a:p>
            <a:pPr algn="ct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a:p>
            <a:pPr>
              <a:spcBef>
                <a:spcPts val="0"/>
              </a:spcBef>
              <a:buNone/>
            </a:pPr>
            <a:endParaRPr lang="en-US" altLang="zh-CN" dirty="0">
              <a:solidFill>
                <a:srgbClr val="060606"/>
              </a:solidFill>
            </a:endParaRPr>
          </a:p>
        </p:txBody>
      </p:sp>
      <p:grpSp>
        <p:nvGrpSpPr>
          <p:cNvPr id="15" name="组合 14"/>
          <p:cNvGrpSpPr/>
          <p:nvPr/>
        </p:nvGrpSpPr>
        <p:grpSpPr>
          <a:xfrm>
            <a:off x="128938" y="562272"/>
            <a:ext cx="5328592" cy="3628839"/>
            <a:chOff x="1835696" y="2464457"/>
            <a:chExt cx="5328592" cy="3628839"/>
          </a:xfrm>
        </p:grpSpPr>
        <p:grpSp>
          <p:nvGrpSpPr>
            <p:cNvPr id="2" name="组合 15"/>
            <p:cNvGrpSpPr/>
            <p:nvPr/>
          </p:nvGrpSpPr>
          <p:grpSpPr>
            <a:xfrm>
              <a:off x="2051720" y="3212976"/>
              <a:ext cx="5112568" cy="2880320"/>
              <a:chOff x="2411760" y="3212976"/>
              <a:chExt cx="5112568" cy="2880320"/>
            </a:xfrm>
          </p:grpSpPr>
          <p:grpSp>
            <p:nvGrpSpPr>
              <p:cNvPr id="4" name="组合 12"/>
              <p:cNvGrpSpPr/>
              <p:nvPr/>
            </p:nvGrpSpPr>
            <p:grpSpPr>
              <a:xfrm>
                <a:off x="2411760" y="3573016"/>
                <a:ext cx="1080120" cy="2211312"/>
                <a:chOff x="899592" y="3933056"/>
                <a:chExt cx="1080120" cy="1512168"/>
              </a:xfrm>
            </p:grpSpPr>
            <p:sp>
              <p:nvSpPr>
                <p:cNvPr id="11" name="矩形 10"/>
                <p:cNvSpPr/>
                <p:nvPr/>
              </p:nvSpPr>
              <p:spPr>
                <a:xfrm>
                  <a:off x="899592" y="4437112"/>
                  <a:ext cx="648072" cy="327716"/>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12" name="左大括号 11"/>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6" name="矩形 5"/>
              <p:cNvSpPr/>
              <p:nvPr/>
            </p:nvSpPr>
            <p:spPr>
              <a:xfrm>
                <a:off x="3532016" y="3212976"/>
                <a:ext cx="3776288" cy="461665"/>
              </a:xfrm>
              <a:prstGeom prst="rect">
                <a:avLst/>
              </a:prstGeom>
            </p:spPr>
            <p:txBody>
              <a:bodyPr wrap="square">
                <a:spAutoFit/>
              </a:bodyPr>
              <a:lstStyle/>
              <a:p>
                <a:r>
                  <a:rPr lang="en-US" altLang="zh-CN" sz="2400" dirty="0">
                    <a:solidFill>
                      <a:srgbClr val="060606"/>
                    </a:solidFill>
                  </a:rPr>
                  <a:t>a</a:t>
                </a:r>
                <a:r>
                  <a:rPr lang="en-US" altLang="zh-CN" sz="2400" baseline="-25000" dirty="0">
                    <a:solidFill>
                      <a:srgbClr val="060606"/>
                    </a:solidFill>
                  </a:rPr>
                  <a:t>11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a</a:t>
                </a:r>
                <a:r>
                  <a:rPr lang="en-US" altLang="zh-CN" sz="2400" baseline="-25000" dirty="0">
                    <a:solidFill>
                      <a:srgbClr val="060606"/>
                    </a:solidFill>
                  </a:rPr>
                  <a:t>12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a:t>
                </a:r>
                <a:r>
                  <a:rPr lang="en-US" altLang="zh-CN" sz="2400" baseline="-25000" dirty="0">
                    <a:solidFill>
                      <a:srgbClr val="060606"/>
                    </a:solidFill>
                  </a:rPr>
                  <a:t>1n</a:t>
                </a:r>
                <a:r>
                  <a:rPr lang="en-US" altLang="zh-CN" sz="2400" dirty="0">
                    <a:solidFill>
                      <a:srgbClr val="060606"/>
                    </a:solidFill>
                  </a:rPr>
                  <a:t>X</a:t>
                </a:r>
                <a:r>
                  <a:rPr lang="en-US" altLang="zh-CN" sz="2400" baseline="-25000" dirty="0">
                    <a:solidFill>
                      <a:srgbClr val="060606"/>
                    </a:solidFill>
                  </a:rPr>
                  <a:t>n </a:t>
                </a:r>
                <a:r>
                  <a:rPr lang="en-US" altLang="zh-CN" sz="2400" dirty="0">
                    <a:solidFill>
                      <a:srgbClr val="060606"/>
                    </a:solidFill>
                  </a:rPr>
                  <a:t>≤b</a:t>
                </a:r>
                <a:r>
                  <a:rPr lang="en-US" altLang="zh-CN" sz="2400" baseline="-25000" dirty="0">
                    <a:solidFill>
                      <a:srgbClr val="060606"/>
                    </a:solidFill>
                  </a:rPr>
                  <a:t>1</a:t>
                </a:r>
                <a:r>
                  <a:rPr lang="en-US" altLang="zh-CN" sz="2400" dirty="0">
                    <a:solidFill>
                      <a:srgbClr val="060606"/>
                    </a:solidFill>
                  </a:rPr>
                  <a:t> </a:t>
                </a:r>
                <a:endParaRPr lang="zh-CN" altLang="en-US" sz="2400" dirty="0"/>
              </a:p>
            </p:txBody>
          </p:sp>
          <p:sp>
            <p:nvSpPr>
              <p:cNvPr id="7" name="矩形 6"/>
              <p:cNvSpPr/>
              <p:nvPr/>
            </p:nvSpPr>
            <p:spPr>
              <a:xfrm>
                <a:off x="3532016" y="4959084"/>
                <a:ext cx="3848296" cy="461665"/>
              </a:xfrm>
              <a:prstGeom prst="rect">
                <a:avLst/>
              </a:prstGeom>
            </p:spPr>
            <p:txBody>
              <a:bodyPr wrap="square">
                <a:spAutoFit/>
              </a:bodyPr>
              <a:lstStyle/>
              <a:p>
                <a:r>
                  <a:rPr lang="en-US" altLang="zh-CN" sz="2400" dirty="0">
                    <a:solidFill>
                      <a:srgbClr val="060606"/>
                    </a:solidFill>
                  </a:rPr>
                  <a:t>a</a:t>
                </a:r>
                <a:r>
                  <a:rPr lang="en-US" altLang="zh-CN" sz="2400" baseline="-25000" dirty="0">
                    <a:solidFill>
                      <a:srgbClr val="060606"/>
                    </a:solidFill>
                  </a:rPr>
                  <a:t>n1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a</a:t>
                </a:r>
                <a:r>
                  <a:rPr lang="en-US" altLang="zh-CN" sz="2400" baseline="-25000" dirty="0">
                    <a:solidFill>
                      <a:srgbClr val="060606"/>
                    </a:solidFill>
                  </a:rPr>
                  <a:t>n2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t>
                </a:r>
                <a:r>
                  <a:rPr lang="en-US" altLang="zh-CN" sz="2400" dirty="0" err="1">
                    <a:solidFill>
                      <a:srgbClr val="060606"/>
                    </a:solidFill>
                  </a:rPr>
                  <a:t>a</a:t>
                </a:r>
                <a:r>
                  <a:rPr lang="en-US" altLang="zh-CN" sz="2400" baseline="-25000" dirty="0" err="1">
                    <a:solidFill>
                      <a:srgbClr val="060606"/>
                    </a:solidFill>
                  </a:rPr>
                  <a:t>nn</a:t>
                </a:r>
                <a:r>
                  <a:rPr lang="en-US" altLang="zh-CN" sz="2400" dirty="0" err="1">
                    <a:solidFill>
                      <a:srgbClr val="060606"/>
                    </a:solidFill>
                  </a:rPr>
                  <a:t>X</a:t>
                </a:r>
                <a:r>
                  <a:rPr lang="en-US" altLang="zh-CN" sz="2400" baseline="-25000" dirty="0" err="1">
                    <a:solidFill>
                      <a:srgbClr val="060606"/>
                    </a:solidFill>
                  </a:rPr>
                  <a:t>n</a:t>
                </a:r>
                <a:r>
                  <a:rPr lang="en-US" altLang="zh-CN" sz="2400" baseline="-25000" dirty="0">
                    <a:solidFill>
                      <a:srgbClr val="060606"/>
                    </a:solidFill>
                  </a:rPr>
                  <a:t> </a:t>
                </a:r>
                <a:r>
                  <a:rPr lang="en-US" altLang="zh-CN" sz="2400" dirty="0">
                    <a:solidFill>
                      <a:srgbClr val="060606"/>
                    </a:solidFill>
                  </a:rPr>
                  <a:t>≤</a:t>
                </a:r>
                <a:r>
                  <a:rPr lang="en-US" altLang="zh-CN" sz="2400" dirty="0" err="1">
                    <a:solidFill>
                      <a:srgbClr val="060606"/>
                    </a:solidFill>
                  </a:rPr>
                  <a:t>b</a:t>
                </a:r>
                <a:r>
                  <a:rPr lang="en-US" altLang="zh-CN" sz="2400" baseline="-25000" dirty="0" err="1">
                    <a:solidFill>
                      <a:srgbClr val="060606"/>
                    </a:solidFill>
                  </a:rPr>
                  <a:t>n</a:t>
                </a:r>
                <a:r>
                  <a:rPr lang="en-US" altLang="zh-CN" sz="2400" dirty="0">
                    <a:solidFill>
                      <a:srgbClr val="060606"/>
                    </a:solidFill>
                  </a:rPr>
                  <a:t> </a:t>
                </a:r>
                <a:endParaRPr lang="zh-CN" altLang="en-US" sz="2400" dirty="0"/>
              </a:p>
            </p:txBody>
          </p:sp>
          <p:sp>
            <p:nvSpPr>
              <p:cNvPr id="8" name="矩形 7"/>
              <p:cNvSpPr/>
              <p:nvPr/>
            </p:nvSpPr>
            <p:spPr>
              <a:xfrm>
                <a:off x="3532016" y="3986802"/>
                <a:ext cx="3704280" cy="461665"/>
              </a:xfrm>
              <a:prstGeom prst="rect">
                <a:avLst/>
              </a:prstGeom>
            </p:spPr>
            <p:txBody>
              <a:bodyPr wrap="square">
                <a:spAutoFit/>
              </a:bodyPr>
              <a:lstStyle/>
              <a:p>
                <a:r>
                  <a:rPr lang="en-US" altLang="zh-CN" sz="2400" dirty="0">
                    <a:solidFill>
                      <a:srgbClr val="060606"/>
                    </a:solidFill>
                  </a:rPr>
                  <a:t>a</a:t>
                </a:r>
                <a:r>
                  <a:rPr lang="en-US" altLang="zh-CN" sz="2400" baseline="-25000" dirty="0">
                    <a:solidFill>
                      <a:srgbClr val="060606"/>
                    </a:solidFill>
                  </a:rPr>
                  <a:t>21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a</a:t>
                </a:r>
                <a:r>
                  <a:rPr lang="en-US" altLang="zh-CN" sz="2400" baseline="-25000" dirty="0">
                    <a:solidFill>
                      <a:srgbClr val="060606"/>
                    </a:solidFill>
                  </a:rPr>
                  <a:t>22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a:t>
                </a:r>
                <a:r>
                  <a:rPr lang="en-US" altLang="zh-CN" sz="2400" baseline="-25000" dirty="0">
                    <a:solidFill>
                      <a:srgbClr val="060606"/>
                    </a:solidFill>
                  </a:rPr>
                  <a:t>2n</a:t>
                </a:r>
                <a:r>
                  <a:rPr lang="en-US" altLang="zh-CN" sz="2400" dirty="0">
                    <a:solidFill>
                      <a:srgbClr val="060606"/>
                    </a:solidFill>
                  </a:rPr>
                  <a:t>X</a:t>
                </a:r>
                <a:r>
                  <a:rPr lang="en-US" altLang="zh-CN" sz="2400" baseline="-25000" dirty="0">
                    <a:solidFill>
                      <a:srgbClr val="060606"/>
                    </a:solidFill>
                  </a:rPr>
                  <a:t>n </a:t>
                </a:r>
                <a:r>
                  <a:rPr lang="en-US" altLang="zh-CN" sz="2400" dirty="0">
                    <a:solidFill>
                      <a:srgbClr val="060606"/>
                    </a:solidFill>
                  </a:rPr>
                  <a:t>≤b</a:t>
                </a:r>
                <a:r>
                  <a:rPr lang="en-US" altLang="zh-CN" sz="2400" baseline="-25000" dirty="0">
                    <a:solidFill>
                      <a:srgbClr val="060606"/>
                    </a:solidFill>
                  </a:rPr>
                  <a:t>2</a:t>
                </a:r>
                <a:r>
                  <a:rPr lang="en-US" altLang="zh-CN" sz="2400" dirty="0">
                    <a:solidFill>
                      <a:srgbClr val="060606"/>
                    </a:solidFill>
                  </a:rPr>
                  <a:t> </a:t>
                </a:r>
                <a:endParaRPr lang="zh-CN" altLang="en-US" sz="2400" dirty="0"/>
              </a:p>
            </p:txBody>
          </p:sp>
          <p:sp>
            <p:nvSpPr>
              <p:cNvPr id="9" name="矩形 8"/>
              <p:cNvSpPr/>
              <p:nvPr/>
            </p:nvSpPr>
            <p:spPr>
              <a:xfrm>
                <a:off x="3532016" y="5631631"/>
                <a:ext cx="3992312" cy="461665"/>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zh-CN" altLang="en-US" sz="2400" dirty="0">
                    <a:solidFill>
                      <a:srgbClr val="060606"/>
                    </a:solidFill>
                  </a:rPr>
                  <a:t>≥</a:t>
                </a:r>
                <a:r>
                  <a:rPr lang="en-US" altLang="zh-CN" sz="2400" dirty="0">
                    <a:solidFill>
                      <a:srgbClr val="060606"/>
                    </a:solidFill>
                  </a:rPr>
                  <a:t>0,x</a:t>
                </a:r>
                <a:r>
                  <a:rPr lang="en-US" altLang="zh-CN" sz="2400" baseline="-25000" dirty="0">
                    <a:solidFill>
                      <a:srgbClr val="060606"/>
                    </a:solidFill>
                  </a:rPr>
                  <a:t>2</a:t>
                </a:r>
                <a:r>
                  <a:rPr lang="zh-CN" altLang="en-US" sz="2400" dirty="0">
                    <a:solidFill>
                      <a:srgbClr val="060606"/>
                    </a:solidFill>
                  </a:rPr>
                  <a:t>≥</a:t>
                </a:r>
                <a:r>
                  <a:rPr lang="en-US" altLang="zh-CN" sz="2400" dirty="0">
                    <a:solidFill>
                      <a:srgbClr val="060606"/>
                    </a:solidFill>
                  </a:rPr>
                  <a:t>0,…, </a:t>
                </a:r>
                <a:r>
                  <a:rPr lang="en-US" altLang="zh-CN" sz="2400" dirty="0" err="1">
                    <a:solidFill>
                      <a:srgbClr val="060606"/>
                    </a:solidFill>
                  </a:rPr>
                  <a:t>x</a:t>
                </a:r>
                <a:r>
                  <a:rPr lang="en-US" altLang="zh-CN" sz="2400" baseline="-25000" dirty="0" err="1">
                    <a:solidFill>
                      <a:srgbClr val="060606"/>
                    </a:solidFill>
                  </a:rPr>
                  <a:t>n</a:t>
                </a:r>
                <a:r>
                  <a:rPr lang="zh-CN" altLang="en-US" sz="2400" dirty="0">
                    <a:solidFill>
                      <a:srgbClr val="060606"/>
                    </a:solidFill>
                  </a:rPr>
                  <a:t>≥</a:t>
                </a:r>
                <a:r>
                  <a:rPr lang="en-US" altLang="zh-CN" sz="2400" dirty="0">
                    <a:solidFill>
                      <a:srgbClr val="060606"/>
                    </a:solidFill>
                  </a:rPr>
                  <a:t>0</a:t>
                </a:r>
                <a:endParaRPr lang="zh-CN" altLang="en-US" sz="2400" dirty="0">
                  <a:solidFill>
                    <a:srgbClr val="060606"/>
                  </a:solidFill>
                </a:endParaRPr>
              </a:p>
            </p:txBody>
          </p:sp>
          <p:sp>
            <p:nvSpPr>
              <p:cNvPr id="14" name="矩形 13"/>
              <p:cNvSpPr/>
              <p:nvPr/>
            </p:nvSpPr>
            <p:spPr>
              <a:xfrm>
                <a:off x="3532016" y="4472943"/>
                <a:ext cx="2912192" cy="461665"/>
              </a:xfrm>
              <a:prstGeom prst="rect">
                <a:avLst/>
              </a:prstGeom>
            </p:spPr>
            <p:txBody>
              <a:bodyPr wrap="square">
                <a:spAutoFit/>
              </a:bodyPr>
              <a:lstStyle/>
              <a:p>
                <a:pPr algn="ctr"/>
                <a:r>
                  <a:rPr lang="en-US" altLang="zh-CN" sz="2400" dirty="0">
                    <a:solidFill>
                      <a:srgbClr val="060606"/>
                    </a:solidFill>
                  </a:rPr>
                  <a:t>…………</a:t>
                </a:r>
                <a:endParaRPr lang="zh-CN" altLang="en-US" sz="2400" dirty="0"/>
              </a:p>
            </p:txBody>
          </p:sp>
        </p:grpSp>
        <p:sp>
          <p:nvSpPr>
            <p:cNvPr id="13" name="矩形 12"/>
            <p:cNvSpPr/>
            <p:nvPr/>
          </p:nvSpPr>
          <p:spPr>
            <a:xfrm>
              <a:off x="1835696" y="2464457"/>
              <a:ext cx="5040560" cy="479234"/>
            </a:xfrm>
            <a:prstGeom prst="rect">
              <a:avLst/>
            </a:prstGeom>
          </p:spPr>
          <p:txBody>
            <a:bodyPr wrap="square">
              <a:spAutoFit/>
            </a:bodyPr>
            <a:lstStyle/>
            <a:p>
              <a:pPr marL="342900" indent="-342900" algn="ctr" fontAlgn="base">
                <a:lnSpc>
                  <a:spcPct val="110000"/>
                </a:lnSpc>
                <a:spcAft>
                  <a:spcPct val="0"/>
                </a:spcAft>
              </a:pPr>
              <a:r>
                <a:rPr lang="en-US" altLang="zh-CN" sz="2400" dirty="0">
                  <a:solidFill>
                    <a:srgbClr val="060606"/>
                  </a:solidFill>
                </a:rPr>
                <a:t>min(</a:t>
              </a:r>
              <a:r>
                <a:rPr lang="zh-CN" altLang="en-US" sz="2400" dirty="0">
                  <a:solidFill>
                    <a:srgbClr val="060606"/>
                  </a:solidFill>
                </a:rPr>
                <a:t>或</a:t>
              </a:r>
              <a:r>
                <a:rPr lang="en-US" altLang="zh-CN" sz="2400" dirty="0">
                  <a:solidFill>
                    <a:srgbClr val="060606"/>
                  </a:solidFill>
                </a:rPr>
                <a:t>max) z = c</a:t>
              </a:r>
              <a:r>
                <a:rPr lang="en-US" altLang="zh-CN" sz="2400" baseline="-25000" dirty="0">
                  <a:solidFill>
                    <a:srgbClr val="060606"/>
                  </a:solidFill>
                </a:rPr>
                <a:t>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c</a:t>
              </a:r>
              <a:r>
                <a:rPr lang="en-US" altLang="zh-CN" sz="2400" baseline="-25000" dirty="0">
                  <a:solidFill>
                    <a:srgbClr val="060606"/>
                  </a:solidFill>
                </a:rPr>
                <a:t>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t>
              </a:r>
              <a:r>
                <a:rPr lang="en-US" altLang="zh-CN" sz="2400" dirty="0" err="1">
                  <a:solidFill>
                    <a:srgbClr val="060606"/>
                  </a:solidFill>
                </a:rPr>
                <a:t>c</a:t>
              </a:r>
              <a:r>
                <a:rPr lang="en-US" altLang="zh-CN" sz="2400" baseline="-25000" dirty="0" err="1">
                  <a:solidFill>
                    <a:srgbClr val="060606"/>
                  </a:solidFill>
                </a:rPr>
                <a:t>n</a:t>
              </a:r>
              <a:r>
                <a:rPr lang="en-US" altLang="zh-CN" sz="2400" dirty="0" err="1">
                  <a:solidFill>
                    <a:srgbClr val="060606"/>
                  </a:solidFill>
                </a:rPr>
                <a:t>x</a:t>
              </a:r>
              <a:r>
                <a:rPr lang="en-US" altLang="zh-CN" sz="2400" baseline="-25000" dirty="0" err="1">
                  <a:solidFill>
                    <a:srgbClr val="060606"/>
                  </a:solidFill>
                </a:rPr>
                <a:t>n</a:t>
              </a:r>
              <a:endParaRPr lang="en-US" altLang="zh-CN" sz="2400" dirty="0">
                <a:solidFill>
                  <a:srgbClr val="060606"/>
                </a:solidFill>
              </a:endParaRPr>
            </a:p>
          </p:txBody>
        </p:sp>
      </p:grpSp>
      <p:sp>
        <p:nvSpPr>
          <p:cNvPr id="10" name="箭头: 圆角右 9"/>
          <p:cNvSpPr/>
          <p:nvPr/>
        </p:nvSpPr>
        <p:spPr>
          <a:xfrm rot="5400000">
            <a:off x="6654073" y="-134812"/>
            <a:ext cx="1055505" cy="3528668"/>
          </a:xfrm>
          <a:prstGeom prst="ben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8" name="文本框 17"/>
          <p:cNvSpPr txBox="1"/>
          <p:nvPr/>
        </p:nvSpPr>
        <p:spPr>
          <a:xfrm>
            <a:off x="7181825" y="2540996"/>
            <a:ext cx="2813131" cy="584775"/>
          </a:xfrm>
          <a:prstGeom prst="rect">
            <a:avLst/>
          </a:prstGeom>
          <a:noFill/>
        </p:spPr>
        <p:txBody>
          <a:bodyPr wrap="square" rtlCol="0">
            <a:spAutoFit/>
          </a:bodyPr>
          <a:lstStyle/>
          <a:p>
            <a:pPr algn="ctr"/>
            <a:r>
              <a:rPr lang="zh-CN" altLang="en-US" sz="3200" dirty="0"/>
              <a:t>简化形式</a:t>
            </a:r>
            <a:endParaRPr lang="zh-CN" altLang="en-US" sz="3200" dirty="0"/>
          </a:p>
        </p:txBody>
      </p:sp>
      <p:grpSp>
        <p:nvGrpSpPr>
          <p:cNvPr id="24" name="组合 23"/>
          <p:cNvGrpSpPr/>
          <p:nvPr/>
        </p:nvGrpSpPr>
        <p:grpSpPr>
          <a:xfrm>
            <a:off x="5457530" y="3283782"/>
            <a:ext cx="6394158" cy="2690890"/>
            <a:chOff x="5457530" y="3283782"/>
            <a:chExt cx="6394158" cy="2690890"/>
          </a:xfrm>
        </p:grpSpPr>
        <p:grpSp>
          <p:nvGrpSpPr>
            <p:cNvPr id="5" name="组合 4"/>
            <p:cNvGrpSpPr/>
            <p:nvPr/>
          </p:nvGrpSpPr>
          <p:grpSpPr>
            <a:xfrm>
              <a:off x="5702422" y="3553608"/>
              <a:ext cx="6149266" cy="2343166"/>
              <a:chOff x="5879976" y="4293096"/>
              <a:chExt cx="6149266" cy="2343166"/>
            </a:xfrm>
          </p:grpSpPr>
          <p:grpSp>
            <p:nvGrpSpPr>
              <p:cNvPr id="38" name="组合 37"/>
              <p:cNvGrpSpPr/>
              <p:nvPr/>
            </p:nvGrpSpPr>
            <p:grpSpPr>
              <a:xfrm>
                <a:off x="5879976" y="4293096"/>
                <a:ext cx="3240360" cy="864096"/>
                <a:chOff x="6732240" y="548680"/>
                <a:chExt cx="3240360" cy="864096"/>
              </a:xfrm>
            </p:grpSpPr>
            <p:sp>
              <p:nvSpPr>
                <p:cNvPr id="20" name="矩形 19"/>
                <p:cNvSpPr/>
                <p:nvPr/>
              </p:nvSpPr>
              <p:spPr>
                <a:xfrm>
                  <a:off x="6732240" y="692696"/>
                  <a:ext cx="3240360" cy="479234"/>
                </a:xfrm>
                <a:prstGeom prst="rect">
                  <a:avLst/>
                </a:prstGeom>
              </p:spPr>
              <p:txBody>
                <a:bodyPr wrap="square">
                  <a:spAutoFit/>
                </a:bodyPr>
                <a:lstStyle/>
                <a:p>
                  <a:pPr marL="342900" indent="-342900" algn="ctr" fontAlgn="base">
                    <a:lnSpc>
                      <a:spcPct val="110000"/>
                    </a:lnSpc>
                    <a:spcAft>
                      <a:spcPct val="0"/>
                    </a:spcAft>
                  </a:pPr>
                  <a:r>
                    <a:rPr lang="en-US" altLang="zh-CN" sz="2400" dirty="0">
                      <a:solidFill>
                        <a:srgbClr val="060606"/>
                      </a:solidFill>
                    </a:rPr>
                    <a:t>min(</a:t>
                  </a:r>
                  <a:r>
                    <a:rPr lang="zh-CN" altLang="en-US" sz="2400" dirty="0">
                      <a:solidFill>
                        <a:srgbClr val="060606"/>
                      </a:solidFill>
                    </a:rPr>
                    <a:t>或</a:t>
                  </a:r>
                  <a:r>
                    <a:rPr lang="en-US" altLang="zh-CN" sz="2400" dirty="0">
                      <a:solidFill>
                        <a:srgbClr val="060606"/>
                      </a:solidFill>
                    </a:rPr>
                    <a:t>max) z =    c</a:t>
                  </a:r>
                  <a:r>
                    <a:rPr lang="en-US" altLang="zh-CN" sz="2400" baseline="-25000" dirty="0">
                      <a:solidFill>
                        <a:srgbClr val="060606"/>
                      </a:solidFill>
                    </a:rPr>
                    <a:t>j</a:t>
                  </a:r>
                  <a:r>
                    <a:rPr lang="en-US" altLang="zh-CN" sz="2400" dirty="0">
                      <a:solidFill>
                        <a:srgbClr val="060606"/>
                      </a:solidFill>
                    </a:rPr>
                    <a:t>x</a:t>
                  </a:r>
                  <a:r>
                    <a:rPr lang="en-US" altLang="zh-CN" sz="2400" baseline="-25000" dirty="0">
                      <a:solidFill>
                        <a:srgbClr val="060606"/>
                      </a:solidFill>
                    </a:rPr>
                    <a:t>j</a:t>
                  </a:r>
                  <a:endParaRPr lang="en-US" altLang="zh-CN" sz="2400" dirty="0">
                    <a:solidFill>
                      <a:srgbClr val="060606"/>
                    </a:solidFill>
                  </a:endParaRPr>
                </a:p>
              </p:txBody>
            </p:sp>
            <p:grpSp>
              <p:nvGrpSpPr>
                <p:cNvPr id="32" name="组合 31"/>
                <p:cNvGrpSpPr/>
                <p:nvPr/>
              </p:nvGrpSpPr>
              <p:grpSpPr>
                <a:xfrm>
                  <a:off x="8936802" y="548680"/>
                  <a:ext cx="539365" cy="864096"/>
                  <a:chOff x="6272506" y="476672"/>
                  <a:chExt cx="539365" cy="864096"/>
                </a:xfrm>
              </p:grpSpPr>
              <p:sp>
                <p:nvSpPr>
                  <p:cNvPr id="29" name="矩形 28"/>
                  <p:cNvSpPr/>
                  <p:nvPr/>
                </p:nvSpPr>
                <p:spPr>
                  <a:xfrm>
                    <a:off x="6300192" y="971436"/>
                    <a:ext cx="511679" cy="369332"/>
                  </a:xfrm>
                  <a:prstGeom prst="rect">
                    <a:avLst/>
                  </a:prstGeom>
                </p:spPr>
                <p:txBody>
                  <a:bodyPr wrap="none">
                    <a:spAutoFit/>
                  </a:bodyPr>
                  <a:lstStyle/>
                  <a:p>
                    <a:r>
                      <a:rPr lang="en-US" altLang="zh-CN" dirty="0">
                        <a:solidFill>
                          <a:srgbClr val="060606"/>
                        </a:solidFill>
                      </a:rPr>
                      <a:t>j=1</a:t>
                    </a:r>
                    <a:endParaRPr lang="zh-CN" altLang="en-US" dirty="0"/>
                  </a:p>
                </p:txBody>
              </p:sp>
              <p:sp>
                <p:nvSpPr>
                  <p:cNvPr id="30" name="矩形 29"/>
                  <p:cNvSpPr/>
                  <p:nvPr/>
                </p:nvSpPr>
                <p:spPr>
                  <a:xfrm>
                    <a:off x="6353738" y="476672"/>
                    <a:ext cx="311304" cy="369332"/>
                  </a:xfrm>
                  <a:prstGeom prst="rect">
                    <a:avLst/>
                  </a:prstGeom>
                </p:spPr>
                <p:txBody>
                  <a:bodyPr wrap="none">
                    <a:spAutoFit/>
                  </a:bodyPr>
                  <a:lstStyle/>
                  <a:p>
                    <a:r>
                      <a:rPr lang="en-US" altLang="zh-CN" dirty="0">
                        <a:solidFill>
                          <a:srgbClr val="060606"/>
                        </a:solidFill>
                      </a:rPr>
                      <a:t>n</a:t>
                    </a:r>
                    <a:endParaRPr lang="zh-CN" altLang="en-US" dirty="0"/>
                  </a:p>
                </p:txBody>
              </p:sp>
              <p:sp>
                <p:nvSpPr>
                  <p:cNvPr id="31" name="矩形 30"/>
                  <p:cNvSpPr/>
                  <p:nvPr/>
                </p:nvSpPr>
                <p:spPr>
                  <a:xfrm>
                    <a:off x="6272506" y="656580"/>
                    <a:ext cx="492443" cy="461665"/>
                  </a:xfrm>
                  <a:prstGeom prst="rect">
                    <a:avLst/>
                  </a:prstGeom>
                </p:spPr>
                <p:txBody>
                  <a:bodyPr wrap="none">
                    <a:spAutoFit/>
                  </a:bodyPr>
                  <a:lstStyle/>
                  <a:p>
                    <a:r>
                      <a:rPr lang="en-US" altLang="zh-CN" sz="2400" dirty="0">
                        <a:solidFill>
                          <a:srgbClr val="060606"/>
                        </a:solidFill>
                      </a:rPr>
                      <a:t>∑</a:t>
                    </a:r>
                    <a:endParaRPr lang="zh-CN" altLang="en-US" dirty="0"/>
                  </a:p>
                </p:txBody>
              </p:sp>
            </p:grpSp>
          </p:grpSp>
          <p:grpSp>
            <p:nvGrpSpPr>
              <p:cNvPr id="37" name="组合 36"/>
              <p:cNvGrpSpPr/>
              <p:nvPr/>
            </p:nvGrpSpPr>
            <p:grpSpPr>
              <a:xfrm>
                <a:off x="6240015" y="4941169"/>
                <a:ext cx="5789227" cy="1695093"/>
                <a:chOff x="6084168" y="2204864"/>
                <a:chExt cx="4032448" cy="1695093"/>
              </a:xfrm>
            </p:grpSpPr>
            <p:grpSp>
              <p:nvGrpSpPr>
                <p:cNvPr id="19" name="组合 15"/>
                <p:cNvGrpSpPr/>
                <p:nvPr/>
              </p:nvGrpSpPr>
              <p:grpSpPr>
                <a:xfrm>
                  <a:off x="6084168" y="2348880"/>
                  <a:ext cx="4032448" cy="1551077"/>
                  <a:chOff x="3059832" y="3212976"/>
                  <a:chExt cx="4032448" cy="1551077"/>
                </a:xfrm>
              </p:grpSpPr>
              <p:grpSp>
                <p:nvGrpSpPr>
                  <p:cNvPr id="21" name="组合 12"/>
                  <p:cNvGrpSpPr/>
                  <p:nvPr/>
                </p:nvGrpSpPr>
                <p:grpSpPr>
                  <a:xfrm>
                    <a:off x="3059832" y="3429003"/>
                    <a:ext cx="720080" cy="792088"/>
                    <a:chOff x="1547664" y="3834569"/>
                    <a:chExt cx="720080" cy="541655"/>
                  </a:xfrm>
                </p:grpSpPr>
                <p:sp>
                  <p:nvSpPr>
                    <p:cNvPr id="27" name="矩形 26"/>
                    <p:cNvSpPr/>
                    <p:nvPr/>
                  </p:nvSpPr>
                  <p:spPr>
                    <a:xfrm>
                      <a:off x="1547664" y="3897951"/>
                      <a:ext cx="648072" cy="327715"/>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28" name="左大括号 27"/>
                    <p:cNvSpPr/>
                    <p:nvPr/>
                  </p:nvSpPr>
                  <p:spPr bwMode="auto">
                    <a:xfrm>
                      <a:off x="2051720" y="3834569"/>
                      <a:ext cx="216024" cy="541655"/>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22" name="矩形 21"/>
                  <p:cNvSpPr/>
                  <p:nvPr/>
                </p:nvSpPr>
                <p:spPr>
                  <a:xfrm>
                    <a:off x="3532016" y="3212976"/>
                    <a:ext cx="3416248" cy="830997"/>
                  </a:xfrm>
                  <a:prstGeom prst="rect">
                    <a:avLst/>
                  </a:prstGeom>
                </p:spPr>
                <p:txBody>
                  <a:bodyPr wrap="square">
                    <a:spAutoFit/>
                  </a:bodyPr>
                  <a:lstStyle/>
                  <a:p>
                    <a:r>
                      <a:rPr lang="en-US" altLang="zh-CN" sz="2400" dirty="0">
                        <a:solidFill>
                          <a:srgbClr val="060606"/>
                        </a:solidFill>
                      </a:rPr>
                      <a:t>       </a:t>
                    </a:r>
                    <a:r>
                      <a:rPr lang="en-US" altLang="zh-CN" sz="2400" dirty="0" err="1">
                        <a:solidFill>
                          <a:srgbClr val="060606"/>
                        </a:solidFill>
                      </a:rPr>
                      <a:t>a</a:t>
                    </a:r>
                    <a:r>
                      <a:rPr lang="en-US" altLang="zh-CN" sz="2400" baseline="-25000" dirty="0" err="1">
                        <a:solidFill>
                          <a:srgbClr val="060606"/>
                        </a:solidFill>
                      </a:rPr>
                      <a:t>ij</a:t>
                    </a:r>
                    <a:r>
                      <a:rPr lang="en-US" altLang="zh-CN" sz="2400" dirty="0" err="1">
                        <a:solidFill>
                          <a:srgbClr val="060606"/>
                        </a:solidFill>
                      </a:rPr>
                      <a:t>x</a:t>
                    </a:r>
                    <a:r>
                      <a:rPr lang="en-US" altLang="zh-CN" sz="2400" baseline="-25000" dirty="0" err="1">
                        <a:solidFill>
                          <a:srgbClr val="060606"/>
                        </a:solidFill>
                      </a:rPr>
                      <a:t>j</a:t>
                    </a:r>
                    <a:r>
                      <a:rPr lang="en-US" altLang="zh-CN" sz="2400" dirty="0" err="1">
                        <a:solidFill>
                          <a:srgbClr val="060606"/>
                        </a:solidFill>
                      </a:rPr>
                      <a:t>≤b</a:t>
                    </a:r>
                    <a:r>
                      <a:rPr lang="en-US" altLang="zh-CN" sz="2400" baseline="-25000" dirty="0" err="1">
                        <a:solidFill>
                          <a:srgbClr val="060606"/>
                        </a:solidFill>
                      </a:rPr>
                      <a:t>i</a:t>
                    </a:r>
                    <a:r>
                      <a:rPr lang="en-US" altLang="zh-CN" sz="2400" dirty="0">
                        <a:solidFill>
                          <a:srgbClr val="060606"/>
                        </a:solidFill>
                      </a:rPr>
                      <a:t>     (i = 1,2,…,m)</a:t>
                    </a:r>
                    <a:endParaRPr lang="zh-CN" altLang="en-US" sz="2400" dirty="0"/>
                  </a:p>
                </p:txBody>
              </p:sp>
              <p:sp>
                <p:nvSpPr>
                  <p:cNvPr id="25" name="矩形 24"/>
                  <p:cNvSpPr/>
                  <p:nvPr/>
                </p:nvSpPr>
                <p:spPr>
                  <a:xfrm>
                    <a:off x="3779912" y="3933056"/>
                    <a:ext cx="3312368" cy="830997"/>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j</a:t>
                    </a:r>
                    <a:r>
                      <a:rPr lang="zh-CN" altLang="en-US" sz="2400" dirty="0">
                        <a:solidFill>
                          <a:srgbClr val="060606"/>
                        </a:solidFill>
                      </a:rPr>
                      <a:t>≥</a:t>
                    </a:r>
                    <a:r>
                      <a:rPr lang="en-US" altLang="zh-CN" sz="2400" dirty="0">
                        <a:solidFill>
                          <a:srgbClr val="060606"/>
                        </a:solidFill>
                      </a:rPr>
                      <a:t>0             (j = 1,2,…,n)</a:t>
                    </a:r>
                    <a:endParaRPr lang="zh-CN" altLang="en-US" sz="2400" dirty="0">
                      <a:solidFill>
                        <a:srgbClr val="060606"/>
                      </a:solidFill>
                    </a:endParaRPr>
                  </a:p>
                </p:txBody>
              </p:sp>
            </p:grpSp>
            <p:grpSp>
              <p:nvGrpSpPr>
                <p:cNvPr id="33" name="组合 32"/>
                <p:cNvGrpSpPr/>
                <p:nvPr/>
              </p:nvGrpSpPr>
              <p:grpSpPr>
                <a:xfrm>
                  <a:off x="6758315" y="2204864"/>
                  <a:ext cx="557612" cy="864096"/>
                  <a:chOff x="6254259" y="476672"/>
                  <a:chExt cx="557612" cy="864096"/>
                </a:xfrm>
              </p:grpSpPr>
              <p:sp>
                <p:nvSpPr>
                  <p:cNvPr id="34" name="矩形 33"/>
                  <p:cNvSpPr/>
                  <p:nvPr/>
                </p:nvSpPr>
                <p:spPr>
                  <a:xfrm>
                    <a:off x="6300192" y="971436"/>
                    <a:ext cx="511679" cy="369332"/>
                  </a:xfrm>
                  <a:prstGeom prst="rect">
                    <a:avLst/>
                  </a:prstGeom>
                </p:spPr>
                <p:txBody>
                  <a:bodyPr wrap="none">
                    <a:spAutoFit/>
                  </a:bodyPr>
                  <a:lstStyle/>
                  <a:p>
                    <a:r>
                      <a:rPr lang="en-US" altLang="zh-CN" dirty="0">
                        <a:solidFill>
                          <a:srgbClr val="060606"/>
                        </a:solidFill>
                      </a:rPr>
                      <a:t>j=1</a:t>
                    </a:r>
                    <a:endParaRPr lang="zh-CN" altLang="en-US" dirty="0"/>
                  </a:p>
                </p:txBody>
              </p:sp>
              <p:sp>
                <p:nvSpPr>
                  <p:cNvPr id="35" name="矩形 34"/>
                  <p:cNvSpPr/>
                  <p:nvPr/>
                </p:nvSpPr>
                <p:spPr>
                  <a:xfrm>
                    <a:off x="6316637" y="476672"/>
                    <a:ext cx="311304" cy="369332"/>
                  </a:xfrm>
                  <a:prstGeom prst="rect">
                    <a:avLst/>
                  </a:prstGeom>
                </p:spPr>
                <p:txBody>
                  <a:bodyPr wrap="none">
                    <a:spAutoFit/>
                  </a:bodyPr>
                  <a:lstStyle/>
                  <a:p>
                    <a:r>
                      <a:rPr lang="en-US" altLang="zh-CN" dirty="0">
                        <a:solidFill>
                          <a:srgbClr val="060606"/>
                        </a:solidFill>
                      </a:rPr>
                      <a:t>n</a:t>
                    </a:r>
                    <a:endParaRPr lang="zh-CN" altLang="en-US" dirty="0"/>
                  </a:p>
                </p:txBody>
              </p:sp>
              <p:sp>
                <p:nvSpPr>
                  <p:cNvPr id="36" name="矩形 35"/>
                  <p:cNvSpPr/>
                  <p:nvPr/>
                </p:nvSpPr>
                <p:spPr>
                  <a:xfrm>
                    <a:off x="6254259" y="629946"/>
                    <a:ext cx="492443" cy="461665"/>
                  </a:xfrm>
                  <a:prstGeom prst="rect">
                    <a:avLst/>
                  </a:prstGeom>
                </p:spPr>
                <p:txBody>
                  <a:bodyPr wrap="none">
                    <a:spAutoFit/>
                  </a:bodyPr>
                  <a:lstStyle/>
                  <a:p>
                    <a:r>
                      <a:rPr lang="en-US" altLang="zh-CN" sz="2400" dirty="0">
                        <a:solidFill>
                          <a:srgbClr val="060606"/>
                        </a:solidFill>
                      </a:rPr>
                      <a:t>∑</a:t>
                    </a:r>
                    <a:endParaRPr lang="zh-CN" altLang="en-US" dirty="0"/>
                  </a:p>
                </p:txBody>
              </p:sp>
            </p:grpSp>
          </p:grpSp>
        </p:grpSp>
        <p:sp>
          <p:nvSpPr>
            <p:cNvPr id="23" name="矩形 22"/>
            <p:cNvSpPr/>
            <p:nvPr/>
          </p:nvSpPr>
          <p:spPr>
            <a:xfrm>
              <a:off x="5457530" y="3283782"/>
              <a:ext cx="6030175" cy="26908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右箭头 15"/>
          <p:cNvSpPr/>
          <p:nvPr/>
        </p:nvSpPr>
        <p:spPr bwMode="auto">
          <a:xfrm rot="2080800">
            <a:off x="146306" y="444946"/>
            <a:ext cx="1296144" cy="432048"/>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1" name="文本框 20"/>
          <p:cNvSpPr txBox="1"/>
          <p:nvPr/>
        </p:nvSpPr>
        <p:spPr>
          <a:xfrm>
            <a:off x="4512654" y="481053"/>
            <a:ext cx="2813131" cy="584775"/>
          </a:xfrm>
          <a:prstGeom prst="rect">
            <a:avLst/>
          </a:prstGeom>
          <a:noFill/>
        </p:spPr>
        <p:txBody>
          <a:bodyPr wrap="square" rtlCol="0">
            <a:spAutoFit/>
          </a:bodyPr>
          <a:lstStyle/>
          <a:p>
            <a:pPr algn="ctr"/>
            <a:r>
              <a:rPr lang="zh-CN" altLang="en-US" sz="3200" dirty="0"/>
              <a:t>向量形式</a:t>
            </a:r>
            <a:endParaRPr lang="zh-CN" altLang="en-US" sz="3200" dirty="0"/>
          </a:p>
        </p:txBody>
      </p:sp>
      <p:grpSp>
        <p:nvGrpSpPr>
          <p:cNvPr id="3" name="组合 2"/>
          <p:cNvGrpSpPr/>
          <p:nvPr/>
        </p:nvGrpSpPr>
        <p:grpSpPr>
          <a:xfrm>
            <a:off x="3480047" y="1207363"/>
            <a:ext cx="5130553" cy="4385569"/>
            <a:chOff x="3480047" y="1207363"/>
            <a:chExt cx="5130553" cy="4385569"/>
          </a:xfrm>
        </p:grpSpPr>
        <p:grpSp>
          <p:nvGrpSpPr>
            <p:cNvPr id="61" name="组合 60"/>
            <p:cNvGrpSpPr/>
            <p:nvPr/>
          </p:nvGrpSpPr>
          <p:grpSpPr>
            <a:xfrm>
              <a:off x="3935760" y="1340769"/>
              <a:ext cx="4392488" cy="3830335"/>
              <a:chOff x="2411760" y="1634258"/>
              <a:chExt cx="3960440" cy="3549989"/>
            </a:xfrm>
          </p:grpSpPr>
          <p:grpSp>
            <p:nvGrpSpPr>
              <p:cNvPr id="10" name="组合 38"/>
              <p:cNvGrpSpPr/>
              <p:nvPr/>
            </p:nvGrpSpPr>
            <p:grpSpPr>
              <a:xfrm>
                <a:off x="2411760" y="1634258"/>
                <a:ext cx="3960440" cy="3549989"/>
                <a:chOff x="5796136" y="4509120"/>
                <a:chExt cx="3960440" cy="3549989"/>
              </a:xfrm>
            </p:grpSpPr>
            <p:sp>
              <p:nvSpPr>
                <p:cNvPr id="20" name="矩形 19"/>
                <p:cNvSpPr/>
                <p:nvPr/>
              </p:nvSpPr>
              <p:spPr>
                <a:xfrm>
                  <a:off x="6228184" y="4509120"/>
                  <a:ext cx="2736304" cy="503942"/>
                </a:xfrm>
                <a:prstGeom prst="rect">
                  <a:avLst/>
                </a:prstGeom>
              </p:spPr>
              <p:txBody>
                <a:bodyPr wrap="square">
                  <a:spAutoFit/>
                </a:bodyPr>
                <a:lstStyle/>
                <a:p>
                  <a:pPr marL="342900" indent="-342900" algn="ctr" fontAlgn="base">
                    <a:lnSpc>
                      <a:spcPct val="110000"/>
                    </a:lnSpc>
                    <a:spcAft>
                      <a:spcPct val="0"/>
                    </a:spcAft>
                  </a:pPr>
                  <a:r>
                    <a:rPr lang="en-US" altLang="zh-CN" sz="2800" dirty="0">
                      <a:solidFill>
                        <a:srgbClr val="060606"/>
                      </a:solidFill>
                    </a:rPr>
                    <a:t>min(</a:t>
                  </a:r>
                  <a:r>
                    <a:rPr lang="zh-CN" altLang="en-US" sz="2800" dirty="0">
                      <a:solidFill>
                        <a:srgbClr val="060606"/>
                      </a:solidFill>
                    </a:rPr>
                    <a:t>或</a:t>
                  </a:r>
                  <a:r>
                    <a:rPr lang="en-US" altLang="zh-CN" sz="2800" dirty="0">
                      <a:solidFill>
                        <a:srgbClr val="060606"/>
                      </a:solidFill>
                    </a:rPr>
                    <a:t>max) z =</a:t>
                  </a:r>
                  <a:r>
                    <a:rPr lang="en-US" altLang="zh-CN" sz="2800" b="1" dirty="0" err="1">
                      <a:solidFill>
                        <a:srgbClr val="060606"/>
                      </a:solidFill>
                    </a:rPr>
                    <a:t>cx</a:t>
                  </a:r>
                  <a:endParaRPr lang="en-US" altLang="zh-CN" sz="2800" b="1" dirty="0">
                    <a:solidFill>
                      <a:srgbClr val="060606"/>
                    </a:solidFill>
                  </a:endParaRPr>
                </a:p>
              </p:txBody>
            </p:sp>
            <p:sp>
              <p:nvSpPr>
                <p:cNvPr id="38" name="矩形 37"/>
                <p:cNvSpPr/>
                <p:nvPr/>
              </p:nvSpPr>
              <p:spPr>
                <a:xfrm>
                  <a:off x="5796136" y="6237312"/>
                  <a:ext cx="3960440" cy="1821797"/>
                </a:xfrm>
                <a:prstGeom prst="rect">
                  <a:avLst/>
                </a:prstGeom>
              </p:spPr>
              <p:txBody>
                <a:bodyPr wrap="square">
                  <a:spAutoFit/>
                </a:bodyPr>
                <a:lstStyle/>
                <a:p>
                  <a:pPr marL="342900" indent="-342900" algn="ctr" fontAlgn="base">
                    <a:lnSpc>
                      <a:spcPct val="110000"/>
                    </a:lnSpc>
                    <a:spcAft>
                      <a:spcPct val="0"/>
                    </a:spcAft>
                  </a:pPr>
                  <a:r>
                    <a:rPr lang="zh-CN" altLang="en-US" sz="2800" dirty="0">
                      <a:solidFill>
                        <a:srgbClr val="060606"/>
                      </a:solidFill>
                    </a:rPr>
                    <a:t>其中，</a:t>
                  </a:r>
                  <a:r>
                    <a:rPr lang="en-US" altLang="zh-CN" sz="2800" b="1" dirty="0">
                      <a:solidFill>
                        <a:srgbClr val="060606"/>
                      </a:solidFill>
                    </a:rPr>
                    <a:t> c </a:t>
                  </a:r>
                  <a:r>
                    <a:rPr lang="en-US" altLang="zh-CN" sz="2800" dirty="0">
                      <a:solidFill>
                        <a:srgbClr val="060606"/>
                      </a:solidFill>
                    </a:rPr>
                    <a:t>=(c</a:t>
                  </a:r>
                  <a:r>
                    <a:rPr lang="en-US" altLang="zh-CN" sz="2800" baseline="-25000" dirty="0">
                      <a:solidFill>
                        <a:srgbClr val="060606"/>
                      </a:solidFill>
                    </a:rPr>
                    <a:t>1</a:t>
                  </a:r>
                  <a:r>
                    <a:rPr lang="en-US" altLang="zh-CN" sz="2800" dirty="0">
                      <a:solidFill>
                        <a:srgbClr val="060606"/>
                      </a:solidFill>
                    </a:rPr>
                    <a:t>,c</a:t>
                  </a:r>
                  <a:r>
                    <a:rPr lang="en-US" altLang="zh-CN" sz="2800" baseline="-25000" dirty="0">
                      <a:solidFill>
                        <a:srgbClr val="060606"/>
                      </a:solidFill>
                    </a:rPr>
                    <a:t>2</a:t>
                  </a:r>
                  <a:r>
                    <a:rPr lang="en-US" altLang="zh-CN" sz="2800" dirty="0">
                      <a:solidFill>
                        <a:srgbClr val="060606"/>
                      </a:solidFill>
                    </a:rPr>
                    <a:t>,…,</a:t>
                  </a:r>
                  <a:r>
                    <a:rPr lang="en-US" altLang="zh-CN" sz="2800" dirty="0" err="1">
                      <a:solidFill>
                        <a:srgbClr val="060606"/>
                      </a:solidFill>
                    </a:rPr>
                    <a:t>c</a:t>
                  </a:r>
                  <a:r>
                    <a:rPr lang="en-US" altLang="zh-CN" sz="2800" baseline="-25000" dirty="0" err="1">
                      <a:solidFill>
                        <a:srgbClr val="060606"/>
                      </a:solidFill>
                    </a:rPr>
                    <a:t>n</a:t>
                  </a:r>
                  <a:r>
                    <a:rPr lang="en-US" altLang="zh-CN" sz="2800" dirty="0">
                      <a:solidFill>
                        <a:srgbClr val="060606"/>
                      </a:solidFill>
                    </a:rPr>
                    <a:t>),</a:t>
                  </a:r>
                  <a:endParaRPr lang="en-US" altLang="zh-CN" sz="2800" dirty="0">
                    <a:solidFill>
                      <a:srgbClr val="060606"/>
                    </a:solidFill>
                  </a:endParaRPr>
                </a:p>
                <a:p>
                  <a:pPr marL="342900" indent="-342900" algn="ctr" fontAlgn="base">
                    <a:lnSpc>
                      <a:spcPct val="110000"/>
                    </a:lnSpc>
                    <a:spcAft>
                      <a:spcPct val="0"/>
                    </a:spcAft>
                  </a:pPr>
                  <a:r>
                    <a:rPr lang="en-US" altLang="zh-CN" sz="2800" b="1" dirty="0">
                      <a:solidFill>
                        <a:srgbClr val="060606"/>
                      </a:solidFill>
                    </a:rPr>
                    <a:t>x </a:t>
                  </a:r>
                  <a:r>
                    <a:rPr lang="en-US" altLang="zh-CN" sz="2800" dirty="0">
                      <a:solidFill>
                        <a:srgbClr val="060606"/>
                      </a:solidFill>
                    </a:rPr>
                    <a:t>= (x</a:t>
                  </a:r>
                  <a:r>
                    <a:rPr lang="en-US" altLang="zh-CN" sz="2800" baseline="-25000" dirty="0">
                      <a:solidFill>
                        <a:srgbClr val="060606"/>
                      </a:solidFill>
                    </a:rPr>
                    <a:t>1</a:t>
                  </a:r>
                  <a:r>
                    <a:rPr lang="en-US" altLang="zh-CN" sz="2800" dirty="0">
                      <a:solidFill>
                        <a:srgbClr val="060606"/>
                      </a:solidFill>
                    </a:rPr>
                    <a:t>,x</a:t>
                  </a:r>
                  <a:r>
                    <a:rPr lang="en-US" altLang="zh-CN" sz="2800" baseline="-25000" dirty="0">
                      <a:solidFill>
                        <a:srgbClr val="060606"/>
                      </a:solidFill>
                    </a:rPr>
                    <a:t>2</a:t>
                  </a:r>
                  <a:r>
                    <a:rPr lang="en-US" altLang="zh-CN" sz="2800" dirty="0">
                      <a:solidFill>
                        <a:srgbClr val="060606"/>
                      </a:solidFill>
                    </a:rPr>
                    <a:t>,…,</a:t>
                  </a:r>
                  <a:r>
                    <a:rPr lang="en-US" altLang="zh-CN" sz="2800" dirty="0" err="1">
                      <a:solidFill>
                        <a:srgbClr val="060606"/>
                      </a:solidFill>
                    </a:rPr>
                    <a:t>x</a:t>
                  </a:r>
                  <a:r>
                    <a:rPr lang="en-US" altLang="zh-CN" sz="2800" baseline="-25000" dirty="0" err="1">
                      <a:solidFill>
                        <a:srgbClr val="060606"/>
                      </a:solidFill>
                    </a:rPr>
                    <a:t>n</a:t>
                  </a:r>
                  <a:r>
                    <a:rPr lang="en-US" altLang="zh-CN" sz="2800" dirty="0">
                      <a:solidFill>
                        <a:srgbClr val="060606"/>
                      </a:solidFill>
                    </a:rPr>
                    <a:t>)</a:t>
                  </a:r>
                  <a:r>
                    <a:rPr lang="en-US" altLang="zh-CN" sz="2800" baseline="30000" dirty="0">
                      <a:solidFill>
                        <a:srgbClr val="060606"/>
                      </a:solidFill>
                    </a:rPr>
                    <a:t>T</a:t>
                  </a:r>
                  <a:r>
                    <a:rPr lang="en-US" altLang="zh-CN" sz="2800" dirty="0">
                      <a:solidFill>
                        <a:srgbClr val="060606"/>
                      </a:solidFill>
                    </a:rPr>
                    <a:t>,</a:t>
                  </a:r>
                  <a:r>
                    <a:rPr lang="en-US" altLang="zh-CN" sz="2800" b="1" dirty="0">
                      <a:solidFill>
                        <a:srgbClr val="060606"/>
                      </a:solidFill>
                    </a:rPr>
                    <a:t> </a:t>
                  </a:r>
                  <a:endParaRPr lang="en-US" altLang="zh-CN" sz="2800" b="1" dirty="0">
                    <a:solidFill>
                      <a:srgbClr val="060606"/>
                    </a:solidFill>
                  </a:endParaRPr>
                </a:p>
                <a:p>
                  <a:pPr marL="342900" indent="-342900" algn="ctr" fontAlgn="base">
                    <a:lnSpc>
                      <a:spcPct val="110000"/>
                    </a:lnSpc>
                    <a:spcAft>
                      <a:spcPct val="0"/>
                    </a:spcAft>
                  </a:pPr>
                  <a:r>
                    <a:rPr lang="en-US" altLang="zh-CN" sz="2800" b="1" dirty="0" err="1">
                      <a:solidFill>
                        <a:srgbClr val="060606"/>
                      </a:solidFill>
                    </a:rPr>
                    <a:t>p</a:t>
                  </a:r>
                  <a:r>
                    <a:rPr lang="en-US" altLang="zh-CN" sz="2800" baseline="-25000" dirty="0" err="1">
                      <a:solidFill>
                        <a:srgbClr val="060606"/>
                      </a:solidFill>
                    </a:rPr>
                    <a:t>j</a:t>
                  </a:r>
                  <a:r>
                    <a:rPr lang="en-US" altLang="zh-CN" sz="2800" dirty="0">
                      <a:solidFill>
                        <a:srgbClr val="060606"/>
                      </a:solidFill>
                    </a:rPr>
                    <a:t> = (a</a:t>
                  </a:r>
                  <a:r>
                    <a:rPr lang="en-US" altLang="zh-CN" sz="2800" baseline="-25000" dirty="0">
                      <a:solidFill>
                        <a:srgbClr val="060606"/>
                      </a:solidFill>
                    </a:rPr>
                    <a:t>1j</a:t>
                  </a:r>
                  <a:r>
                    <a:rPr lang="en-US" altLang="zh-CN" sz="2800" dirty="0">
                      <a:solidFill>
                        <a:srgbClr val="060606"/>
                      </a:solidFill>
                    </a:rPr>
                    <a:t>, a</a:t>
                  </a:r>
                  <a:r>
                    <a:rPr lang="en-US" altLang="zh-CN" sz="2800" baseline="-25000" dirty="0">
                      <a:solidFill>
                        <a:srgbClr val="060606"/>
                      </a:solidFill>
                    </a:rPr>
                    <a:t>2j</a:t>
                  </a:r>
                  <a:r>
                    <a:rPr lang="en-US" altLang="zh-CN" sz="2800" dirty="0">
                      <a:solidFill>
                        <a:srgbClr val="060606"/>
                      </a:solidFill>
                    </a:rPr>
                    <a:t>, …,</a:t>
                  </a:r>
                  <a:r>
                    <a:rPr lang="en-US" altLang="zh-CN" sz="2800" dirty="0" err="1">
                      <a:solidFill>
                        <a:srgbClr val="060606"/>
                      </a:solidFill>
                    </a:rPr>
                    <a:t>a</a:t>
                  </a:r>
                  <a:r>
                    <a:rPr lang="en-US" altLang="zh-CN" sz="2800" baseline="-25000" dirty="0" err="1">
                      <a:solidFill>
                        <a:srgbClr val="060606"/>
                      </a:solidFill>
                    </a:rPr>
                    <a:t>mj</a:t>
                  </a:r>
                  <a:r>
                    <a:rPr lang="en-US" altLang="zh-CN" sz="2800" dirty="0">
                      <a:solidFill>
                        <a:srgbClr val="060606"/>
                      </a:solidFill>
                    </a:rPr>
                    <a:t>)</a:t>
                  </a:r>
                  <a:r>
                    <a:rPr lang="en-US" altLang="zh-CN" sz="2800" baseline="30000" dirty="0">
                      <a:solidFill>
                        <a:srgbClr val="060606"/>
                      </a:solidFill>
                    </a:rPr>
                    <a:t>T</a:t>
                  </a:r>
                  <a:r>
                    <a:rPr lang="en-US" altLang="zh-CN" sz="2800" dirty="0">
                      <a:solidFill>
                        <a:srgbClr val="060606"/>
                      </a:solidFill>
                    </a:rPr>
                    <a:t>,</a:t>
                  </a:r>
                  <a:endParaRPr lang="en-US" altLang="zh-CN" sz="2800" dirty="0">
                    <a:solidFill>
                      <a:srgbClr val="060606"/>
                    </a:solidFill>
                  </a:endParaRPr>
                </a:p>
                <a:p>
                  <a:pPr marL="342900" indent="-342900" algn="ctr" fontAlgn="base">
                    <a:lnSpc>
                      <a:spcPct val="110000"/>
                    </a:lnSpc>
                    <a:spcAft>
                      <a:spcPct val="0"/>
                    </a:spcAft>
                  </a:pPr>
                  <a:r>
                    <a:rPr lang="en-US" altLang="zh-CN" sz="2800" b="1" dirty="0">
                      <a:solidFill>
                        <a:srgbClr val="060606"/>
                      </a:solidFill>
                    </a:rPr>
                    <a:t>b </a:t>
                  </a:r>
                  <a:r>
                    <a:rPr lang="en-US" altLang="zh-CN" sz="2800" dirty="0">
                      <a:solidFill>
                        <a:srgbClr val="060606"/>
                      </a:solidFill>
                    </a:rPr>
                    <a:t>=(b</a:t>
                  </a:r>
                  <a:r>
                    <a:rPr lang="en-US" altLang="zh-CN" sz="2800" baseline="-25000" dirty="0">
                      <a:solidFill>
                        <a:srgbClr val="060606"/>
                      </a:solidFill>
                    </a:rPr>
                    <a:t>1</a:t>
                  </a:r>
                  <a:r>
                    <a:rPr lang="en-US" altLang="zh-CN" sz="2800" dirty="0">
                      <a:solidFill>
                        <a:srgbClr val="060606"/>
                      </a:solidFill>
                    </a:rPr>
                    <a:t>,b</a:t>
                  </a:r>
                  <a:r>
                    <a:rPr lang="en-US" altLang="zh-CN" sz="2800" baseline="-25000" dirty="0">
                      <a:solidFill>
                        <a:srgbClr val="060606"/>
                      </a:solidFill>
                    </a:rPr>
                    <a:t>2</a:t>
                  </a:r>
                  <a:r>
                    <a:rPr lang="en-US" altLang="zh-CN" sz="2800" dirty="0">
                      <a:solidFill>
                        <a:srgbClr val="060606"/>
                      </a:solidFill>
                    </a:rPr>
                    <a:t>,…,</a:t>
                  </a:r>
                  <a:r>
                    <a:rPr lang="en-US" altLang="zh-CN" sz="2800" dirty="0" err="1">
                      <a:solidFill>
                        <a:srgbClr val="060606"/>
                      </a:solidFill>
                    </a:rPr>
                    <a:t>b</a:t>
                  </a:r>
                  <a:r>
                    <a:rPr lang="en-US" altLang="zh-CN" sz="2800" baseline="-25000" dirty="0" err="1">
                      <a:solidFill>
                        <a:srgbClr val="060606"/>
                      </a:solidFill>
                    </a:rPr>
                    <a:t>m</a:t>
                  </a:r>
                  <a:r>
                    <a:rPr lang="en-US" altLang="zh-CN" sz="2800" dirty="0">
                      <a:solidFill>
                        <a:srgbClr val="060606"/>
                      </a:solidFill>
                    </a:rPr>
                    <a:t>)</a:t>
                  </a:r>
                  <a:r>
                    <a:rPr lang="en-US" altLang="zh-CN" sz="2800" baseline="30000" dirty="0">
                      <a:solidFill>
                        <a:srgbClr val="060606"/>
                      </a:solidFill>
                    </a:rPr>
                    <a:t> T</a:t>
                  </a:r>
                  <a:endParaRPr lang="en-US" altLang="zh-CN" sz="2800" b="1" dirty="0">
                    <a:solidFill>
                      <a:srgbClr val="060606"/>
                    </a:solidFill>
                  </a:endParaRPr>
                </a:p>
              </p:txBody>
            </p:sp>
          </p:grpSp>
          <p:grpSp>
            <p:nvGrpSpPr>
              <p:cNvPr id="45" name="组合 36"/>
              <p:cNvGrpSpPr/>
              <p:nvPr/>
            </p:nvGrpSpPr>
            <p:grpSpPr>
              <a:xfrm>
                <a:off x="3059832" y="1967946"/>
                <a:ext cx="2432327" cy="1441923"/>
                <a:chOff x="6084168" y="2111962"/>
                <a:chExt cx="2432327" cy="1441923"/>
              </a:xfrm>
            </p:grpSpPr>
            <p:grpSp>
              <p:nvGrpSpPr>
                <p:cNvPr id="46" name="组合 15"/>
                <p:cNvGrpSpPr/>
                <p:nvPr/>
              </p:nvGrpSpPr>
              <p:grpSpPr>
                <a:xfrm>
                  <a:off x="6084168" y="2348880"/>
                  <a:ext cx="2432327" cy="1205005"/>
                  <a:chOff x="3059832" y="3212976"/>
                  <a:chExt cx="2432327" cy="1205005"/>
                </a:xfrm>
              </p:grpSpPr>
              <p:grpSp>
                <p:nvGrpSpPr>
                  <p:cNvPr id="51" name="组合 12"/>
                  <p:cNvGrpSpPr/>
                  <p:nvPr/>
                </p:nvGrpSpPr>
                <p:grpSpPr>
                  <a:xfrm>
                    <a:off x="3059832" y="3429003"/>
                    <a:ext cx="720080" cy="792088"/>
                    <a:chOff x="1547664" y="3834569"/>
                    <a:chExt cx="720080" cy="541655"/>
                  </a:xfrm>
                </p:grpSpPr>
                <p:sp>
                  <p:nvSpPr>
                    <p:cNvPr id="54" name="矩形 53"/>
                    <p:cNvSpPr/>
                    <p:nvPr/>
                  </p:nvSpPr>
                  <p:spPr>
                    <a:xfrm>
                      <a:off x="1547664" y="3897951"/>
                      <a:ext cx="648072" cy="34461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800" dirty="0">
                          <a:solidFill>
                            <a:srgbClr val="060606"/>
                          </a:solidFill>
                        </a:rPr>
                        <a:t>s. t</a:t>
                      </a:r>
                      <a:endParaRPr lang="en-US" altLang="zh-CN" sz="2800" dirty="0">
                        <a:solidFill>
                          <a:srgbClr val="060606"/>
                        </a:solidFill>
                      </a:endParaRPr>
                    </a:p>
                  </p:txBody>
                </p:sp>
                <p:sp>
                  <p:nvSpPr>
                    <p:cNvPr id="55" name="左大括号 54"/>
                    <p:cNvSpPr/>
                    <p:nvPr/>
                  </p:nvSpPr>
                  <p:spPr bwMode="auto">
                    <a:xfrm>
                      <a:off x="2051720" y="3834569"/>
                      <a:ext cx="216024" cy="541655"/>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800">
                        <a:latin typeface="Arial" panose="020B0604020202090204" pitchFamily="34" charset="0"/>
                        <a:ea typeface="宋体" panose="02010600030101010101" pitchFamily="2" charset="-122"/>
                      </a:endParaRPr>
                    </a:p>
                  </p:txBody>
                </p:sp>
              </p:grpSp>
              <p:sp>
                <p:nvSpPr>
                  <p:cNvPr id="52" name="矩形 51"/>
                  <p:cNvSpPr/>
                  <p:nvPr/>
                </p:nvSpPr>
                <p:spPr>
                  <a:xfrm>
                    <a:off x="3660087" y="3212976"/>
                    <a:ext cx="1832072" cy="484925"/>
                  </a:xfrm>
                  <a:prstGeom prst="rect">
                    <a:avLst/>
                  </a:prstGeom>
                </p:spPr>
                <p:txBody>
                  <a:bodyPr wrap="square">
                    <a:spAutoFit/>
                  </a:bodyPr>
                  <a:lstStyle/>
                  <a:p>
                    <a:r>
                      <a:rPr lang="en-US" altLang="zh-CN" sz="2800" dirty="0">
                        <a:solidFill>
                          <a:srgbClr val="060606"/>
                        </a:solidFill>
                      </a:rPr>
                      <a:t>       </a:t>
                    </a:r>
                    <a:r>
                      <a:rPr lang="en-US" altLang="zh-CN" sz="2800" b="1" dirty="0" err="1">
                        <a:solidFill>
                          <a:srgbClr val="060606"/>
                        </a:solidFill>
                      </a:rPr>
                      <a:t>p</a:t>
                    </a:r>
                    <a:r>
                      <a:rPr lang="en-US" altLang="zh-CN" sz="2800" baseline="-25000" dirty="0" err="1">
                        <a:solidFill>
                          <a:srgbClr val="060606"/>
                        </a:solidFill>
                      </a:rPr>
                      <a:t>j</a:t>
                    </a:r>
                    <a:r>
                      <a:rPr lang="en-US" altLang="zh-CN" sz="2800" dirty="0" err="1">
                        <a:solidFill>
                          <a:srgbClr val="060606"/>
                        </a:solidFill>
                      </a:rPr>
                      <a:t>x</a:t>
                    </a:r>
                    <a:r>
                      <a:rPr lang="en-US" altLang="zh-CN" sz="2800" baseline="-25000" dirty="0" err="1">
                        <a:solidFill>
                          <a:srgbClr val="060606"/>
                        </a:solidFill>
                      </a:rPr>
                      <a:t>j</a:t>
                    </a:r>
                    <a:r>
                      <a:rPr lang="en-US" altLang="zh-CN" sz="2800" dirty="0" err="1">
                        <a:solidFill>
                          <a:srgbClr val="060606"/>
                        </a:solidFill>
                      </a:rPr>
                      <a:t>≤</a:t>
                    </a:r>
                    <a:r>
                      <a:rPr lang="en-US" altLang="zh-CN" sz="2800" b="1" dirty="0" err="1">
                        <a:solidFill>
                          <a:srgbClr val="060606"/>
                        </a:solidFill>
                      </a:rPr>
                      <a:t>b</a:t>
                    </a:r>
                    <a:endParaRPr lang="zh-CN" altLang="en-US" sz="2800" dirty="0"/>
                  </a:p>
                </p:txBody>
              </p:sp>
              <p:sp>
                <p:nvSpPr>
                  <p:cNvPr id="53" name="矩形 52"/>
                  <p:cNvSpPr/>
                  <p:nvPr/>
                </p:nvSpPr>
                <p:spPr>
                  <a:xfrm>
                    <a:off x="3779912" y="3933056"/>
                    <a:ext cx="1152128" cy="484925"/>
                  </a:xfrm>
                  <a:prstGeom prst="rect">
                    <a:avLst/>
                  </a:prstGeom>
                </p:spPr>
                <p:txBody>
                  <a:bodyPr wrap="square">
                    <a:spAutoFit/>
                  </a:bodyPr>
                  <a:lstStyle/>
                  <a:p>
                    <a:r>
                      <a:rPr lang="en-US" altLang="zh-CN" sz="2800" b="1" dirty="0">
                        <a:solidFill>
                          <a:srgbClr val="060606"/>
                        </a:solidFill>
                      </a:rPr>
                      <a:t>x </a:t>
                    </a:r>
                    <a:r>
                      <a:rPr lang="zh-CN" altLang="en-US" sz="2800" dirty="0">
                        <a:solidFill>
                          <a:srgbClr val="060606"/>
                        </a:solidFill>
                      </a:rPr>
                      <a:t>≥ </a:t>
                    </a:r>
                    <a:r>
                      <a:rPr lang="en-US" altLang="zh-CN" sz="2800" dirty="0">
                        <a:solidFill>
                          <a:srgbClr val="060606"/>
                        </a:solidFill>
                      </a:rPr>
                      <a:t>0</a:t>
                    </a:r>
                    <a:endParaRPr lang="zh-CN" altLang="en-US" sz="2800" dirty="0">
                      <a:solidFill>
                        <a:srgbClr val="060606"/>
                      </a:solidFill>
                    </a:endParaRPr>
                  </a:p>
                </p:txBody>
              </p:sp>
            </p:grpSp>
            <p:grpSp>
              <p:nvGrpSpPr>
                <p:cNvPr id="47" name="组合 32"/>
                <p:cNvGrpSpPr/>
                <p:nvPr/>
              </p:nvGrpSpPr>
              <p:grpSpPr>
                <a:xfrm>
                  <a:off x="6804248" y="2111962"/>
                  <a:ext cx="624672" cy="1072591"/>
                  <a:chOff x="6300192" y="383770"/>
                  <a:chExt cx="624672" cy="1072591"/>
                </a:xfrm>
              </p:grpSpPr>
              <p:sp>
                <p:nvSpPr>
                  <p:cNvPr id="48" name="矩形 47"/>
                  <p:cNvSpPr/>
                  <p:nvPr/>
                </p:nvSpPr>
                <p:spPr>
                  <a:xfrm>
                    <a:off x="6300192" y="971436"/>
                    <a:ext cx="624672" cy="484925"/>
                  </a:xfrm>
                  <a:prstGeom prst="rect">
                    <a:avLst/>
                  </a:prstGeom>
                </p:spPr>
                <p:txBody>
                  <a:bodyPr wrap="none">
                    <a:spAutoFit/>
                  </a:bodyPr>
                  <a:lstStyle/>
                  <a:p>
                    <a:r>
                      <a:rPr lang="en-US" altLang="zh-CN" sz="2800" dirty="0">
                        <a:solidFill>
                          <a:srgbClr val="060606"/>
                        </a:solidFill>
                      </a:rPr>
                      <a:t>j=1</a:t>
                    </a:r>
                    <a:endParaRPr lang="zh-CN" altLang="en-US" sz="2800" dirty="0"/>
                  </a:p>
                </p:txBody>
              </p:sp>
              <p:sp>
                <p:nvSpPr>
                  <p:cNvPr id="49" name="矩形 48"/>
                  <p:cNvSpPr/>
                  <p:nvPr/>
                </p:nvSpPr>
                <p:spPr>
                  <a:xfrm>
                    <a:off x="6376127" y="383770"/>
                    <a:ext cx="344278" cy="484925"/>
                  </a:xfrm>
                  <a:prstGeom prst="rect">
                    <a:avLst/>
                  </a:prstGeom>
                </p:spPr>
                <p:txBody>
                  <a:bodyPr wrap="none">
                    <a:spAutoFit/>
                  </a:bodyPr>
                  <a:lstStyle/>
                  <a:p>
                    <a:r>
                      <a:rPr lang="en-US" altLang="zh-CN" sz="2800" dirty="0">
                        <a:solidFill>
                          <a:srgbClr val="060606"/>
                        </a:solidFill>
                      </a:rPr>
                      <a:t>n</a:t>
                    </a:r>
                    <a:endParaRPr lang="zh-CN" altLang="en-US" sz="2800" dirty="0"/>
                  </a:p>
                </p:txBody>
              </p:sp>
              <p:sp>
                <p:nvSpPr>
                  <p:cNvPr id="50" name="矩形 49"/>
                  <p:cNvSpPr/>
                  <p:nvPr/>
                </p:nvSpPr>
                <p:spPr>
                  <a:xfrm>
                    <a:off x="6302631" y="650721"/>
                    <a:ext cx="490257" cy="484925"/>
                  </a:xfrm>
                  <a:prstGeom prst="rect">
                    <a:avLst/>
                  </a:prstGeom>
                </p:spPr>
                <p:txBody>
                  <a:bodyPr wrap="none">
                    <a:spAutoFit/>
                  </a:bodyPr>
                  <a:lstStyle/>
                  <a:p>
                    <a:r>
                      <a:rPr lang="en-US" altLang="zh-CN" sz="2800" dirty="0">
                        <a:solidFill>
                          <a:srgbClr val="060606"/>
                        </a:solidFill>
                      </a:rPr>
                      <a:t>∑</a:t>
                    </a:r>
                    <a:endParaRPr lang="zh-CN" altLang="en-US" sz="2800" dirty="0"/>
                  </a:p>
                </p:txBody>
              </p:sp>
            </p:grpSp>
          </p:grpSp>
        </p:grpSp>
        <p:sp>
          <p:nvSpPr>
            <p:cNvPr id="2" name="矩形 1"/>
            <p:cNvSpPr/>
            <p:nvPr/>
          </p:nvSpPr>
          <p:spPr>
            <a:xfrm>
              <a:off x="3480047" y="1207363"/>
              <a:ext cx="5130553" cy="43855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右箭头 15"/>
          <p:cNvSpPr/>
          <p:nvPr/>
        </p:nvSpPr>
        <p:spPr bwMode="auto">
          <a:xfrm rot="1471782">
            <a:off x="199572" y="443136"/>
            <a:ext cx="1296144" cy="432048"/>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nvGrpSpPr>
          <p:cNvPr id="6" name="组合 5"/>
          <p:cNvGrpSpPr/>
          <p:nvPr/>
        </p:nvGrpSpPr>
        <p:grpSpPr>
          <a:xfrm>
            <a:off x="1526911" y="843379"/>
            <a:ext cx="8817561" cy="5308846"/>
            <a:chOff x="1526911" y="843379"/>
            <a:chExt cx="8817561" cy="5308846"/>
          </a:xfrm>
        </p:grpSpPr>
        <p:grpSp>
          <p:nvGrpSpPr>
            <p:cNvPr id="2" name="组合 38"/>
            <p:cNvGrpSpPr/>
            <p:nvPr/>
          </p:nvGrpSpPr>
          <p:grpSpPr>
            <a:xfrm>
              <a:off x="1847528" y="1124744"/>
              <a:ext cx="7920880" cy="1991402"/>
              <a:chOff x="3707904" y="1700808"/>
              <a:chExt cx="7920880" cy="1991402"/>
            </a:xfrm>
          </p:grpSpPr>
          <p:sp>
            <p:nvSpPr>
              <p:cNvPr id="20" name="矩形 19"/>
              <p:cNvSpPr/>
              <p:nvPr/>
            </p:nvSpPr>
            <p:spPr>
              <a:xfrm>
                <a:off x="5724128" y="1700808"/>
                <a:ext cx="2736304" cy="479234"/>
              </a:xfrm>
              <a:prstGeom prst="rect">
                <a:avLst/>
              </a:prstGeom>
            </p:spPr>
            <p:txBody>
              <a:bodyPr wrap="square">
                <a:spAutoFit/>
              </a:bodyPr>
              <a:lstStyle/>
              <a:p>
                <a:pPr marL="342900" indent="-342900" algn="ctr" fontAlgn="base">
                  <a:lnSpc>
                    <a:spcPct val="110000"/>
                  </a:lnSpc>
                  <a:spcAft>
                    <a:spcPct val="0"/>
                  </a:spcAft>
                </a:pPr>
                <a:r>
                  <a:rPr lang="en-US" altLang="zh-CN" sz="2400" dirty="0">
                    <a:solidFill>
                      <a:srgbClr val="060606"/>
                    </a:solidFill>
                  </a:rPr>
                  <a:t>min(</a:t>
                </a:r>
                <a:r>
                  <a:rPr lang="zh-CN" altLang="en-US" sz="2400" dirty="0">
                    <a:solidFill>
                      <a:srgbClr val="060606"/>
                    </a:solidFill>
                  </a:rPr>
                  <a:t>或</a:t>
                </a:r>
                <a:r>
                  <a:rPr lang="en-US" altLang="zh-CN" sz="2400" dirty="0">
                    <a:solidFill>
                      <a:srgbClr val="060606"/>
                    </a:solidFill>
                  </a:rPr>
                  <a:t>max) z =</a:t>
                </a:r>
                <a:r>
                  <a:rPr lang="en-US" altLang="zh-CN" sz="2400" b="1" dirty="0" err="1">
                    <a:solidFill>
                      <a:srgbClr val="060606"/>
                    </a:solidFill>
                  </a:rPr>
                  <a:t>cx</a:t>
                </a:r>
                <a:endParaRPr lang="en-US" altLang="zh-CN" sz="2400" b="1" dirty="0">
                  <a:solidFill>
                    <a:srgbClr val="060606"/>
                  </a:solidFill>
                </a:endParaRPr>
              </a:p>
            </p:txBody>
          </p:sp>
          <p:grpSp>
            <p:nvGrpSpPr>
              <p:cNvPr id="3" name="组合 15"/>
              <p:cNvGrpSpPr/>
              <p:nvPr/>
            </p:nvGrpSpPr>
            <p:grpSpPr>
              <a:xfrm>
                <a:off x="6156176" y="2348880"/>
                <a:ext cx="3816424" cy="893713"/>
                <a:chOff x="3131840" y="3212976"/>
                <a:chExt cx="3816424" cy="893713"/>
              </a:xfrm>
            </p:grpSpPr>
            <p:grpSp>
              <p:nvGrpSpPr>
                <p:cNvPr id="4" name="组合 12"/>
                <p:cNvGrpSpPr/>
                <p:nvPr/>
              </p:nvGrpSpPr>
              <p:grpSpPr>
                <a:xfrm>
                  <a:off x="3131840" y="3428987"/>
                  <a:ext cx="648072" cy="504051"/>
                  <a:chOff x="1619672" y="3834569"/>
                  <a:chExt cx="648072" cy="344687"/>
                </a:xfrm>
              </p:grpSpPr>
              <p:sp>
                <p:nvSpPr>
                  <p:cNvPr id="27" name="矩形 26"/>
                  <p:cNvSpPr/>
                  <p:nvPr/>
                </p:nvSpPr>
                <p:spPr>
                  <a:xfrm>
                    <a:off x="1619672" y="3834578"/>
                    <a:ext cx="648072" cy="327716"/>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28" name="左大括号 27"/>
                  <p:cNvSpPr/>
                  <p:nvPr/>
                </p:nvSpPr>
                <p:spPr bwMode="auto">
                  <a:xfrm>
                    <a:off x="2123728" y="3834569"/>
                    <a:ext cx="144016" cy="344687"/>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22" name="矩形 21"/>
                <p:cNvSpPr/>
                <p:nvPr/>
              </p:nvSpPr>
              <p:spPr>
                <a:xfrm>
                  <a:off x="3532016" y="3212976"/>
                  <a:ext cx="3416248" cy="461665"/>
                </a:xfrm>
                <a:prstGeom prst="rect">
                  <a:avLst/>
                </a:prstGeom>
              </p:spPr>
              <p:txBody>
                <a:bodyPr wrap="square">
                  <a:spAutoFit/>
                </a:bodyPr>
                <a:lstStyle/>
                <a:p>
                  <a:pPr lvl="0"/>
                  <a:r>
                    <a:rPr lang="en-US" altLang="zh-CN" sz="2400" dirty="0">
                      <a:solidFill>
                        <a:srgbClr val="060606"/>
                      </a:solidFill>
                    </a:rPr>
                    <a:t>   </a:t>
                  </a:r>
                  <a:r>
                    <a:rPr lang="en-US" altLang="zh-CN" sz="2400" b="1" dirty="0" err="1">
                      <a:solidFill>
                        <a:srgbClr val="060606"/>
                      </a:solidFill>
                    </a:rPr>
                    <a:t>Ax</a:t>
                  </a:r>
                  <a:r>
                    <a:rPr lang="en-US" altLang="zh-CN" sz="2400" dirty="0" err="1">
                      <a:solidFill>
                        <a:srgbClr val="060606"/>
                      </a:solidFill>
                    </a:rPr>
                    <a:t>≤</a:t>
                  </a:r>
                  <a:r>
                    <a:rPr lang="en-US" altLang="zh-CN" sz="2400" b="1" dirty="0" err="1">
                      <a:solidFill>
                        <a:srgbClr val="060606"/>
                      </a:solidFill>
                    </a:rPr>
                    <a:t>b</a:t>
                  </a:r>
                  <a:endParaRPr lang="zh-CN" altLang="en-US" sz="2400" dirty="0"/>
                </a:p>
              </p:txBody>
            </p:sp>
            <p:sp>
              <p:nvSpPr>
                <p:cNvPr id="25" name="矩形 24"/>
                <p:cNvSpPr/>
                <p:nvPr/>
              </p:nvSpPr>
              <p:spPr>
                <a:xfrm>
                  <a:off x="3779912" y="3645024"/>
                  <a:ext cx="1403662" cy="461665"/>
                </a:xfrm>
                <a:prstGeom prst="rect">
                  <a:avLst/>
                </a:prstGeom>
              </p:spPr>
              <p:txBody>
                <a:bodyPr wrap="square">
                  <a:spAutoFit/>
                </a:bodyPr>
                <a:lstStyle/>
                <a:p>
                  <a:r>
                    <a:rPr lang="en-US" altLang="zh-CN" sz="2400" b="1" dirty="0">
                      <a:solidFill>
                        <a:srgbClr val="060606"/>
                      </a:solidFill>
                    </a:rPr>
                    <a:t>x</a:t>
                  </a:r>
                  <a:r>
                    <a:rPr lang="zh-CN" altLang="en-US" sz="2400" dirty="0">
                      <a:solidFill>
                        <a:srgbClr val="060606"/>
                      </a:solidFill>
                    </a:rPr>
                    <a:t>≥</a:t>
                  </a:r>
                  <a:r>
                    <a:rPr lang="en-US" altLang="zh-CN" sz="2400" dirty="0">
                      <a:solidFill>
                        <a:srgbClr val="060606"/>
                      </a:solidFill>
                    </a:rPr>
                    <a:t>0</a:t>
                  </a:r>
                  <a:endParaRPr lang="zh-CN" altLang="en-US" sz="2400" dirty="0">
                    <a:solidFill>
                      <a:srgbClr val="060606"/>
                    </a:solidFill>
                  </a:endParaRPr>
                </a:p>
              </p:txBody>
            </p:sp>
          </p:grpSp>
          <p:sp>
            <p:nvSpPr>
              <p:cNvPr id="38" name="矩形 37"/>
              <p:cNvSpPr/>
              <p:nvPr/>
            </p:nvSpPr>
            <p:spPr>
              <a:xfrm>
                <a:off x="3707904" y="3212976"/>
                <a:ext cx="7920880" cy="479234"/>
              </a:xfrm>
              <a:prstGeom prst="rect">
                <a:avLst/>
              </a:prstGeom>
            </p:spPr>
            <p:txBody>
              <a:bodyPr wrap="square">
                <a:spAutoFit/>
              </a:bodyPr>
              <a:lstStyle/>
              <a:p>
                <a:pPr marL="342900" indent="-342900" algn="ctr" fontAlgn="base">
                  <a:lnSpc>
                    <a:spcPct val="110000"/>
                  </a:lnSpc>
                  <a:spcAft>
                    <a:spcPct val="0"/>
                  </a:spcAft>
                </a:pPr>
                <a:r>
                  <a:rPr lang="zh-CN" altLang="en-US" sz="2400" dirty="0">
                    <a:solidFill>
                      <a:srgbClr val="060606"/>
                    </a:solidFill>
                  </a:rPr>
                  <a:t>其中，</a:t>
                </a:r>
                <a:r>
                  <a:rPr lang="en-US" altLang="zh-CN" sz="2400" b="1" dirty="0">
                    <a:solidFill>
                      <a:srgbClr val="060606"/>
                    </a:solidFill>
                  </a:rPr>
                  <a:t>A</a:t>
                </a:r>
                <a:r>
                  <a:rPr lang="en-US" altLang="zh-CN" sz="2400" dirty="0">
                    <a:solidFill>
                      <a:srgbClr val="060606"/>
                    </a:solidFill>
                  </a:rPr>
                  <a:t> = (</a:t>
                </a:r>
                <a:r>
                  <a:rPr lang="en-US" altLang="zh-CN" sz="2400" dirty="0" err="1">
                    <a:solidFill>
                      <a:srgbClr val="060606"/>
                    </a:solidFill>
                  </a:rPr>
                  <a:t>a</a:t>
                </a:r>
                <a:r>
                  <a:rPr lang="en-US" altLang="zh-CN" sz="2400" baseline="-25000" dirty="0" err="1">
                    <a:solidFill>
                      <a:srgbClr val="060606"/>
                    </a:solidFill>
                  </a:rPr>
                  <a:t>ij</a:t>
                </a:r>
                <a:r>
                  <a:rPr lang="en-US" altLang="zh-CN" sz="2400" dirty="0">
                    <a:solidFill>
                      <a:srgbClr val="060606"/>
                    </a:solidFill>
                  </a:rPr>
                  <a:t>)</a:t>
                </a:r>
                <a:r>
                  <a:rPr lang="en-US" altLang="zh-CN" sz="2400" baseline="-25000" dirty="0" err="1">
                    <a:solidFill>
                      <a:srgbClr val="060606"/>
                    </a:solidFill>
                  </a:rPr>
                  <a:t>m×n</a:t>
                </a:r>
                <a:r>
                  <a:rPr lang="en-US" altLang="zh-CN" sz="2400" dirty="0">
                    <a:solidFill>
                      <a:srgbClr val="060606"/>
                    </a:solidFill>
                  </a:rPr>
                  <a:t>, </a:t>
                </a:r>
                <a:r>
                  <a:rPr lang="zh-CN" altLang="en-US" sz="2400" dirty="0">
                    <a:solidFill>
                      <a:srgbClr val="060606"/>
                    </a:solidFill>
                  </a:rPr>
                  <a:t>被称为约束方程组变量的</a:t>
                </a:r>
                <a:r>
                  <a:rPr lang="zh-CN" altLang="en-US" sz="2400" b="1" u="sng" dirty="0">
                    <a:solidFill>
                      <a:srgbClr val="0000AC"/>
                    </a:solidFill>
                  </a:rPr>
                  <a:t>系数矩阵</a:t>
                </a:r>
                <a:r>
                  <a:rPr lang="zh-CN" altLang="en-US" sz="2400" dirty="0">
                    <a:solidFill>
                      <a:srgbClr val="060606"/>
                    </a:solidFill>
                  </a:rPr>
                  <a:t>。</a:t>
                </a:r>
                <a:endParaRPr lang="en-US" altLang="zh-CN" sz="2400" dirty="0">
                  <a:solidFill>
                    <a:srgbClr val="060606"/>
                  </a:solidFill>
                </a:endParaRPr>
              </a:p>
            </p:txBody>
          </p:sp>
        </p:grpSp>
        <p:grpSp>
          <p:nvGrpSpPr>
            <p:cNvPr id="18" name="组合 17"/>
            <p:cNvGrpSpPr/>
            <p:nvPr/>
          </p:nvGrpSpPr>
          <p:grpSpPr>
            <a:xfrm>
              <a:off x="3071664" y="3501208"/>
              <a:ext cx="5832648" cy="2340000"/>
              <a:chOff x="2123728" y="3645024"/>
              <a:chExt cx="4644008" cy="2340000"/>
            </a:xfrm>
          </p:grpSpPr>
          <p:sp>
            <p:nvSpPr>
              <p:cNvPr id="39" name="矩形 38"/>
              <p:cNvSpPr/>
              <p:nvPr/>
            </p:nvSpPr>
            <p:spPr>
              <a:xfrm>
                <a:off x="2195736" y="3645024"/>
                <a:ext cx="4572000" cy="2308324"/>
              </a:xfrm>
              <a:prstGeom prst="rect">
                <a:avLst/>
              </a:prstGeom>
            </p:spPr>
            <p:txBody>
              <a:bodyPr>
                <a:spAutoFit/>
              </a:bodyPr>
              <a:lstStyle/>
              <a:p>
                <a:pPr algn="ctr">
                  <a:defRPr/>
                </a:pPr>
                <a:r>
                  <a:rPr lang="en-US" altLang="zh-CN" sz="2400" dirty="0">
                    <a:solidFill>
                      <a:srgbClr val="060606"/>
                    </a:solidFill>
                  </a:rPr>
                  <a:t>a</a:t>
                </a:r>
                <a:r>
                  <a:rPr lang="en-US" altLang="zh-CN" sz="2400" baseline="-25000" dirty="0">
                    <a:solidFill>
                      <a:srgbClr val="060606"/>
                    </a:solidFill>
                  </a:rPr>
                  <a:t>11</a:t>
                </a:r>
                <a:r>
                  <a:rPr lang="en-US" altLang="zh-CN" sz="2400" dirty="0">
                    <a:solidFill>
                      <a:srgbClr val="060606"/>
                    </a:solidFill>
                  </a:rPr>
                  <a:t>            a</a:t>
                </a:r>
                <a:r>
                  <a:rPr lang="en-US" altLang="zh-CN" sz="2400" baseline="-25000" dirty="0">
                    <a:solidFill>
                      <a:srgbClr val="060606"/>
                    </a:solidFill>
                  </a:rPr>
                  <a:t>12</a:t>
                </a:r>
                <a:r>
                  <a:rPr lang="en-US" altLang="zh-CN" sz="2400" dirty="0">
                    <a:solidFill>
                      <a:srgbClr val="060606"/>
                    </a:solidFill>
                  </a:rPr>
                  <a:t>           …          a</a:t>
                </a:r>
                <a:r>
                  <a:rPr lang="en-US" altLang="zh-CN" sz="2400" baseline="-25000" dirty="0">
                    <a:solidFill>
                      <a:srgbClr val="060606"/>
                    </a:solidFill>
                  </a:rPr>
                  <a:t>1n</a:t>
                </a:r>
                <a:endParaRPr lang="en-US" altLang="zh-CN" sz="2400" baseline="-25000" dirty="0">
                  <a:solidFill>
                    <a:srgbClr val="060606"/>
                  </a:solidFill>
                </a:endParaRPr>
              </a:p>
              <a:p>
                <a:pPr algn="ctr">
                  <a:defRPr/>
                </a:pPr>
                <a:r>
                  <a:rPr lang="en-US" altLang="zh-CN" sz="2400" dirty="0">
                    <a:solidFill>
                      <a:srgbClr val="060606"/>
                    </a:solidFill>
                  </a:rPr>
                  <a:t>a</a:t>
                </a:r>
                <a:r>
                  <a:rPr lang="en-US" altLang="zh-CN" sz="2400" baseline="-25000" dirty="0">
                    <a:solidFill>
                      <a:srgbClr val="060606"/>
                    </a:solidFill>
                  </a:rPr>
                  <a:t>21</a:t>
                </a:r>
                <a:r>
                  <a:rPr lang="en-US" altLang="zh-CN" sz="2400" dirty="0">
                    <a:solidFill>
                      <a:srgbClr val="060606"/>
                    </a:solidFill>
                  </a:rPr>
                  <a:t>            a</a:t>
                </a:r>
                <a:r>
                  <a:rPr lang="en-US" altLang="zh-CN" sz="2400" baseline="-25000" dirty="0">
                    <a:solidFill>
                      <a:srgbClr val="060606"/>
                    </a:solidFill>
                  </a:rPr>
                  <a:t>22</a:t>
                </a:r>
                <a:r>
                  <a:rPr lang="en-US" altLang="zh-CN" sz="2400" dirty="0">
                    <a:solidFill>
                      <a:srgbClr val="060606"/>
                    </a:solidFill>
                  </a:rPr>
                  <a:t>           …          a</a:t>
                </a:r>
                <a:r>
                  <a:rPr lang="en-US" altLang="zh-CN" sz="2400" baseline="-25000" dirty="0">
                    <a:solidFill>
                      <a:srgbClr val="060606"/>
                    </a:solidFill>
                  </a:rPr>
                  <a:t>2n</a:t>
                </a:r>
                <a:endParaRPr lang="en-US" altLang="zh-CN" sz="2400" baseline="-25000" dirty="0">
                  <a:solidFill>
                    <a:srgbClr val="060606"/>
                  </a:solidFill>
                </a:endParaRPr>
              </a:p>
              <a:p>
                <a:pPr algn="ctr">
                  <a:defRPr/>
                </a:pPr>
                <a:r>
                  <a:rPr lang="en-US" altLang="zh-CN" sz="2400" dirty="0">
                    <a:solidFill>
                      <a:srgbClr val="060606"/>
                    </a:solidFill>
                  </a:rPr>
                  <a:t> .                .              …              .</a:t>
                </a:r>
                <a:endParaRPr lang="en-US" altLang="zh-CN" sz="2400" dirty="0">
                  <a:solidFill>
                    <a:srgbClr val="060606"/>
                  </a:solidFill>
                </a:endParaRPr>
              </a:p>
              <a:p>
                <a:pPr algn="ctr">
                  <a:defRPr/>
                </a:pPr>
                <a:r>
                  <a:rPr lang="en-US" altLang="zh-CN" sz="2400" dirty="0">
                    <a:solidFill>
                      <a:srgbClr val="060606"/>
                    </a:solidFill>
                  </a:rPr>
                  <a:t> .                .              …              .     </a:t>
                </a:r>
                <a:endParaRPr lang="en-US" altLang="zh-CN" sz="2400" dirty="0">
                  <a:solidFill>
                    <a:srgbClr val="060606"/>
                  </a:solidFill>
                </a:endParaRPr>
              </a:p>
              <a:p>
                <a:pPr algn="ctr">
                  <a:defRPr/>
                </a:pPr>
                <a:r>
                  <a:rPr lang="en-US" altLang="zh-CN" sz="2400" dirty="0">
                    <a:solidFill>
                      <a:srgbClr val="060606"/>
                    </a:solidFill>
                  </a:rPr>
                  <a:t> .                .              …              .</a:t>
                </a:r>
                <a:endParaRPr lang="en-US" altLang="zh-CN" sz="2400" dirty="0">
                  <a:solidFill>
                    <a:srgbClr val="060606"/>
                  </a:solidFill>
                </a:endParaRPr>
              </a:p>
              <a:p>
                <a:pPr algn="ctr">
                  <a:defRPr/>
                </a:pPr>
                <a:r>
                  <a:rPr lang="en-US" altLang="zh-CN" sz="2400" dirty="0">
                    <a:solidFill>
                      <a:srgbClr val="060606"/>
                    </a:solidFill>
                  </a:rPr>
                  <a:t>a</a:t>
                </a:r>
                <a:r>
                  <a:rPr lang="en-US" altLang="zh-CN" sz="2400" baseline="-25000" dirty="0">
                    <a:solidFill>
                      <a:srgbClr val="060606"/>
                    </a:solidFill>
                  </a:rPr>
                  <a:t>m1</a:t>
                </a:r>
                <a:r>
                  <a:rPr lang="en-US" altLang="zh-CN" sz="2400" dirty="0">
                    <a:solidFill>
                      <a:srgbClr val="060606"/>
                    </a:solidFill>
                  </a:rPr>
                  <a:t>            a</a:t>
                </a:r>
                <a:r>
                  <a:rPr lang="en-US" altLang="zh-CN" sz="2400" baseline="-25000" dirty="0">
                    <a:solidFill>
                      <a:srgbClr val="060606"/>
                    </a:solidFill>
                  </a:rPr>
                  <a:t>m2</a:t>
                </a:r>
                <a:r>
                  <a:rPr lang="en-US" altLang="zh-CN" sz="2400" dirty="0">
                    <a:solidFill>
                      <a:srgbClr val="060606"/>
                    </a:solidFill>
                  </a:rPr>
                  <a:t>           …          </a:t>
                </a:r>
                <a:r>
                  <a:rPr lang="en-US" altLang="zh-CN" sz="2400" dirty="0" err="1">
                    <a:solidFill>
                      <a:srgbClr val="060606"/>
                    </a:solidFill>
                  </a:rPr>
                  <a:t>a</a:t>
                </a:r>
                <a:r>
                  <a:rPr lang="en-US" altLang="zh-CN" sz="2400" baseline="-25000" dirty="0" err="1">
                    <a:solidFill>
                      <a:srgbClr val="060606"/>
                    </a:solidFill>
                  </a:rPr>
                  <a:t>mn</a:t>
                </a:r>
                <a:endParaRPr lang="zh-CN" altLang="en-US" sz="2400" dirty="0">
                  <a:solidFill>
                    <a:srgbClr val="060606"/>
                  </a:solidFill>
                </a:endParaRPr>
              </a:p>
            </p:txBody>
          </p:sp>
          <p:sp>
            <p:nvSpPr>
              <p:cNvPr id="40" name="左中括号 39"/>
              <p:cNvSpPr/>
              <p:nvPr/>
            </p:nvSpPr>
            <p:spPr bwMode="auto">
              <a:xfrm>
                <a:off x="2725047" y="3645024"/>
                <a:ext cx="144016" cy="2340000"/>
              </a:xfrm>
              <a:prstGeom prst="leftBracket">
                <a:avLst/>
              </a:prstGeom>
              <a:noFill/>
              <a:ln w="1905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41" name="右中括号 40"/>
              <p:cNvSpPr/>
              <p:nvPr/>
            </p:nvSpPr>
            <p:spPr bwMode="auto">
              <a:xfrm>
                <a:off x="6137068" y="3645024"/>
                <a:ext cx="144016" cy="2340000"/>
              </a:xfrm>
              <a:prstGeom prst="rightBracket">
                <a:avLst/>
              </a:prstGeom>
              <a:noFill/>
              <a:ln w="1905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42" name="矩形 41"/>
              <p:cNvSpPr/>
              <p:nvPr/>
            </p:nvSpPr>
            <p:spPr>
              <a:xfrm>
                <a:off x="2123728" y="4221088"/>
                <a:ext cx="677984" cy="461665"/>
              </a:xfrm>
              <a:prstGeom prst="rect">
                <a:avLst/>
              </a:prstGeom>
            </p:spPr>
            <p:txBody>
              <a:bodyPr wrap="none">
                <a:spAutoFit/>
              </a:bodyPr>
              <a:lstStyle/>
              <a:p>
                <a:r>
                  <a:rPr lang="en-US" altLang="zh-CN" sz="2400" b="1" dirty="0">
                    <a:solidFill>
                      <a:srgbClr val="060606"/>
                    </a:solidFill>
                  </a:rPr>
                  <a:t>A</a:t>
                </a:r>
                <a:r>
                  <a:rPr lang="en-US" altLang="zh-CN" sz="2400" dirty="0">
                    <a:solidFill>
                      <a:srgbClr val="060606"/>
                    </a:solidFill>
                  </a:rPr>
                  <a:t>  = </a:t>
                </a:r>
                <a:endParaRPr lang="zh-CN" altLang="en-US" sz="2400" dirty="0"/>
              </a:p>
            </p:txBody>
          </p:sp>
        </p:grpSp>
        <p:sp>
          <p:nvSpPr>
            <p:cNvPr id="5" name="矩形 4"/>
            <p:cNvSpPr/>
            <p:nvPr/>
          </p:nvSpPr>
          <p:spPr>
            <a:xfrm>
              <a:off x="1526911" y="843379"/>
              <a:ext cx="8817561" cy="53088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文本框 20"/>
          <p:cNvSpPr txBox="1"/>
          <p:nvPr/>
        </p:nvSpPr>
        <p:spPr>
          <a:xfrm>
            <a:off x="4529126" y="117921"/>
            <a:ext cx="2813131" cy="584775"/>
          </a:xfrm>
          <a:prstGeom prst="rect">
            <a:avLst/>
          </a:prstGeom>
          <a:noFill/>
        </p:spPr>
        <p:txBody>
          <a:bodyPr wrap="square" rtlCol="0">
            <a:spAutoFit/>
          </a:bodyPr>
          <a:lstStyle/>
          <a:p>
            <a:pPr algn="ctr"/>
            <a:r>
              <a:rPr lang="zh-CN" altLang="en-US" sz="3200" dirty="0"/>
              <a:t>矩阵形式</a:t>
            </a:r>
            <a:endParaRPr lang="zh-CN" altLang="en-US" sz="3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6330" y="260648"/>
            <a:ext cx="11407806" cy="688141"/>
          </a:xfrm>
        </p:spPr>
        <p:txBody>
          <a:bodyPr/>
          <a:lstStyle/>
          <a:p>
            <a:pPr lvl="0">
              <a:buNone/>
            </a:pPr>
            <a:r>
              <a:rPr lang="zh-CN" altLang="en-US" sz="3200" dirty="0">
                <a:solidFill>
                  <a:srgbClr val="060606"/>
                </a:solidFill>
              </a:rPr>
              <a:t>练习</a:t>
            </a:r>
            <a:r>
              <a:rPr lang="en-US" altLang="zh-CN" sz="3200" dirty="0">
                <a:solidFill>
                  <a:srgbClr val="060606"/>
                </a:solidFill>
              </a:rPr>
              <a:t>28</a:t>
            </a:r>
            <a:r>
              <a:rPr lang="zh-CN" altLang="en-US" sz="3200" dirty="0">
                <a:solidFill>
                  <a:srgbClr val="060606"/>
                </a:solidFill>
              </a:rPr>
              <a:t>：写出下列数学模型的</a:t>
            </a:r>
            <a:r>
              <a:rPr lang="zh-CN" altLang="en-US" sz="3200" dirty="0"/>
              <a:t>简化形式、向量形式、矩阵形式</a:t>
            </a:r>
            <a:r>
              <a:rPr lang="zh-CN" altLang="en-US" sz="3200" dirty="0">
                <a:solidFill>
                  <a:srgbClr val="060606"/>
                </a:solidFill>
              </a:rPr>
              <a:t>：</a:t>
            </a:r>
            <a:endParaRPr lang="en-US" altLang="zh-CN" sz="3200" dirty="0">
              <a:solidFill>
                <a:srgbClr val="060606"/>
              </a:solidFill>
            </a:endParaRPr>
          </a:p>
        </p:txBody>
      </p:sp>
      <p:grpSp>
        <p:nvGrpSpPr>
          <p:cNvPr id="2" name="组合 1"/>
          <p:cNvGrpSpPr/>
          <p:nvPr/>
        </p:nvGrpSpPr>
        <p:grpSpPr>
          <a:xfrm>
            <a:off x="2176003" y="1340769"/>
            <a:ext cx="8308524" cy="4513857"/>
            <a:chOff x="2495600" y="1340769"/>
            <a:chExt cx="8308524" cy="4513857"/>
          </a:xfrm>
        </p:grpSpPr>
        <p:sp>
          <p:nvSpPr>
            <p:cNvPr id="15" name="矩形 14"/>
            <p:cNvSpPr/>
            <p:nvPr/>
          </p:nvSpPr>
          <p:spPr>
            <a:xfrm>
              <a:off x="2495600" y="1340769"/>
              <a:ext cx="7848872" cy="584775"/>
            </a:xfrm>
            <a:prstGeom prst="rect">
              <a:avLst/>
            </a:prstGeom>
          </p:spPr>
          <p:txBody>
            <a:bodyPr wrap="square">
              <a:spAutoFit/>
            </a:bodyPr>
            <a:lstStyle/>
            <a:p>
              <a:r>
                <a:rPr lang="en-US" altLang="zh-CN" sz="3200" dirty="0"/>
                <a:t>max   Z = 26x</a:t>
              </a:r>
              <a:r>
                <a:rPr lang="en-US" altLang="zh-CN" sz="3200" baseline="-25000" dirty="0"/>
                <a:t>1</a:t>
              </a:r>
              <a:r>
                <a:rPr lang="en-US" altLang="zh-CN" sz="3200" dirty="0"/>
                <a:t>+35x</a:t>
              </a:r>
              <a:r>
                <a:rPr lang="en-US" altLang="zh-CN" sz="3200" baseline="-25000" dirty="0"/>
                <a:t>2</a:t>
              </a:r>
              <a:r>
                <a:rPr lang="en-US" altLang="zh-CN" sz="3200" dirty="0"/>
                <a:t>+25x</a:t>
              </a:r>
              <a:r>
                <a:rPr lang="en-US" altLang="zh-CN" sz="3200" baseline="-25000" dirty="0"/>
                <a:t>3</a:t>
              </a:r>
              <a:r>
                <a:rPr lang="en-US" altLang="zh-CN" sz="3200" dirty="0"/>
                <a:t>+37x</a:t>
              </a:r>
              <a:r>
                <a:rPr lang="en-US" altLang="zh-CN" sz="3200" baseline="-25000" dirty="0"/>
                <a:t>4</a:t>
              </a:r>
              <a:endParaRPr lang="zh-CN" altLang="en-US" sz="3200" dirty="0"/>
            </a:p>
          </p:txBody>
        </p:sp>
        <p:sp>
          <p:nvSpPr>
            <p:cNvPr id="18" name="矩形 17"/>
            <p:cNvSpPr/>
            <p:nvPr/>
          </p:nvSpPr>
          <p:spPr>
            <a:xfrm>
              <a:off x="4223792" y="2276872"/>
              <a:ext cx="6580332" cy="584775"/>
            </a:xfrm>
            <a:prstGeom prst="rect">
              <a:avLst/>
            </a:prstGeom>
          </p:spPr>
          <p:txBody>
            <a:bodyPr wrap="square">
              <a:spAutoFit/>
            </a:bodyPr>
            <a:lstStyle/>
            <a:p>
              <a:r>
                <a:rPr lang="en-US" altLang="zh-CN" sz="3200" dirty="0"/>
                <a:t>1.7x</a:t>
              </a:r>
              <a:r>
                <a:rPr lang="en-US" altLang="zh-CN" sz="3200" baseline="-25000" dirty="0"/>
                <a:t>1</a:t>
              </a:r>
              <a:r>
                <a:rPr lang="en-US" altLang="zh-CN" sz="3200" dirty="0"/>
                <a:t>+2.1x</a:t>
              </a:r>
              <a:r>
                <a:rPr lang="en-US" altLang="zh-CN" sz="3200" baseline="-25000" dirty="0"/>
                <a:t>2</a:t>
              </a:r>
              <a:r>
                <a:rPr lang="en-US" altLang="zh-CN" sz="3200" dirty="0"/>
                <a:t>+1.4x</a:t>
              </a:r>
              <a:r>
                <a:rPr lang="en-US" altLang="zh-CN" sz="3200" baseline="-25000" dirty="0"/>
                <a:t>3</a:t>
              </a:r>
              <a:r>
                <a:rPr lang="en-US" altLang="zh-CN" sz="3200" dirty="0"/>
                <a:t>+2.4x</a:t>
              </a:r>
              <a:r>
                <a:rPr lang="en-US" altLang="zh-CN" sz="3200" baseline="-25000" dirty="0"/>
                <a:t>14 </a:t>
              </a:r>
              <a:r>
                <a:rPr lang="en-US" altLang="zh-CN" sz="3200" dirty="0"/>
                <a:t>≤ 28</a:t>
              </a:r>
              <a:endParaRPr lang="zh-CN" altLang="en-US" sz="3200" dirty="0"/>
            </a:p>
          </p:txBody>
        </p:sp>
        <p:sp>
          <p:nvSpPr>
            <p:cNvPr id="24" name="矩形 23"/>
            <p:cNvSpPr/>
            <p:nvPr/>
          </p:nvSpPr>
          <p:spPr>
            <a:xfrm>
              <a:off x="4223792" y="5269851"/>
              <a:ext cx="5184576" cy="584775"/>
            </a:xfrm>
            <a:prstGeom prst="rect">
              <a:avLst/>
            </a:prstGeom>
          </p:spPr>
          <p:txBody>
            <a:bodyPr wrap="square">
              <a:spAutoFit/>
            </a:bodyPr>
            <a:lstStyle/>
            <a:p>
              <a:r>
                <a:rPr lang="en-US" altLang="zh-CN" sz="3200" dirty="0"/>
                <a:t>x</a:t>
              </a:r>
              <a:r>
                <a:rPr lang="en-US" altLang="zh-CN" sz="3200" baseline="-25000" dirty="0"/>
                <a:t>i</a:t>
              </a:r>
              <a:r>
                <a:rPr lang="en-US" altLang="zh-CN" sz="3200" dirty="0"/>
                <a:t>≥0(</a:t>
              </a:r>
              <a:r>
                <a:rPr lang="en-US" altLang="zh-CN" sz="3200" dirty="0" err="1"/>
                <a:t>i</a:t>
              </a:r>
              <a:r>
                <a:rPr lang="en-US" altLang="zh-CN" sz="3200" dirty="0"/>
                <a:t>= 1,2,3,4)</a:t>
              </a:r>
              <a:endParaRPr lang="zh-CN" altLang="en-US" sz="3200" dirty="0"/>
            </a:p>
          </p:txBody>
        </p:sp>
        <p:sp>
          <p:nvSpPr>
            <p:cNvPr id="25" name="左大括号 24"/>
            <p:cNvSpPr/>
            <p:nvPr/>
          </p:nvSpPr>
          <p:spPr bwMode="auto">
            <a:xfrm>
              <a:off x="3431704" y="2564904"/>
              <a:ext cx="576064" cy="2952328"/>
            </a:xfrm>
            <a:prstGeom prst="leftBrace">
              <a:avLst>
                <a:gd name="adj1" fmla="val 78881"/>
                <a:gd name="adj2" fmla="val 50000"/>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3200">
                <a:latin typeface="Arial" panose="020B0604020202090204" pitchFamily="34" charset="0"/>
                <a:ea typeface="宋体" panose="02010600030101010101" pitchFamily="2" charset="-122"/>
              </a:endParaRPr>
            </a:p>
          </p:txBody>
        </p:sp>
        <p:sp>
          <p:nvSpPr>
            <p:cNvPr id="26" name="TextBox 25"/>
            <p:cNvSpPr txBox="1"/>
            <p:nvPr/>
          </p:nvSpPr>
          <p:spPr>
            <a:xfrm>
              <a:off x="2495600" y="3717033"/>
              <a:ext cx="936104" cy="584775"/>
            </a:xfrm>
            <a:prstGeom prst="rect">
              <a:avLst/>
            </a:prstGeom>
            <a:noFill/>
          </p:spPr>
          <p:txBody>
            <a:bodyPr wrap="square" rtlCol="0">
              <a:spAutoFit/>
            </a:bodyPr>
            <a:lstStyle/>
            <a:p>
              <a:r>
                <a:rPr lang="en-US" altLang="zh-CN" sz="3200"/>
                <a:t>s.t</a:t>
              </a:r>
              <a:r>
                <a:rPr lang="en-US" altLang="zh-CN" sz="3200" dirty="0"/>
                <a:t>.</a:t>
              </a:r>
              <a:endParaRPr lang="zh-CN" altLang="en-US" sz="3200" dirty="0"/>
            </a:p>
          </p:txBody>
        </p:sp>
        <p:sp>
          <p:nvSpPr>
            <p:cNvPr id="16" name="矩形 15"/>
            <p:cNvSpPr/>
            <p:nvPr/>
          </p:nvSpPr>
          <p:spPr>
            <a:xfrm>
              <a:off x="4223792" y="3356992"/>
              <a:ext cx="6367268" cy="584775"/>
            </a:xfrm>
            <a:prstGeom prst="rect">
              <a:avLst/>
            </a:prstGeom>
          </p:spPr>
          <p:txBody>
            <a:bodyPr wrap="square">
              <a:spAutoFit/>
            </a:bodyPr>
            <a:lstStyle/>
            <a:p>
              <a:r>
                <a:rPr lang="en-US" altLang="zh-CN" sz="3200" dirty="0"/>
                <a:t>1.1x</a:t>
              </a:r>
              <a:r>
                <a:rPr lang="en-US" altLang="zh-CN" sz="3200" baseline="-25000" dirty="0"/>
                <a:t>1</a:t>
              </a:r>
              <a:r>
                <a:rPr lang="en-US" altLang="zh-CN" sz="3200" dirty="0"/>
                <a:t>+2.5x</a:t>
              </a:r>
              <a:r>
                <a:rPr lang="en-US" altLang="zh-CN" sz="3200" baseline="-25000" dirty="0"/>
                <a:t>2</a:t>
              </a:r>
              <a:r>
                <a:rPr lang="en-US" altLang="zh-CN" sz="3200" dirty="0"/>
                <a:t>+1.7x</a:t>
              </a:r>
              <a:r>
                <a:rPr lang="en-US" altLang="zh-CN" sz="3200" baseline="-25000" dirty="0"/>
                <a:t>3</a:t>
              </a:r>
              <a:r>
                <a:rPr lang="en-US" altLang="zh-CN" sz="3200" dirty="0"/>
                <a:t>+2.6x</a:t>
              </a:r>
              <a:r>
                <a:rPr lang="en-US" altLang="zh-CN" sz="3200" baseline="-25000" dirty="0"/>
                <a:t>14 </a:t>
              </a:r>
              <a:r>
                <a:rPr lang="en-US" altLang="zh-CN" sz="3200" dirty="0"/>
                <a:t>≤ 34</a:t>
              </a:r>
              <a:endParaRPr lang="zh-CN" altLang="en-US" sz="3200" dirty="0"/>
            </a:p>
          </p:txBody>
        </p:sp>
        <p:sp>
          <p:nvSpPr>
            <p:cNvPr id="17" name="矩形 16"/>
            <p:cNvSpPr/>
            <p:nvPr/>
          </p:nvSpPr>
          <p:spPr>
            <a:xfrm>
              <a:off x="4151783" y="4293096"/>
              <a:ext cx="5933249" cy="584775"/>
            </a:xfrm>
            <a:prstGeom prst="rect">
              <a:avLst/>
            </a:prstGeom>
          </p:spPr>
          <p:txBody>
            <a:bodyPr wrap="square">
              <a:spAutoFit/>
            </a:bodyPr>
            <a:lstStyle/>
            <a:p>
              <a:r>
                <a:rPr lang="en-US" altLang="zh-CN" sz="3200" dirty="0"/>
                <a:t>1.6x</a:t>
              </a:r>
              <a:r>
                <a:rPr lang="en-US" altLang="zh-CN" sz="3200" baseline="-25000" dirty="0"/>
                <a:t>1</a:t>
              </a:r>
              <a:r>
                <a:rPr lang="en-US" altLang="zh-CN" sz="3200" dirty="0"/>
                <a:t>+1.3x</a:t>
              </a:r>
              <a:r>
                <a:rPr lang="en-US" altLang="zh-CN" sz="3200" baseline="-25000" dirty="0"/>
                <a:t>2</a:t>
              </a:r>
              <a:r>
                <a:rPr lang="en-US" altLang="zh-CN" sz="3200" dirty="0"/>
                <a:t>+1.6x</a:t>
              </a:r>
              <a:r>
                <a:rPr lang="en-US" altLang="zh-CN" sz="3200" baseline="-25000" dirty="0"/>
                <a:t>3</a:t>
              </a:r>
              <a:r>
                <a:rPr lang="en-US" altLang="zh-CN" sz="3200" dirty="0"/>
                <a:t>+0.8x</a:t>
              </a:r>
              <a:r>
                <a:rPr lang="en-US" altLang="zh-CN" sz="3200" baseline="-25000" dirty="0"/>
                <a:t>14 </a:t>
              </a:r>
              <a:r>
                <a:rPr lang="en-US" altLang="zh-CN" sz="3200" dirty="0"/>
                <a:t>≤ 21</a:t>
              </a:r>
              <a:endParaRPr lang="zh-CN" altLang="en-US" sz="3200" dirty="0"/>
            </a:p>
          </p:txBody>
        </p:sp>
      </p:grpSp>
      <p:sp>
        <p:nvSpPr>
          <p:cNvPr id="4" name="矩形: 折角 3"/>
          <p:cNvSpPr/>
          <p:nvPr/>
        </p:nvSpPr>
        <p:spPr>
          <a:xfrm flipV="1">
            <a:off x="417250" y="1162972"/>
            <a:ext cx="11114843" cy="4838332"/>
          </a:xfrm>
          <a:prstGeom prst="foldedCorner">
            <a:avLst>
              <a:gd name="adj" fmla="val 1240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66656" y="1393794"/>
            <a:ext cx="8362765" cy="2123658"/>
          </a:xfrm>
          <a:prstGeom prst="rect">
            <a:avLst/>
          </a:prstGeom>
          <a:noFill/>
        </p:spPr>
        <p:txBody>
          <a:bodyPr wrap="square" rtlCol="0">
            <a:spAutoFit/>
          </a:bodyPr>
          <a:lstStyle/>
          <a:p>
            <a:pPr algn="ctr"/>
            <a:r>
              <a:rPr lang="zh-CN" altLang="en-US" sz="4400" dirty="0">
                <a:latin typeface="楷体" panose="02010609060101010101" pitchFamily="49" charset="-122"/>
                <a:ea typeface="楷体" panose="02010609060101010101" pitchFamily="49" charset="-122"/>
              </a:rPr>
              <a:t>那么什么是标准形式？</a:t>
            </a:r>
            <a:endParaRPr lang="en-US" altLang="zh-CN" sz="4400" dirty="0">
              <a:latin typeface="楷体" panose="02010609060101010101" pitchFamily="49" charset="-122"/>
              <a:ea typeface="楷体" panose="02010609060101010101" pitchFamily="49" charset="-122"/>
            </a:endParaRPr>
          </a:p>
          <a:p>
            <a:pPr algn="ctr"/>
            <a:r>
              <a:rPr lang="en-US" altLang="zh-CN" sz="4400" dirty="0">
                <a:latin typeface="楷体" panose="02010609060101010101" pitchFamily="49" charset="-122"/>
                <a:ea typeface="楷体" panose="02010609060101010101" pitchFamily="49" charset="-122"/>
              </a:rPr>
              <a:t>[</a:t>
            </a:r>
            <a:r>
              <a:rPr lang="zh-CN" altLang="en-US" sz="4400" dirty="0">
                <a:latin typeface="楷体" panose="02010609060101010101" pitchFamily="49" charset="-122"/>
                <a:ea typeface="楷体" panose="02010609060101010101" pitchFamily="49" charset="-122"/>
              </a:rPr>
              <a:t>为讨论和制定统一的算法而规定的标准形式</a:t>
            </a:r>
            <a:r>
              <a:rPr lang="en-US" altLang="zh-CN" sz="4400" dirty="0">
                <a:latin typeface="楷体" panose="02010609060101010101" pitchFamily="49" charset="-122"/>
                <a:ea typeface="楷体" panose="02010609060101010101" pitchFamily="49" charset="-122"/>
              </a:rPr>
              <a:t>]</a:t>
            </a:r>
            <a:endParaRPr lang="zh-CN" altLang="en-US" sz="4400" dirty="0">
              <a:latin typeface="楷体" panose="02010609060101010101" pitchFamily="49" charset="-122"/>
              <a:ea typeface="楷体" panose="02010609060101010101" pitchFamily="49" charset="-122"/>
            </a:endParaRPr>
          </a:p>
        </p:txBody>
      </p:sp>
      <p:sp>
        <p:nvSpPr>
          <p:cNvPr id="3" name="箭头: 下 2"/>
          <p:cNvSpPr/>
          <p:nvPr/>
        </p:nvSpPr>
        <p:spPr>
          <a:xfrm>
            <a:off x="5314765" y="3658732"/>
            <a:ext cx="1562470" cy="47939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1847528" y="188641"/>
            <a:ext cx="9061336" cy="1973833"/>
            <a:chOff x="5724128" y="1556792"/>
            <a:chExt cx="9061336" cy="1973833"/>
          </a:xfrm>
        </p:grpSpPr>
        <p:grpSp>
          <p:nvGrpSpPr>
            <p:cNvPr id="39" name="组合 37"/>
            <p:cNvGrpSpPr/>
            <p:nvPr/>
          </p:nvGrpSpPr>
          <p:grpSpPr>
            <a:xfrm>
              <a:off x="5724128" y="1556792"/>
              <a:ext cx="3240360" cy="864096"/>
              <a:chOff x="6732240" y="548680"/>
              <a:chExt cx="3240360" cy="864096"/>
            </a:xfrm>
          </p:grpSpPr>
          <p:sp>
            <p:nvSpPr>
              <p:cNvPr id="51" name="矩形 50"/>
              <p:cNvSpPr/>
              <p:nvPr/>
            </p:nvSpPr>
            <p:spPr>
              <a:xfrm>
                <a:off x="6732240" y="692696"/>
                <a:ext cx="3240360" cy="479234"/>
              </a:xfrm>
              <a:prstGeom prst="rect">
                <a:avLst/>
              </a:prstGeom>
            </p:spPr>
            <p:txBody>
              <a:bodyPr wrap="square">
                <a:spAutoFit/>
              </a:bodyPr>
              <a:lstStyle/>
              <a:p>
                <a:pPr marL="342900" indent="-342900" algn="ctr" fontAlgn="base">
                  <a:lnSpc>
                    <a:spcPct val="110000"/>
                  </a:lnSpc>
                  <a:spcAft>
                    <a:spcPct val="0"/>
                  </a:spcAft>
                </a:pPr>
                <a:r>
                  <a:rPr lang="en-US" altLang="zh-CN" sz="2400" dirty="0">
                    <a:solidFill>
                      <a:srgbClr val="060606"/>
                    </a:solidFill>
                  </a:rPr>
                  <a:t>min(</a:t>
                </a:r>
                <a:r>
                  <a:rPr lang="zh-CN" altLang="en-US" sz="2400" dirty="0">
                    <a:solidFill>
                      <a:srgbClr val="060606"/>
                    </a:solidFill>
                  </a:rPr>
                  <a:t>或</a:t>
                </a:r>
                <a:r>
                  <a:rPr lang="en-US" altLang="zh-CN" sz="2400" dirty="0">
                    <a:solidFill>
                      <a:srgbClr val="060606"/>
                    </a:solidFill>
                  </a:rPr>
                  <a:t>max) z =    c</a:t>
                </a:r>
                <a:r>
                  <a:rPr lang="en-US" altLang="zh-CN" sz="2400" baseline="-25000" dirty="0">
                    <a:solidFill>
                      <a:srgbClr val="060606"/>
                    </a:solidFill>
                  </a:rPr>
                  <a:t>j</a:t>
                </a:r>
                <a:r>
                  <a:rPr lang="en-US" altLang="zh-CN" sz="2400" dirty="0">
                    <a:solidFill>
                      <a:srgbClr val="060606"/>
                    </a:solidFill>
                  </a:rPr>
                  <a:t>x</a:t>
                </a:r>
                <a:r>
                  <a:rPr lang="en-US" altLang="zh-CN" sz="2400" baseline="-25000" dirty="0">
                    <a:solidFill>
                      <a:srgbClr val="060606"/>
                    </a:solidFill>
                  </a:rPr>
                  <a:t>j</a:t>
                </a:r>
                <a:endParaRPr lang="en-US" altLang="zh-CN" sz="2400" dirty="0">
                  <a:solidFill>
                    <a:srgbClr val="060606"/>
                  </a:solidFill>
                </a:endParaRPr>
              </a:p>
            </p:txBody>
          </p:sp>
          <p:grpSp>
            <p:nvGrpSpPr>
              <p:cNvPr id="52" name="组合 31"/>
              <p:cNvGrpSpPr/>
              <p:nvPr/>
            </p:nvGrpSpPr>
            <p:grpSpPr>
              <a:xfrm>
                <a:off x="8964488" y="548680"/>
                <a:ext cx="526900" cy="864096"/>
                <a:chOff x="6300192" y="476672"/>
                <a:chExt cx="526900" cy="864096"/>
              </a:xfrm>
            </p:grpSpPr>
            <p:sp>
              <p:nvSpPr>
                <p:cNvPr id="53" name="矩形 52"/>
                <p:cNvSpPr/>
                <p:nvPr/>
              </p:nvSpPr>
              <p:spPr>
                <a:xfrm>
                  <a:off x="6300192" y="971436"/>
                  <a:ext cx="511679" cy="369332"/>
                </a:xfrm>
                <a:prstGeom prst="rect">
                  <a:avLst/>
                </a:prstGeom>
              </p:spPr>
              <p:txBody>
                <a:bodyPr wrap="none">
                  <a:spAutoFit/>
                </a:bodyPr>
                <a:lstStyle/>
                <a:p>
                  <a:r>
                    <a:rPr lang="en-US" altLang="zh-CN" dirty="0">
                      <a:solidFill>
                        <a:srgbClr val="060606"/>
                      </a:solidFill>
                    </a:rPr>
                    <a:t>j=1</a:t>
                  </a:r>
                  <a:endParaRPr lang="zh-CN" altLang="en-US" dirty="0"/>
                </a:p>
              </p:txBody>
            </p:sp>
            <p:sp>
              <p:nvSpPr>
                <p:cNvPr id="54" name="矩形 53"/>
                <p:cNvSpPr/>
                <p:nvPr/>
              </p:nvSpPr>
              <p:spPr>
                <a:xfrm>
                  <a:off x="6353738" y="476672"/>
                  <a:ext cx="311304" cy="369332"/>
                </a:xfrm>
                <a:prstGeom prst="rect">
                  <a:avLst/>
                </a:prstGeom>
              </p:spPr>
              <p:txBody>
                <a:bodyPr wrap="none">
                  <a:spAutoFit/>
                </a:bodyPr>
                <a:lstStyle/>
                <a:p>
                  <a:r>
                    <a:rPr lang="en-US" altLang="zh-CN" dirty="0">
                      <a:solidFill>
                        <a:srgbClr val="060606"/>
                      </a:solidFill>
                    </a:rPr>
                    <a:t>n</a:t>
                  </a:r>
                  <a:endParaRPr lang="zh-CN" altLang="en-US" dirty="0"/>
                </a:p>
              </p:txBody>
            </p:sp>
            <p:sp>
              <p:nvSpPr>
                <p:cNvPr id="55" name="矩形 54"/>
                <p:cNvSpPr/>
                <p:nvPr/>
              </p:nvSpPr>
              <p:spPr>
                <a:xfrm>
                  <a:off x="6334649" y="656580"/>
                  <a:ext cx="492443" cy="461665"/>
                </a:xfrm>
                <a:prstGeom prst="rect">
                  <a:avLst/>
                </a:prstGeom>
              </p:spPr>
              <p:txBody>
                <a:bodyPr wrap="none">
                  <a:spAutoFit/>
                </a:bodyPr>
                <a:lstStyle/>
                <a:p>
                  <a:r>
                    <a:rPr lang="en-US" altLang="zh-CN" sz="2400" dirty="0">
                      <a:solidFill>
                        <a:srgbClr val="060606"/>
                      </a:solidFill>
                    </a:rPr>
                    <a:t>∑</a:t>
                  </a:r>
                  <a:endParaRPr lang="zh-CN" altLang="en-US" dirty="0"/>
                </a:p>
              </p:txBody>
            </p:sp>
          </p:grpSp>
        </p:grpSp>
        <p:grpSp>
          <p:nvGrpSpPr>
            <p:cNvPr id="40" name="组合 36"/>
            <p:cNvGrpSpPr/>
            <p:nvPr/>
          </p:nvGrpSpPr>
          <p:grpSpPr>
            <a:xfrm>
              <a:off x="5933247" y="2204864"/>
              <a:ext cx="8852217" cy="1325761"/>
              <a:chOff x="5933247" y="2204864"/>
              <a:chExt cx="8852217" cy="1325761"/>
            </a:xfrm>
          </p:grpSpPr>
          <p:grpSp>
            <p:nvGrpSpPr>
              <p:cNvPr id="41" name="组合 15"/>
              <p:cNvGrpSpPr/>
              <p:nvPr/>
            </p:nvGrpSpPr>
            <p:grpSpPr>
              <a:xfrm>
                <a:off x="5933247" y="2348880"/>
                <a:ext cx="8852217" cy="1181745"/>
                <a:chOff x="2908911" y="3212976"/>
                <a:chExt cx="8852217" cy="1181745"/>
              </a:xfrm>
            </p:grpSpPr>
            <p:grpSp>
              <p:nvGrpSpPr>
                <p:cNvPr id="46" name="组合 12"/>
                <p:cNvGrpSpPr/>
                <p:nvPr/>
              </p:nvGrpSpPr>
              <p:grpSpPr>
                <a:xfrm>
                  <a:off x="2908911" y="3429003"/>
                  <a:ext cx="871001" cy="792088"/>
                  <a:chOff x="1396743" y="3834569"/>
                  <a:chExt cx="871001" cy="541655"/>
                </a:xfrm>
              </p:grpSpPr>
              <p:sp>
                <p:nvSpPr>
                  <p:cNvPr id="49" name="矩形 48"/>
                  <p:cNvSpPr/>
                  <p:nvPr/>
                </p:nvSpPr>
                <p:spPr>
                  <a:xfrm>
                    <a:off x="1396743" y="3897951"/>
                    <a:ext cx="648072" cy="327715"/>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50" name="左大括号 49"/>
                  <p:cNvSpPr/>
                  <p:nvPr/>
                </p:nvSpPr>
                <p:spPr bwMode="auto">
                  <a:xfrm>
                    <a:off x="2051720" y="3834569"/>
                    <a:ext cx="216024" cy="541655"/>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47" name="矩形 46"/>
                <p:cNvSpPr/>
                <p:nvPr/>
              </p:nvSpPr>
              <p:spPr>
                <a:xfrm>
                  <a:off x="3532015" y="3212976"/>
                  <a:ext cx="8229113" cy="461665"/>
                </a:xfrm>
                <a:prstGeom prst="rect">
                  <a:avLst/>
                </a:prstGeom>
              </p:spPr>
              <p:txBody>
                <a:bodyPr wrap="square">
                  <a:spAutoFit/>
                </a:bodyPr>
                <a:lstStyle/>
                <a:p>
                  <a:r>
                    <a:rPr lang="en-US" altLang="zh-CN" sz="2400" dirty="0">
                      <a:solidFill>
                        <a:srgbClr val="060606"/>
                      </a:solidFill>
                    </a:rPr>
                    <a:t>       </a:t>
                  </a:r>
                  <a:r>
                    <a:rPr lang="en-US" altLang="zh-CN" sz="2400" dirty="0" err="1">
                      <a:solidFill>
                        <a:srgbClr val="060606"/>
                      </a:solidFill>
                    </a:rPr>
                    <a:t>a</a:t>
                  </a:r>
                  <a:r>
                    <a:rPr lang="en-US" altLang="zh-CN" sz="2400" baseline="-25000" dirty="0" err="1">
                      <a:solidFill>
                        <a:srgbClr val="060606"/>
                      </a:solidFill>
                    </a:rPr>
                    <a:t>ij</a:t>
                  </a:r>
                  <a:r>
                    <a:rPr lang="en-US" altLang="zh-CN" sz="2400" dirty="0" err="1">
                      <a:solidFill>
                        <a:srgbClr val="060606"/>
                      </a:solidFill>
                    </a:rPr>
                    <a:t>x</a:t>
                  </a:r>
                  <a:r>
                    <a:rPr lang="en-US" altLang="zh-CN" sz="2400" baseline="-25000" dirty="0" err="1">
                      <a:solidFill>
                        <a:srgbClr val="060606"/>
                      </a:solidFill>
                    </a:rPr>
                    <a:t>j</a:t>
                  </a:r>
                  <a:r>
                    <a:rPr lang="en-US" altLang="zh-CN" sz="2400" dirty="0">
                      <a:solidFill>
                        <a:srgbClr val="060606"/>
                      </a:solidFill>
                    </a:rPr>
                    <a:t> ≤(</a:t>
                  </a:r>
                  <a:r>
                    <a:rPr lang="zh-CN" altLang="en-US" sz="2400" dirty="0">
                      <a:solidFill>
                        <a:srgbClr val="060606"/>
                      </a:solidFill>
                    </a:rPr>
                    <a:t>或≥或</a:t>
                  </a:r>
                  <a:r>
                    <a:rPr lang="en-US" altLang="zh-CN" sz="2400" dirty="0">
                      <a:solidFill>
                        <a:srgbClr val="060606"/>
                      </a:solidFill>
                    </a:rPr>
                    <a:t>=) b</a:t>
                  </a:r>
                  <a:r>
                    <a:rPr lang="en-US" altLang="zh-CN" sz="2400" baseline="-25000" dirty="0">
                      <a:solidFill>
                        <a:srgbClr val="060606"/>
                      </a:solidFill>
                    </a:rPr>
                    <a:t>i</a:t>
                  </a:r>
                  <a:r>
                    <a:rPr lang="en-US" altLang="zh-CN" sz="2400" dirty="0">
                      <a:solidFill>
                        <a:srgbClr val="060606"/>
                      </a:solidFill>
                    </a:rPr>
                    <a:t>     (i = 1,2,…,m)</a:t>
                  </a:r>
                  <a:endParaRPr lang="zh-CN" altLang="en-US" sz="2400" dirty="0"/>
                </a:p>
              </p:txBody>
            </p:sp>
            <p:sp>
              <p:nvSpPr>
                <p:cNvPr id="48" name="矩形 47"/>
                <p:cNvSpPr/>
                <p:nvPr/>
              </p:nvSpPr>
              <p:spPr>
                <a:xfrm>
                  <a:off x="3779912" y="3933056"/>
                  <a:ext cx="7416824" cy="461665"/>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j</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0 </a:t>
                  </a:r>
                  <a:r>
                    <a:rPr lang="zh-CN" altLang="en-US" sz="2400" dirty="0">
                      <a:solidFill>
                        <a:srgbClr val="060606"/>
                      </a:solidFill>
                    </a:rPr>
                    <a:t>（或</a:t>
                  </a:r>
                  <a:r>
                    <a:rPr lang="en-US" altLang="zh-CN" sz="2400" dirty="0" err="1">
                      <a:solidFill>
                        <a:srgbClr val="060606"/>
                      </a:solidFill>
                    </a:rPr>
                    <a:t>x</a:t>
                  </a:r>
                  <a:r>
                    <a:rPr lang="en-US" altLang="zh-CN" sz="2400" baseline="-25000" dirty="0" err="1">
                      <a:solidFill>
                        <a:srgbClr val="060606"/>
                      </a:solidFill>
                    </a:rPr>
                    <a:t>j</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0 </a:t>
                  </a:r>
                  <a:r>
                    <a:rPr lang="zh-CN" altLang="en-US" sz="2400" dirty="0">
                      <a:solidFill>
                        <a:srgbClr val="060606"/>
                      </a:solidFill>
                    </a:rPr>
                    <a:t>或无符号约束</a:t>
                  </a:r>
                  <a:r>
                    <a:rPr lang="en-US" altLang="zh-CN" sz="2400" dirty="0">
                      <a:solidFill>
                        <a:srgbClr val="060606"/>
                      </a:solidFill>
                    </a:rPr>
                    <a:t> </a:t>
                  </a:r>
                  <a:r>
                    <a:rPr lang="zh-CN" altLang="en-US" sz="2400" dirty="0">
                      <a:solidFill>
                        <a:srgbClr val="060606"/>
                      </a:solidFill>
                    </a:rPr>
                    <a:t>）</a:t>
                  </a:r>
                  <a:r>
                    <a:rPr lang="en-US" altLang="zh-CN" sz="2400" dirty="0">
                      <a:solidFill>
                        <a:srgbClr val="060606"/>
                      </a:solidFill>
                    </a:rPr>
                    <a:t>            (j = 1,2,…,n)</a:t>
                  </a:r>
                  <a:endParaRPr lang="zh-CN" altLang="en-US" sz="2400" dirty="0">
                    <a:solidFill>
                      <a:srgbClr val="060606"/>
                    </a:solidFill>
                  </a:endParaRPr>
                </a:p>
              </p:txBody>
            </p:sp>
          </p:grpSp>
          <p:grpSp>
            <p:nvGrpSpPr>
              <p:cNvPr id="42" name="组合 32"/>
              <p:cNvGrpSpPr/>
              <p:nvPr/>
            </p:nvGrpSpPr>
            <p:grpSpPr>
              <a:xfrm>
                <a:off x="6804248" y="2204864"/>
                <a:ext cx="526900" cy="864096"/>
                <a:chOff x="6300192" y="476672"/>
                <a:chExt cx="526900" cy="864096"/>
              </a:xfrm>
            </p:grpSpPr>
            <p:sp>
              <p:nvSpPr>
                <p:cNvPr id="43" name="矩形 42"/>
                <p:cNvSpPr/>
                <p:nvPr/>
              </p:nvSpPr>
              <p:spPr>
                <a:xfrm>
                  <a:off x="6300192" y="971436"/>
                  <a:ext cx="511679" cy="369332"/>
                </a:xfrm>
                <a:prstGeom prst="rect">
                  <a:avLst/>
                </a:prstGeom>
              </p:spPr>
              <p:txBody>
                <a:bodyPr wrap="none">
                  <a:spAutoFit/>
                </a:bodyPr>
                <a:lstStyle/>
                <a:p>
                  <a:r>
                    <a:rPr lang="en-US" altLang="zh-CN" dirty="0">
                      <a:solidFill>
                        <a:srgbClr val="060606"/>
                      </a:solidFill>
                    </a:rPr>
                    <a:t>j=1</a:t>
                  </a:r>
                  <a:endParaRPr lang="zh-CN" altLang="en-US" dirty="0"/>
                </a:p>
              </p:txBody>
            </p:sp>
            <p:sp>
              <p:nvSpPr>
                <p:cNvPr id="44" name="矩形 43"/>
                <p:cNvSpPr/>
                <p:nvPr/>
              </p:nvSpPr>
              <p:spPr>
                <a:xfrm>
                  <a:off x="6353738" y="476672"/>
                  <a:ext cx="311304" cy="369332"/>
                </a:xfrm>
                <a:prstGeom prst="rect">
                  <a:avLst/>
                </a:prstGeom>
              </p:spPr>
              <p:txBody>
                <a:bodyPr wrap="none">
                  <a:spAutoFit/>
                </a:bodyPr>
                <a:lstStyle/>
                <a:p>
                  <a:r>
                    <a:rPr lang="en-US" altLang="zh-CN" dirty="0">
                      <a:solidFill>
                        <a:srgbClr val="060606"/>
                      </a:solidFill>
                    </a:rPr>
                    <a:t>n</a:t>
                  </a:r>
                  <a:endParaRPr lang="zh-CN" altLang="en-US" dirty="0"/>
                </a:p>
              </p:txBody>
            </p:sp>
            <p:sp>
              <p:nvSpPr>
                <p:cNvPr id="45" name="矩形 44"/>
                <p:cNvSpPr/>
                <p:nvPr/>
              </p:nvSpPr>
              <p:spPr>
                <a:xfrm>
                  <a:off x="6334649" y="656580"/>
                  <a:ext cx="492443" cy="461665"/>
                </a:xfrm>
                <a:prstGeom prst="rect">
                  <a:avLst/>
                </a:prstGeom>
              </p:spPr>
              <p:txBody>
                <a:bodyPr wrap="none">
                  <a:spAutoFit/>
                </a:bodyPr>
                <a:lstStyle/>
                <a:p>
                  <a:r>
                    <a:rPr lang="en-US" altLang="zh-CN" sz="2400" dirty="0">
                      <a:solidFill>
                        <a:srgbClr val="060606"/>
                      </a:solidFill>
                    </a:rPr>
                    <a:t>∑</a:t>
                  </a:r>
                  <a:endParaRPr lang="zh-CN" altLang="en-US" dirty="0"/>
                </a:p>
              </p:txBody>
            </p:sp>
          </p:grpSp>
        </p:grpSp>
      </p:grpSp>
      <p:sp>
        <p:nvSpPr>
          <p:cNvPr id="2" name="箭头: 下 1"/>
          <p:cNvSpPr/>
          <p:nvPr/>
        </p:nvSpPr>
        <p:spPr>
          <a:xfrm>
            <a:off x="3066208" y="2405848"/>
            <a:ext cx="706802" cy="1008111"/>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64816" y="163819"/>
            <a:ext cx="9099611" cy="20655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3826361" y="2490450"/>
            <a:ext cx="7963184" cy="1200329"/>
          </a:xfrm>
          <a:prstGeom prst="rect">
            <a:avLst/>
          </a:prstGeom>
          <a:noFill/>
        </p:spPr>
        <p:txBody>
          <a:bodyPr wrap="square">
            <a:spAutoFit/>
          </a:bodyPr>
          <a:lstStyle/>
          <a:p>
            <a:r>
              <a:rPr lang="zh-CN" altLang="en-US" sz="2400" b="1" dirty="0">
                <a:solidFill>
                  <a:srgbClr val="060606"/>
                </a:solidFill>
              </a:rPr>
              <a:t>线性规划模型的标准形式</a:t>
            </a:r>
            <a:r>
              <a:rPr lang="en-US" altLang="zh-CN" sz="2400" b="1" dirty="0">
                <a:solidFill>
                  <a:srgbClr val="060606"/>
                </a:solidFill>
              </a:rPr>
              <a:t>: </a:t>
            </a:r>
            <a:r>
              <a:rPr lang="zh-CN" altLang="en-US" sz="2400" b="1" dirty="0">
                <a:solidFill>
                  <a:srgbClr val="060606"/>
                </a:solidFill>
              </a:rPr>
              <a:t>即，模型的目标函数为求</a:t>
            </a:r>
            <a:r>
              <a:rPr lang="zh-CN" altLang="en-US" sz="2400" b="1" dirty="0">
                <a:solidFill>
                  <a:srgbClr val="FF0000"/>
                </a:solidFill>
              </a:rPr>
              <a:t>极大值</a:t>
            </a:r>
            <a:r>
              <a:rPr lang="zh-CN" altLang="en-US" sz="2400" b="1" dirty="0">
                <a:solidFill>
                  <a:srgbClr val="060606"/>
                </a:solidFill>
              </a:rPr>
              <a:t>，约束条件全为</a:t>
            </a:r>
            <a:r>
              <a:rPr lang="zh-CN" altLang="en-US" sz="2400" b="1" dirty="0">
                <a:solidFill>
                  <a:srgbClr val="FF0000"/>
                </a:solidFill>
              </a:rPr>
              <a:t>等式</a:t>
            </a:r>
            <a:r>
              <a:rPr lang="zh-CN" altLang="en-US" sz="2400" b="1" dirty="0">
                <a:solidFill>
                  <a:srgbClr val="060606"/>
                </a:solidFill>
              </a:rPr>
              <a:t>，约束条件右端常数项为</a:t>
            </a:r>
            <a:r>
              <a:rPr lang="zh-CN" altLang="en-US" sz="2400" b="1" dirty="0">
                <a:solidFill>
                  <a:srgbClr val="FF0000"/>
                </a:solidFill>
              </a:rPr>
              <a:t>非负值</a:t>
            </a:r>
            <a:r>
              <a:rPr lang="zh-CN" altLang="en-US" sz="2400" b="1" dirty="0">
                <a:solidFill>
                  <a:srgbClr val="060606"/>
                </a:solidFill>
              </a:rPr>
              <a:t>，变量取值为</a:t>
            </a:r>
            <a:r>
              <a:rPr lang="zh-CN" altLang="en-US" sz="2400" b="1" dirty="0">
                <a:solidFill>
                  <a:srgbClr val="FF0000"/>
                </a:solidFill>
              </a:rPr>
              <a:t>非负</a:t>
            </a:r>
            <a:endParaRPr lang="zh-CN" altLang="en-US" sz="2400" dirty="0"/>
          </a:p>
        </p:txBody>
      </p:sp>
      <p:grpSp>
        <p:nvGrpSpPr>
          <p:cNvPr id="9" name="组合 8"/>
          <p:cNvGrpSpPr/>
          <p:nvPr/>
        </p:nvGrpSpPr>
        <p:grpSpPr>
          <a:xfrm>
            <a:off x="772357" y="3675040"/>
            <a:ext cx="11017188" cy="3092797"/>
            <a:chOff x="772357" y="3675040"/>
            <a:chExt cx="11017188" cy="3092797"/>
          </a:xfrm>
        </p:grpSpPr>
        <p:grpSp>
          <p:nvGrpSpPr>
            <p:cNvPr id="37" name="组合 36"/>
            <p:cNvGrpSpPr/>
            <p:nvPr/>
          </p:nvGrpSpPr>
          <p:grpSpPr>
            <a:xfrm>
              <a:off x="1261600" y="3675040"/>
              <a:ext cx="10527945" cy="3092797"/>
              <a:chOff x="2267744" y="1268760"/>
              <a:chExt cx="7462507" cy="2067746"/>
            </a:xfrm>
          </p:grpSpPr>
          <p:grpSp>
            <p:nvGrpSpPr>
              <p:cNvPr id="15" name="组合 37"/>
              <p:cNvGrpSpPr/>
              <p:nvPr/>
            </p:nvGrpSpPr>
            <p:grpSpPr>
              <a:xfrm>
                <a:off x="2483768" y="1268760"/>
                <a:ext cx="3240360" cy="693793"/>
                <a:chOff x="7308304" y="548680"/>
                <a:chExt cx="3240360" cy="693793"/>
              </a:xfrm>
            </p:grpSpPr>
            <p:sp>
              <p:nvSpPr>
                <p:cNvPr id="20" name="矩形 19"/>
                <p:cNvSpPr/>
                <p:nvPr/>
              </p:nvSpPr>
              <p:spPr>
                <a:xfrm>
                  <a:off x="7308304" y="692696"/>
                  <a:ext cx="3240360" cy="320401"/>
                </a:xfrm>
                <a:prstGeom prst="rect">
                  <a:avLst/>
                </a:prstGeom>
              </p:spPr>
              <p:txBody>
                <a:bodyPr wrap="square">
                  <a:spAutoFit/>
                </a:bodyPr>
                <a:lstStyle/>
                <a:p>
                  <a:pPr marL="342900" indent="-342900" algn="ctr" fontAlgn="base">
                    <a:lnSpc>
                      <a:spcPct val="110000"/>
                    </a:lnSpc>
                    <a:spcAft>
                      <a:spcPct val="0"/>
                    </a:spcAft>
                  </a:pPr>
                  <a:r>
                    <a:rPr lang="en-US" altLang="zh-CN" sz="2400" dirty="0" err="1">
                      <a:solidFill>
                        <a:srgbClr val="FF0000"/>
                      </a:solidFill>
                    </a:rPr>
                    <a:t>max</a:t>
                  </a:r>
                  <a:r>
                    <a:rPr lang="en-US" altLang="zh-CN" sz="2400" dirty="0" err="1">
                      <a:solidFill>
                        <a:srgbClr val="060606"/>
                      </a:solidFill>
                    </a:rPr>
                    <a:t>z</a:t>
                  </a:r>
                  <a:r>
                    <a:rPr lang="en-US" altLang="zh-CN" sz="2400" dirty="0">
                      <a:solidFill>
                        <a:srgbClr val="060606"/>
                      </a:solidFill>
                    </a:rPr>
                    <a:t> =    c</a:t>
                  </a:r>
                  <a:r>
                    <a:rPr lang="en-US" altLang="zh-CN" sz="2400" baseline="-25000" dirty="0">
                      <a:solidFill>
                        <a:srgbClr val="060606"/>
                      </a:solidFill>
                    </a:rPr>
                    <a:t>j</a:t>
                  </a:r>
                  <a:r>
                    <a:rPr lang="en-US" altLang="zh-CN" sz="2400" dirty="0">
                      <a:solidFill>
                        <a:srgbClr val="060606"/>
                      </a:solidFill>
                    </a:rPr>
                    <a:t>x</a:t>
                  </a:r>
                  <a:r>
                    <a:rPr lang="en-US" altLang="zh-CN" sz="2400" baseline="-25000" dirty="0">
                      <a:solidFill>
                        <a:srgbClr val="060606"/>
                      </a:solidFill>
                    </a:rPr>
                    <a:t>j</a:t>
                  </a:r>
                  <a:endParaRPr lang="en-US" altLang="zh-CN" sz="2400" dirty="0">
                    <a:solidFill>
                      <a:srgbClr val="060606"/>
                    </a:solidFill>
                  </a:endParaRPr>
                </a:p>
              </p:txBody>
            </p:sp>
            <p:grpSp>
              <p:nvGrpSpPr>
                <p:cNvPr id="18" name="组合 31"/>
                <p:cNvGrpSpPr/>
                <p:nvPr/>
              </p:nvGrpSpPr>
              <p:grpSpPr>
                <a:xfrm>
                  <a:off x="8961187" y="548680"/>
                  <a:ext cx="571085" cy="693793"/>
                  <a:chOff x="6296891" y="476672"/>
                  <a:chExt cx="571085" cy="693793"/>
                </a:xfrm>
              </p:grpSpPr>
              <p:sp>
                <p:nvSpPr>
                  <p:cNvPr id="29" name="矩形 28"/>
                  <p:cNvSpPr/>
                  <p:nvPr/>
                </p:nvSpPr>
                <p:spPr>
                  <a:xfrm>
                    <a:off x="6300192" y="861810"/>
                    <a:ext cx="567784" cy="308655"/>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30" name="矩形 29"/>
                  <p:cNvSpPr/>
                  <p:nvPr/>
                </p:nvSpPr>
                <p:spPr>
                  <a:xfrm>
                    <a:off x="6353738" y="476672"/>
                    <a:ext cx="301206" cy="308655"/>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31" name="矩形 30"/>
                  <p:cNvSpPr/>
                  <p:nvPr/>
                </p:nvSpPr>
                <p:spPr>
                  <a:xfrm>
                    <a:off x="6296891" y="638905"/>
                    <a:ext cx="351378" cy="308655"/>
                  </a:xfrm>
                  <a:prstGeom prst="rect">
                    <a:avLst/>
                  </a:prstGeom>
                </p:spPr>
                <p:txBody>
                  <a:bodyPr wrap="square">
                    <a:spAutoFit/>
                  </a:bodyPr>
                  <a:lstStyle/>
                  <a:p>
                    <a:r>
                      <a:rPr lang="en-US" altLang="zh-CN" sz="2400" dirty="0">
                        <a:solidFill>
                          <a:srgbClr val="060606"/>
                        </a:solidFill>
                      </a:rPr>
                      <a:t>∑</a:t>
                    </a:r>
                    <a:endParaRPr lang="zh-CN" altLang="en-US" sz="2400" dirty="0"/>
                  </a:p>
                </p:txBody>
              </p:sp>
            </p:grpSp>
          </p:grpSp>
          <p:grpSp>
            <p:nvGrpSpPr>
              <p:cNvPr id="19" name="组合 36"/>
              <p:cNvGrpSpPr/>
              <p:nvPr/>
            </p:nvGrpSpPr>
            <p:grpSpPr>
              <a:xfrm>
                <a:off x="2267744" y="1916832"/>
                <a:ext cx="7462507" cy="1419674"/>
                <a:chOff x="6084168" y="2204864"/>
                <a:chExt cx="7462507" cy="1419674"/>
              </a:xfrm>
            </p:grpSpPr>
            <p:grpSp>
              <p:nvGrpSpPr>
                <p:cNvPr id="21" name="组合 15"/>
                <p:cNvGrpSpPr/>
                <p:nvPr/>
              </p:nvGrpSpPr>
              <p:grpSpPr>
                <a:xfrm>
                  <a:off x="6084168" y="2348880"/>
                  <a:ext cx="7462507" cy="1275658"/>
                  <a:chOff x="3059832" y="3212976"/>
                  <a:chExt cx="7462507" cy="1275658"/>
                </a:xfrm>
              </p:grpSpPr>
              <p:grpSp>
                <p:nvGrpSpPr>
                  <p:cNvPr id="23" name="组合 12"/>
                  <p:cNvGrpSpPr/>
                  <p:nvPr/>
                </p:nvGrpSpPr>
                <p:grpSpPr>
                  <a:xfrm>
                    <a:off x="3059832" y="3383733"/>
                    <a:ext cx="705369" cy="792088"/>
                    <a:chOff x="1547664" y="3803612"/>
                    <a:chExt cx="705369" cy="541655"/>
                  </a:xfrm>
                </p:grpSpPr>
                <p:sp>
                  <p:nvSpPr>
                    <p:cNvPr id="27" name="矩形 26"/>
                    <p:cNvSpPr/>
                    <p:nvPr/>
                  </p:nvSpPr>
                  <p:spPr>
                    <a:xfrm>
                      <a:off x="1547664" y="3968218"/>
                      <a:ext cx="489345" cy="219100"/>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28" name="左大括号 27"/>
                    <p:cNvSpPr/>
                    <p:nvPr/>
                  </p:nvSpPr>
                  <p:spPr bwMode="auto">
                    <a:xfrm>
                      <a:off x="2037009" y="3803612"/>
                      <a:ext cx="216024" cy="541655"/>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sp>
                <p:nvSpPr>
                  <p:cNvPr id="22" name="矩形 21"/>
                  <p:cNvSpPr/>
                  <p:nvPr/>
                </p:nvSpPr>
                <p:spPr>
                  <a:xfrm>
                    <a:off x="3532016" y="3212976"/>
                    <a:ext cx="6990323" cy="308655"/>
                  </a:xfrm>
                  <a:prstGeom prst="rect">
                    <a:avLst/>
                  </a:prstGeom>
                </p:spPr>
                <p:txBody>
                  <a:bodyPr wrap="square">
                    <a:spAutoFit/>
                  </a:bodyPr>
                  <a:lstStyle/>
                  <a:p>
                    <a:r>
                      <a:rPr lang="en-US" altLang="zh-CN" sz="2400" dirty="0">
                        <a:solidFill>
                          <a:srgbClr val="060606"/>
                        </a:solidFill>
                      </a:rPr>
                      <a:t>       a</a:t>
                    </a:r>
                    <a:r>
                      <a:rPr lang="en-US" altLang="zh-CN" sz="2400" baseline="-25000" dirty="0">
                        <a:solidFill>
                          <a:srgbClr val="060606"/>
                        </a:solidFill>
                      </a:rPr>
                      <a:t>ij</a:t>
                    </a:r>
                    <a:r>
                      <a:rPr lang="en-US" altLang="zh-CN" sz="2400" dirty="0">
                        <a:solidFill>
                          <a:srgbClr val="060606"/>
                        </a:solidFill>
                      </a:rPr>
                      <a:t>x</a:t>
                    </a:r>
                    <a:r>
                      <a:rPr lang="en-US" altLang="zh-CN" sz="2400" baseline="-25000" dirty="0">
                        <a:solidFill>
                          <a:srgbClr val="060606"/>
                        </a:solidFill>
                      </a:rPr>
                      <a:t>j</a:t>
                    </a:r>
                    <a:r>
                      <a:rPr lang="en-US" altLang="zh-CN" sz="2400" dirty="0">
                        <a:solidFill>
                          <a:srgbClr val="060606"/>
                        </a:solidFill>
                      </a:rPr>
                      <a:t> </a:t>
                    </a:r>
                    <a:r>
                      <a:rPr lang="en-US" altLang="zh-CN" sz="2400" dirty="0">
                        <a:solidFill>
                          <a:srgbClr val="FF0000"/>
                        </a:solidFill>
                      </a:rPr>
                      <a:t>=</a:t>
                    </a:r>
                    <a:r>
                      <a:rPr lang="en-US" altLang="zh-CN" sz="2400" dirty="0">
                        <a:solidFill>
                          <a:srgbClr val="060606"/>
                        </a:solidFill>
                      </a:rPr>
                      <a:t> b</a:t>
                    </a:r>
                    <a:r>
                      <a:rPr lang="en-US" altLang="zh-CN" sz="2400" baseline="-25000" dirty="0">
                        <a:solidFill>
                          <a:srgbClr val="060606"/>
                        </a:solidFill>
                      </a:rPr>
                      <a:t>i</a:t>
                    </a:r>
                    <a:r>
                      <a:rPr lang="en-US" altLang="zh-CN" sz="2400" dirty="0">
                        <a:solidFill>
                          <a:srgbClr val="060606"/>
                        </a:solidFill>
                      </a:rPr>
                      <a:t>     (i = 1,2,…,m)    [b</a:t>
                    </a:r>
                    <a:r>
                      <a:rPr lang="en-US" altLang="zh-CN" sz="2400" baseline="-25000" dirty="0">
                        <a:solidFill>
                          <a:srgbClr val="060606"/>
                        </a:solidFill>
                      </a:rPr>
                      <a:t>i</a:t>
                    </a:r>
                    <a:r>
                      <a:rPr lang="en-US" altLang="zh-CN" sz="2400" dirty="0">
                        <a:solidFill>
                          <a:srgbClr val="060606"/>
                        </a:solidFill>
                      </a:rPr>
                      <a:t> </a:t>
                    </a:r>
                    <a:r>
                      <a:rPr lang="zh-CN" altLang="en-US" sz="2400" dirty="0">
                        <a:solidFill>
                          <a:srgbClr val="060606"/>
                        </a:solidFill>
                      </a:rPr>
                      <a:t>≥</a:t>
                    </a:r>
                    <a:r>
                      <a:rPr lang="en-US" altLang="zh-CN" sz="2400" dirty="0">
                        <a:solidFill>
                          <a:srgbClr val="060606"/>
                        </a:solidFill>
                      </a:rPr>
                      <a:t>0]</a:t>
                    </a:r>
                    <a:endParaRPr lang="zh-CN" altLang="en-US" sz="2400" dirty="0"/>
                  </a:p>
                </p:txBody>
              </p:sp>
              <p:sp>
                <p:nvSpPr>
                  <p:cNvPr id="25" name="矩形 24"/>
                  <p:cNvSpPr/>
                  <p:nvPr/>
                </p:nvSpPr>
                <p:spPr>
                  <a:xfrm>
                    <a:off x="3779912" y="3933056"/>
                    <a:ext cx="4112199" cy="555578"/>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j</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0             (j = 1,2,…,n</a:t>
                    </a:r>
                    <a:r>
                      <a:rPr lang="zh-CN" altLang="en-US" sz="2400" dirty="0">
                        <a:solidFill>
                          <a:srgbClr val="060606"/>
                        </a:solidFill>
                      </a:rPr>
                      <a:t>，非负约束</a:t>
                    </a:r>
                    <a:r>
                      <a:rPr lang="en-US" altLang="zh-CN" sz="2400" dirty="0">
                        <a:solidFill>
                          <a:srgbClr val="060606"/>
                        </a:solidFill>
                      </a:rPr>
                      <a:t>)</a:t>
                    </a:r>
                    <a:endParaRPr lang="zh-CN" altLang="en-US" sz="2400" dirty="0">
                      <a:solidFill>
                        <a:srgbClr val="060606"/>
                      </a:solidFill>
                    </a:endParaRPr>
                  </a:p>
                </p:txBody>
              </p:sp>
            </p:grpSp>
            <p:grpSp>
              <p:nvGrpSpPr>
                <p:cNvPr id="24" name="组合 32"/>
                <p:cNvGrpSpPr/>
                <p:nvPr/>
              </p:nvGrpSpPr>
              <p:grpSpPr>
                <a:xfrm>
                  <a:off x="6748963" y="2204864"/>
                  <a:ext cx="619735" cy="671571"/>
                  <a:chOff x="6244907" y="476672"/>
                  <a:chExt cx="619735" cy="671571"/>
                </a:xfrm>
              </p:grpSpPr>
              <p:sp>
                <p:nvSpPr>
                  <p:cNvPr id="34" name="矩形 33"/>
                  <p:cNvSpPr/>
                  <p:nvPr/>
                </p:nvSpPr>
                <p:spPr>
                  <a:xfrm>
                    <a:off x="6296858" y="839588"/>
                    <a:ext cx="567784" cy="308655"/>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35" name="矩形 34"/>
                  <p:cNvSpPr/>
                  <p:nvPr/>
                </p:nvSpPr>
                <p:spPr>
                  <a:xfrm>
                    <a:off x="6314129" y="476672"/>
                    <a:ext cx="301206" cy="308655"/>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36" name="矩形 35"/>
                  <p:cNvSpPr/>
                  <p:nvPr/>
                </p:nvSpPr>
                <p:spPr>
                  <a:xfrm>
                    <a:off x="6244907" y="647019"/>
                    <a:ext cx="346489" cy="308655"/>
                  </a:xfrm>
                  <a:prstGeom prst="rect">
                    <a:avLst/>
                  </a:prstGeom>
                </p:spPr>
                <p:txBody>
                  <a:bodyPr wrap="square">
                    <a:spAutoFit/>
                  </a:bodyPr>
                  <a:lstStyle/>
                  <a:p>
                    <a:r>
                      <a:rPr lang="en-US" altLang="zh-CN" sz="2400" dirty="0">
                        <a:solidFill>
                          <a:srgbClr val="060606"/>
                        </a:solidFill>
                      </a:rPr>
                      <a:t>∑ </a:t>
                    </a:r>
                    <a:endParaRPr lang="zh-CN" altLang="en-US" sz="2400" dirty="0"/>
                  </a:p>
                </p:txBody>
              </p:sp>
            </p:grpSp>
          </p:grpSp>
        </p:grpSp>
        <p:sp>
          <p:nvSpPr>
            <p:cNvPr id="8" name="矩形 7"/>
            <p:cNvSpPr/>
            <p:nvPr/>
          </p:nvSpPr>
          <p:spPr>
            <a:xfrm>
              <a:off x="772357" y="3736668"/>
              <a:ext cx="7430610" cy="29575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00025" y="259405"/>
            <a:ext cx="7178934" cy="4792716"/>
          </a:xfrm>
          <a:prstGeom prst="rect">
            <a:avLst/>
          </a:prstGeom>
        </p:spPr>
      </p:pic>
      <p:sp>
        <p:nvSpPr>
          <p:cNvPr id="47" name="TextBox 46"/>
          <p:cNvSpPr txBox="1"/>
          <p:nvPr/>
        </p:nvSpPr>
        <p:spPr>
          <a:xfrm>
            <a:off x="5906277" y="3148317"/>
            <a:ext cx="5719665" cy="3046988"/>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3200" dirty="0">
                <a:solidFill>
                  <a:srgbClr val="0322BD"/>
                </a:solidFill>
              </a:rPr>
              <a:t>从观察这个标准形式，我们可以得出求解的思路：先求</a:t>
            </a:r>
            <a:r>
              <a:rPr lang="zh-CN" altLang="en-US" sz="3200" b="1" i="1" dirty="0">
                <a:solidFill>
                  <a:srgbClr val="0322BD"/>
                </a:solidFill>
              </a:rPr>
              <a:t>不定方程</a:t>
            </a:r>
            <a:r>
              <a:rPr lang="zh-CN" altLang="en-US" sz="3200" dirty="0">
                <a:solidFill>
                  <a:srgbClr val="0322BD"/>
                </a:solidFill>
              </a:rPr>
              <a:t>的解集合，然后从中找出最优解。</a:t>
            </a:r>
            <a:endParaRPr lang="en-US" altLang="zh-CN" sz="3200" dirty="0">
              <a:solidFill>
                <a:srgbClr val="0322BD"/>
              </a:solidFill>
            </a:endParaRPr>
          </a:p>
          <a:p>
            <a:r>
              <a:rPr lang="zh-CN" altLang="en-US" sz="3200" dirty="0">
                <a:solidFill>
                  <a:srgbClr val="0322BD"/>
                </a:solidFill>
              </a:rPr>
              <a:t>所以，我们的求解是从化非标为转标准形式开始。</a:t>
            </a:r>
            <a:endParaRPr lang="zh-CN" altLang="en-US" sz="3200" dirty="0">
              <a:solidFill>
                <a:srgbClr val="0322BD"/>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bg/>
                                          </p:spTgt>
                                        </p:tgtEl>
                                        <p:attrNameLst>
                                          <p:attrName>style.visibility</p:attrName>
                                        </p:attrNameLst>
                                      </p:cBhvr>
                                      <p:to>
                                        <p:strVal val="visible"/>
                                      </p:to>
                                    </p:set>
                                    <p:animEffect transition="in" filter="fade">
                                      <p:cBhvr>
                                        <p:cTn id="7" dur="2000"/>
                                        <p:tgtEl>
                                          <p:spTgt spid="47">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
                                            <p:txEl>
                                              <p:pRg st="0" end="0"/>
                                            </p:txEl>
                                          </p:spTgt>
                                        </p:tgtEl>
                                        <p:attrNameLst>
                                          <p:attrName>style.visibility</p:attrName>
                                        </p:attrNameLst>
                                      </p:cBhvr>
                                      <p:to>
                                        <p:strVal val="visible"/>
                                      </p:to>
                                    </p:set>
                                    <p:animEffect transition="in" filter="fade">
                                      <p:cBhvr>
                                        <p:cTn id="10" dur="2000"/>
                                        <p:tgtEl>
                                          <p:spTgt spid="47">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
                                            <p:txEl>
                                              <p:pRg st="1" end="1"/>
                                            </p:txEl>
                                          </p:spTgt>
                                        </p:tgtEl>
                                        <p:attrNameLst>
                                          <p:attrName>style.visibility</p:attrName>
                                        </p:attrNameLst>
                                      </p:cBhvr>
                                      <p:to>
                                        <p:strVal val="visible"/>
                                      </p:to>
                                    </p:set>
                                    <p:animEffect transition="in" filter="fade">
                                      <p:cBhvr>
                                        <p:cTn id="13" dur="2000"/>
                                        <p:tgtEl>
                                          <p:spTgt spid="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build="allAtOnce"/>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14617" y="1365802"/>
            <a:ext cx="8362765" cy="1446550"/>
          </a:xfrm>
          <a:prstGeom prst="rect">
            <a:avLst/>
          </a:prstGeom>
          <a:noFill/>
        </p:spPr>
        <p:txBody>
          <a:bodyPr wrap="square" rtlCol="0">
            <a:spAutoFit/>
          </a:bodyPr>
          <a:lstStyle/>
          <a:p>
            <a:pPr algn="ctr"/>
            <a:r>
              <a:rPr lang="zh-CN" altLang="en-US" sz="4400" dirty="0"/>
              <a:t>那么，如何将非标准形式的线性规划问题转化为</a:t>
            </a:r>
            <a:r>
              <a:rPr lang="zh-CN" altLang="en-US" sz="4400" dirty="0">
                <a:solidFill>
                  <a:srgbClr val="0322BD"/>
                </a:solidFill>
              </a:rPr>
              <a:t>标准形式</a:t>
            </a:r>
            <a:r>
              <a:rPr lang="zh-CN" altLang="en-US" sz="4400" dirty="0"/>
              <a:t>？</a:t>
            </a:r>
            <a:endParaRPr lang="zh-CN" altLang="en-US" sz="4400" dirty="0"/>
          </a:p>
        </p:txBody>
      </p:sp>
      <p:sp>
        <p:nvSpPr>
          <p:cNvPr id="3" name="箭头: 下 2"/>
          <p:cNvSpPr/>
          <p:nvPr/>
        </p:nvSpPr>
        <p:spPr>
          <a:xfrm>
            <a:off x="5314765" y="2949605"/>
            <a:ext cx="1562470" cy="47939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5496" y="960497"/>
            <a:ext cx="11245719" cy="5262979"/>
          </a:xfrm>
          <a:prstGeom prst="rect">
            <a:avLst/>
          </a:prstGeom>
          <a:noFill/>
        </p:spPr>
        <p:txBody>
          <a:bodyPr wrap="square">
            <a:spAutoFit/>
          </a:bodyPr>
          <a:lstStyle/>
          <a:p>
            <a:r>
              <a:rPr lang="zh-CN" altLang="en-US" sz="2800" dirty="0"/>
              <a:t>将非标准形式的线性规划问题转化为标准形式涉及</a:t>
            </a:r>
            <a:r>
              <a:rPr lang="en-US" altLang="zh-CN" sz="2800" dirty="0"/>
              <a:t>4</a:t>
            </a:r>
            <a:r>
              <a:rPr lang="zh-CN" altLang="en-US" sz="2800" dirty="0"/>
              <a:t>个内容：</a:t>
            </a:r>
            <a:endParaRPr lang="en-US" altLang="zh-CN" sz="2800" dirty="0"/>
          </a:p>
          <a:p>
            <a:endParaRPr lang="en-US" altLang="zh-CN" sz="2800" dirty="0"/>
          </a:p>
          <a:p>
            <a:r>
              <a:rPr lang="zh-CN" altLang="en-US" sz="2800" dirty="0"/>
              <a:t>第一步：目标函数求最小值如何转换为求最大值</a:t>
            </a:r>
            <a:r>
              <a:rPr lang="en-US" altLang="zh-CN" sz="2800" dirty="0"/>
              <a:t>?</a:t>
            </a:r>
            <a:endParaRPr lang="en-US" altLang="zh-CN" sz="2800" dirty="0"/>
          </a:p>
          <a:p>
            <a:endParaRPr lang="en-US" altLang="zh-CN" sz="2800" dirty="0"/>
          </a:p>
          <a:p>
            <a:r>
              <a:rPr lang="zh-CN" altLang="en-US" sz="2800" dirty="0"/>
              <a:t>第二步：右端值为非负约束</a:t>
            </a:r>
            <a:r>
              <a:rPr lang="en-US" altLang="zh-CN" sz="2800" dirty="0"/>
              <a:t>? </a:t>
            </a:r>
            <a:endParaRPr lang="en-US" altLang="zh-CN" sz="2800" dirty="0"/>
          </a:p>
          <a:p>
            <a:endParaRPr lang="en-US" altLang="zh-CN" sz="2800" dirty="0"/>
          </a:p>
          <a:p>
            <a:r>
              <a:rPr lang="zh-CN" altLang="en-US" sz="2800" dirty="0"/>
              <a:t>第三步：约束条件为不等式，如何转换为等式</a:t>
            </a:r>
            <a:r>
              <a:rPr lang="en-US" altLang="zh-CN" sz="2800" dirty="0"/>
              <a:t>?</a:t>
            </a:r>
            <a:endParaRPr lang="en-US" altLang="zh-CN" sz="2800" dirty="0"/>
          </a:p>
          <a:p>
            <a:endParaRPr lang="en-US" altLang="zh-CN" sz="2800" dirty="0"/>
          </a:p>
          <a:p>
            <a:r>
              <a:rPr lang="zh-CN" altLang="en-US" sz="2800" dirty="0"/>
              <a:t>第四步：变量如何转换为非负约束</a:t>
            </a:r>
            <a:r>
              <a:rPr lang="en-US" altLang="zh-CN" sz="2800" dirty="0"/>
              <a:t>?</a:t>
            </a:r>
            <a:endParaRPr lang="en-US" altLang="zh-CN" sz="2800" dirty="0"/>
          </a:p>
          <a:p>
            <a:endParaRPr lang="en-US" altLang="zh-CN" sz="2800" dirty="0"/>
          </a:p>
          <a:p>
            <a:endParaRPr lang="en-US" altLang="zh-CN" sz="2800" dirty="0"/>
          </a:p>
          <a:p>
            <a:endParaRPr lang="en-US" altLang="zh-CN" sz="2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4863" y="90957"/>
            <a:ext cx="11476653" cy="1325563"/>
          </a:xfrm>
        </p:spPr>
        <p:txBody>
          <a:bodyPr>
            <a:normAutofit/>
          </a:bodyPr>
          <a:lstStyle/>
          <a:p>
            <a:r>
              <a:rPr lang="zh-CN" altLang="en-US" sz="3200" dirty="0"/>
              <a:t>第一步</a:t>
            </a:r>
            <a:r>
              <a:rPr lang="en-US" altLang="zh-CN" sz="3200" dirty="0"/>
              <a:t>:</a:t>
            </a:r>
            <a:r>
              <a:rPr lang="zh-CN" altLang="en-US" sz="3200" dirty="0"/>
              <a:t>目标函数求最小值如何转换为求最大值</a:t>
            </a:r>
            <a:r>
              <a:rPr lang="en-US" altLang="zh-CN" sz="3200" dirty="0"/>
              <a:t>?</a:t>
            </a:r>
            <a:endParaRPr lang="zh-CN" altLang="en-US" sz="3200" dirty="0"/>
          </a:p>
        </p:txBody>
      </p:sp>
      <p:sp>
        <p:nvSpPr>
          <p:cNvPr id="3" name="内容占位符 2"/>
          <p:cNvSpPr>
            <a:spLocks noGrp="1"/>
          </p:cNvSpPr>
          <p:nvPr>
            <p:ph idx="1"/>
          </p:nvPr>
        </p:nvSpPr>
        <p:spPr/>
        <p:txBody>
          <a:bodyPr/>
          <a:lstStyle/>
          <a:p>
            <a:pPr>
              <a:buNone/>
            </a:pPr>
            <a:r>
              <a:rPr lang="zh-CN" altLang="en-US" sz="2400" dirty="0"/>
              <a:t>考察目标函数，对于</a:t>
            </a:r>
            <a:endParaRPr lang="en-US" altLang="zh-CN" sz="2400" dirty="0"/>
          </a:p>
          <a:p>
            <a:pPr>
              <a:buNone/>
            </a:pPr>
            <a:endParaRPr lang="en-US" altLang="zh-CN" dirty="0"/>
          </a:p>
          <a:p>
            <a:pPr>
              <a:buNone/>
            </a:pPr>
            <a:endParaRPr lang="en-US" altLang="zh-CN" dirty="0"/>
          </a:p>
          <a:p>
            <a:pPr>
              <a:buNone/>
            </a:pPr>
            <a:r>
              <a:rPr lang="zh-CN" altLang="en-US" sz="2400" dirty="0"/>
              <a:t>令</a:t>
            </a:r>
            <a:r>
              <a:rPr lang="en-US" altLang="zh-CN" sz="2400" dirty="0"/>
              <a:t>z’ = -z</a:t>
            </a:r>
            <a:r>
              <a:rPr lang="zh-CN" altLang="en-US" sz="2400" dirty="0"/>
              <a:t>即可，得到：</a:t>
            </a:r>
            <a:endParaRPr lang="en-US" altLang="zh-CN" sz="2400" dirty="0"/>
          </a:p>
          <a:p>
            <a:pPr>
              <a:buNone/>
            </a:pPr>
            <a:endParaRPr lang="en-US" altLang="zh-CN" dirty="0"/>
          </a:p>
          <a:p>
            <a:pPr>
              <a:buNone/>
            </a:pPr>
            <a:endParaRPr lang="en-US" altLang="zh-CN" dirty="0"/>
          </a:p>
          <a:p>
            <a:pPr>
              <a:buNone/>
            </a:pPr>
            <a:endParaRPr lang="en-US" altLang="zh-CN" dirty="0"/>
          </a:p>
          <a:p>
            <a:pPr>
              <a:buNone/>
            </a:pPr>
            <a:r>
              <a:rPr lang="zh-CN" altLang="en-US" sz="2400" dirty="0"/>
              <a:t>如果目标函数已经是</a:t>
            </a:r>
            <a:r>
              <a:rPr lang="en-US" altLang="zh-CN" sz="2400" dirty="0"/>
              <a:t>max</a:t>
            </a:r>
            <a:r>
              <a:rPr lang="zh-CN" altLang="en-US" sz="2400" dirty="0"/>
              <a:t>形式，跳过此步。</a:t>
            </a:r>
            <a:endParaRPr lang="zh-CN" altLang="en-US" sz="2400" dirty="0"/>
          </a:p>
        </p:txBody>
      </p:sp>
      <p:grpSp>
        <p:nvGrpSpPr>
          <p:cNvPr id="4" name="组合 37"/>
          <p:cNvGrpSpPr/>
          <p:nvPr/>
        </p:nvGrpSpPr>
        <p:grpSpPr>
          <a:xfrm>
            <a:off x="4367808" y="1700808"/>
            <a:ext cx="3240360" cy="864096"/>
            <a:chOff x="7308304" y="548680"/>
            <a:chExt cx="3240360" cy="864096"/>
          </a:xfrm>
        </p:grpSpPr>
        <p:sp>
          <p:nvSpPr>
            <p:cNvPr id="5" name="矩形 4"/>
            <p:cNvSpPr/>
            <p:nvPr/>
          </p:nvSpPr>
          <p:spPr>
            <a:xfrm>
              <a:off x="7308304" y="692696"/>
              <a:ext cx="3240360" cy="479234"/>
            </a:xfrm>
            <a:prstGeom prst="rect">
              <a:avLst/>
            </a:prstGeom>
          </p:spPr>
          <p:txBody>
            <a:bodyPr wrap="square">
              <a:spAutoFit/>
            </a:bodyPr>
            <a:lstStyle/>
            <a:p>
              <a:pPr marL="342900" indent="-342900" algn="ctr" fontAlgn="base">
                <a:lnSpc>
                  <a:spcPct val="110000"/>
                </a:lnSpc>
                <a:spcAft>
                  <a:spcPct val="0"/>
                </a:spcAft>
              </a:pPr>
              <a:r>
                <a:rPr lang="en-US" altLang="zh-CN" sz="2400" dirty="0" err="1">
                  <a:solidFill>
                    <a:srgbClr val="FF0000"/>
                  </a:solidFill>
                </a:rPr>
                <a:t>min</a:t>
              </a:r>
              <a:r>
                <a:rPr lang="en-US" altLang="zh-CN" sz="2400" dirty="0" err="1">
                  <a:solidFill>
                    <a:srgbClr val="060606"/>
                  </a:solidFill>
                </a:rPr>
                <a:t>z</a:t>
              </a:r>
              <a:r>
                <a:rPr lang="en-US" altLang="zh-CN" sz="2400" dirty="0">
                  <a:solidFill>
                    <a:srgbClr val="060606"/>
                  </a:solidFill>
                </a:rPr>
                <a:t> =    c</a:t>
              </a:r>
              <a:r>
                <a:rPr lang="en-US" altLang="zh-CN" sz="2400" baseline="-25000" dirty="0">
                  <a:solidFill>
                    <a:srgbClr val="060606"/>
                  </a:solidFill>
                </a:rPr>
                <a:t>j</a:t>
              </a:r>
              <a:r>
                <a:rPr lang="en-US" altLang="zh-CN" sz="2400" dirty="0">
                  <a:solidFill>
                    <a:srgbClr val="060606"/>
                  </a:solidFill>
                </a:rPr>
                <a:t>x</a:t>
              </a:r>
              <a:r>
                <a:rPr lang="en-US" altLang="zh-CN" sz="2400" baseline="-25000" dirty="0">
                  <a:solidFill>
                    <a:srgbClr val="060606"/>
                  </a:solidFill>
                </a:rPr>
                <a:t>j</a:t>
              </a:r>
              <a:endParaRPr lang="en-US" altLang="zh-CN" sz="2400" dirty="0">
                <a:solidFill>
                  <a:srgbClr val="060606"/>
                </a:solidFill>
              </a:endParaRPr>
            </a:p>
          </p:txBody>
        </p:sp>
        <p:grpSp>
          <p:nvGrpSpPr>
            <p:cNvPr id="6" name="组合 31"/>
            <p:cNvGrpSpPr/>
            <p:nvPr/>
          </p:nvGrpSpPr>
          <p:grpSpPr>
            <a:xfrm>
              <a:off x="8964488" y="548680"/>
              <a:ext cx="526900" cy="864096"/>
              <a:chOff x="6300192" y="476672"/>
              <a:chExt cx="526900" cy="864096"/>
            </a:xfrm>
          </p:grpSpPr>
          <p:sp>
            <p:nvSpPr>
              <p:cNvPr id="7" name="矩形 6"/>
              <p:cNvSpPr/>
              <p:nvPr/>
            </p:nvSpPr>
            <p:spPr>
              <a:xfrm>
                <a:off x="6300192" y="971436"/>
                <a:ext cx="511679" cy="369332"/>
              </a:xfrm>
              <a:prstGeom prst="rect">
                <a:avLst/>
              </a:prstGeom>
            </p:spPr>
            <p:txBody>
              <a:bodyPr wrap="none">
                <a:spAutoFit/>
              </a:bodyPr>
              <a:lstStyle/>
              <a:p>
                <a:r>
                  <a:rPr lang="en-US" altLang="zh-CN" dirty="0">
                    <a:solidFill>
                      <a:srgbClr val="060606"/>
                    </a:solidFill>
                  </a:rPr>
                  <a:t>j=1</a:t>
                </a:r>
                <a:endParaRPr lang="zh-CN" altLang="en-US" dirty="0"/>
              </a:p>
            </p:txBody>
          </p:sp>
          <p:sp>
            <p:nvSpPr>
              <p:cNvPr id="8" name="矩形 7"/>
              <p:cNvSpPr/>
              <p:nvPr/>
            </p:nvSpPr>
            <p:spPr>
              <a:xfrm>
                <a:off x="6353738" y="476672"/>
                <a:ext cx="311304" cy="369332"/>
              </a:xfrm>
              <a:prstGeom prst="rect">
                <a:avLst/>
              </a:prstGeom>
            </p:spPr>
            <p:txBody>
              <a:bodyPr wrap="none">
                <a:spAutoFit/>
              </a:bodyPr>
              <a:lstStyle/>
              <a:p>
                <a:r>
                  <a:rPr lang="en-US" altLang="zh-CN" dirty="0">
                    <a:solidFill>
                      <a:srgbClr val="060606"/>
                    </a:solidFill>
                  </a:rPr>
                  <a:t>n</a:t>
                </a:r>
                <a:endParaRPr lang="zh-CN" altLang="en-US" dirty="0"/>
              </a:p>
            </p:txBody>
          </p:sp>
          <p:sp>
            <p:nvSpPr>
              <p:cNvPr id="9" name="矩形 8"/>
              <p:cNvSpPr/>
              <p:nvPr/>
            </p:nvSpPr>
            <p:spPr>
              <a:xfrm>
                <a:off x="6334649" y="656580"/>
                <a:ext cx="492443" cy="461665"/>
              </a:xfrm>
              <a:prstGeom prst="rect">
                <a:avLst/>
              </a:prstGeom>
            </p:spPr>
            <p:txBody>
              <a:bodyPr wrap="none">
                <a:spAutoFit/>
              </a:bodyPr>
              <a:lstStyle/>
              <a:p>
                <a:r>
                  <a:rPr lang="en-US" altLang="zh-CN" sz="2400" dirty="0">
                    <a:solidFill>
                      <a:srgbClr val="060606"/>
                    </a:solidFill>
                  </a:rPr>
                  <a:t>∑</a:t>
                </a:r>
                <a:endParaRPr lang="zh-CN" altLang="en-US" dirty="0"/>
              </a:p>
            </p:txBody>
          </p:sp>
        </p:grpSp>
      </p:grpSp>
      <p:grpSp>
        <p:nvGrpSpPr>
          <p:cNvPr id="10" name="组合 37"/>
          <p:cNvGrpSpPr/>
          <p:nvPr/>
        </p:nvGrpSpPr>
        <p:grpSpPr>
          <a:xfrm>
            <a:off x="4655840" y="3645024"/>
            <a:ext cx="3240360" cy="864096"/>
            <a:chOff x="7092280" y="548680"/>
            <a:chExt cx="3240360" cy="864096"/>
          </a:xfrm>
        </p:grpSpPr>
        <p:sp>
          <p:nvSpPr>
            <p:cNvPr id="11" name="矩形 10"/>
            <p:cNvSpPr/>
            <p:nvPr/>
          </p:nvSpPr>
          <p:spPr>
            <a:xfrm>
              <a:off x="7092280" y="692696"/>
              <a:ext cx="3240360" cy="479234"/>
            </a:xfrm>
            <a:prstGeom prst="rect">
              <a:avLst/>
            </a:prstGeom>
          </p:spPr>
          <p:txBody>
            <a:bodyPr wrap="square">
              <a:spAutoFit/>
            </a:bodyPr>
            <a:lstStyle/>
            <a:p>
              <a:pPr marL="342900" indent="-342900" algn="ctr" fontAlgn="base">
                <a:lnSpc>
                  <a:spcPct val="110000"/>
                </a:lnSpc>
                <a:spcAft>
                  <a:spcPct val="0"/>
                </a:spcAft>
              </a:pPr>
              <a:r>
                <a:rPr lang="en-US" altLang="zh-CN" sz="2400" dirty="0">
                  <a:solidFill>
                    <a:srgbClr val="FF0000"/>
                  </a:solidFill>
                </a:rPr>
                <a:t>Max  </a:t>
              </a:r>
              <a:r>
                <a:rPr lang="en-US" altLang="zh-CN" sz="2400" dirty="0">
                  <a:solidFill>
                    <a:srgbClr val="060606"/>
                  </a:solidFill>
                </a:rPr>
                <a:t>z’ = </a:t>
              </a:r>
              <a:r>
                <a:rPr lang="zh-CN" altLang="en-US" sz="2400" dirty="0">
                  <a:solidFill>
                    <a:srgbClr val="060606"/>
                  </a:solidFill>
                </a:rPr>
                <a:t>－</a:t>
              </a:r>
              <a:r>
                <a:rPr lang="en-US" altLang="zh-CN" sz="2400" dirty="0">
                  <a:solidFill>
                    <a:srgbClr val="060606"/>
                  </a:solidFill>
                </a:rPr>
                <a:t>    c</a:t>
              </a:r>
              <a:r>
                <a:rPr lang="en-US" altLang="zh-CN" sz="2400" baseline="-25000" dirty="0">
                  <a:solidFill>
                    <a:srgbClr val="060606"/>
                  </a:solidFill>
                </a:rPr>
                <a:t>j</a:t>
              </a:r>
              <a:r>
                <a:rPr lang="en-US" altLang="zh-CN" sz="2400" dirty="0">
                  <a:solidFill>
                    <a:srgbClr val="060606"/>
                  </a:solidFill>
                </a:rPr>
                <a:t>x</a:t>
              </a:r>
              <a:r>
                <a:rPr lang="en-US" altLang="zh-CN" sz="2400" baseline="-25000" dirty="0">
                  <a:solidFill>
                    <a:srgbClr val="060606"/>
                  </a:solidFill>
                </a:rPr>
                <a:t>j</a:t>
              </a:r>
              <a:endParaRPr lang="en-US" altLang="zh-CN" sz="2400" dirty="0">
                <a:solidFill>
                  <a:srgbClr val="060606"/>
                </a:solidFill>
              </a:endParaRPr>
            </a:p>
          </p:txBody>
        </p:sp>
        <p:grpSp>
          <p:nvGrpSpPr>
            <p:cNvPr id="12" name="组合 31"/>
            <p:cNvGrpSpPr/>
            <p:nvPr/>
          </p:nvGrpSpPr>
          <p:grpSpPr>
            <a:xfrm>
              <a:off x="8964488" y="548680"/>
              <a:ext cx="526900" cy="864096"/>
              <a:chOff x="6300192" y="476672"/>
              <a:chExt cx="526900" cy="864096"/>
            </a:xfrm>
          </p:grpSpPr>
          <p:sp>
            <p:nvSpPr>
              <p:cNvPr id="13" name="矩形 12"/>
              <p:cNvSpPr/>
              <p:nvPr/>
            </p:nvSpPr>
            <p:spPr>
              <a:xfrm>
                <a:off x="6300192" y="971436"/>
                <a:ext cx="511679" cy="369332"/>
              </a:xfrm>
              <a:prstGeom prst="rect">
                <a:avLst/>
              </a:prstGeom>
            </p:spPr>
            <p:txBody>
              <a:bodyPr wrap="none">
                <a:spAutoFit/>
              </a:bodyPr>
              <a:lstStyle/>
              <a:p>
                <a:r>
                  <a:rPr lang="en-US" altLang="zh-CN" dirty="0">
                    <a:solidFill>
                      <a:srgbClr val="060606"/>
                    </a:solidFill>
                  </a:rPr>
                  <a:t>j=1</a:t>
                </a:r>
                <a:endParaRPr lang="zh-CN" altLang="en-US" dirty="0"/>
              </a:p>
            </p:txBody>
          </p:sp>
          <p:sp>
            <p:nvSpPr>
              <p:cNvPr id="14" name="矩形 13"/>
              <p:cNvSpPr/>
              <p:nvPr/>
            </p:nvSpPr>
            <p:spPr>
              <a:xfrm>
                <a:off x="6353738" y="476672"/>
                <a:ext cx="311304" cy="369332"/>
              </a:xfrm>
              <a:prstGeom prst="rect">
                <a:avLst/>
              </a:prstGeom>
            </p:spPr>
            <p:txBody>
              <a:bodyPr wrap="none">
                <a:spAutoFit/>
              </a:bodyPr>
              <a:lstStyle/>
              <a:p>
                <a:r>
                  <a:rPr lang="en-US" altLang="zh-CN" dirty="0">
                    <a:solidFill>
                      <a:srgbClr val="060606"/>
                    </a:solidFill>
                  </a:rPr>
                  <a:t>n</a:t>
                </a:r>
                <a:endParaRPr lang="zh-CN" altLang="en-US" dirty="0"/>
              </a:p>
            </p:txBody>
          </p:sp>
          <p:sp>
            <p:nvSpPr>
              <p:cNvPr id="15" name="矩形 14"/>
              <p:cNvSpPr/>
              <p:nvPr/>
            </p:nvSpPr>
            <p:spPr>
              <a:xfrm>
                <a:off x="6334649" y="656580"/>
                <a:ext cx="492443" cy="461665"/>
              </a:xfrm>
              <a:prstGeom prst="rect">
                <a:avLst/>
              </a:prstGeom>
            </p:spPr>
            <p:txBody>
              <a:bodyPr wrap="none">
                <a:spAutoFit/>
              </a:bodyPr>
              <a:lstStyle/>
              <a:p>
                <a:r>
                  <a:rPr lang="en-US" altLang="zh-CN" sz="2400" dirty="0">
                    <a:solidFill>
                      <a:srgbClr val="060606"/>
                    </a:solidFill>
                  </a:rPr>
                  <a:t>∑</a:t>
                </a:r>
                <a:endParaRPr lang="zh-CN" altLang="en-US" dirty="0"/>
              </a:p>
            </p:txBody>
          </p:sp>
        </p:gr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6571" y="116632"/>
            <a:ext cx="9895342" cy="793750"/>
          </a:xfrm>
        </p:spPr>
        <p:txBody>
          <a:bodyPr>
            <a:normAutofit/>
          </a:bodyPr>
          <a:lstStyle/>
          <a:p>
            <a:r>
              <a:rPr lang="zh-CN" altLang="en-US" sz="3600" dirty="0"/>
              <a:t>第二步</a:t>
            </a:r>
            <a:r>
              <a:rPr lang="en-US" altLang="zh-CN" sz="3600" dirty="0"/>
              <a:t>.</a:t>
            </a:r>
            <a:r>
              <a:rPr lang="zh-CN" altLang="en-US" sz="3600" dirty="0"/>
              <a:t>右端值为非负值</a:t>
            </a:r>
            <a:r>
              <a:rPr lang="en-US" altLang="zh-CN" sz="3600" dirty="0"/>
              <a:t>?</a:t>
            </a:r>
            <a:endParaRPr lang="zh-CN" altLang="en-US" sz="3600" dirty="0"/>
          </a:p>
        </p:txBody>
      </p:sp>
      <p:sp>
        <p:nvSpPr>
          <p:cNvPr id="3" name="内容占位符 2"/>
          <p:cNvSpPr>
            <a:spLocks noGrp="1"/>
          </p:cNvSpPr>
          <p:nvPr>
            <p:ph idx="1"/>
          </p:nvPr>
        </p:nvSpPr>
        <p:spPr>
          <a:xfrm>
            <a:off x="348342" y="1269978"/>
            <a:ext cx="11495315" cy="793751"/>
          </a:xfrm>
        </p:spPr>
        <p:txBody>
          <a:bodyPr>
            <a:normAutofit lnSpcReduction="10000"/>
          </a:bodyPr>
          <a:lstStyle/>
          <a:p>
            <a:pPr>
              <a:lnSpc>
                <a:spcPct val="100000"/>
              </a:lnSpc>
              <a:buNone/>
            </a:pPr>
            <a:r>
              <a:rPr lang="zh-CN" altLang="en-US" sz="2400" dirty="0">
                <a:solidFill>
                  <a:srgbClr val="060606"/>
                </a:solidFill>
              </a:rPr>
              <a:t>考察</a:t>
            </a:r>
            <a:r>
              <a:rPr lang="en-US" altLang="zh-CN" sz="2400" dirty="0" err="1">
                <a:solidFill>
                  <a:srgbClr val="060606"/>
                </a:solidFill>
              </a:rPr>
              <a:t>s.t.</a:t>
            </a:r>
            <a:r>
              <a:rPr lang="zh-CN" altLang="en-US" sz="2400" dirty="0">
                <a:solidFill>
                  <a:srgbClr val="060606"/>
                </a:solidFill>
              </a:rPr>
              <a:t>中不等式的右端常数项，若</a:t>
            </a:r>
            <a:r>
              <a:rPr lang="zh-CN" altLang="en-US" sz="2400" dirty="0">
                <a:solidFill>
                  <a:srgbClr val="00000C"/>
                </a:solidFill>
              </a:rPr>
              <a:t>为非负值</a:t>
            </a:r>
            <a:r>
              <a:rPr lang="en-US" altLang="zh-CN" sz="2400" dirty="0">
                <a:solidFill>
                  <a:srgbClr val="00000C"/>
                </a:solidFill>
              </a:rPr>
              <a:t>,</a:t>
            </a:r>
            <a:r>
              <a:rPr lang="zh-CN" altLang="en-US" sz="2400" dirty="0">
                <a:solidFill>
                  <a:srgbClr val="00000C"/>
                </a:solidFill>
              </a:rPr>
              <a:t>则无须变换。否则不等式两边同乘以</a:t>
            </a:r>
            <a:r>
              <a:rPr lang="en-US" altLang="zh-CN" sz="2400" dirty="0">
                <a:solidFill>
                  <a:srgbClr val="00000C"/>
                </a:solidFill>
              </a:rPr>
              <a:t>-1</a:t>
            </a:r>
            <a:r>
              <a:rPr lang="zh-CN" altLang="en-US" sz="2400" dirty="0">
                <a:solidFill>
                  <a:srgbClr val="00000C"/>
                </a:solidFill>
              </a:rPr>
              <a:t>，不等式变号。</a:t>
            </a:r>
            <a:endParaRPr lang="en-US" altLang="zh-CN" sz="2400" dirty="0">
              <a:solidFill>
                <a:srgbClr val="00000C"/>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992435" y="2206657"/>
            <a:ext cx="6200775" cy="1485900"/>
          </a:xfrm>
          <a:prstGeom prst="rect">
            <a:avLst/>
          </a:prstGeom>
        </p:spPr>
      </p:pic>
      <p:sp>
        <p:nvSpPr>
          <p:cNvPr id="8" name="箭头: 右 7"/>
          <p:cNvSpPr/>
          <p:nvPr/>
        </p:nvSpPr>
        <p:spPr>
          <a:xfrm>
            <a:off x="1606858" y="4074850"/>
            <a:ext cx="719092" cy="435006"/>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2"/>
          <a:stretch>
            <a:fillRect/>
          </a:stretch>
        </p:blipFill>
        <p:spPr>
          <a:xfrm>
            <a:off x="2543498" y="3955228"/>
            <a:ext cx="6181725" cy="1247775"/>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446"/>
            <a:ext cx="12192000" cy="522686"/>
          </a:xfrm>
        </p:spPr>
        <p:txBody>
          <a:bodyPr>
            <a:normAutofit/>
          </a:bodyPr>
          <a:lstStyle/>
          <a:p>
            <a:r>
              <a:rPr lang="zh-CN" altLang="en-US" sz="2800" dirty="0"/>
              <a:t>第三步：约束条件为不等式，如何转换为等式</a:t>
            </a:r>
            <a:r>
              <a:rPr lang="en-US" altLang="zh-CN" sz="2800" dirty="0"/>
              <a:t>?</a:t>
            </a:r>
            <a:endParaRPr lang="zh-CN" altLang="en-US" sz="2800" dirty="0"/>
          </a:p>
        </p:txBody>
      </p:sp>
      <p:sp>
        <p:nvSpPr>
          <p:cNvPr id="3" name="内容占位符 2"/>
          <p:cNvSpPr>
            <a:spLocks noGrp="1"/>
          </p:cNvSpPr>
          <p:nvPr>
            <p:ph idx="1"/>
          </p:nvPr>
        </p:nvSpPr>
        <p:spPr>
          <a:xfrm>
            <a:off x="317241" y="634765"/>
            <a:ext cx="11551297" cy="5249379"/>
          </a:xfrm>
          <a:noFill/>
        </p:spPr>
        <p:txBody>
          <a:bodyPr>
            <a:normAutofit/>
          </a:bodyPr>
          <a:lstStyle/>
          <a:p>
            <a:pPr>
              <a:lnSpc>
                <a:spcPct val="100000"/>
              </a:lnSpc>
              <a:buNone/>
            </a:pPr>
            <a:r>
              <a:rPr lang="zh-CN" altLang="en-US" sz="2400" dirty="0">
                <a:solidFill>
                  <a:srgbClr val="060606"/>
                </a:solidFill>
              </a:rPr>
              <a:t>总的思路：增加非负松弛变量</a:t>
            </a:r>
            <a:endParaRPr lang="en-US" altLang="zh-CN" sz="2400" dirty="0">
              <a:solidFill>
                <a:srgbClr val="060606"/>
              </a:solidFill>
            </a:endParaRPr>
          </a:p>
          <a:p>
            <a:pPr>
              <a:lnSpc>
                <a:spcPct val="100000"/>
              </a:lnSpc>
              <a:buNone/>
            </a:pPr>
            <a:r>
              <a:rPr lang="zh-CN" altLang="en-US" sz="2400" dirty="0">
                <a:solidFill>
                  <a:srgbClr val="060606"/>
                </a:solidFill>
              </a:rPr>
              <a:t>考察</a:t>
            </a:r>
            <a:r>
              <a:rPr lang="en-US" altLang="zh-CN" sz="2400" dirty="0" err="1">
                <a:solidFill>
                  <a:srgbClr val="060606"/>
                </a:solidFill>
              </a:rPr>
              <a:t>s.t.</a:t>
            </a:r>
            <a:r>
              <a:rPr lang="zh-CN" altLang="en-US" sz="2400" dirty="0">
                <a:solidFill>
                  <a:srgbClr val="060606"/>
                </a:solidFill>
              </a:rPr>
              <a:t>中不等式的形式，若除非负约束外，全是等式，则跳过此步。否则，</a:t>
            </a:r>
            <a:endParaRPr lang="en-US" altLang="zh-CN" sz="2400" dirty="0">
              <a:solidFill>
                <a:srgbClr val="060606"/>
              </a:solidFill>
            </a:endParaRPr>
          </a:p>
          <a:p>
            <a:pPr>
              <a:lnSpc>
                <a:spcPct val="100000"/>
              </a:lnSpc>
              <a:buNone/>
            </a:pPr>
            <a:r>
              <a:rPr lang="en-US" altLang="zh-CN" sz="2400" dirty="0">
                <a:solidFill>
                  <a:srgbClr val="060606"/>
                </a:solidFill>
              </a:rPr>
              <a:t>(1)</a:t>
            </a:r>
            <a:r>
              <a:rPr lang="zh-CN" altLang="en-US" sz="2400" dirty="0">
                <a:solidFill>
                  <a:srgbClr val="060606"/>
                </a:solidFill>
              </a:rPr>
              <a:t>若是下列不等式</a:t>
            </a:r>
            <a:r>
              <a:rPr lang="en-US" altLang="zh-CN" sz="2400" dirty="0">
                <a:solidFill>
                  <a:srgbClr val="060606"/>
                </a:solidFill>
              </a:rPr>
              <a:t>(</a:t>
            </a:r>
            <a:r>
              <a:rPr lang="zh-CN" altLang="en-US" sz="2400" dirty="0">
                <a:solidFill>
                  <a:srgbClr val="060606"/>
                </a:solidFill>
              </a:rPr>
              <a:t>“</a:t>
            </a:r>
            <a:r>
              <a:rPr lang="en-US" altLang="zh-CN" sz="2400" dirty="0">
                <a:solidFill>
                  <a:srgbClr val="060606"/>
                </a:solidFill>
              </a:rPr>
              <a:t>≤</a:t>
            </a:r>
            <a:r>
              <a:rPr lang="zh-CN" altLang="en-US" sz="2400" dirty="0">
                <a:solidFill>
                  <a:srgbClr val="060606"/>
                </a:solidFill>
              </a:rPr>
              <a:t>”</a:t>
            </a:r>
            <a:r>
              <a:rPr lang="en-US" altLang="zh-CN" sz="2400" dirty="0">
                <a:solidFill>
                  <a:srgbClr val="060606"/>
                </a:solidFill>
              </a:rPr>
              <a:t>)</a:t>
            </a:r>
            <a:r>
              <a:rPr lang="zh-CN" altLang="en-US" sz="2400" dirty="0">
                <a:solidFill>
                  <a:srgbClr val="060606"/>
                </a:solidFill>
              </a:rPr>
              <a:t>：</a:t>
            </a:r>
            <a:endParaRPr lang="en-US" altLang="zh-CN" sz="1000" dirty="0">
              <a:solidFill>
                <a:srgbClr val="060606"/>
              </a:solidFill>
            </a:endParaRPr>
          </a:p>
          <a:p>
            <a:pPr>
              <a:lnSpc>
                <a:spcPct val="100000"/>
              </a:lnSpc>
              <a:buNone/>
            </a:pPr>
            <a:r>
              <a:rPr lang="zh-CN" altLang="en-US" sz="2400" dirty="0">
                <a:solidFill>
                  <a:srgbClr val="060606"/>
                </a:solidFill>
              </a:rPr>
              <a:t>引入</a:t>
            </a:r>
            <a:r>
              <a:rPr lang="zh-CN" altLang="en-US" sz="2400" u="sng" dirty="0">
                <a:solidFill>
                  <a:srgbClr val="060606"/>
                </a:solidFill>
              </a:rPr>
              <a:t>松弛变量</a:t>
            </a:r>
            <a:r>
              <a:rPr lang="en-US" altLang="zh-CN" sz="2400" u="sng" dirty="0" err="1">
                <a:solidFill>
                  <a:srgbClr val="060606"/>
                </a:solidFill>
              </a:rPr>
              <a:t>x</a:t>
            </a:r>
            <a:r>
              <a:rPr lang="en-US" altLang="zh-CN" sz="2400" u="sng" baseline="-25000" dirty="0" err="1">
                <a:solidFill>
                  <a:srgbClr val="060606"/>
                </a:solidFill>
              </a:rPr>
              <a:t>n+k</a:t>
            </a:r>
            <a:r>
              <a:rPr lang="en-US" altLang="zh-CN" sz="2400" u="sng" baseline="-25000" dirty="0">
                <a:solidFill>
                  <a:srgbClr val="060606"/>
                </a:solidFill>
              </a:rPr>
              <a:t> </a:t>
            </a:r>
            <a:r>
              <a:rPr lang="en-US" altLang="zh-CN" sz="2400" u="sng" dirty="0">
                <a:solidFill>
                  <a:srgbClr val="060606"/>
                </a:solidFill>
              </a:rPr>
              <a:t>(≥0)</a:t>
            </a:r>
            <a:r>
              <a:rPr lang="zh-CN" altLang="en-US" sz="2400" dirty="0">
                <a:solidFill>
                  <a:srgbClr val="060606"/>
                </a:solidFill>
              </a:rPr>
              <a:t>，加入上式，使成为等式：</a:t>
            </a:r>
            <a:endParaRPr lang="en-US" altLang="zh-CN" sz="2400" dirty="0">
              <a:solidFill>
                <a:srgbClr val="060606"/>
              </a:solidFill>
            </a:endParaRPr>
          </a:p>
          <a:p>
            <a:pPr>
              <a:lnSpc>
                <a:spcPct val="100000"/>
              </a:lnSpc>
              <a:buNone/>
            </a:pPr>
            <a:endParaRPr lang="en-US" altLang="zh-CN" dirty="0">
              <a:solidFill>
                <a:srgbClr val="060606"/>
              </a:solidFill>
            </a:endParaRPr>
          </a:p>
          <a:p>
            <a:pPr>
              <a:lnSpc>
                <a:spcPct val="100000"/>
              </a:lnSpc>
              <a:buNone/>
            </a:pPr>
            <a:endParaRPr lang="en-US" altLang="zh-CN" sz="1050" dirty="0">
              <a:solidFill>
                <a:srgbClr val="060606"/>
              </a:solidFill>
            </a:endParaRPr>
          </a:p>
          <a:p>
            <a:pPr>
              <a:lnSpc>
                <a:spcPct val="100000"/>
              </a:lnSpc>
              <a:buNone/>
            </a:pPr>
            <a:r>
              <a:rPr lang="en-US" altLang="zh-CN" sz="2400" dirty="0">
                <a:solidFill>
                  <a:srgbClr val="060606"/>
                </a:solidFill>
              </a:rPr>
              <a:t>(2)</a:t>
            </a:r>
            <a:r>
              <a:rPr lang="zh-CN" altLang="en-US" sz="2400" dirty="0">
                <a:solidFill>
                  <a:srgbClr val="060606"/>
                </a:solidFill>
              </a:rPr>
              <a:t>若是下列不等式</a:t>
            </a:r>
            <a:r>
              <a:rPr lang="en-US" altLang="zh-CN" sz="2400" dirty="0">
                <a:solidFill>
                  <a:srgbClr val="060606"/>
                </a:solidFill>
              </a:rPr>
              <a:t>(</a:t>
            </a:r>
            <a:r>
              <a:rPr lang="zh-CN" altLang="en-US" sz="2400" dirty="0">
                <a:solidFill>
                  <a:srgbClr val="060606"/>
                </a:solidFill>
              </a:rPr>
              <a:t>“</a:t>
            </a:r>
            <a:r>
              <a:rPr lang="en-US" altLang="zh-CN" sz="2400" dirty="0">
                <a:solidFill>
                  <a:srgbClr val="060606"/>
                </a:solidFill>
              </a:rPr>
              <a:t>≥</a:t>
            </a:r>
            <a:r>
              <a:rPr lang="zh-CN" altLang="en-US" sz="2400" dirty="0">
                <a:solidFill>
                  <a:srgbClr val="060606"/>
                </a:solidFill>
              </a:rPr>
              <a:t>”</a:t>
            </a:r>
            <a:r>
              <a:rPr lang="en-US" altLang="zh-CN" sz="2400" dirty="0">
                <a:solidFill>
                  <a:srgbClr val="060606"/>
                </a:solidFill>
              </a:rPr>
              <a:t>)</a:t>
            </a:r>
            <a:r>
              <a:rPr lang="zh-CN" altLang="en-US" sz="2400" dirty="0">
                <a:solidFill>
                  <a:srgbClr val="060606"/>
                </a:solidFill>
              </a:rPr>
              <a:t>：</a:t>
            </a:r>
            <a:endParaRPr lang="en-US" altLang="zh-CN" sz="2400" dirty="0">
              <a:solidFill>
                <a:srgbClr val="060606"/>
              </a:solidFill>
            </a:endParaRPr>
          </a:p>
          <a:p>
            <a:pPr>
              <a:lnSpc>
                <a:spcPct val="100000"/>
              </a:lnSpc>
              <a:buNone/>
            </a:pPr>
            <a:r>
              <a:rPr lang="zh-CN" altLang="en-US" sz="2400" dirty="0">
                <a:solidFill>
                  <a:srgbClr val="060606"/>
                </a:solidFill>
              </a:rPr>
              <a:t>引入剩余</a:t>
            </a:r>
            <a:r>
              <a:rPr lang="zh-CN" altLang="en-US" sz="2400" u="sng" dirty="0">
                <a:solidFill>
                  <a:srgbClr val="060606"/>
                </a:solidFill>
              </a:rPr>
              <a:t>变量</a:t>
            </a:r>
            <a:r>
              <a:rPr lang="en-US" altLang="zh-CN" sz="2400" u="sng" dirty="0">
                <a:solidFill>
                  <a:srgbClr val="060606"/>
                </a:solidFill>
              </a:rPr>
              <a:t>(</a:t>
            </a:r>
            <a:r>
              <a:rPr lang="zh-CN" altLang="en-US" sz="2400" u="sng" dirty="0">
                <a:solidFill>
                  <a:srgbClr val="060606"/>
                </a:solidFill>
              </a:rPr>
              <a:t>松弛变量</a:t>
            </a:r>
            <a:r>
              <a:rPr lang="en-US" altLang="zh-CN" sz="2400" u="sng" dirty="0">
                <a:solidFill>
                  <a:srgbClr val="060606"/>
                </a:solidFill>
              </a:rPr>
              <a:t>)</a:t>
            </a:r>
            <a:r>
              <a:rPr lang="en-US" altLang="zh-CN" sz="2400" u="sng" dirty="0" err="1">
                <a:solidFill>
                  <a:srgbClr val="060606"/>
                </a:solidFill>
              </a:rPr>
              <a:t>x</a:t>
            </a:r>
            <a:r>
              <a:rPr lang="en-US" altLang="zh-CN" sz="2400" u="sng" baseline="-25000" dirty="0" err="1">
                <a:solidFill>
                  <a:srgbClr val="060606"/>
                </a:solidFill>
              </a:rPr>
              <a:t>n+k</a:t>
            </a:r>
            <a:r>
              <a:rPr lang="en-US" altLang="zh-CN" sz="2400" u="sng" baseline="-25000" dirty="0">
                <a:solidFill>
                  <a:srgbClr val="060606"/>
                </a:solidFill>
              </a:rPr>
              <a:t> </a:t>
            </a:r>
            <a:r>
              <a:rPr lang="en-US" altLang="zh-CN" sz="2400" u="sng" dirty="0">
                <a:solidFill>
                  <a:srgbClr val="060606"/>
                </a:solidFill>
              </a:rPr>
              <a:t>(≥0)</a:t>
            </a:r>
            <a:r>
              <a:rPr lang="zh-CN" altLang="en-US" sz="2400" dirty="0">
                <a:solidFill>
                  <a:srgbClr val="060606"/>
                </a:solidFill>
              </a:rPr>
              <a:t>，在上式中减去，使成为等式：</a:t>
            </a:r>
            <a:endParaRPr lang="en-US" altLang="zh-CN" sz="2400" dirty="0">
              <a:solidFill>
                <a:srgbClr val="060606"/>
              </a:solidFill>
            </a:endParaRPr>
          </a:p>
          <a:p>
            <a:pPr>
              <a:lnSpc>
                <a:spcPct val="100000"/>
              </a:lnSpc>
              <a:buNone/>
            </a:pPr>
            <a:endParaRPr lang="en-US" altLang="zh-CN" sz="2400" dirty="0">
              <a:solidFill>
                <a:srgbClr val="060606"/>
              </a:solidFill>
            </a:endParaRPr>
          </a:p>
          <a:p>
            <a:pPr>
              <a:lnSpc>
                <a:spcPct val="100000"/>
              </a:lnSpc>
              <a:buNone/>
            </a:pPr>
            <a:endParaRPr lang="en-US" altLang="zh-CN" sz="2400" dirty="0">
              <a:solidFill>
                <a:srgbClr val="060606"/>
              </a:solidFill>
            </a:endParaRPr>
          </a:p>
          <a:p>
            <a:pPr>
              <a:lnSpc>
                <a:spcPct val="100000"/>
              </a:lnSpc>
              <a:buNone/>
            </a:pPr>
            <a:r>
              <a:rPr lang="zh-CN" altLang="en-US" sz="2400" dirty="0">
                <a:solidFill>
                  <a:srgbClr val="060606"/>
                </a:solidFill>
              </a:rPr>
              <a:t>注意</a:t>
            </a:r>
            <a:r>
              <a:rPr lang="en-US" altLang="zh-CN" sz="2400" dirty="0">
                <a:solidFill>
                  <a:srgbClr val="060606"/>
                </a:solidFill>
              </a:rPr>
              <a:t>:</a:t>
            </a:r>
            <a:r>
              <a:rPr lang="en-US" altLang="zh-CN" sz="2400" dirty="0" err="1"/>
              <a:t>x</a:t>
            </a:r>
            <a:r>
              <a:rPr lang="en-US" altLang="zh-CN" sz="2400" baseline="-25000" dirty="0" err="1"/>
              <a:t>n+k</a:t>
            </a:r>
            <a:r>
              <a:rPr lang="zh-CN" altLang="zh-CN" sz="2400" dirty="0"/>
              <a:t>须</a:t>
            </a:r>
            <a:r>
              <a:rPr lang="zh-CN" altLang="en-US" sz="2400" dirty="0"/>
              <a:t>加到</a:t>
            </a:r>
            <a:r>
              <a:rPr lang="zh-CN" altLang="zh-CN" sz="2400" dirty="0"/>
              <a:t>目标函数中</a:t>
            </a:r>
            <a:r>
              <a:rPr lang="zh-CN" altLang="en-US" sz="2400" dirty="0"/>
              <a:t>，但</a:t>
            </a:r>
            <a:r>
              <a:rPr lang="zh-CN" altLang="en-US" sz="2400" dirty="0">
                <a:solidFill>
                  <a:srgbClr val="060606"/>
                </a:solidFill>
              </a:rPr>
              <a:t>在目标函数中的系数为</a:t>
            </a:r>
            <a:r>
              <a:rPr lang="en-US" altLang="zh-CN" sz="2400" dirty="0">
                <a:solidFill>
                  <a:srgbClr val="060606"/>
                </a:solidFill>
              </a:rPr>
              <a:t>0</a:t>
            </a:r>
            <a:r>
              <a:rPr lang="zh-CN" altLang="en-US" sz="2400" dirty="0">
                <a:solidFill>
                  <a:srgbClr val="060606"/>
                </a:solidFill>
              </a:rPr>
              <a:t>：</a:t>
            </a:r>
            <a:endParaRPr lang="en-US" altLang="zh-CN" sz="2400" dirty="0">
              <a:solidFill>
                <a:srgbClr val="060606"/>
              </a:solidFill>
            </a:endParaRPr>
          </a:p>
        </p:txBody>
      </p:sp>
      <p:grpSp>
        <p:nvGrpSpPr>
          <p:cNvPr id="19" name="组合 18"/>
          <p:cNvGrpSpPr/>
          <p:nvPr/>
        </p:nvGrpSpPr>
        <p:grpSpPr>
          <a:xfrm>
            <a:off x="4163266" y="1579930"/>
            <a:ext cx="5040560" cy="5277302"/>
            <a:chOff x="4163266" y="1355989"/>
            <a:chExt cx="5040560" cy="5277302"/>
          </a:xfrm>
        </p:grpSpPr>
        <p:sp>
          <p:nvSpPr>
            <p:cNvPr id="4" name="矩形 3"/>
            <p:cNvSpPr/>
            <p:nvPr/>
          </p:nvSpPr>
          <p:spPr>
            <a:xfrm>
              <a:off x="4163266" y="2453631"/>
              <a:ext cx="4578497" cy="461665"/>
            </a:xfrm>
            <a:prstGeom prst="rect">
              <a:avLst/>
            </a:prstGeom>
          </p:spPr>
          <p:txBody>
            <a:bodyPr wrap="none">
              <a:spAutoFit/>
            </a:bodyPr>
            <a:lstStyle/>
            <a:p>
              <a:r>
                <a:rPr lang="en-US" altLang="zh-CN" sz="2400" dirty="0">
                  <a:solidFill>
                    <a:srgbClr val="060606"/>
                  </a:solidFill>
                </a:rPr>
                <a:t>a</a:t>
              </a:r>
              <a:r>
                <a:rPr lang="en-US" altLang="zh-CN" sz="2400" baseline="-25000" dirty="0">
                  <a:solidFill>
                    <a:srgbClr val="060606"/>
                  </a:solidFill>
                </a:rPr>
                <a:t>k1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a</a:t>
              </a:r>
              <a:r>
                <a:rPr lang="en-US" altLang="zh-CN" sz="2400" baseline="-25000" dirty="0">
                  <a:solidFill>
                    <a:srgbClr val="060606"/>
                  </a:solidFill>
                </a:rPr>
                <a:t>k2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t>
              </a:r>
              <a:r>
                <a:rPr lang="en-US" altLang="zh-CN" sz="2400" dirty="0" err="1">
                  <a:solidFill>
                    <a:srgbClr val="060606"/>
                  </a:solidFill>
                </a:rPr>
                <a:t>a</a:t>
              </a:r>
              <a:r>
                <a:rPr lang="en-US" altLang="zh-CN" sz="2400" baseline="-25000" dirty="0" err="1">
                  <a:solidFill>
                    <a:srgbClr val="060606"/>
                  </a:solidFill>
                </a:rPr>
                <a:t>kn</a:t>
              </a:r>
              <a:r>
                <a:rPr lang="en-US" altLang="zh-CN" sz="2400" dirty="0" err="1">
                  <a:solidFill>
                    <a:srgbClr val="060606"/>
                  </a:solidFill>
                </a:rPr>
                <a:t>x</a:t>
              </a:r>
              <a:r>
                <a:rPr lang="en-US" altLang="zh-CN" sz="2400" baseline="-25000" dirty="0" err="1">
                  <a:solidFill>
                    <a:srgbClr val="060606"/>
                  </a:solidFill>
                </a:rPr>
                <a:t>n</a:t>
              </a:r>
              <a:r>
                <a:rPr lang="en-US" altLang="zh-CN" sz="2400" baseline="-25000" dirty="0">
                  <a:solidFill>
                    <a:srgbClr val="060606"/>
                  </a:solidFill>
                </a:rPr>
                <a:t>  </a:t>
              </a:r>
              <a:r>
                <a:rPr lang="en-US" altLang="zh-CN" sz="2400" dirty="0">
                  <a:solidFill>
                    <a:srgbClr val="FF0000"/>
                  </a:solidFill>
                </a:rPr>
                <a:t>+ </a:t>
              </a:r>
              <a:r>
                <a:rPr lang="en-US" altLang="zh-CN" sz="2400" dirty="0" err="1">
                  <a:solidFill>
                    <a:srgbClr val="FF0000"/>
                  </a:solidFill>
                </a:rPr>
                <a:t>x</a:t>
              </a:r>
              <a:r>
                <a:rPr lang="en-US" altLang="zh-CN" sz="2400" baseline="-25000" dirty="0" err="1">
                  <a:solidFill>
                    <a:srgbClr val="FF0000"/>
                  </a:solidFill>
                </a:rPr>
                <a:t>n+k</a:t>
              </a:r>
              <a:r>
                <a:rPr lang="en-US" altLang="zh-CN" sz="2400" dirty="0">
                  <a:solidFill>
                    <a:srgbClr val="FF0000"/>
                  </a:solidFill>
                </a:rPr>
                <a:t>  =  </a:t>
              </a:r>
              <a:r>
                <a:rPr lang="en-US" altLang="zh-CN" sz="2400" dirty="0" err="1">
                  <a:solidFill>
                    <a:srgbClr val="060606"/>
                  </a:solidFill>
                </a:rPr>
                <a:t>b</a:t>
              </a:r>
              <a:r>
                <a:rPr lang="en-US" altLang="zh-CN" sz="2400" baseline="-25000" dirty="0" err="1">
                  <a:solidFill>
                    <a:srgbClr val="060606"/>
                  </a:solidFill>
                </a:rPr>
                <a:t>k</a:t>
              </a:r>
              <a:r>
                <a:rPr lang="en-US" altLang="zh-CN" sz="2400" dirty="0">
                  <a:solidFill>
                    <a:srgbClr val="060606"/>
                  </a:solidFill>
                </a:rPr>
                <a:t> </a:t>
              </a:r>
              <a:endParaRPr lang="zh-CN" altLang="en-US" sz="2400" dirty="0"/>
            </a:p>
          </p:txBody>
        </p:sp>
        <p:sp>
          <p:nvSpPr>
            <p:cNvPr id="5" name="矩形 4"/>
            <p:cNvSpPr/>
            <p:nvPr/>
          </p:nvSpPr>
          <p:spPr>
            <a:xfrm>
              <a:off x="4163266" y="1355989"/>
              <a:ext cx="3825086" cy="461665"/>
            </a:xfrm>
            <a:prstGeom prst="rect">
              <a:avLst/>
            </a:prstGeom>
          </p:spPr>
          <p:txBody>
            <a:bodyPr wrap="none">
              <a:spAutoFit/>
            </a:bodyPr>
            <a:lstStyle/>
            <a:p>
              <a:r>
                <a:rPr lang="en-US" altLang="zh-CN" sz="2400" dirty="0">
                  <a:solidFill>
                    <a:srgbClr val="060606"/>
                  </a:solidFill>
                </a:rPr>
                <a:t>a</a:t>
              </a:r>
              <a:r>
                <a:rPr lang="en-US" altLang="zh-CN" sz="2400" baseline="-25000" dirty="0">
                  <a:solidFill>
                    <a:srgbClr val="060606"/>
                  </a:solidFill>
                </a:rPr>
                <a:t>k1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a</a:t>
              </a:r>
              <a:r>
                <a:rPr lang="en-US" altLang="zh-CN" sz="2400" baseline="-25000" dirty="0">
                  <a:solidFill>
                    <a:srgbClr val="060606"/>
                  </a:solidFill>
                </a:rPr>
                <a:t>k2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t>
              </a:r>
              <a:r>
                <a:rPr lang="en-US" altLang="zh-CN" sz="2400" dirty="0" err="1">
                  <a:solidFill>
                    <a:srgbClr val="060606"/>
                  </a:solidFill>
                </a:rPr>
                <a:t>a</a:t>
              </a:r>
              <a:r>
                <a:rPr lang="en-US" altLang="zh-CN" sz="2400" baseline="-25000" dirty="0" err="1">
                  <a:solidFill>
                    <a:srgbClr val="060606"/>
                  </a:solidFill>
                </a:rPr>
                <a:t>kn</a:t>
              </a:r>
              <a:r>
                <a:rPr lang="en-US" altLang="zh-CN" sz="2400" dirty="0" err="1">
                  <a:solidFill>
                    <a:srgbClr val="060606"/>
                  </a:solidFill>
                </a:rPr>
                <a:t>x</a:t>
              </a:r>
              <a:r>
                <a:rPr lang="en-US" altLang="zh-CN" sz="2400" baseline="-25000" dirty="0" err="1">
                  <a:solidFill>
                    <a:srgbClr val="060606"/>
                  </a:solidFill>
                </a:rPr>
                <a:t>n</a:t>
              </a:r>
              <a:r>
                <a:rPr lang="en-US" altLang="zh-CN" sz="2400" baseline="-25000" dirty="0">
                  <a:solidFill>
                    <a:srgbClr val="060606"/>
                  </a:solidFill>
                </a:rPr>
                <a:t>  </a:t>
              </a:r>
              <a:r>
                <a:rPr lang="en-US" altLang="zh-CN" sz="2400" dirty="0">
                  <a:solidFill>
                    <a:srgbClr val="FF0000"/>
                  </a:solidFill>
                </a:rPr>
                <a:t> ≤</a:t>
              </a:r>
              <a:r>
                <a:rPr lang="en-US" altLang="zh-CN" sz="2400" dirty="0">
                  <a:solidFill>
                    <a:srgbClr val="060606"/>
                  </a:solidFill>
                </a:rPr>
                <a:t> </a:t>
              </a:r>
              <a:r>
                <a:rPr lang="en-US" altLang="zh-CN" sz="2400" dirty="0">
                  <a:solidFill>
                    <a:srgbClr val="FF0000"/>
                  </a:solidFill>
                </a:rPr>
                <a:t> </a:t>
              </a:r>
              <a:r>
                <a:rPr lang="en-US" altLang="zh-CN" sz="2400" dirty="0" err="1">
                  <a:solidFill>
                    <a:srgbClr val="060606"/>
                  </a:solidFill>
                </a:rPr>
                <a:t>b</a:t>
              </a:r>
              <a:r>
                <a:rPr lang="en-US" altLang="zh-CN" sz="2400" baseline="-25000" dirty="0" err="1">
                  <a:solidFill>
                    <a:srgbClr val="060606"/>
                  </a:solidFill>
                </a:rPr>
                <a:t>k</a:t>
              </a:r>
              <a:r>
                <a:rPr lang="en-US" altLang="zh-CN" sz="2400" dirty="0">
                  <a:solidFill>
                    <a:srgbClr val="060606"/>
                  </a:solidFill>
                </a:rPr>
                <a:t> </a:t>
              </a:r>
              <a:endParaRPr lang="zh-CN" altLang="en-US" sz="2400" dirty="0"/>
            </a:p>
          </p:txBody>
        </p:sp>
        <p:sp>
          <p:nvSpPr>
            <p:cNvPr id="6" name="矩形 5"/>
            <p:cNvSpPr/>
            <p:nvPr/>
          </p:nvSpPr>
          <p:spPr>
            <a:xfrm>
              <a:off x="4163266" y="3232866"/>
              <a:ext cx="3825086" cy="461665"/>
            </a:xfrm>
            <a:prstGeom prst="rect">
              <a:avLst/>
            </a:prstGeom>
          </p:spPr>
          <p:txBody>
            <a:bodyPr wrap="none">
              <a:spAutoFit/>
            </a:bodyPr>
            <a:lstStyle/>
            <a:p>
              <a:r>
                <a:rPr lang="en-US" altLang="zh-CN" sz="2400" dirty="0">
                  <a:solidFill>
                    <a:srgbClr val="060606"/>
                  </a:solidFill>
                </a:rPr>
                <a:t>a</a:t>
              </a:r>
              <a:r>
                <a:rPr lang="en-US" altLang="zh-CN" sz="2400" baseline="-25000" dirty="0">
                  <a:solidFill>
                    <a:srgbClr val="060606"/>
                  </a:solidFill>
                </a:rPr>
                <a:t>k1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a</a:t>
              </a:r>
              <a:r>
                <a:rPr lang="en-US" altLang="zh-CN" sz="2400" baseline="-25000" dirty="0">
                  <a:solidFill>
                    <a:srgbClr val="060606"/>
                  </a:solidFill>
                </a:rPr>
                <a:t>k2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t>
              </a:r>
              <a:r>
                <a:rPr lang="en-US" altLang="zh-CN" sz="2400" dirty="0" err="1">
                  <a:solidFill>
                    <a:srgbClr val="060606"/>
                  </a:solidFill>
                </a:rPr>
                <a:t>a</a:t>
              </a:r>
              <a:r>
                <a:rPr lang="en-US" altLang="zh-CN" sz="2400" baseline="-25000" dirty="0" err="1">
                  <a:solidFill>
                    <a:srgbClr val="060606"/>
                  </a:solidFill>
                </a:rPr>
                <a:t>kn</a:t>
              </a:r>
              <a:r>
                <a:rPr lang="en-US" altLang="zh-CN" sz="2400" dirty="0" err="1">
                  <a:solidFill>
                    <a:srgbClr val="060606"/>
                  </a:solidFill>
                </a:rPr>
                <a:t>x</a:t>
              </a:r>
              <a:r>
                <a:rPr lang="en-US" altLang="zh-CN" sz="2400" baseline="-25000" dirty="0" err="1">
                  <a:solidFill>
                    <a:srgbClr val="060606"/>
                  </a:solidFill>
                </a:rPr>
                <a:t>n</a:t>
              </a:r>
              <a:r>
                <a:rPr lang="en-US" altLang="zh-CN" sz="2400" baseline="-25000" dirty="0">
                  <a:solidFill>
                    <a:srgbClr val="060606"/>
                  </a:solidFill>
                </a:rPr>
                <a:t>  </a:t>
              </a:r>
              <a:r>
                <a:rPr lang="en-US" altLang="zh-CN" sz="2400" dirty="0">
                  <a:solidFill>
                    <a:srgbClr val="FF0000"/>
                  </a:solidFill>
                </a:rPr>
                <a:t> ≥</a:t>
              </a:r>
              <a:r>
                <a:rPr lang="en-US" altLang="zh-CN" sz="2400" dirty="0">
                  <a:solidFill>
                    <a:srgbClr val="060606"/>
                  </a:solidFill>
                </a:rPr>
                <a:t> </a:t>
              </a:r>
              <a:r>
                <a:rPr lang="en-US" altLang="zh-CN" sz="2400" dirty="0">
                  <a:solidFill>
                    <a:srgbClr val="FF0000"/>
                  </a:solidFill>
                </a:rPr>
                <a:t> </a:t>
              </a:r>
              <a:r>
                <a:rPr lang="en-US" altLang="zh-CN" sz="2400" dirty="0" err="1">
                  <a:solidFill>
                    <a:srgbClr val="060606"/>
                  </a:solidFill>
                </a:rPr>
                <a:t>b</a:t>
              </a:r>
              <a:r>
                <a:rPr lang="en-US" altLang="zh-CN" sz="2400" baseline="-25000" dirty="0" err="1">
                  <a:solidFill>
                    <a:srgbClr val="060606"/>
                  </a:solidFill>
                </a:rPr>
                <a:t>k</a:t>
              </a:r>
              <a:r>
                <a:rPr lang="en-US" altLang="zh-CN" sz="2400" dirty="0">
                  <a:solidFill>
                    <a:srgbClr val="060606"/>
                  </a:solidFill>
                </a:rPr>
                <a:t> </a:t>
              </a:r>
              <a:endParaRPr lang="zh-CN" altLang="en-US" sz="2400" dirty="0"/>
            </a:p>
          </p:txBody>
        </p:sp>
        <p:sp>
          <p:nvSpPr>
            <p:cNvPr id="7" name="矩形 6"/>
            <p:cNvSpPr/>
            <p:nvPr/>
          </p:nvSpPr>
          <p:spPr>
            <a:xfrm>
              <a:off x="4163266" y="4412418"/>
              <a:ext cx="4527201" cy="461665"/>
            </a:xfrm>
            <a:prstGeom prst="rect">
              <a:avLst/>
            </a:prstGeom>
          </p:spPr>
          <p:txBody>
            <a:bodyPr wrap="none">
              <a:spAutoFit/>
            </a:bodyPr>
            <a:lstStyle/>
            <a:p>
              <a:r>
                <a:rPr lang="en-US" altLang="zh-CN" sz="2400" dirty="0">
                  <a:solidFill>
                    <a:srgbClr val="060606"/>
                  </a:solidFill>
                </a:rPr>
                <a:t>a</a:t>
              </a:r>
              <a:r>
                <a:rPr lang="en-US" altLang="zh-CN" sz="2400" baseline="-25000" dirty="0">
                  <a:solidFill>
                    <a:srgbClr val="060606"/>
                  </a:solidFill>
                </a:rPr>
                <a:t>k1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a</a:t>
              </a:r>
              <a:r>
                <a:rPr lang="en-US" altLang="zh-CN" sz="2400" baseline="-25000" dirty="0">
                  <a:solidFill>
                    <a:srgbClr val="060606"/>
                  </a:solidFill>
                </a:rPr>
                <a:t>k2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t>
              </a:r>
              <a:r>
                <a:rPr lang="en-US" altLang="zh-CN" sz="2400" dirty="0" err="1">
                  <a:solidFill>
                    <a:srgbClr val="060606"/>
                  </a:solidFill>
                </a:rPr>
                <a:t>a</a:t>
              </a:r>
              <a:r>
                <a:rPr lang="en-US" altLang="zh-CN" sz="2400" baseline="-25000" dirty="0" err="1">
                  <a:solidFill>
                    <a:srgbClr val="060606"/>
                  </a:solidFill>
                </a:rPr>
                <a:t>kn</a:t>
              </a:r>
              <a:r>
                <a:rPr lang="en-US" altLang="zh-CN" sz="2400" dirty="0" err="1">
                  <a:solidFill>
                    <a:srgbClr val="060606"/>
                  </a:solidFill>
                </a:rPr>
                <a:t>x</a:t>
              </a:r>
              <a:r>
                <a:rPr lang="en-US" altLang="zh-CN" sz="2400" baseline="-25000" dirty="0" err="1">
                  <a:solidFill>
                    <a:srgbClr val="060606"/>
                  </a:solidFill>
                </a:rPr>
                <a:t>n</a:t>
              </a:r>
              <a:r>
                <a:rPr lang="en-US" altLang="zh-CN" sz="2400" baseline="-25000" dirty="0">
                  <a:solidFill>
                    <a:srgbClr val="060606"/>
                  </a:solidFill>
                </a:rPr>
                <a:t>  </a:t>
              </a:r>
              <a:r>
                <a:rPr lang="en-US" altLang="zh-CN" sz="2400" dirty="0">
                  <a:solidFill>
                    <a:srgbClr val="FF0000"/>
                  </a:solidFill>
                </a:rPr>
                <a:t>- </a:t>
              </a:r>
              <a:r>
                <a:rPr lang="en-US" altLang="zh-CN" sz="2400" dirty="0" err="1">
                  <a:solidFill>
                    <a:srgbClr val="FF0000"/>
                  </a:solidFill>
                </a:rPr>
                <a:t>x</a:t>
              </a:r>
              <a:r>
                <a:rPr lang="en-US" altLang="zh-CN" sz="2400" baseline="-25000" dirty="0" err="1">
                  <a:solidFill>
                    <a:srgbClr val="FF0000"/>
                  </a:solidFill>
                </a:rPr>
                <a:t>n+k</a:t>
              </a:r>
              <a:r>
                <a:rPr lang="en-US" altLang="zh-CN" sz="2400" dirty="0">
                  <a:solidFill>
                    <a:srgbClr val="FF0000"/>
                  </a:solidFill>
                </a:rPr>
                <a:t>  =  </a:t>
              </a:r>
              <a:r>
                <a:rPr lang="en-US" altLang="zh-CN" sz="2400" dirty="0" err="1">
                  <a:solidFill>
                    <a:srgbClr val="060606"/>
                  </a:solidFill>
                </a:rPr>
                <a:t>b</a:t>
              </a:r>
              <a:r>
                <a:rPr lang="en-US" altLang="zh-CN" sz="2400" baseline="-25000" dirty="0" err="1">
                  <a:solidFill>
                    <a:srgbClr val="060606"/>
                  </a:solidFill>
                </a:rPr>
                <a:t>k</a:t>
              </a:r>
              <a:r>
                <a:rPr lang="en-US" altLang="zh-CN" sz="2400" dirty="0">
                  <a:solidFill>
                    <a:srgbClr val="060606"/>
                  </a:solidFill>
                </a:rPr>
                <a:t> </a:t>
              </a:r>
              <a:endParaRPr lang="zh-CN" altLang="en-US" sz="2400" dirty="0"/>
            </a:p>
          </p:txBody>
        </p:sp>
        <p:grpSp>
          <p:nvGrpSpPr>
            <p:cNvPr id="9" name="组合 8"/>
            <p:cNvGrpSpPr/>
            <p:nvPr/>
          </p:nvGrpSpPr>
          <p:grpSpPr>
            <a:xfrm>
              <a:off x="4163266" y="5697187"/>
              <a:ext cx="5040560" cy="936104"/>
              <a:chOff x="4223792" y="5733256"/>
              <a:chExt cx="5040560" cy="936104"/>
            </a:xfrm>
          </p:grpSpPr>
          <p:sp>
            <p:nvSpPr>
              <p:cNvPr id="10" name="矩形 9"/>
              <p:cNvSpPr/>
              <p:nvPr/>
            </p:nvSpPr>
            <p:spPr>
              <a:xfrm>
                <a:off x="4223792" y="5949280"/>
                <a:ext cx="5040560" cy="479234"/>
              </a:xfrm>
              <a:prstGeom prst="rect">
                <a:avLst/>
              </a:prstGeom>
            </p:spPr>
            <p:txBody>
              <a:bodyPr wrap="square">
                <a:spAutoFit/>
              </a:bodyPr>
              <a:lstStyle/>
              <a:p>
                <a:pPr marL="342900" indent="-342900" algn="ctr" fontAlgn="base">
                  <a:lnSpc>
                    <a:spcPct val="110000"/>
                  </a:lnSpc>
                  <a:spcAft>
                    <a:spcPct val="0"/>
                  </a:spcAft>
                </a:pPr>
                <a:r>
                  <a:rPr lang="en-US" altLang="zh-CN" sz="2400" dirty="0">
                    <a:solidFill>
                      <a:srgbClr val="FF0000"/>
                    </a:solidFill>
                  </a:rPr>
                  <a:t>max  </a:t>
                </a:r>
                <a:r>
                  <a:rPr lang="en-US" altLang="zh-CN" sz="2400" dirty="0">
                    <a:solidFill>
                      <a:srgbClr val="060606"/>
                    </a:solidFill>
                  </a:rPr>
                  <a:t>z = </a:t>
                </a:r>
                <a:r>
                  <a:rPr lang="zh-CN" altLang="en-US" sz="2400" dirty="0">
                    <a:solidFill>
                      <a:srgbClr val="060606"/>
                    </a:solidFill>
                  </a:rPr>
                  <a:t>           </a:t>
                </a:r>
                <a:r>
                  <a:rPr lang="en-US" altLang="zh-CN" sz="2400" dirty="0">
                    <a:solidFill>
                      <a:srgbClr val="060606"/>
                    </a:solidFill>
                  </a:rPr>
                  <a:t>   </a:t>
                </a:r>
                <a:r>
                  <a:rPr lang="en-US" altLang="zh-CN" sz="2400" dirty="0" err="1">
                    <a:solidFill>
                      <a:srgbClr val="060606"/>
                    </a:solidFill>
                  </a:rPr>
                  <a:t>c</a:t>
                </a:r>
                <a:r>
                  <a:rPr lang="en-US" altLang="zh-CN" sz="2400" baseline="-25000" dirty="0" err="1">
                    <a:solidFill>
                      <a:srgbClr val="060606"/>
                    </a:solidFill>
                  </a:rPr>
                  <a:t>j</a:t>
                </a:r>
                <a:r>
                  <a:rPr lang="en-US" altLang="zh-CN" sz="2400" dirty="0" err="1">
                    <a:solidFill>
                      <a:srgbClr val="060606"/>
                    </a:solidFill>
                  </a:rPr>
                  <a:t>x</a:t>
                </a:r>
                <a:r>
                  <a:rPr lang="en-US" altLang="zh-CN" sz="2400" baseline="-25000" dirty="0" err="1">
                    <a:solidFill>
                      <a:srgbClr val="060606"/>
                    </a:solidFill>
                  </a:rPr>
                  <a:t>j</a:t>
                </a:r>
                <a:r>
                  <a:rPr lang="en-US" altLang="zh-CN" sz="2400" baseline="-25000" dirty="0">
                    <a:solidFill>
                      <a:srgbClr val="060606"/>
                    </a:solidFill>
                  </a:rPr>
                  <a:t>     </a:t>
                </a:r>
                <a:r>
                  <a:rPr lang="en-US" altLang="zh-CN" sz="2400" dirty="0">
                    <a:solidFill>
                      <a:srgbClr val="060606"/>
                    </a:solidFill>
                  </a:rPr>
                  <a:t>+          </a:t>
                </a:r>
                <a:r>
                  <a:rPr lang="en-US" altLang="zh-CN" sz="2400" dirty="0">
                    <a:solidFill>
                      <a:srgbClr val="0000AC"/>
                    </a:solidFill>
                  </a:rPr>
                  <a:t>0</a:t>
                </a:r>
                <a:r>
                  <a:rPr lang="en-US" altLang="zh-CN" sz="2400" dirty="0">
                    <a:solidFill>
                      <a:srgbClr val="060606"/>
                    </a:solidFill>
                  </a:rPr>
                  <a:t>x</a:t>
                </a:r>
                <a:r>
                  <a:rPr lang="en-US" altLang="zh-CN" sz="2400" baseline="-25000" dirty="0">
                    <a:solidFill>
                      <a:srgbClr val="060606"/>
                    </a:solidFill>
                  </a:rPr>
                  <a:t>n+k</a:t>
                </a:r>
                <a:endParaRPr lang="en-US" altLang="zh-CN" sz="2400" dirty="0">
                  <a:solidFill>
                    <a:srgbClr val="060606"/>
                  </a:solidFill>
                </a:endParaRPr>
              </a:p>
            </p:txBody>
          </p:sp>
          <p:grpSp>
            <p:nvGrpSpPr>
              <p:cNvPr id="11" name="组合 31"/>
              <p:cNvGrpSpPr/>
              <p:nvPr/>
            </p:nvGrpSpPr>
            <p:grpSpPr>
              <a:xfrm>
                <a:off x="6074471" y="5805264"/>
                <a:ext cx="533208" cy="864096"/>
                <a:chOff x="6278663" y="476672"/>
                <a:chExt cx="533208" cy="864096"/>
              </a:xfrm>
            </p:grpSpPr>
            <p:sp>
              <p:nvSpPr>
                <p:cNvPr id="12" name="矩形 11"/>
                <p:cNvSpPr/>
                <p:nvPr/>
              </p:nvSpPr>
              <p:spPr>
                <a:xfrm>
                  <a:off x="6300192" y="971436"/>
                  <a:ext cx="511679" cy="369332"/>
                </a:xfrm>
                <a:prstGeom prst="rect">
                  <a:avLst/>
                </a:prstGeom>
              </p:spPr>
              <p:txBody>
                <a:bodyPr wrap="none">
                  <a:spAutoFit/>
                </a:bodyPr>
                <a:lstStyle/>
                <a:p>
                  <a:r>
                    <a:rPr lang="en-US" altLang="zh-CN" dirty="0">
                      <a:solidFill>
                        <a:srgbClr val="060606"/>
                      </a:solidFill>
                    </a:rPr>
                    <a:t>j=1</a:t>
                  </a:r>
                  <a:endParaRPr lang="zh-CN" altLang="en-US" dirty="0"/>
                </a:p>
              </p:txBody>
            </p:sp>
            <p:sp>
              <p:nvSpPr>
                <p:cNvPr id="13" name="矩形 12"/>
                <p:cNvSpPr/>
                <p:nvPr/>
              </p:nvSpPr>
              <p:spPr>
                <a:xfrm>
                  <a:off x="6353738" y="476672"/>
                  <a:ext cx="311304" cy="369332"/>
                </a:xfrm>
                <a:prstGeom prst="rect">
                  <a:avLst/>
                </a:prstGeom>
              </p:spPr>
              <p:txBody>
                <a:bodyPr wrap="none">
                  <a:spAutoFit/>
                </a:bodyPr>
                <a:lstStyle/>
                <a:p>
                  <a:r>
                    <a:rPr lang="en-US" altLang="zh-CN" dirty="0">
                      <a:solidFill>
                        <a:srgbClr val="060606"/>
                      </a:solidFill>
                    </a:rPr>
                    <a:t>n</a:t>
                  </a:r>
                  <a:endParaRPr lang="zh-CN" altLang="en-US" dirty="0"/>
                </a:p>
              </p:txBody>
            </p:sp>
            <p:sp>
              <p:nvSpPr>
                <p:cNvPr id="14" name="矩形 13"/>
                <p:cNvSpPr/>
                <p:nvPr/>
              </p:nvSpPr>
              <p:spPr>
                <a:xfrm>
                  <a:off x="6278663" y="656580"/>
                  <a:ext cx="492443" cy="461665"/>
                </a:xfrm>
                <a:prstGeom prst="rect">
                  <a:avLst/>
                </a:prstGeom>
              </p:spPr>
              <p:txBody>
                <a:bodyPr wrap="none">
                  <a:spAutoFit/>
                </a:bodyPr>
                <a:lstStyle/>
                <a:p>
                  <a:r>
                    <a:rPr lang="en-US" altLang="zh-CN" sz="2400" dirty="0">
                      <a:solidFill>
                        <a:srgbClr val="060606"/>
                      </a:solidFill>
                    </a:rPr>
                    <a:t>∑</a:t>
                  </a:r>
                  <a:endParaRPr lang="zh-CN" altLang="en-US" dirty="0"/>
                </a:p>
              </p:txBody>
            </p:sp>
          </p:grpSp>
          <p:grpSp>
            <p:nvGrpSpPr>
              <p:cNvPr id="15" name="组合 31"/>
              <p:cNvGrpSpPr/>
              <p:nvPr/>
            </p:nvGrpSpPr>
            <p:grpSpPr>
              <a:xfrm>
                <a:off x="7811995" y="5733256"/>
                <a:ext cx="581585" cy="864096"/>
                <a:chOff x="6287994" y="476672"/>
                <a:chExt cx="581585" cy="864096"/>
              </a:xfrm>
            </p:grpSpPr>
            <p:sp>
              <p:nvSpPr>
                <p:cNvPr id="16" name="矩形 15"/>
                <p:cNvSpPr/>
                <p:nvPr/>
              </p:nvSpPr>
              <p:spPr>
                <a:xfrm>
                  <a:off x="6300192" y="971436"/>
                  <a:ext cx="569387" cy="369332"/>
                </a:xfrm>
                <a:prstGeom prst="rect">
                  <a:avLst/>
                </a:prstGeom>
              </p:spPr>
              <p:txBody>
                <a:bodyPr wrap="none">
                  <a:spAutoFit/>
                </a:bodyPr>
                <a:lstStyle/>
                <a:p>
                  <a:r>
                    <a:rPr lang="en-US" altLang="zh-CN" dirty="0">
                      <a:solidFill>
                        <a:srgbClr val="060606"/>
                      </a:solidFill>
                    </a:rPr>
                    <a:t>k=1</a:t>
                  </a:r>
                  <a:endParaRPr lang="zh-CN" altLang="en-US" dirty="0"/>
                </a:p>
              </p:txBody>
            </p:sp>
            <p:sp>
              <p:nvSpPr>
                <p:cNvPr id="17" name="矩形 16"/>
                <p:cNvSpPr/>
                <p:nvPr/>
              </p:nvSpPr>
              <p:spPr>
                <a:xfrm>
                  <a:off x="6353738" y="476672"/>
                  <a:ext cx="378630" cy="369332"/>
                </a:xfrm>
                <a:prstGeom prst="rect">
                  <a:avLst/>
                </a:prstGeom>
              </p:spPr>
              <p:txBody>
                <a:bodyPr wrap="none">
                  <a:spAutoFit/>
                </a:bodyPr>
                <a:lstStyle/>
                <a:p>
                  <a:r>
                    <a:rPr lang="en-US" altLang="zh-CN" dirty="0">
                      <a:solidFill>
                        <a:srgbClr val="060606"/>
                      </a:solidFill>
                    </a:rPr>
                    <a:t>m</a:t>
                  </a:r>
                  <a:endParaRPr lang="zh-CN" altLang="en-US" dirty="0"/>
                </a:p>
              </p:txBody>
            </p:sp>
            <p:sp>
              <p:nvSpPr>
                <p:cNvPr id="18" name="矩形 17"/>
                <p:cNvSpPr/>
                <p:nvPr/>
              </p:nvSpPr>
              <p:spPr>
                <a:xfrm>
                  <a:off x="6287994" y="656580"/>
                  <a:ext cx="492443" cy="461665"/>
                </a:xfrm>
                <a:prstGeom prst="rect">
                  <a:avLst/>
                </a:prstGeom>
              </p:spPr>
              <p:txBody>
                <a:bodyPr wrap="none">
                  <a:spAutoFit/>
                </a:bodyPr>
                <a:lstStyle/>
                <a:p>
                  <a:r>
                    <a:rPr lang="en-US" altLang="zh-CN" sz="2400" dirty="0">
                      <a:solidFill>
                        <a:srgbClr val="060606"/>
                      </a:solidFill>
                    </a:rPr>
                    <a:t>∑</a:t>
                  </a:r>
                  <a:endParaRPr lang="zh-CN" altLang="en-US" dirty="0"/>
                </a:p>
              </p:txBody>
            </p:sp>
          </p:grpSp>
        </p:gr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6571" y="116632"/>
            <a:ext cx="9895342" cy="793750"/>
          </a:xfrm>
        </p:spPr>
        <p:txBody>
          <a:bodyPr>
            <a:normAutofit/>
          </a:bodyPr>
          <a:lstStyle/>
          <a:p>
            <a:r>
              <a:rPr lang="zh-CN" altLang="en-US" sz="3600" dirty="0"/>
              <a:t>第四步</a:t>
            </a:r>
            <a:r>
              <a:rPr lang="en-US" altLang="zh-CN" sz="3600" dirty="0"/>
              <a:t>.</a:t>
            </a:r>
            <a:r>
              <a:rPr lang="zh-CN" altLang="en-US" sz="3600" dirty="0"/>
              <a:t>变量如何转换为非负约束</a:t>
            </a:r>
            <a:r>
              <a:rPr lang="en-US" altLang="zh-CN" sz="3600" dirty="0"/>
              <a:t>?</a:t>
            </a:r>
            <a:endParaRPr lang="zh-CN" altLang="en-US" sz="3600" dirty="0"/>
          </a:p>
        </p:txBody>
      </p:sp>
      <p:sp>
        <p:nvSpPr>
          <p:cNvPr id="3" name="内容占位符 2"/>
          <p:cNvSpPr>
            <a:spLocks noGrp="1"/>
          </p:cNvSpPr>
          <p:nvPr>
            <p:ph idx="1"/>
          </p:nvPr>
        </p:nvSpPr>
        <p:spPr>
          <a:xfrm>
            <a:off x="348342" y="1269978"/>
            <a:ext cx="11495315" cy="4903597"/>
          </a:xfrm>
        </p:spPr>
        <p:txBody>
          <a:bodyPr/>
          <a:lstStyle/>
          <a:p>
            <a:pPr>
              <a:buNone/>
            </a:pPr>
            <a:r>
              <a:rPr lang="zh-CN" altLang="en-US" sz="2400" dirty="0">
                <a:solidFill>
                  <a:srgbClr val="00000C"/>
                </a:solidFill>
              </a:rPr>
              <a:t>若对所有变量都有非负约束</a:t>
            </a:r>
            <a:r>
              <a:rPr lang="en-US" altLang="zh-CN" sz="2400" dirty="0">
                <a:solidFill>
                  <a:srgbClr val="00000C"/>
                </a:solidFill>
              </a:rPr>
              <a:t>,</a:t>
            </a:r>
            <a:r>
              <a:rPr lang="zh-CN" altLang="en-US" sz="2400" dirty="0">
                <a:solidFill>
                  <a:srgbClr val="00000C"/>
                </a:solidFill>
              </a:rPr>
              <a:t>则无须变换。</a:t>
            </a:r>
            <a:endParaRPr lang="en-US" altLang="zh-CN" sz="2400" dirty="0">
              <a:solidFill>
                <a:srgbClr val="00000C"/>
              </a:solidFill>
            </a:endParaRPr>
          </a:p>
          <a:p>
            <a:pPr>
              <a:buNone/>
            </a:pPr>
            <a:endParaRPr lang="en-US" altLang="zh-CN" dirty="0">
              <a:solidFill>
                <a:srgbClr val="00000C"/>
              </a:solidFill>
            </a:endParaRPr>
          </a:p>
          <a:p>
            <a:pPr>
              <a:buNone/>
            </a:pPr>
            <a:r>
              <a:rPr lang="zh-CN" altLang="en-US" sz="2400" dirty="0">
                <a:solidFill>
                  <a:srgbClr val="00000C"/>
                </a:solidFill>
              </a:rPr>
              <a:t>否则，</a:t>
            </a:r>
            <a:endParaRPr lang="en-US" altLang="zh-CN" sz="2400" dirty="0">
              <a:solidFill>
                <a:srgbClr val="00000C"/>
              </a:solidFill>
            </a:endParaRPr>
          </a:p>
          <a:p>
            <a:pPr>
              <a:buNone/>
            </a:pPr>
            <a:r>
              <a:rPr lang="en-US" altLang="zh-CN" sz="2400" dirty="0">
                <a:solidFill>
                  <a:srgbClr val="00000C"/>
                </a:solidFill>
              </a:rPr>
              <a:t>(1)</a:t>
            </a:r>
            <a:r>
              <a:rPr lang="zh-CN" altLang="en-US" sz="2400" dirty="0">
                <a:solidFill>
                  <a:srgbClr val="00000C"/>
                </a:solidFill>
              </a:rPr>
              <a:t>若变量</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r>
              <a:rPr lang="zh-CN" altLang="en-US" sz="2400" dirty="0">
                <a:solidFill>
                  <a:srgbClr val="00000C"/>
                </a:solidFill>
              </a:rPr>
              <a:t>≤ </a:t>
            </a:r>
            <a:r>
              <a:rPr lang="en-US" altLang="zh-CN" sz="2400" dirty="0">
                <a:solidFill>
                  <a:srgbClr val="00000C"/>
                </a:solidFill>
              </a:rPr>
              <a:t>0</a:t>
            </a:r>
            <a:r>
              <a:rPr lang="zh-CN" altLang="en-US" sz="2400" dirty="0">
                <a:solidFill>
                  <a:srgbClr val="00000C"/>
                </a:solidFill>
              </a:rPr>
              <a:t>：</a:t>
            </a:r>
            <a:endParaRPr lang="en-US" altLang="zh-CN" sz="2400" dirty="0">
              <a:solidFill>
                <a:srgbClr val="00000C"/>
              </a:solidFill>
            </a:endParaRPr>
          </a:p>
          <a:p>
            <a:pPr algn="ctr">
              <a:buNone/>
            </a:pPr>
            <a:r>
              <a:rPr lang="zh-CN" altLang="en-US" sz="2400" dirty="0">
                <a:solidFill>
                  <a:srgbClr val="00000C"/>
                </a:solidFill>
              </a:rPr>
              <a:t>令</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 = - x</a:t>
            </a:r>
            <a:r>
              <a:rPr lang="en-US" altLang="zh-CN" sz="2400" baseline="-25000" dirty="0">
                <a:solidFill>
                  <a:srgbClr val="00000C"/>
                </a:solidFill>
              </a:rPr>
              <a:t>j</a:t>
            </a:r>
            <a:r>
              <a:rPr lang="zh-CN" altLang="en-US" sz="2400" dirty="0">
                <a:solidFill>
                  <a:srgbClr val="00000C"/>
                </a:solidFill>
              </a:rPr>
              <a:t>即可，得</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 </a:t>
            </a:r>
            <a:r>
              <a:rPr lang="zh-CN" altLang="en-US" sz="2400" dirty="0">
                <a:solidFill>
                  <a:srgbClr val="00000C"/>
                </a:solidFill>
              </a:rPr>
              <a:t>≥ </a:t>
            </a:r>
            <a:r>
              <a:rPr lang="en-US" altLang="zh-CN" sz="2400" dirty="0">
                <a:solidFill>
                  <a:srgbClr val="00000C"/>
                </a:solidFill>
              </a:rPr>
              <a:t>0</a:t>
            </a:r>
            <a:endParaRPr lang="en-US" altLang="zh-CN" sz="2400" dirty="0">
              <a:solidFill>
                <a:srgbClr val="00000C"/>
              </a:solidFill>
            </a:endParaRPr>
          </a:p>
          <a:p>
            <a:pPr>
              <a:buNone/>
            </a:pPr>
            <a:endParaRPr lang="en-US" altLang="zh-CN" sz="2400" dirty="0">
              <a:solidFill>
                <a:srgbClr val="00000C"/>
              </a:solidFill>
            </a:endParaRPr>
          </a:p>
          <a:p>
            <a:pPr>
              <a:buNone/>
            </a:pPr>
            <a:r>
              <a:rPr lang="en-US" altLang="zh-CN" sz="2400" dirty="0">
                <a:solidFill>
                  <a:srgbClr val="00000C"/>
                </a:solidFill>
              </a:rPr>
              <a:t>(2)</a:t>
            </a:r>
            <a:r>
              <a:rPr lang="zh-CN" altLang="en-US" sz="2400" dirty="0">
                <a:solidFill>
                  <a:srgbClr val="00000C"/>
                </a:solidFill>
              </a:rPr>
              <a:t>取值无约束的变量：</a:t>
            </a:r>
            <a:endParaRPr lang="en-US" altLang="zh-CN" sz="2400" dirty="0">
              <a:solidFill>
                <a:srgbClr val="00000C"/>
              </a:solidFill>
            </a:endParaRPr>
          </a:p>
          <a:p>
            <a:pPr algn="ctr">
              <a:buNone/>
            </a:pPr>
            <a:r>
              <a:rPr lang="zh-CN" altLang="en-US" sz="2400" dirty="0">
                <a:solidFill>
                  <a:srgbClr val="00000C"/>
                </a:solidFill>
              </a:rPr>
              <a:t>令</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 </a:t>
            </a:r>
            <a:r>
              <a:rPr lang="en-US" altLang="zh-CN" sz="2400" dirty="0" err="1">
                <a:solidFill>
                  <a:srgbClr val="00000C"/>
                </a:solidFill>
              </a:rPr>
              <a:t>x</a:t>
            </a:r>
            <a:r>
              <a:rPr lang="en-US" altLang="zh-CN" sz="2400" baseline="-25000" dirty="0" err="1">
                <a:solidFill>
                  <a:srgbClr val="00000C"/>
                </a:solidFill>
              </a:rPr>
              <a:t>j</a:t>
            </a:r>
            <a:r>
              <a:rPr lang="en-US" altLang="zh-CN" sz="2400" dirty="0">
                <a:solidFill>
                  <a:srgbClr val="00000C"/>
                </a:solidFill>
              </a:rPr>
              <a:t>’ – x</a:t>
            </a:r>
            <a:r>
              <a:rPr lang="en-US" altLang="zh-CN" sz="2400" baseline="-25000" dirty="0">
                <a:solidFill>
                  <a:srgbClr val="00000C"/>
                </a:solidFill>
              </a:rPr>
              <a:t>j</a:t>
            </a:r>
            <a:r>
              <a:rPr lang="en-US" altLang="zh-CN" sz="2400" dirty="0">
                <a:solidFill>
                  <a:srgbClr val="00000C"/>
                </a:solidFill>
              </a:rPr>
              <a:t>’’</a:t>
            </a:r>
            <a:r>
              <a:rPr lang="zh-CN" altLang="en-US" sz="2400" dirty="0">
                <a:solidFill>
                  <a:srgbClr val="00000C"/>
                </a:solidFill>
              </a:rPr>
              <a:t>，得</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a:t>
            </a:r>
            <a:r>
              <a:rPr lang="zh-CN" altLang="en-US" sz="2400" dirty="0">
                <a:solidFill>
                  <a:srgbClr val="00000C"/>
                </a:solidFill>
              </a:rPr>
              <a:t> ≥ </a:t>
            </a:r>
            <a:r>
              <a:rPr lang="en-US" altLang="zh-CN" sz="2400" dirty="0">
                <a:solidFill>
                  <a:srgbClr val="00000C"/>
                </a:solidFill>
              </a:rPr>
              <a:t>0</a:t>
            </a:r>
            <a:r>
              <a:rPr lang="zh-CN" altLang="en-US" sz="2400" dirty="0">
                <a:solidFill>
                  <a:srgbClr val="00000C"/>
                </a:solidFill>
              </a:rPr>
              <a:t>，</a:t>
            </a:r>
            <a:r>
              <a:rPr lang="en-US" altLang="zh-CN" sz="2400" dirty="0">
                <a:solidFill>
                  <a:srgbClr val="00000C"/>
                </a:solidFill>
              </a:rPr>
              <a:t>  x</a:t>
            </a:r>
            <a:r>
              <a:rPr lang="en-US" altLang="zh-CN" sz="2400" baseline="-25000" dirty="0">
                <a:solidFill>
                  <a:srgbClr val="00000C"/>
                </a:solidFill>
              </a:rPr>
              <a:t>j</a:t>
            </a:r>
            <a:r>
              <a:rPr lang="en-US" altLang="zh-CN" sz="2400" dirty="0">
                <a:solidFill>
                  <a:srgbClr val="00000C"/>
                </a:solidFill>
              </a:rPr>
              <a:t>’’</a:t>
            </a:r>
            <a:r>
              <a:rPr lang="zh-CN" altLang="en-US" sz="2400" dirty="0">
                <a:solidFill>
                  <a:srgbClr val="00000C"/>
                </a:solidFill>
              </a:rPr>
              <a:t> ≥ </a:t>
            </a:r>
            <a:r>
              <a:rPr lang="en-US" altLang="zh-CN" sz="2400" dirty="0">
                <a:solidFill>
                  <a:srgbClr val="00000C"/>
                </a:solidFill>
              </a:rPr>
              <a:t>0</a:t>
            </a:r>
            <a:endParaRPr lang="en-US" altLang="zh-CN" sz="2400" dirty="0">
              <a:solidFill>
                <a:srgbClr val="00000C"/>
              </a:solidFill>
            </a:endParaRPr>
          </a:p>
          <a:p>
            <a:pPr>
              <a:buNone/>
            </a:pPr>
            <a:endParaRPr lang="en-US" altLang="zh-CN" sz="2400" dirty="0">
              <a:solidFill>
                <a:srgbClr val="00000C"/>
              </a:solidFill>
            </a:endParaRPr>
          </a:p>
          <a:p>
            <a:pPr>
              <a:buNone/>
            </a:pPr>
            <a:r>
              <a:rPr lang="zh-CN" altLang="en-US" sz="2400" dirty="0">
                <a:solidFill>
                  <a:srgbClr val="00000C"/>
                </a:solidFill>
              </a:rPr>
              <a:t>注意：需要用</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a:t>
            </a:r>
            <a:r>
              <a:rPr lang="zh-CN" altLang="en-US" sz="2400" dirty="0">
                <a:solidFill>
                  <a:srgbClr val="00000C"/>
                </a:solidFill>
              </a:rPr>
              <a:t> ，</a:t>
            </a:r>
            <a:r>
              <a:rPr lang="en-US" altLang="zh-CN" sz="2400" dirty="0">
                <a:solidFill>
                  <a:srgbClr val="00000C"/>
                </a:solidFill>
              </a:rPr>
              <a:t>  x</a:t>
            </a:r>
            <a:r>
              <a:rPr lang="en-US" altLang="zh-CN" sz="2400" baseline="-25000" dirty="0">
                <a:solidFill>
                  <a:srgbClr val="00000C"/>
                </a:solidFill>
              </a:rPr>
              <a:t>j</a:t>
            </a:r>
            <a:r>
              <a:rPr lang="en-US" altLang="zh-CN" sz="2400" dirty="0">
                <a:solidFill>
                  <a:srgbClr val="00000C"/>
                </a:solidFill>
              </a:rPr>
              <a:t>’’</a:t>
            </a:r>
            <a:r>
              <a:rPr lang="zh-CN" altLang="en-US" sz="2400" dirty="0">
                <a:solidFill>
                  <a:srgbClr val="00000C"/>
                </a:solidFill>
              </a:rPr>
              <a:t>替换在目标函数及其它式子中含有的</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r>
              <a:rPr lang="zh-CN" altLang="en-US" sz="2400" dirty="0">
                <a:solidFill>
                  <a:srgbClr val="00000C"/>
                </a:solidFill>
              </a:rPr>
              <a:t>。</a:t>
            </a:r>
            <a:endParaRPr lang="zh-CN" altLang="en-US" sz="2400" dirty="0">
              <a:solidFill>
                <a:srgbClr val="00000C"/>
              </a:solidFill>
            </a:endParaRPr>
          </a:p>
        </p:txBody>
      </p:sp>
      <p:sp>
        <p:nvSpPr>
          <p:cNvPr id="4" name="矩形 3"/>
          <p:cNvSpPr/>
          <p:nvPr/>
        </p:nvSpPr>
        <p:spPr>
          <a:xfrm>
            <a:off x="3253002" y="1767135"/>
            <a:ext cx="6264222" cy="461665"/>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j</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0             (j = 1,2,…,n</a:t>
            </a:r>
            <a:r>
              <a:rPr lang="zh-CN" altLang="en-US" sz="2400" dirty="0">
                <a:solidFill>
                  <a:srgbClr val="060606"/>
                </a:solidFill>
              </a:rPr>
              <a:t>，非负约束</a:t>
            </a:r>
            <a:r>
              <a:rPr lang="en-US" altLang="zh-CN" sz="2400" dirty="0">
                <a:solidFill>
                  <a:srgbClr val="060606"/>
                </a:solidFill>
              </a:rPr>
              <a:t>)</a:t>
            </a:r>
            <a:endParaRPr lang="zh-CN" altLang="en-US" sz="2400" dirty="0">
              <a:solidFill>
                <a:srgbClr val="060606"/>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295525" y="2794511"/>
            <a:ext cx="7600950" cy="3133725"/>
          </a:xfrm>
          <a:prstGeom prst="rect">
            <a:avLst/>
          </a:prstGeom>
        </p:spPr>
      </p:pic>
      <p:sp>
        <p:nvSpPr>
          <p:cNvPr id="2" name="文本框 1"/>
          <p:cNvSpPr txBox="1"/>
          <p:nvPr/>
        </p:nvSpPr>
        <p:spPr>
          <a:xfrm>
            <a:off x="559838" y="117535"/>
            <a:ext cx="11206065" cy="2554545"/>
          </a:xfrm>
          <a:prstGeom prst="rect">
            <a:avLst/>
          </a:prstGeom>
          <a:noFill/>
        </p:spPr>
        <p:txBody>
          <a:bodyPr wrap="square" rtlCol="0">
            <a:spAutoFit/>
          </a:bodyPr>
          <a:lstStyle/>
          <a:p>
            <a:pPr algn="ctr"/>
            <a:r>
              <a:rPr lang="zh-CN" altLang="en-US" sz="4000" dirty="0"/>
              <a:t>前面，通过观察</a:t>
            </a:r>
            <a:r>
              <a:rPr lang="en-US" altLang="zh-CN" sz="4000" dirty="0"/>
              <a:t>LPQ</a:t>
            </a:r>
            <a:r>
              <a:rPr lang="zh-CN" altLang="en-US" sz="4000" dirty="0"/>
              <a:t>的标准形式，我们得到解题思路：先求不定方程的解集合，然后从中找出最优解</a:t>
            </a:r>
            <a:r>
              <a:rPr lang="en-US" altLang="zh-CN" sz="4000" dirty="0"/>
              <a:t>——</a:t>
            </a:r>
            <a:r>
              <a:rPr lang="zh-CN" altLang="en-US" sz="4000" dirty="0"/>
              <a:t>这里就涉及一些基本的概念：可行解、</a:t>
            </a:r>
            <a:r>
              <a:rPr lang="zh-CN" altLang="en-US" sz="4000" dirty="0">
                <a:solidFill>
                  <a:srgbClr val="0322BD"/>
                </a:solidFill>
              </a:rPr>
              <a:t>基可行解</a:t>
            </a:r>
            <a:r>
              <a:rPr lang="zh-CN" altLang="en-US" sz="4000" dirty="0"/>
              <a:t>和最优解</a:t>
            </a:r>
            <a:r>
              <a:rPr lang="en-US" altLang="zh-CN" sz="4000" dirty="0"/>
              <a:t>——</a:t>
            </a:r>
            <a:r>
              <a:rPr lang="zh-CN" altLang="en-US" sz="4000" dirty="0"/>
              <a:t>需要知道。</a:t>
            </a:r>
            <a:endParaRPr lang="zh-CN" altLang="en-US" sz="4000" dirty="0"/>
          </a:p>
        </p:txBody>
      </p:sp>
      <p:sp>
        <p:nvSpPr>
          <p:cNvPr id="3" name="箭头: 下 2"/>
          <p:cNvSpPr/>
          <p:nvPr/>
        </p:nvSpPr>
        <p:spPr>
          <a:xfrm>
            <a:off x="5381635" y="6000715"/>
            <a:ext cx="1562470" cy="47939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8686" y="3476030"/>
            <a:ext cx="10999305" cy="2880320"/>
          </a:xfrm>
        </p:spPr>
        <p:txBody>
          <a:bodyPr>
            <a:normAutofit/>
          </a:bodyPr>
          <a:lstStyle/>
          <a:p>
            <a:pPr lvl="0" algn="just">
              <a:lnSpc>
                <a:spcPct val="100000"/>
              </a:lnSpc>
              <a:buNone/>
            </a:pPr>
            <a:r>
              <a:rPr lang="zh-CN" altLang="en-US" dirty="0">
                <a:solidFill>
                  <a:srgbClr val="060606"/>
                </a:solidFill>
              </a:rPr>
              <a:t>定义</a:t>
            </a:r>
            <a:r>
              <a:rPr lang="en-US" altLang="zh-CN" dirty="0">
                <a:solidFill>
                  <a:srgbClr val="060606"/>
                </a:solidFill>
              </a:rPr>
              <a:t>1 (</a:t>
            </a:r>
            <a:r>
              <a:rPr lang="zh-CN" altLang="en-US" dirty="0">
                <a:solidFill>
                  <a:srgbClr val="060606"/>
                </a:solidFill>
              </a:rPr>
              <a:t>可行解</a:t>
            </a:r>
            <a:r>
              <a:rPr lang="en-US" altLang="zh-CN" dirty="0">
                <a:solidFill>
                  <a:srgbClr val="060606"/>
                </a:solidFill>
              </a:rPr>
              <a:t>)    </a:t>
            </a:r>
            <a:r>
              <a:rPr lang="zh-CN" altLang="en-US" dirty="0">
                <a:solidFill>
                  <a:srgbClr val="060606"/>
                </a:solidFill>
              </a:rPr>
              <a:t>满足约束条件</a:t>
            </a:r>
            <a:r>
              <a:rPr lang="en-US" altLang="zh-CN" dirty="0">
                <a:solidFill>
                  <a:srgbClr val="060606"/>
                </a:solidFill>
              </a:rPr>
              <a:t>(</a:t>
            </a:r>
            <a:r>
              <a:rPr lang="en-US" altLang="zh-CN" dirty="0" err="1">
                <a:solidFill>
                  <a:srgbClr val="060606"/>
                </a:solidFill>
              </a:rPr>
              <a:t>s.t.</a:t>
            </a:r>
            <a:r>
              <a:rPr lang="en-US" altLang="zh-CN" dirty="0">
                <a:solidFill>
                  <a:srgbClr val="060606"/>
                </a:solidFill>
              </a:rPr>
              <a:t>)</a:t>
            </a:r>
            <a:r>
              <a:rPr lang="zh-CN" altLang="en-US" dirty="0">
                <a:solidFill>
                  <a:srgbClr val="060606"/>
                </a:solidFill>
              </a:rPr>
              <a:t>的解</a:t>
            </a:r>
            <a:r>
              <a:rPr lang="en-US" altLang="zh-CN" b="1" dirty="0">
                <a:solidFill>
                  <a:srgbClr val="060606"/>
                </a:solidFill>
              </a:rPr>
              <a:t>x </a:t>
            </a:r>
            <a:r>
              <a:rPr lang="en-US" altLang="zh-CN" dirty="0">
                <a:solidFill>
                  <a:srgbClr val="060606"/>
                </a:solidFill>
              </a:rPr>
              <a:t>= (x</a:t>
            </a:r>
            <a:r>
              <a:rPr lang="en-US" altLang="zh-CN" baseline="-25000" dirty="0">
                <a:solidFill>
                  <a:srgbClr val="060606"/>
                </a:solidFill>
              </a:rPr>
              <a:t>1</a:t>
            </a:r>
            <a:r>
              <a:rPr lang="en-US" altLang="zh-CN" dirty="0">
                <a:solidFill>
                  <a:srgbClr val="060606"/>
                </a:solidFill>
              </a:rPr>
              <a:t>,x</a:t>
            </a:r>
            <a:r>
              <a:rPr lang="en-US" altLang="zh-CN" baseline="-25000" dirty="0">
                <a:solidFill>
                  <a:srgbClr val="060606"/>
                </a:solidFill>
              </a:rPr>
              <a:t>2</a:t>
            </a:r>
            <a:r>
              <a:rPr lang="en-US" altLang="zh-CN" dirty="0">
                <a:solidFill>
                  <a:srgbClr val="060606"/>
                </a:solidFill>
              </a:rPr>
              <a:t>,…,</a:t>
            </a:r>
            <a:r>
              <a:rPr lang="en-US" altLang="zh-CN" dirty="0" err="1">
                <a:solidFill>
                  <a:srgbClr val="060606"/>
                </a:solidFill>
              </a:rPr>
              <a:t>x</a:t>
            </a:r>
            <a:r>
              <a:rPr lang="en-US" altLang="zh-CN" baseline="-25000" dirty="0" err="1">
                <a:solidFill>
                  <a:srgbClr val="060606"/>
                </a:solidFill>
              </a:rPr>
              <a:t>n</a:t>
            </a:r>
            <a:r>
              <a:rPr lang="en-US" altLang="zh-CN" dirty="0">
                <a:solidFill>
                  <a:srgbClr val="060606"/>
                </a:solidFill>
              </a:rPr>
              <a:t>)</a:t>
            </a:r>
            <a:r>
              <a:rPr lang="en-US" altLang="zh-CN" baseline="30000" dirty="0">
                <a:solidFill>
                  <a:srgbClr val="060606"/>
                </a:solidFill>
              </a:rPr>
              <a:t>T</a:t>
            </a:r>
            <a:r>
              <a:rPr lang="en-US" altLang="zh-CN" dirty="0">
                <a:solidFill>
                  <a:srgbClr val="060606"/>
                </a:solidFill>
              </a:rPr>
              <a:t>, </a:t>
            </a:r>
            <a:r>
              <a:rPr lang="zh-CN" altLang="en-US" dirty="0">
                <a:solidFill>
                  <a:srgbClr val="060606"/>
                </a:solidFill>
              </a:rPr>
              <a:t>称为线性规划问题的</a:t>
            </a:r>
            <a:r>
              <a:rPr lang="zh-CN" altLang="en-US" dirty="0">
                <a:solidFill>
                  <a:srgbClr val="0322BD"/>
                </a:solidFill>
              </a:rPr>
              <a:t>可行解</a:t>
            </a:r>
            <a:r>
              <a:rPr lang="zh-CN" altLang="en-US" dirty="0">
                <a:solidFill>
                  <a:srgbClr val="060606"/>
                </a:solidFill>
              </a:rPr>
              <a:t>。全部可行解的集合称为</a:t>
            </a:r>
            <a:r>
              <a:rPr lang="zh-CN" altLang="en-US" dirty="0">
                <a:solidFill>
                  <a:srgbClr val="0322BD"/>
                </a:solidFill>
              </a:rPr>
              <a:t>可行域</a:t>
            </a:r>
            <a:r>
              <a:rPr lang="zh-CN" altLang="en-US" dirty="0">
                <a:solidFill>
                  <a:srgbClr val="060606"/>
                </a:solidFill>
              </a:rPr>
              <a:t>。</a:t>
            </a:r>
            <a:endParaRPr lang="en-US" altLang="zh-CN" dirty="0">
              <a:solidFill>
                <a:srgbClr val="060606"/>
              </a:solidFill>
            </a:endParaRPr>
          </a:p>
          <a:p>
            <a:pPr lvl="0" algn="just">
              <a:lnSpc>
                <a:spcPct val="100000"/>
              </a:lnSpc>
              <a:buNone/>
            </a:pPr>
            <a:r>
              <a:rPr lang="zh-CN" altLang="en-US" dirty="0">
                <a:solidFill>
                  <a:srgbClr val="060606"/>
                </a:solidFill>
              </a:rPr>
              <a:t>定义</a:t>
            </a:r>
            <a:r>
              <a:rPr lang="en-US" altLang="zh-CN" dirty="0">
                <a:solidFill>
                  <a:srgbClr val="060606"/>
                </a:solidFill>
              </a:rPr>
              <a:t>2(</a:t>
            </a:r>
            <a:r>
              <a:rPr lang="zh-CN" altLang="en-US" dirty="0">
                <a:solidFill>
                  <a:srgbClr val="060606"/>
                </a:solidFill>
              </a:rPr>
              <a:t>最优解</a:t>
            </a:r>
            <a:r>
              <a:rPr lang="en-US" altLang="zh-CN" dirty="0">
                <a:solidFill>
                  <a:srgbClr val="060606"/>
                </a:solidFill>
              </a:rPr>
              <a:t>)    </a:t>
            </a:r>
            <a:r>
              <a:rPr lang="zh-CN" altLang="en-US" dirty="0">
                <a:solidFill>
                  <a:srgbClr val="060606"/>
                </a:solidFill>
              </a:rPr>
              <a:t>使目标函数达到最大值的可行解称为</a:t>
            </a:r>
            <a:r>
              <a:rPr lang="zh-CN" altLang="en-US" dirty="0">
                <a:solidFill>
                  <a:srgbClr val="0322BD"/>
                </a:solidFill>
              </a:rPr>
              <a:t>最优解</a:t>
            </a:r>
            <a:r>
              <a:rPr lang="zh-CN" altLang="en-US" dirty="0">
                <a:solidFill>
                  <a:srgbClr val="060606"/>
                </a:solidFill>
              </a:rPr>
              <a:t>，对应的目标函数值称为</a:t>
            </a:r>
            <a:r>
              <a:rPr lang="zh-CN" altLang="en-US" dirty="0">
                <a:solidFill>
                  <a:srgbClr val="0322BD"/>
                </a:solidFill>
              </a:rPr>
              <a:t>最优值</a:t>
            </a:r>
            <a:r>
              <a:rPr lang="zh-CN" altLang="en-US" dirty="0">
                <a:solidFill>
                  <a:srgbClr val="060606"/>
                </a:solidFill>
              </a:rPr>
              <a:t>。</a:t>
            </a:r>
            <a:endParaRPr lang="en-US" altLang="zh-CN" dirty="0">
              <a:solidFill>
                <a:srgbClr val="060606"/>
              </a:solidFill>
            </a:endParaRPr>
          </a:p>
        </p:txBody>
      </p:sp>
      <p:pic>
        <p:nvPicPr>
          <p:cNvPr id="23" name="图片 22"/>
          <p:cNvPicPr>
            <a:picLocks noChangeAspect="1"/>
          </p:cNvPicPr>
          <p:nvPr/>
        </p:nvPicPr>
        <p:blipFill>
          <a:blip r:embed="rId1"/>
          <a:stretch>
            <a:fillRect/>
          </a:stretch>
        </p:blipFill>
        <p:spPr>
          <a:xfrm>
            <a:off x="2377877" y="136525"/>
            <a:ext cx="7600950" cy="3133725"/>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1971" y="3161718"/>
            <a:ext cx="11940073" cy="3587750"/>
          </a:xfrm>
        </p:spPr>
        <p:txBody>
          <a:bodyPr>
            <a:normAutofit lnSpcReduction="10000"/>
          </a:bodyPr>
          <a:lstStyle/>
          <a:p>
            <a:pPr lvl="0" algn="just">
              <a:lnSpc>
                <a:spcPct val="100000"/>
              </a:lnSpc>
              <a:buNone/>
            </a:pPr>
            <a:r>
              <a:rPr lang="zh-CN" altLang="en-US" dirty="0">
                <a:solidFill>
                  <a:srgbClr val="060606"/>
                </a:solidFill>
              </a:rPr>
              <a:t>定义</a:t>
            </a:r>
            <a:r>
              <a:rPr lang="en-US" altLang="zh-CN" dirty="0">
                <a:solidFill>
                  <a:srgbClr val="060606"/>
                </a:solidFill>
              </a:rPr>
              <a:t>3(</a:t>
            </a:r>
            <a:r>
              <a:rPr lang="zh-CN" altLang="en-US" dirty="0">
                <a:solidFill>
                  <a:srgbClr val="060606"/>
                </a:solidFill>
              </a:rPr>
              <a:t>基</a:t>
            </a:r>
            <a:r>
              <a:rPr lang="en-US" altLang="zh-CN" dirty="0">
                <a:solidFill>
                  <a:srgbClr val="060606"/>
                </a:solidFill>
              </a:rPr>
              <a:t>)    </a:t>
            </a:r>
            <a:r>
              <a:rPr lang="zh-CN" altLang="en-US" dirty="0">
                <a:solidFill>
                  <a:srgbClr val="060606"/>
                </a:solidFill>
              </a:rPr>
              <a:t>设</a:t>
            </a:r>
            <a:r>
              <a:rPr lang="en-US" altLang="zh-CN" b="1" dirty="0" err="1">
                <a:solidFill>
                  <a:srgbClr val="060606"/>
                </a:solidFill>
              </a:rPr>
              <a:t>A</a:t>
            </a:r>
            <a:r>
              <a:rPr lang="en-US" altLang="zh-CN" baseline="-25000" dirty="0" err="1">
                <a:solidFill>
                  <a:srgbClr val="060606"/>
                </a:solidFill>
              </a:rPr>
              <a:t>m×n</a:t>
            </a:r>
            <a:r>
              <a:rPr lang="en-US" altLang="zh-CN" dirty="0">
                <a:solidFill>
                  <a:srgbClr val="060606"/>
                </a:solidFill>
              </a:rPr>
              <a:t>(n&gt;m)</a:t>
            </a:r>
            <a:r>
              <a:rPr lang="zh-CN" altLang="en-US" dirty="0">
                <a:solidFill>
                  <a:srgbClr val="060606"/>
                </a:solidFill>
              </a:rPr>
              <a:t>为</a:t>
            </a:r>
            <a:r>
              <a:rPr lang="zh-CN" altLang="en-US" dirty="0">
                <a:solidFill>
                  <a:srgbClr val="0000AC"/>
                </a:solidFill>
              </a:rPr>
              <a:t>约束方程组</a:t>
            </a:r>
            <a:r>
              <a:rPr lang="zh-CN" altLang="en-US" dirty="0">
                <a:solidFill>
                  <a:srgbClr val="060606"/>
                </a:solidFill>
              </a:rPr>
              <a:t>的系数矩阵，其秩为</a:t>
            </a:r>
            <a:r>
              <a:rPr lang="en-US" altLang="zh-CN" dirty="0">
                <a:solidFill>
                  <a:srgbClr val="060606"/>
                </a:solidFill>
              </a:rPr>
              <a:t>m</a:t>
            </a:r>
            <a:r>
              <a:rPr lang="zh-CN" altLang="en-US" dirty="0">
                <a:solidFill>
                  <a:srgbClr val="060606"/>
                </a:solidFill>
              </a:rPr>
              <a:t>。</a:t>
            </a:r>
            <a:r>
              <a:rPr lang="en-US" altLang="zh-CN" b="1" dirty="0" err="1">
                <a:solidFill>
                  <a:srgbClr val="060606"/>
                </a:solidFill>
              </a:rPr>
              <a:t>B</a:t>
            </a:r>
            <a:r>
              <a:rPr lang="en-US" altLang="zh-CN" baseline="-25000" dirty="0" err="1">
                <a:solidFill>
                  <a:srgbClr val="060606"/>
                </a:solidFill>
              </a:rPr>
              <a:t>m×m</a:t>
            </a:r>
            <a:r>
              <a:rPr lang="zh-CN" altLang="en-US" dirty="0">
                <a:solidFill>
                  <a:srgbClr val="060606"/>
                </a:solidFill>
              </a:rPr>
              <a:t>是矩阵</a:t>
            </a:r>
            <a:r>
              <a:rPr lang="en-US" altLang="zh-CN" dirty="0">
                <a:solidFill>
                  <a:srgbClr val="060606"/>
                </a:solidFill>
              </a:rPr>
              <a:t>A</a:t>
            </a:r>
            <a:r>
              <a:rPr lang="zh-CN" altLang="en-US" dirty="0">
                <a:solidFill>
                  <a:srgbClr val="060606"/>
                </a:solidFill>
              </a:rPr>
              <a:t>中的满秩子矩阵，该</a:t>
            </a:r>
            <a:r>
              <a:rPr lang="en-US" altLang="zh-CN" b="1" dirty="0">
                <a:solidFill>
                  <a:srgbClr val="060606"/>
                </a:solidFill>
              </a:rPr>
              <a:t>B</a:t>
            </a:r>
            <a:r>
              <a:rPr lang="zh-CN" altLang="en-US" dirty="0">
                <a:solidFill>
                  <a:srgbClr val="060606"/>
                </a:solidFill>
              </a:rPr>
              <a:t>是线性规划问题的一个基</a:t>
            </a:r>
            <a:r>
              <a:rPr lang="en-US" altLang="zh-CN" dirty="0">
                <a:solidFill>
                  <a:srgbClr val="060606"/>
                </a:solidFill>
              </a:rPr>
              <a:t>(</a:t>
            </a:r>
            <a:r>
              <a:rPr lang="zh-CN" altLang="en-US" dirty="0">
                <a:solidFill>
                  <a:srgbClr val="060606"/>
                </a:solidFill>
              </a:rPr>
              <a:t>基矩阵</a:t>
            </a:r>
            <a:r>
              <a:rPr lang="en-US" altLang="zh-CN" dirty="0">
                <a:solidFill>
                  <a:srgbClr val="060606"/>
                </a:solidFill>
              </a:rPr>
              <a:t>)</a:t>
            </a:r>
            <a:r>
              <a:rPr lang="zh-CN" altLang="en-US" dirty="0">
                <a:solidFill>
                  <a:srgbClr val="060606"/>
                </a:solidFill>
              </a:rPr>
              <a:t>。令 </a:t>
            </a:r>
            <a:r>
              <a:rPr lang="en-US" altLang="zh-CN" b="1" dirty="0">
                <a:solidFill>
                  <a:srgbClr val="060606"/>
                </a:solidFill>
              </a:rPr>
              <a:t>B </a:t>
            </a:r>
            <a:r>
              <a:rPr lang="en-US" altLang="zh-CN" dirty="0">
                <a:solidFill>
                  <a:srgbClr val="060606"/>
                </a:solidFill>
              </a:rPr>
              <a:t>= ( </a:t>
            </a:r>
            <a:r>
              <a:rPr lang="en-US" altLang="zh-CN" dirty="0" err="1">
                <a:solidFill>
                  <a:srgbClr val="060606"/>
                </a:solidFill>
              </a:rPr>
              <a:t>a</a:t>
            </a:r>
            <a:r>
              <a:rPr lang="en-US" altLang="zh-CN" baseline="-25000" dirty="0" err="1">
                <a:solidFill>
                  <a:srgbClr val="060606"/>
                </a:solidFill>
              </a:rPr>
              <a:t>ij</a:t>
            </a:r>
            <a:r>
              <a:rPr lang="en-US" altLang="zh-CN" dirty="0">
                <a:solidFill>
                  <a:srgbClr val="060606"/>
                </a:solidFill>
              </a:rPr>
              <a:t> )</a:t>
            </a:r>
            <a:r>
              <a:rPr lang="en-US" altLang="zh-CN" baseline="-25000" dirty="0" err="1">
                <a:solidFill>
                  <a:srgbClr val="060606"/>
                </a:solidFill>
              </a:rPr>
              <a:t>m×m</a:t>
            </a:r>
            <a:r>
              <a:rPr lang="en-US" altLang="zh-CN" baseline="-25000" dirty="0">
                <a:solidFill>
                  <a:srgbClr val="060606"/>
                </a:solidFill>
              </a:rPr>
              <a:t> </a:t>
            </a:r>
            <a:r>
              <a:rPr lang="en-US" altLang="zh-CN" dirty="0">
                <a:solidFill>
                  <a:srgbClr val="060606"/>
                </a:solidFill>
              </a:rPr>
              <a:t>= ( </a:t>
            </a:r>
            <a:r>
              <a:rPr lang="en-US" altLang="zh-CN" b="1" dirty="0">
                <a:solidFill>
                  <a:srgbClr val="060606"/>
                </a:solidFill>
              </a:rPr>
              <a:t>p</a:t>
            </a:r>
            <a:r>
              <a:rPr lang="en-US" altLang="zh-CN" baseline="-25000" dirty="0">
                <a:solidFill>
                  <a:srgbClr val="060606"/>
                </a:solidFill>
              </a:rPr>
              <a:t>1 </a:t>
            </a:r>
            <a:r>
              <a:rPr lang="en-US" altLang="zh-CN" dirty="0">
                <a:solidFill>
                  <a:srgbClr val="060606"/>
                </a:solidFill>
              </a:rPr>
              <a:t>, </a:t>
            </a:r>
            <a:r>
              <a:rPr lang="en-US" altLang="zh-CN" b="1" dirty="0">
                <a:solidFill>
                  <a:srgbClr val="060606"/>
                </a:solidFill>
              </a:rPr>
              <a:t>p </a:t>
            </a:r>
            <a:r>
              <a:rPr lang="en-US" altLang="zh-CN" baseline="-25000" dirty="0">
                <a:solidFill>
                  <a:srgbClr val="060606"/>
                </a:solidFill>
              </a:rPr>
              <a:t>2 </a:t>
            </a:r>
            <a:r>
              <a:rPr lang="en-US" altLang="zh-CN" dirty="0">
                <a:solidFill>
                  <a:srgbClr val="060606"/>
                </a:solidFill>
              </a:rPr>
              <a:t>, … , </a:t>
            </a:r>
            <a:r>
              <a:rPr lang="en-US" altLang="zh-CN" b="1" dirty="0">
                <a:solidFill>
                  <a:srgbClr val="060606"/>
                </a:solidFill>
              </a:rPr>
              <a:t>p</a:t>
            </a:r>
            <a:r>
              <a:rPr lang="en-US" altLang="zh-CN" baseline="-25000" dirty="0">
                <a:solidFill>
                  <a:srgbClr val="060606"/>
                </a:solidFill>
              </a:rPr>
              <a:t>m</a:t>
            </a:r>
            <a:r>
              <a:rPr lang="en-US" altLang="zh-CN" dirty="0">
                <a:solidFill>
                  <a:srgbClr val="060606"/>
                </a:solidFill>
              </a:rPr>
              <a:t>)</a:t>
            </a:r>
            <a:endParaRPr lang="en-US" altLang="zh-CN" dirty="0">
              <a:solidFill>
                <a:srgbClr val="060606"/>
              </a:solidFill>
            </a:endParaRPr>
          </a:p>
          <a:p>
            <a:pPr algn="just">
              <a:lnSpc>
                <a:spcPct val="100000"/>
              </a:lnSpc>
              <a:buNone/>
            </a:pPr>
            <a:r>
              <a:rPr lang="zh-CN" altLang="en-US" dirty="0">
                <a:solidFill>
                  <a:srgbClr val="060606"/>
                </a:solidFill>
              </a:rPr>
              <a:t>则称</a:t>
            </a:r>
            <a:r>
              <a:rPr lang="en-US" altLang="zh-CN" dirty="0">
                <a:solidFill>
                  <a:srgbClr val="060606"/>
                </a:solidFill>
              </a:rPr>
              <a:t>B</a:t>
            </a:r>
            <a:r>
              <a:rPr lang="zh-CN" altLang="en-US" dirty="0">
                <a:solidFill>
                  <a:srgbClr val="060606"/>
                </a:solidFill>
              </a:rPr>
              <a:t>中的每一个列向量</a:t>
            </a:r>
            <a:r>
              <a:rPr lang="en-US" altLang="zh-CN" dirty="0" err="1">
                <a:solidFill>
                  <a:srgbClr val="060606"/>
                </a:solidFill>
              </a:rPr>
              <a:t>p</a:t>
            </a:r>
            <a:r>
              <a:rPr lang="en-US" altLang="zh-CN" baseline="-25000" dirty="0" err="1">
                <a:solidFill>
                  <a:srgbClr val="060606"/>
                </a:solidFill>
              </a:rPr>
              <a:t>j</a:t>
            </a:r>
            <a:r>
              <a:rPr lang="en-US" altLang="zh-CN" dirty="0">
                <a:solidFill>
                  <a:srgbClr val="060606"/>
                </a:solidFill>
              </a:rPr>
              <a:t>(j = 1</a:t>
            </a:r>
            <a:r>
              <a:rPr lang="zh-CN" altLang="en-US" dirty="0">
                <a:solidFill>
                  <a:srgbClr val="060606"/>
                </a:solidFill>
              </a:rPr>
              <a:t>，</a:t>
            </a:r>
            <a:r>
              <a:rPr lang="en-US" altLang="zh-CN" dirty="0">
                <a:solidFill>
                  <a:srgbClr val="060606"/>
                </a:solidFill>
              </a:rPr>
              <a:t>2</a:t>
            </a:r>
            <a:r>
              <a:rPr lang="zh-CN" altLang="en-US" dirty="0">
                <a:solidFill>
                  <a:srgbClr val="060606"/>
                </a:solidFill>
              </a:rPr>
              <a:t>，</a:t>
            </a:r>
            <a:r>
              <a:rPr lang="en-US" altLang="zh-CN" dirty="0">
                <a:solidFill>
                  <a:srgbClr val="060606"/>
                </a:solidFill>
              </a:rPr>
              <a:t>…</a:t>
            </a:r>
            <a:r>
              <a:rPr lang="zh-CN" altLang="en-US" dirty="0">
                <a:solidFill>
                  <a:srgbClr val="060606"/>
                </a:solidFill>
              </a:rPr>
              <a:t>，</a:t>
            </a:r>
            <a:r>
              <a:rPr lang="en-US" altLang="zh-CN" dirty="0">
                <a:solidFill>
                  <a:srgbClr val="060606"/>
                </a:solidFill>
              </a:rPr>
              <a:t>m)</a:t>
            </a:r>
            <a:r>
              <a:rPr lang="zh-CN" altLang="en-US" dirty="0">
                <a:solidFill>
                  <a:srgbClr val="060606"/>
                </a:solidFill>
              </a:rPr>
              <a:t>为基向量。与基向量</a:t>
            </a:r>
            <a:r>
              <a:rPr lang="en-US" altLang="zh-CN" dirty="0" err="1">
                <a:solidFill>
                  <a:srgbClr val="060606"/>
                </a:solidFill>
              </a:rPr>
              <a:t>p</a:t>
            </a:r>
            <a:r>
              <a:rPr lang="en-US" altLang="zh-CN" baseline="-25000" dirty="0" err="1">
                <a:solidFill>
                  <a:srgbClr val="060606"/>
                </a:solidFill>
              </a:rPr>
              <a:t>j</a:t>
            </a:r>
            <a:r>
              <a:rPr lang="zh-CN" altLang="en-US" dirty="0">
                <a:solidFill>
                  <a:srgbClr val="060606"/>
                </a:solidFill>
              </a:rPr>
              <a:t>对应的变量</a:t>
            </a:r>
            <a:r>
              <a:rPr lang="en-US" altLang="zh-CN" dirty="0">
                <a:solidFill>
                  <a:srgbClr val="060606"/>
                </a:solidFill>
              </a:rPr>
              <a:t>x</a:t>
            </a:r>
            <a:r>
              <a:rPr lang="en-US" altLang="zh-CN" baseline="-25000" dirty="0">
                <a:solidFill>
                  <a:srgbClr val="060606"/>
                </a:solidFill>
              </a:rPr>
              <a:t>j</a:t>
            </a:r>
            <a:r>
              <a:rPr lang="zh-CN" altLang="en-US" dirty="0">
                <a:solidFill>
                  <a:srgbClr val="060606"/>
                </a:solidFill>
              </a:rPr>
              <a:t>称为基变量，其它变量称为非基变量。</a:t>
            </a:r>
            <a:endParaRPr lang="en-US" altLang="zh-CN" dirty="0">
              <a:solidFill>
                <a:srgbClr val="060606"/>
              </a:solidFill>
            </a:endParaRPr>
          </a:p>
          <a:p>
            <a:pPr algn="just">
              <a:lnSpc>
                <a:spcPct val="100000"/>
              </a:lnSpc>
              <a:buNone/>
            </a:pPr>
            <a:r>
              <a:rPr lang="zh-CN" altLang="en-US" dirty="0">
                <a:solidFill>
                  <a:srgbClr val="060606"/>
                </a:solidFill>
              </a:rPr>
              <a:t>定义</a:t>
            </a:r>
            <a:r>
              <a:rPr lang="en-US" altLang="zh-CN" dirty="0">
                <a:solidFill>
                  <a:srgbClr val="060606"/>
                </a:solidFill>
              </a:rPr>
              <a:t>4(</a:t>
            </a:r>
            <a:r>
              <a:rPr lang="zh-CN" altLang="en-US" dirty="0">
                <a:solidFill>
                  <a:srgbClr val="0000AC"/>
                </a:solidFill>
              </a:rPr>
              <a:t>基解</a:t>
            </a:r>
            <a:r>
              <a:rPr lang="en-US" altLang="zh-CN" dirty="0">
                <a:solidFill>
                  <a:srgbClr val="060606"/>
                </a:solidFill>
              </a:rPr>
              <a:t>)    </a:t>
            </a:r>
            <a:r>
              <a:rPr lang="zh-CN" altLang="en-US" dirty="0">
                <a:solidFill>
                  <a:srgbClr val="0322BD"/>
                </a:solidFill>
              </a:rPr>
              <a:t>在约束方程组中</a:t>
            </a:r>
            <a:r>
              <a:rPr lang="en-US" altLang="zh-CN" dirty="0">
                <a:solidFill>
                  <a:srgbClr val="0322BD"/>
                </a:solidFill>
              </a:rPr>
              <a:t>,</a:t>
            </a:r>
            <a:r>
              <a:rPr lang="zh-CN" altLang="en-US" dirty="0">
                <a:solidFill>
                  <a:srgbClr val="0322BD"/>
                </a:solidFill>
              </a:rPr>
              <a:t>令非基变量</a:t>
            </a:r>
            <a:r>
              <a:rPr lang="en-US" altLang="zh-CN" dirty="0">
                <a:solidFill>
                  <a:srgbClr val="0322BD"/>
                </a:solidFill>
              </a:rPr>
              <a:t>x</a:t>
            </a:r>
            <a:r>
              <a:rPr lang="en-US" altLang="zh-CN" baseline="-25000" dirty="0">
                <a:solidFill>
                  <a:srgbClr val="0322BD"/>
                </a:solidFill>
              </a:rPr>
              <a:t>m+1</a:t>
            </a:r>
            <a:r>
              <a:rPr lang="en-US" altLang="zh-CN" dirty="0">
                <a:solidFill>
                  <a:srgbClr val="0322BD"/>
                </a:solidFill>
              </a:rPr>
              <a:t>,x</a:t>
            </a:r>
            <a:r>
              <a:rPr lang="en-US" altLang="zh-CN" baseline="-25000" dirty="0">
                <a:solidFill>
                  <a:srgbClr val="0322BD"/>
                </a:solidFill>
              </a:rPr>
              <a:t>m+2</a:t>
            </a:r>
            <a:r>
              <a:rPr lang="en-US" altLang="zh-CN" dirty="0">
                <a:solidFill>
                  <a:srgbClr val="0322BD"/>
                </a:solidFill>
              </a:rPr>
              <a:t>,…</a:t>
            </a:r>
            <a:r>
              <a:rPr lang="zh-CN" altLang="en-US" dirty="0">
                <a:solidFill>
                  <a:srgbClr val="0322BD"/>
                </a:solidFill>
              </a:rPr>
              <a:t>，</a:t>
            </a:r>
            <a:r>
              <a:rPr lang="en-US" altLang="zh-CN" dirty="0" err="1">
                <a:solidFill>
                  <a:srgbClr val="0322BD"/>
                </a:solidFill>
              </a:rPr>
              <a:t>x</a:t>
            </a:r>
            <a:r>
              <a:rPr lang="en-US" altLang="zh-CN" baseline="-25000" dirty="0" err="1">
                <a:solidFill>
                  <a:srgbClr val="0322BD"/>
                </a:solidFill>
              </a:rPr>
              <a:t>n</a:t>
            </a:r>
            <a:r>
              <a:rPr lang="zh-CN" altLang="en-US" dirty="0">
                <a:solidFill>
                  <a:srgbClr val="0322BD"/>
                </a:solidFill>
              </a:rPr>
              <a:t>为</a:t>
            </a:r>
            <a:r>
              <a:rPr lang="en-US" altLang="zh-CN" dirty="0">
                <a:solidFill>
                  <a:srgbClr val="0322BD"/>
                </a:solidFill>
              </a:rPr>
              <a:t>0</a:t>
            </a:r>
            <a:r>
              <a:rPr lang="zh-CN" altLang="en-US" dirty="0">
                <a:solidFill>
                  <a:srgbClr val="0322BD"/>
                </a:solidFill>
              </a:rPr>
              <a:t>，则称由约束方程确定的唯一解</a:t>
            </a:r>
            <a:r>
              <a:rPr lang="en-US" altLang="zh-CN" b="1" dirty="0">
                <a:solidFill>
                  <a:srgbClr val="0322BD"/>
                </a:solidFill>
              </a:rPr>
              <a:t>x</a:t>
            </a:r>
            <a:r>
              <a:rPr lang="en-US" altLang="zh-CN" dirty="0">
                <a:solidFill>
                  <a:srgbClr val="0322BD"/>
                </a:solidFill>
              </a:rPr>
              <a:t> = (x</a:t>
            </a:r>
            <a:r>
              <a:rPr lang="en-US" altLang="zh-CN" baseline="-25000" dirty="0">
                <a:solidFill>
                  <a:srgbClr val="0322BD"/>
                </a:solidFill>
              </a:rPr>
              <a:t>1</a:t>
            </a:r>
            <a:r>
              <a:rPr lang="en-US" altLang="zh-CN" dirty="0">
                <a:solidFill>
                  <a:srgbClr val="0322BD"/>
                </a:solidFill>
              </a:rPr>
              <a:t>,x</a:t>
            </a:r>
            <a:r>
              <a:rPr lang="en-US" altLang="zh-CN" baseline="-25000" dirty="0">
                <a:solidFill>
                  <a:srgbClr val="0322BD"/>
                </a:solidFill>
              </a:rPr>
              <a:t>2</a:t>
            </a:r>
            <a:r>
              <a:rPr lang="en-US" altLang="zh-CN" dirty="0">
                <a:solidFill>
                  <a:srgbClr val="0322BD"/>
                </a:solidFill>
              </a:rPr>
              <a:t>,…,x</a:t>
            </a:r>
            <a:r>
              <a:rPr lang="en-US" altLang="zh-CN" baseline="-25000" dirty="0">
                <a:solidFill>
                  <a:srgbClr val="0322BD"/>
                </a:solidFill>
              </a:rPr>
              <a:t>m</a:t>
            </a:r>
            <a:r>
              <a:rPr lang="en-US" altLang="zh-CN" dirty="0">
                <a:solidFill>
                  <a:srgbClr val="0322BD"/>
                </a:solidFill>
              </a:rPr>
              <a:t>,0,…,0)</a:t>
            </a:r>
            <a:r>
              <a:rPr lang="en-US" altLang="zh-CN" baseline="30000" dirty="0">
                <a:solidFill>
                  <a:srgbClr val="0322BD"/>
                </a:solidFill>
              </a:rPr>
              <a:t>T</a:t>
            </a:r>
            <a:r>
              <a:rPr lang="zh-CN" altLang="en-US" dirty="0">
                <a:solidFill>
                  <a:srgbClr val="0322BD"/>
                </a:solidFill>
              </a:rPr>
              <a:t>，</a:t>
            </a:r>
            <a:r>
              <a:rPr lang="en-US" altLang="zh-CN" b="1" dirty="0">
                <a:solidFill>
                  <a:srgbClr val="0322BD"/>
                </a:solidFill>
              </a:rPr>
              <a:t>x</a:t>
            </a:r>
            <a:r>
              <a:rPr lang="zh-CN" altLang="en-US" dirty="0">
                <a:solidFill>
                  <a:srgbClr val="0322BD"/>
                </a:solidFill>
              </a:rPr>
              <a:t>为线性规划问题的基解。</a:t>
            </a:r>
            <a:r>
              <a:rPr lang="en-US" altLang="zh-CN" dirty="0">
                <a:solidFill>
                  <a:srgbClr val="0322BD"/>
                </a:solidFill>
              </a:rPr>
              <a:t>(</a:t>
            </a:r>
            <a:r>
              <a:rPr lang="zh-CN" altLang="en-US" dirty="0">
                <a:solidFill>
                  <a:srgbClr val="0322BD"/>
                </a:solidFill>
              </a:rPr>
              <a:t>基解中变量取非零的个数不大于方程数</a:t>
            </a:r>
            <a:r>
              <a:rPr lang="en-US" altLang="zh-CN" dirty="0">
                <a:solidFill>
                  <a:srgbClr val="0322BD"/>
                </a:solidFill>
              </a:rPr>
              <a:t>m</a:t>
            </a:r>
            <a:r>
              <a:rPr lang="zh-CN" altLang="en-US" dirty="0">
                <a:solidFill>
                  <a:srgbClr val="0322BD"/>
                </a:solidFill>
              </a:rPr>
              <a:t>。</a:t>
            </a:r>
            <a:r>
              <a:rPr lang="en-US" altLang="zh-CN" dirty="0">
                <a:solidFill>
                  <a:srgbClr val="0322BD"/>
                </a:solidFill>
              </a:rPr>
              <a:t>)</a:t>
            </a:r>
            <a:endParaRPr lang="en-US" altLang="zh-CN" dirty="0">
              <a:solidFill>
                <a:srgbClr val="0322BD"/>
              </a:solidFill>
            </a:endParaRPr>
          </a:p>
        </p:txBody>
      </p:sp>
      <p:pic>
        <p:nvPicPr>
          <p:cNvPr id="22" name="图片 21"/>
          <p:cNvPicPr>
            <a:picLocks noChangeAspect="1"/>
          </p:cNvPicPr>
          <p:nvPr/>
        </p:nvPicPr>
        <p:blipFill>
          <a:blip r:embed="rId1"/>
          <a:stretch>
            <a:fillRect/>
          </a:stretch>
        </p:blipFill>
        <p:spPr>
          <a:xfrm>
            <a:off x="2136904" y="0"/>
            <a:ext cx="7600950" cy="3133725"/>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9397" y="3343656"/>
            <a:ext cx="11475166" cy="3195256"/>
          </a:xfrm>
        </p:spPr>
        <p:txBody>
          <a:bodyPr>
            <a:normAutofit/>
          </a:bodyPr>
          <a:lstStyle/>
          <a:p>
            <a:pPr algn="just">
              <a:lnSpc>
                <a:spcPct val="100000"/>
              </a:lnSpc>
              <a:buNone/>
            </a:pPr>
            <a:r>
              <a:rPr lang="zh-CN" altLang="en-US" dirty="0">
                <a:solidFill>
                  <a:srgbClr val="060606"/>
                </a:solidFill>
              </a:rPr>
              <a:t>定义</a:t>
            </a:r>
            <a:r>
              <a:rPr lang="en-US" altLang="zh-CN" dirty="0">
                <a:solidFill>
                  <a:srgbClr val="060606"/>
                </a:solidFill>
              </a:rPr>
              <a:t>5(</a:t>
            </a:r>
            <a:r>
              <a:rPr lang="zh-CN" altLang="en-US" dirty="0">
                <a:solidFill>
                  <a:srgbClr val="060606"/>
                </a:solidFill>
              </a:rPr>
              <a:t>基可行解</a:t>
            </a:r>
            <a:r>
              <a:rPr lang="en-US" altLang="zh-CN" dirty="0">
                <a:solidFill>
                  <a:srgbClr val="060606"/>
                </a:solidFill>
              </a:rPr>
              <a:t>)    </a:t>
            </a:r>
            <a:r>
              <a:rPr lang="zh-CN" altLang="en-US" dirty="0">
                <a:solidFill>
                  <a:srgbClr val="060606"/>
                </a:solidFill>
              </a:rPr>
              <a:t>满足约束条件的基解称为</a:t>
            </a:r>
            <a:r>
              <a:rPr lang="zh-CN" altLang="en-US" dirty="0">
                <a:solidFill>
                  <a:srgbClr val="0000AC"/>
                </a:solidFill>
              </a:rPr>
              <a:t>基可行解</a:t>
            </a:r>
            <a:r>
              <a:rPr lang="zh-CN" altLang="en-US" dirty="0">
                <a:solidFill>
                  <a:srgbClr val="060606"/>
                </a:solidFill>
              </a:rPr>
              <a:t>。</a:t>
            </a:r>
            <a:endParaRPr lang="en-US" altLang="zh-CN" dirty="0">
              <a:solidFill>
                <a:srgbClr val="060606"/>
              </a:solidFill>
            </a:endParaRPr>
          </a:p>
          <a:p>
            <a:pPr algn="just">
              <a:lnSpc>
                <a:spcPct val="100000"/>
              </a:lnSpc>
              <a:buNone/>
            </a:pPr>
            <a:r>
              <a:rPr lang="zh-CN" altLang="en-US" dirty="0">
                <a:solidFill>
                  <a:srgbClr val="060606"/>
                </a:solidFill>
              </a:rPr>
              <a:t>定义</a:t>
            </a:r>
            <a:r>
              <a:rPr lang="en-US" altLang="zh-CN" dirty="0">
                <a:solidFill>
                  <a:srgbClr val="060606"/>
                </a:solidFill>
              </a:rPr>
              <a:t>6(</a:t>
            </a:r>
            <a:r>
              <a:rPr lang="zh-CN" altLang="en-US" dirty="0">
                <a:solidFill>
                  <a:srgbClr val="060606"/>
                </a:solidFill>
              </a:rPr>
              <a:t>可行基</a:t>
            </a:r>
            <a:r>
              <a:rPr lang="en-US" altLang="zh-CN" dirty="0">
                <a:solidFill>
                  <a:srgbClr val="060606"/>
                </a:solidFill>
              </a:rPr>
              <a:t>)    </a:t>
            </a:r>
            <a:r>
              <a:rPr lang="zh-CN" altLang="en-US" dirty="0">
                <a:solidFill>
                  <a:srgbClr val="060606"/>
                </a:solidFill>
              </a:rPr>
              <a:t>对应于基可行解的基称为</a:t>
            </a:r>
            <a:r>
              <a:rPr lang="zh-CN" altLang="en-US" dirty="0">
                <a:solidFill>
                  <a:srgbClr val="0322BD"/>
                </a:solidFill>
              </a:rPr>
              <a:t>可行基</a:t>
            </a:r>
            <a:r>
              <a:rPr lang="zh-CN" altLang="en-US" dirty="0">
                <a:solidFill>
                  <a:srgbClr val="060606"/>
                </a:solidFill>
              </a:rPr>
              <a:t>。</a:t>
            </a:r>
            <a:endParaRPr lang="en-US" altLang="zh-CN" dirty="0">
              <a:solidFill>
                <a:srgbClr val="060606"/>
              </a:solidFill>
            </a:endParaRPr>
          </a:p>
          <a:p>
            <a:pPr algn="just">
              <a:lnSpc>
                <a:spcPct val="100000"/>
              </a:lnSpc>
              <a:buNone/>
            </a:pPr>
            <a:r>
              <a:rPr lang="zh-CN" altLang="en-US" dirty="0">
                <a:solidFill>
                  <a:srgbClr val="060606"/>
                </a:solidFill>
              </a:rPr>
              <a:t>定义</a:t>
            </a:r>
            <a:r>
              <a:rPr lang="en-US" altLang="zh-CN" dirty="0">
                <a:solidFill>
                  <a:srgbClr val="060606"/>
                </a:solidFill>
              </a:rPr>
              <a:t>7(</a:t>
            </a:r>
            <a:r>
              <a:rPr lang="zh-CN" altLang="en-US" dirty="0">
                <a:solidFill>
                  <a:srgbClr val="060606"/>
                </a:solidFill>
              </a:rPr>
              <a:t>退化基可行解与非退化基可行解</a:t>
            </a:r>
            <a:r>
              <a:rPr lang="en-US" altLang="zh-CN" dirty="0">
                <a:solidFill>
                  <a:srgbClr val="060606"/>
                </a:solidFill>
              </a:rPr>
              <a:t>)    </a:t>
            </a:r>
            <a:r>
              <a:rPr lang="zh-CN" altLang="en-US" dirty="0">
                <a:solidFill>
                  <a:srgbClr val="060606"/>
                </a:solidFill>
              </a:rPr>
              <a:t>称含零值基变量的基可行解为</a:t>
            </a:r>
            <a:r>
              <a:rPr lang="zh-CN" altLang="en-US" dirty="0">
                <a:solidFill>
                  <a:srgbClr val="0000AC"/>
                </a:solidFill>
              </a:rPr>
              <a:t>退化基可行解</a:t>
            </a:r>
            <a:r>
              <a:rPr lang="zh-CN" altLang="en-US" dirty="0">
                <a:solidFill>
                  <a:srgbClr val="060606"/>
                </a:solidFill>
              </a:rPr>
              <a:t>，对应的基为退化基。称基变量都不为零的基可行解为</a:t>
            </a:r>
            <a:r>
              <a:rPr lang="zh-CN" altLang="en-US" dirty="0">
                <a:solidFill>
                  <a:srgbClr val="0000AC"/>
                </a:solidFill>
              </a:rPr>
              <a:t>非退化基可行解</a:t>
            </a:r>
            <a:r>
              <a:rPr lang="zh-CN" altLang="en-US" dirty="0">
                <a:solidFill>
                  <a:srgbClr val="060606"/>
                </a:solidFill>
              </a:rPr>
              <a:t>，对应的基为非退化可行基。</a:t>
            </a:r>
            <a:endParaRPr lang="en-US" altLang="zh-CN" dirty="0">
              <a:solidFill>
                <a:srgbClr val="060606"/>
              </a:solidFill>
            </a:endParaRPr>
          </a:p>
        </p:txBody>
      </p:sp>
      <p:pic>
        <p:nvPicPr>
          <p:cNvPr id="23" name="图片 22"/>
          <p:cNvPicPr>
            <a:picLocks noChangeAspect="1"/>
          </p:cNvPicPr>
          <p:nvPr/>
        </p:nvPicPr>
        <p:blipFill>
          <a:blip r:embed="rId1"/>
          <a:stretch>
            <a:fillRect/>
          </a:stretch>
        </p:blipFill>
        <p:spPr>
          <a:xfrm>
            <a:off x="2370170" y="209931"/>
            <a:ext cx="7600950" cy="3133725"/>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25580"/>
            <a:ext cx="11073882" cy="1325563"/>
          </a:xfrm>
        </p:spPr>
        <p:txBody>
          <a:bodyPr>
            <a:noAutofit/>
          </a:bodyPr>
          <a:lstStyle/>
          <a:p>
            <a:r>
              <a:rPr lang="zh-CN" altLang="en-US" sz="3200" dirty="0"/>
              <a:t>举例来认识这些基本概念：写出产品组合问题的标准形式，及其基、基变量、基解、基可行解和可行基</a:t>
            </a:r>
            <a:endParaRPr lang="zh-CN" altLang="en-US" sz="3200" dirty="0"/>
          </a:p>
        </p:txBody>
      </p:sp>
      <p:sp>
        <p:nvSpPr>
          <p:cNvPr id="3" name="内容占位符 2"/>
          <p:cNvSpPr>
            <a:spLocks noGrp="1"/>
          </p:cNvSpPr>
          <p:nvPr>
            <p:ph idx="1"/>
          </p:nvPr>
        </p:nvSpPr>
        <p:spPr>
          <a:xfrm>
            <a:off x="869023" y="1705718"/>
            <a:ext cx="8229600" cy="672181"/>
          </a:xfrm>
        </p:spPr>
        <p:txBody>
          <a:bodyPr>
            <a:normAutofit/>
          </a:bodyPr>
          <a:lstStyle/>
          <a:p>
            <a:pPr>
              <a:buNone/>
            </a:pPr>
            <a:r>
              <a:rPr lang="zh-CN" altLang="en-US" dirty="0">
                <a:solidFill>
                  <a:srgbClr val="060606"/>
                </a:solidFill>
              </a:rPr>
              <a:t>第</a:t>
            </a:r>
            <a:r>
              <a:rPr lang="en-US" altLang="zh-CN" dirty="0">
                <a:solidFill>
                  <a:srgbClr val="060606"/>
                </a:solidFill>
              </a:rPr>
              <a:t>1</a:t>
            </a:r>
            <a:r>
              <a:rPr lang="zh-CN" altLang="en-US" dirty="0">
                <a:solidFill>
                  <a:srgbClr val="060606"/>
                </a:solidFill>
              </a:rPr>
              <a:t>步，得到产品组合问题的数学表达：</a:t>
            </a:r>
            <a:endParaRPr lang="zh-CN" altLang="en-US" dirty="0">
              <a:solidFill>
                <a:srgbClr val="060606"/>
              </a:solidFill>
            </a:endParaRPr>
          </a:p>
        </p:txBody>
      </p:sp>
      <p:grpSp>
        <p:nvGrpSpPr>
          <p:cNvPr id="4" name="组合 12"/>
          <p:cNvGrpSpPr/>
          <p:nvPr/>
        </p:nvGrpSpPr>
        <p:grpSpPr>
          <a:xfrm>
            <a:off x="3488906" y="2493985"/>
            <a:ext cx="6095425" cy="3080449"/>
            <a:chOff x="899592" y="3429000"/>
            <a:chExt cx="5572558" cy="2081788"/>
          </a:xfrm>
        </p:grpSpPr>
        <p:sp>
          <p:nvSpPr>
            <p:cNvPr id="5" name="矩形 4"/>
            <p:cNvSpPr/>
            <p:nvPr/>
          </p:nvSpPr>
          <p:spPr>
            <a:xfrm>
              <a:off x="899592" y="3429000"/>
              <a:ext cx="4392488" cy="367462"/>
            </a:xfrm>
            <a:prstGeom prst="rect">
              <a:avLst/>
            </a:prstGeom>
          </p:spPr>
          <p:txBody>
            <a:bodyPr wrap="square">
              <a:spAutoFit/>
            </a:bodyPr>
            <a:lstStyle/>
            <a:p>
              <a:pPr marL="342900" indent="-342900" algn="ctr" fontAlgn="base">
                <a:lnSpc>
                  <a:spcPct val="110000"/>
                </a:lnSpc>
                <a:spcBef>
                  <a:spcPts val="1800"/>
                </a:spcBef>
                <a:spcAft>
                  <a:spcPct val="0"/>
                </a:spcAft>
              </a:pPr>
              <a:r>
                <a:rPr lang="en-US" altLang="zh-CN" sz="2800" dirty="0">
                  <a:solidFill>
                    <a:srgbClr val="060606"/>
                  </a:solidFill>
                </a:rPr>
                <a:t>max Z  = 3x</a:t>
              </a:r>
              <a:r>
                <a:rPr lang="en-US" altLang="zh-CN" sz="2800" baseline="-25000" dirty="0">
                  <a:solidFill>
                    <a:srgbClr val="060606"/>
                  </a:solidFill>
                </a:rPr>
                <a:t>1</a:t>
              </a:r>
              <a:r>
                <a:rPr lang="en-US" altLang="zh-CN" sz="2800" dirty="0">
                  <a:solidFill>
                    <a:srgbClr val="060606"/>
                  </a:solidFill>
                </a:rPr>
                <a:t>+5x</a:t>
              </a:r>
              <a:r>
                <a:rPr lang="en-US" altLang="zh-CN" sz="2800" baseline="-25000" dirty="0">
                  <a:solidFill>
                    <a:srgbClr val="060606"/>
                  </a:solidFill>
                </a:rPr>
                <a:t>2</a:t>
              </a:r>
              <a:endParaRPr lang="en-US" altLang="zh-CN" sz="2800" dirty="0">
                <a:solidFill>
                  <a:srgbClr val="060606"/>
                </a:solidFill>
              </a:endParaRPr>
            </a:p>
          </p:txBody>
        </p:sp>
        <p:sp>
          <p:nvSpPr>
            <p:cNvPr id="6" name="矩形 5"/>
            <p:cNvSpPr/>
            <p:nvPr/>
          </p:nvSpPr>
          <p:spPr>
            <a:xfrm>
              <a:off x="899592" y="4437112"/>
              <a:ext cx="648072" cy="36746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800" dirty="0">
                  <a:solidFill>
                    <a:srgbClr val="060606"/>
                  </a:solidFill>
                </a:rPr>
                <a:t>s. t</a:t>
              </a:r>
              <a:endParaRPr lang="en-US" altLang="zh-CN" sz="2800" dirty="0">
                <a:solidFill>
                  <a:srgbClr val="060606"/>
                </a:solidFill>
              </a:endParaRPr>
            </a:p>
          </p:txBody>
        </p:sp>
        <p:sp>
          <p:nvSpPr>
            <p:cNvPr id="7" name="左大括号 6"/>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800">
                <a:latin typeface="Arial" panose="020B0604020202090204" pitchFamily="34" charset="0"/>
                <a:ea typeface="宋体" panose="02010600030101010101" pitchFamily="2" charset="-122"/>
              </a:endParaRPr>
            </a:p>
          </p:txBody>
        </p:sp>
        <p:sp>
          <p:nvSpPr>
            <p:cNvPr id="8" name="矩形 7"/>
            <p:cNvSpPr/>
            <p:nvPr/>
          </p:nvSpPr>
          <p:spPr>
            <a:xfrm>
              <a:off x="2123728" y="3861048"/>
              <a:ext cx="2814048" cy="353596"/>
            </a:xfrm>
            <a:prstGeom prst="rect">
              <a:avLst/>
            </a:prstGeom>
          </p:spPr>
          <p:txBody>
            <a:bodyPr wrap="none">
              <a:spAutoFit/>
            </a:bodyPr>
            <a:lstStyle/>
            <a:p>
              <a:r>
                <a:rPr lang="en-US" altLang="zh-CN" sz="2800" dirty="0">
                  <a:solidFill>
                    <a:srgbClr val="060606"/>
                  </a:solidFill>
                </a:rPr>
                <a:t> x</a:t>
              </a:r>
              <a:r>
                <a:rPr lang="en-US" altLang="zh-CN" sz="2800" baseline="-25000" dirty="0">
                  <a:solidFill>
                    <a:srgbClr val="060606"/>
                  </a:solidFill>
                </a:rPr>
                <a:t>1</a:t>
              </a:r>
              <a:r>
                <a:rPr lang="en-US" altLang="zh-CN" sz="2800" dirty="0">
                  <a:solidFill>
                    <a:srgbClr val="060606"/>
                  </a:solidFill>
                </a:rPr>
                <a:t>≤4                (1)</a:t>
              </a:r>
              <a:endParaRPr lang="zh-CN" altLang="en-US" sz="2800" dirty="0"/>
            </a:p>
          </p:txBody>
        </p:sp>
        <p:sp>
          <p:nvSpPr>
            <p:cNvPr id="9" name="矩形 8"/>
            <p:cNvSpPr/>
            <p:nvPr/>
          </p:nvSpPr>
          <p:spPr>
            <a:xfrm>
              <a:off x="2123728" y="4725144"/>
              <a:ext cx="4348422" cy="353596"/>
            </a:xfrm>
            <a:prstGeom prst="rect">
              <a:avLst/>
            </a:prstGeom>
          </p:spPr>
          <p:txBody>
            <a:bodyPr wrap="none">
              <a:spAutoFit/>
            </a:bodyPr>
            <a:lstStyle/>
            <a:p>
              <a:r>
                <a:rPr lang="en-US" altLang="zh-CN" sz="2800" dirty="0">
                  <a:solidFill>
                    <a:srgbClr val="060606"/>
                  </a:solidFill>
                </a:rPr>
                <a:t>3x</a:t>
              </a:r>
              <a:r>
                <a:rPr lang="en-US" altLang="zh-CN" sz="2800" baseline="-25000" dirty="0">
                  <a:solidFill>
                    <a:srgbClr val="060606"/>
                  </a:solidFill>
                </a:rPr>
                <a:t>1</a:t>
              </a:r>
              <a:r>
                <a:rPr lang="en-US" altLang="zh-CN" sz="2800" dirty="0">
                  <a:solidFill>
                    <a:srgbClr val="060606"/>
                  </a:solidFill>
                </a:rPr>
                <a:t>+2x</a:t>
              </a:r>
              <a:r>
                <a:rPr lang="en-US" altLang="zh-CN" sz="2800" baseline="-25000" dirty="0">
                  <a:solidFill>
                    <a:srgbClr val="060606"/>
                  </a:solidFill>
                </a:rPr>
                <a:t>2</a:t>
              </a:r>
              <a:r>
                <a:rPr lang="en-US" altLang="zh-CN" sz="2800" dirty="0">
                  <a:solidFill>
                    <a:srgbClr val="060606"/>
                  </a:solidFill>
                </a:rPr>
                <a:t> ≤ 18                     (3)</a:t>
              </a:r>
              <a:endParaRPr lang="zh-CN" altLang="en-US" sz="2800" dirty="0"/>
            </a:p>
          </p:txBody>
        </p:sp>
        <p:sp>
          <p:nvSpPr>
            <p:cNvPr id="10" name="矩形 9"/>
            <p:cNvSpPr/>
            <p:nvPr/>
          </p:nvSpPr>
          <p:spPr>
            <a:xfrm>
              <a:off x="2123728" y="5157192"/>
              <a:ext cx="3904378" cy="353596"/>
            </a:xfrm>
            <a:prstGeom prst="rect">
              <a:avLst/>
            </a:prstGeom>
          </p:spPr>
          <p:txBody>
            <a:bodyPr wrap="none">
              <a:spAutoFit/>
            </a:bodyPr>
            <a:lstStyle/>
            <a:p>
              <a:r>
                <a:rPr lang="en-US" altLang="zh-CN" sz="2800" dirty="0">
                  <a:solidFill>
                    <a:srgbClr val="060606"/>
                  </a:solidFill>
                </a:rPr>
                <a:t>x</a:t>
              </a:r>
              <a:r>
                <a:rPr lang="en-US" altLang="zh-CN" sz="2800" baseline="-25000" dirty="0">
                  <a:solidFill>
                    <a:srgbClr val="060606"/>
                  </a:solidFill>
                </a:rPr>
                <a:t>1</a:t>
              </a:r>
              <a:r>
                <a:rPr lang="en-US" altLang="zh-CN" sz="2800" dirty="0">
                  <a:solidFill>
                    <a:srgbClr val="060606"/>
                  </a:solidFill>
                </a:rPr>
                <a:t> ≥0</a:t>
              </a:r>
              <a:r>
                <a:rPr lang="zh-CN" altLang="en-US" sz="2800" dirty="0">
                  <a:solidFill>
                    <a:srgbClr val="060606"/>
                  </a:solidFill>
                </a:rPr>
                <a:t>，</a:t>
              </a:r>
              <a:r>
                <a:rPr lang="en-US" altLang="zh-CN" sz="2800" dirty="0">
                  <a:solidFill>
                    <a:srgbClr val="060606"/>
                  </a:solidFill>
                </a:rPr>
                <a:t>x</a:t>
              </a:r>
              <a:r>
                <a:rPr lang="en-US" altLang="zh-CN" sz="2800" baseline="-25000" dirty="0">
                  <a:solidFill>
                    <a:srgbClr val="060606"/>
                  </a:solidFill>
                </a:rPr>
                <a:t>2</a:t>
              </a:r>
              <a:r>
                <a:rPr lang="en-US" altLang="zh-CN" sz="2800" dirty="0">
                  <a:solidFill>
                    <a:srgbClr val="060606"/>
                  </a:solidFill>
                </a:rPr>
                <a:t> ≥0               (4)</a:t>
              </a:r>
              <a:endParaRPr lang="zh-CN" altLang="en-US" sz="2800" dirty="0"/>
            </a:p>
          </p:txBody>
        </p:sp>
        <p:sp>
          <p:nvSpPr>
            <p:cNvPr id="11" name="矩形 10"/>
            <p:cNvSpPr/>
            <p:nvPr/>
          </p:nvSpPr>
          <p:spPr>
            <a:xfrm>
              <a:off x="2123728" y="4293096"/>
              <a:ext cx="3517486" cy="353596"/>
            </a:xfrm>
            <a:prstGeom prst="rect">
              <a:avLst/>
            </a:prstGeom>
          </p:spPr>
          <p:txBody>
            <a:bodyPr wrap="none">
              <a:spAutoFit/>
            </a:bodyPr>
            <a:lstStyle/>
            <a:p>
              <a:r>
                <a:rPr lang="en-US" altLang="zh-CN" sz="2800" dirty="0">
                  <a:solidFill>
                    <a:srgbClr val="060606"/>
                  </a:solidFill>
                </a:rPr>
                <a:t>2x</a:t>
              </a:r>
              <a:r>
                <a:rPr lang="en-US" altLang="zh-CN" sz="2800" baseline="-25000" dirty="0">
                  <a:solidFill>
                    <a:srgbClr val="060606"/>
                  </a:solidFill>
                </a:rPr>
                <a:t>2</a:t>
              </a:r>
              <a:r>
                <a:rPr lang="en-US" altLang="zh-CN" sz="2800" dirty="0">
                  <a:solidFill>
                    <a:srgbClr val="060606"/>
                  </a:solidFill>
                </a:rPr>
                <a:t> ≤12                    (2)</a:t>
              </a:r>
              <a:endParaRPr lang="zh-CN" altLang="en-US" sz="2800" dirty="0">
                <a:solidFill>
                  <a:srgbClr val="060606"/>
                </a:solidFill>
              </a:endParaRPr>
            </a:p>
          </p:txBody>
        </p:sp>
      </p:grpSp>
      <p:sp>
        <p:nvSpPr>
          <p:cNvPr id="13" name="矩形 12"/>
          <p:cNvSpPr/>
          <p:nvPr/>
        </p:nvSpPr>
        <p:spPr>
          <a:xfrm>
            <a:off x="74645" y="1451143"/>
            <a:ext cx="11952514" cy="47163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0996" y="116921"/>
            <a:ext cx="9516188" cy="736112"/>
          </a:xfrm>
        </p:spPr>
        <p:txBody>
          <a:bodyPr>
            <a:normAutofit/>
          </a:bodyPr>
          <a:lstStyle/>
          <a:p>
            <a:pPr>
              <a:buNone/>
            </a:pPr>
            <a:r>
              <a:rPr lang="zh-CN" altLang="en-US" dirty="0">
                <a:solidFill>
                  <a:srgbClr val="060606"/>
                </a:solidFill>
              </a:rPr>
              <a:t>第</a:t>
            </a:r>
            <a:r>
              <a:rPr lang="en-US" altLang="zh-CN" dirty="0">
                <a:solidFill>
                  <a:srgbClr val="060606"/>
                </a:solidFill>
              </a:rPr>
              <a:t>2</a:t>
            </a:r>
            <a:r>
              <a:rPr lang="zh-CN" altLang="en-US" dirty="0">
                <a:solidFill>
                  <a:srgbClr val="060606"/>
                </a:solidFill>
              </a:rPr>
              <a:t>步，写出产品组合问题的标准形</a:t>
            </a:r>
            <a:endParaRPr lang="zh-CN" altLang="en-US" dirty="0">
              <a:solidFill>
                <a:srgbClr val="060606"/>
              </a:solidFill>
            </a:endParaRPr>
          </a:p>
        </p:txBody>
      </p:sp>
      <p:grpSp>
        <p:nvGrpSpPr>
          <p:cNvPr id="26" name="组合 25"/>
          <p:cNvGrpSpPr/>
          <p:nvPr/>
        </p:nvGrpSpPr>
        <p:grpSpPr>
          <a:xfrm>
            <a:off x="2495600" y="3674642"/>
            <a:ext cx="8981054" cy="2323420"/>
            <a:chOff x="3059832" y="3674641"/>
            <a:chExt cx="7348135" cy="2323420"/>
          </a:xfrm>
        </p:grpSpPr>
        <p:sp>
          <p:nvSpPr>
            <p:cNvPr id="5" name="矩形 4"/>
            <p:cNvSpPr/>
            <p:nvPr/>
          </p:nvSpPr>
          <p:spPr>
            <a:xfrm>
              <a:off x="3275856" y="3674641"/>
              <a:ext cx="4392488" cy="543739"/>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2800" dirty="0">
                  <a:solidFill>
                    <a:srgbClr val="060606"/>
                  </a:solidFill>
                </a:rPr>
                <a:t>max Z  = 3x</a:t>
              </a:r>
              <a:r>
                <a:rPr lang="en-US" altLang="zh-CN" sz="2800" baseline="-25000" dirty="0">
                  <a:solidFill>
                    <a:srgbClr val="060606"/>
                  </a:solidFill>
                </a:rPr>
                <a:t>1</a:t>
              </a:r>
              <a:r>
                <a:rPr lang="en-US" altLang="zh-CN" sz="2800" dirty="0">
                  <a:solidFill>
                    <a:srgbClr val="060606"/>
                  </a:solidFill>
                </a:rPr>
                <a:t>     +5x</a:t>
              </a:r>
              <a:r>
                <a:rPr lang="en-US" altLang="zh-CN" sz="2800" baseline="-25000" dirty="0">
                  <a:solidFill>
                    <a:srgbClr val="060606"/>
                  </a:solidFill>
                </a:rPr>
                <a:t>2</a:t>
              </a:r>
              <a:endParaRPr lang="en-US" altLang="zh-CN" sz="2800" dirty="0">
                <a:solidFill>
                  <a:srgbClr val="060606"/>
                </a:solidFill>
              </a:endParaRPr>
            </a:p>
          </p:txBody>
        </p:sp>
        <p:sp>
          <p:nvSpPr>
            <p:cNvPr id="6" name="矩形 5"/>
            <p:cNvSpPr/>
            <p:nvPr/>
          </p:nvSpPr>
          <p:spPr>
            <a:xfrm>
              <a:off x="3059832" y="4754761"/>
              <a:ext cx="648072" cy="543739"/>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800" dirty="0">
                  <a:solidFill>
                    <a:srgbClr val="060606"/>
                  </a:solidFill>
                </a:rPr>
                <a:t>s. t</a:t>
              </a:r>
              <a:endParaRPr lang="en-US" altLang="zh-CN" sz="2800" dirty="0">
                <a:solidFill>
                  <a:srgbClr val="060606"/>
                </a:solidFill>
              </a:endParaRPr>
            </a:p>
          </p:txBody>
        </p:sp>
        <p:sp>
          <p:nvSpPr>
            <p:cNvPr id="7" name="左大括号 6"/>
            <p:cNvSpPr/>
            <p:nvPr/>
          </p:nvSpPr>
          <p:spPr bwMode="auto">
            <a:xfrm>
              <a:off x="3635896" y="4250705"/>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800">
                <a:latin typeface="Arial" panose="020B0604020202090204" pitchFamily="34" charset="0"/>
                <a:ea typeface="宋体" panose="02010600030101010101" pitchFamily="2" charset="-122"/>
              </a:endParaRPr>
            </a:p>
          </p:txBody>
        </p:sp>
        <p:sp>
          <p:nvSpPr>
            <p:cNvPr id="8" name="矩形 7"/>
            <p:cNvSpPr/>
            <p:nvPr/>
          </p:nvSpPr>
          <p:spPr>
            <a:xfrm>
              <a:off x="4427984" y="4106689"/>
              <a:ext cx="4283778" cy="523220"/>
            </a:xfrm>
            <a:prstGeom prst="rect">
              <a:avLst/>
            </a:prstGeom>
          </p:spPr>
          <p:txBody>
            <a:bodyPr wrap="none">
              <a:spAutoFit/>
            </a:bodyPr>
            <a:lstStyle/>
            <a:p>
              <a:r>
                <a:rPr lang="en-US" altLang="zh-CN" sz="2800" dirty="0">
                  <a:solidFill>
                    <a:srgbClr val="060606"/>
                  </a:solidFill>
                </a:rPr>
                <a:t>  x</a:t>
              </a:r>
              <a:r>
                <a:rPr lang="en-US" altLang="zh-CN" sz="2800" baseline="-25000" dirty="0">
                  <a:solidFill>
                    <a:srgbClr val="060606"/>
                  </a:solidFill>
                </a:rPr>
                <a:t>1</a:t>
              </a:r>
              <a:r>
                <a:rPr lang="en-US" altLang="zh-CN" sz="2800" dirty="0">
                  <a:solidFill>
                    <a:srgbClr val="060606"/>
                  </a:solidFill>
                </a:rPr>
                <a:t>               +x</a:t>
              </a:r>
              <a:r>
                <a:rPr lang="en-US" altLang="zh-CN" sz="2800" baseline="-25000" dirty="0">
                  <a:solidFill>
                    <a:srgbClr val="060606"/>
                  </a:solidFill>
                </a:rPr>
                <a:t>3</a:t>
              </a:r>
              <a:r>
                <a:rPr lang="en-US" altLang="zh-CN" sz="2800" dirty="0">
                  <a:solidFill>
                    <a:srgbClr val="060606"/>
                  </a:solidFill>
                </a:rPr>
                <a:t>                     = 4</a:t>
              </a:r>
              <a:endParaRPr lang="zh-CN" altLang="en-US" sz="2800" dirty="0"/>
            </a:p>
          </p:txBody>
        </p:sp>
        <p:sp>
          <p:nvSpPr>
            <p:cNvPr id="9" name="矩形 8"/>
            <p:cNvSpPr/>
            <p:nvPr/>
          </p:nvSpPr>
          <p:spPr>
            <a:xfrm>
              <a:off x="4499992" y="4970785"/>
              <a:ext cx="4219512" cy="523220"/>
            </a:xfrm>
            <a:prstGeom prst="rect">
              <a:avLst/>
            </a:prstGeom>
          </p:spPr>
          <p:txBody>
            <a:bodyPr wrap="none">
              <a:spAutoFit/>
            </a:bodyPr>
            <a:lstStyle/>
            <a:p>
              <a:r>
                <a:rPr lang="en-US" altLang="zh-CN" sz="2800" dirty="0">
                  <a:solidFill>
                    <a:srgbClr val="060606"/>
                  </a:solidFill>
                </a:rPr>
                <a:t>3x</a:t>
              </a:r>
              <a:r>
                <a:rPr lang="en-US" altLang="zh-CN" sz="2800" baseline="-25000" dirty="0">
                  <a:solidFill>
                    <a:srgbClr val="060606"/>
                  </a:solidFill>
                </a:rPr>
                <a:t>1     </a:t>
              </a:r>
              <a:r>
                <a:rPr lang="en-US" altLang="zh-CN" sz="2800" dirty="0">
                  <a:solidFill>
                    <a:srgbClr val="060606"/>
                  </a:solidFill>
                </a:rPr>
                <a:t>+2x</a:t>
              </a:r>
              <a:r>
                <a:rPr lang="en-US" altLang="zh-CN" sz="2800" baseline="-25000" dirty="0">
                  <a:solidFill>
                    <a:srgbClr val="060606"/>
                  </a:solidFill>
                </a:rPr>
                <a:t>2</a:t>
              </a:r>
              <a:r>
                <a:rPr lang="en-US" altLang="zh-CN" sz="2800" dirty="0">
                  <a:solidFill>
                    <a:srgbClr val="060606"/>
                  </a:solidFill>
                </a:rPr>
                <a:t>                    + x</a:t>
              </a:r>
              <a:r>
                <a:rPr lang="en-US" altLang="zh-CN" sz="2800" baseline="-25000" dirty="0">
                  <a:solidFill>
                    <a:srgbClr val="060606"/>
                  </a:solidFill>
                </a:rPr>
                <a:t>5 </a:t>
              </a:r>
              <a:r>
                <a:rPr lang="en-US" altLang="zh-CN" sz="2800" dirty="0">
                  <a:solidFill>
                    <a:srgbClr val="060606"/>
                  </a:solidFill>
                </a:rPr>
                <a:t> = 18</a:t>
              </a:r>
              <a:endParaRPr lang="zh-CN" altLang="en-US" sz="2800" dirty="0"/>
            </a:p>
          </p:txBody>
        </p:sp>
        <p:sp>
          <p:nvSpPr>
            <p:cNvPr id="10" name="矩形 9"/>
            <p:cNvSpPr/>
            <p:nvPr/>
          </p:nvSpPr>
          <p:spPr>
            <a:xfrm>
              <a:off x="4572000" y="5474841"/>
              <a:ext cx="5835967" cy="523220"/>
            </a:xfrm>
            <a:prstGeom prst="rect">
              <a:avLst/>
            </a:prstGeom>
          </p:spPr>
          <p:txBody>
            <a:bodyPr wrap="square">
              <a:spAutoFit/>
            </a:bodyPr>
            <a:lstStyle/>
            <a:p>
              <a:r>
                <a:rPr lang="en-US" altLang="zh-CN" sz="2800" dirty="0">
                  <a:solidFill>
                    <a:srgbClr val="060606"/>
                  </a:solidFill>
                </a:rPr>
                <a:t>x</a:t>
              </a:r>
              <a:r>
                <a:rPr lang="en-US" altLang="zh-CN" sz="2800" baseline="-25000" dirty="0">
                  <a:solidFill>
                    <a:srgbClr val="060606"/>
                  </a:solidFill>
                </a:rPr>
                <a:t>1</a:t>
              </a:r>
              <a:r>
                <a:rPr lang="en-US" altLang="zh-CN" sz="2800" dirty="0">
                  <a:solidFill>
                    <a:srgbClr val="060606"/>
                  </a:solidFill>
                </a:rPr>
                <a:t> ≥0</a:t>
              </a:r>
              <a:r>
                <a:rPr lang="zh-CN" altLang="en-US" sz="2800" dirty="0">
                  <a:solidFill>
                    <a:srgbClr val="060606"/>
                  </a:solidFill>
                </a:rPr>
                <a:t>，</a:t>
              </a:r>
              <a:r>
                <a:rPr lang="en-US" altLang="zh-CN" sz="2800" dirty="0">
                  <a:solidFill>
                    <a:srgbClr val="060606"/>
                  </a:solidFill>
                </a:rPr>
                <a:t>x</a:t>
              </a:r>
              <a:r>
                <a:rPr lang="en-US" altLang="zh-CN" sz="2800" baseline="-25000" dirty="0">
                  <a:solidFill>
                    <a:srgbClr val="060606"/>
                  </a:solidFill>
                </a:rPr>
                <a:t>2</a:t>
              </a:r>
              <a:r>
                <a:rPr lang="en-US" altLang="zh-CN" sz="2800" dirty="0">
                  <a:solidFill>
                    <a:srgbClr val="060606"/>
                  </a:solidFill>
                </a:rPr>
                <a:t> ≥0 , x</a:t>
              </a:r>
              <a:r>
                <a:rPr lang="en-US" altLang="zh-CN" sz="2800" baseline="-25000" dirty="0">
                  <a:solidFill>
                    <a:srgbClr val="060606"/>
                  </a:solidFill>
                </a:rPr>
                <a:t>3</a:t>
              </a:r>
              <a:r>
                <a:rPr lang="en-US" altLang="zh-CN" sz="2800" dirty="0">
                  <a:solidFill>
                    <a:srgbClr val="060606"/>
                  </a:solidFill>
                </a:rPr>
                <a:t> ≥0 </a:t>
              </a:r>
              <a:r>
                <a:rPr lang="zh-CN" altLang="en-US" sz="2800" dirty="0">
                  <a:solidFill>
                    <a:srgbClr val="060606"/>
                  </a:solidFill>
                </a:rPr>
                <a:t>，</a:t>
              </a:r>
              <a:r>
                <a:rPr lang="en-US" altLang="zh-CN" sz="2800" dirty="0">
                  <a:solidFill>
                    <a:srgbClr val="060606"/>
                  </a:solidFill>
                </a:rPr>
                <a:t>x</a:t>
              </a:r>
              <a:r>
                <a:rPr lang="en-US" altLang="zh-CN" sz="2800" baseline="-25000" dirty="0">
                  <a:solidFill>
                    <a:srgbClr val="060606"/>
                  </a:solidFill>
                </a:rPr>
                <a:t>4</a:t>
              </a:r>
              <a:r>
                <a:rPr lang="en-US" altLang="zh-CN" sz="2800" dirty="0">
                  <a:solidFill>
                    <a:srgbClr val="060606"/>
                  </a:solidFill>
                </a:rPr>
                <a:t> ≥0 </a:t>
              </a:r>
              <a:r>
                <a:rPr lang="zh-CN" altLang="en-US" sz="2800" dirty="0">
                  <a:solidFill>
                    <a:srgbClr val="060606"/>
                  </a:solidFill>
                </a:rPr>
                <a:t>，</a:t>
              </a:r>
              <a:r>
                <a:rPr lang="en-US" altLang="zh-CN" sz="2800" dirty="0">
                  <a:solidFill>
                    <a:srgbClr val="060606"/>
                  </a:solidFill>
                </a:rPr>
                <a:t>x</a:t>
              </a:r>
              <a:r>
                <a:rPr lang="en-US" altLang="zh-CN" sz="2800" baseline="-25000" dirty="0">
                  <a:solidFill>
                    <a:srgbClr val="060606"/>
                  </a:solidFill>
                </a:rPr>
                <a:t>5</a:t>
              </a:r>
              <a:r>
                <a:rPr lang="en-US" altLang="zh-CN" sz="2800" dirty="0">
                  <a:solidFill>
                    <a:srgbClr val="060606"/>
                  </a:solidFill>
                </a:rPr>
                <a:t> ≥0 </a:t>
              </a:r>
              <a:endParaRPr lang="zh-CN" altLang="en-US" sz="2800" dirty="0">
                <a:solidFill>
                  <a:srgbClr val="060606"/>
                </a:solidFill>
              </a:endParaRPr>
            </a:p>
          </p:txBody>
        </p:sp>
        <p:sp>
          <p:nvSpPr>
            <p:cNvPr id="11" name="矩形 10"/>
            <p:cNvSpPr/>
            <p:nvPr/>
          </p:nvSpPr>
          <p:spPr>
            <a:xfrm>
              <a:off x="4355976" y="4538737"/>
              <a:ext cx="4353289" cy="523220"/>
            </a:xfrm>
            <a:prstGeom prst="rect">
              <a:avLst/>
            </a:prstGeom>
          </p:spPr>
          <p:txBody>
            <a:bodyPr wrap="none">
              <a:spAutoFit/>
            </a:bodyPr>
            <a:lstStyle/>
            <a:p>
              <a:r>
                <a:rPr lang="en-US" altLang="zh-CN" sz="2800" dirty="0">
                  <a:solidFill>
                    <a:srgbClr val="060606"/>
                  </a:solidFill>
                </a:rPr>
                <a:t>             2x</a:t>
              </a:r>
              <a:r>
                <a:rPr lang="en-US" altLang="zh-CN" sz="2800" baseline="-25000" dirty="0">
                  <a:solidFill>
                    <a:srgbClr val="060606"/>
                  </a:solidFill>
                </a:rPr>
                <a:t>2</a:t>
              </a:r>
              <a:r>
                <a:rPr lang="en-US" altLang="zh-CN" sz="2800" dirty="0">
                  <a:solidFill>
                    <a:srgbClr val="060606"/>
                  </a:solidFill>
                </a:rPr>
                <a:t>           +x</a:t>
              </a:r>
              <a:r>
                <a:rPr lang="en-US" altLang="zh-CN" sz="2800" baseline="-25000" dirty="0">
                  <a:solidFill>
                    <a:srgbClr val="060606"/>
                  </a:solidFill>
                </a:rPr>
                <a:t>4</a:t>
              </a:r>
              <a:r>
                <a:rPr lang="en-US" altLang="zh-CN" sz="2800" dirty="0">
                  <a:solidFill>
                    <a:srgbClr val="060606"/>
                  </a:solidFill>
                </a:rPr>
                <a:t>            =12</a:t>
              </a:r>
              <a:endParaRPr lang="zh-CN" altLang="en-US" sz="2800" dirty="0">
                <a:solidFill>
                  <a:srgbClr val="060606"/>
                </a:solidFill>
              </a:endParaRPr>
            </a:p>
          </p:txBody>
        </p:sp>
        <p:sp>
          <p:nvSpPr>
            <p:cNvPr id="15" name="矩形 14"/>
            <p:cNvSpPr/>
            <p:nvPr/>
          </p:nvSpPr>
          <p:spPr>
            <a:xfrm>
              <a:off x="5796136" y="3687415"/>
              <a:ext cx="2286000" cy="523220"/>
            </a:xfrm>
            <a:prstGeom prst="rect">
              <a:avLst/>
            </a:prstGeom>
          </p:spPr>
          <p:txBody>
            <a:bodyPr>
              <a:spAutoFit/>
            </a:bodyPr>
            <a:lstStyle/>
            <a:p>
              <a:r>
                <a:rPr lang="en-US" altLang="zh-CN" sz="2800" dirty="0">
                  <a:solidFill>
                    <a:srgbClr val="060606"/>
                  </a:solidFill>
                </a:rPr>
                <a:t>+0x</a:t>
              </a:r>
              <a:r>
                <a:rPr lang="en-US" altLang="zh-CN" sz="2800" baseline="-25000" dirty="0">
                  <a:solidFill>
                    <a:srgbClr val="060606"/>
                  </a:solidFill>
                </a:rPr>
                <a:t>3</a:t>
              </a:r>
              <a:r>
                <a:rPr lang="en-US" altLang="zh-CN" sz="2800" dirty="0">
                  <a:solidFill>
                    <a:srgbClr val="060606"/>
                  </a:solidFill>
                </a:rPr>
                <a:t> +0x</a:t>
              </a:r>
              <a:r>
                <a:rPr lang="en-US" altLang="zh-CN" sz="2800" baseline="-25000" dirty="0">
                  <a:solidFill>
                    <a:srgbClr val="060606"/>
                  </a:solidFill>
                </a:rPr>
                <a:t>4</a:t>
              </a:r>
              <a:r>
                <a:rPr lang="en-US" altLang="zh-CN" sz="2800" dirty="0">
                  <a:solidFill>
                    <a:srgbClr val="060606"/>
                  </a:solidFill>
                </a:rPr>
                <a:t> +0x</a:t>
              </a:r>
              <a:r>
                <a:rPr lang="en-US" altLang="zh-CN" sz="2800" baseline="-25000" dirty="0">
                  <a:solidFill>
                    <a:srgbClr val="060606"/>
                  </a:solidFill>
                </a:rPr>
                <a:t>5</a:t>
              </a:r>
              <a:endParaRPr lang="zh-CN" altLang="en-US" sz="2800" dirty="0"/>
            </a:p>
          </p:txBody>
        </p:sp>
      </p:grpSp>
      <p:grpSp>
        <p:nvGrpSpPr>
          <p:cNvPr id="16" name="组合 12"/>
          <p:cNvGrpSpPr/>
          <p:nvPr/>
        </p:nvGrpSpPr>
        <p:grpSpPr>
          <a:xfrm>
            <a:off x="1884783" y="657854"/>
            <a:ext cx="5352189" cy="2189857"/>
            <a:chOff x="899592" y="3429000"/>
            <a:chExt cx="5352189" cy="2189857"/>
          </a:xfrm>
        </p:grpSpPr>
        <p:sp>
          <p:nvSpPr>
            <p:cNvPr id="17" name="矩形 16"/>
            <p:cNvSpPr/>
            <p:nvPr/>
          </p:nvSpPr>
          <p:spPr>
            <a:xfrm>
              <a:off x="899592" y="3429000"/>
              <a:ext cx="4392488" cy="479234"/>
            </a:xfrm>
            <a:prstGeom prst="rect">
              <a:avLst/>
            </a:prstGeom>
          </p:spPr>
          <p:txBody>
            <a:bodyPr wrap="square">
              <a:spAutoFit/>
            </a:bodyPr>
            <a:lstStyle/>
            <a:p>
              <a:pPr marL="342900" indent="-342900" algn="ctr" fontAlgn="base">
                <a:lnSpc>
                  <a:spcPct val="110000"/>
                </a:lnSpc>
                <a:spcBef>
                  <a:spcPts val="1800"/>
                </a:spcBef>
                <a:spcAft>
                  <a:spcPct val="0"/>
                </a:spcAft>
              </a:pPr>
              <a:r>
                <a:rPr lang="en-US" altLang="zh-CN" sz="2400" dirty="0">
                  <a:solidFill>
                    <a:srgbClr val="060606"/>
                  </a:solidFill>
                </a:rPr>
                <a:t>max Z  = 3x</a:t>
              </a:r>
              <a:r>
                <a:rPr lang="en-US" altLang="zh-CN" sz="2400" baseline="-25000" dirty="0">
                  <a:solidFill>
                    <a:srgbClr val="060606"/>
                  </a:solidFill>
                </a:rPr>
                <a:t>1</a:t>
              </a:r>
              <a:r>
                <a:rPr lang="en-US" altLang="zh-CN" sz="2400" dirty="0">
                  <a:solidFill>
                    <a:srgbClr val="060606"/>
                  </a:solidFill>
                </a:rPr>
                <a:t>+5x</a:t>
              </a:r>
              <a:r>
                <a:rPr lang="en-US" altLang="zh-CN" sz="2400" baseline="-25000" dirty="0">
                  <a:solidFill>
                    <a:srgbClr val="060606"/>
                  </a:solidFill>
                </a:rPr>
                <a:t>2</a:t>
              </a:r>
              <a:endParaRPr lang="en-US" altLang="zh-CN" sz="2400" dirty="0">
                <a:solidFill>
                  <a:srgbClr val="060606"/>
                </a:solidFill>
              </a:endParaRPr>
            </a:p>
          </p:txBody>
        </p:sp>
        <p:sp>
          <p:nvSpPr>
            <p:cNvPr id="18" name="矩形 17"/>
            <p:cNvSpPr/>
            <p:nvPr/>
          </p:nvSpPr>
          <p:spPr>
            <a:xfrm>
              <a:off x="899592" y="4437112"/>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19" name="左大括号 18"/>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0" name="矩形 19"/>
            <p:cNvSpPr/>
            <p:nvPr/>
          </p:nvSpPr>
          <p:spPr>
            <a:xfrm>
              <a:off x="2123728" y="3861048"/>
              <a:ext cx="2683748" cy="461665"/>
            </a:xfrm>
            <a:prstGeom prst="rect">
              <a:avLst/>
            </a:prstGeom>
          </p:spPr>
          <p:txBody>
            <a:bodyPr wrap="none">
              <a:spAutoFit/>
            </a:bodyPr>
            <a:lstStyle/>
            <a:p>
              <a:r>
                <a:rPr lang="en-US" altLang="zh-CN" sz="2400" dirty="0">
                  <a:solidFill>
                    <a:srgbClr val="060606"/>
                  </a:solidFill>
                </a:rPr>
                <a:t> x</a:t>
              </a:r>
              <a:r>
                <a:rPr lang="en-US" altLang="zh-CN" sz="2400" baseline="-25000" dirty="0">
                  <a:solidFill>
                    <a:srgbClr val="060606"/>
                  </a:solidFill>
                </a:rPr>
                <a:t>1</a:t>
              </a:r>
              <a:r>
                <a:rPr lang="en-US" altLang="zh-CN" sz="2400" dirty="0">
                  <a:solidFill>
                    <a:srgbClr val="060606"/>
                  </a:solidFill>
                </a:rPr>
                <a:t>≤4                (1)</a:t>
              </a:r>
              <a:endParaRPr lang="zh-CN" altLang="en-US" dirty="0"/>
            </a:p>
          </p:txBody>
        </p:sp>
        <p:sp>
          <p:nvSpPr>
            <p:cNvPr id="21" name="矩形 20"/>
            <p:cNvSpPr/>
            <p:nvPr/>
          </p:nvSpPr>
          <p:spPr>
            <a:xfrm>
              <a:off x="2123728" y="4725144"/>
              <a:ext cx="4128053" cy="461665"/>
            </a:xfrm>
            <a:prstGeom prst="rect">
              <a:avLst/>
            </a:prstGeom>
          </p:spPr>
          <p:txBody>
            <a:bodyPr wrap="none">
              <a:spAutoFit/>
            </a:bodyPr>
            <a:lstStyle/>
            <a:p>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18                     (3)</a:t>
              </a:r>
              <a:endParaRPr lang="zh-CN" altLang="en-US" dirty="0"/>
            </a:p>
          </p:txBody>
        </p:sp>
        <p:sp>
          <p:nvSpPr>
            <p:cNvPr id="22" name="矩形 21"/>
            <p:cNvSpPr/>
            <p:nvPr/>
          </p:nvSpPr>
          <p:spPr>
            <a:xfrm>
              <a:off x="2123728" y="5157192"/>
              <a:ext cx="3704860" cy="461665"/>
            </a:xfrm>
            <a:prstGeom prst="rect">
              <a:avLst/>
            </a:prstGeom>
          </p:spPr>
          <p:txBody>
            <a:bodyPr wrap="non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(4)</a:t>
              </a:r>
              <a:endParaRPr lang="zh-CN" altLang="en-US" dirty="0"/>
            </a:p>
          </p:txBody>
        </p:sp>
        <p:sp>
          <p:nvSpPr>
            <p:cNvPr id="23" name="矩形 22"/>
            <p:cNvSpPr/>
            <p:nvPr/>
          </p:nvSpPr>
          <p:spPr>
            <a:xfrm>
              <a:off x="2123728" y="4293096"/>
              <a:ext cx="3347391" cy="461665"/>
            </a:xfrm>
            <a:prstGeom prst="rect">
              <a:avLst/>
            </a:prstGeom>
          </p:spPr>
          <p:txBody>
            <a:bodyPr wrap="none">
              <a:spAutoFit/>
            </a:bodyPr>
            <a:lstStyle/>
            <a:p>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≤12                    (2)</a:t>
              </a:r>
              <a:endParaRPr lang="zh-CN" altLang="en-US" sz="2400" dirty="0">
                <a:solidFill>
                  <a:srgbClr val="060606"/>
                </a:solidFill>
              </a:endParaRPr>
            </a:p>
          </p:txBody>
        </p:sp>
      </p:grpSp>
      <p:sp>
        <p:nvSpPr>
          <p:cNvPr id="2" name="箭头: 下 1"/>
          <p:cNvSpPr/>
          <p:nvPr/>
        </p:nvSpPr>
        <p:spPr>
          <a:xfrm>
            <a:off x="4899090" y="3116424"/>
            <a:ext cx="1744306" cy="342194"/>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08922" y="3562670"/>
            <a:ext cx="9944878" cy="27543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735494" y="610691"/>
            <a:ext cx="5617028" cy="23655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151" y="101824"/>
            <a:ext cx="11991999" cy="4248472"/>
          </a:xfrm>
        </p:spPr>
        <p:txBody>
          <a:bodyPr>
            <a:normAutofit lnSpcReduction="10000"/>
          </a:bodyPr>
          <a:lstStyle/>
          <a:p>
            <a:pPr>
              <a:buNone/>
            </a:pPr>
            <a:r>
              <a:rPr lang="zh-CN" altLang="en-US" sz="2400" dirty="0">
                <a:solidFill>
                  <a:srgbClr val="060606"/>
                </a:solidFill>
              </a:rPr>
              <a:t>第</a:t>
            </a:r>
            <a:r>
              <a:rPr lang="en-US" altLang="zh-CN" sz="2400" dirty="0">
                <a:solidFill>
                  <a:srgbClr val="060606"/>
                </a:solidFill>
              </a:rPr>
              <a:t>3</a:t>
            </a:r>
            <a:r>
              <a:rPr lang="zh-CN" altLang="en-US" sz="2400" dirty="0">
                <a:solidFill>
                  <a:srgbClr val="060606"/>
                </a:solidFill>
              </a:rPr>
              <a:t>步，写出基、基变量、基解、基可行解和可行基</a:t>
            </a:r>
            <a:endParaRPr lang="en-US" altLang="zh-CN" sz="2400" dirty="0">
              <a:solidFill>
                <a:srgbClr val="060606"/>
              </a:solidFill>
            </a:endParaRPr>
          </a:p>
          <a:p>
            <a:pPr>
              <a:buNone/>
            </a:pPr>
            <a:r>
              <a:rPr lang="en-US" altLang="zh-CN" sz="2400" dirty="0">
                <a:solidFill>
                  <a:srgbClr val="060606"/>
                </a:solidFill>
              </a:rPr>
              <a:t>(1)</a:t>
            </a:r>
            <a:r>
              <a:rPr lang="zh-CN" altLang="en-US" sz="2400" dirty="0">
                <a:solidFill>
                  <a:srgbClr val="060606"/>
                </a:solidFill>
              </a:rPr>
              <a:t>写出约束方程组的系数矩阵</a:t>
            </a:r>
            <a:r>
              <a:rPr lang="en-US" altLang="zh-CN" sz="2400" b="1" dirty="0">
                <a:solidFill>
                  <a:srgbClr val="060606"/>
                </a:solidFill>
              </a:rPr>
              <a:t>A</a:t>
            </a: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r>
              <a:rPr lang="en-US" altLang="zh-CN" sz="2400" dirty="0">
                <a:solidFill>
                  <a:srgbClr val="060606"/>
                </a:solidFill>
              </a:rPr>
              <a:t>(2)</a:t>
            </a:r>
            <a:r>
              <a:rPr lang="zh-CN" altLang="en-US" sz="2400" dirty="0">
                <a:solidFill>
                  <a:srgbClr val="060606"/>
                </a:solidFill>
              </a:rPr>
              <a:t>求</a:t>
            </a:r>
            <a:r>
              <a:rPr lang="en-US" altLang="zh-CN" sz="2400" b="1" dirty="0">
                <a:solidFill>
                  <a:srgbClr val="060606"/>
                </a:solidFill>
              </a:rPr>
              <a:t>A</a:t>
            </a:r>
            <a:r>
              <a:rPr lang="en-US" altLang="zh-CN" sz="2400" baseline="-25000" dirty="0">
                <a:solidFill>
                  <a:srgbClr val="060606"/>
                </a:solidFill>
              </a:rPr>
              <a:t>3 × 5</a:t>
            </a:r>
            <a:r>
              <a:rPr lang="zh-CN" altLang="en-US" sz="2400" dirty="0">
                <a:solidFill>
                  <a:srgbClr val="060606"/>
                </a:solidFill>
              </a:rPr>
              <a:t>的满秩子矩阵</a:t>
            </a:r>
            <a:r>
              <a:rPr lang="en-US" altLang="zh-CN" sz="2400" dirty="0">
                <a:solidFill>
                  <a:srgbClr val="060606"/>
                </a:solidFill>
              </a:rPr>
              <a:t>——</a:t>
            </a:r>
            <a:r>
              <a:rPr lang="zh-CN" altLang="en-US" sz="2400" dirty="0">
                <a:solidFill>
                  <a:srgbClr val="060606"/>
                </a:solidFill>
              </a:rPr>
              <a:t>基：</a:t>
            </a:r>
            <a:r>
              <a:rPr lang="en-US" altLang="zh-CN" sz="2400" b="1" dirty="0">
                <a:solidFill>
                  <a:srgbClr val="060606"/>
                </a:solidFill>
              </a:rPr>
              <a:t>B</a:t>
            </a:r>
            <a:r>
              <a:rPr lang="en-US" altLang="zh-CN" sz="2400" baseline="-25000" dirty="0">
                <a:solidFill>
                  <a:srgbClr val="060606"/>
                </a:solidFill>
              </a:rPr>
              <a:t>3 × 3</a:t>
            </a:r>
            <a:endParaRPr lang="en-US" altLang="zh-CN" sz="2400" baseline="-25000" dirty="0">
              <a:solidFill>
                <a:srgbClr val="060606"/>
              </a:solidFill>
            </a:endParaRPr>
          </a:p>
        </p:txBody>
      </p:sp>
      <p:grpSp>
        <p:nvGrpSpPr>
          <p:cNvPr id="21" name="组合 20"/>
          <p:cNvGrpSpPr/>
          <p:nvPr/>
        </p:nvGrpSpPr>
        <p:grpSpPr>
          <a:xfrm>
            <a:off x="448206" y="1005254"/>
            <a:ext cx="5940152" cy="2637085"/>
            <a:chOff x="3059832" y="3668753"/>
            <a:chExt cx="5940152" cy="2637085"/>
          </a:xfrm>
        </p:grpSpPr>
        <p:sp>
          <p:nvSpPr>
            <p:cNvPr id="13" name="矩形 12"/>
            <p:cNvSpPr/>
            <p:nvPr/>
          </p:nvSpPr>
          <p:spPr>
            <a:xfrm>
              <a:off x="3275856" y="3674641"/>
              <a:ext cx="4392488" cy="479234"/>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2400" dirty="0">
                  <a:solidFill>
                    <a:srgbClr val="060606"/>
                  </a:solidFill>
                </a:rPr>
                <a:t>max Z  = 3x</a:t>
              </a:r>
              <a:r>
                <a:rPr lang="en-US" altLang="zh-CN" sz="2400" baseline="-25000" dirty="0">
                  <a:solidFill>
                    <a:srgbClr val="060606"/>
                  </a:solidFill>
                </a:rPr>
                <a:t>1</a:t>
              </a:r>
              <a:r>
                <a:rPr lang="en-US" altLang="zh-CN" sz="2400" dirty="0">
                  <a:solidFill>
                    <a:srgbClr val="060606"/>
                  </a:solidFill>
                </a:rPr>
                <a:t>     +5x</a:t>
              </a:r>
              <a:r>
                <a:rPr lang="en-US" altLang="zh-CN" sz="2400" baseline="-25000" dirty="0">
                  <a:solidFill>
                    <a:srgbClr val="060606"/>
                  </a:solidFill>
                </a:rPr>
                <a:t>2</a:t>
              </a:r>
              <a:endParaRPr lang="en-US" altLang="zh-CN" sz="2400" dirty="0">
                <a:solidFill>
                  <a:srgbClr val="060606"/>
                </a:solidFill>
              </a:endParaRPr>
            </a:p>
          </p:txBody>
        </p:sp>
        <p:sp>
          <p:nvSpPr>
            <p:cNvPr id="14" name="矩形 13"/>
            <p:cNvSpPr/>
            <p:nvPr/>
          </p:nvSpPr>
          <p:spPr>
            <a:xfrm>
              <a:off x="3059832" y="4754761"/>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15" name="左大括号 14"/>
            <p:cNvSpPr/>
            <p:nvPr/>
          </p:nvSpPr>
          <p:spPr bwMode="auto">
            <a:xfrm>
              <a:off x="3635896" y="4250705"/>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6" name="矩形 15"/>
            <p:cNvSpPr/>
            <p:nvPr/>
          </p:nvSpPr>
          <p:spPr>
            <a:xfrm>
              <a:off x="4427984" y="4106689"/>
              <a:ext cx="4557658" cy="461665"/>
            </a:xfrm>
            <a:prstGeom prst="rect">
              <a:avLst/>
            </a:prstGeom>
          </p:spPr>
          <p:txBody>
            <a:bodyPr wrap="none">
              <a:spAutoFit/>
            </a:bodyPr>
            <a:lstStyle/>
            <a:p>
              <a:r>
                <a:rPr lang="en-US" altLang="zh-CN" sz="2400" dirty="0">
                  <a:solidFill>
                    <a:srgbClr val="060606"/>
                  </a:solidFill>
                </a:rPr>
                <a:t>  x</a:t>
              </a:r>
              <a:r>
                <a:rPr lang="en-US" altLang="zh-CN" sz="2400" baseline="-25000" dirty="0">
                  <a:solidFill>
                    <a:srgbClr val="060606"/>
                  </a:solidFill>
                </a:rPr>
                <a:t>1</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 4</a:t>
              </a:r>
              <a:endParaRPr lang="zh-CN" altLang="en-US" dirty="0"/>
            </a:p>
          </p:txBody>
        </p:sp>
        <p:sp>
          <p:nvSpPr>
            <p:cNvPr id="17" name="矩形 16"/>
            <p:cNvSpPr/>
            <p:nvPr/>
          </p:nvSpPr>
          <p:spPr>
            <a:xfrm>
              <a:off x="4499992" y="4970785"/>
              <a:ext cx="4469493" cy="461665"/>
            </a:xfrm>
            <a:prstGeom prst="rect">
              <a:avLst/>
            </a:prstGeom>
          </p:spPr>
          <p:txBody>
            <a:bodyPr wrap="none">
              <a:spAutoFit/>
            </a:bodyPr>
            <a:lstStyle/>
            <a:p>
              <a:r>
                <a:rPr lang="en-US" altLang="zh-CN" sz="2400" dirty="0">
                  <a:solidFill>
                    <a:srgbClr val="060606"/>
                  </a:solidFill>
                </a:rPr>
                <a:t>3x</a:t>
              </a:r>
              <a:r>
                <a:rPr lang="en-US" altLang="zh-CN" sz="2400" baseline="-25000" dirty="0">
                  <a:solidFill>
                    <a:srgbClr val="060606"/>
                  </a:solidFill>
                </a:rPr>
                <a:t>1     </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x</a:t>
              </a:r>
              <a:r>
                <a:rPr lang="en-US" altLang="zh-CN" sz="2400" baseline="-25000" dirty="0">
                  <a:solidFill>
                    <a:srgbClr val="060606"/>
                  </a:solidFill>
                </a:rPr>
                <a:t>5 </a:t>
              </a:r>
              <a:r>
                <a:rPr lang="en-US" altLang="zh-CN" sz="2400" dirty="0">
                  <a:solidFill>
                    <a:srgbClr val="060606"/>
                  </a:solidFill>
                </a:rPr>
                <a:t> = 18</a:t>
              </a:r>
              <a:endParaRPr lang="zh-CN" altLang="en-US" dirty="0"/>
            </a:p>
          </p:txBody>
        </p:sp>
        <p:sp>
          <p:nvSpPr>
            <p:cNvPr id="18" name="矩形 17"/>
            <p:cNvSpPr/>
            <p:nvPr/>
          </p:nvSpPr>
          <p:spPr>
            <a:xfrm>
              <a:off x="4031432" y="5474841"/>
              <a:ext cx="4968552" cy="830997"/>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19" name="矩形 18"/>
            <p:cNvSpPr/>
            <p:nvPr/>
          </p:nvSpPr>
          <p:spPr>
            <a:xfrm>
              <a:off x="4355976" y="4538737"/>
              <a:ext cx="4626588" cy="461665"/>
            </a:xfrm>
            <a:prstGeom prst="rect">
              <a:avLst/>
            </a:prstGeom>
          </p:spPr>
          <p:txBody>
            <a:bodyPr wrap="none">
              <a:spAutoFit/>
            </a:bodyPr>
            <a:lstStyle/>
            <a:p>
              <a:r>
                <a:rPr lang="en-US" altLang="zh-CN" sz="2400" dirty="0">
                  <a:solidFill>
                    <a:srgbClr val="060606"/>
                  </a:solidFill>
                </a:rPr>
                <a:t>             2x</a:t>
              </a:r>
              <a:r>
                <a:rPr lang="en-US" altLang="zh-CN" sz="2400" baseline="-25000" dirty="0">
                  <a:solidFill>
                    <a:srgbClr val="060606"/>
                  </a:solidFill>
                </a:rPr>
                <a:t>2</a:t>
              </a:r>
              <a:r>
                <a:rPr lang="en-US" altLang="zh-CN" sz="2400" dirty="0">
                  <a:solidFill>
                    <a:srgbClr val="060606"/>
                  </a:solidFill>
                </a:rPr>
                <a:t>           +x</a:t>
              </a:r>
              <a:r>
                <a:rPr lang="en-US" altLang="zh-CN" sz="2400" baseline="-25000" dirty="0">
                  <a:solidFill>
                    <a:srgbClr val="060606"/>
                  </a:solidFill>
                </a:rPr>
                <a:t>4</a:t>
              </a:r>
              <a:r>
                <a:rPr lang="en-US" altLang="zh-CN" sz="2400" dirty="0">
                  <a:solidFill>
                    <a:srgbClr val="060606"/>
                  </a:solidFill>
                </a:rPr>
                <a:t>            =12</a:t>
              </a:r>
              <a:endParaRPr lang="zh-CN" altLang="en-US" sz="2400" dirty="0">
                <a:solidFill>
                  <a:srgbClr val="060606"/>
                </a:solidFill>
              </a:endParaRPr>
            </a:p>
          </p:txBody>
        </p:sp>
        <p:sp>
          <p:nvSpPr>
            <p:cNvPr id="20" name="矩形 19"/>
            <p:cNvSpPr/>
            <p:nvPr/>
          </p:nvSpPr>
          <p:spPr>
            <a:xfrm>
              <a:off x="6094718" y="3668753"/>
              <a:ext cx="2286000" cy="461665"/>
            </a:xfrm>
            <a:prstGeom prst="rect">
              <a:avLst/>
            </a:prstGeom>
          </p:spPr>
          <p:txBody>
            <a:bodyPr>
              <a:spAutoFit/>
            </a:bodyPr>
            <a:lstStyle/>
            <a:p>
              <a:r>
                <a:rPr lang="en-US" altLang="zh-CN" sz="2400" dirty="0">
                  <a:solidFill>
                    <a:srgbClr val="060606"/>
                  </a:solidFill>
                </a:rPr>
                <a:t>+0x</a:t>
              </a:r>
              <a:r>
                <a:rPr lang="en-US" altLang="zh-CN" sz="2400" baseline="-25000" dirty="0">
                  <a:solidFill>
                    <a:srgbClr val="060606"/>
                  </a:solidFill>
                </a:rPr>
                <a:t>3</a:t>
              </a:r>
              <a:r>
                <a:rPr lang="en-US" altLang="zh-CN" sz="2400" dirty="0">
                  <a:solidFill>
                    <a:srgbClr val="060606"/>
                  </a:solidFill>
                </a:rPr>
                <a:t> +0x</a:t>
              </a:r>
              <a:r>
                <a:rPr lang="en-US" altLang="zh-CN" sz="2400" baseline="-25000" dirty="0">
                  <a:solidFill>
                    <a:srgbClr val="060606"/>
                  </a:solidFill>
                </a:rPr>
                <a:t>4</a:t>
              </a:r>
              <a:r>
                <a:rPr lang="en-US" altLang="zh-CN" sz="2400" dirty="0">
                  <a:solidFill>
                    <a:srgbClr val="060606"/>
                  </a:solidFill>
                </a:rPr>
                <a:t> +0x</a:t>
              </a:r>
              <a:r>
                <a:rPr lang="en-US" altLang="zh-CN" sz="2400" baseline="-25000" dirty="0">
                  <a:solidFill>
                    <a:srgbClr val="060606"/>
                  </a:solidFill>
                </a:rPr>
                <a:t>5</a:t>
              </a:r>
              <a:endParaRPr lang="zh-CN" altLang="en-US" dirty="0"/>
            </a:p>
          </p:txBody>
        </p:sp>
      </p:grpSp>
      <p:sp>
        <p:nvSpPr>
          <p:cNvPr id="22" name="右箭头 21"/>
          <p:cNvSpPr/>
          <p:nvPr/>
        </p:nvSpPr>
        <p:spPr bwMode="auto">
          <a:xfrm>
            <a:off x="6816080" y="2420888"/>
            <a:ext cx="864096" cy="360040"/>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nvGrpSpPr>
          <p:cNvPr id="34" name="组合 33"/>
          <p:cNvGrpSpPr/>
          <p:nvPr/>
        </p:nvGrpSpPr>
        <p:grpSpPr>
          <a:xfrm>
            <a:off x="7773686" y="1556793"/>
            <a:ext cx="3646980" cy="2480946"/>
            <a:chOff x="6228184" y="1916832"/>
            <a:chExt cx="2808312" cy="2348053"/>
          </a:xfrm>
        </p:grpSpPr>
        <p:sp>
          <p:nvSpPr>
            <p:cNvPr id="23" name="矩形 22"/>
            <p:cNvSpPr/>
            <p:nvPr/>
          </p:nvSpPr>
          <p:spPr>
            <a:xfrm>
              <a:off x="6228184" y="2348880"/>
              <a:ext cx="1144865" cy="461665"/>
            </a:xfrm>
            <a:prstGeom prst="rect">
              <a:avLst/>
            </a:prstGeom>
          </p:spPr>
          <p:txBody>
            <a:bodyPr wrap="none">
              <a:spAutoFit/>
            </a:bodyPr>
            <a:lstStyle/>
            <a:p>
              <a:r>
                <a:rPr lang="en-US" altLang="zh-CN" sz="2400" b="1" dirty="0">
                  <a:solidFill>
                    <a:srgbClr val="060606"/>
                  </a:solidFill>
                </a:rPr>
                <a:t>A</a:t>
              </a:r>
              <a:r>
                <a:rPr lang="en-US" altLang="zh-CN" sz="2400" baseline="-25000" dirty="0">
                  <a:solidFill>
                    <a:srgbClr val="060606"/>
                  </a:solidFill>
                </a:rPr>
                <a:t>3 × 5</a:t>
              </a:r>
              <a:r>
                <a:rPr lang="en-US" altLang="zh-CN" sz="2400" dirty="0">
                  <a:solidFill>
                    <a:srgbClr val="060606"/>
                  </a:solidFill>
                </a:rPr>
                <a:t> =</a:t>
              </a:r>
              <a:endParaRPr lang="zh-CN" altLang="en-US" dirty="0"/>
            </a:p>
          </p:txBody>
        </p:sp>
        <p:sp>
          <p:nvSpPr>
            <p:cNvPr id="24" name="双括号 23"/>
            <p:cNvSpPr/>
            <p:nvPr/>
          </p:nvSpPr>
          <p:spPr bwMode="auto">
            <a:xfrm>
              <a:off x="7308304" y="1916832"/>
              <a:ext cx="1728192" cy="1584176"/>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5" name="矩形 24"/>
            <p:cNvSpPr/>
            <p:nvPr/>
          </p:nvSpPr>
          <p:spPr>
            <a:xfrm>
              <a:off x="7308304" y="2996952"/>
              <a:ext cx="1656184" cy="830997"/>
            </a:xfrm>
            <a:prstGeom prst="rect">
              <a:avLst/>
            </a:prstGeom>
          </p:spPr>
          <p:txBody>
            <a:bodyPr wrap="square">
              <a:spAutoFit/>
            </a:bodyPr>
            <a:lstStyle/>
            <a:p>
              <a:pPr algn="ctr"/>
              <a:r>
                <a:rPr lang="en-US" altLang="zh-CN" sz="2400" dirty="0">
                  <a:solidFill>
                    <a:srgbClr val="060606"/>
                  </a:solidFill>
                </a:rPr>
                <a:t>3  2  0  </a:t>
              </a:r>
              <a:r>
                <a:rPr lang="en-US" altLang="zh-CN" sz="2400" dirty="0" err="1">
                  <a:solidFill>
                    <a:srgbClr val="060606"/>
                  </a:solidFill>
                </a:rPr>
                <a:t>0</a:t>
              </a:r>
              <a:r>
                <a:rPr lang="en-US" altLang="zh-CN" sz="2400" dirty="0">
                  <a:solidFill>
                    <a:srgbClr val="060606"/>
                  </a:solidFill>
                </a:rPr>
                <a:t>  1</a:t>
              </a:r>
              <a:endParaRPr lang="zh-CN" altLang="en-US" dirty="0"/>
            </a:p>
          </p:txBody>
        </p:sp>
        <p:sp>
          <p:nvSpPr>
            <p:cNvPr id="26" name="矩形 25"/>
            <p:cNvSpPr/>
            <p:nvPr/>
          </p:nvSpPr>
          <p:spPr>
            <a:xfrm>
              <a:off x="7308304" y="2492896"/>
              <a:ext cx="1656184" cy="830997"/>
            </a:xfrm>
            <a:prstGeom prst="rect">
              <a:avLst/>
            </a:prstGeom>
          </p:spPr>
          <p:txBody>
            <a:bodyPr wrap="square">
              <a:spAutoFit/>
            </a:bodyPr>
            <a:lstStyle/>
            <a:p>
              <a:pPr algn="ctr"/>
              <a:r>
                <a:rPr lang="en-US" altLang="zh-CN" sz="2400" dirty="0">
                  <a:solidFill>
                    <a:srgbClr val="060606"/>
                  </a:solidFill>
                </a:rPr>
                <a:t>0  2  0  1  0</a:t>
              </a:r>
              <a:endParaRPr lang="zh-CN" altLang="en-US" dirty="0"/>
            </a:p>
          </p:txBody>
        </p:sp>
        <p:sp>
          <p:nvSpPr>
            <p:cNvPr id="27" name="矩形 26"/>
            <p:cNvSpPr/>
            <p:nvPr/>
          </p:nvSpPr>
          <p:spPr>
            <a:xfrm>
              <a:off x="7308304" y="1988840"/>
              <a:ext cx="1656184" cy="830997"/>
            </a:xfrm>
            <a:prstGeom prst="rect">
              <a:avLst/>
            </a:prstGeom>
          </p:spPr>
          <p:txBody>
            <a:bodyPr wrap="square">
              <a:spAutoFit/>
            </a:bodyPr>
            <a:lstStyle/>
            <a:p>
              <a:pPr algn="ctr"/>
              <a:r>
                <a:rPr lang="en-US" altLang="zh-CN" sz="2400" dirty="0">
                  <a:solidFill>
                    <a:srgbClr val="060606"/>
                  </a:solidFill>
                </a:rPr>
                <a:t>1  0  1  0  0</a:t>
              </a:r>
              <a:endParaRPr lang="zh-CN" altLang="en-US" dirty="0"/>
            </a:p>
          </p:txBody>
        </p:sp>
        <p:sp>
          <p:nvSpPr>
            <p:cNvPr id="36" name="矩形 35"/>
            <p:cNvSpPr/>
            <p:nvPr/>
          </p:nvSpPr>
          <p:spPr>
            <a:xfrm>
              <a:off x="6418702" y="3827949"/>
              <a:ext cx="1656184" cy="436936"/>
            </a:xfrm>
            <a:prstGeom prst="rect">
              <a:avLst/>
            </a:prstGeom>
          </p:spPr>
          <p:txBody>
            <a:bodyPr wrap="square">
              <a:spAutoFit/>
            </a:bodyPr>
            <a:lstStyle/>
            <a:p>
              <a:pPr algn="ctr"/>
              <a:r>
                <a:rPr lang="en-US" altLang="zh-CN" sz="2400" b="1" i="1" dirty="0">
                  <a:solidFill>
                    <a:srgbClr val="0322BD"/>
                  </a:solidFill>
                </a:rPr>
                <a:t>A</a:t>
              </a:r>
              <a:r>
                <a:rPr lang="zh-CN" altLang="en-US" sz="2400" b="1" i="1" dirty="0">
                  <a:solidFill>
                    <a:srgbClr val="0322BD"/>
                  </a:solidFill>
                </a:rPr>
                <a:t>的秩为</a:t>
              </a:r>
              <a:r>
                <a:rPr lang="en-US" altLang="zh-CN" sz="2400" b="1" i="1" dirty="0">
                  <a:solidFill>
                    <a:srgbClr val="0322BD"/>
                  </a:solidFill>
                </a:rPr>
                <a:t>3</a:t>
              </a:r>
              <a:endParaRPr lang="zh-CN" altLang="en-US" b="1" i="1" dirty="0">
                <a:solidFill>
                  <a:srgbClr val="0322BD"/>
                </a:solidFill>
              </a:endParaRPr>
            </a:p>
          </p:txBody>
        </p:sp>
      </p:grpSp>
      <p:grpSp>
        <p:nvGrpSpPr>
          <p:cNvPr id="33" name="组合 32"/>
          <p:cNvGrpSpPr/>
          <p:nvPr/>
        </p:nvGrpSpPr>
        <p:grpSpPr>
          <a:xfrm>
            <a:off x="3722576" y="3645024"/>
            <a:ext cx="8140958" cy="2808312"/>
            <a:chOff x="3111144" y="2708920"/>
            <a:chExt cx="8140958" cy="2808312"/>
          </a:xfrm>
        </p:grpSpPr>
        <p:sp>
          <p:nvSpPr>
            <p:cNvPr id="28" name="矩形 27"/>
            <p:cNvSpPr/>
            <p:nvPr/>
          </p:nvSpPr>
          <p:spPr>
            <a:xfrm>
              <a:off x="3111144" y="4437112"/>
              <a:ext cx="3203121" cy="461665"/>
            </a:xfrm>
            <a:prstGeom prst="rect">
              <a:avLst/>
            </a:prstGeom>
          </p:spPr>
          <p:txBody>
            <a:bodyPr wrap="none">
              <a:spAutoFit/>
            </a:bodyPr>
            <a:lstStyle/>
            <a:p>
              <a:r>
                <a:rPr lang="en-US" altLang="zh-CN" sz="2400" b="1" dirty="0">
                  <a:solidFill>
                    <a:srgbClr val="060606"/>
                  </a:solidFill>
                </a:rPr>
                <a:t>B</a:t>
              </a:r>
              <a:r>
                <a:rPr lang="en-US" altLang="zh-CN" sz="2400" baseline="-25000" dirty="0">
                  <a:solidFill>
                    <a:srgbClr val="060606"/>
                  </a:solidFill>
                </a:rPr>
                <a:t>3 × 3</a:t>
              </a:r>
              <a:r>
                <a:rPr lang="en-US" altLang="zh-CN" sz="2400" dirty="0">
                  <a:solidFill>
                    <a:srgbClr val="060606"/>
                  </a:solidFill>
                </a:rPr>
                <a:t> = ( </a:t>
              </a:r>
              <a:r>
                <a:rPr lang="en-US" altLang="zh-CN" sz="2400" b="1" dirty="0">
                  <a:solidFill>
                    <a:srgbClr val="060606"/>
                  </a:solidFill>
                </a:rPr>
                <a:t>p</a:t>
              </a:r>
              <a:r>
                <a:rPr lang="en-US" altLang="zh-CN" sz="2400" baseline="-25000" dirty="0">
                  <a:solidFill>
                    <a:srgbClr val="060606"/>
                  </a:solidFill>
                </a:rPr>
                <a:t>3</a:t>
              </a:r>
              <a:r>
                <a:rPr lang="en-US" altLang="zh-CN" sz="2400" dirty="0">
                  <a:solidFill>
                    <a:srgbClr val="060606"/>
                  </a:solidFill>
                </a:rPr>
                <a:t>,  </a:t>
              </a:r>
              <a:r>
                <a:rPr lang="en-US" altLang="zh-CN" sz="2400" b="1" dirty="0">
                  <a:solidFill>
                    <a:srgbClr val="060606"/>
                  </a:solidFill>
                </a:rPr>
                <a:t>p</a:t>
              </a:r>
              <a:r>
                <a:rPr lang="en-US" altLang="zh-CN" sz="2400" baseline="-25000" dirty="0">
                  <a:solidFill>
                    <a:srgbClr val="060606"/>
                  </a:solidFill>
                </a:rPr>
                <a:t>4</a:t>
              </a:r>
              <a:r>
                <a:rPr lang="en-US" altLang="zh-CN" sz="2400" dirty="0">
                  <a:solidFill>
                    <a:srgbClr val="060606"/>
                  </a:solidFill>
                </a:rPr>
                <a:t>,  </a:t>
              </a:r>
              <a:r>
                <a:rPr lang="en-US" altLang="zh-CN" sz="2400" b="1" dirty="0">
                  <a:solidFill>
                    <a:srgbClr val="060606"/>
                  </a:solidFill>
                </a:rPr>
                <a:t>p</a:t>
              </a:r>
              <a:r>
                <a:rPr lang="en-US" altLang="zh-CN" sz="2400" baseline="-25000" dirty="0">
                  <a:solidFill>
                    <a:srgbClr val="060606"/>
                  </a:solidFill>
                </a:rPr>
                <a:t>5</a:t>
              </a:r>
              <a:r>
                <a:rPr lang="en-US" altLang="zh-CN" sz="2400" dirty="0">
                  <a:solidFill>
                    <a:srgbClr val="060606"/>
                  </a:solidFill>
                </a:rPr>
                <a:t>)  =</a:t>
              </a:r>
              <a:endParaRPr lang="zh-CN" altLang="en-US" dirty="0"/>
            </a:p>
          </p:txBody>
        </p:sp>
        <p:sp>
          <p:nvSpPr>
            <p:cNvPr id="29" name="双括号 28"/>
            <p:cNvSpPr/>
            <p:nvPr/>
          </p:nvSpPr>
          <p:spPr bwMode="auto">
            <a:xfrm>
              <a:off x="6444208" y="3933056"/>
              <a:ext cx="1224136" cy="1584176"/>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30" name="矩形 29"/>
            <p:cNvSpPr/>
            <p:nvPr/>
          </p:nvSpPr>
          <p:spPr>
            <a:xfrm>
              <a:off x="6156176" y="5013176"/>
              <a:ext cx="1656184" cy="461665"/>
            </a:xfrm>
            <a:prstGeom prst="rect">
              <a:avLst/>
            </a:prstGeom>
          </p:spPr>
          <p:txBody>
            <a:bodyPr wrap="square">
              <a:spAutoFit/>
            </a:bodyPr>
            <a:lstStyle/>
            <a:p>
              <a:pPr algn="ctr"/>
              <a:r>
                <a:rPr lang="en-US" altLang="zh-CN" sz="2400" dirty="0">
                  <a:solidFill>
                    <a:srgbClr val="060606"/>
                  </a:solidFill>
                </a:rPr>
                <a:t> 0  </a:t>
              </a:r>
              <a:r>
                <a:rPr lang="en-US" altLang="zh-CN" sz="2400" dirty="0" err="1">
                  <a:solidFill>
                    <a:srgbClr val="060606"/>
                  </a:solidFill>
                </a:rPr>
                <a:t>0</a:t>
              </a:r>
              <a:r>
                <a:rPr lang="en-US" altLang="zh-CN" sz="2400" dirty="0">
                  <a:solidFill>
                    <a:srgbClr val="060606"/>
                  </a:solidFill>
                </a:rPr>
                <a:t>  1</a:t>
              </a:r>
              <a:endParaRPr lang="zh-CN" altLang="en-US" dirty="0"/>
            </a:p>
          </p:txBody>
        </p:sp>
        <p:sp>
          <p:nvSpPr>
            <p:cNvPr id="31" name="矩形 30"/>
            <p:cNvSpPr/>
            <p:nvPr/>
          </p:nvSpPr>
          <p:spPr>
            <a:xfrm>
              <a:off x="6156176" y="4509120"/>
              <a:ext cx="1656184" cy="461665"/>
            </a:xfrm>
            <a:prstGeom prst="rect">
              <a:avLst/>
            </a:prstGeom>
          </p:spPr>
          <p:txBody>
            <a:bodyPr wrap="square">
              <a:spAutoFit/>
            </a:bodyPr>
            <a:lstStyle/>
            <a:p>
              <a:pPr algn="ctr"/>
              <a:r>
                <a:rPr lang="en-US" altLang="zh-CN" sz="2400" dirty="0">
                  <a:solidFill>
                    <a:srgbClr val="060606"/>
                  </a:solidFill>
                </a:rPr>
                <a:t> 0  1  0</a:t>
              </a:r>
              <a:endParaRPr lang="zh-CN" altLang="en-US" dirty="0"/>
            </a:p>
          </p:txBody>
        </p:sp>
        <p:sp>
          <p:nvSpPr>
            <p:cNvPr id="32" name="矩形 31"/>
            <p:cNvSpPr/>
            <p:nvPr/>
          </p:nvSpPr>
          <p:spPr>
            <a:xfrm>
              <a:off x="6156176" y="4005064"/>
              <a:ext cx="1656184" cy="461665"/>
            </a:xfrm>
            <a:prstGeom prst="rect">
              <a:avLst/>
            </a:prstGeom>
          </p:spPr>
          <p:txBody>
            <a:bodyPr wrap="square">
              <a:spAutoFit/>
            </a:bodyPr>
            <a:lstStyle/>
            <a:p>
              <a:pPr algn="ctr"/>
              <a:r>
                <a:rPr lang="en-US" altLang="zh-CN" sz="2400" dirty="0">
                  <a:solidFill>
                    <a:srgbClr val="060606"/>
                  </a:solidFill>
                </a:rPr>
                <a:t> 1  0  0</a:t>
              </a:r>
              <a:endParaRPr lang="zh-CN" altLang="en-US" dirty="0"/>
            </a:p>
          </p:txBody>
        </p:sp>
        <p:sp>
          <p:nvSpPr>
            <p:cNvPr id="37" name="矩形 36"/>
            <p:cNvSpPr/>
            <p:nvPr/>
          </p:nvSpPr>
          <p:spPr>
            <a:xfrm>
              <a:off x="9642145" y="2708920"/>
              <a:ext cx="1609957" cy="1815882"/>
            </a:xfrm>
            <a:prstGeom prst="rect">
              <a:avLst/>
            </a:prstGeom>
          </p:spPr>
          <p:txBody>
            <a:bodyPr wrap="square">
              <a:spAutoFit/>
            </a:bodyPr>
            <a:lstStyle/>
            <a:p>
              <a:pPr algn="ctr"/>
              <a:r>
                <a:rPr lang="zh-CN" altLang="en-US" sz="2800" b="1" dirty="0">
                  <a:solidFill>
                    <a:srgbClr val="0070C0"/>
                  </a:solidFill>
                </a:rPr>
                <a:t>右边</a:t>
              </a:r>
              <a:r>
                <a:rPr lang="en-US" altLang="zh-CN" sz="2800" b="1" dirty="0">
                  <a:solidFill>
                    <a:srgbClr val="0070C0"/>
                  </a:solidFill>
                </a:rPr>
                <a:t>3</a:t>
              </a:r>
              <a:r>
                <a:rPr lang="zh-CN" altLang="en-US" sz="2800" b="1" dirty="0">
                  <a:solidFill>
                    <a:srgbClr val="0070C0"/>
                  </a:solidFill>
                </a:rPr>
                <a:t>列是一个</a:t>
              </a:r>
              <a:r>
                <a:rPr lang="en-US" altLang="zh-CN" sz="2800" b="1" dirty="0">
                  <a:solidFill>
                    <a:srgbClr val="0070C0"/>
                  </a:solidFill>
                </a:rPr>
                <a:t>3 × 3</a:t>
              </a:r>
              <a:r>
                <a:rPr lang="zh-CN" altLang="en-US" sz="2800" b="1" dirty="0">
                  <a:solidFill>
                    <a:srgbClr val="0070C0"/>
                  </a:solidFill>
                </a:rPr>
                <a:t>的满秩矩阵</a:t>
              </a:r>
              <a:endParaRPr lang="zh-CN" altLang="en-US" sz="2800" b="1" dirty="0">
                <a:solidFill>
                  <a:srgbClr val="0070C0"/>
                </a:solidFill>
              </a:endParaRPr>
            </a:p>
          </p:txBody>
        </p:sp>
      </p:grpSp>
      <p:sp>
        <p:nvSpPr>
          <p:cNvPr id="38" name="任意多边形 37"/>
          <p:cNvSpPr/>
          <p:nvPr/>
        </p:nvSpPr>
        <p:spPr bwMode="auto">
          <a:xfrm>
            <a:off x="10123594" y="1657618"/>
            <a:ext cx="999181" cy="1573011"/>
          </a:xfrm>
          <a:custGeom>
            <a:avLst/>
            <a:gdLst>
              <a:gd name="connsiteX0" fmla="*/ 18107 w 823865"/>
              <a:gd name="connsiteY0" fmla="*/ 9053 h 1394233"/>
              <a:gd name="connsiteX1" fmla="*/ 805758 w 823865"/>
              <a:gd name="connsiteY1" fmla="*/ 0 h 1394233"/>
              <a:gd name="connsiteX2" fmla="*/ 823865 w 823865"/>
              <a:gd name="connsiteY2" fmla="*/ 1394233 h 1394233"/>
              <a:gd name="connsiteX3" fmla="*/ 0 w 823865"/>
              <a:gd name="connsiteY3" fmla="*/ 1376126 h 1394233"/>
              <a:gd name="connsiteX4" fmla="*/ 18107 w 823865"/>
              <a:gd name="connsiteY4" fmla="*/ 9053 h 139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865" h="1394233">
                <a:moveTo>
                  <a:pt x="18107" y="9053"/>
                </a:moveTo>
                <a:lnTo>
                  <a:pt x="805758" y="0"/>
                </a:lnTo>
                <a:lnTo>
                  <a:pt x="823865" y="1394233"/>
                </a:lnTo>
                <a:lnTo>
                  <a:pt x="0" y="1376126"/>
                </a:lnTo>
                <a:cubicBezTo>
                  <a:pt x="3018" y="911382"/>
                  <a:pt x="6035" y="446637"/>
                  <a:pt x="18107" y="9053"/>
                </a:cubicBezTo>
                <a:close/>
              </a:path>
            </a:pathLst>
          </a:custGeom>
          <a:no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cxnSp>
        <p:nvCxnSpPr>
          <p:cNvPr id="40" name="直接连接符 39"/>
          <p:cNvCxnSpPr>
            <a:endCxn id="37" idx="0"/>
          </p:cNvCxnSpPr>
          <p:nvPr/>
        </p:nvCxnSpPr>
        <p:spPr bwMode="auto">
          <a:xfrm>
            <a:off x="10537775" y="2698045"/>
            <a:ext cx="520781" cy="946979"/>
          </a:xfrm>
          <a:prstGeom prst="line">
            <a:avLst/>
          </a:prstGeom>
          <a:solidFill>
            <a:schemeClr val="accent1"/>
          </a:solidFill>
          <a:ln w="28575" cap="flat" cmpd="sng" algn="ctr">
            <a:solidFill>
              <a:srgbClr val="00B05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灯片编号占位符 38"/>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6" name="箭头: 圆角右 5"/>
          <p:cNvSpPr/>
          <p:nvPr/>
        </p:nvSpPr>
        <p:spPr>
          <a:xfrm flipH="1" flipV="1">
            <a:off x="8764140" y="3597995"/>
            <a:ext cx="1461444" cy="2351283"/>
          </a:xfrm>
          <a:prstGeom prst="bentArrow">
            <a:avLst>
              <a:gd name="adj1" fmla="val 17977"/>
              <a:gd name="adj2" fmla="val 25000"/>
              <a:gd name="adj3" fmla="val 25000"/>
              <a:gd name="adj4" fmla="val 4375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任意多边形 53"/>
          <p:cNvSpPr/>
          <p:nvPr/>
        </p:nvSpPr>
        <p:spPr bwMode="auto">
          <a:xfrm>
            <a:off x="10095601" y="1629625"/>
            <a:ext cx="1007828" cy="1439336"/>
          </a:xfrm>
          <a:custGeom>
            <a:avLst/>
            <a:gdLst>
              <a:gd name="connsiteX0" fmla="*/ 18107 w 823865"/>
              <a:gd name="connsiteY0" fmla="*/ 9053 h 1394233"/>
              <a:gd name="connsiteX1" fmla="*/ 805758 w 823865"/>
              <a:gd name="connsiteY1" fmla="*/ 0 h 1394233"/>
              <a:gd name="connsiteX2" fmla="*/ 823865 w 823865"/>
              <a:gd name="connsiteY2" fmla="*/ 1394233 h 1394233"/>
              <a:gd name="connsiteX3" fmla="*/ 0 w 823865"/>
              <a:gd name="connsiteY3" fmla="*/ 1376126 h 1394233"/>
              <a:gd name="connsiteX4" fmla="*/ 18107 w 823865"/>
              <a:gd name="connsiteY4" fmla="*/ 9053 h 139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865" h="1394233">
                <a:moveTo>
                  <a:pt x="18107" y="9053"/>
                </a:moveTo>
                <a:lnTo>
                  <a:pt x="805758" y="0"/>
                </a:lnTo>
                <a:lnTo>
                  <a:pt x="823865" y="1394233"/>
                </a:lnTo>
                <a:lnTo>
                  <a:pt x="0" y="1376126"/>
                </a:lnTo>
                <a:cubicBezTo>
                  <a:pt x="3018" y="911382"/>
                  <a:pt x="6035" y="446637"/>
                  <a:pt x="18107" y="9053"/>
                </a:cubicBezTo>
                <a:close/>
              </a:path>
            </a:pathLst>
          </a:custGeom>
          <a:no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cxnSp>
        <p:nvCxnSpPr>
          <p:cNvPr id="55" name="直接连接符 54"/>
          <p:cNvCxnSpPr/>
          <p:nvPr/>
        </p:nvCxnSpPr>
        <p:spPr bwMode="auto">
          <a:xfrm flipH="1">
            <a:off x="9937071" y="2708920"/>
            <a:ext cx="660545" cy="1037729"/>
          </a:xfrm>
          <a:prstGeom prst="line">
            <a:avLst/>
          </a:prstGeom>
          <a:solidFill>
            <a:schemeClr val="accent1"/>
          </a:solidFill>
          <a:ln w="28575" cap="flat" cmpd="sng" algn="ctr">
            <a:solidFill>
              <a:srgbClr val="00B050"/>
            </a:solidFill>
            <a:prstDash val="dash"/>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内容占位符 2"/>
          <p:cNvSpPr>
            <a:spLocks noGrp="1"/>
          </p:cNvSpPr>
          <p:nvPr>
            <p:ph idx="1"/>
          </p:nvPr>
        </p:nvSpPr>
        <p:spPr>
          <a:xfrm>
            <a:off x="522514" y="764704"/>
            <a:ext cx="9770638" cy="5400600"/>
          </a:xfrm>
        </p:spPr>
        <p:txBody>
          <a:bodyPr/>
          <a:lstStyle/>
          <a:p>
            <a:pPr>
              <a:buNone/>
            </a:pPr>
            <a:r>
              <a:rPr lang="en-US" altLang="zh-CN" sz="2400" dirty="0">
                <a:solidFill>
                  <a:srgbClr val="060606"/>
                </a:solidFill>
              </a:rPr>
              <a:t>(3)</a:t>
            </a:r>
            <a:r>
              <a:rPr lang="zh-CN" altLang="en-US" sz="2400" dirty="0">
                <a:solidFill>
                  <a:srgbClr val="060606"/>
                </a:solidFill>
              </a:rPr>
              <a:t>由</a:t>
            </a:r>
            <a:r>
              <a:rPr lang="en-US" altLang="zh-CN" sz="2400" b="1" dirty="0">
                <a:solidFill>
                  <a:srgbClr val="060606"/>
                </a:solidFill>
              </a:rPr>
              <a:t>A</a:t>
            </a:r>
            <a:r>
              <a:rPr lang="en-US" altLang="zh-CN" sz="2400" baseline="-25000" dirty="0">
                <a:solidFill>
                  <a:srgbClr val="060606"/>
                </a:solidFill>
              </a:rPr>
              <a:t>3 × 5</a:t>
            </a:r>
            <a:r>
              <a:rPr lang="zh-CN" altLang="en-US" sz="2400" dirty="0">
                <a:solidFill>
                  <a:srgbClr val="060606"/>
                </a:solidFill>
              </a:rPr>
              <a:t>和</a:t>
            </a:r>
            <a:r>
              <a:rPr lang="en-US" altLang="zh-CN" sz="2400" b="1" dirty="0">
                <a:solidFill>
                  <a:srgbClr val="060606"/>
                </a:solidFill>
              </a:rPr>
              <a:t>B</a:t>
            </a:r>
            <a:r>
              <a:rPr lang="en-US" altLang="zh-CN" sz="2400" baseline="-25000" dirty="0">
                <a:solidFill>
                  <a:srgbClr val="060606"/>
                </a:solidFill>
              </a:rPr>
              <a:t>3 × 3</a:t>
            </a:r>
            <a:r>
              <a:rPr lang="zh-CN" altLang="en-US" sz="2400" dirty="0">
                <a:solidFill>
                  <a:srgbClr val="060606"/>
                </a:solidFill>
              </a:rPr>
              <a:t>可知，</a:t>
            </a:r>
            <a:r>
              <a:rPr lang="en-US" altLang="zh-CN" sz="2400" dirty="0">
                <a:solidFill>
                  <a:srgbClr val="060606"/>
                </a:solidFill>
              </a:rPr>
              <a:t>x</a:t>
            </a:r>
            <a:r>
              <a:rPr lang="en-US" altLang="zh-CN" sz="2400" baseline="-25000" dirty="0">
                <a:solidFill>
                  <a:srgbClr val="060606"/>
                </a:solidFill>
              </a:rPr>
              <a:t>3</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zh-CN" altLang="en-US" sz="2400" dirty="0">
                <a:solidFill>
                  <a:srgbClr val="060606"/>
                </a:solidFill>
              </a:rPr>
              <a:t>是基变量，</a:t>
            </a:r>
            <a:r>
              <a:rPr lang="en-US" altLang="zh-CN" sz="2400" dirty="0">
                <a:solidFill>
                  <a:srgbClr val="060606"/>
                </a:solidFill>
              </a:rPr>
              <a:t>x</a:t>
            </a:r>
            <a:r>
              <a:rPr lang="en-US" altLang="zh-CN" sz="2400" baseline="-25000" dirty="0">
                <a:solidFill>
                  <a:srgbClr val="060606"/>
                </a:solidFill>
              </a:rPr>
              <a:t>1</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zh-CN" altLang="en-US" sz="2400" dirty="0">
                <a:solidFill>
                  <a:srgbClr val="060606"/>
                </a:solidFill>
              </a:rPr>
              <a:t>是非基变量。</a:t>
            </a:r>
            <a:endParaRPr lang="en-US" altLang="zh-CN" sz="2400" dirty="0">
              <a:solidFill>
                <a:srgbClr val="060606"/>
              </a:solidFill>
            </a:endParaRPr>
          </a:p>
          <a:p>
            <a:pPr>
              <a:buNone/>
            </a:pPr>
            <a:r>
              <a:rPr lang="en-US" altLang="zh-CN" sz="2400" dirty="0">
                <a:solidFill>
                  <a:srgbClr val="060606"/>
                </a:solidFill>
              </a:rPr>
              <a:t>(4)</a:t>
            </a:r>
            <a:r>
              <a:rPr lang="zh-CN" altLang="en-US" sz="2400" dirty="0">
                <a:solidFill>
                  <a:srgbClr val="060606"/>
                </a:solidFill>
              </a:rPr>
              <a:t>令非基变量</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=0</a:t>
            </a:r>
            <a:r>
              <a:rPr lang="zh-CN" altLang="en-US" sz="2400" dirty="0">
                <a:solidFill>
                  <a:srgbClr val="060606"/>
                </a:solidFill>
              </a:rPr>
              <a:t>，代入</a:t>
            </a:r>
            <a:r>
              <a:rPr lang="en-US" altLang="zh-CN" sz="2400" dirty="0" err="1">
                <a:solidFill>
                  <a:srgbClr val="060606"/>
                </a:solidFill>
              </a:rPr>
              <a:t>s.t</a:t>
            </a:r>
            <a:r>
              <a:rPr lang="en-US" altLang="zh-CN" sz="2400" dirty="0">
                <a:solidFill>
                  <a:srgbClr val="060606"/>
                </a:solidFill>
              </a:rPr>
              <a:t>.(1)(2)(3)</a:t>
            </a:r>
            <a:r>
              <a:rPr lang="zh-CN" altLang="en-US" sz="2400" dirty="0">
                <a:solidFill>
                  <a:srgbClr val="060606"/>
                </a:solidFill>
              </a:rPr>
              <a:t>中</a:t>
            </a:r>
            <a:endParaRPr lang="en-US" altLang="zh-CN" sz="2400" dirty="0">
              <a:solidFill>
                <a:srgbClr val="060606"/>
              </a:solidFill>
            </a:endParaRPr>
          </a:p>
          <a:p>
            <a:pPr>
              <a:buNone/>
            </a:pPr>
            <a:r>
              <a:rPr lang="zh-CN" altLang="en-US" sz="2400" dirty="0">
                <a:solidFill>
                  <a:srgbClr val="060606"/>
                </a:solidFill>
              </a:rPr>
              <a:t>得到</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 4</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 12</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=18</a:t>
            </a:r>
            <a:r>
              <a:rPr lang="zh-CN" altLang="en-US" sz="2400" dirty="0">
                <a:solidFill>
                  <a:srgbClr val="060606"/>
                </a:solidFill>
              </a:rPr>
              <a:t>，</a:t>
            </a:r>
            <a:endParaRPr lang="en-US" altLang="zh-CN" sz="2400" dirty="0">
              <a:solidFill>
                <a:srgbClr val="060606"/>
              </a:solidFill>
            </a:endParaRPr>
          </a:p>
          <a:p>
            <a:pPr>
              <a:buNone/>
            </a:pPr>
            <a:r>
              <a:rPr lang="zh-CN" altLang="en-US" sz="2400" dirty="0">
                <a:solidFill>
                  <a:srgbClr val="060606"/>
                </a:solidFill>
              </a:rPr>
              <a:t>即基解：</a:t>
            </a:r>
            <a:r>
              <a:rPr lang="en-US" altLang="zh-CN" sz="2400" b="1" dirty="0">
                <a:solidFill>
                  <a:srgbClr val="060606"/>
                </a:solidFill>
              </a:rPr>
              <a:t>x </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a:t>
            </a:r>
            <a:r>
              <a:rPr lang="en-US" altLang="zh-CN" sz="2400" dirty="0">
                <a:solidFill>
                  <a:srgbClr val="060606"/>
                </a:solidFill>
              </a:rPr>
              <a:t>4</a:t>
            </a:r>
            <a:r>
              <a:rPr lang="zh-CN" altLang="en-US" sz="2400" dirty="0">
                <a:solidFill>
                  <a:srgbClr val="060606"/>
                </a:solidFill>
              </a:rPr>
              <a:t>，</a:t>
            </a:r>
            <a:r>
              <a:rPr lang="en-US" altLang="zh-CN" sz="2400" dirty="0">
                <a:solidFill>
                  <a:srgbClr val="060606"/>
                </a:solidFill>
              </a:rPr>
              <a:t>12</a:t>
            </a:r>
            <a:r>
              <a:rPr lang="zh-CN" altLang="en-US" sz="2400" dirty="0">
                <a:solidFill>
                  <a:srgbClr val="060606"/>
                </a:solidFill>
              </a:rPr>
              <a:t>，</a:t>
            </a:r>
            <a:r>
              <a:rPr lang="en-US" altLang="zh-CN" sz="2400" dirty="0">
                <a:solidFill>
                  <a:srgbClr val="060606"/>
                </a:solidFill>
              </a:rPr>
              <a:t>18)</a:t>
            </a:r>
            <a:r>
              <a:rPr lang="en-US" altLang="zh-CN" sz="2400" baseline="30000" dirty="0">
                <a:solidFill>
                  <a:srgbClr val="060606"/>
                </a:solidFill>
              </a:rPr>
              <a:t>T</a:t>
            </a:r>
            <a:endParaRPr lang="en-US" altLang="zh-CN" sz="2400" baseline="30000" dirty="0">
              <a:solidFill>
                <a:srgbClr val="060606"/>
              </a:solidFill>
            </a:endParaRPr>
          </a:p>
          <a:p>
            <a:pPr>
              <a:buNone/>
            </a:pPr>
            <a:endParaRPr lang="en-US" altLang="zh-CN" sz="2400" dirty="0">
              <a:solidFill>
                <a:srgbClr val="060606"/>
              </a:solidFill>
            </a:endParaRPr>
          </a:p>
          <a:p>
            <a:pPr>
              <a:buNone/>
            </a:pPr>
            <a:endParaRPr lang="en-US" altLang="zh-CN" sz="2400" dirty="0">
              <a:solidFill>
                <a:srgbClr val="060606"/>
              </a:solidFill>
            </a:endParaRPr>
          </a:p>
          <a:p>
            <a:pPr>
              <a:buNone/>
            </a:pPr>
            <a:r>
              <a:rPr lang="en-US" altLang="zh-CN" sz="2400" dirty="0">
                <a:solidFill>
                  <a:srgbClr val="060606"/>
                </a:solidFill>
              </a:rPr>
              <a:t>(5)</a:t>
            </a:r>
            <a:r>
              <a:rPr lang="zh-CN" altLang="en-US" sz="2400" dirty="0">
                <a:solidFill>
                  <a:srgbClr val="060606"/>
                </a:solidFill>
              </a:rPr>
              <a:t>该基解中所有变量取值为非负，所以是基可行解。</a:t>
            </a:r>
            <a:endParaRPr lang="en-US" altLang="zh-CN" sz="2400" dirty="0">
              <a:solidFill>
                <a:srgbClr val="060606"/>
              </a:solidFill>
            </a:endParaRPr>
          </a:p>
          <a:p>
            <a:pPr>
              <a:buNone/>
            </a:pPr>
            <a:r>
              <a:rPr lang="zh-CN" altLang="en-US" sz="2400" dirty="0">
                <a:solidFill>
                  <a:srgbClr val="060606"/>
                </a:solidFill>
              </a:rPr>
              <a:t>其对应得基</a:t>
            </a:r>
            <a:r>
              <a:rPr lang="en-US" altLang="zh-CN" sz="2400" dirty="0">
                <a:solidFill>
                  <a:srgbClr val="060606"/>
                </a:solidFill>
              </a:rPr>
              <a:t>( </a:t>
            </a:r>
            <a:r>
              <a:rPr lang="en-US" altLang="zh-CN" sz="2400" b="1" dirty="0">
                <a:solidFill>
                  <a:srgbClr val="060606"/>
                </a:solidFill>
              </a:rPr>
              <a:t>p</a:t>
            </a:r>
            <a:r>
              <a:rPr lang="en-US" altLang="zh-CN" sz="2400" baseline="-25000" dirty="0">
                <a:solidFill>
                  <a:srgbClr val="060606"/>
                </a:solidFill>
              </a:rPr>
              <a:t>3</a:t>
            </a:r>
            <a:r>
              <a:rPr lang="en-US" altLang="zh-CN" sz="2400" dirty="0">
                <a:solidFill>
                  <a:srgbClr val="060606"/>
                </a:solidFill>
              </a:rPr>
              <a:t>,  </a:t>
            </a:r>
            <a:r>
              <a:rPr lang="en-US" altLang="zh-CN" sz="2400" b="1" dirty="0">
                <a:solidFill>
                  <a:srgbClr val="060606"/>
                </a:solidFill>
              </a:rPr>
              <a:t>p</a:t>
            </a:r>
            <a:r>
              <a:rPr lang="en-US" altLang="zh-CN" sz="2400" baseline="-25000" dirty="0">
                <a:solidFill>
                  <a:srgbClr val="060606"/>
                </a:solidFill>
              </a:rPr>
              <a:t>4</a:t>
            </a:r>
            <a:r>
              <a:rPr lang="en-US" altLang="zh-CN" sz="2400" dirty="0">
                <a:solidFill>
                  <a:srgbClr val="060606"/>
                </a:solidFill>
              </a:rPr>
              <a:t>,  </a:t>
            </a:r>
            <a:r>
              <a:rPr lang="en-US" altLang="zh-CN" sz="2400" b="1" dirty="0">
                <a:solidFill>
                  <a:srgbClr val="060606"/>
                </a:solidFill>
              </a:rPr>
              <a:t>p</a:t>
            </a:r>
            <a:r>
              <a:rPr lang="en-US" altLang="zh-CN" sz="2400" baseline="-25000" dirty="0">
                <a:solidFill>
                  <a:srgbClr val="060606"/>
                </a:solidFill>
              </a:rPr>
              <a:t>5</a:t>
            </a:r>
            <a:r>
              <a:rPr lang="en-US" altLang="zh-CN" sz="2400" dirty="0">
                <a:solidFill>
                  <a:srgbClr val="060606"/>
                </a:solidFill>
              </a:rPr>
              <a:t>) </a:t>
            </a:r>
            <a:r>
              <a:rPr lang="zh-CN" altLang="en-US" sz="2400" dirty="0">
                <a:solidFill>
                  <a:srgbClr val="060606"/>
                </a:solidFill>
              </a:rPr>
              <a:t>是一个可行基。</a:t>
            </a:r>
            <a:endParaRPr lang="en-US" altLang="zh-CN" sz="2400"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p:txBody>
      </p:sp>
      <p:grpSp>
        <p:nvGrpSpPr>
          <p:cNvPr id="4" name="组合 33"/>
          <p:cNvGrpSpPr/>
          <p:nvPr/>
        </p:nvGrpSpPr>
        <p:grpSpPr>
          <a:xfrm>
            <a:off x="7349822" y="1556793"/>
            <a:ext cx="4003977" cy="1911117"/>
            <a:chOff x="5897161" y="1916832"/>
            <a:chExt cx="3139335" cy="1911117"/>
          </a:xfrm>
        </p:grpSpPr>
        <p:sp>
          <p:nvSpPr>
            <p:cNvPr id="23" name="矩形 22"/>
            <p:cNvSpPr/>
            <p:nvPr/>
          </p:nvSpPr>
          <p:spPr>
            <a:xfrm>
              <a:off x="6228184" y="2348880"/>
              <a:ext cx="1144865" cy="461665"/>
            </a:xfrm>
            <a:prstGeom prst="rect">
              <a:avLst/>
            </a:prstGeom>
          </p:spPr>
          <p:txBody>
            <a:bodyPr wrap="none">
              <a:spAutoFit/>
            </a:bodyPr>
            <a:lstStyle/>
            <a:p>
              <a:r>
                <a:rPr lang="en-US" altLang="zh-CN" sz="2400" b="1" dirty="0">
                  <a:solidFill>
                    <a:srgbClr val="060606"/>
                  </a:solidFill>
                </a:rPr>
                <a:t>A</a:t>
              </a:r>
              <a:r>
                <a:rPr lang="en-US" altLang="zh-CN" sz="2400" baseline="-25000" dirty="0">
                  <a:solidFill>
                    <a:srgbClr val="060606"/>
                  </a:solidFill>
                </a:rPr>
                <a:t>3 × 5</a:t>
              </a:r>
              <a:r>
                <a:rPr lang="en-US" altLang="zh-CN" sz="2400" dirty="0">
                  <a:solidFill>
                    <a:srgbClr val="060606"/>
                  </a:solidFill>
                </a:rPr>
                <a:t> =</a:t>
              </a:r>
              <a:endParaRPr lang="zh-CN" altLang="en-US" dirty="0"/>
            </a:p>
          </p:txBody>
        </p:sp>
        <p:sp>
          <p:nvSpPr>
            <p:cNvPr id="24" name="双括号 23"/>
            <p:cNvSpPr/>
            <p:nvPr/>
          </p:nvSpPr>
          <p:spPr bwMode="auto">
            <a:xfrm>
              <a:off x="7308304" y="1916832"/>
              <a:ext cx="1728192" cy="1584176"/>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5" name="矩形 24"/>
            <p:cNvSpPr/>
            <p:nvPr/>
          </p:nvSpPr>
          <p:spPr>
            <a:xfrm>
              <a:off x="7308304" y="2996952"/>
              <a:ext cx="1656184" cy="830997"/>
            </a:xfrm>
            <a:prstGeom prst="rect">
              <a:avLst/>
            </a:prstGeom>
          </p:spPr>
          <p:txBody>
            <a:bodyPr wrap="square">
              <a:spAutoFit/>
            </a:bodyPr>
            <a:lstStyle/>
            <a:p>
              <a:pPr algn="ctr"/>
              <a:r>
                <a:rPr lang="en-US" altLang="zh-CN" sz="2400" dirty="0">
                  <a:solidFill>
                    <a:srgbClr val="060606"/>
                  </a:solidFill>
                </a:rPr>
                <a:t>3  2  0  </a:t>
              </a:r>
              <a:r>
                <a:rPr lang="en-US" altLang="zh-CN" sz="2400" dirty="0" err="1">
                  <a:solidFill>
                    <a:srgbClr val="060606"/>
                  </a:solidFill>
                </a:rPr>
                <a:t>0</a:t>
              </a:r>
              <a:r>
                <a:rPr lang="en-US" altLang="zh-CN" sz="2400" dirty="0">
                  <a:solidFill>
                    <a:srgbClr val="060606"/>
                  </a:solidFill>
                </a:rPr>
                <a:t>  1</a:t>
              </a:r>
              <a:endParaRPr lang="zh-CN" altLang="en-US" dirty="0"/>
            </a:p>
          </p:txBody>
        </p:sp>
        <p:sp>
          <p:nvSpPr>
            <p:cNvPr id="26" name="矩形 25"/>
            <p:cNvSpPr/>
            <p:nvPr/>
          </p:nvSpPr>
          <p:spPr>
            <a:xfrm>
              <a:off x="7308304" y="2492896"/>
              <a:ext cx="1656184" cy="830997"/>
            </a:xfrm>
            <a:prstGeom prst="rect">
              <a:avLst/>
            </a:prstGeom>
          </p:spPr>
          <p:txBody>
            <a:bodyPr wrap="square">
              <a:spAutoFit/>
            </a:bodyPr>
            <a:lstStyle/>
            <a:p>
              <a:pPr algn="ctr"/>
              <a:r>
                <a:rPr lang="en-US" altLang="zh-CN" sz="2400" dirty="0">
                  <a:solidFill>
                    <a:srgbClr val="060606"/>
                  </a:solidFill>
                </a:rPr>
                <a:t>0  2  0  1  0</a:t>
              </a:r>
              <a:endParaRPr lang="zh-CN" altLang="en-US" dirty="0"/>
            </a:p>
          </p:txBody>
        </p:sp>
        <p:sp>
          <p:nvSpPr>
            <p:cNvPr id="27" name="矩形 26"/>
            <p:cNvSpPr/>
            <p:nvPr/>
          </p:nvSpPr>
          <p:spPr>
            <a:xfrm>
              <a:off x="7308304" y="1988840"/>
              <a:ext cx="1656184" cy="830997"/>
            </a:xfrm>
            <a:prstGeom prst="rect">
              <a:avLst/>
            </a:prstGeom>
          </p:spPr>
          <p:txBody>
            <a:bodyPr wrap="square">
              <a:spAutoFit/>
            </a:bodyPr>
            <a:lstStyle/>
            <a:p>
              <a:pPr algn="ctr"/>
              <a:r>
                <a:rPr lang="en-US" altLang="zh-CN" sz="2400" dirty="0">
                  <a:solidFill>
                    <a:srgbClr val="060606"/>
                  </a:solidFill>
                </a:rPr>
                <a:t>1  0  1  0  0</a:t>
              </a:r>
              <a:endParaRPr lang="zh-CN" altLang="en-US" dirty="0"/>
            </a:p>
          </p:txBody>
        </p:sp>
        <p:sp>
          <p:nvSpPr>
            <p:cNvPr id="36" name="矩形 35"/>
            <p:cNvSpPr/>
            <p:nvPr/>
          </p:nvSpPr>
          <p:spPr>
            <a:xfrm>
              <a:off x="5897161" y="3130366"/>
              <a:ext cx="1656184" cy="461665"/>
            </a:xfrm>
            <a:prstGeom prst="rect">
              <a:avLst/>
            </a:prstGeom>
          </p:spPr>
          <p:txBody>
            <a:bodyPr wrap="square">
              <a:spAutoFit/>
            </a:bodyPr>
            <a:lstStyle/>
            <a:p>
              <a:pPr algn="ctr"/>
              <a:r>
                <a:rPr lang="en-US" altLang="zh-CN" sz="2400" b="1" dirty="0">
                  <a:solidFill>
                    <a:srgbClr val="060606"/>
                  </a:solidFill>
                </a:rPr>
                <a:t>A</a:t>
              </a:r>
              <a:r>
                <a:rPr lang="zh-CN" altLang="en-US" sz="2400" dirty="0">
                  <a:solidFill>
                    <a:srgbClr val="060606"/>
                  </a:solidFill>
                </a:rPr>
                <a:t>的秩为</a:t>
              </a:r>
              <a:r>
                <a:rPr lang="en-US" altLang="zh-CN" sz="2400" dirty="0">
                  <a:solidFill>
                    <a:srgbClr val="060606"/>
                  </a:solidFill>
                </a:rPr>
                <a:t>3</a:t>
              </a:r>
              <a:endParaRPr lang="zh-CN" altLang="en-US" dirty="0"/>
            </a:p>
          </p:txBody>
        </p:sp>
      </p:grpSp>
      <p:grpSp>
        <p:nvGrpSpPr>
          <p:cNvPr id="5" name="组合 32"/>
          <p:cNvGrpSpPr/>
          <p:nvPr/>
        </p:nvGrpSpPr>
        <p:grpSpPr>
          <a:xfrm>
            <a:off x="6395992" y="3717032"/>
            <a:ext cx="4272008" cy="1584176"/>
            <a:chOff x="3540352" y="3933056"/>
            <a:chExt cx="4272008" cy="1584176"/>
          </a:xfrm>
        </p:grpSpPr>
        <p:sp>
          <p:nvSpPr>
            <p:cNvPr id="28" name="矩形 27"/>
            <p:cNvSpPr/>
            <p:nvPr/>
          </p:nvSpPr>
          <p:spPr>
            <a:xfrm>
              <a:off x="3540352" y="4437112"/>
              <a:ext cx="3203121" cy="461665"/>
            </a:xfrm>
            <a:prstGeom prst="rect">
              <a:avLst/>
            </a:prstGeom>
          </p:spPr>
          <p:txBody>
            <a:bodyPr wrap="none">
              <a:spAutoFit/>
            </a:bodyPr>
            <a:lstStyle/>
            <a:p>
              <a:r>
                <a:rPr lang="en-US" altLang="zh-CN" sz="2400" b="1" dirty="0">
                  <a:solidFill>
                    <a:srgbClr val="060606"/>
                  </a:solidFill>
                </a:rPr>
                <a:t>B</a:t>
              </a:r>
              <a:r>
                <a:rPr lang="en-US" altLang="zh-CN" sz="2400" baseline="-25000" dirty="0">
                  <a:solidFill>
                    <a:srgbClr val="060606"/>
                  </a:solidFill>
                </a:rPr>
                <a:t>3 × 3</a:t>
              </a:r>
              <a:r>
                <a:rPr lang="en-US" altLang="zh-CN" sz="2400" dirty="0">
                  <a:solidFill>
                    <a:srgbClr val="060606"/>
                  </a:solidFill>
                </a:rPr>
                <a:t> = ( </a:t>
              </a:r>
              <a:r>
                <a:rPr lang="en-US" altLang="zh-CN" sz="2400" b="1" dirty="0">
                  <a:solidFill>
                    <a:srgbClr val="060606"/>
                  </a:solidFill>
                </a:rPr>
                <a:t>p</a:t>
              </a:r>
              <a:r>
                <a:rPr lang="en-US" altLang="zh-CN" sz="2400" baseline="-25000" dirty="0">
                  <a:solidFill>
                    <a:srgbClr val="060606"/>
                  </a:solidFill>
                </a:rPr>
                <a:t>3</a:t>
              </a:r>
              <a:r>
                <a:rPr lang="en-US" altLang="zh-CN" sz="2400" dirty="0">
                  <a:solidFill>
                    <a:srgbClr val="060606"/>
                  </a:solidFill>
                </a:rPr>
                <a:t>,  </a:t>
              </a:r>
              <a:r>
                <a:rPr lang="en-US" altLang="zh-CN" sz="2400" b="1" dirty="0">
                  <a:solidFill>
                    <a:srgbClr val="060606"/>
                  </a:solidFill>
                </a:rPr>
                <a:t>p</a:t>
              </a:r>
              <a:r>
                <a:rPr lang="en-US" altLang="zh-CN" sz="2400" baseline="-25000" dirty="0">
                  <a:solidFill>
                    <a:srgbClr val="060606"/>
                  </a:solidFill>
                </a:rPr>
                <a:t>4</a:t>
              </a:r>
              <a:r>
                <a:rPr lang="en-US" altLang="zh-CN" sz="2400" dirty="0">
                  <a:solidFill>
                    <a:srgbClr val="060606"/>
                  </a:solidFill>
                </a:rPr>
                <a:t>,  </a:t>
              </a:r>
              <a:r>
                <a:rPr lang="en-US" altLang="zh-CN" sz="2400" b="1" dirty="0">
                  <a:solidFill>
                    <a:srgbClr val="060606"/>
                  </a:solidFill>
                </a:rPr>
                <a:t>p</a:t>
              </a:r>
              <a:r>
                <a:rPr lang="en-US" altLang="zh-CN" sz="2400" baseline="-25000" dirty="0">
                  <a:solidFill>
                    <a:srgbClr val="060606"/>
                  </a:solidFill>
                </a:rPr>
                <a:t>5</a:t>
              </a:r>
              <a:r>
                <a:rPr lang="en-US" altLang="zh-CN" sz="2400" dirty="0">
                  <a:solidFill>
                    <a:srgbClr val="060606"/>
                  </a:solidFill>
                </a:rPr>
                <a:t>)  =</a:t>
              </a:r>
              <a:endParaRPr lang="zh-CN" altLang="en-US" dirty="0"/>
            </a:p>
          </p:txBody>
        </p:sp>
        <p:sp>
          <p:nvSpPr>
            <p:cNvPr id="29" name="双括号 28"/>
            <p:cNvSpPr/>
            <p:nvPr/>
          </p:nvSpPr>
          <p:spPr bwMode="auto">
            <a:xfrm>
              <a:off x="6444208" y="3933056"/>
              <a:ext cx="1224136" cy="1584176"/>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30" name="矩形 29"/>
            <p:cNvSpPr/>
            <p:nvPr/>
          </p:nvSpPr>
          <p:spPr>
            <a:xfrm>
              <a:off x="6156176" y="5013176"/>
              <a:ext cx="1656184" cy="461665"/>
            </a:xfrm>
            <a:prstGeom prst="rect">
              <a:avLst/>
            </a:prstGeom>
          </p:spPr>
          <p:txBody>
            <a:bodyPr wrap="square">
              <a:spAutoFit/>
            </a:bodyPr>
            <a:lstStyle/>
            <a:p>
              <a:pPr algn="ctr"/>
              <a:r>
                <a:rPr lang="en-US" altLang="zh-CN" sz="2400" dirty="0">
                  <a:solidFill>
                    <a:srgbClr val="060606"/>
                  </a:solidFill>
                </a:rPr>
                <a:t> 0  </a:t>
              </a:r>
              <a:r>
                <a:rPr lang="en-US" altLang="zh-CN" sz="2400" dirty="0" err="1">
                  <a:solidFill>
                    <a:srgbClr val="060606"/>
                  </a:solidFill>
                </a:rPr>
                <a:t>0</a:t>
              </a:r>
              <a:r>
                <a:rPr lang="en-US" altLang="zh-CN" sz="2400" dirty="0">
                  <a:solidFill>
                    <a:srgbClr val="060606"/>
                  </a:solidFill>
                </a:rPr>
                <a:t>  1</a:t>
              </a:r>
              <a:endParaRPr lang="zh-CN" altLang="en-US" dirty="0"/>
            </a:p>
          </p:txBody>
        </p:sp>
        <p:sp>
          <p:nvSpPr>
            <p:cNvPr id="31" name="矩形 30"/>
            <p:cNvSpPr/>
            <p:nvPr/>
          </p:nvSpPr>
          <p:spPr>
            <a:xfrm>
              <a:off x="6156176" y="4509120"/>
              <a:ext cx="1656184" cy="461665"/>
            </a:xfrm>
            <a:prstGeom prst="rect">
              <a:avLst/>
            </a:prstGeom>
          </p:spPr>
          <p:txBody>
            <a:bodyPr wrap="square">
              <a:spAutoFit/>
            </a:bodyPr>
            <a:lstStyle/>
            <a:p>
              <a:pPr algn="ctr"/>
              <a:r>
                <a:rPr lang="en-US" altLang="zh-CN" sz="2400" dirty="0">
                  <a:solidFill>
                    <a:srgbClr val="060606"/>
                  </a:solidFill>
                </a:rPr>
                <a:t> 0  1  0</a:t>
              </a:r>
              <a:endParaRPr lang="zh-CN" altLang="en-US" dirty="0"/>
            </a:p>
          </p:txBody>
        </p:sp>
        <p:sp>
          <p:nvSpPr>
            <p:cNvPr id="32" name="矩形 31"/>
            <p:cNvSpPr/>
            <p:nvPr/>
          </p:nvSpPr>
          <p:spPr>
            <a:xfrm>
              <a:off x="6156176" y="4005064"/>
              <a:ext cx="1656184" cy="461665"/>
            </a:xfrm>
            <a:prstGeom prst="rect">
              <a:avLst/>
            </a:prstGeom>
          </p:spPr>
          <p:txBody>
            <a:bodyPr wrap="square">
              <a:spAutoFit/>
            </a:bodyPr>
            <a:lstStyle/>
            <a:p>
              <a:pPr algn="ctr"/>
              <a:r>
                <a:rPr lang="en-US" altLang="zh-CN" sz="2400" dirty="0">
                  <a:solidFill>
                    <a:srgbClr val="060606"/>
                  </a:solidFill>
                </a:rPr>
                <a:t> 1  0  0</a:t>
              </a:r>
              <a:endParaRPr lang="zh-CN" altLang="en-US" dirty="0"/>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40"/>
          <p:cNvSpPr txBox="1"/>
          <p:nvPr/>
        </p:nvSpPr>
        <p:spPr>
          <a:xfrm>
            <a:off x="202201" y="143054"/>
            <a:ext cx="11433071" cy="954107"/>
          </a:xfrm>
          <a:prstGeom prst="rect">
            <a:avLst/>
          </a:prstGeom>
          <a:noFill/>
          <a:ln>
            <a:noFill/>
          </a:ln>
        </p:spPr>
        <p:txBody>
          <a:bodyPr wrap="square" rtlCol="0">
            <a:spAutoFit/>
          </a:bodyPr>
          <a:lstStyle/>
          <a:p>
            <a:r>
              <a:rPr lang="zh-CN" altLang="en-US" sz="2800" dirty="0"/>
              <a:t>基本概念理解</a:t>
            </a:r>
            <a:r>
              <a:rPr lang="en-US" altLang="zh-CN" sz="2800" dirty="0"/>
              <a:t>【</a:t>
            </a:r>
            <a:r>
              <a:rPr lang="zh-CN" altLang="en-US" sz="2800" dirty="0"/>
              <a:t>知识点：所有可行解可以由所有基可行解线性表出，最优解在基可行解中获得</a:t>
            </a:r>
            <a:r>
              <a:rPr lang="en-US" altLang="zh-CN" sz="2800" dirty="0"/>
              <a:t>】:</a:t>
            </a:r>
            <a:endParaRPr lang="zh-CN" altLang="en-US" sz="2800" dirty="0"/>
          </a:p>
        </p:txBody>
      </p:sp>
      <p:sp>
        <p:nvSpPr>
          <p:cNvPr id="57" name="TextBox 19"/>
          <p:cNvSpPr txBox="1"/>
          <p:nvPr/>
        </p:nvSpPr>
        <p:spPr>
          <a:xfrm>
            <a:off x="824481" y="3117372"/>
            <a:ext cx="1783876" cy="1815882"/>
          </a:xfrm>
          <a:prstGeom prst="rect">
            <a:avLst/>
          </a:prstGeom>
          <a:noFill/>
        </p:spPr>
        <p:txBody>
          <a:bodyPr wrap="square" rtlCol="0">
            <a:spAutoFit/>
          </a:bodyPr>
          <a:lstStyle/>
          <a:p>
            <a:r>
              <a:rPr lang="en-US" altLang="zh-CN" sz="4000" b="1" dirty="0">
                <a:solidFill>
                  <a:srgbClr val="060606"/>
                </a:solidFill>
              </a:rPr>
              <a:t>A</a:t>
            </a:r>
            <a:r>
              <a:rPr lang="en-US" altLang="zh-CN" sz="4000" baseline="-25000" dirty="0">
                <a:solidFill>
                  <a:srgbClr val="060606"/>
                </a:solidFill>
              </a:rPr>
              <a:t>m× n</a:t>
            </a:r>
            <a:endParaRPr lang="en-US" altLang="zh-CN" sz="4000" baseline="-25000" dirty="0">
              <a:solidFill>
                <a:srgbClr val="060606"/>
              </a:solidFill>
            </a:endParaRPr>
          </a:p>
          <a:p>
            <a:r>
              <a:rPr lang="en-US" altLang="zh-CN" sz="2400" dirty="0">
                <a:solidFill>
                  <a:srgbClr val="060606"/>
                </a:solidFill>
              </a:rPr>
              <a:t>(</a:t>
            </a:r>
            <a:r>
              <a:rPr lang="en-US" altLang="zh-CN" sz="2400" dirty="0" err="1">
                <a:solidFill>
                  <a:srgbClr val="060606"/>
                </a:solidFill>
              </a:rPr>
              <a:t>s.t</a:t>
            </a:r>
            <a:r>
              <a:rPr lang="en-US" altLang="zh-CN" sz="2400" dirty="0">
                <a:solidFill>
                  <a:srgbClr val="060606"/>
                </a:solidFill>
              </a:rPr>
              <a:t>.</a:t>
            </a:r>
            <a:r>
              <a:rPr lang="zh-CN" altLang="en-US" sz="2400" dirty="0">
                <a:solidFill>
                  <a:srgbClr val="060606"/>
                </a:solidFill>
              </a:rPr>
              <a:t>的系数矩阵</a:t>
            </a:r>
            <a:r>
              <a:rPr lang="en-US" altLang="zh-CN" sz="2400" dirty="0">
                <a:solidFill>
                  <a:srgbClr val="060606"/>
                </a:solidFill>
              </a:rPr>
              <a:t>,</a:t>
            </a:r>
            <a:endParaRPr lang="en-US" altLang="zh-CN" sz="2400" dirty="0">
              <a:solidFill>
                <a:srgbClr val="060606"/>
              </a:solidFill>
            </a:endParaRPr>
          </a:p>
          <a:p>
            <a:r>
              <a:rPr lang="en-US" altLang="zh-CN" sz="2400" dirty="0">
                <a:solidFill>
                  <a:srgbClr val="060606"/>
                </a:solidFill>
              </a:rPr>
              <a:t>m&gt;n)</a:t>
            </a:r>
            <a:endParaRPr lang="zh-CN" altLang="en-US" sz="2400" dirty="0"/>
          </a:p>
        </p:txBody>
      </p:sp>
      <p:grpSp>
        <p:nvGrpSpPr>
          <p:cNvPr id="58" name="组合 57"/>
          <p:cNvGrpSpPr/>
          <p:nvPr/>
        </p:nvGrpSpPr>
        <p:grpSpPr>
          <a:xfrm>
            <a:off x="2858098" y="3350407"/>
            <a:ext cx="2534981" cy="1569660"/>
            <a:chOff x="2545265" y="2412754"/>
            <a:chExt cx="1944216" cy="1569660"/>
          </a:xfrm>
          <a:noFill/>
        </p:grpSpPr>
        <p:sp>
          <p:nvSpPr>
            <p:cNvPr id="59" name="右箭头 33"/>
            <p:cNvSpPr/>
            <p:nvPr/>
          </p:nvSpPr>
          <p:spPr bwMode="auto">
            <a:xfrm>
              <a:off x="2627784" y="2780928"/>
              <a:ext cx="1296144" cy="432048"/>
            </a:xfrm>
            <a:prstGeom prst="rightArrow">
              <a:avLst/>
            </a:prstGeom>
            <a:gr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endParaRPr kumimoji="0" lang="zh-CN" altLang="en-US" sz="1800" b="0" i="0" u="none" strike="noStrike" cap="none" normalizeH="0" baseline="0">
                <a:ln>
                  <a:noFill/>
                </a:ln>
                <a:solidFill>
                  <a:schemeClr val="tx1"/>
                </a:solidFill>
                <a:effectLst/>
                <a:latin typeface="Arial" panose="020B0604020202090204" pitchFamily="34" charset="0"/>
                <a:ea typeface="宋体" panose="02010600030101010101" pitchFamily="2" charset="-122"/>
              </a:endParaRPr>
            </a:p>
          </p:txBody>
        </p:sp>
        <p:sp>
          <p:nvSpPr>
            <p:cNvPr id="60" name="TextBox 34"/>
            <p:cNvSpPr txBox="1"/>
            <p:nvPr/>
          </p:nvSpPr>
          <p:spPr>
            <a:xfrm>
              <a:off x="2545265" y="2412754"/>
              <a:ext cx="1944216" cy="1569660"/>
            </a:xfrm>
            <a:prstGeom prst="rect">
              <a:avLst/>
            </a:prstGeom>
            <a:grpFill/>
          </p:spPr>
          <p:txBody>
            <a:bodyPr wrap="square" rtlCol="0">
              <a:spAutoFit/>
            </a:bodyPr>
            <a:lstStyle/>
            <a:p>
              <a:r>
                <a:rPr lang="zh-CN" altLang="en-US" sz="2400" dirty="0"/>
                <a:t>初等行变化</a:t>
              </a:r>
              <a:endParaRPr lang="en-US" altLang="zh-CN" sz="2400" dirty="0"/>
            </a:p>
            <a:p>
              <a:endParaRPr lang="en-US" altLang="zh-CN" sz="2400" dirty="0"/>
            </a:p>
            <a:p>
              <a:r>
                <a:rPr lang="en-US" altLang="zh-CN" sz="2400" dirty="0"/>
                <a:t>[</a:t>
              </a:r>
              <a:r>
                <a:rPr lang="zh-CN" altLang="en-US" sz="2400" dirty="0"/>
                <a:t>不会改变</a:t>
              </a:r>
              <a:endParaRPr lang="en-US" altLang="zh-CN" sz="2400" dirty="0"/>
            </a:p>
            <a:p>
              <a:r>
                <a:rPr lang="zh-CN" altLang="en-US" sz="2400" dirty="0"/>
                <a:t>问题的性质</a:t>
              </a:r>
              <a:r>
                <a:rPr lang="en-US" altLang="zh-CN" sz="2400" dirty="0"/>
                <a:t>]</a:t>
              </a:r>
              <a:endParaRPr lang="zh-CN" altLang="en-US" sz="2400" dirty="0"/>
            </a:p>
          </p:txBody>
        </p:sp>
      </p:grpSp>
      <p:sp>
        <p:nvSpPr>
          <p:cNvPr id="61" name="TextBox 21"/>
          <p:cNvSpPr txBox="1"/>
          <p:nvPr/>
        </p:nvSpPr>
        <p:spPr>
          <a:xfrm>
            <a:off x="5383763" y="3079320"/>
            <a:ext cx="6470230" cy="1692771"/>
          </a:xfrm>
          <a:prstGeom prst="rect">
            <a:avLst/>
          </a:prstGeom>
          <a:noFill/>
        </p:spPr>
        <p:txBody>
          <a:bodyPr wrap="square" rtlCol="0">
            <a:spAutoFit/>
          </a:bodyPr>
          <a:lstStyle/>
          <a:p>
            <a:r>
              <a:rPr lang="zh-CN" altLang="en-US" sz="2400" b="1" dirty="0">
                <a:solidFill>
                  <a:srgbClr val="060606"/>
                </a:solidFill>
              </a:rPr>
              <a:t>行最简阶梯形矩阵</a:t>
            </a:r>
            <a:r>
              <a:rPr lang="en-US" altLang="zh-CN" sz="4000" b="1" dirty="0" err="1">
                <a:solidFill>
                  <a:srgbClr val="060606"/>
                </a:solidFill>
              </a:rPr>
              <a:t>A’</a:t>
            </a:r>
            <a:r>
              <a:rPr lang="en-US" altLang="zh-CN" sz="4000" baseline="-25000" dirty="0" err="1">
                <a:solidFill>
                  <a:srgbClr val="060606"/>
                </a:solidFill>
              </a:rPr>
              <a:t>m</a:t>
            </a:r>
            <a:r>
              <a:rPr lang="en-US" altLang="zh-CN" sz="4000" baseline="-25000" dirty="0">
                <a:solidFill>
                  <a:srgbClr val="060606"/>
                </a:solidFill>
              </a:rPr>
              <a:t>× n</a:t>
            </a:r>
            <a:endParaRPr lang="en-US" altLang="zh-CN" sz="4000" baseline="-25000" dirty="0">
              <a:solidFill>
                <a:srgbClr val="060606"/>
              </a:solidFill>
            </a:endParaRPr>
          </a:p>
          <a:p>
            <a:r>
              <a:rPr lang="zh-CN" altLang="en-US" sz="2400" dirty="0">
                <a:solidFill>
                  <a:srgbClr val="060606"/>
                </a:solidFill>
              </a:rPr>
              <a:t>，含基矩阵</a:t>
            </a:r>
            <a:r>
              <a:rPr lang="en-US" altLang="zh-CN" sz="2400" dirty="0">
                <a:solidFill>
                  <a:srgbClr val="060606"/>
                </a:solidFill>
              </a:rPr>
              <a:t>:</a:t>
            </a:r>
            <a:r>
              <a:rPr lang="en-US" altLang="zh-CN" sz="4000" b="1" dirty="0" err="1">
                <a:solidFill>
                  <a:srgbClr val="060606"/>
                </a:solidFill>
              </a:rPr>
              <a:t>B</a:t>
            </a:r>
            <a:r>
              <a:rPr lang="en-US" altLang="zh-CN" sz="4000" baseline="-25000" dirty="0" err="1">
                <a:solidFill>
                  <a:srgbClr val="060606"/>
                </a:solidFill>
              </a:rPr>
              <a:t>m</a:t>
            </a:r>
            <a:r>
              <a:rPr lang="en-US" altLang="zh-CN" sz="4000" baseline="-25000" dirty="0">
                <a:solidFill>
                  <a:srgbClr val="060606"/>
                </a:solidFill>
              </a:rPr>
              <a:t>× m</a:t>
            </a:r>
            <a:endParaRPr lang="en-US" altLang="zh-CN" sz="4000" baseline="-25000" dirty="0">
              <a:solidFill>
                <a:srgbClr val="060606"/>
              </a:solidFill>
            </a:endParaRPr>
          </a:p>
          <a:p>
            <a:r>
              <a:rPr lang="en-US" altLang="zh-CN" sz="2400" dirty="0">
                <a:solidFill>
                  <a:srgbClr val="060606"/>
                </a:solidFill>
              </a:rPr>
              <a:t>B</a:t>
            </a:r>
            <a:r>
              <a:rPr lang="zh-CN" altLang="en-US" sz="2400" dirty="0">
                <a:solidFill>
                  <a:srgbClr val="060606"/>
                </a:solidFill>
              </a:rPr>
              <a:t>是</a:t>
            </a:r>
            <a:r>
              <a:rPr lang="en-US" altLang="zh-CN" sz="2400" dirty="0">
                <a:solidFill>
                  <a:srgbClr val="060606"/>
                </a:solidFill>
              </a:rPr>
              <a:t>A</a:t>
            </a:r>
            <a:r>
              <a:rPr lang="zh-CN" altLang="en-US" sz="2400" dirty="0">
                <a:solidFill>
                  <a:srgbClr val="060606"/>
                </a:solidFill>
              </a:rPr>
              <a:t>的满秩子矩阵</a:t>
            </a:r>
            <a:r>
              <a:rPr lang="en-US" altLang="zh-CN" sz="2400" dirty="0">
                <a:solidFill>
                  <a:srgbClr val="060606"/>
                </a:solidFill>
              </a:rPr>
              <a:t>,</a:t>
            </a:r>
            <a:r>
              <a:rPr lang="zh-CN" altLang="en-US" sz="2400" dirty="0">
                <a:solidFill>
                  <a:srgbClr val="060606"/>
                </a:solidFill>
              </a:rPr>
              <a:t>也是线性规划问题的一个基</a:t>
            </a:r>
            <a:endParaRPr lang="zh-CN" altLang="en-US" sz="2400" dirty="0"/>
          </a:p>
        </p:txBody>
      </p:sp>
      <p:sp>
        <p:nvSpPr>
          <p:cNvPr id="62" name="TextBox 39"/>
          <p:cNvSpPr txBox="1"/>
          <p:nvPr/>
        </p:nvSpPr>
        <p:spPr>
          <a:xfrm>
            <a:off x="2447255" y="5653334"/>
            <a:ext cx="2347205" cy="461665"/>
          </a:xfrm>
          <a:prstGeom prst="rect">
            <a:avLst/>
          </a:prstGeom>
          <a:noFill/>
        </p:spPr>
        <p:txBody>
          <a:bodyPr wrap="square" rtlCol="0">
            <a:spAutoFit/>
          </a:bodyPr>
          <a:lstStyle/>
          <a:p>
            <a:r>
              <a:rPr lang="zh-CN" altLang="en-US" sz="2400" dirty="0"/>
              <a:t>基可行解</a:t>
            </a:r>
            <a:r>
              <a:rPr lang="en-US" altLang="zh-CN" sz="2400" b="1" dirty="0"/>
              <a:t>X</a:t>
            </a:r>
            <a:endParaRPr lang="zh-CN" altLang="en-US" sz="2400" b="1" dirty="0"/>
          </a:p>
        </p:txBody>
      </p:sp>
      <p:grpSp>
        <p:nvGrpSpPr>
          <p:cNvPr id="63" name="组合 62"/>
          <p:cNvGrpSpPr/>
          <p:nvPr/>
        </p:nvGrpSpPr>
        <p:grpSpPr>
          <a:xfrm>
            <a:off x="824481" y="1400023"/>
            <a:ext cx="9201043" cy="533673"/>
            <a:chOff x="7452320" y="5733256"/>
            <a:chExt cx="7056784" cy="533673"/>
          </a:xfrm>
          <a:noFill/>
        </p:grpSpPr>
        <p:sp>
          <p:nvSpPr>
            <p:cNvPr id="64" name="TextBox 46"/>
            <p:cNvSpPr txBox="1"/>
            <p:nvPr/>
          </p:nvSpPr>
          <p:spPr>
            <a:xfrm>
              <a:off x="7452320" y="5733256"/>
              <a:ext cx="1440160" cy="461665"/>
            </a:xfrm>
            <a:prstGeom prst="rect">
              <a:avLst/>
            </a:prstGeom>
            <a:grpFill/>
          </p:spPr>
          <p:txBody>
            <a:bodyPr wrap="square" rtlCol="0">
              <a:spAutoFit/>
            </a:bodyPr>
            <a:lstStyle/>
            <a:p>
              <a:r>
                <a:rPr lang="zh-CN" altLang="en-US" sz="2400" dirty="0"/>
                <a:t>可行解</a:t>
              </a:r>
              <a:r>
                <a:rPr lang="en-US" altLang="zh-CN" sz="2400" b="1" dirty="0"/>
                <a:t>X</a:t>
              </a:r>
              <a:endParaRPr lang="zh-CN" altLang="en-US" sz="2400" b="1" dirty="0"/>
            </a:p>
          </p:txBody>
        </p:sp>
        <p:sp>
          <p:nvSpPr>
            <p:cNvPr id="65" name="TextBox 47"/>
            <p:cNvSpPr txBox="1"/>
            <p:nvPr/>
          </p:nvSpPr>
          <p:spPr>
            <a:xfrm>
              <a:off x="10044608" y="5775647"/>
              <a:ext cx="1800200" cy="461665"/>
            </a:xfrm>
            <a:prstGeom prst="rect">
              <a:avLst/>
            </a:prstGeom>
            <a:grpFill/>
          </p:spPr>
          <p:txBody>
            <a:bodyPr wrap="square" rtlCol="0">
              <a:spAutoFit/>
            </a:bodyPr>
            <a:lstStyle/>
            <a:p>
              <a:r>
                <a:rPr lang="zh-CN" altLang="en-US" sz="2400" dirty="0">
                  <a:solidFill>
                    <a:srgbClr val="0322BD"/>
                  </a:solidFill>
                </a:rPr>
                <a:t>基可行解</a:t>
              </a:r>
              <a:r>
                <a:rPr lang="en-US" altLang="zh-CN" sz="2400" b="1" dirty="0"/>
                <a:t>X</a:t>
              </a:r>
              <a:endParaRPr lang="zh-CN" altLang="en-US" sz="2400" b="1" dirty="0"/>
            </a:p>
          </p:txBody>
        </p:sp>
        <p:sp>
          <p:nvSpPr>
            <p:cNvPr id="66" name="TextBox 48"/>
            <p:cNvSpPr txBox="1"/>
            <p:nvPr/>
          </p:nvSpPr>
          <p:spPr>
            <a:xfrm>
              <a:off x="12708904" y="5805264"/>
              <a:ext cx="1800200" cy="461665"/>
            </a:xfrm>
            <a:prstGeom prst="rect">
              <a:avLst/>
            </a:prstGeom>
            <a:grpFill/>
          </p:spPr>
          <p:txBody>
            <a:bodyPr wrap="square" rtlCol="0">
              <a:spAutoFit/>
            </a:bodyPr>
            <a:lstStyle/>
            <a:p>
              <a:r>
                <a:rPr lang="zh-CN" altLang="en-US" sz="2400" dirty="0"/>
                <a:t>最优解</a:t>
              </a:r>
              <a:r>
                <a:rPr lang="en-US" altLang="zh-CN" sz="2400" b="1" dirty="0"/>
                <a:t>X</a:t>
              </a:r>
              <a:endParaRPr lang="zh-CN" altLang="en-US" sz="2400" b="1" dirty="0"/>
            </a:p>
          </p:txBody>
        </p:sp>
        <p:sp>
          <p:nvSpPr>
            <p:cNvPr id="67" name="右箭头 49"/>
            <p:cNvSpPr/>
            <p:nvPr/>
          </p:nvSpPr>
          <p:spPr bwMode="auto">
            <a:xfrm>
              <a:off x="9216008" y="5877272"/>
              <a:ext cx="540568" cy="216024"/>
            </a:xfrm>
            <a:prstGeom prst="rightArrow">
              <a:avLst/>
            </a:prstGeom>
            <a:grp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endParaRPr kumimoji="0" lang="zh-CN" altLang="en-US" sz="1800" b="0" i="0" u="none" strike="noStrike" cap="none" normalizeH="0" baseline="0">
                <a:ln>
                  <a:noFill/>
                </a:ln>
                <a:solidFill>
                  <a:schemeClr val="tx1"/>
                </a:solidFill>
                <a:effectLst/>
                <a:latin typeface="Arial" panose="020B0604020202090204" pitchFamily="34" charset="0"/>
                <a:ea typeface="宋体" panose="02010600030101010101" pitchFamily="2" charset="-122"/>
              </a:endParaRPr>
            </a:p>
          </p:txBody>
        </p:sp>
        <p:sp>
          <p:nvSpPr>
            <p:cNvPr id="68" name="右箭头 50"/>
            <p:cNvSpPr/>
            <p:nvPr/>
          </p:nvSpPr>
          <p:spPr bwMode="auto">
            <a:xfrm>
              <a:off x="11988824" y="5877272"/>
              <a:ext cx="540568" cy="216024"/>
            </a:xfrm>
            <a:prstGeom prst="rightArrow">
              <a:avLst/>
            </a:prstGeom>
            <a:grp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endParaRPr kumimoji="0" lang="zh-CN" altLang="en-US" sz="1800" b="0" i="0" u="none" strike="noStrike" cap="none" normalizeH="0" baseline="0">
                <a:ln>
                  <a:noFill/>
                </a:ln>
                <a:solidFill>
                  <a:schemeClr val="tx1"/>
                </a:solidFill>
                <a:effectLst/>
                <a:latin typeface="Arial" panose="020B0604020202090204" pitchFamily="34" charset="0"/>
                <a:ea typeface="宋体" panose="02010600030101010101" pitchFamily="2" charset="-122"/>
              </a:endParaRPr>
            </a:p>
          </p:txBody>
        </p:sp>
      </p:grpSp>
      <p:sp>
        <p:nvSpPr>
          <p:cNvPr id="69" name="TextBox 52"/>
          <p:cNvSpPr txBox="1"/>
          <p:nvPr/>
        </p:nvSpPr>
        <p:spPr>
          <a:xfrm>
            <a:off x="824481" y="2283154"/>
            <a:ext cx="10543038" cy="523220"/>
          </a:xfrm>
          <a:prstGeom prst="rect">
            <a:avLst/>
          </a:prstGeom>
          <a:noFill/>
        </p:spPr>
        <p:txBody>
          <a:bodyPr wrap="square" rtlCol="0">
            <a:spAutoFit/>
          </a:bodyPr>
          <a:lstStyle/>
          <a:p>
            <a:r>
              <a:rPr lang="en-US" altLang="zh-CN" sz="2800" dirty="0"/>
              <a:t>Q</a:t>
            </a:r>
            <a:r>
              <a:rPr lang="zh-CN" altLang="en-US" sz="2800" dirty="0"/>
              <a:t>：如何得到基可行解</a:t>
            </a:r>
            <a:r>
              <a:rPr lang="en-US" altLang="zh-CN" sz="2800" b="1" dirty="0"/>
              <a:t>X</a:t>
            </a:r>
            <a:r>
              <a:rPr lang="zh-CN" altLang="en-US" sz="2800" b="1" dirty="0"/>
              <a:t>？</a:t>
            </a:r>
            <a:r>
              <a:rPr lang="en-US" altLang="zh-CN" sz="2800" dirty="0"/>
              <a:t>A</a:t>
            </a:r>
            <a:r>
              <a:rPr lang="zh-CN" altLang="en-US" sz="2800" dirty="0"/>
              <a:t>：遵循下列过程就能找到一个基可行解。</a:t>
            </a:r>
            <a:endParaRPr lang="zh-CN" altLang="en-US" sz="2800" dirty="0"/>
          </a:p>
        </p:txBody>
      </p:sp>
      <p:grpSp>
        <p:nvGrpSpPr>
          <p:cNvPr id="70" name="组合 69"/>
          <p:cNvGrpSpPr/>
          <p:nvPr/>
        </p:nvGrpSpPr>
        <p:grpSpPr>
          <a:xfrm>
            <a:off x="4283968" y="4772093"/>
            <a:ext cx="7083550" cy="1313289"/>
            <a:chOff x="7884369" y="4419967"/>
            <a:chExt cx="5432763" cy="1313289"/>
          </a:xfrm>
          <a:noFill/>
        </p:grpSpPr>
        <p:sp>
          <p:nvSpPr>
            <p:cNvPr id="71" name="TextBox 38"/>
            <p:cNvSpPr txBox="1"/>
            <p:nvPr/>
          </p:nvSpPr>
          <p:spPr>
            <a:xfrm>
              <a:off x="9817205" y="4614946"/>
              <a:ext cx="3499927" cy="830997"/>
            </a:xfrm>
            <a:prstGeom prst="rect">
              <a:avLst/>
            </a:prstGeom>
            <a:grpFill/>
          </p:spPr>
          <p:txBody>
            <a:bodyPr wrap="square" rtlCol="0">
              <a:spAutoFit/>
            </a:bodyPr>
            <a:lstStyle/>
            <a:p>
              <a:r>
                <a:rPr lang="zh-CN" altLang="en-US" sz="2400" dirty="0"/>
                <a:t>令非基变量 </a:t>
              </a:r>
              <a:r>
                <a:rPr lang="en-US" altLang="zh-CN" sz="2400" dirty="0"/>
                <a:t>= 0</a:t>
              </a:r>
              <a:r>
                <a:rPr lang="zh-CN" altLang="en-US" sz="2400" dirty="0"/>
                <a:t>，令基变量等于其所在方程的右端值</a:t>
              </a:r>
              <a:endParaRPr lang="zh-CN" altLang="en-US" sz="2400" dirty="0"/>
            </a:p>
          </p:txBody>
        </p:sp>
        <p:sp>
          <p:nvSpPr>
            <p:cNvPr id="72" name="直角上箭头 36"/>
            <p:cNvSpPr/>
            <p:nvPr/>
          </p:nvSpPr>
          <p:spPr bwMode="auto">
            <a:xfrm rot="16200000" flipH="1">
              <a:off x="8199832" y="4104504"/>
              <a:ext cx="1313289" cy="1944216"/>
            </a:xfrm>
            <a:prstGeom prst="bentUpArrow">
              <a:avLst/>
            </a:prstGeom>
            <a:gr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endParaRPr kumimoji="0" lang="zh-CN" altLang="en-US" sz="1800" b="0" i="0" u="none" strike="noStrike" cap="none" normalizeH="0" baseline="0">
                <a:ln>
                  <a:noFill/>
                </a:ln>
                <a:solidFill>
                  <a:schemeClr val="tx1"/>
                </a:solidFill>
                <a:effectLst/>
                <a:latin typeface="Arial" panose="020B060402020209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20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9">
                                            <p:bg/>
                                          </p:spTgt>
                                        </p:tgtEl>
                                        <p:attrNameLst>
                                          <p:attrName>style.visibility</p:attrName>
                                        </p:attrNameLst>
                                      </p:cBhvr>
                                      <p:to>
                                        <p:strVal val="visible"/>
                                      </p:to>
                                    </p:set>
                                    <p:animEffect transition="in" filter="fade">
                                      <p:cBhvr>
                                        <p:cTn id="12" dur="2000"/>
                                        <p:tgtEl>
                                          <p:spTgt spid="69">
                                            <p:bg/>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9">
                                            <p:txEl>
                                              <p:pRg st="0" end="0"/>
                                            </p:txEl>
                                          </p:spTgt>
                                        </p:tgtEl>
                                        <p:attrNameLst>
                                          <p:attrName>style.visibility</p:attrName>
                                        </p:attrNameLst>
                                      </p:cBhvr>
                                      <p:to>
                                        <p:strVal val="visible"/>
                                      </p:to>
                                    </p:set>
                                    <p:animEffect transition="in" filter="fade">
                                      <p:cBhvr>
                                        <p:cTn id="15" dur="2000"/>
                                        <p:tgtEl>
                                          <p:spTgt spid="6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7">
                                            <p:bg/>
                                          </p:spTgt>
                                        </p:tgtEl>
                                        <p:attrNameLst>
                                          <p:attrName>style.visibility</p:attrName>
                                        </p:attrNameLst>
                                      </p:cBhvr>
                                      <p:to>
                                        <p:strVal val="visible"/>
                                      </p:to>
                                    </p:set>
                                    <p:animEffect transition="in" filter="fade">
                                      <p:cBhvr>
                                        <p:cTn id="20" dur="2000"/>
                                        <p:tgtEl>
                                          <p:spTgt spid="57">
                                            <p:bg/>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7">
                                            <p:txEl>
                                              <p:pRg st="0" end="0"/>
                                            </p:txEl>
                                          </p:spTgt>
                                        </p:tgtEl>
                                        <p:attrNameLst>
                                          <p:attrName>style.visibility</p:attrName>
                                        </p:attrNameLst>
                                      </p:cBhvr>
                                      <p:to>
                                        <p:strVal val="visible"/>
                                      </p:to>
                                    </p:set>
                                    <p:animEffect transition="in" filter="fade">
                                      <p:cBhvr>
                                        <p:cTn id="23" dur="2000"/>
                                        <p:tgtEl>
                                          <p:spTgt spid="57">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7">
                                            <p:txEl>
                                              <p:pRg st="1" end="1"/>
                                            </p:txEl>
                                          </p:spTgt>
                                        </p:tgtEl>
                                        <p:attrNameLst>
                                          <p:attrName>style.visibility</p:attrName>
                                        </p:attrNameLst>
                                      </p:cBhvr>
                                      <p:to>
                                        <p:strVal val="visible"/>
                                      </p:to>
                                    </p:set>
                                    <p:animEffect transition="in" filter="fade">
                                      <p:cBhvr>
                                        <p:cTn id="26" dur="2000"/>
                                        <p:tgtEl>
                                          <p:spTgt spid="57">
                                            <p:txEl>
                                              <p:pRg st="1" end="1"/>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7">
                                            <p:txEl>
                                              <p:pRg st="2" end="2"/>
                                            </p:txEl>
                                          </p:spTgt>
                                        </p:tgtEl>
                                        <p:attrNameLst>
                                          <p:attrName>style.visibility</p:attrName>
                                        </p:attrNameLst>
                                      </p:cBhvr>
                                      <p:to>
                                        <p:strVal val="visible"/>
                                      </p:to>
                                    </p:set>
                                    <p:animEffect transition="in" filter="fade">
                                      <p:cBhvr>
                                        <p:cTn id="29" dur="2000"/>
                                        <p:tgtEl>
                                          <p:spTgt spid="57">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fade">
                                      <p:cBhvr>
                                        <p:cTn id="34" dur="2000"/>
                                        <p:tgtEl>
                                          <p:spTgt spid="5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1">
                                            <p:bg/>
                                          </p:spTgt>
                                        </p:tgtEl>
                                        <p:attrNameLst>
                                          <p:attrName>style.visibility</p:attrName>
                                        </p:attrNameLst>
                                      </p:cBhvr>
                                      <p:to>
                                        <p:strVal val="visible"/>
                                      </p:to>
                                    </p:set>
                                    <p:animEffect transition="in" filter="fade">
                                      <p:cBhvr>
                                        <p:cTn id="39" dur="2000"/>
                                        <p:tgtEl>
                                          <p:spTgt spid="61">
                                            <p:bg/>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1">
                                            <p:txEl>
                                              <p:pRg st="0" end="0"/>
                                            </p:txEl>
                                          </p:spTgt>
                                        </p:tgtEl>
                                        <p:attrNameLst>
                                          <p:attrName>style.visibility</p:attrName>
                                        </p:attrNameLst>
                                      </p:cBhvr>
                                      <p:to>
                                        <p:strVal val="visible"/>
                                      </p:to>
                                    </p:set>
                                    <p:animEffect transition="in" filter="fade">
                                      <p:cBhvr>
                                        <p:cTn id="42" dur="2000"/>
                                        <p:tgtEl>
                                          <p:spTgt spid="61">
                                            <p:txEl>
                                              <p:pRg st="0" end="0"/>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1">
                                            <p:txEl>
                                              <p:pRg st="1" end="1"/>
                                            </p:txEl>
                                          </p:spTgt>
                                        </p:tgtEl>
                                        <p:attrNameLst>
                                          <p:attrName>style.visibility</p:attrName>
                                        </p:attrNameLst>
                                      </p:cBhvr>
                                      <p:to>
                                        <p:strVal val="visible"/>
                                      </p:to>
                                    </p:set>
                                    <p:animEffect transition="in" filter="fade">
                                      <p:cBhvr>
                                        <p:cTn id="45" dur="2000"/>
                                        <p:tgtEl>
                                          <p:spTgt spid="61">
                                            <p:txEl>
                                              <p:pRg st="1" end="1"/>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1">
                                            <p:txEl>
                                              <p:pRg st="2" end="2"/>
                                            </p:txEl>
                                          </p:spTgt>
                                        </p:tgtEl>
                                        <p:attrNameLst>
                                          <p:attrName>style.visibility</p:attrName>
                                        </p:attrNameLst>
                                      </p:cBhvr>
                                      <p:to>
                                        <p:strVal val="visible"/>
                                      </p:to>
                                    </p:set>
                                    <p:animEffect transition="in" filter="fade">
                                      <p:cBhvr>
                                        <p:cTn id="48" dur="2000"/>
                                        <p:tgtEl>
                                          <p:spTgt spid="61">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fade">
                                      <p:cBhvr>
                                        <p:cTn id="53" dur="2000"/>
                                        <p:tgtEl>
                                          <p:spTgt spid="70"/>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build="allAtOnce"/>
      <p:bldP spid="61" grpId="0" animBg="1" build="allAtOnce"/>
      <p:bldP spid="62" grpId="0"/>
      <p:bldP spid="69" grpId="0" animBg="1" build="allAtOnce"/>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722206" y="2012693"/>
            <a:ext cx="6097554" cy="1446550"/>
          </a:xfrm>
          <a:prstGeom prst="rect">
            <a:avLst/>
          </a:prstGeom>
          <a:noFill/>
        </p:spPr>
        <p:txBody>
          <a:bodyPr wrap="square">
            <a:spAutoFit/>
          </a:bodyPr>
          <a:lstStyle/>
          <a:p>
            <a:pPr algn="ctr"/>
            <a:r>
              <a:rPr lang="zh-CN" altLang="en-US" sz="4400" dirty="0"/>
              <a:t>下面，求解线性规划问题的各种算法</a:t>
            </a:r>
            <a:endParaRPr lang="zh-CN" altLang="en-US" sz="4400" dirty="0"/>
          </a:p>
        </p:txBody>
      </p:sp>
      <p:sp>
        <p:nvSpPr>
          <p:cNvPr id="4" name="箭头: 下 3"/>
          <p:cNvSpPr/>
          <p:nvPr/>
        </p:nvSpPr>
        <p:spPr>
          <a:xfrm>
            <a:off x="5206482" y="3610947"/>
            <a:ext cx="1483567" cy="466531"/>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7888" y="692697"/>
            <a:ext cx="7886700" cy="2852737"/>
          </a:xfrm>
        </p:spPr>
        <p:txBody>
          <a:bodyPr/>
          <a:lstStyle/>
          <a:p>
            <a:pPr algn="ctr"/>
            <a:r>
              <a:rPr lang="zh-CN" altLang="en-US" dirty="0"/>
              <a:t>一，两个决策变量问题的</a:t>
            </a:r>
            <a:r>
              <a:rPr lang="zh-CN" altLang="zh-CN" dirty="0"/>
              <a:t>图解法</a:t>
            </a:r>
            <a:r>
              <a:rPr lang="zh-CN" altLang="en-US" dirty="0"/>
              <a:t>及其结论</a:t>
            </a:r>
            <a:endParaRPr lang="zh-CN" altLang="en-US" dirty="0"/>
          </a:p>
        </p:txBody>
      </p:sp>
      <p:sp>
        <p:nvSpPr>
          <p:cNvPr id="3" name="文本占位符 2"/>
          <p:cNvSpPr>
            <a:spLocks noGrp="1"/>
          </p:cNvSpPr>
          <p:nvPr>
            <p:ph type="body" idx="1"/>
          </p:nvPr>
        </p:nvSpPr>
        <p:spPr>
          <a:xfrm>
            <a:off x="2147887" y="3751561"/>
            <a:ext cx="8354395" cy="2736304"/>
          </a:xfrm>
        </p:spPr>
        <p:txBody>
          <a:bodyPr/>
          <a:lstStyle/>
          <a:p>
            <a:r>
              <a:rPr lang="en-US" altLang="zh-CN" dirty="0">
                <a:solidFill>
                  <a:srgbClr val="0322BD"/>
                </a:solidFill>
              </a:rPr>
              <a:t>1.【</a:t>
            </a:r>
            <a:r>
              <a:rPr lang="zh-CN" altLang="en-US" dirty="0">
                <a:solidFill>
                  <a:srgbClr val="0322BD"/>
                </a:solidFill>
              </a:rPr>
              <a:t>适用范围</a:t>
            </a:r>
            <a:r>
              <a:rPr lang="en-US" altLang="zh-CN" dirty="0">
                <a:solidFill>
                  <a:srgbClr val="0322BD"/>
                </a:solidFill>
              </a:rPr>
              <a:t>】</a:t>
            </a:r>
            <a:r>
              <a:rPr lang="zh-CN" altLang="en-US" dirty="0">
                <a:solidFill>
                  <a:srgbClr val="0322BD"/>
                </a:solidFill>
              </a:rPr>
              <a:t>对于决策变量只有</a:t>
            </a:r>
            <a:r>
              <a:rPr lang="en-US" altLang="zh-CN" dirty="0">
                <a:solidFill>
                  <a:srgbClr val="0322BD"/>
                </a:solidFill>
              </a:rPr>
              <a:t>2</a:t>
            </a:r>
            <a:r>
              <a:rPr lang="zh-CN" altLang="en-US" dirty="0">
                <a:solidFill>
                  <a:srgbClr val="0322BD"/>
                </a:solidFill>
              </a:rPr>
              <a:t>个的</a:t>
            </a:r>
            <a:r>
              <a:rPr lang="en-US" altLang="zh-CN" dirty="0">
                <a:solidFill>
                  <a:srgbClr val="0322BD"/>
                </a:solidFill>
              </a:rPr>
              <a:t>LPQ</a:t>
            </a:r>
            <a:r>
              <a:rPr lang="zh-CN" altLang="en-US" dirty="0">
                <a:solidFill>
                  <a:srgbClr val="0322BD"/>
                </a:solidFill>
              </a:rPr>
              <a:t>，称为两个决策变量问题。可 采用图解法解决这类问题，且无须标准化。</a:t>
            </a:r>
            <a:endParaRPr lang="en-US" altLang="zh-CN" dirty="0">
              <a:solidFill>
                <a:srgbClr val="0322BD"/>
              </a:solidFill>
            </a:endParaRPr>
          </a:p>
          <a:p>
            <a:r>
              <a:rPr lang="en-US" altLang="zh-CN" dirty="0">
                <a:solidFill>
                  <a:srgbClr val="0322BD"/>
                </a:solidFill>
              </a:rPr>
              <a:t>2.</a:t>
            </a:r>
            <a:r>
              <a:rPr lang="zh-CN" altLang="en-US" dirty="0">
                <a:solidFill>
                  <a:srgbClr val="0322BD"/>
                </a:solidFill>
              </a:rPr>
              <a:t>用“例</a:t>
            </a:r>
            <a:r>
              <a:rPr lang="en-US" altLang="zh-CN" dirty="0">
                <a:solidFill>
                  <a:srgbClr val="0322BD"/>
                </a:solidFill>
              </a:rPr>
              <a:t>1 </a:t>
            </a:r>
            <a:r>
              <a:rPr lang="zh-CN" altLang="en-US" dirty="0">
                <a:solidFill>
                  <a:srgbClr val="0322BD"/>
                </a:solidFill>
              </a:rPr>
              <a:t>银行投资问题”来说明图解法。</a:t>
            </a:r>
            <a:endParaRPr lang="en-US" altLang="zh-CN" dirty="0">
              <a:solidFill>
                <a:srgbClr val="0322BD"/>
              </a:solidFill>
            </a:endParaRPr>
          </a:p>
          <a:p>
            <a:r>
              <a:rPr lang="en-US" altLang="zh-CN" dirty="0">
                <a:solidFill>
                  <a:srgbClr val="0322BD"/>
                </a:solidFill>
              </a:rPr>
              <a:t>3.</a:t>
            </a:r>
            <a:r>
              <a:rPr lang="zh-CN" altLang="en-US" dirty="0">
                <a:solidFill>
                  <a:srgbClr val="0322BD"/>
                </a:solidFill>
              </a:rPr>
              <a:t>讨论。</a:t>
            </a:r>
            <a:endParaRPr lang="en-US" altLang="zh-CN" dirty="0">
              <a:solidFill>
                <a:srgbClr val="0322BD"/>
              </a:solidFill>
            </a:endParaRPr>
          </a:p>
          <a:p>
            <a:r>
              <a:rPr lang="en-US" altLang="zh-CN" dirty="0">
                <a:solidFill>
                  <a:srgbClr val="0322BD"/>
                </a:solidFill>
              </a:rPr>
              <a:t>4.</a:t>
            </a:r>
            <a:r>
              <a:rPr lang="zh-CN" altLang="en-US" dirty="0">
                <a:solidFill>
                  <a:srgbClr val="0322BD"/>
                </a:solidFill>
              </a:rPr>
              <a:t>结论。</a:t>
            </a:r>
            <a:endParaRPr lang="zh-CN" altLang="en-US" dirty="0">
              <a:solidFill>
                <a:srgbClr val="0322BD"/>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1</a:t>
            </a:r>
            <a:r>
              <a:rPr lang="zh-CN" altLang="en-US" dirty="0"/>
              <a:t>步：提出问题，并建模</a:t>
            </a:r>
            <a:r>
              <a:rPr lang="en-US" altLang="zh-CN" dirty="0"/>
              <a:t>LPQ</a:t>
            </a:r>
            <a:r>
              <a:rPr lang="zh-CN" altLang="en-US" dirty="0"/>
              <a:t>的数学模型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4" name="组合 3"/>
          <p:cNvGrpSpPr/>
          <p:nvPr/>
        </p:nvGrpSpPr>
        <p:grpSpPr>
          <a:xfrm>
            <a:off x="2157274" y="1894146"/>
            <a:ext cx="6915705" cy="3986162"/>
            <a:chOff x="1953087" y="1556793"/>
            <a:chExt cx="6915705" cy="3986162"/>
          </a:xfrm>
        </p:grpSpPr>
        <p:grpSp>
          <p:nvGrpSpPr>
            <p:cNvPr id="13" name="组合 12"/>
            <p:cNvGrpSpPr/>
            <p:nvPr/>
          </p:nvGrpSpPr>
          <p:grpSpPr>
            <a:xfrm>
              <a:off x="2279576" y="1556793"/>
              <a:ext cx="6147072" cy="2947475"/>
              <a:chOff x="899592" y="3068960"/>
              <a:chExt cx="4577393" cy="2605075"/>
            </a:xfrm>
          </p:grpSpPr>
          <p:sp>
            <p:nvSpPr>
              <p:cNvPr id="14" name="矩形 13"/>
              <p:cNvSpPr/>
              <p:nvPr/>
            </p:nvSpPr>
            <p:spPr>
              <a:xfrm>
                <a:off x="1006833" y="3068960"/>
                <a:ext cx="4392488" cy="537529"/>
              </a:xfrm>
              <a:prstGeom prst="rect">
                <a:avLst/>
              </a:prstGeom>
            </p:spPr>
            <p:txBody>
              <a:bodyPr wrap="square">
                <a:spAutoFit/>
              </a:bodyPr>
              <a:lstStyle/>
              <a:p>
                <a:pPr marL="342900" indent="-342900" algn="ctr" fontAlgn="base">
                  <a:lnSpc>
                    <a:spcPct val="110000"/>
                  </a:lnSpc>
                  <a:spcBef>
                    <a:spcPts val="1800"/>
                  </a:spcBef>
                  <a:spcAft>
                    <a:spcPct val="0"/>
                  </a:spcAft>
                </a:pPr>
                <a:r>
                  <a:rPr lang="en-US" altLang="zh-CN" sz="3200" dirty="0">
                    <a:solidFill>
                      <a:srgbClr val="060606"/>
                    </a:solidFill>
                  </a:rPr>
                  <a:t>max Z  = 0.10L+0.05S</a:t>
                </a:r>
                <a:endParaRPr lang="en-US" altLang="zh-CN" sz="3200" dirty="0">
                  <a:solidFill>
                    <a:srgbClr val="060606"/>
                  </a:solidFill>
                </a:endParaRPr>
              </a:p>
            </p:txBody>
          </p:sp>
          <p:sp>
            <p:nvSpPr>
              <p:cNvPr id="15" name="矩形 14"/>
              <p:cNvSpPr/>
              <p:nvPr/>
            </p:nvSpPr>
            <p:spPr>
              <a:xfrm>
                <a:off x="899592" y="4437112"/>
                <a:ext cx="648072" cy="537529"/>
              </a:xfrm>
              <a:prstGeom prst="rect">
                <a:avLst/>
              </a:prstGeom>
            </p:spPr>
            <p:txBody>
              <a:bodyPr wrap="square">
                <a:spAutoFit/>
              </a:bodyPr>
              <a:lstStyle/>
              <a:p>
                <a:pPr marL="342900" indent="-342900" fontAlgn="base">
                  <a:lnSpc>
                    <a:spcPct val="110000"/>
                  </a:lnSpc>
                  <a:spcBef>
                    <a:spcPts val="1800"/>
                  </a:spcBef>
                  <a:spcAft>
                    <a:spcPct val="0"/>
                  </a:spcAft>
                </a:pPr>
                <a:r>
                  <a:rPr lang="en-US" altLang="zh-CN" sz="3200" dirty="0">
                    <a:solidFill>
                      <a:srgbClr val="060606"/>
                    </a:solidFill>
                  </a:rPr>
                  <a:t>s. t</a:t>
                </a:r>
                <a:endParaRPr lang="en-US" altLang="zh-CN" sz="3200" dirty="0">
                  <a:solidFill>
                    <a:srgbClr val="060606"/>
                  </a:solidFill>
                </a:endParaRPr>
              </a:p>
            </p:txBody>
          </p:sp>
          <p:sp>
            <p:nvSpPr>
              <p:cNvPr id="16" name="左大括号 15"/>
              <p:cNvSpPr/>
              <p:nvPr/>
            </p:nvSpPr>
            <p:spPr bwMode="auto">
              <a:xfrm>
                <a:off x="1547664" y="4102513"/>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3200">
                  <a:latin typeface="Arial" panose="020B0604020202090204" pitchFamily="34" charset="0"/>
                  <a:ea typeface="宋体" panose="02010600030101010101" pitchFamily="2" charset="-122"/>
                </a:endParaRPr>
              </a:p>
            </p:txBody>
          </p:sp>
          <p:sp>
            <p:nvSpPr>
              <p:cNvPr id="17" name="矩形 16"/>
              <p:cNvSpPr/>
              <p:nvPr/>
            </p:nvSpPr>
            <p:spPr>
              <a:xfrm>
                <a:off x="2123728" y="3861048"/>
                <a:ext cx="3274475" cy="516843"/>
              </a:xfrm>
              <a:prstGeom prst="rect">
                <a:avLst/>
              </a:prstGeom>
            </p:spPr>
            <p:txBody>
              <a:bodyPr wrap="none">
                <a:spAutoFit/>
              </a:bodyPr>
              <a:lstStyle/>
              <a:p>
                <a:r>
                  <a:rPr lang="en-US" altLang="zh-CN" sz="3200" dirty="0">
                    <a:solidFill>
                      <a:srgbClr val="060606"/>
                    </a:solidFill>
                  </a:rPr>
                  <a:t>L+S ≤100                 (1)</a:t>
                </a:r>
                <a:endParaRPr lang="zh-CN" altLang="en-US" sz="3200" dirty="0"/>
              </a:p>
            </p:txBody>
          </p:sp>
          <p:sp>
            <p:nvSpPr>
              <p:cNvPr id="18" name="矩形 17"/>
              <p:cNvSpPr/>
              <p:nvPr/>
            </p:nvSpPr>
            <p:spPr>
              <a:xfrm>
                <a:off x="2123728" y="4725144"/>
                <a:ext cx="3336546" cy="516843"/>
              </a:xfrm>
              <a:prstGeom prst="rect">
                <a:avLst/>
              </a:prstGeom>
            </p:spPr>
            <p:txBody>
              <a:bodyPr wrap="none">
                <a:spAutoFit/>
              </a:bodyPr>
              <a:lstStyle/>
              <a:p>
                <a:r>
                  <a:rPr lang="en-US" altLang="zh-CN" sz="3200" dirty="0">
                    <a:solidFill>
                      <a:srgbClr val="060606"/>
                    </a:solidFill>
                  </a:rPr>
                  <a:t>L ≥30                        (3)</a:t>
                </a:r>
                <a:endParaRPr lang="zh-CN" altLang="en-US" sz="3200" dirty="0"/>
              </a:p>
            </p:txBody>
          </p:sp>
          <p:sp>
            <p:nvSpPr>
              <p:cNvPr id="19" name="矩形 18"/>
              <p:cNvSpPr/>
              <p:nvPr/>
            </p:nvSpPr>
            <p:spPr>
              <a:xfrm>
                <a:off x="2123728" y="5157192"/>
                <a:ext cx="3353257" cy="516843"/>
              </a:xfrm>
              <a:prstGeom prst="rect">
                <a:avLst/>
              </a:prstGeom>
            </p:spPr>
            <p:txBody>
              <a:bodyPr wrap="none">
                <a:spAutoFit/>
              </a:bodyPr>
              <a:lstStyle/>
              <a:p>
                <a:r>
                  <a:rPr lang="en-US" altLang="zh-CN" sz="3200" dirty="0">
                    <a:solidFill>
                      <a:srgbClr val="060606"/>
                    </a:solidFill>
                  </a:rPr>
                  <a:t>L ≥0</a:t>
                </a:r>
                <a:r>
                  <a:rPr lang="zh-CN" altLang="en-US" sz="3200" dirty="0">
                    <a:solidFill>
                      <a:srgbClr val="060606"/>
                    </a:solidFill>
                  </a:rPr>
                  <a:t>，</a:t>
                </a:r>
                <a:r>
                  <a:rPr lang="en-US" altLang="zh-CN" sz="3200" dirty="0">
                    <a:solidFill>
                      <a:srgbClr val="060606"/>
                    </a:solidFill>
                  </a:rPr>
                  <a:t>S≥0               (4)</a:t>
                </a:r>
                <a:endParaRPr lang="zh-CN" altLang="en-US" sz="3200" dirty="0"/>
              </a:p>
            </p:txBody>
          </p:sp>
          <p:sp>
            <p:nvSpPr>
              <p:cNvPr id="20" name="矩形 19"/>
              <p:cNvSpPr/>
              <p:nvPr/>
            </p:nvSpPr>
            <p:spPr>
              <a:xfrm>
                <a:off x="2123728" y="4293096"/>
                <a:ext cx="3312673" cy="516843"/>
              </a:xfrm>
              <a:prstGeom prst="rect">
                <a:avLst/>
              </a:prstGeom>
            </p:spPr>
            <p:txBody>
              <a:bodyPr wrap="none">
                <a:spAutoFit/>
              </a:bodyPr>
              <a:lstStyle/>
              <a:p>
                <a:r>
                  <a:rPr lang="en-US" altLang="zh-CN" sz="3200" dirty="0">
                    <a:solidFill>
                      <a:srgbClr val="060606"/>
                    </a:solidFill>
                  </a:rPr>
                  <a:t>L-3S ≤0                    (2)</a:t>
                </a:r>
                <a:endParaRPr lang="zh-CN" altLang="en-US" sz="3200" dirty="0">
                  <a:solidFill>
                    <a:srgbClr val="060606"/>
                  </a:solidFill>
                </a:endParaRPr>
              </a:p>
            </p:txBody>
          </p:sp>
        </p:grpSp>
        <p:sp>
          <p:nvSpPr>
            <p:cNvPr id="3" name="文本框 2"/>
            <p:cNvSpPr txBox="1"/>
            <p:nvPr/>
          </p:nvSpPr>
          <p:spPr>
            <a:xfrm>
              <a:off x="1953087" y="4958180"/>
              <a:ext cx="6915705" cy="584775"/>
            </a:xfrm>
            <a:prstGeom prst="rect">
              <a:avLst/>
            </a:prstGeom>
            <a:noFill/>
          </p:spPr>
          <p:txBody>
            <a:bodyPr wrap="square" rtlCol="0">
              <a:spAutoFit/>
            </a:bodyPr>
            <a:lstStyle/>
            <a:p>
              <a:pPr algn="ctr"/>
              <a:r>
                <a:rPr lang="zh-CN" altLang="en-US" sz="3200" dirty="0"/>
                <a:t>数学模型</a:t>
              </a:r>
              <a:r>
                <a:rPr lang="en-US" altLang="zh-CN" sz="3200" dirty="0"/>
                <a:t>3</a:t>
              </a:r>
              <a:r>
                <a:rPr lang="zh-CN" altLang="en-US" sz="3200" dirty="0"/>
                <a:t>：银行投资问题的数学表达</a:t>
              </a:r>
              <a:endParaRPr lang="zh-CN" altLang="en-US" sz="3200" dirty="0"/>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2</a:t>
            </a:r>
            <a:r>
              <a:rPr lang="zh-CN" altLang="en-US" dirty="0"/>
              <a:t>步：现在以</a:t>
            </a:r>
            <a:r>
              <a:rPr lang="en-US" altLang="zh-CN" dirty="0"/>
              <a:t>L</a:t>
            </a:r>
            <a:r>
              <a:rPr lang="zh-CN" altLang="en-US" dirty="0"/>
              <a:t>为横轴，</a:t>
            </a:r>
            <a:r>
              <a:rPr lang="en-US" altLang="zh-CN" dirty="0"/>
              <a:t>S</a:t>
            </a:r>
            <a:r>
              <a:rPr lang="zh-CN" altLang="en-US" dirty="0"/>
              <a:t>为纵轴，作一平面直角坐标系。</a:t>
            </a:r>
            <a:endParaRPr lang="zh-CN" altLang="en-US" dirty="0"/>
          </a:p>
        </p:txBody>
      </p:sp>
      <p:grpSp>
        <p:nvGrpSpPr>
          <p:cNvPr id="10" name="组合 9"/>
          <p:cNvGrpSpPr/>
          <p:nvPr/>
        </p:nvGrpSpPr>
        <p:grpSpPr>
          <a:xfrm>
            <a:off x="3503712" y="2268980"/>
            <a:ext cx="5566412" cy="3547556"/>
            <a:chOff x="1979712" y="1700808"/>
            <a:chExt cx="5566412" cy="3547556"/>
          </a:xfrm>
        </p:grpSpPr>
        <p:cxnSp>
          <p:nvCxnSpPr>
            <p:cNvPr id="5" name="直接箭头连接符 4"/>
            <p:cNvCxnSpPr/>
            <p:nvPr/>
          </p:nvCxnSpPr>
          <p:spPr bwMode="auto">
            <a:xfrm>
              <a:off x="2555776" y="1844824"/>
              <a:ext cx="0" cy="3258000"/>
            </a:xfrm>
            <a:prstGeom prst="straightConnector1">
              <a:avLst/>
            </a:prstGeom>
            <a:solidFill>
              <a:schemeClr val="accent1"/>
            </a:solidFill>
            <a:ln w="38100" cap="flat" cmpd="sng" algn="ctr">
              <a:solidFill>
                <a:srgbClr val="00000C"/>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箭头连接符 6"/>
            <p:cNvCxnSpPr/>
            <p:nvPr/>
          </p:nvCxnSpPr>
          <p:spPr bwMode="auto">
            <a:xfrm>
              <a:off x="2555776" y="5085184"/>
              <a:ext cx="4464496" cy="0"/>
            </a:xfrm>
            <a:prstGeom prst="straightConnector1">
              <a:avLst/>
            </a:prstGeom>
            <a:solidFill>
              <a:schemeClr val="accent1"/>
            </a:solidFill>
            <a:ln w="38100" cap="flat" cmpd="sng" algn="ctr">
              <a:solidFill>
                <a:srgbClr val="00000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p:nvPr/>
          </p:nvSpPr>
          <p:spPr>
            <a:xfrm>
              <a:off x="7164288" y="4725144"/>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a:t>
              </a:r>
              <a:endParaRPr lang="zh-CN" altLang="en-US" dirty="0">
                <a:solidFill>
                  <a:srgbClr val="00000C"/>
                </a:solidFill>
              </a:endParaRPr>
            </a:p>
          </p:txBody>
        </p:sp>
        <p:sp>
          <p:nvSpPr>
            <p:cNvPr id="9" name="矩形 8"/>
            <p:cNvSpPr/>
            <p:nvPr/>
          </p:nvSpPr>
          <p:spPr>
            <a:xfrm>
              <a:off x="1979712" y="1700808"/>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S</a:t>
              </a:r>
              <a:endParaRPr lang="zh-CN" altLang="en-US" dirty="0">
                <a:solidFill>
                  <a:srgbClr val="00000C"/>
                </a:solidFill>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bwMode="auto">
          <a:xfrm>
            <a:off x="4079776" y="2670448"/>
            <a:ext cx="4464496" cy="3240360"/>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 name="标题 1"/>
          <p:cNvSpPr>
            <a:spLocks noGrp="1"/>
          </p:cNvSpPr>
          <p:nvPr>
            <p:ph type="title"/>
          </p:nvPr>
        </p:nvSpPr>
        <p:spPr>
          <a:xfrm>
            <a:off x="292968" y="188641"/>
            <a:ext cx="11674127" cy="2055422"/>
          </a:xfrm>
        </p:spPr>
        <p:txBody>
          <a:bodyPr>
            <a:normAutofit fontScale="90000"/>
          </a:bodyPr>
          <a:lstStyle/>
          <a:p>
            <a:r>
              <a:rPr lang="zh-CN" altLang="en-US" dirty="0">
                <a:solidFill>
                  <a:srgbClr val="00000C"/>
                </a:solidFill>
              </a:rPr>
              <a:t>第</a:t>
            </a:r>
            <a:r>
              <a:rPr lang="en-US" altLang="zh-CN" dirty="0">
                <a:solidFill>
                  <a:srgbClr val="00000C"/>
                </a:solidFill>
              </a:rPr>
              <a:t>3(1)</a:t>
            </a:r>
            <a:r>
              <a:rPr lang="zh-CN" altLang="en-US" dirty="0">
                <a:solidFill>
                  <a:srgbClr val="00000C"/>
                </a:solidFill>
              </a:rPr>
              <a:t>步</a:t>
            </a:r>
            <a:r>
              <a:rPr lang="en-US" altLang="zh-CN" dirty="0">
                <a:solidFill>
                  <a:srgbClr val="00000C"/>
                </a:solidFill>
              </a:rPr>
              <a:t>:</a:t>
            </a:r>
            <a:r>
              <a:rPr lang="zh-CN" altLang="en-US" dirty="0">
                <a:solidFill>
                  <a:srgbClr val="00000C"/>
                </a:solidFill>
              </a:rPr>
              <a:t>考察约束条件</a:t>
            </a:r>
            <a:r>
              <a:rPr lang="en-US" altLang="zh-CN" dirty="0">
                <a:solidFill>
                  <a:srgbClr val="00000C"/>
                </a:solidFill>
              </a:rPr>
              <a:t>,</a:t>
            </a:r>
            <a:r>
              <a:rPr lang="zh-CN" altLang="en-US" dirty="0">
                <a:solidFill>
                  <a:srgbClr val="00000C"/>
                </a:solidFill>
              </a:rPr>
              <a:t>在直角坐标系中表示出来。</a:t>
            </a:r>
            <a:br>
              <a:rPr lang="en-US" altLang="zh-CN" dirty="0">
                <a:solidFill>
                  <a:srgbClr val="00000C"/>
                </a:solidFill>
              </a:rPr>
            </a:br>
            <a:r>
              <a:rPr lang="en-US" altLang="zh-CN" dirty="0">
                <a:solidFill>
                  <a:srgbClr val="00000C"/>
                </a:solidFill>
              </a:rPr>
              <a:t>3.1s.t</a:t>
            </a:r>
            <a:r>
              <a:rPr lang="zh-CN" altLang="en-US" dirty="0">
                <a:solidFill>
                  <a:srgbClr val="00000C"/>
                </a:solidFill>
              </a:rPr>
              <a:t>：</a:t>
            </a:r>
            <a:r>
              <a:rPr lang="en-US" altLang="zh-CN" dirty="0">
                <a:solidFill>
                  <a:srgbClr val="00000C"/>
                </a:solidFill>
              </a:rPr>
              <a:t> L ≥0</a:t>
            </a:r>
            <a:r>
              <a:rPr lang="zh-CN" altLang="en-US" dirty="0">
                <a:solidFill>
                  <a:srgbClr val="00000C"/>
                </a:solidFill>
              </a:rPr>
              <a:t>，</a:t>
            </a:r>
            <a:r>
              <a:rPr lang="en-US" altLang="zh-CN" dirty="0">
                <a:solidFill>
                  <a:srgbClr val="00000C"/>
                </a:solidFill>
              </a:rPr>
              <a:t>S≥0               (4)</a:t>
            </a:r>
            <a:br>
              <a:rPr lang="en-US" altLang="zh-CN" dirty="0">
                <a:solidFill>
                  <a:srgbClr val="00000C"/>
                </a:solidFill>
              </a:rPr>
            </a:br>
            <a:r>
              <a:rPr lang="zh-CN" altLang="en-US" dirty="0">
                <a:solidFill>
                  <a:srgbClr val="00000C"/>
                </a:solidFill>
              </a:rPr>
              <a:t>表示直角坐标系的第一象限。</a:t>
            </a:r>
            <a:endParaRPr lang="zh-CN" altLang="en-US" dirty="0">
              <a:solidFill>
                <a:srgbClr val="00000C"/>
              </a:solidFill>
            </a:endParaRPr>
          </a:p>
        </p:txBody>
      </p:sp>
      <p:grpSp>
        <p:nvGrpSpPr>
          <p:cNvPr id="12" name="组合 11"/>
          <p:cNvGrpSpPr/>
          <p:nvPr/>
        </p:nvGrpSpPr>
        <p:grpSpPr>
          <a:xfrm>
            <a:off x="3503712" y="2526432"/>
            <a:ext cx="5566412" cy="3907596"/>
            <a:chOff x="1979712" y="1700808"/>
            <a:chExt cx="5566412" cy="3907596"/>
          </a:xfrm>
        </p:grpSpPr>
        <p:cxnSp>
          <p:nvCxnSpPr>
            <p:cNvPr id="13" name="直接箭头连接符 12"/>
            <p:cNvCxnSpPr/>
            <p:nvPr/>
          </p:nvCxnSpPr>
          <p:spPr bwMode="auto">
            <a:xfrm>
              <a:off x="2555776" y="1844824"/>
              <a:ext cx="0" cy="3258000"/>
            </a:xfrm>
            <a:prstGeom prst="straightConnector1">
              <a:avLst/>
            </a:prstGeom>
            <a:solidFill>
              <a:schemeClr val="accent1"/>
            </a:solidFill>
            <a:ln w="38100" cap="flat" cmpd="sng" algn="ctr">
              <a:solidFill>
                <a:srgbClr val="00000C"/>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箭头连接符 13"/>
            <p:cNvCxnSpPr/>
            <p:nvPr/>
          </p:nvCxnSpPr>
          <p:spPr bwMode="auto">
            <a:xfrm>
              <a:off x="2555776" y="5085184"/>
              <a:ext cx="4464496" cy="0"/>
            </a:xfrm>
            <a:prstGeom prst="straightConnector1">
              <a:avLst/>
            </a:prstGeom>
            <a:solidFill>
              <a:schemeClr val="accent1"/>
            </a:solidFill>
            <a:ln w="38100" cap="flat" cmpd="sng" algn="ctr">
              <a:solidFill>
                <a:srgbClr val="00000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矩形 14"/>
            <p:cNvSpPr/>
            <p:nvPr/>
          </p:nvSpPr>
          <p:spPr>
            <a:xfrm>
              <a:off x="7164288" y="4725144"/>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a:t>
              </a:r>
              <a:endParaRPr lang="zh-CN" altLang="en-US" dirty="0">
                <a:solidFill>
                  <a:srgbClr val="00000C"/>
                </a:solidFill>
              </a:endParaRPr>
            </a:p>
          </p:txBody>
        </p:sp>
        <p:sp>
          <p:nvSpPr>
            <p:cNvPr id="16" name="矩形 15"/>
            <p:cNvSpPr/>
            <p:nvPr/>
          </p:nvSpPr>
          <p:spPr>
            <a:xfrm>
              <a:off x="1979712" y="1700808"/>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S</a:t>
              </a:r>
              <a:endParaRPr lang="zh-CN" altLang="en-US" dirty="0">
                <a:solidFill>
                  <a:srgbClr val="00000C"/>
                </a:solidFill>
              </a:endParaRPr>
            </a:p>
          </p:txBody>
        </p:sp>
        <p:sp>
          <p:nvSpPr>
            <p:cNvPr id="18" name="矩形 17"/>
            <p:cNvSpPr/>
            <p:nvPr/>
          </p:nvSpPr>
          <p:spPr>
            <a:xfrm>
              <a:off x="2123728" y="5085184"/>
              <a:ext cx="405880"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0</a:t>
              </a:r>
              <a:endParaRPr lang="zh-CN" altLang="en-US" dirty="0">
                <a:solidFill>
                  <a:srgbClr val="00000C"/>
                </a:solidFill>
              </a:endParaRPr>
            </a:p>
          </p:txBody>
        </p:sp>
      </p:grpSp>
      <p:sp>
        <p:nvSpPr>
          <p:cNvPr id="10" name="灯片编号占位符 9"/>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9598" y="226841"/>
            <a:ext cx="11017188" cy="1727920"/>
          </a:xfrm>
        </p:spPr>
        <p:txBody>
          <a:bodyPr>
            <a:normAutofit fontScale="90000"/>
          </a:bodyPr>
          <a:lstStyle/>
          <a:p>
            <a:r>
              <a:rPr lang="zh-CN" altLang="en-US" dirty="0">
                <a:solidFill>
                  <a:srgbClr val="00000C"/>
                </a:solidFill>
              </a:rPr>
              <a:t>第</a:t>
            </a:r>
            <a:r>
              <a:rPr lang="en-US" altLang="zh-CN" dirty="0">
                <a:solidFill>
                  <a:srgbClr val="00000C"/>
                </a:solidFill>
              </a:rPr>
              <a:t>3(2)</a:t>
            </a:r>
            <a:r>
              <a:rPr lang="zh-CN" altLang="en-US" dirty="0">
                <a:solidFill>
                  <a:srgbClr val="00000C"/>
                </a:solidFill>
              </a:rPr>
              <a:t>步</a:t>
            </a:r>
            <a:r>
              <a:rPr lang="en-US" altLang="zh-CN" dirty="0">
                <a:solidFill>
                  <a:srgbClr val="00000C"/>
                </a:solidFill>
              </a:rPr>
              <a:t>:</a:t>
            </a:r>
            <a:r>
              <a:rPr lang="zh-CN" altLang="en-US" dirty="0">
                <a:solidFill>
                  <a:srgbClr val="00000C"/>
                </a:solidFill>
              </a:rPr>
              <a:t>考察约束条件</a:t>
            </a:r>
            <a:r>
              <a:rPr lang="en-US" altLang="zh-CN" dirty="0">
                <a:solidFill>
                  <a:srgbClr val="00000C"/>
                </a:solidFill>
              </a:rPr>
              <a:t>,</a:t>
            </a:r>
            <a:r>
              <a:rPr lang="zh-CN" altLang="en-US" dirty="0">
                <a:solidFill>
                  <a:srgbClr val="00000C"/>
                </a:solidFill>
              </a:rPr>
              <a:t>在直角坐标系中表示出来。</a:t>
            </a:r>
            <a:br>
              <a:rPr lang="en-US" altLang="zh-CN" dirty="0">
                <a:solidFill>
                  <a:srgbClr val="00000C"/>
                </a:solidFill>
              </a:rPr>
            </a:br>
            <a:r>
              <a:rPr lang="en-US" altLang="zh-CN" dirty="0">
                <a:solidFill>
                  <a:srgbClr val="00000C"/>
                </a:solidFill>
              </a:rPr>
              <a:t>3.2s.t</a:t>
            </a:r>
            <a:r>
              <a:rPr lang="zh-CN" altLang="en-US" dirty="0">
                <a:solidFill>
                  <a:srgbClr val="00000C"/>
                </a:solidFill>
              </a:rPr>
              <a:t>：</a:t>
            </a:r>
            <a:r>
              <a:rPr lang="en-US" altLang="zh-CN" dirty="0">
                <a:solidFill>
                  <a:srgbClr val="00000C"/>
                </a:solidFill>
              </a:rPr>
              <a:t>L ≥30                        (3)</a:t>
            </a:r>
            <a:br>
              <a:rPr lang="en-US" altLang="zh-CN" dirty="0">
                <a:solidFill>
                  <a:srgbClr val="00000C"/>
                </a:solidFill>
              </a:rPr>
            </a:br>
            <a:r>
              <a:rPr lang="zh-CN" altLang="en-US" dirty="0">
                <a:solidFill>
                  <a:srgbClr val="00000C"/>
                </a:solidFill>
              </a:rPr>
              <a:t>表示平行于</a:t>
            </a:r>
            <a:r>
              <a:rPr lang="en-US" altLang="zh-CN" dirty="0">
                <a:solidFill>
                  <a:srgbClr val="00000C"/>
                </a:solidFill>
              </a:rPr>
              <a:t>S</a:t>
            </a:r>
            <a:r>
              <a:rPr lang="zh-CN" altLang="en-US" dirty="0">
                <a:solidFill>
                  <a:srgbClr val="00000C"/>
                </a:solidFill>
              </a:rPr>
              <a:t>轴的</a:t>
            </a:r>
            <a:r>
              <a:rPr lang="zh-CN" altLang="zh-CN" dirty="0">
                <a:solidFill>
                  <a:srgbClr val="00000C"/>
                </a:solidFill>
              </a:rPr>
              <a:t>直线</a:t>
            </a:r>
            <a:r>
              <a:rPr lang="en-US" altLang="zh-CN" dirty="0">
                <a:solidFill>
                  <a:srgbClr val="00000C"/>
                </a:solidFill>
              </a:rPr>
              <a:t>L=30</a:t>
            </a:r>
            <a:r>
              <a:rPr lang="zh-CN" altLang="en-US" dirty="0">
                <a:solidFill>
                  <a:srgbClr val="00000C"/>
                </a:solidFill>
              </a:rPr>
              <a:t>的右方。</a:t>
            </a:r>
            <a:endParaRPr lang="zh-CN" altLang="en-US" dirty="0">
              <a:solidFill>
                <a:srgbClr val="00000C"/>
              </a:solidFill>
            </a:endParaRPr>
          </a:p>
        </p:txBody>
      </p:sp>
      <p:sp>
        <p:nvSpPr>
          <p:cNvPr id="11" name="矩形 10"/>
          <p:cNvSpPr/>
          <p:nvPr/>
        </p:nvSpPr>
        <p:spPr bwMode="auto">
          <a:xfrm>
            <a:off x="5375920" y="2613694"/>
            <a:ext cx="3168352" cy="3240360"/>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nvGrpSpPr>
          <p:cNvPr id="12" name="组合 11"/>
          <p:cNvGrpSpPr/>
          <p:nvPr/>
        </p:nvGrpSpPr>
        <p:grpSpPr>
          <a:xfrm>
            <a:off x="3503712" y="2469678"/>
            <a:ext cx="5566412" cy="3547556"/>
            <a:chOff x="1979712" y="1700808"/>
            <a:chExt cx="5566412" cy="3547556"/>
          </a:xfrm>
        </p:grpSpPr>
        <p:cxnSp>
          <p:nvCxnSpPr>
            <p:cNvPr id="13" name="直接箭头连接符 12"/>
            <p:cNvCxnSpPr/>
            <p:nvPr/>
          </p:nvCxnSpPr>
          <p:spPr bwMode="auto">
            <a:xfrm>
              <a:off x="2555776" y="1844824"/>
              <a:ext cx="0" cy="3258000"/>
            </a:xfrm>
            <a:prstGeom prst="straightConnector1">
              <a:avLst/>
            </a:prstGeom>
            <a:solidFill>
              <a:schemeClr val="accent1"/>
            </a:solidFill>
            <a:ln w="38100" cap="flat" cmpd="sng" algn="ctr">
              <a:solidFill>
                <a:srgbClr val="00000C"/>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箭头连接符 13"/>
            <p:cNvCxnSpPr/>
            <p:nvPr/>
          </p:nvCxnSpPr>
          <p:spPr bwMode="auto">
            <a:xfrm>
              <a:off x="2555776" y="5085184"/>
              <a:ext cx="4464496" cy="0"/>
            </a:xfrm>
            <a:prstGeom prst="straightConnector1">
              <a:avLst/>
            </a:prstGeom>
            <a:solidFill>
              <a:schemeClr val="accent1"/>
            </a:solidFill>
            <a:ln w="38100" cap="flat" cmpd="sng" algn="ctr">
              <a:solidFill>
                <a:srgbClr val="00000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矩形 14"/>
            <p:cNvSpPr/>
            <p:nvPr/>
          </p:nvSpPr>
          <p:spPr>
            <a:xfrm>
              <a:off x="7164288" y="4725144"/>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a:t>
              </a:r>
              <a:endParaRPr lang="zh-CN" altLang="en-US" dirty="0">
                <a:solidFill>
                  <a:srgbClr val="00000C"/>
                </a:solidFill>
              </a:endParaRPr>
            </a:p>
          </p:txBody>
        </p:sp>
        <p:sp>
          <p:nvSpPr>
            <p:cNvPr id="16" name="矩形 15"/>
            <p:cNvSpPr/>
            <p:nvPr/>
          </p:nvSpPr>
          <p:spPr>
            <a:xfrm>
              <a:off x="1979712" y="1700808"/>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S</a:t>
              </a:r>
              <a:endParaRPr lang="zh-CN" altLang="en-US" dirty="0">
                <a:solidFill>
                  <a:srgbClr val="00000C"/>
                </a:solidFill>
              </a:endParaRPr>
            </a:p>
          </p:txBody>
        </p:sp>
      </p:grpSp>
      <p:cxnSp>
        <p:nvCxnSpPr>
          <p:cNvPr id="18" name="直接连接符 17"/>
          <p:cNvCxnSpPr/>
          <p:nvPr/>
        </p:nvCxnSpPr>
        <p:spPr bwMode="auto">
          <a:xfrm>
            <a:off x="5375920" y="2253654"/>
            <a:ext cx="0" cy="4104000"/>
          </a:xfrm>
          <a:prstGeom prst="line">
            <a:avLst/>
          </a:prstGeom>
          <a:solidFill>
            <a:schemeClr val="accent1"/>
          </a:solid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矩形 18"/>
          <p:cNvSpPr/>
          <p:nvPr/>
        </p:nvSpPr>
        <p:spPr>
          <a:xfrm>
            <a:off x="5303913" y="2109182"/>
            <a:ext cx="982961"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L=30</a:t>
            </a:r>
            <a:endParaRPr lang="zh-CN" altLang="en-US" dirty="0">
              <a:solidFill>
                <a:srgbClr val="00000C"/>
              </a:solidFill>
            </a:endParaRPr>
          </a:p>
        </p:txBody>
      </p:sp>
      <p:sp>
        <p:nvSpPr>
          <p:cNvPr id="20" name="矩形 19"/>
          <p:cNvSpPr/>
          <p:nvPr/>
        </p:nvSpPr>
        <p:spPr>
          <a:xfrm>
            <a:off x="3647728" y="5618410"/>
            <a:ext cx="405880"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0</a:t>
            </a:r>
            <a:endParaRPr lang="zh-CN" altLang="en-US" dirty="0">
              <a:solidFill>
                <a:srgbClr val="00000C"/>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任意多边形 34"/>
          <p:cNvSpPr/>
          <p:nvPr/>
        </p:nvSpPr>
        <p:spPr bwMode="auto">
          <a:xfrm>
            <a:off x="4058970" y="2270223"/>
            <a:ext cx="5595042" cy="3983525"/>
          </a:xfrm>
          <a:custGeom>
            <a:avLst/>
            <a:gdLst>
              <a:gd name="connsiteX0" fmla="*/ 9054 w 5595042"/>
              <a:gd name="connsiteY0" fmla="*/ 3983525 h 3983525"/>
              <a:gd name="connsiteX1" fmla="*/ 5585988 w 5595042"/>
              <a:gd name="connsiteY1" fmla="*/ 1493822 h 3983525"/>
              <a:gd name="connsiteX2" fmla="*/ 5595042 w 5595042"/>
              <a:gd name="connsiteY2" fmla="*/ 36214 h 3983525"/>
              <a:gd name="connsiteX3" fmla="*/ 0 w 5595042"/>
              <a:gd name="connsiteY3" fmla="*/ 0 h 3983525"/>
              <a:gd name="connsiteX4" fmla="*/ 9054 w 5595042"/>
              <a:gd name="connsiteY4" fmla="*/ 3983525 h 398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5042" h="3983525">
                <a:moveTo>
                  <a:pt x="9054" y="3983525"/>
                </a:moveTo>
                <a:lnTo>
                  <a:pt x="5585988" y="1493822"/>
                </a:lnTo>
                <a:lnTo>
                  <a:pt x="5595042" y="36214"/>
                </a:lnTo>
                <a:lnTo>
                  <a:pt x="0" y="0"/>
                </a:lnTo>
                <a:lnTo>
                  <a:pt x="9054" y="3983525"/>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 name="标题 1"/>
          <p:cNvSpPr>
            <a:spLocks noGrp="1"/>
          </p:cNvSpPr>
          <p:nvPr>
            <p:ph type="title"/>
          </p:nvPr>
        </p:nvSpPr>
        <p:spPr>
          <a:xfrm>
            <a:off x="355106" y="156300"/>
            <a:ext cx="11469949" cy="1827610"/>
          </a:xfrm>
        </p:spPr>
        <p:txBody>
          <a:bodyPr>
            <a:normAutofit fontScale="90000"/>
          </a:bodyPr>
          <a:lstStyle/>
          <a:p>
            <a:r>
              <a:rPr lang="zh-CN" altLang="en-US" dirty="0">
                <a:solidFill>
                  <a:srgbClr val="00000C"/>
                </a:solidFill>
              </a:rPr>
              <a:t>第</a:t>
            </a:r>
            <a:r>
              <a:rPr lang="en-US" altLang="zh-CN" dirty="0">
                <a:solidFill>
                  <a:srgbClr val="00000C"/>
                </a:solidFill>
              </a:rPr>
              <a:t>3(3)</a:t>
            </a:r>
            <a:r>
              <a:rPr lang="zh-CN" altLang="en-US" dirty="0">
                <a:solidFill>
                  <a:srgbClr val="00000C"/>
                </a:solidFill>
              </a:rPr>
              <a:t>步</a:t>
            </a:r>
            <a:r>
              <a:rPr lang="en-US" altLang="zh-CN" dirty="0">
                <a:solidFill>
                  <a:srgbClr val="00000C"/>
                </a:solidFill>
              </a:rPr>
              <a:t>:</a:t>
            </a:r>
            <a:r>
              <a:rPr lang="zh-CN" altLang="en-US" dirty="0">
                <a:solidFill>
                  <a:srgbClr val="00000C"/>
                </a:solidFill>
              </a:rPr>
              <a:t>考察约束条件</a:t>
            </a:r>
            <a:r>
              <a:rPr lang="en-US" altLang="zh-CN" dirty="0">
                <a:solidFill>
                  <a:srgbClr val="00000C"/>
                </a:solidFill>
              </a:rPr>
              <a:t>,</a:t>
            </a:r>
            <a:r>
              <a:rPr lang="zh-CN" altLang="en-US" dirty="0">
                <a:solidFill>
                  <a:srgbClr val="00000C"/>
                </a:solidFill>
              </a:rPr>
              <a:t>在直角坐标系中表示出来。</a:t>
            </a:r>
            <a:br>
              <a:rPr lang="en-US" altLang="zh-CN" dirty="0">
                <a:solidFill>
                  <a:srgbClr val="00000C"/>
                </a:solidFill>
              </a:rPr>
            </a:br>
            <a:r>
              <a:rPr lang="en-US" altLang="zh-CN" dirty="0">
                <a:solidFill>
                  <a:srgbClr val="00000C"/>
                </a:solidFill>
              </a:rPr>
              <a:t>3.3s.t</a:t>
            </a:r>
            <a:r>
              <a:rPr lang="zh-CN" altLang="en-US" dirty="0">
                <a:solidFill>
                  <a:srgbClr val="00000C"/>
                </a:solidFill>
              </a:rPr>
              <a:t>：</a:t>
            </a:r>
            <a:r>
              <a:rPr lang="en-US" altLang="zh-CN" dirty="0">
                <a:solidFill>
                  <a:srgbClr val="00000C"/>
                </a:solidFill>
              </a:rPr>
              <a:t>L-3S ≤0                    (2)</a:t>
            </a:r>
            <a:br>
              <a:rPr lang="en-US" altLang="zh-CN" dirty="0">
                <a:solidFill>
                  <a:srgbClr val="00000C"/>
                </a:solidFill>
              </a:rPr>
            </a:br>
            <a:r>
              <a:rPr lang="zh-CN" altLang="en-US" dirty="0">
                <a:solidFill>
                  <a:srgbClr val="00000C"/>
                </a:solidFill>
              </a:rPr>
              <a:t>表示</a:t>
            </a:r>
            <a:r>
              <a:rPr lang="zh-CN" altLang="zh-CN" dirty="0">
                <a:solidFill>
                  <a:srgbClr val="00000C"/>
                </a:solidFill>
              </a:rPr>
              <a:t>直线</a:t>
            </a:r>
            <a:r>
              <a:rPr lang="en-US" altLang="zh-CN" dirty="0">
                <a:solidFill>
                  <a:srgbClr val="00000C"/>
                </a:solidFill>
              </a:rPr>
              <a:t>L-3S=0</a:t>
            </a:r>
            <a:r>
              <a:rPr lang="zh-CN" altLang="en-US" dirty="0">
                <a:solidFill>
                  <a:srgbClr val="00000C"/>
                </a:solidFill>
              </a:rPr>
              <a:t>的左上方。</a:t>
            </a:r>
            <a:endParaRPr lang="zh-CN" altLang="en-US" dirty="0">
              <a:solidFill>
                <a:srgbClr val="00000C"/>
              </a:solidFill>
            </a:endParaRPr>
          </a:p>
        </p:txBody>
      </p:sp>
      <p:grpSp>
        <p:nvGrpSpPr>
          <p:cNvPr id="18" name="组合 17"/>
          <p:cNvGrpSpPr/>
          <p:nvPr/>
        </p:nvGrpSpPr>
        <p:grpSpPr>
          <a:xfrm>
            <a:off x="3503712" y="2845499"/>
            <a:ext cx="5566412" cy="3547556"/>
            <a:chOff x="1979712" y="1700808"/>
            <a:chExt cx="5566412" cy="3547556"/>
          </a:xfrm>
        </p:grpSpPr>
        <p:cxnSp>
          <p:nvCxnSpPr>
            <p:cNvPr id="19" name="直接箭头连接符 18"/>
            <p:cNvCxnSpPr/>
            <p:nvPr/>
          </p:nvCxnSpPr>
          <p:spPr bwMode="auto">
            <a:xfrm>
              <a:off x="2555776" y="1844824"/>
              <a:ext cx="0" cy="3258000"/>
            </a:xfrm>
            <a:prstGeom prst="straightConnector1">
              <a:avLst/>
            </a:prstGeom>
            <a:solidFill>
              <a:schemeClr val="accent1"/>
            </a:solidFill>
            <a:ln w="38100" cap="flat" cmpd="sng" algn="ctr">
              <a:solidFill>
                <a:srgbClr val="00000C"/>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19"/>
            <p:cNvCxnSpPr/>
            <p:nvPr/>
          </p:nvCxnSpPr>
          <p:spPr bwMode="auto">
            <a:xfrm>
              <a:off x="2555776" y="5085184"/>
              <a:ext cx="4464496" cy="0"/>
            </a:xfrm>
            <a:prstGeom prst="straightConnector1">
              <a:avLst/>
            </a:prstGeom>
            <a:solidFill>
              <a:schemeClr val="accent1"/>
            </a:solidFill>
            <a:ln w="38100" cap="flat" cmpd="sng" algn="ctr">
              <a:solidFill>
                <a:srgbClr val="00000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矩形 20"/>
            <p:cNvSpPr/>
            <p:nvPr/>
          </p:nvSpPr>
          <p:spPr>
            <a:xfrm>
              <a:off x="7164288" y="4725144"/>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a:t>
              </a:r>
              <a:endParaRPr lang="zh-CN" altLang="en-US" dirty="0">
                <a:solidFill>
                  <a:srgbClr val="00000C"/>
                </a:solidFill>
              </a:endParaRPr>
            </a:p>
          </p:txBody>
        </p:sp>
        <p:sp>
          <p:nvSpPr>
            <p:cNvPr id="22" name="矩形 21"/>
            <p:cNvSpPr/>
            <p:nvPr/>
          </p:nvSpPr>
          <p:spPr>
            <a:xfrm>
              <a:off x="1979712" y="1700808"/>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S</a:t>
              </a:r>
              <a:endParaRPr lang="zh-CN" altLang="en-US" dirty="0">
                <a:solidFill>
                  <a:srgbClr val="00000C"/>
                </a:solidFill>
              </a:endParaRPr>
            </a:p>
          </p:txBody>
        </p:sp>
      </p:grpSp>
      <p:cxnSp>
        <p:nvCxnSpPr>
          <p:cNvPr id="23" name="直接连接符 22"/>
          <p:cNvCxnSpPr/>
          <p:nvPr/>
        </p:nvCxnSpPr>
        <p:spPr bwMode="auto">
          <a:xfrm>
            <a:off x="5375920" y="2629475"/>
            <a:ext cx="0" cy="4104000"/>
          </a:xfrm>
          <a:prstGeom prst="line">
            <a:avLst/>
          </a:prstGeom>
          <a:solidFill>
            <a:schemeClr val="accent1"/>
          </a:solidFill>
          <a:ln w="3175" cap="flat" cmpd="sng" algn="ctr">
            <a:solidFill>
              <a:srgbClr val="06060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p:cNvCxnSpPr/>
          <p:nvPr/>
        </p:nvCxnSpPr>
        <p:spPr bwMode="auto">
          <a:xfrm flipV="1">
            <a:off x="4079776" y="3745419"/>
            <a:ext cx="5580000" cy="2484000"/>
          </a:xfrm>
          <a:prstGeom prst="line">
            <a:avLst/>
          </a:prstGeom>
          <a:solidFill>
            <a:schemeClr val="accent1"/>
          </a:solid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矩形 26"/>
          <p:cNvSpPr/>
          <p:nvPr/>
        </p:nvSpPr>
        <p:spPr>
          <a:xfrm>
            <a:off x="8976320" y="3925163"/>
            <a:ext cx="1271502"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L-3S=0</a:t>
            </a:r>
            <a:endParaRPr lang="zh-CN" altLang="en-US" dirty="0"/>
          </a:p>
        </p:txBody>
      </p:sp>
      <p:sp>
        <p:nvSpPr>
          <p:cNvPr id="28" name="矩形 27"/>
          <p:cNvSpPr/>
          <p:nvPr/>
        </p:nvSpPr>
        <p:spPr>
          <a:xfrm>
            <a:off x="3647728" y="5994231"/>
            <a:ext cx="405880"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0</a:t>
            </a:r>
            <a:endParaRPr lang="zh-CN" altLang="en-US" dirty="0">
              <a:solidFill>
                <a:srgbClr val="00000C"/>
              </a:solidFill>
            </a:endParaRPr>
          </a:p>
        </p:txBody>
      </p:sp>
      <p:sp>
        <p:nvSpPr>
          <p:cNvPr id="29" name="矩形 28"/>
          <p:cNvSpPr/>
          <p:nvPr/>
        </p:nvSpPr>
        <p:spPr>
          <a:xfrm>
            <a:off x="5015881" y="6301427"/>
            <a:ext cx="627095" cy="523220"/>
          </a:xfrm>
          <a:prstGeom prst="rect">
            <a:avLst/>
          </a:prstGeom>
        </p:spPr>
        <p:txBody>
          <a:bodyPr wrap="none">
            <a:spAutoFit/>
          </a:bodyPr>
          <a:lstStyle/>
          <a:p>
            <a:r>
              <a:rPr lang="en-US" altLang="zh-CN" sz="2800" b="1" dirty="0">
                <a:solidFill>
                  <a:srgbClr val="00000C"/>
                </a:solidFill>
                <a:latin typeface="Britannic Bold"/>
                <a:ea typeface="微软雅黑"/>
              </a:rPr>
              <a:t>30</a:t>
            </a:r>
            <a:endParaRPr lang="zh-CN" altLang="en-US" dirty="0"/>
          </a:p>
        </p:txBody>
      </p:sp>
      <p:cxnSp>
        <p:nvCxnSpPr>
          <p:cNvPr id="31" name="直接连接符 30"/>
          <p:cNvCxnSpPr/>
          <p:nvPr/>
        </p:nvCxnSpPr>
        <p:spPr bwMode="auto">
          <a:xfrm flipV="1">
            <a:off x="3684080" y="5652899"/>
            <a:ext cx="2556000" cy="456"/>
          </a:xfrm>
          <a:prstGeom prst="line">
            <a:avLst/>
          </a:prstGeom>
          <a:solidFill>
            <a:schemeClr val="accent1"/>
          </a:solidFill>
          <a:ln w="3175" cap="flat" cmpd="sng" algn="ctr">
            <a:solidFill>
              <a:srgbClr val="06060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矩形 32"/>
          <p:cNvSpPr/>
          <p:nvPr/>
        </p:nvSpPr>
        <p:spPr>
          <a:xfrm>
            <a:off x="3359697" y="5437331"/>
            <a:ext cx="627095" cy="523220"/>
          </a:xfrm>
          <a:prstGeom prst="rect">
            <a:avLst/>
          </a:prstGeom>
        </p:spPr>
        <p:txBody>
          <a:bodyPr wrap="none">
            <a:spAutoFit/>
          </a:bodyPr>
          <a:lstStyle/>
          <a:p>
            <a:r>
              <a:rPr lang="en-US" altLang="zh-CN" sz="2800" b="1" dirty="0">
                <a:solidFill>
                  <a:srgbClr val="00000C"/>
                </a:solidFill>
                <a:latin typeface="Britannic Bold"/>
                <a:ea typeface="微软雅黑"/>
              </a:rPr>
              <a:t>10</a:t>
            </a:r>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任意多边形 33"/>
          <p:cNvSpPr/>
          <p:nvPr/>
        </p:nvSpPr>
        <p:spPr bwMode="auto">
          <a:xfrm>
            <a:off x="4068024" y="1875299"/>
            <a:ext cx="5413972" cy="4345663"/>
          </a:xfrm>
          <a:custGeom>
            <a:avLst/>
            <a:gdLst>
              <a:gd name="connsiteX0" fmla="*/ 0 w 5413972"/>
              <a:gd name="connsiteY0" fmla="*/ 0 h 4345663"/>
              <a:gd name="connsiteX1" fmla="*/ 0 w 5413972"/>
              <a:gd name="connsiteY1" fmla="*/ 4345663 h 4345663"/>
              <a:gd name="connsiteX2" fmla="*/ 5413972 w 5413972"/>
              <a:gd name="connsiteY2" fmla="*/ 4345663 h 4345663"/>
              <a:gd name="connsiteX3" fmla="*/ 0 w 5413972"/>
              <a:gd name="connsiteY3" fmla="*/ 0 h 4345663"/>
            </a:gdLst>
            <a:ahLst/>
            <a:cxnLst>
              <a:cxn ang="0">
                <a:pos x="connsiteX0" y="connsiteY0"/>
              </a:cxn>
              <a:cxn ang="0">
                <a:pos x="connsiteX1" y="connsiteY1"/>
              </a:cxn>
              <a:cxn ang="0">
                <a:pos x="connsiteX2" y="connsiteY2"/>
              </a:cxn>
              <a:cxn ang="0">
                <a:pos x="connsiteX3" y="connsiteY3"/>
              </a:cxn>
            </a:cxnLst>
            <a:rect l="l" t="t" r="r" b="b"/>
            <a:pathLst>
              <a:path w="5413972" h="4345663">
                <a:moveTo>
                  <a:pt x="0" y="0"/>
                </a:moveTo>
                <a:lnTo>
                  <a:pt x="0" y="4345663"/>
                </a:lnTo>
                <a:lnTo>
                  <a:pt x="5413972" y="4345663"/>
                </a:lnTo>
                <a:lnTo>
                  <a:pt x="0" y="0"/>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 name="标题 1"/>
          <p:cNvSpPr>
            <a:spLocks noGrp="1"/>
          </p:cNvSpPr>
          <p:nvPr>
            <p:ph type="title"/>
          </p:nvPr>
        </p:nvSpPr>
        <p:spPr>
          <a:xfrm>
            <a:off x="0" y="-26140"/>
            <a:ext cx="11700769" cy="1556792"/>
          </a:xfrm>
        </p:spPr>
        <p:txBody>
          <a:bodyPr>
            <a:noAutofit/>
          </a:bodyPr>
          <a:lstStyle/>
          <a:p>
            <a:r>
              <a:rPr lang="zh-CN" altLang="en-US" sz="3200" dirty="0">
                <a:solidFill>
                  <a:srgbClr val="00000C"/>
                </a:solidFill>
              </a:rPr>
              <a:t>第</a:t>
            </a:r>
            <a:r>
              <a:rPr lang="en-US" altLang="zh-CN" sz="3200" dirty="0">
                <a:solidFill>
                  <a:srgbClr val="00000C"/>
                </a:solidFill>
              </a:rPr>
              <a:t>3(4)</a:t>
            </a:r>
            <a:r>
              <a:rPr lang="zh-CN" altLang="en-US" sz="3200" dirty="0">
                <a:solidFill>
                  <a:srgbClr val="00000C"/>
                </a:solidFill>
              </a:rPr>
              <a:t>步</a:t>
            </a:r>
            <a:r>
              <a:rPr lang="en-US" altLang="zh-CN" sz="3200" dirty="0">
                <a:solidFill>
                  <a:srgbClr val="00000C"/>
                </a:solidFill>
              </a:rPr>
              <a:t>:</a:t>
            </a:r>
            <a:r>
              <a:rPr lang="zh-CN" altLang="en-US" sz="3200" dirty="0">
                <a:solidFill>
                  <a:srgbClr val="00000C"/>
                </a:solidFill>
              </a:rPr>
              <a:t>考察约束条件</a:t>
            </a:r>
            <a:r>
              <a:rPr lang="en-US" altLang="zh-CN" sz="3200" dirty="0">
                <a:solidFill>
                  <a:srgbClr val="00000C"/>
                </a:solidFill>
              </a:rPr>
              <a:t>,</a:t>
            </a:r>
            <a:r>
              <a:rPr lang="zh-CN" altLang="en-US" sz="3200" dirty="0">
                <a:solidFill>
                  <a:srgbClr val="00000C"/>
                </a:solidFill>
              </a:rPr>
              <a:t>在直角坐标系中表示出来。</a:t>
            </a:r>
            <a:br>
              <a:rPr lang="en-US" altLang="zh-CN" sz="3200" dirty="0">
                <a:solidFill>
                  <a:srgbClr val="00000C"/>
                </a:solidFill>
              </a:rPr>
            </a:br>
            <a:r>
              <a:rPr lang="en-US" altLang="zh-CN" sz="3200" dirty="0">
                <a:solidFill>
                  <a:srgbClr val="00000C"/>
                </a:solidFill>
              </a:rPr>
              <a:t>3.2s.t</a:t>
            </a:r>
            <a:r>
              <a:rPr lang="zh-CN" altLang="en-US" sz="3200" dirty="0">
                <a:solidFill>
                  <a:srgbClr val="00000C"/>
                </a:solidFill>
              </a:rPr>
              <a:t>：</a:t>
            </a:r>
            <a:r>
              <a:rPr lang="en-US" altLang="zh-CN" sz="3200" dirty="0">
                <a:solidFill>
                  <a:srgbClr val="00000C"/>
                </a:solidFill>
              </a:rPr>
              <a:t>L+S ≤100                 (1)</a:t>
            </a:r>
            <a:br>
              <a:rPr lang="en-US" altLang="zh-CN" sz="3200" dirty="0">
                <a:solidFill>
                  <a:srgbClr val="00000C"/>
                </a:solidFill>
              </a:rPr>
            </a:br>
            <a:r>
              <a:rPr lang="zh-CN" altLang="en-US" sz="3200" dirty="0">
                <a:solidFill>
                  <a:srgbClr val="00000C"/>
                </a:solidFill>
              </a:rPr>
              <a:t>表示</a:t>
            </a:r>
            <a:r>
              <a:rPr lang="zh-CN" altLang="zh-CN" sz="3200" dirty="0">
                <a:solidFill>
                  <a:srgbClr val="00000C"/>
                </a:solidFill>
              </a:rPr>
              <a:t>直线</a:t>
            </a:r>
            <a:r>
              <a:rPr lang="en-US" altLang="zh-CN" sz="3200" dirty="0">
                <a:solidFill>
                  <a:srgbClr val="00000C"/>
                </a:solidFill>
              </a:rPr>
              <a:t>L+S =100</a:t>
            </a:r>
            <a:r>
              <a:rPr lang="zh-CN" altLang="en-US" sz="3200" dirty="0">
                <a:solidFill>
                  <a:srgbClr val="00000C"/>
                </a:solidFill>
              </a:rPr>
              <a:t>的左下方。</a:t>
            </a:r>
            <a:endParaRPr lang="zh-CN" altLang="en-US" sz="3200" dirty="0">
              <a:solidFill>
                <a:srgbClr val="00000C"/>
              </a:solidFill>
            </a:endParaRPr>
          </a:p>
        </p:txBody>
      </p:sp>
      <p:grpSp>
        <p:nvGrpSpPr>
          <p:cNvPr id="12" name="组合 11"/>
          <p:cNvGrpSpPr/>
          <p:nvPr/>
        </p:nvGrpSpPr>
        <p:grpSpPr>
          <a:xfrm>
            <a:off x="3647728" y="1350632"/>
            <a:ext cx="6790548" cy="5400600"/>
            <a:chOff x="2123728" y="207348"/>
            <a:chExt cx="6790548" cy="5400600"/>
          </a:xfrm>
        </p:grpSpPr>
        <p:cxnSp>
          <p:nvCxnSpPr>
            <p:cNvPr id="13" name="直接箭头连接符 12"/>
            <p:cNvCxnSpPr/>
            <p:nvPr/>
          </p:nvCxnSpPr>
          <p:spPr bwMode="auto">
            <a:xfrm>
              <a:off x="2555776" y="279356"/>
              <a:ext cx="0" cy="5076000"/>
            </a:xfrm>
            <a:prstGeom prst="straightConnector1">
              <a:avLst/>
            </a:prstGeom>
            <a:solidFill>
              <a:schemeClr val="accent1"/>
            </a:solidFill>
            <a:ln w="38100" cap="flat" cmpd="sng" algn="ctr">
              <a:solidFill>
                <a:srgbClr val="00000C"/>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箭头连接符 13"/>
            <p:cNvCxnSpPr/>
            <p:nvPr/>
          </p:nvCxnSpPr>
          <p:spPr bwMode="auto">
            <a:xfrm>
              <a:off x="2411760" y="5085184"/>
              <a:ext cx="6444000" cy="0"/>
            </a:xfrm>
            <a:prstGeom prst="straightConnector1">
              <a:avLst/>
            </a:prstGeom>
            <a:solidFill>
              <a:schemeClr val="accent1"/>
            </a:solidFill>
            <a:ln w="38100" cap="flat" cmpd="sng" algn="ctr">
              <a:solidFill>
                <a:srgbClr val="00000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矩形 14"/>
            <p:cNvSpPr/>
            <p:nvPr/>
          </p:nvSpPr>
          <p:spPr>
            <a:xfrm>
              <a:off x="8532440" y="5084728"/>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a:t>
              </a:r>
              <a:endParaRPr lang="zh-CN" altLang="en-US" dirty="0">
                <a:solidFill>
                  <a:srgbClr val="00000C"/>
                </a:solidFill>
              </a:endParaRPr>
            </a:p>
          </p:txBody>
        </p:sp>
        <p:sp>
          <p:nvSpPr>
            <p:cNvPr id="16" name="矩形 15"/>
            <p:cNvSpPr/>
            <p:nvPr/>
          </p:nvSpPr>
          <p:spPr>
            <a:xfrm>
              <a:off x="2123728" y="207348"/>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S</a:t>
              </a:r>
              <a:endParaRPr lang="zh-CN" altLang="en-US" dirty="0">
                <a:solidFill>
                  <a:srgbClr val="00000C"/>
                </a:solidFill>
              </a:endParaRPr>
            </a:p>
          </p:txBody>
        </p:sp>
      </p:grpSp>
      <p:cxnSp>
        <p:nvCxnSpPr>
          <p:cNvPr id="17" name="直接连接符 16"/>
          <p:cNvCxnSpPr/>
          <p:nvPr/>
        </p:nvCxnSpPr>
        <p:spPr bwMode="auto">
          <a:xfrm>
            <a:off x="5375920" y="2628068"/>
            <a:ext cx="0" cy="4104000"/>
          </a:xfrm>
          <a:prstGeom prst="line">
            <a:avLst/>
          </a:prstGeom>
          <a:solidFill>
            <a:schemeClr val="accent1"/>
          </a:solidFill>
          <a:ln w="3175" cap="flat" cmpd="sng" algn="ctr">
            <a:solidFill>
              <a:srgbClr val="06060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p:cNvCxnSpPr/>
          <p:nvPr/>
        </p:nvCxnSpPr>
        <p:spPr bwMode="auto">
          <a:xfrm>
            <a:off x="3575720" y="1494648"/>
            <a:ext cx="6408712" cy="5112568"/>
          </a:xfrm>
          <a:prstGeom prst="line">
            <a:avLst/>
          </a:prstGeom>
          <a:solidFill>
            <a:schemeClr val="accent1"/>
          </a:solid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矩形 19"/>
          <p:cNvSpPr/>
          <p:nvPr/>
        </p:nvSpPr>
        <p:spPr>
          <a:xfrm>
            <a:off x="3745904" y="6136840"/>
            <a:ext cx="405880"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0</a:t>
            </a:r>
            <a:endParaRPr lang="zh-CN" altLang="en-US" dirty="0">
              <a:solidFill>
                <a:srgbClr val="00000C"/>
              </a:solidFill>
            </a:endParaRPr>
          </a:p>
        </p:txBody>
      </p:sp>
      <p:sp>
        <p:nvSpPr>
          <p:cNvPr id="21" name="矩形 20"/>
          <p:cNvSpPr/>
          <p:nvPr/>
        </p:nvSpPr>
        <p:spPr>
          <a:xfrm>
            <a:off x="5015881" y="6300020"/>
            <a:ext cx="627095" cy="523220"/>
          </a:xfrm>
          <a:prstGeom prst="rect">
            <a:avLst/>
          </a:prstGeom>
        </p:spPr>
        <p:txBody>
          <a:bodyPr wrap="none">
            <a:spAutoFit/>
          </a:bodyPr>
          <a:lstStyle/>
          <a:p>
            <a:r>
              <a:rPr lang="en-US" altLang="zh-CN" sz="2800" b="1" dirty="0">
                <a:solidFill>
                  <a:srgbClr val="00000C"/>
                </a:solidFill>
                <a:latin typeface="Britannic Bold"/>
                <a:ea typeface="微软雅黑"/>
              </a:rPr>
              <a:t>30</a:t>
            </a:r>
            <a:endParaRPr lang="zh-CN" altLang="en-US" dirty="0"/>
          </a:p>
        </p:txBody>
      </p:sp>
      <p:cxnSp>
        <p:nvCxnSpPr>
          <p:cNvPr id="22" name="直接连接符 21"/>
          <p:cNvCxnSpPr/>
          <p:nvPr/>
        </p:nvCxnSpPr>
        <p:spPr bwMode="auto">
          <a:xfrm flipV="1">
            <a:off x="3684080" y="5651492"/>
            <a:ext cx="2556000" cy="456"/>
          </a:xfrm>
          <a:prstGeom prst="line">
            <a:avLst/>
          </a:prstGeom>
          <a:solidFill>
            <a:schemeClr val="accent1"/>
          </a:solidFill>
          <a:ln w="3175" cap="flat" cmpd="sng" algn="ctr">
            <a:solidFill>
              <a:srgbClr val="06060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矩形 22"/>
          <p:cNvSpPr/>
          <p:nvPr/>
        </p:nvSpPr>
        <p:spPr>
          <a:xfrm>
            <a:off x="3359697" y="5435924"/>
            <a:ext cx="627095" cy="523220"/>
          </a:xfrm>
          <a:prstGeom prst="rect">
            <a:avLst/>
          </a:prstGeom>
        </p:spPr>
        <p:txBody>
          <a:bodyPr wrap="none">
            <a:spAutoFit/>
          </a:bodyPr>
          <a:lstStyle/>
          <a:p>
            <a:r>
              <a:rPr lang="en-US" altLang="zh-CN" sz="2800" b="1" dirty="0">
                <a:solidFill>
                  <a:srgbClr val="00000C"/>
                </a:solidFill>
                <a:latin typeface="Britannic Bold"/>
                <a:ea typeface="微软雅黑"/>
              </a:rPr>
              <a:t>10</a:t>
            </a:r>
            <a:endParaRPr lang="zh-CN" altLang="en-US" dirty="0"/>
          </a:p>
        </p:txBody>
      </p:sp>
      <p:cxnSp>
        <p:nvCxnSpPr>
          <p:cNvPr id="24" name="直接连接符 23"/>
          <p:cNvCxnSpPr/>
          <p:nvPr/>
        </p:nvCxnSpPr>
        <p:spPr bwMode="auto">
          <a:xfrm flipV="1">
            <a:off x="3791744" y="2915644"/>
            <a:ext cx="2556000" cy="456"/>
          </a:xfrm>
          <a:prstGeom prst="line">
            <a:avLst/>
          </a:prstGeom>
          <a:solidFill>
            <a:schemeClr val="accent1"/>
          </a:solidFill>
          <a:ln w="3175" cap="flat" cmpd="sng" algn="ctr">
            <a:solidFill>
              <a:srgbClr val="06060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矩形 24"/>
          <p:cNvSpPr/>
          <p:nvPr/>
        </p:nvSpPr>
        <p:spPr>
          <a:xfrm>
            <a:off x="3143673" y="2699620"/>
            <a:ext cx="627095" cy="523220"/>
          </a:xfrm>
          <a:prstGeom prst="rect">
            <a:avLst/>
          </a:prstGeom>
        </p:spPr>
        <p:txBody>
          <a:bodyPr wrap="none">
            <a:spAutoFit/>
          </a:bodyPr>
          <a:lstStyle/>
          <a:p>
            <a:r>
              <a:rPr lang="en-US" altLang="zh-CN" sz="2800" b="1" dirty="0">
                <a:solidFill>
                  <a:srgbClr val="00000C"/>
                </a:solidFill>
                <a:latin typeface="Britannic Bold"/>
                <a:ea typeface="微软雅黑"/>
              </a:rPr>
              <a:t>70</a:t>
            </a:r>
            <a:endParaRPr lang="zh-CN" altLang="en-US" dirty="0"/>
          </a:p>
        </p:txBody>
      </p:sp>
      <p:cxnSp>
        <p:nvCxnSpPr>
          <p:cNvPr id="26" name="直接连接符 25"/>
          <p:cNvCxnSpPr/>
          <p:nvPr/>
        </p:nvCxnSpPr>
        <p:spPr bwMode="auto">
          <a:xfrm flipV="1">
            <a:off x="3719736" y="1854688"/>
            <a:ext cx="2556000" cy="456"/>
          </a:xfrm>
          <a:prstGeom prst="line">
            <a:avLst/>
          </a:prstGeom>
          <a:solidFill>
            <a:schemeClr val="accent1"/>
          </a:solidFill>
          <a:ln w="3175" cap="flat" cmpd="sng" algn="ctr">
            <a:solidFill>
              <a:srgbClr val="06060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矩形 26"/>
          <p:cNvSpPr/>
          <p:nvPr/>
        </p:nvSpPr>
        <p:spPr>
          <a:xfrm>
            <a:off x="3143673" y="1710672"/>
            <a:ext cx="848309" cy="523220"/>
          </a:xfrm>
          <a:prstGeom prst="rect">
            <a:avLst/>
          </a:prstGeom>
        </p:spPr>
        <p:txBody>
          <a:bodyPr wrap="none">
            <a:spAutoFit/>
          </a:bodyPr>
          <a:lstStyle/>
          <a:p>
            <a:r>
              <a:rPr lang="en-US" altLang="zh-CN" sz="2800" b="1" dirty="0">
                <a:solidFill>
                  <a:srgbClr val="00000C"/>
                </a:solidFill>
                <a:latin typeface="Britannic Bold"/>
                <a:ea typeface="微软雅黑"/>
              </a:rPr>
              <a:t>100</a:t>
            </a:r>
            <a:endParaRPr lang="zh-CN" altLang="en-US" dirty="0"/>
          </a:p>
        </p:txBody>
      </p:sp>
      <p:sp>
        <p:nvSpPr>
          <p:cNvPr id="31" name="矩形 30"/>
          <p:cNvSpPr/>
          <p:nvPr/>
        </p:nvSpPr>
        <p:spPr>
          <a:xfrm>
            <a:off x="7392145" y="4230952"/>
            <a:ext cx="1685077"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L+S =100</a:t>
            </a:r>
            <a:endParaRPr lang="zh-CN" altLang="en-US" dirty="0"/>
          </a:p>
        </p:txBody>
      </p:sp>
      <p:sp>
        <p:nvSpPr>
          <p:cNvPr id="28" name="灯片编号占位符 27"/>
          <p:cNvSpPr>
            <a:spLocks noGrp="1"/>
          </p:cNvSpPr>
          <p:nvPr>
            <p:ph type="sldNum" sz="quarter" idx="12"/>
          </p:nvPr>
        </p:nvSpPr>
        <p:spPr>
          <a:xfrm>
            <a:off x="8610600" y="6294206"/>
            <a:ext cx="2743200" cy="365125"/>
          </a:xfrm>
        </p:spPr>
        <p:txBody>
          <a:bodyPr/>
          <a:lstStyle/>
          <a:p>
            <a:fld id="{0C913308-F349-4B6D-A68A-DD1791B4A57B}" type="slidenum">
              <a:rPr lang="zh-CN" altLang="en-US" smtClean="0"/>
            </a:fld>
            <a:endParaRPr lang="zh-CN"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任意多边形 29"/>
          <p:cNvSpPr/>
          <p:nvPr/>
        </p:nvSpPr>
        <p:spPr bwMode="auto">
          <a:xfrm>
            <a:off x="4617828" y="2792070"/>
            <a:ext cx="2218414" cy="2735248"/>
          </a:xfrm>
          <a:custGeom>
            <a:avLst/>
            <a:gdLst>
              <a:gd name="connsiteX0" fmla="*/ 0 w 2218414"/>
              <a:gd name="connsiteY0" fmla="*/ 0 h 2735248"/>
              <a:gd name="connsiteX1" fmla="*/ 0 w 2218414"/>
              <a:gd name="connsiteY1" fmla="*/ 2735248 h 2735248"/>
              <a:gd name="connsiteX2" fmla="*/ 2218414 w 2218414"/>
              <a:gd name="connsiteY2" fmla="*/ 1749287 h 2735248"/>
              <a:gd name="connsiteX3" fmla="*/ 0 w 2218414"/>
              <a:gd name="connsiteY3" fmla="*/ 0 h 2735248"/>
            </a:gdLst>
            <a:ahLst/>
            <a:cxnLst>
              <a:cxn ang="0">
                <a:pos x="connsiteX0" y="connsiteY0"/>
              </a:cxn>
              <a:cxn ang="0">
                <a:pos x="connsiteX1" y="connsiteY1"/>
              </a:cxn>
              <a:cxn ang="0">
                <a:pos x="connsiteX2" y="connsiteY2"/>
              </a:cxn>
              <a:cxn ang="0">
                <a:pos x="connsiteX3" y="connsiteY3"/>
              </a:cxn>
            </a:cxnLst>
            <a:rect l="l" t="t" r="r" b="b"/>
            <a:pathLst>
              <a:path w="2218414" h="2735248">
                <a:moveTo>
                  <a:pt x="0" y="0"/>
                </a:moveTo>
                <a:lnTo>
                  <a:pt x="0" y="2735248"/>
                </a:lnTo>
                <a:lnTo>
                  <a:pt x="2218414" y="1749287"/>
                </a:lnTo>
                <a:lnTo>
                  <a:pt x="0" y="0"/>
                </a:lnTo>
                <a:close/>
              </a:path>
            </a:pathLst>
          </a:cu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lstStyle/>
          <a:p>
            <a:pPr fontAlgn="base">
              <a:spcBef>
                <a:spcPct val="0"/>
              </a:spcBef>
              <a:spcAft>
                <a:spcPct val="0"/>
              </a:spcAft>
            </a:pPr>
            <a:endParaRPr lang="zh-CN" altLang="en-US">
              <a:solidFill>
                <a:schemeClr val="tx1"/>
              </a:solidFill>
              <a:latin typeface="Arial" panose="020B0604020202090204" pitchFamily="34" charset="0"/>
              <a:ea typeface="宋体" panose="02010600030101010101" pitchFamily="2" charset="-122"/>
            </a:endParaRPr>
          </a:p>
        </p:txBody>
      </p:sp>
      <p:sp>
        <p:nvSpPr>
          <p:cNvPr id="2" name="标题 1"/>
          <p:cNvSpPr>
            <a:spLocks noGrp="1"/>
          </p:cNvSpPr>
          <p:nvPr>
            <p:ph type="title"/>
          </p:nvPr>
        </p:nvSpPr>
        <p:spPr>
          <a:xfrm>
            <a:off x="168683" y="53268"/>
            <a:ext cx="12023311" cy="978755"/>
          </a:xfrm>
        </p:spPr>
        <p:txBody>
          <a:bodyPr>
            <a:noAutofit/>
          </a:bodyPr>
          <a:lstStyle/>
          <a:p>
            <a:r>
              <a:rPr lang="zh-CN" altLang="en-US" sz="3600" dirty="0">
                <a:solidFill>
                  <a:srgbClr val="060606"/>
                </a:solidFill>
              </a:rPr>
              <a:t>第</a:t>
            </a:r>
            <a:r>
              <a:rPr lang="en-US" altLang="zh-CN" sz="3600" dirty="0">
                <a:solidFill>
                  <a:srgbClr val="060606"/>
                </a:solidFill>
              </a:rPr>
              <a:t>4</a:t>
            </a:r>
            <a:r>
              <a:rPr lang="zh-CN" altLang="en-US" sz="3600" dirty="0">
                <a:solidFill>
                  <a:srgbClr val="060606"/>
                </a:solidFill>
              </a:rPr>
              <a:t>步</a:t>
            </a:r>
            <a:r>
              <a:rPr lang="en-US" altLang="zh-CN" sz="3600" dirty="0">
                <a:solidFill>
                  <a:srgbClr val="060606"/>
                </a:solidFill>
              </a:rPr>
              <a:t>:</a:t>
            </a:r>
            <a:r>
              <a:rPr lang="zh-CN" altLang="en-US" sz="3600" dirty="0">
                <a:solidFill>
                  <a:srgbClr val="060606"/>
                </a:solidFill>
              </a:rPr>
              <a:t>在直角坐标系中表示满足所有约束条件的部分，这部分即为</a:t>
            </a:r>
            <a:r>
              <a:rPr lang="zh-CN" altLang="en-US" sz="3600" dirty="0">
                <a:solidFill>
                  <a:schemeClr val="accent5">
                    <a:lumMod val="50000"/>
                  </a:schemeClr>
                </a:solidFill>
              </a:rPr>
              <a:t>可行域</a:t>
            </a:r>
            <a:r>
              <a:rPr lang="zh-CN" altLang="en-US" sz="3600" dirty="0">
                <a:solidFill>
                  <a:srgbClr val="060606"/>
                </a:solidFill>
              </a:rPr>
              <a:t>，为</a:t>
            </a:r>
            <a:r>
              <a:rPr lang="zh-CN" altLang="en-US" sz="3600" dirty="0">
                <a:solidFill>
                  <a:schemeClr val="accent5">
                    <a:lumMod val="50000"/>
                  </a:schemeClr>
                </a:solidFill>
              </a:rPr>
              <a:t>             </a:t>
            </a:r>
            <a:r>
              <a:rPr lang="zh-CN" altLang="en-US" sz="3600" dirty="0">
                <a:solidFill>
                  <a:srgbClr val="060606"/>
                </a:solidFill>
              </a:rPr>
              <a:t>。</a:t>
            </a:r>
            <a:endParaRPr lang="zh-CN" altLang="en-US" sz="3600" dirty="0">
              <a:solidFill>
                <a:srgbClr val="060606"/>
              </a:solidFill>
            </a:endParaRPr>
          </a:p>
        </p:txBody>
      </p:sp>
      <p:cxnSp>
        <p:nvCxnSpPr>
          <p:cNvPr id="13" name="直接箭头连接符 12"/>
          <p:cNvCxnSpPr/>
          <p:nvPr/>
        </p:nvCxnSpPr>
        <p:spPr bwMode="auto">
          <a:xfrm>
            <a:off x="3325173" y="1292437"/>
            <a:ext cx="0" cy="5076000"/>
          </a:xfrm>
          <a:prstGeom prst="straightConnector1">
            <a:avLst/>
          </a:prstGeom>
          <a:solidFill>
            <a:schemeClr val="accent1"/>
          </a:solidFill>
          <a:ln w="38100" cap="flat" cmpd="sng" algn="ctr">
            <a:solidFill>
              <a:srgbClr val="00000C"/>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箭头连接符 13"/>
          <p:cNvCxnSpPr/>
          <p:nvPr/>
        </p:nvCxnSpPr>
        <p:spPr bwMode="auto">
          <a:xfrm>
            <a:off x="3181157" y="6098265"/>
            <a:ext cx="6444000" cy="0"/>
          </a:xfrm>
          <a:prstGeom prst="straightConnector1">
            <a:avLst/>
          </a:prstGeom>
          <a:solidFill>
            <a:schemeClr val="accent1"/>
          </a:solidFill>
          <a:ln w="38100" cap="flat" cmpd="sng" algn="ctr">
            <a:solidFill>
              <a:srgbClr val="00000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矩形 14"/>
          <p:cNvSpPr/>
          <p:nvPr/>
        </p:nvSpPr>
        <p:spPr>
          <a:xfrm>
            <a:off x="9301837" y="6097809"/>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a:t>
            </a:r>
            <a:endParaRPr lang="zh-CN" altLang="en-US" dirty="0">
              <a:solidFill>
                <a:srgbClr val="00000C"/>
              </a:solidFill>
            </a:endParaRPr>
          </a:p>
        </p:txBody>
      </p:sp>
      <p:sp>
        <p:nvSpPr>
          <p:cNvPr id="16" name="矩形 15"/>
          <p:cNvSpPr/>
          <p:nvPr/>
        </p:nvSpPr>
        <p:spPr>
          <a:xfrm>
            <a:off x="2893125" y="1220429"/>
            <a:ext cx="381836"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S</a:t>
            </a:r>
            <a:endParaRPr lang="zh-CN" altLang="en-US" dirty="0">
              <a:solidFill>
                <a:srgbClr val="00000C"/>
              </a:solidFill>
            </a:endParaRPr>
          </a:p>
        </p:txBody>
      </p:sp>
      <p:sp>
        <p:nvSpPr>
          <p:cNvPr id="35" name="矩形 34"/>
          <p:cNvSpPr/>
          <p:nvPr/>
        </p:nvSpPr>
        <p:spPr>
          <a:xfrm>
            <a:off x="4117261" y="5324885"/>
            <a:ext cx="410690"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B</a:t>
            </a:r>
            <a:endParaRPr lang="zh-CN" altLang="en-US" dirty="0">
              <a:solidFill>
                <a:srgbClr val="00000C"/>
              </a:solidFill>
            </a:endParaRPr>
          </a:p>
        </p:txBody>
      </p:sp>
      <p:sp>
        <p:nvSpPr>
          <p:cNvPr id="36" name="矩形 35"/>
          <p:cNvSpPr/>
          <p:nvPr/>
        </p:nvSpPr>
        <p:spPr>
          <a:xfrm>
            <a:off x="4117261" y="2516573"/>
            <a:ext cx="378630"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A</a:t>
            </a:r>
            <a:endParaRPr lang="zh-CN" altLang="en-US" dirty="0">
              <a:solidFill>
                <a:srgbClr val="00000C"/>
              </a:solidFill>
            </a:endParaRPr>
          </a:p>
        </p:txBody>
      </p:sp>
      <p:sp>
        <p:nvSpPr>
          <p:cNvPr id="37" name="矩形 36"/>
          <p:cNvSpPr/>
          <p:nvPr/>
        </p:nvSpPr>
        <p:spPr>
          <a:xfrm>
            <a:off x="6925573" y="4316773"/>
            <a:ext cx="420308"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D</a:t>
            </a:r>
            <a:endParaRPr lang="zh-CN" altLang="en-US" dirty="0">
              <a:solidFill>
                <a:srgbClr val="00000C"/>
              </a:solidFill>
            </a:endParaRPr>
          </a:p>
        </p:txBody>
      </p:sp>
      <p:cxnSp>
        <p:nvCxnSpPr>
          <p:cNvPr id="17" name="直接连接符 16"/>
          <p:cNvCxnSpPr/>
          <p:nvPr/>
        </p:nvCxnSpPr>
        <p:spPr bwMode="auto">
          <a:xfrm>
            <a:off x="4621317" y="2497865"/>
            <a:ext cx="0" cy="4104000"/>
          </a:xfrm>
          <a:prstGeom prst="line">
            <a:avLst/>
          </a:prstGeom>
          <a:solidFill>
            <a:schemeClr val="accent1"/>
          </a:solidFill>
          <a:ln w="3175" cap="flat" cmpd="sng" algn="ctr">
            <a:solidFill>
              <a:srgbClr val="06060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p:cNvCxnSpPr/>
          <p:nvPr/>
        </p:nvCxnSpPr>
        <p:spPr bwMode="auto">
          <a:xfrm>
            <a:off x="2821117" y="1364445"/>
            <a:ext cx="6408712" cy="5112568"/>
          </a:xfrm>
          <a:prstGeom prst="line">
            <a:avLst/>
          </a:prstGeom>
          <a:solidFill>
            <a:schemeClr val="accent1"/>
          </a:solid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矩形 18"/>
          <p:cNvSpPr/>
          <p:nvPr/>
        </p:nvSpPr>
        <p:spPr>
          <a:xfrm>
            <a:off x="2991301" y="6006637"/>
            <a:ext cx="405880"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0</a:t>
            </a:r>
            <a:endParaRPr lang="zh-CN" altLang="en-US" dirty="0">
              <a:solidFill>
                <a:srgbClr val="00000C"/>
              </a:solidFill>
            </a:endParaRPr>
          </a:p>
        </p:txBody>
      </p:sp>
      <p:sp>
        <p:nvSpPr>
          <p:cNvPr id="20" name="矩形 19"/>
          <p:cNvSpPr/>
          <p:nvPr/>
        </p:nvSpPr>
        <p:spPr>
          <a:xfrm>
            <a:off x="4261278" y="6169817"/>
            <a:ext cx="627095" cy="523220"/>
          </a:xfrm>
          <a:prstGeom prst="rect">
            <a:avLst/>
          </a:prstGeom>
        </p:spPr>
        <p:txBody>
          <a:bodyPr wrap="none">
            <a:spAutoFit/>
          </a:bodyPr>
          <a:lstStyle/>
          <a:p>
            <a:r>
              <a:rPr lang="en-US" altLang="zh-CN" sz="2800" b="1" dirty="0">
                <a:solidFill>
                  <a:srgbClr val="00000C"/>
                </a:solidFill>
                <a:latin typeface="Britannic Bold"/>
                <a:ea typeface="微软雅黑"/>
              </a:rPr>
              <a:t>30</a:t>
            </a:r>
            <a:endParaRPr lang="zh-CN" altLang="en-US" dirty="0"/>
          </a:p>
        </p:txBody>
      </p:sp>
      <p:cxnSp>
        <p:nvCxnSpPr>
          <p:cNvPr id="21" name="直接连接符 20"/>
          <p:cNvCxnSpPr/>
          <p:nvPr/>
        </p:nvCxnSpPr>
        <p:spPr bwMode="auto">
          <a:xfrm flipV="1">
            <a:off x="2929477" y="5521289"/>
            <a:ext cx="2556000" cy="456"/>
          </a:xfrm>
          <a:prstGeom prst="line">
            <a:avLst/>
          </a:prstGeom>
          <a:solidFill>
            <a:schemeClr val="accent1"/>
          </a:solidFill>
          <a:ln w="3175" cap="flat" cmpd="sng" algn="ctr">
            <a:solidFill>
              <a:srgbClr val="06060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矩形 21"/>
          <p:cNvSpPr/>
          <p:nvPr/>
        </p:nvSpPr>
        <p:spPr>
          <a:xfrm>
            <a:off x="2605094" y="5305721"/>
            <a:ext cx="627095" cy="523220"/>
          </a:xfrm>
          <a:prstGeom prst="rect">
            <a:avLst/>
          </a:prstGeom>
        </p:spPr>
        <p:txBody>
          <a:bodyPr wrap="none">
            <a:spAutoFit/>
          </a:bodyPr>
          <a:lstStyle/>
          <a:p>
            <a:r>
              <a:rPr lang="en-US" altLang="zh-CN" sz="2800" b="1" dirty="0">
                <a:solidFill>
                  <a:srgbClr val="00000C"/>
                </a:solidFill>
                <a:latin typeface="Britannic Bold"/>
                <a:ea typeface="微软雅黑"/>
              </a:rPr>
              <a:t>10</a:t>
            </a:r>
            <a:endParaRPr lang="zh-CN" altLang="en-US" dirty="0"/>
          </a:p>
        </p:txBody>
      </p:sp>
      <p:cxnSp>
        <p:nvCxnSpPr>
          <p:cNvPr id="23" name="直接连接符 22"/>
          <p:cNvCxnSpPr/>
          <p:nvPr/>
        </p:nvCxnSpPr>
        <p:spPr bwMode="auto">
          <a:xfrm flipV="1">
            <a:off x="3037141" y="2785441"/>
            <a:ext cx="2556000" cy="456"/>
          </a:xfrm>
          <a:prstGeom prst="line">
            <a:avLst/>
          </a:prstGeom>
          <a:solidFill>
            <a:schemeClr val="accent1"/>
          </a:solidFill>
          <a:ln w="3175" cap="flat" cmpd="sng" algn="ctr">
            <a:solidFill>
              <a:srgbClr val="06060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矩形 23"/>
          <p:cNvSpPr/>
          <p:nvPr/>
        </p:nvSpPr>
        <p:spPr>
          <a:xfrm>
            <a:off x="2389070" y="2569417"/>
            <a:ext cx="627095" cy="523220"/>
          </a:xfrm>
          <a:prstGeom prst="rect">
            <a:avLst/>
          </a:prstGeom>
        </p:spPr>
        <p:txBody>
          <a:bodyPr wrap="none">
            <a:spAutoFit/>
          </a:bodyPr>
          <a:lstStyle/>
          <a:p>
            <a:r>
              <a:rPr lang="en-US" altLang="zh-CN" sz="2800" b="1" dirty="0">
                <a:solidFill>
                  <a:srgbClr val="00000C"/>
                </a:solidFill>
                <a:latin typeface="Britannic Bold"/>
                <a:ea typeface="微软雅黑"/>
              </a:rPr>
              <a:t>70</a:t>
            </a:r>
            <a:endParaRPr lang="zh-CN" altLang="en-US" dirty="0"/>
          </a:p>
        </p:txBody>
      </p:sp>
      <p:cxnSp>
        <p:nvCxnSpPr>
          <p:cNvPr id="25" name="直接连接符 24"/>
          <p:cNvCxnSpPr/>
          <p:nvPr/>
        </p:nvCxnSpPr>
        <p:spPr bwMode="auto">
          <a:xfrm flipV="1">
            <a:off x="2965133" y="1724485"/>
            <a:ext cx="2556000" cy="456"/>
          </a:xfrm>
          <a:prstGeom prst="line">
            <a:avLst/>
          </a:prstGeom>
          <a:solidFill>
            <a:schemeClr val="accent1"/>
          </a:solidFill>
          <a:ln w="3175" cap="flat" cmpd="sng" algn="ctr">
            <a:solidFill>
              <a:srgbClr val="06060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矩形 25"/>
          <p:cNvSpPr/>
          <p:nvPr/>
        </p:nvSpPr>
        <p:spPr>
          <a:xfrm>
            <a:off x="2389070" y="1580469"/>
            <a:ext cx="848309" cy="523220"/>
          </a:xfrm>
          <a:prstGeom prst="rect">
            <a:avLst/>
          </a:prstGeom>
        </p:spPr>
        <p:txBody>
          <a:bodyPr wrap="none">
            <a:spAutoFit/>
          </a:bodyPr>
          <a:lstStyle/>
          <a:p>
            <a:r>
              <a:rPr lang="en-US" altLang="zh-CN" sz="2800" b="1" dirty="0">
                <a:solidFill>
                  <a:srgbClr val="00000C"/>
                </a:solidFill>
                <a:latin typeface="Britannic Bold"/>
                <a:ea typeface="微软雅黑"/>
              </a:rPr>
              <a:t>100</a:t>
            </a:r>
            <a:endParaRPr lang="zh-CN" altLang="en-US" dirty="0"/>
          </a:p>
        </p:txBody>
      </p:sp>
      <p:sp>
        <p:nvSpPr>
          <p:cNvPr id="27" name="矩形 26"/>
          <p:cNvSpPr/>
          <p:nvPr/>
        </p:nvSpPr>
        <p:spPr>
          <a:xfrm>
            <a:off x="6853566" y="5036853"/>
            <a:ext cx="1685077"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L+S =100</a:t>
            </a:r>
            <a:endParaRPr lang="zh-CN" altLang="en-US" dirty="0"/>
          </a:p>
        </p:txBody>
      </p:sp>
      <p:cxnSp>
        <p:nvCxnSpPr>
          <p:cNvPr id="28" name="直接连接符 27"/>
          <p:cNvCxnSpPr/>
          <p:nvPr/>
        </p:nvCxnSpPr>
        <p:spPr bwMode="auto">
          <a:xfrm flipV="1">
            <a:off x="3325173" y="3632973"/>
            <a:ext cx="5580000" cy="2484000"/>
          </a:xfrm>
          <a:prstGeom prst="line">
            <a:avLst/>
          </a:prstGeom>
          <a:solidFill>
            <a:schemeClr val="accent1"/>
          </a:solid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p:cNvCxnSpPr/>
          <p:nvPr/>
        </p:nvCxnSpPr>
        <p:spPr bwMode="auto">
          <a:xfrm>
            <a:off x="4621317" y="2084981"/>
            <a:ext cx="0" cy="4104000"/>
          </a:xfrm>
          <a:prstGeom prst="line">
            <a:avLst/>
          </a:prstGeom>
          <a:solidFill>
            <a:schemeClr val="accent1"/>
          </a:solid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矩形 30"/>
          <p:cNvSpPr/>
          <p:nvPr/>
        </p:nvSpPr>
        <p:spPr>
          <a:xfrm>
            <a:off x="7501637" y="3452677"/>
            <a:ext cx="1271502"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L-3S=0</a:t>
            </a:r>
            <a:endParaRPr lang="zh-CN" altLang="en-US" dirty="0"/>
          </a:p>
        </p:txBody>
      </p:sp>
      <p:sp>
        <p:nvSpPr>
          <p:cNvPr id="32" name="矩形 31"/>
          <p:cNvSpPr/>
          <p:nvPr/>
        </p:nvSpPr>
        <p:spPr>
          <a:xfrm>
            <a:off x="4549310" y="1940509"/>
            <a:ext cx="982961"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L=30</a:t>
            </a:r>
            <a:endParaRPr lang="zh-CN" altLang="en-US" dirty="0">
              <a:solidFill>
                <a:srgbClr val="00000C"/>
              </a:solidFill>
            </a:endParaRPr>
          </a:p>
        </p:txBody>
      </p:sp>
      <p:grpSp>
        <p:nvGrpSpPr>
          <p:cNvPr id="41" name="组合 40"/>
          <p:cNvGrpSpPr/>
          <p:nvPr/>
        </p:nvGrpSpPr>
        <p:grpSpPr>
          <a:xfrm>
            <a:off x="1524974" y="3740709"/>
            <a:ext cx="1179495" cy="523220"/>
            <a:chOff x="755576" y="3501008"/>
            <a:chExt cx="1179495" cy="523220"/>
          </a:xfrm>
        </p:grpSpPr>
        <p:sp>
          <p:nvSpPr>
            <p:cNvPr id="40" name="矩形 39"/>
            <p:cNvSpPr/>
            <p:nvPr/>
          </p:nvSpPr>
          <p:spPr>
            <a:xfrm>
              <a:off x="1115616" y="3501008"/>
              <a:ext cx="819455"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ABC</a:t>
              </a:r>
              <a:endParaRPr lang="zh-CN" altLang="en-US" dirty="0">
                <a:solidFill>
                  <a:srgbClr val="00000C"/>
                </a:solidFill>
              </a:endParaRPr>
            </a:p>
          </p:txBody>
        </p:sp>
        <p:sp>
          <p:nvSpPr>
            <p:cNvPr id="39" name="等腰三角形 38"/>
            <p:cNvSpPr/>
            <p:nvPr/>
          </p:nvSpPr>
          <p:spPr bwMode="auto">
            <a:xfrm>
              <a:off x="755576" y="3573016"/>
              <a:ext cx="360040" cy="360040"/>
            </a:xfrm>
            <a:prstGeom prst="triangle">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grpSp>
        <p:nvGrpSpPr>
          <p:cNvPr id="42" name="组合 41"/>
          <p:cNvGrpSpPr/>
          <p:nvPr/>
        </p:nvGrpSpPr>
        <p:grpSpPr>
          <a:xfrm>
            <a:off x="3948844" y="502638"/>
            <a:ext cx="1200335" cy="523220"/>
            <a:chOff x="755576" y="3501008"/>
            <a:chExt cx="1200335" cy="523220"/>
          </a:xfrm>
        </p:grpSpPr>
        <p:sp>
          <p:nvSpPr>
            <p:cNvPr id="43" name="矩形 42"/>
            <p:cNvSpPr/>
            <p:nvPr/>
          </p:nvSpPr>
          <p:spPr>
            <a:xfrm>
              <a:off x="1115616" y="3501008"/>
              <a:ext cx="840295" cy="523220"/>
            </a:xfrm>
            <a:prstGeom prst="rect">
              <a:avLst/>
            </a:prstGeom>
          </p:spPr>
          <p:txBody>
            <a:bodyPr wrap="none">
              <a:spAutoFit/>
            </a:bodyPr>
            <a:lstStyle/>
            <a:p>
              <a:r>
                <a:rPr lang="en-US" altLang="zh-CN" sz="2800" b="1" dirty="0">
                  <a:solidFill>
                    <a:srgbClr val="00000C"/>
                  </a:solidFill>
                  <a:latin typeface="Britannic Bold"/>
                  <a:ea typeface="微软雅黑"/>
                  <a:cs typeface="+mj-cs"/>
                </a:rPr>
                <a:t>ABD</a:t>
              </a:r>
              <a:endParaRPr lang="zh-CN" altLang="en-US" dirty="0">
                <a:solidFill>
                  <a:srgbClr val="00000C"/>
                </a:solidFill>
              </a:endParaRPr>
            </a:p>
          </p:txBody>
        </p:sp>
        <p:sp>
          <p:nvSpPr>
            <p:cNvPr id="44" name="等腰三角形 43"/>
            <p:cNvSpPr/>
            <p:nvPr/>
          </p:nvSpPr>
          <p:spPr bwMode="auto">
            <a:xfrm>
              <a:off x="755576" y="3573016"/>
              <a:ext cx="360040" cy="360040"/>
            </a:xfrm>
            <a:prstGeom prst="triangle">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pic>
        <p:nvPicPr>
          <p:cNvPr id="46" name="图片 45"/>
          <p:cNvPicPr>
            <a:picLocks noChangeAspect="1"/>
          </p:cNvPicPr>
          <p:nvPr/>
        </p:nvPicPr>
        <p:blipFill>
          <a:blip r:embed="rId1"/>
          <a:stretch>
            <a:fillRect/>
          </a:stretch>
        </p:blipFill>
        <p:spPr>
          <a:xfrm>
            <a:off x="8276960" y="713779"/>
            <a:ext cx="3933825" cy="1895475"/>
          </a:xfrm>
          <a:prstGeom prst="rect">
            <a:avLst/>
          </a:prstGeom>
        </p:spPr>
      </p:pic>
      <p:cxnSp>
        <p:nvCxnSpPr>
          <p:cNvPr id="49" name="直接连接符 48"/>
          <p:cNvCxnSpPr>
            <a:endCxn id="46" idx="1"/>
          </p:cNvCxnSpPr>
          <p:nvPr/>
        </p:nvCxnSpPr>
        <p:spPr>
          <a:xfrm flipV="1">
            <a:off x="5913969" y="1661517"/>
            <a:ext cx="2362991" cy="2511240"/>
          </a:xfrm>
          <a:prstGeom prst="line">
            <a:avLst/>
          </a:prstGeom>
          <a:ln w="28575">
            <a:prstDash val="lgDashDot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57150"/>
            <a:ext cx="12192000" cy="6791325"/>
          </a:xfrm>
          <a:noFill/>
        </p:spPr>
        <p:txBody>
          <a:bodyPr>
            <a:noAutofit/>
          </a:bodyPr>
          <a:lstStyle/>
          <a:p>
            <a:pPr>
              <a:lnSpc>
                <a:spcPct val="100000"/>
              </a:lnSpc>
            </a:pPr>
            <a:r>
              <a:rPr lang="zh-CN" altLang="en-US" sz="2000" dirty="0">
                <a:solidFill>
                  <a:srgbClr val="060606"/>
                </a:solidFill>
              </a:rPr>
              <a:t>那么，最优解在哪里？</a:t>
            </a:r>
            <a:br>
              <a:rPr lang="en-US" altLang="zh-CN" sz="2000" dirty="0">
                <a:solidFill>
                  <a:srgbClr val="060606"/>
                </a:solidFill>
              </a:rPr>
            </a:br>
            <a:r>
              <a:rPr lang="zh-CN" altLang="en-US" sz="2000" dirty="0">
                <a:solidFill>
                  <a:srgbClr val="060606"/>
                </a:solidFill>
              </a:rPr>
              <a:t>第</a:t>
            </a:r>
            <a:r>
              <a:rPr lang="en-US" altLang="zh-CN" sz="2000" dirty="0">
                <a:solidFill>
                  <a:srgbClr val="060606"/>
                </a:solidFill>
              </a:rPr>
              <a:t>5</a:t>
            </a:r>
            <a:r>
              <a:rPr lang="zh-CN" altLang="en-US" sz="2000" dirty="0">
                <a:solidFill>
                  <a:srgbClr val="060606"/>
                </a:solidFill>
              </a:rPr>
              <a:t>步：在△ </a:t>
            </a:r>
            <a:r>
              <a:rPr lang="en-US" altLang="zh-CN" sz="2000" dirty="0">
                <a:solidFill>
                  <a:srgbClr val="060606"/>
                </a:solidFill>
              </a:rPr>
              <a:t>ABD</a:t>
            </a:r>
            <a:r>
              <a:rPr lang="zh-CN" altLang="en-US" sz="2000" dirty="0">
                <a:solidFill>
                  <a:srgbClr val="060606"/>
                </a:solidFill>
              </a:rPr>
              <a:t>中，找到令</a:t>
            </a:r>
            <a:r>
              <a:rPr lang="en-US" altLang="zh-CN" sz="2000" dirty="0">
                <a:solidFill>
                  <a:srgbClr val="060606"/>
                </a:solidFill>
              </a:rPr>
              <a:t>Z= 0.10L+0.05S</a:t>
            </a:r>
            <a:r>
              <a:rPr lang="zh-CN" altLang="en-US" sz="2000" dirty="0">
                <a:solidFill>
                  <a:srgbClr val="060606"/>
                </a:solidFill>
              </a:rPr>
              <a:t>为最大值的点</a:t>
            </a:r>
            <a:r>
              <a:rPr lang="en-US" altLang="zh-CN" sz="2000" dirty="0">
                <a:solidFill>
                  <a:srgbClr val="060606"/>
                </a:solidFill>
              </a:rPr>
              <a:t>(L</a:t>
            </a:r>
            <a:r>
              <a:rPr lang="zh-CN" altLang="en-US" sz="2000" dirty="0">
                <a:solidFill>
                  <a:srgbClr val="060606"/>
                </a:solidFill>
              </a:rPr>
              <a:t>，</a:t>
            </a:r>
            <a:r>
              <a:rPr lang="en-US" altLang="zh-CN" sz="2000" dirty="0">
                <a:solidFill>
                  <a:srgbClr val="060606"/>
                </a:solidFill>
              </a:rPr>
              <a:t>S)</a:t>
            </a:r>
            <a:r>
              <a:rPr lang="zh-CN" altLang="en-US" sz="2000" dirty="0">
                <a:solidFill>
                  <a:srgbClr val="060606"/>
                </a:solidFill>
              </a:rPr>
              <a:t>。</a:t>
            </a:r>
            <a:br>
              <a:rPr lang="en-US" altLang="zh-CN" sz="2000" dirty="0">
                <a:solidFill>
                  <a:srgbClr val="060606"/>
                </a:solidFill>
              </a:rPr>
            </a:br>
            <a:r>
              <a:rPr lang="en-US" altLang="zh-CN" sz="2000" dirty="0">
                <a:solidFill>
                  <a:srgbClr val="060606"/>
                </a:solidFill>
              </a:rPr>
              <a:t>(1)</a:t>
            </a:r>
            <a:r>
              <a:rPr lang="zh-CN" altLang="en-US" sz="2000" dirty="0">
                <a:solidFill>
                  <a:srgbClr val="060606"/>
                </a:solidFill>
              </a:rPr>
              <a:t>令</a:t>
            </a:r>
            <a:r>
              <a:rPr lang="en-US" altLang="zh-CN" sz="2000" dirty="0">
                <a:solidFill>
                  <a:srgbClr val="060606"/>
                </a:solidFill>
              </a:rPr>
              <a:t>0.10L+0.05S = </a:t>
            </a:r>
            <a:r>
              <a:rPr lang="zh-CN" altLang="en-US" sz="2000" dirty="0">
                <a:solidFill>
                  <a:srgbClr val="060606"/>
                </a:solidFill>
              </a:rPr>
              <a:t>常数</a:t>
            </a:r>
            <a:br>
              <a:rPr lang="en-US" altLang="zh-CN" sz="2000" dirty="0">
                <a:solidFill>
                  <a:srgbClr val="060606"/>
                </a:solidFill>
              </a:rPr>
            </a:br>
            <a:r>
              <a:rPr lang="en-US" altLang="zh-CN" sz="2000" dirty="0">
                <a:solidFill>
                  <a:srgbClr val="060606"/>
                </a:solidFill>
              </a:rPr>
              <a:t>(2)</a:t>
            </a:r>
            <a:r>
              <a:rPr lang="zh-CN" altLang="en-US" sz="2000" dirty="0">
                <a:solidFill>
                  <a:srgbClr val="060606"/>
                </a:solidFill>
              </a:rPr>
              <a:t>调整上式得</a:t>
            </a:r>
            <a:r>
              <a:rPr lang="en-US" altLang="zh-CN" sz="2000" dirty="0">
                <a:solidFill>
                  <a:srgbClr val="060606"/>
                </a:solidFill>
              </a:rPr>
              <a:t>2L+S = C (C</a:t>
            </a:r>
            <a:r>
              <a:rPr lang="zh-CN" altLang="en-US" sz="2000" dirty="0">
                <a:solidFill>
                  <a:srgbClr val="060606"/>
                </a:solidFill>
              </a:rPr>
              <a:t>为常数</a:t>
            </a:r>
            <a:r>
              <a:rPr lang="en-US" altLang="zh-CN" sz="2000" dirty="0">
                <a:solidFill>
                  <a:srgbClr val="060606"/>
                </a:solidFill>
              </a:rPr>
              <a:t>)</a:t>
            </a:r>
            <a:br>
              <a:rPr lang="en-US" altLang="zh-CN" sz="2000" dirty="0">
                <a:solidFill>
                  <a:srgbClr val="060606"/>
                </a:solidFill>
              </a:rPr>
            </a:br>
            <a:r>
              <a:rPr lang="en-US" altLang="zh-CN" sz="2000" dirty="0">
                <a:solidFill>
                  <a:srgbClr val="060606"/>
                </a:solidFill>
              </a:rPr>
              <a:t>(3) 2L+S = C(C</a:t>
            </a:r>
            <a:r>
              <a:rPr lang="zh-CN" altLang="en-US" sz="2000" dirty="0">
                <a:solidFill>
                  <a:srgbClr val="060606"/>
                </a:solidFill>
              </a:rPr>
              <a:t>为常数</a:t>
            </a:r>
            <a:r>
              <a:rPr lang="en-US" altLang="zh-CN" sz="2000" dirty="0">
                <a:solidFill>
                  <a:srgbClr val="060606"/>
                </a:solidFill>
              </a:rPr>
              <a:t>)</a:t>
            </a:r>
            <a:r>
              <a:rPr lang="zh-CN" altLang="en-US" sz="2000" dirty="0">
                <a:solidFill>
                  <a:srgbClr val="060606"/>
                </a:solidFill>
              </a:rPr>
              <a:t>，表示</a:t>
            </a:r>
            <a:br>
              <a:rPr lang="en-US" altLang="zh-CN" sz="2000" dirty="0">
                <a:solidFill>
                  <a:srgbClr val="060606"/>
                </a:solidFill>
              </a:rPr>
            </a:br>
            <a:r>
              <a:rPr lang="zh-CN" altLang="en-US" sz="2000" dirty="0">
                <a:solidFill>
                  <a:srgbClr val="060606"/>
                </a:solidFill>
              </a:rPr>
              <a:t>一条直线；当</a:t>
            </a:r>
            <a:r>
              <a:rPr lang="en-US" altLang="zh-CN" sz="2000" dirty="0">
                <a:solidFill>
                  <a:srgbClr val="060606"/>
                </a:solidFill>
              </a:rPr>
              <a:t>C</a:t>
            </a:r>
            <a:r>
              <a:rPr lang="zh-CN" altLang="en-US" sz="2000" dirty="0">
                <a:solidFill>
                  <a:srgbClr val="060606"/>
                </a:solidFill>
              </a:rPr>
              <a:t>取不同值时，</a:t>
            </a:r>
            <a:br>
              <a:rPr lang="en-US" altLang="zh-CN" sz="2000" dirty="0">
                <a:solidFill>
                  <a:srgbClr val="060606"/>
                </a:solidFill>
              </a:rPr>
            </a:br>
            <a:r>
              <a:rPr lang="zh-CN" altLang="en-US" sz="2000" dirty="0">
                <a:solidFill>
                  <a:srgbClr val="060606"/>
                </a:solidFill>
              </a:rPr>
              <a:t>可得</a:t>
            </a:r>
            <a:r>
              <a:rPr lang="zh-CN" altLang="en-US" sz="2000" dirty="0">
                <a:solidFill>
                  <a:srgbClr val="FF0000"/>
                </a:solidFill>
              </a:rPr>
              <a:t>相互平行的不同直线</a:t>
            </a:r>
            <a:r>
              <a:rPr lang="zh-CN" altLang="en-US" sz="2000" dirty="0">
                <a:solidFill>
                  <a:srgbClr val="060606"/>
                </a:solidFill>
              </a:rPr>
              <a:t>，</a:t>
            </a:r>
            <a:br>
              <a:rPr lang="en-US" altLang="zh-CN" sz="2000" dirty="0">
                <a:solidFill>
                  <a:srgbClr val="060606"/>
                </a:solidFill>
              </a:rPr>
            </a:br>
            <a:r>
              <a:rPr lang="zh-CN" altLang="en-US" sz="2000" dirty="0">
                <a:solidFill>
                  <a:srgbClr val="060606"/>
                </a:solidFill>
              </a:rPr>
              <a:t>是</a:t>
            </a:r>
            <a:r>
              <a:rPr lang="zh-CN" altLang="en-US" sz="2000" dirty="0">
                <a:solidFill>
                  <a:srgbClr val="FF0000"/>
                </a:solidFill>
              </a:rPr>
              <a:t>一系列目标等值</a:t>
            </a:r>
            <a:r>
              <a:rPr lang="en-US" altLang="zh-CN" sz="2000" dirty="0">
                <a:solidFill>
                  <a:srgbClr val="FF0000"/>
                </a:solidFill>
              </a:rPr>
              <a:t>C</a:t>
            </a:r>
            <a:r>
              <a:rPr lang="zh-CN" altLang="en-US" sz="2000" dirty="0">
                <a:solidFill>
                  <a:srgbClr val="FF0000"/>
                </a:solidFill>
              </a:rPr>
              <a:t>线</a:t>
            </a:r>
            <a:r>
              <a:rPr lang="zh-CN" altLang="en-US" sz="2000" dirty="0">
                <a:solidFill>
                  <a:srgbClr val="060606"/>
                </a:solidFill>
              </a:rPr>
              <a:t>。</a:t>
            </a:r>
            <a:br>
              <a:rPr lang="en-US" altLang="zh-CN" sz="2000" dirty="0">
                <a:solidFill>
                  <a:srgbClr val="060606"/>
                </a:solidFill>
              </a:rPr>
            </a:br>
            <a:r>
              <a:rPr lang="en-US" altLang="zh-CN" sz="2000" dirty="0">
                <a:solidFill>
                  <a:srgbClr val="060606"/>
                </a:solidFill>
              </a:rPr>
              <a:t>(4)</a:t>
            </a:r>
            <a:r>
              <a:rPr lang="zh-CN" altLang="en-US" sz="2000" dirty="0">
                <a:solidFill>
                  <a:srgbClr val="060606"/>
                </a:solidFill>
              </a:rPr>
              <a:t>分别取△</a:t>
            </a:r>
            <a:r>
              <a:rPr lang="en-US" altLang="zh-CN" sz="2000" dirty="0">
                <a:solidFill>
                  <a:srgbClr val="060606"/>
                </a:solidFill>
              </a:rPr>
              <a:t>ABD</a:t>
            </a:r>
            <a:r>
              <a:rPr lang="zh-CN" altLang="en-US" sz="2000" dirty="0">
                <a:solidFill>
                  <a:srgbClr val="060606"/>
                </a:solidFill>
              </a:rPr>
              <a:t>中</a:t>
            </a:r>
            <a:r>
              <a:rPr lang="en-US" altLang="zh-CN" sz="2000" dirty="0">
                <a:solidFill>
                  <a:srgbClr val="060606"/>
                </a:solidFill>
              </a:rPr>
              <a:t>A</a:t>
            </a:r>
            <a:r>
              <a:rPr lang="zh-CN" altLang="en-US" sz="2000" dirty="0">
                <a:solidFill>
                  <a:srgbClr val="060606"/>
                </a:solidFill>
              </a:rPr>
              <a:t>、</a:t>
            </a:r>
            <a:r>
              <a:rPr lang="en-US" altLang="zh-CN" sz="2000" dirty="0">
                <a:solidFill>
                  <a:srgbClr val="060606"/>
                </a:solidFill>
              </a:rPr>
              <a:t>B</a:t>
            </a:r>
            <a:r>
              <a:rPr lang="zh-CN" altLang="en-US" sz="2000" dirty="0">
                <a:solidFill>
                  <a:srgbClr val="060606"/>
                </a:solidFill>
              </a:rPr>
              <a:t>、</a:t>
            </a:r>
            <a:r>
              <a:rPr lang="en-US" altLang="zh-CN" sz="2000" dirty="0">
                <a:solidFill>
                  <a:srgbClr val="060606"/>
                </a:solidFill>
              </a:rPr>
              <a:t>D</a:t>
            </a:r>
            <a:r>
              <a:rPr lang="zh-CN" altLang="en-US" sz="2000" dirty="0">
                <a:solidFill>
                  <a:srgbClr val="060606"/>
                </a:solidFill>
              </a:rPr>
              <a:t>三点，</a:t>
            </a:r>
            <a:br>
              <a:rPr lang="en-US" altLang="zh-CN" sz="2000" dirty="0">
                <a:solidFill>
                  <a:srgbClr val="060606"/>
                </a:solidFill>
              </a:rPr>
            </a:br>
            <a:r>
              <a:rPr lang="zh-CN" altLang="en-US" sz="2000" dirty="0">
                <a:solidFill>
                  <a:srgbClr val="060606"/>
                </a:solidFill>
              </a:rPr>
              <a:t>可得</a:t>
            </a:r>
            <a:r>
              <a:rPr lang="en-US" altLang="zh-CN" sz="2000" dirty="0">
                <a:solidFill>
                  <a:srgbClr val="060606"/>
                </a:solidFill>
              </a:rPr>
              <a:t>3</a:t>
            </a:r>
            <a:r>
              <a:rPr lang="zh-CN" altLang="en-US" sz="2000" dirty="0">
                <a:solidFill>
                  <a:srgbClr val="060606"/>
                </a:solidFill>
              </a:rPr>
              <a:t>条平行线段</a:t>
            </a:r>
            <a:br>
              <a:rPr lang="en-US" altLang="zh-CN" sz="2000" dirty="0">
                <a:solidFill>
                  <a:srgbClr val="060606"/>
                </a:solidFill>
              </a:rPr>
            </a:br>
            <a:r>
              <a:rPr lang="en-US" altLang="zh-CN" sz="2000" dirty="0">
                <a:solidFill>
                  <a:srgbClr val="060606"/>
                </a:solidFill>
              </a:rPr>
              <a:t>L1</a:t>
            </a:r>
            <a:r>
              <a:rPr lang="zh-CN" altLang="en-US" sz="2000" dirty="0">
                <a:solidFill>
                  <a:srgbClr val="060606"/>
                </a:solidFill>
              </a:rPr>
              <a:t>：</a:t>
            </a:r>
            <a:r>
              <a:rPr lang="en-US" altLang="zh-CN" sz="2000" dirty="0">
                <a:solidFill>
                  <a:srgbClr val="060606"/>
                </a:solidFill>
              </a:rPr>
              <a:t> 2L+S = 70</a:t>
            </a:r>
            <a:r>
              <a:rPr lang="zh-CN" altLang="en-US" sz="2000" dirty="0">
                <a:solidFill>
                  <a:srgbClr val="060606"/>
                </a:solidFill>
              </a:rPr>
              <a:t>；</a:t>
            </a:r>
            <a:br>
              <a:rPr lang="en-US" altLang="zh-CN" sz="2000" dirty="0">
                <a:solidFill>
                  <a:srgbClr val="060606"/>
                </a:solidFill>
              </a:rPr>
            </a:br>
            <a:r>
              <a:rPr lang="en-US" altLang="zh-CN" sz="2000" dirty="0">
                <a:solidFill>
                  <a:srgbClr val="060606"/>
                </a:solidFill>
              </a:rPr>
              <a:t>L2</a:t>
            </a:r>
            <a:r>
              <a:rPr lang="zh-CN" altLang="en-US" sz="2000" dirty="0">
                <a:solidFill>
                  <a:srgbClr val="060606"/>
                </a:solidFill>
              </a:rPr>
              <a:t>：</a:t>
            </a:r>
            <a:r>
              <a:rPr lang="en-US" altLang="zh-CN" sz="2000" dirty="0">
                <a:solidFill>
                  <a:srgbClr val="060606"/>
                </a:solidFill>
              </a:rPr>
              <a:t>2L+S = 130</a:t>
            </a:r>
            <a:r>
              <a:rPr lang="zh-CN" altLang="en-US" sz="2000" dirty="0">
                <a:solidFill>
                  <a:srgbClr val="060606"/>
                </a:solidFill>
              </a:rPr>
              <a:t>；</a:t>
            </a:r>
            <a:br>
              <a:rPr lang="en-US" altLang="zh-CN" sz="2000" dirty="0">
                <a:solidFill>
                  <a:srgbClr val="060606"/>
                </a:solidFill>
              </a:rPr>
            </a:br>
            <a:r>
              <a:rPr lang="en-US" altLang="zh-CN" sz="2000" dirty="0">
                <a:solidFill>
                  <a:srgbClr val="060606"/>
                </a:solidFill>
              </a:rPr>
              <a:t>L3</a:t>
            </a:r>
            <a:r>
              <a:rPr lang="zh-CN" altLang="en-US" sz="2000" dirty="0">
                <a:solidFill>
                  <a:srgbClr val="060606"/>
                </a:solidFill>
              </a:rPr>
              <a:t>：</a:t>
            </a:r>
            <a:r>
              <a:rPr lang="en-US" altLang="zh-CN" sz="2000" dirty="0">
                <a:solidFill>
                  <a:srgbClr val="060606"/>
                </a:solidFill>
              </a:rPr>
              <a:t>2L+S = 175</a:t>
            </a:r>
            <a:r>
              <a:rPr lang="zh-CN" altLang="en-US" sz="2000" dirty="0">
                <a:solidFill>
                  <a:srgbClr val="060606"/>
                </a:solidFill>
              </a:rPr>
              <a:t>；</a:t>
            </a:r>
            <a:br>
              <a:rPr lang="en-US" altLang="zh-CN" sz="2000" dirty="0">
                <a:solidFill>
                  <a:srgbClr val="060606"/>
                </a:solidFill>
              </a:rPr>
            </a:br>
            <a:r>
              <a:rPr lang="en-US" altLang="zh-CN" sz="2000" dirty="0">
                <a:solidFill>
                  <a:srgbClr val="060606"/>
                </a:solidFill>
              </a:rPr>
              <a:t>(5)</a:t>
            </a:r>
            <a:r>
              <a:rPr lang="zh-CN" altLang="en-US" sz="2000" dirty="0">
                <a:solidFill>
                  <a:srgbClr val="060606"/>
                </a:solidFill>
              </a:rPr>
              <a:t>根据</a:t>
            </a:r>
            <a:r>
              <a:rPr lang="en-US" altLang="zh-CN" sz="2000" dirty="0">
                <a:solidFill>
                  <a:srgbClr val="060606"/>
                </a:solidFill>
              </a:rPr>
              <a:t>LPQ</a:t>
            </a:r>
            <a:r>
              <a:rPr lang="zh-CN" altLang="en-US" sz="2000" dirty="0">
                <a:solidFill>
                  <a:srgbClr val="060606"/>
                </a:solidFill>
              </a:rPr>
              <a:t>的目标是求最大，沿着目标</a:t>
            </a:r>
            <a:br>
              <a:rPr lang="en-US" altLang="zh-CN" sz="2000" dirty="0">
                <a:solidFill>
                  <a:srgbClr val="060606"/>
                </a:solidFill>
              </a:rPr>
            </a:br>
            <a:r>
              <a:rPr lang="zh-CN" altLang="en-US" sz="2000" dirty="0">
                <a:solidFill>
                  <a:srgbClr val="060606"/>
                </a:solidFill>
              </a:rPr>
              <a:t>值增大方向从</a:t>
            </a:r>
            <a:r>
              <a:rPr lang="en-US" altLang="zh-CN" sz="2000" dirty="0">
                <a:solidFill>
                  <a:srgbClr val="060606"/>
                </a:solidFill>
              </a:rPr>
              <a:t>L1</a:t>
            </a:r>
            <a:r>
              <a:rPr lang="zh-CN" altLang="en-US" sz="2000" dirty="0">
                <a:solidFill>
                  <a:srgbClr val="060606"/>
                </a:solidFill>
              </a:rPr>
              <a:t>向</a:t>
            </a:r>
            <a:r>
              <a:rPr lang="en-US" altLang="zh-CN" sz="2000" dirty="0">
                <a:solidFill>
                  <a:srgbClr val="060606"/>
                </a:solidFill>
              </a:rPr>
              <a:t>L3</a:t>
            </a:r>
            <a:r>
              <a:rPr lang="zh-CN" altLang="en-US" sz="2000" dirty="0">
                <a:solidFill>
                  <a:srgbClr val="060606"/>
                </a:solidFill>
              </a:rPr>
              <a:t>平行移动，可知</a:t>
            </a:r>
            <a:br>
              <a:rPr lang="en-US" altLang="zh-CN" sz="2000" dirty="0">
                <a:solidFill>
                  <a:srgbClr val="060606"/>
                </a:solidFill>
              </a:rPr>
            </a:br>
            <a:r>
              <a:rPr lang="zh-CN" altLang="en-US" sz="2000" dirty="0">
                <a:solidFill>
                  <a:srgbClr val="060606"/>
                </a:solidFill>
              </a:rPr>
              <a:t>使</a:t>
            </a:r>
            <a:r>
              <a:rPr lang="en-US" altLang="zh-CN" sz="2000" dirty="0">
                <a:solidFill>
                  <a:srgbClr val="060606"/>
                </a:solidFill>
              </a:rPr>
              <a:t>z</a:t>
            </a:r>
            <a:r>
              <a:rPr lang="zh-CN" altLang="en-US" sz="2000" dirty="0">
                <a:solidFill>
                  <a:srgbClr val="060606"/>
                </a:solidFill>
              </a:rPr>
              <a:t>取最大值的点是</a:t>
            </a:r>
            <a:r>
              <a:rPr lang="en-US" altLang="zh-CN" sz="2000" dirty="0">
                <a:solidFill>
                  <a:srgbClr val="060606"/>
                </a:solidFill>
              </a:rPr>
              <a:t>D</a:t>
            </a:r>
            <a:r>
              <a:rPr lang="zh-CN" altLang="en-US" sz="2000" dirty="0">
                <a:solidFill>
                  <a:srgbClr val="060606"/>
                </a:solidFill>
              </a:rPr>
              <a:t>点，</a:t>
            </a:r>
            <a:br>
              <a:rPr lang="en-US" altLang="zh-CN" sz="2000" dirty="0">
                <a:solidFill>
                  <a:srgbClr val="060606"/>
                </a:solidFill>
              </a:rPr>
            </a:br>
            <a:r>
              <a:rPr lang="zh-CN" altLang="en-US" sz="2000" dirty="0">
                <a:solidFill>
                  <a:srgbClr val="060606"/>
                </a:solidFill>
              </a:rPr>
              <a:t>即</a:t>
            </a:r>
            <a:r>
              <a:rPr lang="en-US" altLang="zh-CN" sz="2000" dirty="0">
                <a:solidFill>
                  <a:srgbClr val="060606"/>
                </a:solidFill>
              </a:rPr>
              <a:t>L-3S = 0</a:t>
            </a:r>
            <a:r>
              <a:rPr lang="zh-CN" altLang="en-US" sz="2000" dirty="0">
                <a:solidFill>
                  <a:srgbClr val="060606"/>
                </a:solidFill>
              </a:rPr>
              <a:t>和</a:t>
            </a:r>
            <a:r>
              <a:rPr lang="en-US" altLang="zh-CN" sz="2000" dirty="0">
                <a:solidFill>
                  <a:srgbClr val="060606"/>
                </a:solidFill>
              </a:rPr>
              <a:t>L+S =100</a:t>
            </a:r>
            <a:r>
              <a:rPr lang="zh-CN" altLang="en-US" sz="2000" dirty="0">
                <a:solidFill>
                  <a:srgbClr val="060606"/>
                </a:solidFill>
              </a:rPr>
              <a:t>的交点，</a:t>
            </a:r>
            <a:br>
              <a:rPr lang="en-US" altLang="zh-CN" sz="2000" dirty="0">
                <a:solidFill>
                  <a:srgbClr val="060606"/>
                </a:solidFill>
              </a:rPr>
            </a:br>
            <a:r>
              <a:rPr lang="zh-CN" altLang="en-US" sz="2000" dirty="0">
                <a:solidFill>
                  <a:srgbClr val="060606"/>
                </a:solidFill>
              </a:rPr>
              <a:t>解得</a:t>
            </a:r>
            <a:r>
              <a:rPr lang="en-US" altLang="zh-CN" sz="2000" dirty="0">
                <a:solidFill>
                  <a:srgbClr val="060606"/>
                </a:solidFill>
              </a:rPr>
              <a:t>L = 75</a:t>
            </a:r>
            <a:r>
              <a:rPr lang="zh-CN" altLang="en-US" sz="2000" dirty="0">
                <a:solidFill>
                  <a:srgbClr val="060606"/>
                </a:solidFill>
              </a:rPr>
              <a:t>，</a:t>
            </a:r>
            <a:r>
              <a:rPr lang="en-US" altLang="zh-CN" sz="2000" dirty="0">
                <a:solidFill>
                  <a:srgbClr val="060606"/>
                </a:solidFill>
              </a:rPr>
              <a:t>S = 25</a:t>
            </a:r>
            <a:r>
              <a:rPr lang="zh-CN" altLang="en-US" sz="2000" dirty="0">
                <a:solidFill>
                  <a:srgbClr val="060606"/>
                </a:solidFill>
              </a:rPr>
              <a:t>。</a:t>
            </a:r>
            <a:br>
              <a:rPr lang="en-US" altLang="zh-CN" sz="2000" dirty="0">
                <a:solidFill>
                  <a:srgbClr val="060606"/>
                </a:solidFill>
              </a:rPr>
            </a:br>
            <a:r>
              <a:rPr lang="en-US" altLang="zh-CN" sz="2000" dirty="0">
                <a:solidFill>
                  <a:srgbClr val="060606"/>
                </a:solidFill>
              </a:rPr>
              <a:t>(6)LPQ</a:t>
            </a:r>
            <a:r>
              <a:rPr lang="zh-CN" altLang="en-US" sz="2000" dirty="0">
                <a:solidFill>
                  <a:srgbClr val="060606"/>
                </a:solidFill>
              </a:rPr>
              <a:t>的最优解为</a:t>
            </a:r>
            <a:br>
              <a:rPr lang="en-US" altLang="zh-CN" sz="2000" dirty="0">
                <a:solidFill>
                  <a:srgbClr val="060606"/>
                </a:solidFill>
              </a:rPr>
            </a:br>
            <a:r>
              <a:rPr lang="en-US" altLang="zh-CN" sz="2000" dirty="0">
                <a:solidFill>
                  <a:srgbClr val="060606"/>
                </a:solidFill>
              </a:rPr>
              <a:t>0.10 × 75 + 0.05 × 25 = 8.75(</a:t>
            </a:r>
            <a:r>
              <a:rPr lang="zh-CN" altLang="en-US" sz="2000" dirty="0">
                <a:solidFill>
                  <a:srgbClr val="060606"/>
                </a:solidFill>
              </a:rPr>
              <a:t>万元</a:t>
            </a:r>
            <a:r>
              <a:rPr lang="en-US" altLang="zh-CN" sz="2000" dirty="0">
                <a:solidFill>
                  <a:srgbClr val="060606"/>
                </a:solidFill>
              </a:rPr>
              <a:t>)</a:t>
            </a:r>
            <a:r>
              <a:rPr lang="zh-CN" altLang="en-US" sz="2000" dirty="0">
                <a:solidFill>
                  <a:srgbClr val="060606"/>
                </a:solidFill>
              </a:rPr>
              <a:t>。</a:t>
            </a:r>
            <a:br>
              <a:rPr lang="en-US" altLang="zh-CN" sz="2000" dirty="0">
                <a:solidFill>
                  <a:srgbClr val="060606"/>
                </a:solidFill>
              </a:rPr>
            </a:br>
            <a:endParaRPr lang="zh-CN" altLang="en-US" sz="2000" dirty="0">
              <a:solidFill>
                <a:srgbClr val="060606"/>
              </a:solidFill>
            </a:endParaRPr>
          </a:p>
        </p:txBody>
      </p:sp>
      <p:pic>
        <p:nvPicPr>
          <p:cNvPr id="11" name="图片 10"/>
          <p:cNvPicPr>
            <a:picLocks noChangeAspect="1"/>
          </p:cNvPicPr>
          <p:nvPr/>
        </p:nvPicPr>
        <p:blipFill>
          <a:blip r:embed="rId1"/>
          <a:stretch>
            <a:fillRect/>
          </a:stretch>
        </p:blipFill>
        <p:spPr>
          <a:xfrm>
            <a:off x="4781550" y="821310"/>
            <a:ext cx="6868648" cy="5636640"/>
          </a:xfrm>
          <a:prstGeom prst="rect">
            <a:avLst/>
          </a:prstGeom>
        </p:spPr>
      </p:pic>
      <p:pic>
        <p:nvPicPr>
          <p:cNvPr id="12" name="图片 11"/>
          <p:cNvPicPr>
            <a:picLocks noChangeAspect="1"/>
          </p:cNvPicPr>
          <p:nvPr/>
        </p:nvPicPr>
        <p:blipFill>
          <a:blip r:embed="rId2"/>
          <a:stretch>
            <a:fillRect/>
          </a:stretch>
        </p:blipFill>
        <p:spPr>
          <a:xfrm>
            <a:off x="9226626" y="924319"/>
            <a:ext cx="2157517" cy="1211611"/>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816"/>
            <a:ext cx="10667999" cy="1121118"/>
          </a:xfrm>
        </p:spPr>
        <p:txBody>
          <a:bodyPr>
            <a:normAutofit/>
          </a:bodyPr>
          <a:lstStyle/>
          <a:p>
            <a:r>
              <a:rPr lang="zh-CN" altLang="en-US" sz="3200" dirty="0">
                <a:solidFill>
                  <a:srgbClr val="060606"/>
                </a:solidFill>
              </a:rPr>
              <a:t>这里，“最后”一条目标等值线与</a:t>
            </a:r>
            <a:r>
              <a:rPr lang="en-US" altLang="zh-CN" sz="3200" dirty="0" err="1">
                <a:solidFill>
                  <a:srgbClr val="060606"/>
                </a:solidFill>
              </a:rPr>
              <a:t>s.t</a:t>
            </a:r>
            <a:r>
              <a:rPr lang="en-US" altLang="zh-CN" sz="3200" dirty="0">
                <a:solidFill>
                  <a:srgbClr val="060606"/>
                </a:solidFill>
              </a:rPr>
              <a:t>.</a:t>
            </a:r>
            <a:r>
              <a:rPr lang="zh-CN" altLang="en-US" sz="3200" dirty="0">
                <a:solidFill>
                  <a:srgbClr val="060606"/>
                </a:solidFill>
              </a:rPr>
              <a:t>只交于一个</a:t>
            </a:r>
            <a:r>
              <a:rPr lang="en-US" altLang="zh-CN" sz="3200" dirty="0">
                <a:solidFill>
                  <a:srgbClr val="060606"/>
                </a:solidFill>
              </a:rPr>
              <a:t>D</a:t>
            </a:r>
            <a:r>
              <a:rPr lang="zh-CN" altLang="en-US" sz="3200" dirty="0">
                <a:solidFill>
                  <a:srgbClr val="060606"/>
                </a:solidFill>
              </a:rPr>
              <a:t>点，所以本问题有唯一最优解。</a:t>
            </a:r>
            <a:endParaRPr lang="zh-CN" altLang="en-US" sz="3200" dirty="0">
              <a:solidFill>
                <a:srgbClr val="060606"/>
              </a:solidFill>
            </a:endParaRPr>
          </a:p>
        </p:txBody>
      </p:sp>
      <p:grpSp>
        <p:nvGrpSpPr>
          <p:cNvPr id="4" name="组合 3"/>
          <p:cNvGrpSpPr/>
          <p:nvPr/>
        </p:nvGrpSpPr>
        <p:grpSpPr>
          <a:xfrm>
            <a:off x="2585475" y="1142831"/>
            <a:ext cx="6868648" cy="5636640"/>
            <a:chOff x="2585475" y="1190456"/>
            <a:chExt cx="6868648" cy="5636640"/>
          </a:xfrm>
        </p:grpSpPr>
        <p:pic>
          <p:nvPicPr>
            <p:cNvPr id="35" name="图片 34"/>
            <p:cNvPicPr>
              <a:picLocks noChangeAspect="1"/>
            </p:cNvPicPr>
            <p:nvPr/>
          </p:nvPicPr>
          <p:blipFill>
            <a:blip r:embed="rId1"/>
            <a:stretch>
              <a:fillRect/>
            </a:stretch>
          </p:blipFill>
          <p:spPr>
            <a:xfrm>
              <a:off x="2585475" y="1190456"/>
              <a:ext cx="6868648" cy="5636640"/>
            </a:xfrm>
            <a:prstGeom prst="rect">
              <a:avLst/>
            </a:prstGeom>
          </p:spPr>
        </p:pic>
        <p:pic>
          <p:nvPicPr>
            <p:cNvPr id="37" name="图片 36"/>
            <p:cNvPicPr>
              <a:picLocks noChangeAspect="1"/>
            </p:cNvPicPr>
            <p:nvPr/>
          </p:nvPicPr>
          <p:blipFill>
            <a:blip r:embed="rId2"/>
            <a:stretch>
              <a:fillRect/>
            </a:stretch>
          </p:blipFill>
          <p:spPr>
            <a:xfrm>
              <a:off x="7106752" y="1275554"/>
              <a:ext cx="2157517" cy="1211611"/>
            </a:xfrm>
            <a:prstGeom prst="rect">
              <a:avLst/>
            </a:prstGeom>
          </p:spPr>
        </p:pic>
        <p:sp>
          <p:nvSpPr>
            <p:cNvPr id="34" name="矩形 33"/>
            <p:cNvSpPr/>
            <p:nvPr/>
          </p:nvSpPr>
          <p:spPr>
            <a:xfrm>
              <a:off x="6366353" y="3839937"/>
              <a:ext cx="420308" cy="523220"/>
            </a:xfrm>
            <a:prstGeom prst="rect">
              <a:avLst/>
            </a:prstGeom>
          </p:spPr>
          <p:txBody>
            <a:bodyPr wrap="none">
              <a:spAutoFit/>
            </a:bodyPr>
            <a:lstStyle/>
            <a:p>
              <a:r>
                <a:rPr lang="en-US" altLang="zh-CN" sz="2800" b="1" dirty="0">
                  <a:solidFill>
                    <a:srgbClr val="FF0000"/>
                  </a:solidFill>
                  <a:latin typeface="Britannic Bold"/>
                  <a:ea typeface="微软雅黑"/>
                  <a:cs typeface="+mj-cs"/>
                </a:rPr>
                <a:t>D</a:t>
              </a:r>
              <a:endParaRPr lang="zh-CN" altLang="en-US" dirty="0">
                <a:solidFill>
                  <a:srgbClr val="FF0000"/>
                </a:solidFill>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2875" y="257176"/>
            <a:ext cx="10515600" cy="701674"/>
          </a:xfrm>
        </p:spPr>
        <p:txBody>
          <a:bodyPr>
            <a:normAutofit/>
          </a:bodyPr>
          <a:lstStyle/>
          <a:p>
            <a:r>
              <a:rPr lang="zh-CN" altLang="en-US" sz="3600" dirty="0"/>
              <a:t>讨论解的个数</a:t>
            </a:r>
            <a:endParaRPr lang="zh-CN" altLang="en-US" sz="3600" dirty="0"/>
          </a:p>
        </p:txBody>
      </p:sp>
      <p:sp>
        <p:nvSpPr>
          <p:cNvPr id="3" name="内容占位符 2"/>
          <p:cNvSpPr>
            <a:spLocks noGrp="1"/>
          </p:cNvSpPr>
          <p:nvPr>
            <p:ph idx="1"/>
          </p:nvPr>
        </p:nvSpPr>
        <p:spPr>
          <a:xfrm>
            <a:off x="367634" y="1120775"/>
            <a:ext cx="6419850" cy="4830763"/>
          </a:xfrm>
        </p:spPr>
        <p:txBody>
          <a:bodyPr>
            <a:normAutofit lnSpcReduction="10000"/>
          </a:bodyPr>
          <a:lstStyle/>
          <a:p>
            <a:pPr>
              <a:lnSpc>
                <a:spcPct val="100000"/>
              </a:lnSpc>
              <a:buNone/>
            </a:pPr>
            <a:r>
              <a:rPr lang="zh-CN" altLang="en-US" dirty="0"/>
              <a:t>可以设想：</a:t>
            </a:r>
            <a:endParaRPr lang="en-US" altLang="zh-CN" dirty="0"/>
          </a:p>
          <a:p>
            <a:pPr>
              <a:lnSpc>
                <a:spcPct val="100000"/>
              </a:lnSpc>
              <a:buNone/>
            </a:pPr>
            <a:r>
              <a:rPr lang="en-US" altLang="zh-CN" dirty="0"/>
              <a:t>1.</a:t>
            </a:r>
            <a:r>
              <a:rPr lang="zh-CN" altLang="en-US" dirty="0"/>
              <a:t>若贷款和债券的利率相等，画出的目标等值线就与线段</a:t>
            </a:r>
            <a:r>
              <a:rPr lang="en-US" altLang="zh-CN" dirty="0"/>
              <a:t>AD</a:t>
            </a:r>
            <a:r>
              <a:rPr lang="zh-CN" altLang="en-US" dirty="0"/>
              <a:t>平行，最优解就不唯一。</a:t>
            </a:r>
            <a:endParaRPr lang="en-US" altLang="zh-CN" dirty="0"/>
          </a:p>
          <a:p>
            <a:pPr>
              <a:lnSpc>
                <a:spcPct val="100000"/>
              </a:lnSpc>
              <a:buNone/>
            </a:pPr>
            <a:r>
              <a:rPr lang="en-US" altLang="zh-CN" dirty="0"/>
              <a:t>2.</a:t>
            </a:r>
            <a:r>
              <a:rPr lang="zh-CN" altLang="en-US" dirty="0"/>
              <a:t>如果银行的钱没有限制，则问题没有最优解。因为此时</a:t>
            </a:r>
            <a:r>
              <a:rPr lang="en-US" altLang="zh-CN" dirty="0" err="1"/>
              <a:t>s.t</a:t>
            </a:r>
            <a:r>
              <a:rPr lang="en-US" altLang="zh-CN" dirty="0"/>
              <a:t>.</a:t>
            </a:r>
            <a:r>
              <a:rPr lang="zh-CN" altLang="en-US" dirty="0"/>
              <a:t>将会构成一个无界角形区域，目标等值线可以无限制的朝目标值增大的方向平行移动，且永远与</a:t>
            </a:r>
            <a:r>
              <a:rPr lang="en-US" altLang="zh-CN" dirty="0" err="1"/>
              <a:t>s.t</a:t>
            </a:r>
            <a:r>
              <a:rPr lang="en-US" altLang="zh-CN" dirty="0"/>
              <a:t>.</a:t>
            </a:r>
            <a:r>
              <a:rPr lang="zh-CN" altLang="en-US" dirty="0"/>
              <a:t>有交点。</a:t>
            </a:r>
            <a:endParaRPr lang="en-US" altLang="zh-CN" dirty="0"/>
          </a:p>
          <a:p>
            <a:pPr>
              <a:lnSpc>
                <a:spcPct val="100000"/>
              </a:lnSpc>
              <a:buNone/>
            </a:pPr>
            <a:r>
              <a:rPr lang="en-US" altLang="zh-CN" dirty="0"/>
              <a:t>3.</a:t>
            </a:r>
            <a:r>
              <a:rPr lang="zh-CN" altLang="en-US" dirty="0"/>
              <a:t>若银行没有足够资金，例如只有</a:t>
            </a:r>
            <a:r>
              <a:rPr lang="en-US" altLang="zh-CN" dirty="0"/>
              <a:t>29</a:t>
            </a:r>
            <a:r>
              <a:rPr lang="zh-CN" altLang="en-US" dirty="0"/>
              <a:t>万元，则该问题无解。</a:t>
            </a:r>
            <a:endParaRPr lang="zh-CN" altLang="en-US" dirty="0"/>
          </a:p>
        </p:txBody>
      </p:sp>
      <p:pic>
        <p:nvPicPr>
          <p:cNvPr id="6" name="图片 5"/>
          <p:cNvPicPr>
            <a:picLocks noChangeAspect="1"/>
          </p:cNvPicPr>
          <p:nvPr/>
        </p:nvPicPr>
        <p:blipFill>
          <a:blip r:embed="rId1"/>
          <a:stretch>
            <a:fillRect/>
          </a:stretch>
        </p:blipFill>
        <p:spPr>
          <a:xfrm>
            <a:off x="6787484" y="1327151"/>
            <a:ext cx="5309266" cy="4205287"/>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675" y="0"/>
            <a:ext cx="10154469" cy="793750"/>
          </a:xfrm>
        </p:spPr>
        <p:txBody>
          <a:bodyPr>
            <a:normAutofit/>
          </a:bodyPr>
          <a:lstStyle/>
          <a:p>
            <a:r>
              <a:rPr lang="zh-CN" altLang="en-US" sz="3600" dirty="0"/>
              <a:t>由图解法得到的结论</a:t>
            </a:r>
            <a:endParaRPr lang="zh-CN" altLang="en-US" sz="3600" dirty="0"/>
          </a:p>
        </p:txBody>
      </p:sp>
      <p:sp>
        <p:nvSpPr>
          <p:cNvPr id="3" name="内容占位符 2"/>
          <p:cNvSpPr>
            <a:spLocks noGrp="1"/>
          </p:cNvSpPr>
          <p:nvPr>
            <p:ph idx="1"/>
          </p:nvPr>
        </p:nvSpPr>
        <p:spPr>
          <a:xfrm>
            <a:off x="323850" y="793750"/>
            <a:ext cx="11544300" cy="5740401"/>
          </a:xfrm>
        </p:spPr>
        <p:txBody>
          <a:bodyPr>
            <a:normAutofit fontScale="92500" lnSpcReduction="10000"/>
          </a:bodyPr>
          <a:lstStyle/>
          <a:p>
            <a:pPr>
              <a:lnSpc>
                <a:spcPct val="100000"/>
              </a:lnSpc>
              <a:buNone/>
            </a:pPr>
            <a:r>
              <a:rPr lang="zh-CN" altLang="en-US" sz="3200" dirty="0"/>
              <a:t>由约束条件组成的图形可知：△</a:t>
            </a:r>
            <a:r>
              <a:rPr lang="en-US" altLang="zh-CN" sz="3200" dirty="0"/>
              <a:t>ABD</a:t>
            </a:r>
            <a:r>
              <a:rPr lang="zh-CN" altLang="en-US" sz="3200" b="1" dirty="0">
                <a:solidFill>
                  <a:srgbClr val="00000C"/>
                </a:solidFill>
                <a:latin typeface="Britannic Bold"/>
                <a:ea typeface="微软雅黑"/>
                <a:cs typeface="+mj-cs"/>
              </a:rPr>
              <a:t>是</a:t>
            </a:r>
            <a:r>
              <a:rPr lang="zh-CN" altLang="zh-CN" sz="3200" dirty="0"/>
              <a:t>凸集合</a:t>
            </a:r>
            <a:endParaRPr lang="en-US" altLang="zh-CN" sz="3200" dirty="0"/>
          </a:p>
          <a:p>
            <a:pPr>
              <a:lnSpc>
                <a:spcPct val="100000"/>
              </a:lnSpc>
              <a:buNone/>
            </a:pPr>
            <a:endParaRPr lang="en-US" altLang="zh-CN" sz="1100" dirty="0"/>
          </a:p>
          <a:p>
            <a:pPr>
              <a:lnSpc>
                <a:spcPct val="100000"/>
              </a:lnSpc>
              <a:buNone/>
            </a:pPr>
            <a:r>
              <a:rPr lang="zh-CN" altLang="en-US" sz="3200" dirty="0"/>
              <a:t>凸集合的定义：以平面图形为例，任何凸多边形都是凸集合，它们的本质特征是，连接图或集合中任意两点的线段上的全部点在图或集合中。</a:t>
            </a:r>
            <a:endParaRPr lang="en-US" altLang="zh-CN" sz="3200" dirty="0"/>
          </a:p>
          <a:p>
            <a:pPr>
              <a:lnSpc>
                <a:spcPct val="100000"/>
              </a:lnSpc>
              <a:buNone/>
            </a:pPr>
            <a:r>
              <a:rPr lang="zh-CN" altLang="en-US" sz="3200" dirty="0"/>
              <a:t>结论：</a:t>
            </a:r>
            <a:endParaRPr lang="en-US" altLang="zh-CN" sz="3200" dirty="0"/>
          </a:p>
          <a:p>
            <a:pPr>
              <a:lnSpc>
                <a:spcPct val="100000"/>
              </a:lnSpc>
              <a:buNone/>
            </a:pPr>
            <a:r>
              <a:rPr lang="en-US" altLang="zh-CN" sz="3200" dirty="0"/>
              <a:t>1.LPQ</a:t>
            </a:r>
            <a:r>
              <a:rPr lang="zh-CN" altLang="en-US" sz="3200" dirty="0"/>
              <a:t>的约束条件</a:t>
            </a:r>
            <a:r>
              <a:rPr lang="en-US" altLang="zh-CN" sz="3200" dirty="0" err="1"/>
              <a:t>s.t</a:t>
            </a:r>
            <a:r>
              <a:rPr lang="en-US" altLang="zh-CN" sz="3200" dirty="0"/>
              <a:t>.</a:t>
            </a:r>
            <a:r>
              <a:rPr lang="zh-CN" altLang="en-US" sz="3200" dirty="0"/>
              <a:t>所构成的集合，是一个凸集合，两个变量情形下，是凸多边形。</a:t>
            </a:r>
            <a:endParaRPr lang="en-US" altLang="zh-CN" sz="3200" dirty="0"/>
          </a:p>
          <a:p>
            <a:pPr>
              <a:lnSpc>
                <a:spcPct val="100000"/>
              </a:lnSpc>
              <a:buNone/>
            </a:pPr>
            <a:r>
              <a:rPr lang="en-US" altLang="zh-CN" sz="3200" dirty="0"/>
              <a:t>2.</a:t>
            </a:r>
            <a:r>
              <a:rPr lang="zh-CN" altLang="en-US" sz="3200" dirty="0"/>
              <a:t>若</a:t>
            </a:r>
            <a:r>
              <a:rPr lang="en-US" altLang="zh-CN" sz="3200" dirty="0"/>
              <a:t>LPQ</a:t>
            </a:r>
            <a:r>
              <a:rPr lang="zh-CN" altLang="en-US" sz="3200" dirty="0"/>
              <a:t>有最优解，则在</a:t>
            </a:r>
            <a:r>
              <a:rPr lang="en-US" altLang="zh-CN" sz="3200" dirty="0" err="1"/>
              <a:t>s.t</a:t>
            </a:r>
            <a:r>
              <a:rPr lang="en-US" altLang="zh-CN" sz="3200" dirty="0"/>
              <a:t>.</a:t>
            </a:r>
            <a:r>
              <a:rPr lang="zh-CN" altLang="en-US" sz="3200" dirty="0"/>
              <a:t>这个凸集合上</a:t>
            </a:r>
            <a:r>
              <a:rPr lang="zh-CN" altLang="en-US" sz="3200" dirty="0">
                <a:solidFill>
                  <a:srgbClr val="FF0000"/>
                </a:solidFill>
              </a:rPr>
              <a:t>至少有一个顶点是它的最优解</a:t>
            </a:r>
            <a:r>
              <a:rPr lang="zh-CN" altLang="en-US" sz="3200" dirty="0"/>
              <a:t>。</a:t>
            </a:r>
            <a:endParaRPr lang="en-US" altLang="zh-CN" sz="3200" dirty="0"/>
          </a:p>
          <a:p>
            <a:pPr>
              <a:lnSpc>
                <a:spcPct val="100000"/>
              </a:lnSpc>
              <a:buNone/>
            </a:pPr>
            <a:r>
              <a:rPr lang="en-US" altLang="zh-CN" sz="3200" dirty="0"/>
              <a:t>3.LPQ</a:t>
            </a:r>
            <a:r>
              <a:rPr lang="zh-CN" altLang="en-US" sz="3200" dirty="0"/>
              <a:t>解的情形，可以是唯一最优解，可以是无穷多个最优解，也可以是没有最优解，甚至是无可行解。</a:t>
            </a:r>
            <a:endParaRPr lang="en-US" altLang="zh-CN" sz="32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8600" y="38101"/>
            <a:ext cx="10515600" cy="895350"/>
          </a:xfrm>
        </p:spPr>
        <p:txBody>
          <a:bodyPr>
            <a:normAutofit/>
          </a:bodyPr>
          <a:lstStyle/>
          <a:p>
            <a:r>
              <a:rPr lang="zh-CN" altLang="en-US" dirty="0"/>
              <a:t>由图解法得到的说明</a:t>
            </a:r>
            <a:endParaRPr lang="zh-CN" altLang="en-US" dirty="0"/>
          </a:p>
        </p:txBody>
      </p:sp>
      <p:sp>
        <p:nvSpPr>
          <p:cNvPr id="3" name="内容占位符 2"/>
          <p:cNvSpPr>
            <a:spLocks noGrp="1"/>
          </p:cNvSpPr>
          <p:nvPr>
            <p:ph idx="1"/>
          </p:nvPr>
        </p:nvSpPr>
        <p:spPr>
          <a:xfrm>
            <a:off x="676275" y="980728"/>
            <a:ext cx="11125200" cy="5112568"/>
          </a:xfrm>
        </p:spPr>
        <p:txBody>
          <a:bodyPr>
            <a:normAutofit/>
          </a:bodyPr>
          <a:lstStyle/>
          <a:p>
            <a:pPr>
              <a:buNone/>
            </a:pPr>
            <a:r>
              <a:rPr lang="zh-CN" altLang="en-US" sz="3200" dirty="0"/>
              <a:t>说明：</a:t>
            </a:r>
            <a:endParaRPr lang="en-US" altLang="zh-CN" sz="3200" dirty="0"/>
          </a:p>
          <a:p>
            <a:pPr>
              <a:buNone/>
            </a:pPr>
            <a:r>
              <a:rPr lang="en-US" altLang="zh-CN" sz="3200" dirty="0"/>
              <a:t>1.</a:t>
            </a:r>
            <a:r>
              <a:rPr lang="zh-CN" altLang="en-US" sz="3200" dirty="0"/>
              <a:t>若</a:t>
            </a:r>
            <a:r>
              <a:rPr lang="en-US" altLang="zh-CN" sz="3200" dirty="0"/>
              <a:t>LPQ</a:t>
            </a:r>
            <a:r>
              <a:rPr lang="zh-CN" altLang="en-US" sz="3200" dirty="0"/>
              <a:t>的可行域无界，则线性规划问题可能有最优解，也可能无最优解。若有最优解，也</a:t>
            </a:r>
            <a:r>
              <a:rPr lang="zh-CN" altLang="en-US" sz="3200" dirty="0">
                <a:solidFill>
                  <a:srgbClr val="FF0000"/>
                </a:solidFill>
              </a:rPr>
              <a:t>必在顶点上达到</a:t>
            </a:r>
            <a:r>
              <a:rPr lang="zh-CN" altLang="en-US" sz="3200" dirty="0"/>
              <a:t>。</a:t>
            </a:r>
            <a:endParaRPr lang="en-US" altLang="zh-CN" sz="3200" dirty="0"/>
          </a:p>
          <a:p>
            <a:pPr>
              <a:buNone/>
            </a:pPr>
            <a:r>
              <a:rPr lang="en-US" altLang="zh-CN" sz="3200" dirty="0"/>
              <a:t>2.</a:t>
            </a:r>
            <a:r>
              <a:rPr lang="zh-CN" altLang="en-US" sz="3200" dirty="0"/>
              <a:t>有时目标函数也可能在多个顶点上达到最优值，这些顶点的凸组合也是最优值</a:t>
            </a:r>
            <a:r>
              <a:rPr lang="en-US" altLang="zh-CN" sz="3200" dirty="0"/>
              <a:t>(</a:t>
            </a:r>
            <a:r>
              <a:rPr lang="zh-CN" altLang="en-US" sz="3200" dirty="0"/>
              <a:t>有无穷多最优解</a:t>
            </a:r>
            <a:r>
              <a:rPr lang="en-US" altLang="zh-CN" sz="3200" dirty="0"/>
              <a:t>)</a:t>
            </a:r>
            <a:r>
              <a:rPr lang="zh-CN" altLang="en-US" sz="3200" dirty="0"/>
              <a:t>。</a:t>
            </a:r>
            <a:endParaRPr lang="en-US" altLang="zh-CN" sz="32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4800" y="0"/>
            <a:ext cx="9844336" cy="793750"/>
          </a:xfrm>
        </p:spPr>
        <p:txBody>
          <a:bodyPr>
            <a:normAutofit/>
          </a:bodyPr>
          <a:lstStyle/>
          <a:p>
            <a:r>
              <a:rPr lang="zh-CN" altLang="en-US" sz="3600" dirty="0"/>
              <a:t>扩展引入线性规划的基本定理</a:t>
            </a:r>
            <a:endParaRPr lang="zh-CN" altLang="en-US" sz="3600" dirty="0"/>
          </a:p>
        </p:txBody>
      </p:sp>
      <p:sp>
        <p:nvSpPr>
          <p:cNvPr id="3" name="内容占位符 2"/>
          <p:cNvSpPr>
            <a:spLocks noGrp="1"/>
          </p:cNvSpPr>
          <p:nvPr>
            <p:ph idx="1"/>
          </p:nvPr>
        </p:nvSpPr>
        <p:spPr>
          <a:xfrm>
            <a:off x="209550" y="793750"/>
            <a:ext cx="11677650" cy="5892800"/>
          </a:xfrm>
        </p:spPr>
        <p:txBody>
          <a:bodyPr>
            <a:normAutofit lnSpcReduction="10000"/>
          </a:bodyPr>
          <a:lstStyle/>
          <a:p>
            <a:pPr>
              <a:lnSpc>
                <a:spcPct val="100000"/>
              </a:lnSpc>
              <a:buNone/>
            </a:pPr>
            <a:r>
              <a:rPr lang="zh-CN" altLang="en-US" sz="3200" dirty="0"/>
              <a:t>定理</a:t>
            </a:r>
            <a:r>
              <a:rPr lang="en-US" altLang="zh-CN" sz="3200" dirty="0"/>
              <a:t>1.</a:t>
            </a:r>
            <a:r>
              <a:rPr lang="zh-CN" altLang="en-US" sz="3200" dirty="0"/>
              <a:t> </a:t>
            </a:r>
            <a:r>
              <a:rPr lang="en-US" altLang="zh-CN" sz="3200" dirty="0"/>
              <a:t>LPQ</a:t>
            </a:r>
            <a:r>
              <a:rPr lang="zh-CN" altLang="en-US" sz="3200" dirty="0"/>
              <a:t>的可行解集是凸集，即连接</a:t>
            </a:r>
            <a:r>
              <a:rPr lang="en-US" altLang="zh-CN" sz="3200" dirty="0"/>
              <a:t>LPQ</a:t>
            </a:r>
            <a:r>
              <a:rPr lang="zh-CN" altLang="en-US" sz="3200" dirty="0"/>
              <a:t>任意两个可行解的线段上的点仍然是可行解。</a:t>
            </a:r>
            <a:endParaRPr lang="en-US" altLang="zh-CN" sz="3200" dirty="0"/>
          </a:p>
          <a:p>
            <a:pPr>
              <a:lnSpc>
                <a:spcPct val="100000"/>
              </a:lnSpc>
              <a:buNone/>
            </a:pPr>
            <a:r>
              <a:rPr lang="zh-CN" altLang="en-US" sz="3200" dirty="0"/>
              <a:t>定理</a:t>
            </a:r>
            <a:r>
              <a:rPr lang="en-US" altLang="zh-CN" sz="3200" dirty="0"/>
              <a:t>2. LPQ</a:t>
            </a:r>
            <a:r>
              <a:rPr lang="zh-CN" altLang="zh-CN" sz="3200" dirty="0"/>
              <a:t>的可行解</a:t>
            </a:r>
            <a:r>
              <a:rPr lang="en-US" altLang="zh-CN" sz="3200" dirty="0"/>
              <a:t>x</a:t>
            </a:r>
            <a:r>
              <a:rPr lang="zh-CN" altLang="en-US" sz="3200" dirty="0"/>
              <a:t>是基础可行的充分必要条件是</a:t>
            </a:r>
            <a:r>
              <a:rPr lang="en-US" altLang="zh-CN" sz="3200" dirty="0"/>
              <a:t>x</a:t>
            </a:r>
            <a:r>
              <a:rPr lang="zh-CN" altLang="en-US" sz="3200" dirty="0"/>
              <a:t>的非零分量所对应的系数矩阵</a:t>
            </a:r>
            <a:r>
              <a:rPr lang="en-US" altLang="zh-CN" sz="3200" dirty="0"/>
              <a:t>A</a:t>
            </a:r>
            <a:r>
              <a:rPr lang="zh-CN" altLang="en-US" sz="3200" dirty="0"/>
              <a:t>的列向量是线性无关的。</a:t>
            </a:r>
            <a:endParaRPr lang="en-US" altLang="zh-CN" sz="3200" dirty="0"/>
          </a:p>
          <a:p>
            <a:pPr>
              <a:lnSpc>
                <a:spcPct val="100000"/>
              </a:lnSpc>
              <a:buNone/>
            </a:pPr>
            <a:r>
              <a:rPr lang="zh-CN" altLang="en-US" sz="3200" dirty="0"/>
              <a:t>定理</a:t>
            </a:r>
            <a:r>
              <a:rPr lang="en-US" altLang="zh-CN" sz="3200" dirty="0"/>
              <a:t>3. LPQ</a:t>
            </a:r>
            <a:r>
              <a:rPr lang="zh-CN" altLang="zh-CN" sz="3200" dirty="0"/>
              <a:t>的可行解集</a:t>
            </a:r>
            <a:r>
              <a:rPr lang="en-US" altLang="zh-CN" sz="3200" dirty="0"/>
              <a:t>D</a:t>
            </a:r>
            <a:r>
              <a:rPr lang="zh-CN" altLang="en-US" sz="3200" dirty="0"/>
              <a:t>的</a:t>
            </a:r>
            <a:r>
              <a:rPr lang="zh-CN" altLang="en-US" sz="3200" dirty="0">
                <a:solidFill>
                  <a:srgbClr val="FF0000"/>
                </a:solidFill>
              </a:rPr>
              <a:t>点</a:t>
            </a:r>
            <a:r>
              <a:rPr lang="en-US" altLang="zh-CN" sz="3200" dirty="0">
                <a:solidFill>
                  <a:srgbClr val="FF0000"/>
                </a:solidFill>
              </a:rPr>
              <a:t>x</a:t>
            </a:r>
            <a:r>
              <a:rPr lang="zh-CN" altLang="en-US" sz="3200" dirty="0">
                <a:solidFill>
                  <a:srgbClr val="FF0000"/>
                </a:solidFill>
              </a:rPr>
              <a:t>是顶点的充分必要条件是</a:t>
            </a:r>
            <a:r>
              <a:rPr lang="en-US" altLang="zh-CN" sz="3200" dirty="0">
                <a:solidFill>
                  <a:srgbClr val="FF0000"/>
                </a:solidFill>
              </a:rPr>
              <a:t>x</a:t>
            </a:r>
            <a:r>
              <a:rPr lang="zh-CN" altLang="en-US" sz="3200" dirty="0">
                <a:solidFill>
                  <a:srgbClr val="FF0000"/>
                </a:solidFill>
              </a:rPr>
              <a:t>是基础可行解。</a:t>
            </a:r>
            <a:endParaRPr lang="en-US" altLang="zh-CN" sz="3200" dirty="0">
              <a:solidFill>
                <a:srgbClr val="FF0000"/>
              </a:solidFill>
            </a:endParaRPr>
          </a:p>
          <a:p>
            <a:pPr>
              <a:lnSpc>
                <a:spcPct val="100000"/>
              </a:lnSpc>
              <a:buNone/>
            </a:pPr>
            <a:r>
              <a:rPr lang="zh-CN" altLang="en-US" sz="3200" dirty="0"/>
              <a:t>推论</a:t>
            </a:r>
            <a:r>
              <a:rPr lang="en-US" altLang="zh-CN" sz="3200" dirty="0"/>
              <a:t>1.</a:t>
            </a:r>
            <a:r>
              <a:rPr lang="zh-CN" altLang="en-US" sz="3200" dirty="0"/>
              <a:t>可行解集</a:t>
            </a:r>
            <a:r>
              <a:rPr lang="en-US" altLang="zh-CN" sz="3200" dirty="0"/>
              <a:t>D</a:t>
            </a:r>
            <a:r>
              <a:rPr lang="zh-CN" altLang="en-US" sz="3200" dirty="0"/>
              <a:t>中的顶点个数是有限的。</a:t>
            </a:r>
            <a:endParaRPr lang="en-US" altLang="zh-CN" sz="3200" dirty="0"/>
          </a:p>
          <a:p>
            <a:pPr>
              <a:lnSpc>
                <a:spcPct val="100000"/>
              </a:lnSpc>
              <a:buNone/>
            </a:pPr>
            <a:r>
              <a:rPr lang="zh-CN" altLang="en-US" sz="3200" dirty="0"/>
              <a:t>推论</a:t>
            </a:r>
            <a:r>
              <a:rPr lang="en-US" altLang="zh-CN" sz="3200" dirty="0"/>
              <a:t>2.</a:t>
            </a:r>
            <a:r>
              <a:rPr lang="zh-CN" altLang="en-US" sz="3200" dirty="0"/>
              <a:t>若可行解集</a:t>
            </a:r>
            <a:r>
              <a:rPr lang="en-US" altLang="zh-CN" sz="3200" dirty="0"/>
              <a:t>D</a:t>
            </a:r>
            <a:r>
              <a:rPr lang="zh-CN" altLang="en-US" sz="3200" dirty="0"/>
              <a:t>是有界的凸集，则</a:t>
            </a:r>
            <a:r>
              <a:rPr lang="en-US" altLang="zh-CN" sz="3200" dirty="0"/>
              <a:t>D</a:t>
            </a:r>
            <a:r>
              <a:rPr lang="zh-CN" altLang="en-US" sz="3200" dirty="0"/>
              <a:t>中任意一点</a:t>
            </a:r>
            <a:r>
              <a:rPr lang="en-US" altLang="zh-CN" sz="3200" dirty="0"/>
              <a:t>x</a:t>
            </a:r>
            <a:r>
              <a:rPr lang="zh-CN" altLang="en-US" sz="3200" dirty="0"/>
              <a:t>，都可以表示成</a:t>
            </a:r>
            <a:r>
              <a:rPr lang="en-US" altLang="zh-CN" sz="3200" dirty="0"/>
              <a:t>D</a:t>
            </a:r>
            <a:r>
              <a:rPr lang="zh-CN" altLang="en-US" sz="3200" dirty="0"/>
              <a:t>的顶点的凸集合。</a:t>
            </a:r>
            <a:endParaRPr lang="en-US" altLang="zh-CN" sz="3200" dirty="0"/>
          </a:p>
          <a:p>
            <a:pPr>
              <a:lnSpc>
                <a:spcPct val="100000"/>
              </a:lnSpc>
              <a:buNone/>
            </a:pPr>
            <a:r>
              <a:rPr lang="zh-CN" altLang="en-US" sz="3200" dirty="0"/>
              <a:t>定理</a:t>
            </a:r>
            <a:r>
              <a:rPr lang="en-US" altLang="zh-CN" sz="3200" dirty="0"/>
              <a:t>4.</a:t>
            </a:r>
            <a:r>
              <a:rPr lang="zh-CN" altLang="en-US" sz="3200" dirty="0"/>
              <a:t>若可行解集</a:t>
            </a:r>
            <a:r>
              <a:rPr lang="en-US" altLang="zh-CN" sz="3200" dirty="0"/>
              <a:t>D</a:t>
            </a:r>
            <a:r>
              <a:rPr lang="zh-CN" altLang="en-US" sz="3200" dirty="0"/>
              <a:t>是有界的，则</a:t>
            </a:r>
            <a:r>
              <a:rPr lang="en-US" altLang="zh-CN" sz="3200" dirty="0"/>
              <a:t>LPQ</a:t>
            </a:r>
            <a:r>
              <a:rPr lang="zh-CN" altLang="en-US" sz="3200" dirty="0"/>
              <a:t>问题的</a:t>
            </a:r>
            <a:r>
              <a:rPr lang="zh-CN" altLang="en-US" sz="3200" dirty="0">
                <a:solidFill>
                  <a:srgbClr val="FF0000"/>
                </a:solidFill>
              </a:rPr>
              <a:t>最优解，必定在</a:t>
            </a:r>
            <a:r>
              <a:rPr lang="en-US" altLang="zh-CN" sz="3200" dirty="0">
                <a:solidFill>
                  <a:srgbClr val="FF0000"/>
                </a:solidFill>
              </a:rPr>
              <a:t>D</a:t>
            </a:r>
            <a:r>
              <a:rPr lang="zh-CN" altLang="en-US" sz="3200" dirty="0">
                <a:solidFill>
                  <a:srgbClr val="FF0000"/>
                </a:solidFill>
              </a:rPr>
              <a:t>的顶点上达到</a:t>
            </a:r>
            <a:r>
              <a:rPr lang="zh-CN" altLang="en-US" sz="3200" dirty="0"/>
              <a:t>。</a:t>
            </a:r>
            <a:endParaRPr lang="en-US" altLang="zh-CN" sz="3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a:xfrm>
            <a:off x="2048694" y="313978"/>
            <a:ext cx="8454652" cy="4392488"/>
            <a:chOff x="293812" y="980728"/>
            <a:chExt cx="8454652" cy="4392488"/>
          </a:xfrm>
        </p:grpSpPr>
        <p:grpSp>
          <p:nvGrpSpPr>
            <p:cNvPr id="21" name="组合 20"/>
            <p:cNvGrpSpPr/>
            <p:nvPr/>
          </p:nvGrpSpPr>
          <p:grpSpPr>
            <a:xfrm>
              <a:off x="293812" y="980728"/>
              <a:ext cx="8454652" cy="4392488"/>
              <a:chOff x="149796" y="1052736"/>
              <a:chExt cx="8454652" cy="5256584"/>
            </a:xfrm>
          </p:grpSpPr>
          <p:sp>
            <p:nvSpPr>
              <p:cNvPr id="22" name="矩形 21"/>
              <p:cNvSpPr/>
              <p:nvPr/>
            </p:nvSpPr>
            <p:spPr bwMode="auto">
              <a:xfrm>
                <a:off x="149796" y="1052736"/>
                <a:ext cx="8454652" cy="5256584"/>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3" name="TextBox 22"/>
              <p:cNvSpPr txBox="1"/>
              <p:nvPr/>
            </p:nvSpPr>
            <p:spPr>
              <a:xfrm>
                <a:off x="611560" y="1124744"/>
                <a:ext cx="3024336" cy="626149"/>
              </a:xfrm>
              <a:prstGeom prst="rect">
                <a:avLst/>
              </a:prstGeom>
              <a:noFill/>
            </p:spPr>
            <p:txBody>
              <a:bodyPr wrap="square" rtlCol="0">
                <a:spAutoFit/>
              </a:bodyPr>
              <a:lstStyle/>
              <a:p>
                <a:r>
                  <a:rPr lang="zh-CN" altLang="en-US" sz="2800" dirty="0"/>
                  <a:t>基本定理理解</a:t>
                </a:r>
                <a:r>
                  <a:rPr lang="en-US" altLang="zh-CN" sz="2800" dirty="0"/>
                  <a:t>:</a:t>
                </a:r>
                <a:endParaRPr lang="zh-CN" altLang="en-US" sz="2800" dirty="0"/>
              </a:p>
            </p:txBody>
          </p:sp>
        </p:grpSp>
        <p:grpSp>
          <p:nvGrpSpPr>
            <p:cNvPr id="24" name="组合 23"/>
            <p:cNvGrpSpPr/>
            <p:nvPr/>
          </p:nvGrpSpPr>
          <p:grpSpPr>
            <a:xfrm>
              <a:off x="971600" y="1700808"/>
              <a:ext cx="7056784" cy="533673"/>
              <a:chOff x="7452320" y="5733256"/>
              <a:chExt cx="7056784" cy="533673"/>
            </a:xfrm>
          </p:grpSpPr>
          <p:sp>
            <p:nvSpPr>
              <p:cNvPr id="25" name="TextBox 24"/>
              <p:cNvSpPr txBox="1"/>
              <p:nvPr/>
            </p:nvSpPr>
            <p:spPr>
              <a:xfrm>
                <a:off x="7452320" y="5733256"/>
                <a:ext cx="1440160" cy="461665"/>
              </a:xfrm>
              <a:prstGeom prst="rect">
                <a:avLst/>
              </a:prstGeom>
              <a:solidFill>
                <a:schemeClr val="bg1">
                  <a:lumMod val="95000"/>
                </a:schemeClr>
              </a:solidFill>
            </p:spPr>
            <p:txBody>
              <a:bodyPr wrap="square" rtlCol="0">
                <a:spAutoFit/>
              </a:bodyPr>
              <a:lstStyle/>
              <a:p>
                <a:r>
                  <a:rPr lang="zh-CN" altLang="en-US" sz="2400" dirty="0"/>
                  <a:t>可行解</a:t>
                </a:r>
                <a:r>
                  <a:rPr lang="en-US" altLang="zh-CN" sz="2400" b="1" dirty="0"/>
                  <a:t>X</a:t>
                </a:r>
                <a:endParaRPr lang="zh-CN" altLang="en-US" sz="2400" b="1" dirty="0"/>
              </a:p>
            </p:txBody>
          </p:sp>
          <p:sp>
            <p:nvSpPr>
              <p:cNvPr id="26" name="TextBox 25"/>
              <p:cNvSpPr txBox="1"/>
              <p:nvPr/>
            </p:nvSpPr>
            <p:spPr>
              <a:xfrm>
                <a:off x="10044608" y="5775647"/>
                <a:ext cx="1800200" cy="461665"/>
              </a:xfrm>
              <a:prstGeom prst="rect">
                <a:avLst/>
              </a:prstGeom>
              <a:solidFill>
                <a:schemeClr val="bg1">
                  <a:lumMod val="95000"/>
                </a:schemeClr>
              </a:solidFill>
            </p:spPr>
            <p:txBody>
              <a:bodyPr wrap="square" rtlCol="0">
                <a:spAutoFit/>
              </a:bodyPr>
              <a:lstStyle/>
              <a:p>
                <a:r>
                  <a:rPr lang="zh-CN" altLang="en-US" sz="2400" dirty="0"/>
                  <a:t>基可行解</a:t>
                </a:r>
                <a:r>
                  <a:rPr lang="en-US" altLang="zh-CN" sz="2400" b="1" dirty="0"/>
                  <a:t>X</a:t>
                </a:r>
                <a:endParaRPr lang="zh-CN" altLang="en-US" sz="2400" b="1" dirty="0"/>
              </a:p>
            </p:txBody>
          </p:sp>
          <p:sp>
            <p:nvSpPr>
              <p:cNvPr id="27" name="TextBox 26"/>
              <p:cNvSpPr txBox="1"/>
              <p:nvPr/>
            </p:nvSpPr>
            <p:spPr>
              <a:xfrm>
                <a:off x="12708904" y="5805264"/>
                <a:ext cx="1800200" cy="461665"/>
              </a:xfrm>
              <a:prstGeom prst="rect">
                <a:avLst/>
              </a:prstGeom>
              <a:solidFill>
                <a:schemeClr val="bg1">
                  <a:lumMod val="95000"/>
                </a:schemeClr>
              </a:solidFill>
            </p:spPr>
            <p:txBody>
              <a:bodyPr wrap="square" rtlCol="0">
                <a:spAutoFit/>
              </a:bodyPr>
              <a:lstStyle/>
              <a:p>
                <a:r>
                  <a:rPr lang="zh-CN" altLang="en-US" sz="2400" dirty="0"/>
                  <a:t>最优解</a:t>
                </a:r>
                <a:r>
                  <a:rPr lang="en-US" altLang="zh-CN" sz="2400" b="1" dirty="0"/>
                  <a:t>X</a:t>
                </a:r>
                <a:endParaRPr lang="zh-CN" altLang="en-US" sz="2400" b="1" dirty="0"/>
              </a:p>
            </p:txBody>
          </p:sp>
          <p:sp>
            <p:nvSpPr>
              <p:cNvPr id="28" name="右箭头 27"/>
              <p:cNvSpPr/>
              <p:nvPr/>
            </p:nvSpPr>
            <p:spPr bwMode="auto">
              <a:xfrm>
                <a:off x="9216008" y="5877272"/>
                <a:ext cx="540568" cy="216024"/>
              </a:xfrm>
              <a:prstGeom prst="rightArrow">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9" name="右箭头 28"/>
              <p:cNvSpPr/>
              <p:nvPr/>
            </p:nvSpPr>
            <p:spPr bwMode="auto">
              <a:xfrm>
                <a:off x="11988824" y="5877272"/>
                <a:ext cx="540568" cy="216024"/>
              </a:xfrm>
              <a:prstGeom prst="rightArrow">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grpSp>
          <p:nvGrpSpPr>
            <p:cNvPr id="30" name="组合 29"/>
            <p:cNvGrpSpPr/>
            <p:nvPr/>
          </p:nvGrpSpPr>
          <p:grpSpPr>
            <a:xfrm>
              <a:off x="610418" y="4398203"/>
              <a:ext cx="7778006" cy="830997"/>
              <a:chOff x="7163146" y="5661248"/>
              <a:chExt cx="7778006" cy="830997"/>
            </a:xfrm>
          </p:grpSpPr>
          <p:sp>
            <p:nvSpPr>
              <p:cNvPr id="31" name="TextBox 30"/>
              <p:cNvSpPr txBox="1"/>
              <p:nvPr/>
            </p:nvSpPr>
            <p:spPr>
              <a:xfrm>
                <a:off x="7163146" y="5733256"/>
                <a:ext cx="1872209" cy="461665"/>
              </a:xfrm>
              <a:prstGeom prst="rect">
                <a:avLst/>
              </a:prstGeom>
              <a:solidFill>
                <a:schemeClr val="bg1">
                  <a:lumMod val="95000"/>
                </a:schemeClr>
              </a:solidFill>
            </p:spPr>
            <p:txBody>
              <a:bodyPr wrap="square" rtlCol="0">
                <a:spAutoFit/>
              </a:bodyPr>
              <a:lstStyle/>
              <a:p>
                <a:r>
                  <a:rPr lang="en-US" altLang="zh-CN" sz="2400" b="1" dirty="0"/>
                  <a:t>(</a:t>
                </a:r>
                <a:r>
                  <a:rPr lang="zh-CN" altLang="en-US" sz="2400" b="1" dirty="0"/>
                  <a:t>多维</a:t>
                </a:r>
                <a:r>
                  <a:rPr lang="en-US" altLang="zh-CN" sz="2400" b="1" dirty="0"/>
                  <a:t>)</a:t>
                </a:r>
                <a:r>
                  <a:rPr lang="zh-CN" altLang="en-US" sz="2400" b="1" dirty="0"/>
                  <a:t>凸集</a:t>
                </a:r>
                <a:r>
                  <a:rPr lang="en-US" altLang="zh-CN" sz="2400" b="1" dirty="0"/>
                  <a:t>D</a:t>
                </a:r>
                <a:endParaRPr lang="zh-CN" altLang="en-US" sz="2400" b="1" dirty="0"/>
              </a:p>
            </p:txBody>
          </p:sp>
          <p:sp>
            <p:nvSpPr>
              <p:cNvPr id="32" name="TextBox 31"/>
              <p:cNvSpPr txBox="1"/>
              <p:nvPr/>
            </p:nvSpPr>
            <p:spPr>
              <a:xfrm>
                <a:off x="10044608" y="5775647"/>
                <a:ext cx="1800200" cy="461665"/>
              </a:xfrm>
              <a:prstGeom prst="rect">
                <a:avLst/>
              </a:prstGeom>
              <a:solidFill>
                <a:schemeClr val="bg1">
                  <a:lumMod val="95000"/>
                </a:schemeClr>
              </a:solidFill>
            </p:spPr>
            <p:txBody>
              <a:bodyPr wrap="square" rtlCol="0">
                <a:spAutoFit/>
              </a:bodyPr>
              <a:lstStyle/>
              <a:p>
                <a:r>
                  <a:rPr lang="zh-CN" altLang="en-US" sz="2400" dirty="0"/>
                  <a:t>凸集</a:t>
                </a:r>
                <a:r>
                  <a:rPr lang="en-US" altLang="zh-CN" sz="2400" dirty="0"/>
                  <a:t>D</a:t>
                </a:r>
                <a:r>
                  <a:rPr lang="zh-CN" altLang="en-US" sz="2400" b="1" dirty="0"/>
                  <a:t>顶点</a:t>
                </a:r>
                <a:endParaRPr lang="zh-CN" altLang="en-US" sz="2400" b="1" dirty="0"/>
              </a:p>
            </p:txBody>
          </p:sp>
          <p:sp>
            <p:nvSpPr>
              <p:cNvPr id="33" name="TextBox 32"/>
              <p:cNvSpPr txBox="1"/>
              <p:nvPr/>
            </p:nvSpPr>
            <p:spPr>
              <a:xfrm>
                <a:off x="12708904" y="5661248"/>
                <a:ext cx="2232248" cy="830997"/>
              </a:xfrm>
              <a:prstGeom prst="rect">
                <a:avLst/>
              </a:prstGeom>
              <a:solidFill>
                <a:schemeClr val="bg1">
                  <a:lumMod val="95000"/>
                </a:schemeClr>
              </a:solidFill>
            </p:spPr>
            <p:txBody>
              <a:bodyPr wrap="square" rtlCol="0">
                <a:spAutoFit/>
              </a:bodyPr>
              <a:lstStyle/>
              <a:p>
                <a:r>
                  <a:rPr lang="zh-CN" altLang="en-US" sz="2400" dirty="0"/>
                  <a:t>最优解</a:t>
                </a:r>
                <a:r>
                  <a:rPr lang="zh-CN" altLang="en-US" sz="2400" b="1" dirty="0"/>
                  <a:t>必在</a:t>
                </a:r>
                <a:r>
                  <a:rPr lang="en-US" altLang="zh-CN" sz="2400" b="1" dirty="0"/>
                  <a:t>D</a:t>
                </a:r>
                <a:r>
                  <a:rPr lang="zh-CN" altLang="en-US" sz="2400" b="1" dirty="0"/>
                  <a:t>的顶点达到</a:t>
                </a:r>
                <a:endParaRPr lang="zh-CN" altLang="en-US" sz="2400" b="1" dirty="0"/>
              </a:p>
            </p:txBody>
          </p:sp>
          <p:sp>
            <p:nvSpPr>
              <p:cNvPr id="34" name="右箭头 33"/>
              <p:cNvSpPr/>
              <p:nvPr/>
            </p:nvSpPr>
            <p:spPr bwMode="auto">
              <a:xfrm>
                <a:off x="9216008" y="5877272"/>
                <a:ext cx="540568" cy="216024"/>
              </a:xfrm>
              <a:prstGeom prst="rightArrow">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35" name="右箭头 34"/>
              <p:cNvSpPr/>
              <p:nvPr/>
            </p:nvSpPr>
            <p:spPr bwMode="auto">
              <a:xfrm>
                <a:off x="11988824" y="5877272"/>
                <a:ext cx="540568" cy="216024"/>
              </a:xfrm>
              <a:prstGeom prst="rightArrow">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grpSp>
          <p:nvGrpSpPr>
            <p:cNvPr id="36" name="组合 35"/>
            <p:cNvGrpSpPr/>
            <p:nvPr/>
          </p:nvGrpSpPr>
          <p:grpSpPr>
            <a:xfrm>
              <a:off x="467545" y="2708920"/>
              <a:ext cx="7992887" cy="1200329"/>
              <a:chOff x="6948265" y="5445224"/>
              <a:chExt cx="7992887" cy="1200329"/>
            </a:xfrm>
          </p:grpSpPr>
          <p:sp>
            <p:nvSpPr>
              <p:cNvPr id="37" name="TextBox 36"/>
              <p:cNvSpPr txBox="1"/>
              <p:nvPr/>
            </p:nvSpPr>
            <p:spPr>
              <a:xfrm>
                <a:off x="6948265" y="5733256"/>
                <a:ext cx="2088192" cy="461665"/>
              </a:xfrm>
              <a:prstGeom prst="rect">
                <a:avLst/>
              </a:prstGeom>
              <a:solidFill>
                <a:schemeClr val="bg1">
                  <a:lumMod val="95000"/>
                </a:schemeClr>
              </a:solidFill>
            </p:spPr>
            <p:txBody>
              <a:bodyPr wrap="square" rtlCol="0">
                <a:spAutoFit/>
              </a:bodyPr>
              <a:lstStyle/>
              <a:p>
                <a:r>
                  <a:rPr lang="en-US" altLang="zh-CN" sz="2400" dirty="0"/>
                  <a:t>(2</a:t>
                </a:r>
                <a:r>
                  <a:rPr lang="zh-CN" altLang="en-US" sz="2400" dirty="0"/>
                  <a:t>维</a:t>
                </a:r>
                <a:r>
                  <a:rPr lang="en-US" altLang="zh-CN" sz="2400" dirty="0"/>
                  <a:t>)</a:t>
                </a:r>
                <a:r>
                  <a:rPr lang="zh-CN" altLang="en-US" sz="2400" dirty="0"/>
                  <a:t>凸多边形</a:t>
                </a:r>
                <a:endParaRPr lang="zh-CN" altLang="en-US" sz="2400" dirty="0"/>
              </a:p>
            </p:txBody>
          </p:sp>
          <p:sp>
            <p:nvSpPr>
              <p:cNvPr id="38" name="TextBox 37"/>
              <p:cNvSpPr txBox="1"/>
              <p:nvPr/>
            </p:nvSpPr>
            <p:spPr>
              <a:xfrm>
                <a:off x="9828584" y="5775647"/>
                <a:ext cx="2232248" cy="461665"/>
              </a:xfrm>
              <a:prstGeom prst="rect">
                <a:avLst/>
              </a:prstGeom>
              <a:solidFill>
                <a:schemeClr val="bg1">
                  <a:lumMod val="95000"/>
                </a:schemeClr>
              </a:solidFill>
            </p:spPr>
            <p:txBody>
              <a:bodyPr wrap="square" rtlCol="0">
                <a:spAutoFit/>
              </a:bodyPr>
              <a:lstStyle/>
              <a:p>
                <a:r>
                  <a:rPr lang="zh-CN" altLang="en-US" sz="2400" dirty="0"/>
                  <a:t>凸多边形顶点</a:t>
                </a:r>
                <a:endParaRPr lang="zh-CN" altLang="en-US" sz="2400" b="1" dirty="0"/>
              </a:p>
            </p:txBody>
          </p:sp>
          <p:sp>
            <p:nvSpPr>
              <p:cNvPr id="39" name="TextBox 38"/>
              <p:cNvSpPr txBox="1"/>
              <p:nvPr/>
            </p:nvSpPr>
            <p:spPr>
              <a:xfrm>
                <a:off x="12708904" y="5445224"/>
                <a:ext cx="2232248" cy="1200329"/>
              </a:xfrm>
              <a:prstGeom prst="rect">
                <a:avLst/>
              </a:prstGeom>
              <a:solidFill>
                <a:schemeClr val="bg1">
                  <a:lumMod val="95000"/>
                </a:schemeClr>
              </a:solidFill>
            </p:spPr>
            <p:txBody>
              <a:bodyPr wrap="square" rtlCol="0">
                <a:spAutoFit/>
              </a:bodyPr>
              <a:lstStyle/>
              <a:p>
                <a:r>
                  <a:rPr lang="zh-CN" altLang="en-US" sz="2400" dirty="0"/>
                  <a:t>最优解</a:t>
                </a:r>
                <a:r>
                  <a:rPr lang="zh-CN" altLang="en-US" sz="2400" b="1"/>
                  <a:t>必在凸多边形的</a:t>
                </a:r>
                <a:r>
                  <a:rPr lang="zh-CN" altLang="en-US" sz="2400" b="1" dirty="0"/>
                  <a:t>顶点达到</a:t>
                </a:r>
                <a:endParaRPr lang="zh-CN" altLang="en-US" sz="2400" b="1" dirty="0"/>
              </a:p>
            </p:txBody>
          </p:sp>
          <p:sp>
            <p:nvSpPr>
              <p:cNvPr id="40" name="右箭头 39"/>
              <p:cNvSpPr/>
              <p:nvPr/>
            </p:nvSpPr>
            <p:spPr bwMode="auto">
              <a:xfrm>
                <a:off x="9216008" y="5877272"/>
                <a:ext cx="540568" cy="216024"/>
              </a:xfrm>
              <a:prstGeom prst="rightArrow">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41" name="右箭头 40"/>
              <p:cNvSpPr/>
              <p:nvPr/>
            </p:nvSpPr>
            <p:spPr bwMode="auto">
              <a:xfrm>
                <a:off x="11988824" y="5877272"/>
                <a:ext cx="540568" cy="216024"/>
              </a:xfrm>
              <a:prstGeom prst="rightArrow">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42" name="上下箭头 41"/>
            <p:cNvSpPr/>
            <p:nvPr/>
          </p:nvSpPr>
          <p:spPr bwMode="auto">
            <a:xfrm>
              <a:off x="1475656" y="2276872"/>
              <a:ext cx="360000" cy="2124000"/>
            </a:xfrm>
            <a:prstGeom prst="upDownArrow">
              <a:avLst/>
            </a:prstGeom>
            <a:no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51" name="上下箭头 50"/>
            <p:cNvSpPr/>
            <p:nvPr/>
          </p:nvSpPr>
          <p:spPr bwMode="auto">
            <a:xfrm>
              <a:off x="6876256" y="2276872"/>
              <a:ext cx="360000" cy="2124000"/>
            </a:xfrm>
            <a:prstGeom prst="upDownArrow">
              <a:avLst/>
            </a:prstGeom>
            <a:no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52" name="上下箭头 51"/>
            <p:cNvSpPr/>
            <p:nvPr/>
          </p:nvSpPr>
          <p:spPr bwMode="auto">
            <a:xfrm>
              <a:off x="4211960" y="2276872"/>
              <a:ext cx="360000" cy="2124000"/>
            </a:xfrm>
            <a:prstGeom prst="upDownArrow">
              <a:avLst/>
            </a:prstGeom>
            <a:no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grpSp>
        <p:nvGrpSpPr>
          <p:cNvPr id="69" name="组合 68"/>
          <p:cNvGrpSpPr/>
          <p:nvPr/>
        </p:nvGrpSpPr>
        <p:grpSpPr>
          <a:xfrm>
            <a:off x="5318770" y="1046832"/>
            <a:ext cx="4464496" cy="491282"/>
            <a:chOff x="3851920" y="1713582"/>
            <a:chExt cx="4464496" cy="491282"/>
          </a:xfrm>
        </p:grpSpPr>
        <p:sp>
          <p:nvSpPr>
            <p:cNvPr id="54" name="TextBox 53"/>
            <p:cNvSpPr txBox="1"/>
            <p:nvPr/>
          </p:nvSpPr>
          <p:spPr>
            <a:xfrm>
              <a:off x="3851920" y="1713582"/>
              <a:ext cx="1800200" cy="461665"/>
            </a:xfrm>
            <a:prstGeom prst="rect">
              <a:avLst/>
            </a:prstGeom>
            <a:solidFill>
              <a:schemeClr val="bg1">
                <a:lumMod val="95000"/>
              </a:schemeClr>
            </a:solidFill>
          </p:spPr>
          <p:txBody>
            <a:bodyPr wrap="square" rtlCol="0">
              <a:spAutoFit/>
            </a:bodyPr>
            <a:lstStyle/>
            <a:p>
              <a:r>
                <a:rPr lang="zh-CN" altLang="en-US" sz="2400" dirty="0">
                  <a:solidFill>
                    <a:srgbClr val="FF0000"/>
                  </a:solidFill>
                </a:rPr>
                <a:t>基可行解</a:t>
              </a:r>
              <a:r>
                <a:rPr lang="en-US" altLang="zh-CN" sz="2400" b="1" dirty="0">
                  <a:solidFill>
                    <a:srgbClr val="FF0000"/>
                  </a:solidFill>
                </a:rPr>
                <a:t>X</a:t>
              </a:r>
              <a:endParaRPr lang="zh-CN" altLang="en-US" sz="2400" b="1" dirty="0">
                <a:solidFill>
                  <a:srgbClr val="FF0000"/>
                </a:solidFill>
              </a:endParaRPr>
            </a:p>
          </p:txBody>
        </p:sp>
        <p:sp>
          <p:nvSpPr>
            <p:cNvPr id="55" name="TextBox 54"/>
            <p:cNvSpPr txBox="1"/>
            <p:nvPr/>
          </p:nvSpPr>
          <p:spPr>
            <a:xfrm>
              <a:off x="6516216" y="1743199"/>
              <a:ext cx="1800200" cy="461665"/>
            </a:xfrm>
            <a:prstGeom prst="rect">
              <a:avLst/>
            </a:prstGeom>
            <a:solidFill>
              <a:schemeClr val="bg1">
                <a:lumMod val="95000"/>
              </a:schemeClr>
            </a:solidFill>
          </p:spPr>
          <p:txBody>
            <a:bodyPr wrap="square" rtlCol="0">
              <a:spAutoFit/>
            </a:bodyPr>
            <a:lstStyle/>
            <a:p>
              <a:r>
                <a:rPr lang="zh-CN" altLang="en-US" sz="2400" dirty="0">
                  <a:solidFill>
                    <a:srgbClr val="FF0000"/>
                  </a:solidFill>
                </a:rPr>
                <a:t>最优解</a:t>
              </a:r>
              <a:r>
                <a:rPr lang="en-US" altLang="zh-CN" sz="2400" b="1" dirty="0">
                  <a:solidFill>
                    <a:srgbClr val="FF0000"/>
                  </a:solidFill>
                </a:rPr>
                <a:t>X</a:t>
              </a:r>
              <a:endParaRPr lang="zh-CN" altLang="en-US" sz="2400" b="1" dirty="0">
                <a:solidFill>
                  <a:srgbClr val="FF0000"/>
                </a:solidFill>
              </a:endParaRPr>
            </a:p>
          </p:txBody>
        </p:sp>
        <p:sp>
          <p:nvSpPr>
            <p:cNvPr id="56" name="右箭头 55"/>
            <p:cNvSpPr/>
            <p:nvPr/>
          </p:nvSpPr>
          <p:spPr bwMode="auto">
            <a:xfrm>
              <a:off x="5796136" y="1815207"/>
              <a:ext cx="540568" cy="216024"/>
            </a:xfrm>
            <a:prstGeom prst="rightArrow">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solidFill>
                  <a:srgbClr val="FF0000"/>
                </a:solidFill>
                <a:latin typeface="Arial" panose="020B0604020202090204" pitchFamily="34" charset="0"/>
                <a:ea typeface="宋体" panose="02010600030101010101" pitchFamily="2" charset="-122"/>
              </a:endParaRPr>
            </a:p>
          </p:txBody>
        </p:sp>
      </p:grpSp>
      <p:sp>
        <p:nvSpPr>
          <p:cNvPr id="48" name="文本框 47"/>
          <p:cNvSpPr txBox="1"/>
          <p:nvPr/>
        </p:nvSpPr>
        <p:spPr>
          <a:xfrm>
            <a:off x="246104" y="4861038"/>
            <a:ext cx="11801476" cy="1902059"/>
          </a:xfrm>
          <a:prstGeom prst="rect">
            <a:avLst/>
          </a:prstGeom>
          <a:noFill/>
        </p:spPr>
        <p:txBody>
          <a:bodyPr wrap="square">
            <a:spAutoFit/>
          </a:bodyPr>
          <a:lstStyle/>
          <a:p>
            <a:pPr algn="ctr">
              <a:buNone/>
            </a:pPr>
            <a:r>
              <a:rPr lang="zh-CN" altLang="en-US" sz="1960" dirty="0"/>
              <a:t>定理</a:t>
            </a:r>
            <a:r>
              <a:rPr lang="en-US" altLang="zh-CN" sz="1960" dirty="0"/>
              <a:t>1.</a:t>
            </a:r>
            <a:r>
              <a:rPr lang="zh-CN" altLang="en-US" sz="1960" dirty="0"/>
              <a:t> </a:t>
            </a:r>
            <a:r>
              <a:rPr lang="en-US" altLang="zh-CN" sz="1960" dirty="0"/>
              <a:t>LPQ</a:t>
            </a:r>
            <a:r>
              <a:rPr lang="zh-CN" altLang="en-US" sz="1960" dirty="0"/>
              <a:t>的可行解集是凸集，即连接</a:t>
            </a:r>
            <a:r>
              <a:rPr lang="en-US" altLang="zh-CN" sz="1960" dirty="0"/>
              <a:t>LPQ</a:t>
            </a:r>
            <a:r>
              <a:rPr lang="zh-CN" altLang="en-US" sz="1960" dirty="0"/>
              <a:t>任意两个可行解的线段上的点仍然是可行解。</a:t>
            </a:r>
            <a:endParaRPr lang="en-US" altLang="zh-CN" sz="1960" dirty="0"/>
          </a:p>
          <a:p>
            <a:pPr algn="ctr">
              <a:buNone/>
            </a:pPr>
            <a:r>
              <a:rPr lang="zh-CN" altLang="en-US" sz="1960" dirty="0"/>
              <a:t>定理</a:t>
            </a:r>
            <a:r>
              <a:rPr lang="en-US" altLang="zh-CN" sz="1960" dirty="0"/>
              <a:t>2. LPQ</a:t>
            </a:r>
            <a:r>
              <a:rPr lang="zh-CN" altLang="zh-CN" sz="1960" dirty="0"/>
              <a:t>的可行解</a:t>
            </a:r>
            <a:r>
              <a:rPr lang="en-US" altLang="zh-CN" sz="1960" dirty="0"/>
              <a:t>x</a:t>
            </a:r>
            <a:r>
              <a:rPr lang="zh-CN" altLang="en-US" sz="1960" dirty="0"/>
              <a:t>是基础可行的充分必要条件是</a:t>
            </a:r>
            <a:r>
              <a:rPr lang="en-US" altLang="zh-CN" sz="1960" dirty="0"/>
              <a:t>x</a:t>
            </a:r>
            <a:r>
              <a:rPr lang="zh-CN" altLang="en-US" sz="1960" dirty="0"/>
              <a:t>的非零分量所对应的系数矩阵</a:t>
            </a:r>
            <a:r>
              <a:rPr lang="en-US" altLang="zh-CN" sz="1960" dirty="0"/>
              <a:t>A</a:t>
            </a:r>
            <a:r>
              <a:rPr lang="zh-CN" altLang="en-US" sz="1960" dirty="0"/>
              <a:t>的列向量是线性无关的。</a:t>
            </a:r>
            <a:endParaRPr lang="en-US" altLang="zh-CN" sz="1960" dirty="0"/>
          </a:p>
          <a:p>
            <a:pPr algn="ctr">
              <a:buNone/>
            </a:pPr>
            <a:r>
              <a:rPr lang="zh-CN" altLang="en-US" sz="1960" dirty="0"/>
              <a:t>定理</a:t>
            </a:r>
            <a:r>
              <a:rPr lang="en-US" altLang="zh-CN" sz="1960" dirty="0"/>
              <a:t>3. LPQ</a:t>
            </a:r>
            <a:r>
              <a:rPr lang="zh-CN" altLang="zh-CN" sz="1960" dirty="0"/>
              <a:t>的可行解集</a:t>
            </a:r>
            <a:r>
              <a:rPr lang="en-US" altLang="zh-CN" sz="1960" dirty="0"/>
              <a:t>D</a:t>
            </a:r>
            <a:r>
              <a:rPr lang="zh-CN" altLang="en-US" sz="1960" dirty="0"/>
              <a:t>的</a:t>
            </a:r>
            <a:r>
              <a:rPr lang="zh-CN" altLang="en-US" sz="1960" dirty="0">
                <a:solidFill>
                  <a:srgbClr val="FF0000"/>
                </a:solidFill>
              </a:rPr>
              <a:t>点</a:t>
            </a:r>
            <a:r>
              <a:rPr lang="en-US" altLang="zh-CN" sz="1960" dirty="0">
                <a:solidFill>
                  <a:srgbClr val="FF0000"/>
                </a:solidFill>
              </a:rPr>
              <a:t>x</a:t>
            </a:r>
            <a:r>
              <a:rPr lang="zh-CN" altLang="en-US" sz="1960" dirty="0">
                <a:solidFill>
                  <a:srgbClr val="FF0000"/>
                </a:solidFill>
              </a:rPr>
              <a:t>是顶点的充分必要条件是</a:t>
            </a:r>
            <a:r>
              <a:rPr lang="en-US" altLang="zh-CN" sz="1960" dirty="0">
                <a:solidFill>
                  <a:srgbClr val="FF0000"/>
                </a:solidFill>
              </a:rPr>
              <a:t>x</a:t>
            </a:r>
            <a:r>
              <a:rPr lang="zh-CN" altLang="en-US" sz="1960" dirty="0">
                <a:solidFill>
                  <a:srgbClr val="FF0000"/>
                </a:solidFill>
              </a:rPr>
              <a:t>是基础可行解。</a:t>
            </a:r>
            <a:endParaRPr lang="en-US" altLang="zh-CN" sz="1960" dirty="0">
              <a:solidFill>
                <a:srgbClr val="FF0000"/>
              </a:solidFill>
            </a:endParaRPr>
          </a:p>
          <a:p>
            <a:pPr algn="ctr">
              <a:buNone/>
            </a:pPr>
            <a:r>
              <a:rPr lang="zh-CN" altLang="en-US" sz="1960" dirty="0"/>
              <a:t>推论</a:t>
            </a:r>
            <a:r>
              <a:rPr lang="en-US" altLang="zh-CN" sz="1960" dirty="0"/>
              <a:t>1.</a:t>
            </a:r>
            <a:r>
              <a:rPr lang="zh-CN" altLang="en-US" sz="1960" dirty="0"/>
              <a:t>可行解集</a:t>
            </a:r>
            <a:r>
              <a:rPr lang="en-US" altLang="zh-CN" sz="1960" dirty="0"/>
              <a:t>D</a:t>
            </a:r>
            <a:r>
              <a:rPr lang="zh-CN" altLang="en-US" sz="1960" dirty="0"/>
              <a:t>中的顶点个数是有限的。</a:t>
            </a:r>
            <a:endParaRPr lang="en-US" altLang="zh-CN" sz="1960" dirty="0"/>
          </a:p>
          <a:p>
            <a:pPr algn="ctr">
              <a:buNone/>
            </a:pPr>
            <a:r>
              <a:rPr lang="zh-CN" altLang="en-US" sz="1960" dirty="0"/>
              <a:t>推论</a:t>
            </a:r>
            <a:r>
              <a:rPr lang="en-US" altLang="zh-CN" sz="1960" dirty="0"/>
              <a:t>2.</a:t>
            </a:r>
            <a:r>
              <a:rPr lang="zh-CN" altLang="en-US" sz="1960" dirty="0"/>
              <a:t>若可行解集</a:t>
            </a:r>
            <a:r>
              <a:rPr lang="en-US" altLang="zh-CN" sz="1960" dirty="0"/>
              <a:t>D</a:t>
            </a:r>
            <a:r>
              <a:rPr lang="zh-CN" altLang="en-US" sz="1960" dirty="0"/>
              <a:t>是有界的凸集，则</a:t>
            </a:r>
            <a:r>
              <a:rPr lang="en-US" altLang="zh-CN" sz="1960" dirty="0"/>
              <a:t>D</a:t>
            </a:r>
            <a:r>
              <a:rPr lang="zh-CN" altLang="en-US" sz="1960" dirty="0"/>
              <a:t>中任意一点</a:t>
            </a:r>
            <a:r>
              <a:rPr lang="en-US" altLang="zh-CN" sz="1960" dirty="0"/>
              <a:t>x</a:t>
            </a:r>
            <a:r>
              <a:rPr lang="zh-CN" altLang="en-US" sz="1960" dirty="0"/>
              <a:t>，都可以表示成</a:t>
            </a:r>
            <a:r>
              <a:rPr lang="en-US" altLang="zh-CN" sz="1960" dirty="0"/>
              <a:t>D</a:t>
            </a:r>
            <a:r>
              <a:rPr lang="zh-CN" altLang="en-US" sz="1960" dirty="0"/>
              <a:t>的顶点的凸集合。</a:t>
            </a:r>
            <a:endParaRPr lang="en-US" altLang="zh-CN" sz="1960" dirty="0"/>
          </a:p>
          <a:p>
            <a:pPr algn="ctr">
              <a:buNone/>
            </a:pPr>
            <a:r>
              <a:rPr lang="zh-CN" altLang="en-US" sz="1960" dirty="0"/>
              <a:t>定理</a:t>
            </a:r>
            <a:r>
              <a:rPr lang="en-US" altLang="zh-CN" sz="1960" dirty="0"/>
              <a:t>4.</a:t>
            </a:r>
            <a:r>
              <a:rPr lang="zh-CN" altLang="en-US" sz="1960" dirty="0"/>
              <a:t>若可行解集</a:t>
            </a:r>
            <a:r>
              <a:rPr lang="en-US" altLang="zh-CN" sz="1960" dirty="0"/>
              <a:t>D</a:t>
            </a:r>
            <a:r>
              <a:rPr lang="zh-CN" altLang="en-US" sz="1960" dirty="0"/>
              <a:t>是有界的，则</a:t>
            </a:r>
            <a:r>
              <a:rPr lang="en-US" altLang="zh-CN" sz="1960" dirty="0"/>
              <a:t>LPQ</a:t>
            </a:r>
            <a:r>
              <a:rPr lang="zh-CN" altLang="en-US" sz="1960" dirty="0"/>
              <a:t>问题的</a:t>
            </a:r>
            <a:r>
              <a:rPr lang="zh-CN" altLang="en-US" sz="1960" dirty="0">
                <a:solidFill>
                  <a:srgbClr val="FF0000"/>
                </a:solidFill>
              </a:rPr>
              <a:t>最优解，必定在</a:t>
            </a:r>
            <a:r>
              <a:rPr lang="en-US" altLang="zh-CN" sz="1960" dirty="0">
                <a:solidFill>
                  <a:srgbClr val="FF0000"/>
                </a:solidFill>
              </a:rPr>
              <a:t>D</a:t>
            </a:r>
            <a:r>
              <a:rPr lang="zh-CN" altLang="en-US" sz="1960" dirty="0">
                <a:solidFill>
                  <a:srgbClr val="FF0000"/>
                </a:solidFill>
              </a:rPr>
              <a:t>的顶点上达到</a:t>
            </a:r>
            <a:r>
              <a:rPr lang="zh-CN" altLang="en-US" sz="1960" dirty="0"/>
              <a:t>。</a:t>
            </a:r>
            <a:endParaRPr lang="en-US" altLang="zh-CN" sz="196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20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20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314326" y="23812"/>
            <a:ext cx="11774604" cy="6796088"/>
            <a:chOff x="314326" y="23812"/>
            <a:chExt cx="11774604" cy="6796088"/>
          </a:xfrm>
        </p:grpSpPr>
        <p:grpSp>
          <p:nvGrpSpPr>
            <p:cNvPr id="8" name="组合 7"/>
            <p:cNvGrpSpPr/>
            <p:nvPr/>
          </p:nvGrpSpPr>
          <p:grpSpPr>
            <a:xfrm>
              <a:off x="2752725" y="3621340"/>
              <a:ext cx="9336205" cy="3198560"/>
              <a:chOff x="2752725" y="3621340"/>
              <a:chExt cx="9336205" cy="3198560"/>
            </a:xfrm>
          </p:grpSpPr>
          <p:pic>
            <p:nvPicPr>
              <p:cNvPr id="3" name="图片 2"/>
              <p:cNvPicPr>
                <a:picLocks noChangeAspect="1"/>
              </p:cNvPicPr>
              <p:nvPr/>
            </p:nvPicPr>
            <p:blipFill>
              <a:blip r:embed="rId1"/>
              <a:stretch>
                <a:fillRect/>
              </a:stretch>
            </p:blipFill>
            <p:spPr>
              <a:xfrm>
                <a:off x="4552949" y="3621340"/>
                <a:ext cx="7535981" cy="2675340"/>
              </a:xfrm>
              <a:prstGeom prst="rect">
                <a:avLst/>
              </a:prstGeom>
              <a:ln>
                <a:solidFill>
                  <a:schemeClr val="accent1"/>
                </a:solidFill>
              </a:ln>
            </p:spPr>
          </p:pic>
          <p:sp>
            <p:nvSpPr>
              <p:cNvPr id="6" name="文本框 5"/>
              <p:cNvSpPr txBox="1"/>
              <p:nvPr/>
            </p:nvSpPr>
            <p:spPr>
              <a:xfrm>
                <a:off x="3467100" y="4143375"/>
                <a:ext cx="1085850" cy="1569660"/>
              </a:xfrm>
              <a:prstGeom prst="rect">
                <a:avLst/>
              </a:prstGeom>
              <a:noFill/>
            </p:spPr>
            <p:txBody>
              <a:bodyPr wrap="square" rtlCol="0">
                <a:spAutoFit/>
              </a:bodyPr>
              <a:lstStyle/>
              <a:p>
                <a:pPr algn="ctr"/>
                <a:r>
                  <a:rPr lang="en-US" altLang="zh-CN" sz="9600" dirty="0"/>
                  <a:t>+</a:t>
                </a:r>
                <a:endParaRPr lang="zh-CN" altLang="en-US" sz="9600" dirty="0"/>
              </a:p>
            </p:txBody>
          </p:sp>
          <p:sp>
            <p:nvSpPr>
              <p:cNvPr id="7" name="文本框 6"/>
              <p:cNvSpPr txBox="1"/>
              <p:nvPr/>
            </p:nvSpPr>
            <p:spPr>
              <a:xfrm>
                <a:off x="2752725" y="6296680"/>
                <a:ext cx="5734050" cy="523220"/>
              </a:xfrm>
              <a:prstGeom prst="rect">
                <a:avLst/>
              </a:prstGeom>
              <a:noFill/>
            </p:spPr>
            <p:txBody>
              <a:bodyPr wrap="square" rtlCol="0">
                <a:spAutoFit/>
              </a:bodyPr>
              <a:lstStyle/>
              <a:p>
                <a:pPr algn="ctr"/>
                <a:r>
                  <a:rPr lang="zh-CN" altLang="en-US" sz="2800" dirty="0"/>
                  <a:t>构成了：求解</a:t>
                </a:r>
                <a:r>
                  <a:rPr lang="en-US" altLang="zh-CN" sz="2800" dirty="0"/>
                  <a:t>LPQ</a:t>
                </a:r>
                <a:r>
                  <a:rPr lang="zh-CN" altLang="en-US" sz="2800" dirty="0"/>
                  <a:t>的基本思路</a:t>
                </a:r>
                <a:endParaRPr lang="zh-CN" altLang="en-US" sz="2800" dirty="0"/>
              </a:p>
            </p:txBody>
          </p:sp>
        </p:grpSp>
        <p:pic>
          <p:nvPicPr>
            <p:cNvPr id="13" name="图片 12"/>
            <p:cNvPicPr>
              <a:picLocks noChangeAspect="1"/>
            </p:cNvPicPr>
            <p:nvPr/>
          </p:nvPicPr>
          <p:blipFill>
            <a:blip r:embed="rId2"/>
            <a:stretch>
              <a:fillRect/>
            </a:stretch>
          </p:blipFill>
          <p:spPr>
            <a:xfrm>
              <a:off x="314326" y="23812"/>
              <a:ext cx="8171654" cy="3507343"/>
            </a:xfrm>
            <a:prstGeom prst="rect">
              <a:avLst/>
            </a:prstGeom>
          </p:spPr>
        </p:pic>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385888"/>
            <a:ext cx="10515600" cy="1595437"/>
          </a:xfrm>
        </p:spPr>
        <p:txBody>
          <a:bodyPr/>
          <a:lstStyle/>
          <a:p>
            <a:r>
              <a:rPr lang="zh-CN" altLang="en-US" dirty="0"/>
              <a:t>二，</a:t>
            </a:r>
            <a:r>
              <a:rPr lang="zh-CN" altLang="en-US" dirty="0">
                <a:solidFill>
                  <a:srgbClr val="FF0000"/>
                </a:solidFill>
              </a:rPr>
              <a:t>简单标准形</a:t>
            </a:r>
            <a:r>
              <a:rPr lang="zh-CN" altLang="en-US" dirty="0"/>
              <a:t>的单纯形法</a:t>
            </a:r>
            <a:endParaRPr lang="zh-CN" altLang="en-US" dirty="0"/>
          </a:p>
        </p:txBody>
      </p:sp>
      <p:sp>
        <p:nvSpPr>
          <p:cNvPr id="3" name="文本占位符 2"/>
          <p:cNvSpPr>
            <a:spLocks noGrp="1"/>
          </p:cNvSpPr>
          <p:nvPr>
            <p:ph type="body" idx="1"/>
          </p:nvPr>
        </p:nvSpPr>
        <p:spPr>
          <a:xfrm>
            <a:off x="831850" y="3248025"/>
            <a:ext cx="10515600" cy="2841625"/>
          </a:xfrm>
        </p:spPr>
        <p:txBody>
          <a:bodyPr/>
          <a:lstStyle/>
          <a:p>
            <a:r>
              <a:rPr lang="en-US" altLang="zh-CN" dirty="0">
                <a:solidFill>
                  <a:srgbClr val="0322BD"/>
                </a:solidFill>
              </a:rPr>
              <a:t>1.</a:t>
            </a:r>
            <a:r>
              <a:rPr lang="zh-CN" altLang="en-US" dirty="0">
                <a:solidFill>
                  <a:srgbClr val="0322BD"/>
                </a:solidFill>
              </a:rPr>
              <a:t>研究对象：可将非标准形式转换为</a:t>
            </a:r>
            <a:r>
              <a:rPr lang="zh-CN" altLang="en-US" b="1" u="sng" dirty="0">
                <a:solidFill>
                  <a:srgbClr val="0322BD"/>
                </a:solidFill>
              </a:rPr>
              <a:t>简单标准形</a:t>
            </a:r>
            <a:r>
              <a:rPr lang="zh-CN" altLang="en-US" dirty="0">
                <a:solidFill>
                  <a:srgbClr val="0322BD"/>
                </a:solidFill>
              </a:rPr>
              <a:t>的线性规划问题</a:t>
            </a:r>
            <a:endParaRPr lang="en-US" altLang="zh-CN" dirty="0">
              <a:solidFill>
                <a:srgbClr val="0322BD"/>
              </a:solidFill>
            </a:endParaRPr>
          </a:p>
          <a:p>
            <a:r>
              <a:rPr lang="en-US" altLang="zh-CN" dirty="0">
                <a:solidFill>
                  <a:srgbClr val="0322BD"/>
                </a:solidFill>
              </a:rPr>
              <a:t>2.</a:t>
            </a:r>
            <a:r>
              <a:rPr lang="zh-CN" altLang="en-US" dirty="0">
                <a:solidFill>
                  <a:srgbClr val="0322BD"/>
                </a:solidFill>
              </a:rPr>
              <a:t> 单纯形方法：表格形式</a:t>
            </a:r>
            <a:r>
              <a:rPr lang="en-US" altLang="zh-CN" dirty="0">
                <a:solidFill>
                  <a:srgbClr val="0322BD"/>
                </a:solidFill>
              </a:rPr>
              <a:t>(</a:t>
            </a:r>
            <a:r>
              <a:rPr lang="zh-CN" altLang="en-US" dirty="0">
                <a:solidFill>
                  <a:srgbClr val="0322BD"/>
                </a:solidFill>
              </a:rPr>
              <a:t>表、判、算</a:t>
            </a:r>
            <a:r>
              <a:rPr lang="en-US" altLang="zh-CN" dirty="0">
                <a:solidFill>
                  <a:srgbClr val="0322BD"/>
                </a:solidFill>
              </a:rPr>
              <a:t>)</a:t>
            </a:r>
            <a:r>
              <a:rPr lang="zh-CN" altLang="en-US" dirty="0">
                <a:solidFill>
                  <a:srgbClr val="0322BD"/>
                </a:solidFill>
              </a:rPr>
              <a:t>，代数形式</a:t>
            </a:r>
            <a:endParaRPr lang="en-US" altLang="zh-CN" dirty="0">
              <a:solidFill>
                <a:srgbClr val="0322BD"/>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069" y="8231"/>
            <a:ext cx="9530011" cy="793750"/>
          </a:xfrm>
        </p:spPr>
        <p:txBody>
          <a:bodyPr>
            <a:normAutofit/>
          </a:bodyPr>
          <a:lstStyle/>
          <a:p>
            <a:r>
              <a:rPr lang="zh-CN" altLang="en-US" sz="3200" dirty="0">
                <a:solidFill>
                  <a:srgbClr val="00000C"/>
                </a:solidFill>
              </a:rPr>
              <a:t>什么是简单标准形的</a:t>
            </a:r>
            <a:r>
              <a:rPr lang="en-US" altLang="zh-CN" sz="3200" dirty="0">
                <a:solidFill>
                  <a:srgbClr val="00000C"/>
                </a:solidFill>
              </a:rPr>
              <a:t>LPQ</a:t>
            </a:r>
            <a:r>
              <a:rPr lang="zh-CN" altLang="en-US" sz="3200" dirty="0">
                <a:solidFill>
                  <a:srgbClr val="00000C"/>
                </a:solidFill>
              </a:rPr>
              <a:t>？</a:t>
            </a:r>
            <a:endParaRPr lang="zh-CN" altLang="en-US" sz="3200" dirty="0"/>
          </a:p>
        </p:txBody>
      </p:sp>
      <p:sp>
        <p:nvSpPr>
          <p:cNvPr id="3" name="内容占位符 2"/>
          <p:cNvSpPr>
            <a:spLocks noGrp="1"/>
          </p:cNvSpPr>
          <p:nvPr>
            <p:ph idx="1"/>
          </p:nvPr>
        </p:nvSpPr>
        <p:spPr>
          <a:xfrm>
            <a:off x="81280" y="716862"/>
            <a:ext cx="12110720" cy="3081844"/>
          </a:xfrm>
        </p:spPr>
        <p:txBody>
          <a:bodyPr>
            <a:normAutofit/>
          </a:bodyPr>
          <a:lstStyle/>
          <a:p>
            <a:pPr>
              <a:lnSpc>
                <a:spcPct val="100000"/>
              </a:lnSpc>
              <a:spcBef>
                <a:spcPts val="600"/>
              </a:spcBef>
              <a:buNone/>
            </a:pPr>
            <a:r>
              <a:rPr lang="zh-CN" altLang="en-US" sz="2400" dirty="0">
                <a:solidFill>
                  <a:srgbClr val="00000C"/>
                </a:solidFill>
              </a:rPr>
              <a:t>简单标准形具有</a:t>
            </a:r>
            <a:r>
              <a:rPr lang="en-US" altLang="zh-CN" sz="2400" dirty="0">
                <a:solidFill>
                  <a:srgbClr val="00000C"/>
                </a:solidFill>
              </a:rPr>
              <a:t>3</a:t>
            </a:r>
            <a:r>
              <a:rPr lang="zh-CN" altLang="en-US" sz="2400" dirty="0">
                <a:solidFill>
                  <a:srgbClr val="00000C"/>
                </a:solidFill>
              </a:rPr>
              <a:t>个特点</a:t>
            </a:r>
            <a:r>
              <a:rPr lang="en-US" altLang="zh-CN" sz="2400" dirty="0">
                <a:solidFill>
                  <a:srgbClr val="00000C"/>
                </a:solidFill>
              </a:rPr>
              <a:t>[</a:t>
            </a:r>
            <a:r>
              <a:rPr lang="zh-CN" altLang="en-US" sz="2400" dirty="0">
                <a:solidFill>
                  <a:srgbClr val="00000C"/>
                </a:solidFill>
              </a:rPr>
              <a:t>简单讲，简单标准型</a:t>
            </a:r>
            <a:r>
              <a:rPr lang="en-US" altLang="zh-CN" sz="2400" dirty="0">
                <a:solidFill>
                  <a:srgbClr val="00000C"/>
                </a:solidFill>
              </a:rPr>
              <a:t>=</a:t>
            </a:r>
            <a:r>
              <a:rPr lang="zh-CN" altLang="en-US" sz="2400" dirty="0">
                <a:solidFill>
                  <a:srgbClr val="00000C"/>
                </a:solidFill>
              </a:rPr>
              <a:t>标准型</a:t>
            </a:r>
            <a:r>
              <a:rPr lang="en-US" altLang="zh-CN" sz="2400" dirty="0">
                <a:solidFill>
                  <a:srgbClr val="00000C"/>
                </a:solidFill>
              </a:rPr>
              <a:t>+</a:t>
            </a:r>
            <a:r>
              <a:rPr lang="zh-CN" altLang="en-US" sz="2400" dirty="0">
                <a:solidFill>
                  <a:srgbClr val="00000C"/>
                </a:solidFill>
              </a:rPr>
              <a:t>可以构造一个初始基</a:t>
            </a:r>
            <a:r>
              <a:rPr lang="en-US" altLang="zh-CN" sz="2400" dirty="0" err="1">
                <a:solidFill>
                  <a:srgbClr val="00000C"/>
                </a:solidFill>
              </a:rPr>
              <a:t>B</a:t>
            </a:r>
            <a:r>
              <a:rPr lang="en-US" altLang="zh-CN" sz="2400" baseline="-25000" dirty="0" err="1">
                <a:solidFill>
                  <a:srgbClr val="00000C"/>
                </a:solidFill>
              </a:rPr>
              <a:t>mⅹm</a:t>
            </a:r>
            <a:r>
              <a:rPr lang="en-US" altLang="zh-CN" sz="2400" dirty="0">
                <a:solidFill>
                  <a:srgbClr val="00000C"/>
                </a:solidFill>
              </a:rPr>
              <a:t>(m&lt;n)]</a:t>
            </a:r>
            <a:r>
              <a:rPr lang="zh-CN" altLang="en-US" sz="2400" dirty="0">
                <a:solidFill>
                  <a:srgbClr val="00000C"/>
                </a:solidFill>
              </a:rPr>
              <a:t>：</a:t>
            </a:r>
            <a:endParaRPr lang="en-US" altLang="zh-CN" sz="2400" dirty="0">
              <a:solidFill>
                <a:srgbClr val="00000C"/>
              </a:solidFill>
            </a:endParaRPr>
          </a:p>
          <a:p>
            <a:pPr>
              <a:lnSpc>
                <a:spcPct val="100000"/>
              </a:lnSpc>
              <a:spcBef>
                <a:spcPts val="600"/>
              </a:spcBef>
              <a:buNone/>
            </a:pPr>
            <a:r>
              <a:rPr lang="en-US" altLang="zh-CN" sz="2400" dirty="0">
                <a:solidFill>
                  <a:srgbClr val="00000C"/>
                </a:solidFill>
              </a:rPr>
              <a:t>1.</a:t>
            </a:r>
            <a:r>
              <a:rPr lang="zh-CN" altLang="en-US" sz="2400" dirty="0">
                <a:solidFill>
                  <a:srgbClr val="00000C"/>
                </a:solidFill>
              </a:rPr>
              <a:t>约束条件中等式</a:t>
            </a:r>
            <a:r>
              <a:rPr lang="zh-CN" altLang="en-US" sz="2400" dirty="0">
                <a:solidFill>
                  <a:srgbClr val="0000AC"/>
                </a:solidFill>
              </a:rPr>
              <a:t>右方没有负数</a:t>
            </a:r>
            <a:r>
              <a:rPr lang="en-US" altLang="zh-CN" sz="2400" dirty="0">
                <a:solidFill>
                  <a:srgbClr val="00000C"/>
                </a:solidFill>
              </a:rPr>
              <a:t>(</a:t>
            </a:r>
            <a:r>
              <a:rPr lang="zh-CN" altLang="en-US" sz="2400" dirty="0">
                <a:solidFill>
                  <a:srgbClr val="00000C"/>
                </a:solidFill>
              </a:rPr>
              <a:t>这是运用单纯形法的前提条件</a:t>
            </a:r>
            <a:r>
              <a:rPr lang="en-US" altLang="zh-CN" sz="2400" dirty="0">
                <a:solidFill>
                  <a:srgbClr val="00000C"/>
                </a:solidFill>
              </a:rPr>
              <a:t>)</a:t>
            </a:r>
            <a:r>
              <a:rPr lang="zh-CN" altLang="en-US" sz="2400" dirty="0">
                <a:solidFill>
                  <a:srgbClr val="00000C"/>
                </a:solidFill>
              </a:rPr>
              <a:t>。</a:t>
            </a:r>
            <a:endParaRPr lang="en-US" altLang="zh-CN" sz="2400" dirty="0">
              <a:solidFill>
                <a:srgbClr val="00000C"/>
              </a:solidFill>
            </a:endParaRPr>
          </a:p>
          <a:p>
            <a:pPr>
              <a:lnSpc>
                <a:spcPct val="100000"/>
              </a:lnSpc>
              <a:spcBef>
                <a:spcPts val="600"/>
              </a:spcBef>
              <a:buNone/>
            </a:pPr>
            <a:r>
              <a:rPr lang="en-US" altLang="zh-CN" sz="2400" dirty="0">
                <a:solidFill>
                  <a:srgbClr val="00000C"/>
                </a:solidFill>
              </a:rPr>
              <a:t>2.</a:t>
            </a:r>
            <a:r>
              <a:rPr lang="en-US" altLang="zh-CN" sz="2400" dirty="0">
                <a:solidFill>
                  <a:srgbClr val="0000AC"/>
                </a:solidFill>
              </a:rPr>
              <a:t>[</a:t>
            </a:r>
            <a:r>
              <a:rPr lang="zh-CN" altLang="en-US" sz="2400" dirty="0">
                <a:solidFill>
                  <a:srgbClr val="0000AC"/>
                </a:solidFill>
              </a:rPr>
              <a:t>线性规划的约束条件全部为“≤”的</a:t>
            </a:r>
            <a:r>
              <a:rPr lang="en-US" altLang="zh-CN" sz="2400" dirty="0">
                <a:solidFill>
                  <a:srgbClr val="0000AC"/>
                </a:solidFill>
              </a:rPr>
              <a:t>LPQ]</a:t>
            </a:r>
            <a:r>
              <a:rPr lang="zh-CN" altLang="en-US" sz="2400" dirty="0">
                <a:solidFill>
                  <a:srgbClr val="00000C"/>
                </a:solidFill>
              </a:rPr>
              <a:t>约束条件的基变量，即松弛变量只出现一次，在其相应等式的左方。如产品组合问题中</a:t>
            </a:r>
            <a:r>
              <a:rPr lang="en-US" altLang="zh-CN" sz="2400" dirty="0">
                <a:solidFill>
                  <a:srgbClr val="00000C"/>
                </a:solidFill>
              </a:rPr>
              <a:t>x</a:t>
            </a:r>
            <a:r>
              <a:rPr lang="en-US" altLang="zh-CN" sz="2400" baseline="-25000" dirty="0">
                <a:solidFill>
                  <a:srgbClr val="00000C"/>
                </a:solidFill>
              </a:rPr>
              <a:t>3</a:t>
            </a:r>
            <a:r>
              <a:rPr lang="zh-CN" altLang="en-US" sz="2400" dirty="0">
                <a:solidFill>
                  <a:srgbClr val="00000C"/>
                </a:solidFill>
              </a:rPr>
              <a:t>、</a:t>
            </a:r>
            <a:r>
              <a:rPr lang="en-US" altLang="zh-CN" sz="2400" dirty="0">
                <a:solidFill>
                  <a:srgbClr val="00000C"/>
                </a:solidFill>
              </a:rPr>
              <a:t>x</a:t>
            </a:r>
            <a:r>
              <a:rPr lang="en-US" altLang="zh-CN" sz="2400" baseline="-25000" dirty="0">
                <a:solidFill>
                  <a:srgbClr val="00000C"/>
                </a:solidFill>
              </a:rPr>
              <a:t>4</a:t>
            </a:r>
            <a:r>
              <a:rPr lang="zh-CN" altLang="en-US" sz="2400" dirty="0">
                <a:solidFill>
                  <a:srgbClr val="00000C"/>
                </a:solidFill>
              </a:rPr>
              <a:t>、</a:t>
            </a:r>
            <a:r>
              <a:rPr lang="en-US" altLang="zh-CN" sz="2400" dirty="0">
                <a:solidFill>
                  <a:srgbClr val="00000C"/>
                </a:solidFill>
              </a:rPr>
              <a:t>x</a:t>
            </a:r>
            <a:r>
              <a:rPr lang="en-US" altLang="zh-CN" sz="2400" baseline="-25000" dirty="0">
                <a:solidFill>
                  <a:srgbClr val="00000C"/>
                </a:solidFill>
              </a:rPr>
              <a:t>5</a:t>
            </a:r>
            <a:r>
              <a:rPr lang="zh-CN" altLang="en-US" sz="2400" dirty="0">
                <a:solidFill>
                  <a:srgbClr val="00000C"/>
                </a:solidFill>
              </a:rPr>
              <a:t>分别只出现在第一个、第二个、第三个约束条件中。</a:t>
            </a:r>
            <a:endParaRPr lang="en-US" altLang="zh-CN" sz="2400" dirty="0">
              <a:solidFill>
                <a:srgbClr val="00000C"/>
              </a:solidFill>
            </a:endParaRPr>
          </a:p>
          <a:p>
            <a:pPr>
              <a:lnSpc>
                <a:spcPct val="100000"/>
              </a:lnSpc>
              <a:spcBef>
                <a:spcPts val="600"/>
              </a:spcBef>
              <a:buNone/>
            </a:pPr>
            <a:r>
              <a:rPr lang="en-US" altLang="zh-CN" sz="2400" dirty="0">
                <a:solidFill>
                  <a:srgbClr val="00000C"/>
                </a:solidFill>
              </a:rPr>
              <a:t>3.</a:t>
            </a:r>
            <a:r>
              <a:rPr lang="zh-CN" altLang="en-US" sz="2400" dirty="0">
                <a:solidFill>
                  <a:srgbClr val="00000C"/>
                </a:solidFill>
              </a:rPr>
              <a:t>在目标函数中，基变量的系数为</a:t>
            </a:r>
            <a:r>
              <a:rPr lang="en-US" altLang="zh-CN" sz="2400" dirty="0">
                <a:solidFill>
                  <a:srgbClr val="00000C"/>
                </a:solidFill>
              </a:rPr>
              <a:t>0</a:t>
            </a:r>
            <a:r>
              <a:rPr lang="zh-CN" altLang="en-US" sz="2400" dirty="0">
                <a:solidFill>
                  <a:srgbClr val="00000C"/>
                </a:solidFill>
              </a:rPr>
              <a:t>。</a:t>
            </a:r>
            <a:r>
              <a:rPr lang="en-US" altLang="zh-CN" sz="1600" dirty="0">
                <a:solidFill>
                  <a:srgbClr val="00000C"/>
                </a:solidFill>
              </a:rPr>
              <a:t>[2,3</a:t>
            </a:r>
            <a:r>
              <a:rPr lang="zh-CN" altLang="en-US" sz="1600" dirty="0">
                <a:solidFill>
                  <a:srgbClr val="00000C"/>
                </a:solidFill>
              </a:rPr>
              <a:t>的目的是构造了一个初始基可行解</a:t>
            </a:r>
            <a:r>
              <a:rPr lang="en-US" altLang="zh-CN" sz="1600" dirty="0">
                <a:solidFill>
                  <a:srgbClr val="00000C"/>
                </a:solidFill>
              </a:rPr>
              <a:t>]</a:t>
            </a:r>
            <a:endParaRPr lang="en-US" altLang="zh-CN" sz="1600" dirty="0">
              <a:solidFill>
                <a:srgbClr val="00000C"/>
              </a:solidFill>
            </a:endParaRPr>
          </a:p>
          <a:p>
            <a:pPr>
              <a:lnSpc>
                <a:spcPct val="100000"/>
              </a:lnSpc>
              <a:spcBef>
                <a:spcPts val="600"/>
              </a:spcBef>
              <a:buNone/>
            </a:pPr>
            <a:r>
              <a:rPr lang="zh-CN" altLang="en-US" sz="2400" dirty="0">
                <a:solidFill>
                  <a:srgbClr val="00000C"/>
                </a:solidFill>
              </a:rPr>
              <a:t>因此，能转化为</a:t>
            </a:r>
            <a:r>
              <a:rPr lang="zh-CN" altLang="zh-CN" sz="2400" dirty="0">
                <a:solidFill>
                  <a:srgbClr val="00000C"/>
                </a:solidFill>
              </a:rPr>
              <a:t>简单标准形的</a:t>
            </a:r>
            <a:r>
              <a:rPr lang="en-US" altLang="zh-CN" sz="2400" dirty="0">
                <a:solidFill>
                  <a:srgbClr val="00000C"/>
                </a:solidFill>
              </a:rPr>
              <a:t>LPQ</a:t>
            </a:r>
            <a:r>
              <a:rPr lang="zh-CN" altLang="en-US" sz="2400" dirty="0">
                <a:solidFill>
                  <a:srgbClr val="00000C"/>
                </a:solidFill>
              </a:rPr>
              <a:t>的</a:t>
            </a:r>
            <a:r>
              <a:rPr lang="en-US" altLang="zh-CN" sz="2400" dirty="0" err="1">
                <a:solidFill>
                  <a:srgbClr val="00000C"/>
                </a:solidFill>
              </a:rPr>
              <a:t>s.t</a:t>
            </a:r>
            <a:r>
              <a:rPr lang="en-US" altLang="zh-CN" sz="2400" dirty="0">
                <a:solidFill>
                  <a:srgbClr val="00000C"/>
                </a:solidFill>
              </a:rPr>
              <a:t>.</a:t>
            </a:r>
            <a:r>
              <a:rPr lang="zh-CN" altLang="en-US" sz="2400" dirty="0">
                <a:solidFill>
                  <a:srgbClr val="00000C"/>
                </a:solidFill>
              </a:rPr>
              <a:t>中全是“</a:t>
            </a:r>
            <a:r>
              <a:rPr lang="zh-CN" altLang="en-US" sz="2400" dirty="0">
                <a:solidFill>
                  <a:srgbClr val="FF0000"/>
                </a:solidFill>
              </a:rPr>
              <a:t>≤</a:t>
            </a:r>
            <a:r>
              <a:rPr lang="zh-CN" altLang="en-US" sz="2400" dirty="0">
                <a:solidFill>
                  <a:srgbClr val="00000C"/>
                </a:solidFill>
              </a:rPr>
              <a:t>”</a:t>
            </a:r>
            <a:r>
              <a:rPr lang="zh-CN" altLang="zh-CN" sz="2400" dirty="0">
                <a:solidFill>
                  <a:srgbClr val="00000C"/>
                </a:solidFill>
              </a:rPr>
              <a:t>形式的约束</a:t>
            </a:r>
            <a:r>
              <a:rPr lang="zh-CN" altLang="en-US" sz="2400" dirty="0">
                <a:solidFill>
                  <a:srgbClr val="00000C"/>
                </a:solidFill>
              </a:rPr>
              <a:t>。</a:t>
            </a:r>
            <a:endParaRPr lang="zh-CN" altLang="en-US" sz="2400" dirty="0">
              <a:solidFill>
                <a:srgbClr val="00000C"/>
              </a:solidFill>
            </a:endParaRPr>
          </a:p>
        </p:txBody>
      </p:sp>
      <p:grpSp>
        <p:nvGrpSpPr>
          <p:cNvPr id="24" name="组合 23"/>
          <p:cNvGrpSpPr/>
          <p:nvPr/>
        </p:nvGrpSpPr>
        <p:grpSpPr>
          <a:xfrm>
            <a:off x="2417489" y="3887713"/>
            <a:ext cx="7021784" cy="2636912"/>
            <a:chOff x="2293664" y="3668638"/>
            <a:chExt cx="7021784" cy="2636912"/>
          </a:xfrm>
        </p:grpSpPr>
        <p:sp>
          <p:nvSpPr>
            <p:cNvPr id="23" name="矩形 22"/>
            <p:cNvSpPr/>
            <p:nvPr/>
          </p:nvSpPr>
          <p:spPr bwMode="auto">
            <a:xfrm>
              <a:off x="2293664" y="3812654"/>
              <a:ext cx="6783661" cy="2492896"/>
            </a:xfrm>
            <a:prstGeom prst="rect">
              <a:avLst/>
            </a:prstGeom>
            <a:ln>
              <a:solidFill>
                <a:schemeClr val="accent1"/>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lang="zh-CN" altLang="en-US">
                <a:solidFill>
                  <a:schemeClr val="tx1"/>
                </a:solidFill>
                <a:latin typeface="Arial" panose="020B0604020202090204" pitchFamily="34" charset="0"/>
                <a:ea typeface="宋体" panose="02010600030101010101" pitchFamily="2" charset="-122"/>
              </a:endParaRPr>
            </a:p>
          </p:txBody>
        </p:sp>
        <p:grpSp>
          <p:nvGrpSpPr>
            <p:cNvPr id="5" name="组合 22"/>
            <p:cNvGrpSpPr/>
            <p:nvPr/>
          </p:nvGrpSpPr>
          <p:grpSpPr>
            <a:xfrm>
              <a:off x="2725713" y="3668638"/>
              <a:ext cx="6589735" cy="2485155"/>
              <a:chOff x="3475473" y="3140968"/>
              <a:chExt cx="6589735" cy="2017064"/>
            </a:xfrm>
            <a:noFill/>
          </p:grpSpPr>
          <p:grpSp>
            <p:nvGrpSpPr>
              <p:cNvPr id="6" name="组合 37"/>
              <p:cNvGrpSpPr/>
              <p:nvPr/>
            </p:nvGrpSpPr>
            <p:grpSpPr>
              <a:xfrm>
                <a:off x="4067945" y="3140968"/>
                <a:ext cx="2088231" cy="806756"/>
                <a:chOff x="8070970" y="548680"/>
                <a:chExt cx="1773874" cy="539372"/>
              </a:xfrm>
              <a:grpFill/>
            </p:grpSpPr>
            <p:sp>
              <p:nvSpPr>
                <p:cNvPr id="18" name="矩形 17"/>
                <p:cNvSpPr/>
                <p:nvPr/>
              </p:nvSpPr>
              <p:spPr>
                <a:xfrm>
                  <a:off x="8070970" y="692696"/>
                  <a:ext cx="1773874" cy="260052"/>
                </a:xfrm>
                <a:prstGeom prst="rect">
                  <a:avLst/>
                </a:prstGeom>
                <a:grpFill/>
              </p:spPr>
              <p:txBody>
                <a:bodyPr wrap="square">
                  <a:spAutoFit/>
                </a:bodyPr>
                <a:lstStyle/>
                <a:p>
                  <a:pPr marL="342900" indent="-342900" algn="ctr" fontAlgn="base">
                    <a:lnSpc>
                      <a:spcPct val="110000"/>
                    </a:lnSpc>
                    <a:spcAft>
                      <a:spcPct val="0"/>
                    </a:spcAft>
                  </a:pPr>
                  <a:r>
                    <a:rPr lang="en-US" altLang="zh-CN" sz="2400" dirty="0" err="1">
                      <a:solidFill>
                        <a:srgbClr val="FF0000"/>
                      </a:solidFill>
                    </a:rPr>
                    <a:t>max</a:t>
                  </a:r>
                  <a:r>
                    <a:rPr lang="en-US" altLang="zh-CN" sz="2400" dirty="0" err="1">
                      <a:solidFill>
                        <a:srgbClr val="060606"/>
                      </a:solidFill>
                    </a:rPr>
                    <a:t>z</a:t>
                  </a:r>
                  <a:r>
                    <a:rPr lang="en-US" altLang="zh-CN" sz="2400" dirty="0">
                      <a:solidFill>
                        <a:srgbClr val="060606"/>
                      </a:solidFill>
                    </a:rPr>
                    <a:t> =     c</a:t>
                  </a:r>
                  <a:r>
                    <a:rPr lang="en-US" altLang="zh-CN" sz="2400" baseline="-25000" dirty="0">
                      <a:solidFill>
                        <a:srgbClr val="060606"/>
                      </a:solidFill>
                    </a:rPr>
                    <a:t>j</a:t>
                  </a:r>
                  <a:r>
                    <a:rPr lang="en-US" altLang="zh-CN" sz="2400" dirty="0">
                      <a:solidFill>
                        <a:srgbClr val="060606"/>
                      </a:solidFill>
                    </a:rPr>
                    <a:t>x</a:t>
                  </a:r>
                  <a:r>
                    <a:rPr lang="en-US" altLang="zh-CN" sz="2400" baseline="-25000" dirty="0">
                      <a:solidFill>
                        <a:srgbClr val="060606"/>
                      </a:solidFill>
                    </a:rPr>
                    <a:t>j</a:t>
                  </a:r>
                  <a:endParaRPr lang="en-US" altLang="zh-CN" sz="2400" dirty="0">
                    <a:solidFill>
                      <a:srgbClr val="060606"/>
                    </a:solidFill>
                  </a:endParaRPr>
                </a:p>
              </p:txBody>
            </p:sp>
            <p:grpSp>
              <p:nvGrpSpPr>
                <p:cNvPr id="19" name="组合 31"/>
                <p:cNvGrpSpPr/>
                <p:nvPr/>
              </p:nvGrpSpPr>
              <p:grpSpPr>
                <a:xfrm>
                  <a:off x="8964488" y="548680"/>
                  <a:ext cx="567784" cy="539372"/>
                  <a:chOff x="6300192" y="476672"/>
                  <a:chExt cx="567784" cy="539372"/>
                </a:xfrm>
                <a:grpFill/>
              </p:grpSpPr>
              <p:sp>
                <p:nvSpPr>
                  <p:cNvPr id="20" name="矩形 19"/>
                  <p:cNvSpPr/>
                  <p:nvPr/>
                </p:nvSpPr>
                <p:spPr>
                  <a:xfrm>
                    <a:off x="6300192" y="765526"/>
                    <a:ext cx="567784" cy="250518"/>
                  </a:xfrm>
                  <a:prstGeom prst="rect">
                    <a:avLst/>
                  </a:prstGeom>
                  <a:grpFill/>
                </p:spPr>
                <p:txBody>
                  <a:bodyPr wrap="square">
                    <a:spAutoFit/>
                  </a:bodyPr>
                  <a:lstStyle/>
                  <a:p>
                    <a:r>
                      <a:rPr lang="en-US" altLang="zh-CN" sz="2400" dirty="0">
                        <a:solidFill>
                          <a:srgbClr val="060606"/>
                        </a:solidFill>
                      </a:rPr>
                      <a:t>j=1</a:t>
                    </a:r>
                    <a:endParaRPr lang="zh-CN" altLang="en-US" sz="2400" dirty="0"/>
                  </a:p>
                </p:txBody>
              </p:sp>
              <p:sp>
                <p:nvSpPr>
                  <p:cNvPr id="21" name="矩形 20"/>
                  <p:cNvSpPr/>
                  <p:nvPr/>
                </p:nvSpPr>
                <p:spPr>
                  <a:xfrm>
                    <a:off x="6353738" y="476672"/>
                    <a:ext cx="301206" cy="250518"/>
                  </a:xfrm>
                  <a:prstGeom prst="rect">
                    <a:avLst/>
                  </a:prstGeom>
                  <a:grpFill/>
                </p:spPr>
                <p:txBody>
                  <a:bodyPr wrap="none">
                    <a:spAutoFit/>
                  </a:bodyPr>
                  <a:lstStyle/>
                  <a:p>
                    <a:r>
                      <a:rPr lang="en-US" altLang="zh-CN" sz="2400" dirty="0">
                        <a:solidFill>
                          <a:srgbClr val="060606"/>
                        </a:solidFill>
                      </a:rPr>
                      <a:t>n</a:t>
                    </a:r>
                    <a:endParaRPr lang="zh-CN" altLang="en-US" sz="2400" dirty="0"/>
                  </a:p>
                </p:txBody>
              </p:sp>
              <p:sp>
                <p:nvSpPr>
                  <p:cNvPr id="22" name="矩形 21"/>
                  <p:cNvSpPr/>
                  <p:nvPr/>
                </p:nvSpPr>
                <p:spPr>
                  <a:xfrm>
                    <a:off x="6334649" y="621099"/>
                    <a:ext cx="351378" cy="250518"/>
                  </a:xfrm>
                  <a:prstGeom prst="rect">
                    <a:avLst/>
                  </a:prstGeom>
                  <a:grpFill/>
                </p:spPr>
                <p:txBody>
                  <a:bodyPr wrap="square">
                    <a:spAutoFit/>
                  </a:bodyPr>
                  <a:lstStyle/>
                  <a:p>
                    <a:r>
                      <a:rPr lang="en-US" altLang="zh-CN" sz="2400" dirty="0">
                        <a:solidFill>
                          <a:srgbClr val="060606"/>
                        </a:solidFill>
                      </a:rPr>
                      <a:t>∑ </a:t>
                    </a:r>
                    <a:endParaRPr lang="zh-CN" altLang="en-US" sz="2400" dirty="0"/>
                  </a:p>
                </p:txBody>
              </p:sp>
            </p:grpSp>
          </p:grpSp>
          <p:grpSp>
            <p:nvGrpSpPr>
              <p:cNvPr id="7" name="组合 21"/>
              <p:cNvGrpSpPr/>
              <p:nvPr/>
            </p:nvGrpSpPr>
            <p:grpSpPr>
              <a:xfrm>
                <a:off x="3475473" y="3848202"/>
                <a:ext cx="6589735" cy="1309830"/>
                <a:chOff x="2915816" y="4320323"/>
                <a:chExt cx="6589735" cy="1309830"/>
              </a:xfrm>
              <a:grpFill/>
            </p:grpSpPr>
            <p:grpSp>
              <p:nvGrpSpPr>
                <p:cNvPr id="8" name="组合 15"/>
                <p:cNvGrpSpPr/>
                <p:nvPr/>
              </p:nvGrpSpPr>
              <p:grpSpPr>
                <a:xfrm>
                  <a:off x="2915816" y="4510784"/>
                  <a:ext cx="6589735" cy="1119369"/>
                  <a:chOff x="3059832" y="3336698"/>
                  <a:chExt cx="5597732" cy="748373"/>
                </a:xfrm>
                <a:grpFill/>
              </p:grpSpPr>
              <p:grpSp>
                <p:nvGrpSpPr>
                  <p:cNvPr id="13" name="组合 12"/>
                  <p:cNvGrpSpPr/>
                  <p:nvPr/>
                </p:nvGrpSpPr>
                <p:grpSpPr>
                  <a:xfrm>
                    <a:off x="3059832" y="3478938"/>
                    <a:ext cx="734018" cy="507966"/>
                    <a:chOff x="1547664" y="3868725"/>
                    <a:chExt cx="734018" cy="347364"/>
                  </a:xfrm>
                  <a:grpFill/>
                </p:grpSpPr>
                <p:sp>
                  <p:nvSpPr>
                    <p:cNvPr id="16" name="矩形 15"/>
                    <p:cNvSpPr/>
                    <p:nvPr/>
                  </p:nvSpPr>
                  <p:spPr>
                    <a:xfrm>
                      <a:off x="1547664" y="3934698"/>
                      <a:ext cx="489345" cy="177832"/>
                    </a:xfrm>
                    <a:prstGeom prst="rect">
                      <a:avLst/>
                    </a:prstGeom>
                    <a:grpFill/>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17" name="左大括号 16"/>
                    <p:cNvSpPr/>
                    <p:nvPr/>
                  </p:nvSpPr>
                  <p:spPr bwMode="auto">
                    <a:xfrm>
                      <a:off x="1975841" y="3868725"/>
                      <a:ext cx="305841" cy="347364"/>
                    </a:xfrm>
                    <a:prstGeom prst="leftBrace">
                      <a:avLst>
                        <a:gd name="adj1" fmla="val 87500"/>
                        <a:gd name="adj2" fmla="val 50000"/>
                      </a:avLst>
                    </a:prstGeom>
                    <a:grp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sp>
                <p:nvSpPr>
                  <p:cNvPr id="14" name="矩形 13"/>
                  <p:cNvSpPr/>
                  <p:nvPr/>
                </p:nvSpPr>
                <p:spPr>
                  <a:xfrm>
                    <a:off x="4038520" y="3336698"/>
                    <a:ext cx="4619044" cy="250518"/>
                  </a:xfrm>
                  <a:prstGeom prst="rect">
                    <a:avLst/>
                  </a:prstGeom>
                  <a:grpFill/>
                </p:spPr>
                <p:txBody>
                  <a:bodyPr wrap="square">
                    <a:spAutoFit/>
                  </a:bodyPr>
                  <a:lstStyle/>
                  <a:p>
                    <a:r>
                      <a:rPr lang="en-US" altLang="zh-CN" sz="2400" dirty="0">
                        <a:solidFill>
                          <a:srgbClr val="060606"/>
                        </a:solidFill>
                      </a:rPr>
                      <a:t>a</a:t>
                    </a:r>
                    <a:r>
                      <a:rPr lang="en-US" altLang="zh-CN" sz="2400" baseline="-25000" dirty="0">
                        <a:solidFill>
                          <a:srgbClr val="060606"/>
                        </a:solidFill>
                      </a:rPr>
                      <a:t>ij</a:t>
                    </a:r>
                    <a:r>
                      <a:rPr lang="en-US" altLang="zh-CN" sz="2400" dirty="0">
                        <a:solidFill>
                          <a:srgbClr val="060606"/>
                        </a:solidFill>
                      </a:rPr>
                      <a:t>x</a:t>
                    </a:r>
                    <a:r>
                      <a:rPr lang="en-US" altLang="zh-CN" sz="2400" baseline="-25000" dirty="0">
                        <a:solidFill>
                          <a:srgbClr val="060606"/>
                        </a:solidFill>
                      </a:rPr>
                      <a:t>j</a:t>
                    </a:r>
                    <a:r>
                      <a:rPr lang="en-US" altLang="zh-CN" sz="2400" dirty="0">
                        <a:solidFill>
                          <a:srgbClr val="060606"/>
                        </a:solidFill>
                      </a:rPr>
                      <a:t> </a:t>
                    </a:r>
                    <a:r>
                      <a:rPr lang="en-US" altLang="zh-CN" sz="2400" dirty="0">
                        <a:solidFill>
                          <a:srgbClr val="FF0000"/>
                        </a:solidFill>
                      </a:rPr>
                      <a:t>=</a:t>
                    </a:r>
                    <a:r>
                      <a:rPr lang="en-US" altLang="zh-CN" sz="2400" dirty="0">
                        <a:solidFill>
                          <a:srgbClr val="060606"/>
                        </a:solidFill>
                      </a:rPr>
                      <a:t> b</a:t>
                    </a:r>
                    <a:r>
                      <a:rPr lang="en-US" altLang="zh-CN" sz="2400" baseline="-25000" dirty="0">
                        <a:solidFill>
                          <a:srgbClr val="060606"/>
                        </a:solidFill>
                      </a:rPr>
                      <a:t>i</a:t>
                    </a:r>
                    <a:r>
                      <a:rPr lang="en-US" altLang="zh-CN" sz="2400" dirty="0">
                        <a:solidFill>
                          <a:srgbClr val="060606"/>
                        </a:solidFill>
                      </a:rPr>
                      <a:t>     (i = 1,2,…,m)</a:t>
                    </a:r>
                    <a:endParaRPr lang="zh-CN" altLang="en-US" sz="2400" dirty="0"/>
                  </a:p>
                </p:txBody>
              </p:sp>
              <p:sp>
                <p:nvSpPr>
                  <p:cNvPr id="15" name="矩形 14"/>
                  <p:cNvSpPr/>
                  <p:nvPr/>
                </p:nvSpPr>
                <p:spPr>
                  <a:xfrm>
                    <a:off x="3793849" y="3834553"/>
                    <a:ext cx="4774714" cy="250518"/>
                  </a:xfrm>
                  <a:prstGeom prst="rect">
                    <a:avLst/>
                  </a:prstGeom>
                  <a:grpFill/>
                </p:spPr>
                <p:txBody>
                  <a:bodyPr wrap="square">
                    <a:spAutoFit/>
                  </a:bodyPr>
                  <a:lstStyle/>
                  <a:p>
                    <a:r>
                      <a:rPr lang="en-US" altLang="zh-CN" sz="2400" dirty="0">
                        <a:solidFill>
                          <a:srgbClr val="060606"/>
                        </a:solidFill>
                      </a:rPr>
                      <a:t>x</a:t>
                    </a:r>
                    <a:r>
                      <a:rPr lang="en-US" altLang="zh-CN" sz="2400" baseline="-25000" dirty="0">
                        <a:solidFill>
                          <a:srgbClr val="060606"/>
                        </a:solidFill>
                      </a:rPr>
                      <a:t>j</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0             (j = 1,2,…,n</a:t>
                    </a:r>
                    <a:r>
                      <a:rPr lang="zh-CN" altLang="en-US" sz="2400" dirty="0">
                        <a:solidFill>
                          <a:srgbClr val="060606"/>
                        </a:solidFill>
                      </a:rPr>
                      <a:t>，非负约束</a:t>
                    </a:r>
                    <a:r>
                      <a:rPr lang="en-US" altLang="zh-CN" sz="2400" dirty="0">
                        <a:solidFill>
                          <a:srgbClr val="060606"/>
                        </a:solidFill>
                      </a:rPr>
                      <a:t>)</a:t>
                    </a:r>
                    <a:endParaRPr lang="zh-CN" altLang="en-US" sz="2400" dirty="0">
                      <a:solidFill>
                        <a:srgbClr val="060606"/>
                      </a:solidFill>
                    </a:endParaRPr>
                  </a:p>
                </p:txBody>
              </p:sp>
            </p:grpSp>
            <p:grpSp>
              <p:nvGrpSpPr>
                <p:cNvPr id="9" name="组合 32"/>
                <p:cNvGrpSpPr/>
                <p:nvPr/>
              </p:nvGrpSpPr>
              <p:grpSpPr>
                <a:xfrm>
                  <a:off x="3759580" y="4320323"/>
                  <a:ext cx="668404" cy="853191"/>
                  <a:chOff x="6296858" y="617078"/>
                  <a:chExt cx="567784" cy="570415"/>
                </a:xfrm>
                <a:grpFill/>
              </p:grpSpPr>
              <p:sp>
                <p:nvSpPr>
                  <p:cNvPr id="10" name="矩形 9"/>
                  <p:cNvSpPr/>
                  <p:nvPr/>
                </p:nvSpPr>
                <p:spPr>
                  <a:xfrm>
                    <a:off x="6296858" y="936976"/>
                    <a:ext cx="567784" cy="250517"/>
                  </a:xfrm>
                  <a:prstGeom prst="rect">
                    <a:avLst/>
                  </a:prstGeom>
                  <a:grpFill/>
                </p:spPr>
                <p:txBody>
                  <a:bodyPr wrap="square">
                    <a:spAutoFit/>
                  </a:bodyPr>
                  <a:lstStyle/>
                  <a:p>
                    <a:r>
                      <a:rPr lang="en-US" altLang="zh-CN" sz="2400" dirty="0">
                        <a:solidFill>
                          <a:srgbClr val="060606"/>
                        </a:solidFill>
                      </a:rPr>
                      <a:t>j=1</a:t>
                    </a:r>
                    <a:endParaRPr lang="zh-CN" altLang="en-US" sz="2400" dirty="0"/>
                  </a:p>
                </p:txBody>
              </p:sp>
              <p:sp>
                <p:nvSpPr>
                  <p:cNvPr id="11" name="矩形 10"/>
                  <p:cNvSpPr/>
                  <p:nvPr/>
                </p:nvSpPr>
                <p:spPr>
                  <a:xfrm>
                    <a:off x="6314129" y="617078"/>
                    <a:ext cx="301206" cy="250517"/>
                  </a:xfrm>
                  <a:prstGeom prst="rect">
                    <a:avLst/>
                  </a:prstGeom>
                  <a:grpFill/>
                </p:spPr>
                <p:txBody>
                  <a:bodyPr wrap="none">
                    <a:spAutoFit/>
                  </a:bodyPr>
                  <a:lstStyle/>
                  <a:p>
                    <a:r>
                      <a:rPr lang="en-US" altLang="zh-CN" sz="2400" dirty="0">
                        <a:solidFill>
                          <a:srgbClr val="060606"/>
                        </a:solidFill>
                      </a:rPr>
                      <a:t>n</a:t>
                    </a:r>
                    <a:endParaRPr lang="zh-CN" altLang="en-US" sz="2400" dirty="0"/>
                  </a:p>
                </p:txBody>
              </p:sp>
              <p:sp>
                <p:nvSpPr>
                  <p:cNvPr id="12" name="矩形 11"/>
                  <p:cNvSpPr/>
                  <p:nvPr/>
                </p:nvSpPr>
                <p:spPr>
                  <a:xfrm>
                    <a:off x="6314129" y="744409"/>
                    <a:ext cx="346489" cy="250517"/>
                  </a:xfrm>
                  <a:prstGeom prst="rect">
                    <a:avLst/>
                  </a:prstGeom>
                  <a:grpFill/>
                </p:spPr>
                <p:txBody>
                  <a:bodyPr wrap="square">
                    <a:spAutoFit/>
                  </a:bodyPr>
                  <a:lstStyle/>
                  <a:p>
                    <a:r>
                      <a:rPr lang="en-US" altLang="zh-CN" sz="2400" dirty="0">
                        <a:solidFill>
                          <a:srgbClr val="060606"/>
                        </a:solidFill>
                      </a:rPr>
                      <a:t>∑ </a:t>
                    </a:r>
                    <a:endParaRPr lang="zh-CN" altLang="en-US" sz="2400" dirty="0"/>
                  </a:p>
                </p:txBody>
              </p:sp>
            </p:grpSp>
          </p:grpSp>
        </p:grpSp>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000C"/>
                </a:solidFill>
              </a:rPr>
              <a:t>从这里开始求解：简单标准形的</a:t>
            </a:r>
            <a:r>
              <a:rPr lang="en-US" altLang="zh-CN" dirty="0">
                <a:solidFill>
                  <a:srgbClr val="00000C"/>
                </a:solidFill>
              </a:rPr>
              <a:t>LPQ</a:t>
            </a:r>
            <a:endParaRPr lang="zh-CN" altLang="en-US" dirty="0"/>
          </a:p>
        </p:txBody>
      </p:sp>
      <p:grpSp>
        <p:nvGrpSpPr>
          <p:cNvPr id="3" name="组合 22"/>
          <p:cNvGrpSpPr/>
          <p:nvPr/>
        </p:nvGrpSpPr>
        <p:grpSpPr>
          <a:xfrm>
            <a:off x="2423592" y="1437971"/>
            <a:ext cx="7920880" cy="3527925"/>
            <a:chOff x="3475473" y="3082065"/>
            <a:chExt cx="6176778" cy="1748879"/>
          </a:xfrm>
        </p:grpSpPr>
        <p:grpSp>
          <p:nvGrpSpPr>
            <p:cNvPr id="4" name="组合 37"/>
            <p:cNvGrpSpPr/>
            <p:nvPr/>
          </p:nvGrpSpPr>
          <p:grpSpPr>
            <a:xfrm>
              <a:off x="4067945" y="3082065"/>
              <a:ext cx="2088231" cy="670059"/>
              <a:chOff x="8070970" y="509298"/>
              <a:chExt cx="1773874" cy="447980"/>
            </a:xfrm>
          </p:grpSpPr>
          <p:sp>
            <p:nvSpPr>
              <p:cNvPr id="16" name="矩形 15"/>
              <p:cNvSpPr/>
              <p:nvPr/>
            </p:nvSpPr>
            <p:spPr>
              <a:xfrm>
                <a:off x="8070970" y="620276"/>
                <a:ext cx="1773874" cy="201566"/>
              </a:xfrm>
              <a:prstGeom prst="rect">
                <a:avLst/>
              </a:prstGeom>
            </p:spPr>
            <p:txBody>
              <a:bodyPr wrap="square">
                <a:spAutoFit/>
              </a:bodyPr>
              <a:lstStyle/>
              <a:p>
                <a:pPr marL="342900" indent="-342900" algn="ctr" fontAlgn="base">
                  <a:lnSpc>
                    <a:spcPct val="110000"/>
                  </a:lnSpc>
                  <a:spcAft>
                    <a:spcPct val="0"/>
                  </a:spcAft>
                </a:pPr>
                <a:r>
                  <a:rPr lang="en-US" altLang="zh-CN" sz="3200" dirty="0">
                    <a:solidFill>
                      <a:srgbClr val="FF0000"/>
                    </a:solidFill>
                  </a:rPr>
                  <a:t>max </a:t>
                </a:r>
                <a:r>
                  <a:rPr lang="en-US" altLang="zh-CN" sz="3200" dirty="0">
                    <a:solidFill>
                      <a:srgbClr val="060606"/>
                    </a:solidFill>
                  </a:rPr>
                  <a:t>z =     c</a:t>
                </a:r>
                <a:r>
                  <a:rPr lang="en-US" altLang="zh-CN" sz="3200" baseline="-25000" dirty="0">
                    <a:solidFill>
                      <a:srgbClr val="060606"/>
                    </a:solidFill>
                  </a:rPr>
                  <a:t>j</a:t>
                </a:r>
                <a:r>
                  <a:rPr lang="en-US" altLang="zh-CN" sz="3200" dirty="0">
                    <a:solidFill>
                      <a:srgbClr val="060606"/>
                    </a:solidFill>
                  </a:rPr>
                  <a:t>x</a:t>
                </a:r>
                <a:r>
                  <a:rPr lang="en-US" altLang="zh-CN" sz="3200" baseline="-25000" dirty="0">
                    <a:solidFill>
                      <a:srgbClr val="060606"/>
                    </a:solidFill>
                  </a:rPr>
                  <a:t>j</a:t>
                </a:r>
                <a:endParaRPr lang="en-US" altLang="zh-CN" sz="3200" dirty="0">
                  <a:solidFill>
                    <a:srgbClr val="060606"/>
                  </a:solidFill>
                </a:endParaRPr>
              </a:p>
            </p:txBody>
          </p:sp>
          <p:grpSp>
            <p:nvGrpSpPr>
              <p:cNvPr id="17" name="组合 31"/>
              <p:cNvGrpSpPr/>
              <p:nvPr/>
            </p:nvGrpSpPr>
            <p:grpSpPr>
              <a:xfrm>
                <a:off x="8998671" y="509298"/>
                <a:ext cx="567784" cy="447980"/>
                <a:chOff x="6334375" y="437290"/>
                <a:chExt cx="567784" cy="447980"/>
              </a:xfrm>
            </p:grpSpPr>
            <p:sp>
              <p:nvSpPr>
                <p:cNvPr id="18" name="矩形 17"/>
                <p:cNvSpPr/>
                <p:nvPr/>
              </p:nvSpPr>
              <p:spPr>
                <a:xfrm>
                  <a:off x="6334375" y="691460"/>
                  <a:ext cx="567784" cy="193810"/>
                </a:xfrm>
                <a:prstGeom prst="rect">
                  <a:avLst/>
                </a:prstGeom>
              </p:spPr>
              <p:txBody>
                <a:bodyPr wrap="square">
                  <a:spAutoFit/>
                </a:bodyPr>
                <a:lstStyle/>
                <a:p>
                  <a:r>
                    <a:rPr lang="en-US" altLang="zh-CN" sz="3200" dirty="0">
                      <a:solidFill>
                        <a:srgbClr val="060606"/>
                      </a:solidFill>
                    </a:rPr>
                    <a:t>j=1</a:t>
                  </a:r>
                  <a:endParaRPr lang="zh-CN" altLang="en-US" sz="3200" dirty="0"/>
                </a:p>
              </p:txBody>
            </p:sp>
            <p:sp>
              <p:nvSpPr>
                <p:cNvPr id="19" name="矩形 18"/>
                <p:cNvSpPr/>
                <p:nvPr/>
              </p:nvSpPr>
              <p:spPr>
                <a:xfrm>
                  <a:off x="6467631" y="437290"/>
                  <a:ext cx="272049" cy="193809"/>
                </a:xfrm>
                <a:prstGeom prst="rect">
                  <a:avLst/>
                </a:prstGeom>
              </p:spPr>
              <p:txBody>
                <a:bodyPr wrap="none">
                  <a:spAutoFit/>
                </a:bodyPr>
                <a:lstStyle/>
                <a:p>
                  <a:r>
                    <a:rPr lang="en-US" altLang="zh-CN" sz="3200" dirty="0">
                      <a:solidFill>
                        <a:srgbClr val="060606"/>
                      </a:solidFill>
                    </a:rPr>
                    <a:t>n</a:t>
                  </a:r>
                  <a:endParaRPr lang="zh-CN" altLang="en-US" sz="3200" dirty="0"/>
                </a:p>
              </p:txBody>
            </p:sp>
            <p:sp>
              <p:nvSpPr>
                <p:cNvPr id="20" name="矩形 19"/>
                <p:cNvSpPr/>
                <p:nvPr/>
              </p:nvSpPr>
              <p:spPr>
                <a:xfrm>
                  <a:off x="6412293" y="548268"/>
                  <a:ext cx="351378" cy="193810"/>
                </a:xfrm>
                <a:prstGeom prst="rect">
                  <a:avLst/>
                </a:prstGeom>
              </p:spPr>
              <p:txBody>
                <a:bodyPr wrap="square">
                  <a:spAutoFit/>
                </a:bodyPr>
                <a:lstStyle/>
                <a:p>
                  <a:r>
                    <a:rPr lang="en-US" altLang="zh-CN" sz="3200" dirty="0">
                      <a:solidFill>
                        <a:srgbClr val="060606"/>
                      </a:solidFill>
                    </a:rPr>
                    <a:t>∑ </a:t>
                  </a:r>
                  <a:endParaRPr lang="zh-CN" altLang="en-US" sz="3200" dirty="0"/>
                </a:p>
              </p:txBody>
            </p:sp>
          </p:grpSp>
        </p:grpSp>
        <p:grpSp>
          <p:nvGrpSpPr>
            <p:cNvPr id="5" name="组合 21"/>
            <p:cNvGrpSpPr/>
            <p:nvPr/>
          </p:nvGrpSpPr>
          <p:grpSpPr>
            <a:xfrm>
              <a:off x="3475473" y="3743484"/>
              <a:ext cx="6176778" cy="1087460"/>
              <a:chOff x="2915816" y="4215605"/>
              <a:chExt cx="6176778" cy="1087460"/>
            </a:xfrm>
          </p:grpSpPr>
          <p:grpSp>
            <p:nvGrpSpPr>
              <p:cNvPr id="6" name="组合 15"/>
              <p:cNvGrpSpPr/>
              <p:nvPr/>
            </p:nvGrpSpPr>
            <p:grpSpPr>
              <a:xfrm>
                <a:off x="2915816" y="4340250"/>
                <a:ext cx="6176778" cy="962815"/>
                <a:chOff x="3059832" y="3222694"/>
                <a:chExt cx="5246941" cy="643708"/>
              </a:xfrm>
            </p:grpSpPr>
            <p:grpSp>
              <p:nvGrpSpPr>
                <p:cNvPr id="11" name="组合 12"/>
                <p:cNvGrpSpPr/>
                <p:nvPr/>
              </p:nvGrpSpPr>
              <p:grpSpPr>
                <a:xfrm>
                  <a:off x="3059832" y="3383726"/>
                  <a:ext cx="672850" cy="433280"/>
                  <a:chOff x="1547664" y="3803612"/>
                  <a:chExt cx="672850" cy="296291"/>
                </a:xfrm>
              </p:grpSpPr>
              <p:sp>
                <p:nvSpPr>
                  <p:cNvPr id="14" name="矩形 13"/>
                  <p:cNvSpPr/>
                  <p:nvPr/>
                </p:nvSpPr>
                <p:spPr>
                  <a:xfrm>
                    <a:off x="1547664" y="3836535"/>
                    <a:ext cx="489345" cy="137838"/>
                  </a:xfrm>
                  <a:prstGeom prst="rect">
                    <a:avLst/>
                  </a:prstGeom>
                </p:spPr>
                <p:txBody>
                  <a:bodyPr wrap="square">
                    <a:spAutoFit/>
                  </a:bodyPr>
                  <a:lstStyle/>
                  <a:p>
                    <a:pPr marL="342900" indent="-342900" fontAlgn="base">
                      <a:lnSpc>
                        <a:spcPct val="110000"/>
                      </a:lnSpc>
                      <a:spcBef>
                        <a:spcPts val="1800"/>
                      </a:spcBef>
                      <a:spcAft>
                        <a:spcPct val="0"/>
                      </a:spcAft>
                    </a:pPr>
                    <a:r>
                      <a:rPr lang="en-US" altLang="zh-CN" sz="3200" dirty="0">
                        <a:solidFill>
                          <a:srgbClr val="060606"/>
                        </a:solidFill>
                      </a:rPr>
                      <a:t>s. t</a:t>
                    </a:r>
                    <a:endParaRPr lang="en-US" altLang="zh-CN" sz="3200" dirty="0">
                      <a:solidFill>
                        <a:srgbClr val="060606"/>
                      </a:solidFill>
                    </a:endParaRPr>
                  </a:p>
                </p:txBody>
              </p:sp>
              <p:sp>
                <p:nvSpPr>
                  <p:cNvPr id="15" name="左大括号 14"/>
                  <p:cNvSpPr/>
                  <p:nvPr/>
                </p:nvSpPr>
                <p:spPr bwMode="auto">
                  <a:xfrm>
                    <a:off x="2037010" y="3803612"/>
                    <a:ext cx="183504" cy="296291"/>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3200">
                      <a:latin typeface="Arial" panose="020B0604020202090204" pitchFamily="34" charset="0"/>
                      <a:ea typeface="宋体" panose="02010600030101010101" pitchFamily="2" charset="-122"/>
                    </a:endParaRPr>
                  </a:p>
                </p:txBody>
              </p:sp>
            </p:grpSp>
            <p:sp>
              <p:nvSpPr>
                <p:cNvPr id="12" name="矩形 11"/>
                <p:cNvSpPr/>
                <p:nvPr/>
              </p:nvSpPr>
              <p:spPr>
                <a:xfrm>
                  <a:off x="4013821" y="3222694"/>
                  <a:ext cx="2980366" cy="193810"/>
                </a:xfrm>
                <a:prstGeom prst="rect">
                  <a:avLst/>
                </a:prstGeom>
              </p:spPr>
              <p:txBody>
                <a:bodyPr wrap="square">
                  <a:spAutoFit/>
                </a:bodyPr>
                <a:lstStyle/>
                <a:p>
                  <a:r>
                    <a:rPr lang="en-US" altLang="zh-CN" sz="3200" dirty="0">
                      <a:solidFill>
                        <a:srgbClr val="060606"/>
                      </a:solidFill>
                    </a:rPr>
                    <a:t>a</a:t>
                  </a:r>
                  <a:r>
                    <a:rPr lang="en-US" altLang="zh-CN" sz="3200" baseline="-25000" dirty="0">
                      <a:solidFill>
                        <a:srgbClr val="060606"/>
                      </a:solidFill>
                    </a:rPr>
                    <a:t>ij</a:t>
                  </a:r>
                  <a:r>
                    <a:rPr lang="en-US" altLang="zh-CN" sz="3200" dirty="0">
                      <a:solidFill>
                        <a:srgbClr val="060606"/>
                      </a:solidFill>
                    </a:rPr>
                    <a:t>x</a:t>
                  </a:r>
                  <a:r>
                    <a:rPr lang="en-US" altLang="zh-CN" sz="3200" baseline="-25000" dirty="0">
                      <a:solidFill>
                        <a:srgbClr val="060606"/>
                      </a:solidFill>
                    </a:rPr>
                    <a:t>j</a:t>
                  </a:r>
                  <a:r>
                    <a:rPr lang="en-US" altLang="zh-CN" sz="3200" dirty="0">
                      <a:solidFill>
                        <a:srgbClr val="060606"/>
                      </a:solidFill>
                    </a:rPr>
                    <a:t> </a:t>
                  </a:r>
                  <a:r>
                    <a:rPr lang="en-US" altLang="zh-CN" sz="3200" dirty="0">
                      <a:solidFill>
                        <a:srgbClr val="FF0000"/>
                      </a:solidFill>
                    </a:rPr>
                    <a:t>≤</a:t>
                  </a:r>
                  <a:r>
                    <a:rPr lang="en-US" altLang="zh-CN" sz="3200" dirty="0">
                      <a:solidFill>
                        <a:srgbClr val="060606"/>
                      </a:solidFill>
                    </a:rPr>
                    <a:t> b</a:t>
                  </a:r>
                  <a:r>
                    <a:rPr lang="en-US" altLang="zh-CN" sz="3200" baseline="-25000" dirty="0">
                      <a:solidFill>
                        <a:srgbClr val="060606"/>
                      </a:solidFill>
                    </a:rPr>
                    <a:t>i</a:t>
                  </a:r>
                  <a:r>
                    <a:rPr lang="en-US" altLang="zh-CN" sz="3200" dirty="0">
                      <a:solidFill>
                        <a:srgbClr val="060606"/>
                      </a:solidFill>
                    </a:rPr>
                    <a:t>     (i = 1,2,…,m)</a:t>
                  </a:r>
                  <a:endParaRPr lang="zh-CN" altLang="en-US" sz="3200" dirty="0"/>
                </a:p>
              </p:txBody>
            </p:sp>
            <p:sp>
              <p:nvSpPr>
                <p:cNvPr id="13" name="矩形 12"/>
                <p:cNvSpPr/>
                <p:nvPr/>
              </p:nvSpPr>
              <p:spPr>
                <a:xfrm>
                  <a:off x="3793849" y="3672592"/>
                  <a:ext cx="4512924" cy="193810"/>
                </a:xfrm>
                <a:prstGeom prst="rect">
                  <a:avLst/>
                </a:prstGeom>
              </p:spPr>
              <p:txBody>
                <a:bodyPr wrap="square">
                  <a:spAutoFit/>
                </a:bodyPr>
                <a:lstStyle/>
                <a:p>
                  <a:r>
                    <a:rPr lang="en-US" altLang="zh-CN" sz="3200" dirty="0">
                      <a:solidFill>
                        <a:srgbClr val="060606"/>
                      </a:solidFill>
                    </a:rPr>
                    <a:t>x</a:t>
                  </a:r>
                  <a:r>
                    <a:rPr lang="en-US" altLang="zh-CN" sz="3200" baseline="-25000" dirty="0">
                      <a:solidFill>
                        <a:srgbClr val="060606"/>
                      </a:solidFill>
                    </a:rPr>
                    <a:t>j</a:t>
                  </a:r>
                  <a:r>
                    <a:rPr lang="en-US" altLang="zh-CN" sz="3200" dirty="0">
                      <a:solidFill>
                        <a:srgbClr val="060606"/>
                      </a:solidFill>
                    </a:rPr>
                    <a:t>  </a:t>
                  </a:r>
                  <a:r>
                    <a:rPr lang="zh-CN" altLang="en-US" sz="3200" dirty="0">
                      <a:solidFill>
                        <a:srgbClr val="060606"/>
                      </a:solidFill>
                    </a:rPr>
                    <a:t>≥ </a:t>
                  </a:r>
                  <a:r>
                    <a:rPr lang="en-US" altLang="zh-CN" sz="3200" dirty="0">
                      <a:solidFill>
                        <a:srgbClr val="060606"/>
                      </a:solidFill>
                    </a:rPr>
                    <a:t>0             (j = 1,2,…,n</a:t>
                  </a:r>
                  <a:r>
                    <a:rPr lang="zh-CN" altLang="en-US" sz="3200" dirty="0">
                      <a:solidFill>
                        <a:srgbClr val="060606"/>
                      </a:solidFill>
                    </a:rPr>
                    <a:t>，非负约束</a:t>
                  </a:r>
                  <a:r>
                    <a:rPr lang="en-US" altLang="zh-CN" sz="3200" dirty="0">
                      <a:solidFill>
                        <a:srgbClr val="060606"/>
                      </a:solidFill>
                    </a:rPr>
                    <a:t>)</a:t>
                  </a:r>
                  <a:endParaRPr lang="zh-CN" altLang="en-US" sz="3200" dirty="0">
                    <a:solidFill>
                      <a:srgbClr val="060606"/>
                    </a:solidFill>
                  </a:endParaRPr>
                </a:p>
              </p:txBody>
            </p:sp>
          </p:grpSp>
          <p:grpSp>
            <p:nvGrpSpPr>
              <p:cNvPr id="7" name="组合 32"/>
              <p:cNvGrpSpPr/>
              <p:nvPr/>
            </p:nvGrpSpPr>
            <p:grpSpPr>
              <a:xfrm>
                <a:off x="3701952" y="4215605"/>
                <a:ext cx="668404" cy="615471"/>
                <a:chOff x="6247905" y="547068"/>
                <a:chExt cx="567784" cy="411484"/>
              </a:xfrm>
            </p:grpSpPr>
            <p:sp>
              <p:nvSpPr>
                <p:cNvPr id="8" name="矩形 7"/>
                <p:cNvSpPr/>
                <p:nvPr/>
              </p:nvSpPr>
              <p:spPr>
                <a:xfrm>
                  <a:off x="6247905" y="764743"/>
                  <a:ext cx="567784" cy="193809"/>
                </a:xfrm>
                <a:prstGeom prst="rect">
                  <a:avLst/>
                </a:prstGeom>
              </p:spPr>
              <p:txBody>
                <a:bodyPr wrap="square">
                  <a:spAutoFit/>
                </a:bodyPr>
                <a:lstStyle/>
                <a:p>
                  <a:r>
                    <a:rPr lang="en-US" altLang="zh-CN" sz="3200" dirty="0">
                      <a:solidFill>
                        <a:srgbClr val="060606"/>
                      </a:solidFill>
                    </a:rPr>
                    <a:t>j=1</a:t>
                  </a:r>
                  <a:endParaRPr lang="zh-CN" altLang="en-US" sz="3200" dirty="0"/>
                </a:p>
              </p:txBody>
            </p:sp>
            <p:sp>
              <p:nvSpPr>
                <p:cNvPr id="9" name="矩形 8"/>
                <p:cNvSpPr/>
                <p:nvPr/>
              </p:nvSpPr>
              <p:spPr>
                <a:xfrm>
                  <a:off x="6314129" y="547068"/>
                  <a:ext cx="272049" cy="193809"/>
                </a:xfrm>
                <a:prstGeom prst="rect">
                  <a:avLst/>
                </a:prstGeom>
              </p:spPr>
              <p:txBody>
                <a:bodyPr wrap="none">
                  <a:spAutoFit/>
                </a:bodyPr>
                <a:lstStyle/>
                <a:p>
                  <a:r>
                    <a:rPr lang="en-US" altLang="zh-CN" sz="3200" dirty="0">
                      <a:solidFill>
                        <a:srgbClr val="060606"/>
                      </a:solidFill>
                    </a:rPr>
                    <a:t>n</a:t>
                  </a:r>
                  <a:endParaRPr lang="zh-CN" altLang="en-US" sz="3200" dirty="0"/>
                </a:p>
              </p:txBody>
            </p:sp>
            <p:sp>
              <p:nvSpPr>
                <p:cNvPr id="10" name="矩形 9"/>
                <p:cNvSpPr/>
                <p:nvPr/>
              </p:nvSpPr>
              <p:spPr>
                <a:xfrm>
                  <a:off x="6314129" y="647019"/>
                  <a:ext cx="346489" cy="193809"/>
                </a:xfrm>
                <a:prstGeom prst="rect">
                  <a:avLst/>
                </a:prstGeom>
              </p:spPr>
              <p:txBody>
                <a:bodyPr wrap="square">
                  <a:spAutoFit/>
                </a:bodyPr>
                <a:lstStyle/>
                <a:p>
                  <a:r>
                    <a:rPr lang="en-US" altLang="zh-CN" sz="3200" dirty="0">
                      <a:solidFill>
                        <a:srgbClr val="060606"/>
                      </a:solidFill>
                    </a:rPr>
                    <a:t>∑ </a:t>
                  </a:r>
                  <a:endParaRPr lang="zh-CN" altLang="en-US" sz="3200" dirty="0"/>
                </a:p>
              </p:txBody>
            </p:sp>
          </p:grpSp>
        </p:grpSp>
      </p:grpSp>
      <p:sp>
        <p:nvSpPr>
          <p:cNvPr id="21" name="灯片编号占位符 20"/>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bwMode="auto">
          <a:xfrm>
            <a:off x="295283" y="260648"/>
            <a:ext cx="5224653" cy="2376264"/>
          </a:xfrm>
          <a:prstGeom prst="roundRect">
            <a:avLst/>
          </a:prstGeom>
          <a:noFill/>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r>
              <a:rPr lang="en-US" altLang="zh-CN" dirty="0">
                <a:solidFill>
                  <a:srgbClr val="00000C"/>
                </a:solidFill>
              </a:rPr>
              <a:t>LPQ</a:t>
            </a:r>
            <a:endParaRPr lang="zh-CN" altLang="en-US" dirty="0">
              <a:solidFill>
                <a:schemeClr val="tx1"/>
              </a:solidFill>
              <a:latin typeface="Arial" panose="020B0604020202090204" pitchFamily="34" charset="0"/>
              <a:ea typeface="宋体" panose="02010600030101010101" pitchFamily="2" charset="-122"/>
            </a:endParaRPr>
          </a:p>
        </p:txBody>
      </p:sp>
      <p:sp>
        <p:nvSpPr>
          <p:cNvPr id="3" name="内容占位符 2"/>
          <p:cNvSpPr>
            <a:spLocks noGrp="1"/>
          </p:cNvSpPr>
          <p:nvPr>
            <p:ph idx="1"/>
          </p:nvPr>
        </p:nvSpPr>
        <p:spPr>
          <a:xfrm>
            <a:off x="2907609" y="6155417"/>
            <a:ext cx="6840760" cy="727133"/>
          </a:xfrm>
        </p:spPr>
        <p:txBody>
          <a:bodyPr/>
          <a:lstStyle/>
          <a:p>
            <a:pPr>
              <a:spcBef>
                <a:spcPts val="600"/>
              </a:spcBef>
              <a:buNone/>
            </a:pPr>
            <a:r>
              <a:rPr lang="zh-CN" altLang="en-US" sz="2400" dirty="0">
                <a:solidFill>
                  <a:srgbClr val="060606"/>
                </a:solidFill>
              </a:rPr>
              <a:t>产品组合问题是一个能转换为</a:t>
            </a:r>
            <a:r>
              <a:rPr lang="zh-CN" altLang="zh-CN" sz="2400" dirty="0">
                <a:solidFill>
                  <a:srgbClr val="00000C"/>
                </a:solidFill>
              </a:rPr>
              <a:t>简单标准形的</a:t>
            </a:r>
            <a:r>
              <a:rPr lang="en-US" altLang="zh-CN" sz="2400" dirty="0">
                <a:solidFill>
                  <a:srgbClr val="00000C"/>
                </a:solidFill>
              </a:rPr>
              <a:t>LPQ</a:t>
            </a:r>
            <a:endParaRPr lang="zh-CN" altLang="en-US" sz="2400" dirty="0">
              <a:solidFill>
                <a:srgbClr val="00000C"/>
              </a:solidFill>
            </a:endParaRPr>
          </a:p>
        </p:txBody>
      </p:sp>
      <p:grpSp>
        <p:nvGrpSpPr>
          <p:cNvPr id="12" name="组合 20"/>
          <p:cNvGrpSpPr/>
          <p:nvPr/>
        </p:nvGrpSpPr>
        <p:grpSpPr>
          <a:xfrm>
            <a:off x="4915974" y="2814028"/>
            <a:ext cx="6940666" cy="2415173"/>
            <a:chOff x="3968038" y="3975447"/>
            <a:chExt cx="6940666" cy="2415173"/>
          </a:xfrm>
        </p:grpSpPr>
        <p:sp>
          <p:nvSpPr>
            <p:cNvPr id="4" name="矩形 3"/>
            <p:cNvSpPr/>
            <p:nvPr/>
          </p:nvSpPr>
          <p:spPr>
            <a:xfrm>
              <a:off x="3968038" y="3975447"/>
              <a:ext cx="4392488" cy="479234"/>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2400" dirty="0">
                  <a:solidFill>
                    <a:srgbClr val="060606"/>
                  </a:solidFill>
                </a:rPr>
                <a:t>max Z  = 3x</a:t>
              </a:r>
              <a:r>
                <a:rPr lang="en-US" altLang="zh-CN" sz="2400" baseline="-25000" dirty="0">
                  <a:solidFill>
                    <a:srgbClr val="060606"/>
                  </a:solidFill>
                </a:rPr>
                <a:t>1</a:t>
              </a:r>
              <a:r>
                <a:rPr lang="en-US" altLang="zh-CN" sz="2400" dirty="0">
                  <a:solidFill>
                    <a:srgbClr val="060606"/>
                  </a:solidFill>
                </a:rPr>
                <a:t>     +5x</a:t>
              </a:r>
              <a:r>
                <a:rPr lang="en-US" altLang="zh-CN" sz="2400" baseline="-25000" dirty="0">
                  <a:solidFill>
                    <a:srgbClr val="060606"/>
                  </a:solidFill>
                </a:rPr>
                <a:t>2</a:t>
              </a:r>
              <a:endParaRPr lang="en-US" altLang="zh-CN" sz="2400" dirty="0">
                <a:solidFill>
                  <a:srgbClr val="060606"/>
                </a:solidFill>
              </a:endParaRPr>
            </a:p>
          </p:txBody>
        </p:sp>
        <p:sp>
          <p:nvSpPr>
            <p:cNvPr id="5" name="矩形 4"/>
            <p:cNvSpPr/>
            <p:nvPr/>
          </p:nvSpPr>
          <p:spPr>
            <a:xfrm>
              <a:off x="4328078" y="5013176"/>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6" name="左大括号 5"/>
            <p:cNvSpPr/>
            <p:nvPr/>
          </p:nvSpPr>
          <p:spPr bwMode="auto">
            <a:xfrm>
              <a:off x="4832134" y="4806444"/>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7" name="矩形 6"/>
            <p:cNvSpPr/>
            <p:nvPr/>
          </p:nvSpPr>
          <p:spPr>
            <a:xfrm>
              <a:off x="5120166" y="4632811"/>
              <a:ext cx="4557658" cy="461665"/>
            </a:xfrm>
            <a:prstGeom prst="rect">
              <a:avLst/>
            </a:prstGeom>
          </p:spPr>
          <p:txBody>
            <a:bodyPr wrap="none">
              <a:spAutoFit/>
            </a:bodyPr>
            <a:lstStyle/>
            <a:p>
              <a:r>
                <a:rPr lang="en-US" altLang="zh-CN" sz="2400" dirty="0">
                  <a:solidFill>
                    <a:srgbClr val="060606"/>
                  </a:solidFill>
                </a:rPr>
                <a:t>  x</a:t>
              </a:r>
              <a:r>
                <a:rPr lang="en-US" altLang="zh-CN" sz="2400" baseline="-25000" dirty="0">
                  <a:solidFill>
                    <a:srgbClr val="060606"/>
                  </a:solidFill>
                </a:rPr>
                <a:t>1</a:t>
              </a:r>
              <a:r>
                <a:rPr lang="en-US" altLang="zh-CN" sz="2400" dirty="0">
                  <a:solidFill>
                    <a:srgbClr val="060606"/>
                  </a:solidFill>
                </a:rPr>
                <a:t>               </a:t>
              </a:r>
              <a:r>
                <a:rPr lang="en-US" altLang="zh-CN" sz="2400" dirty="0">
                  <a:solidFill>
                    <a:srgbClr val="0000AC"/>
                  </a:solidFill>
                </a:rPr>
                <a:t>+x</a:t>
              </a:r>
              <a:r>
                <a:rPr lang="en-US" altLang="zh-CN" sz="2400" baseline="-25000" dirty="0">
                  <a:solidFill>
                    <a:srgbClr val="0000AC"/>
                  </a:solidFill>
                </a:rPr>
                <a:t>3</a:t>
              </a:r>
              <a:r>
                <a:rPr lang="en-US" altLang="zh-CN" sz="2400" dirty="0">
                  <a:solidFill>
                    <a:srgbClr val="0000AC"/>
                  </a:solidFill>
                </a:rPr>
                <a:t> </a:t>
              </a:r>
              <a:r>
                <a:rPr lang="en-US" altLang="zh-CN" sz="2400" dirty="0">
                  <a:solidFill>
                    <a:srgbClr val="060606"/>
                  </a:solidFill>
                </a:rPr>
                <a:t>                    = 4</a:t>
              </a:r>
              <a:endParaRPr lang="zh-CN" altLang="en-US" dirty="0"/>
            </a:p>
          </p:txBody>
        </p:sp>
        <p:sp>
          <p:nvSpPr>
            <p:cNvPr id="8" name="矩形 7"/>
            <p:cNvSpPr/>
            <p:nvPr/>
          </p:nvSpPr>
          <p:spPr>
            <a:xfrm>
              <a:off x="5192174" y="5496907"/>
              <a:ext cx="4525598" cy="461665"/>
            </a:xfrm>
            <a:prstGeom prst="rect">
              <a:avLst/>
            </a:prstGeom>
          </p:spPr>
          <p:txBody>
            <a:bodyPr wrap="none">
              <a:spAutoFit/>
            </a:bodyPr>
            <a:lstStyle/>
            <a:p>
              <a:r>
                <a:rPr lang="en-US" altLang="zh-CN" sz="2400" dirty="0">
                  <a:solidFill>
                    <a:srgbClr val="060606"/>
                  </a:solidFill>
                </a:rPr>
                <a:t>3x</a:t>
              </a:r>
              <a:r>
                <a:rPr lang="en-US" altLang="zh-CN" sz="2400" baseline="-25000" dirty="0">
                  <a:solidFill>
                    <a:srgbClr val="060606"/>
                  </a:solidFill>
                </a:rPr>
                <a:t>1      </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0000AC"/>
                  </a:solidFill>
                </a:rPr>
                <a:t>+ x</a:t>
              </a:r>
              <a:r>
                <a:rPr lang="en-US" altLang="zh-CN" sz="2400" baseline="-25000" dirty="0">
                  <a:solidFill>
                    <a:srgbClr val="0000AC"/>
                  </a:solidFill>
                </a:rPr>
                <a:t>5 </a:t>
              </a:r>
              <a:r>
                <a:rPr lang="en-US" altLang="zh-CN" sz="2400" dirty="0">
                  <a:solidFill>
                    <a:srgbClr val="060606"/>
                  </a:solidFill>
                </a:rPr>
                <a:t> = 18</a:t>
              </a:r>
              <a:endParaRPr lang="zh-CN" altLang="en-US" dirty="0"/>
            </a:p>
          </p:txBody>
        </p:sp>
        <p:sp>
          <p:nvSpPr>
            <p:cNvPr id="9" name="矩形 8"/>
            <p:cNvSpPr/>
            <p:nvPr/>
          </p:nvSpPr>
          <p:spPr>
            <a:xfrm>
              <a:off x="5264182" y="5928955"/>
              <a:ext cx="5644522" cy="461665"/>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10" name="矩形 9"/>
            <p:cNvSpPr/>
            <p:nvPr/>
          </p:nvSpPr>
          <p:spPr>
            <a:xfrm>
              <a:off x="5048158" y="5064859"/>
              <a:ext cx="4626588" cy="461665"/>
            </a:xfrm>
            <a:prstGeom prst="rect">
              <a:avLst/>
            </a:prstGeom>
          </p:spPr>
          <p:txBody>
            <a:bodyPr wrap="none">
              <a:spAutoFit/>
            </a:bodyPr>
            <a:lstStyle/>
            <a:p>
              <a:r>
                <a:rPr lang="en-US" altLang="zh-CN" sz="2400" dirty="0">
                  <a:solidFill>
                    <a:srgbClr val="060606"/>
                  </a:solidFill>
                </a:rPr>
                <a:t>             2x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0000AC"/>
                  </a:solidFill>
                </a:rPr>
                <a:t>+x</a:t>
              </a:r>
              <a:r>
                <a:rPr lang="en-US" altLang="zh-CN" sz="2400" baseline="-25000" dirty="0">
                  <a:solidFill>
                    <a:srgbClr val="0000AC"/>
                  </a:solidFill>
                </a:rPr>
                <a:t>4</a:t>
              </a:r>
              <a:r>
                <a:rPr lang="en-US" altLang="zh-CN" sz="2400" dirty="0">
                  <a:solidFill>
                    <a:srgbClr val="0000AC"/>
                  </a:solidFill>
                </a:rPr>
                <a:t>            </a:t>
              </a:r>
              <a:r>
                <a:rPr lang="en-US" altLang="zh-CN" sz="2400" dirty="0">
                  <a:solidFill>
                    <a:srgbClr val="060606"/>
                  </a:solidFill>
                </a:rPr>
                <a:t>=12</a:t>
              </a:r>
              <a:endParaRPr lang="zh-CN" altLang="en-US" sz="2400" dirty="0">
                <a:solidFill>
                  <a:srgbClr val="060606"/>
                </a:solidFill>
              </a:endParaRPr>
            </a:p>
          </p:txBody>
        </p:sp>
        <p:sp>
          <p:nvSpPr>
            <p:cNvPr id="11" name="矩形 10"/>
            <p:cNvSpPr/>
            <p:nvPr/>
          </p:nvSpPr>
          <p:spPr>
            <a:xfrm>
              <a:off x="6707393" y="3978696"/>
              <a:ext cx="2286000" cy="461665"/>
            </a:xfrm>
            <a:prstGeom prst="rect">
              <a:avLst/>
            </a:prstGeom>
          </p:spPr>
          <p:txBody>
            <a:bodyPr>
              <a:spAutoFit/>
            </a:bodyPr>
            <a:lstStyle/>
            <a:p>
              <a:r>
                <a:rPr lang="en-US" altLang="zh-CN" sz="2400" dirty="0">
                  <a:solidFill>
                    <a:srgbClr val="060606"/>
                  </a:solidFill>
                </a:rPr>
                <a:t>+</a:t>
              </a:r>
              <a:r>
                <a:rPr lang="en-US" altLang="zh-CN" sz="2400" dirty="0">
                  <a:solidFill>
                    <a:srgbClr val="0000AC"/>
                  </a:solidFill>
                </a:rPr>
                <a:t>0</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a:t>
              </a:r>
              <a:r>
                <a:rPr lang="en-US" altLang="zh-CN" sz="2400" dirty="0">
                  <a:solidFill>
                    <a:srgbClr val="0000AC"/>
                  </a:solidFill>
                </a:rPr>
                <a:t>0</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a:t>
              </a:r>
              <a:r>
                <a:rPr lang="en-US" altLang="zh-CN" sz="2400" dirty="0">
                  <a:solidFill>
                    <a:srgbClr val="0000AC"/>
                  </a:solidFill>
                </a:rPr>
                <a:t>0</a:t>
              </a:r>
              <a:r>
                <a:rPr lang="en-US" altLang="zh-CN" sz="2400" dirty="0">
                  <a:solidFill>
                    <a:srgbClr val="060606"/>
                  </a:solidFill>
                </a:rPr>
                <a:t>x</a:t>
              </a:r>
              <a:r>
                <a:rPr lang="en-US" altLang="zh-CN" sz="2400" baseline="-25000" dirty="0">
                  <a:solidFill>
                    <a:srgbClr val="060606"/>
                  </a:solidFill>
                </a:rPr>
                <a:t>5</a:t>
              </a:r>
              <a:endParaRPr lang="zh-CN" altLang="en-US" dirty="0"/>
            </a:p>
          </p:txBody>
        </p:sp>
      </p:grpSp>
      <p:grpSp>
        <p:nvGrpSpPr>
          <p:cNvPr id="20" name="组合 12"/>
          <p:cNvGrpSpPr/>
          <p:nvPr/>
        </p:nvGrpSpPr>
        <p:grpSpPr>
          <a:xfrm>
            <a:off x="1228725" y="303040"/>
            <a:ext cx="4564803" cy="2189857"/>
            <a:chOff x="1079104" y="3429000"/>
            <a:chExt cx="3729975" cy="2189857"/>
          </a:xfrm>
        </p:grpSpPr>
        <p:sp>
          <p:nvSpPr>
            <p:cNvPr id="13" name="矩形 12"/>
            <p:cNvSpPr/>
            <p:nvPr/>
          </p:nvSpPr>
          <p:spPr>
            <a:xfrm>
              <a:off x="1799184" y="3429000"/>
              <a:ext cx="2304256" cy="479234"/>
            </a:xfrm>
            <a:prstGeom prst="rect">
              <a:avLst/>
            </a:prstGeom>
          </p:spPr>
          <p:txBody>
            <a:bodyPr wrap="square">
              <a:spAutoFit/>
            </a:bodyPr>
            <a:lstStyle/>
            <a:p>
              <a:pPr marL="342900" indent="-342900" algn="ctr" fontAlgn="base">
                <a:lnSpc>
                  <a:spcPct val="110000"/>
                </a:lnSpc>
                <a:spcBef>
                  <a:spcPts val="1800"/>
                </a:spcBef>
                <a:spcAft>
                  <a:spcPct val="0"/>
                </a:spcAft>
              </a:pPr>
              <a:r>
                <a:rPr lang="en-US" altLang="zh-CN" sz="2400" dirty="0">
                  <a:solidFill>
                    <a:srgbClr val="060606"/>
                  </a:solidFill>
                </a:rPr>
                <a:t>max Z  = 3x</a:t>
              </a:r>
              <a:r>
                <a:rPr lang="en-US" altLang="zh-CN" sz="2400" baseline="-25000" dirty="0">
                  <a:solidFill>
                    <a:srgbClr val="060606"/>
                  </a:solidFill>
                </a:rPr>
                <a:t>1</a:t>
              </a:r>
              <a:r>
                <a:rPr lang="en-US" altLang="zh-CN" sz="2400" dirty="0">
                  <a:solidFill>
                    <a:srgbClr val="060606"/>
                  </a:solidFill>
                </a:rPr>
                <a:t>+5x</a:t>
              </a:r>
              <a:r>
                <a:rPr lang="en-US" altLang="zh-CN" sz="2400" baseline="-25000" dirty="0">
                  <a:solidFill>
                    <a:srgbClr val="060606"/>
                  </a:solidFill>
                </a:rPr>
                <a:t>2</a:t>
              </a:r>
              <a:endParaRPr lang="en-US" altLang="zh-CN" sz="2400" dirty="0">
                <a:solidFill>
                  <a:srgbClr val="060606"/>
                </a:solidFill>
              </a:endParaRPr>
            </a:p>
          </p:txBody>
        </p:sp>
        <p:sp>
          <p:nvSpPr>
            <p:cNvPr id="14" name="矩形 13"/>
            <p:cNvSpPr/>
            <p:nvPr/>
          </p:nvSpPr>
          <p:spPr>
            <a:xfrm>
              <a:off x="1079104" y="4437112"/>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15" name="左大括号 14"/>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6" name="矩形 15"/>
            <p:cNvSpPr/>
            <p:nvPr/>
          </p:nvSpPr>
          <p:spPr>
            <a:xfrm>
              <a:off x="2123728" y="3861048"/>
              <a:ext cx="2683748" cy="461665"/>
            </a:xfrm>
            <a:prstGeom prst="rect">
              <a:avLst/>
            </a:prstGeom>
          </p:spPr>
          <p:txBody>
            <a:bodyPr wrap="none">
              <a:spAutoFit/>
            </a:bodyPr>
            <a:lstStyle/>
            <a:p>
              <a:r>
                <a:rPr lang="en-US" altLang="zh-CN" sz="2400" dirty="0">
                  <a:solidFill>
                    <a:srgbClr val="060606"/>
                  </a:solidFill>
                </a:rPr>
                <a:t> x</a:t>
              </a:r>
              <a:r>
                <a:rPr lang="en-US" altLang="zh-CN" sz="2400" baseline="-25000" dirty="0">
                  <a:solidFill>
                    <a:srgbClr val="060606"/>
                  </a:solidFill>
                </a:rPr>
                <a:t>1</a:t>
              </a:r>
              <a:r>
                <a:rPr lang="en-US" altLang="zh-CN" sz="2400" dirty="0">
                  <a:solidFill>
                    <a:srgbClr val="FF0000"/>
                  </a:solidFill>
                </a:rPr>
                <a:t>≤</a:t>
              </a:r>
              <a:r>
                <a:rPr lang="en-US" altLang="zh-CN" sz="2400" dirty="0">
                  <a:solidFill>
                    <a:srgbClr val="060606"/>
                  </a:solidFill>
                </a:rPr>
                <a:t>4                (1)</a:t>
              </a:r>
              <a:endParaRPr lang="zh-CN" altLang="en-US" dirty="0"/>
            </a:p>
          </p:txBody>
        </p:sp>
        <p:sp>
          <p:nvSpPr>
            <p:cNvPr id="17" name="矩形 16"/>
            <p:cNvSpPr/>
            <p:nvPr/>
          </p:nvSpPr>
          <p:spPr>
            <a:xfrm>
              <a:off x="2123728" y="4725144"/>
              <a:ext cx="2598788" cy="461665"/>
            </a:xfrm>
            <a:prstGeom prst="rect">
              <a:avLst/>
            </a:prstGeom>
          </p:spPr>
          <p:txBody>
            <a:bodyPr wrap="none">
              <a:spAutoFit/>
            </a:bodyPr>
            <a:lstStyle/>
            <a:p>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a:t>
              </a:r>
              <a:r>
                <a:rPr lang="en-US" altLang="zh-CN" sz="2400" dirty="0">
                  <a:solidFill>
                    <a:srgbClr val="060606"/>
                  </a:solidFill>
                </a:rPr>
                <a:t> 18   (3)</a:t>
              </a:r>
              <a:endParaRPr lang="zh-CN" altLang="en-US" dirty="0"/>
            </a:p>
          </p:txBody>
        </p:sp>
        <p:sp>
          <p:nvSpPr>
            <p:cNvPr id="18" name="矩形 17"/>
            <p:cNvSpPr/>
            <p:nvPr/>
          </p:nvSpPr>
          <p:spPr>
            <a:xfrm>
              <a:off x="2123728" y="5157192"/>
              <a:ext cx="2685351" cy="461665"/>
            </a:xfrm>
            <a:prstGeom prst="rect">
              <a:avLst/>
            </a:prstGeom>
          </p:spPr>
          <p:txBody>
            <a:bodyPr wrap="non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(4)</a:t>
              </a:r>
              <a:endParaRPr lang="zh-CN" altLang="en-US" dirty="0"/>
            </a:p>
          </p:txBody>
        </p:sp>
        <p:sp>
          <p:nvSpPr>
            <p:cNvPr id="19" name="矩形 18"/>
            <p:cNvSpPr/>
            <p:nvPr/>
          </p:nvSpPr>
          <p:spPr>
            <a:xfrm>
              <a:off x="2123728" y="4293096"/>
              <a:ext cx="2667718" cy="461665"/>
            </a:xfrm>
            <a:prstGeom prst="rect">
              <a:avLst/>
            </a:prstGeom>
          </p:spPr>
          <p:txBody>
            <a:bodyPr wrap="none">
              <a:spAutoFit/>
            </a:bodyPr>
            <a:lstStyle/>
            <a:p>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a:t>
              </a:r>
              <a:r>
                <a:rPr lang="en-US" altLang="zh-CN" sz="2400" dirty="0">
                  <a:solidFill>
                    <a:srgbClr val="060606"/>
                  </a:solidFill>
                </a:rPr>
                <a:t>12            (2)</a:t>
              </a:r>
              <a:endParaRPr lang="zh-CN" altLang="en-US" sz="2400" dirty="0">
                <a:solidFill>
                  <a:srgbClr val="060606"/>
                </a:solidFill>
              </a:endParaRPr>
            </a:p>
          </p:txBody>
        </p:sp>
      </p:grpSp>
      <p:sp>
        <p:nvSpPr>
          <p:cNvPr id="26" name="直角上箭头 25"/>
          <p:cNvSpPr/>
          <p:nvPr/>
        </p:nvSpPr>
        <p:spPr bwMode="auto">
          <a:xfrm flipV="1">
            <a:off x="6384032" y="1268760"/>
            <a:ext cx="1512168" cy="864096"/>
          </a:xfrm>
          <a:prstGeom prst="bentUp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5" name="TextBox 24"/>
          <p:cNvSpPr txBox="1"/>
          <p:nvPr/>
        </p:nvSpPr>
        <p:spPr>
          <a:xfrm>
            <a:off x="6456040" y="404665"/>
            <a:ext cx="3672408" cy="830997"/>
          </a:xfrm>
          <a:prstGeom prst="rect">
            <a:avLst/>
          </a:prstGeom>
          <a:noFill/>
        </p:spPr>
        <p:txBody>
          <a:bodyPr wrap="square" rtlCol="0">
            <a:spAutoFit/>
          </a:bodyPr>
          <a:lstStyle/>
          <a:p>
            <a:r>
              <a:rPr lang="zh-CN" altLang="en-US" sz="2400" dirty="0"/>
              <a:t>引入松弛变量</a:t>
            </a:r>
            <a:r>
              <a:rPr lang="en-US" altLang="zh-CN" sz="2400" dirty="0"/>
              <a:t>,</a:t>
            </a:r>
            <a:r>
              <a:rPr lang="zh-CN" altLang="en-US" sz="2400" dirty="0"/>
              <a:t>在目标函数中松弛变量的系数是</a:t>
            </a:r>
            <a:r>
              <a:rPr lang="en-US" altLang="zh-CN" sz="2400" dirty="0"/>
              <a:t>0</a:t>
            </a:r>
            <a:endParaRPr lang="zh-CN" altLang="en-US" sz="2400" dirty="0"/>
          </a:p>
        </p:txBody>
      </p:sp>
      <p:cxnSp>
        <p:nvCxnSpPr>
          <p:cNvPr id="29" name="直接连接符 28"/>
          <p:cNvCxnSpPr/>
          <p:nvPr/>
        </p:nvCxnSpPr>
        <p:spPr bwMode="auto">
          <a:xfrm>
            <a:off x="6949877" y="2564904"/>
            <a:ext cx="0" cy="3168352"/>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7741965" y="2564904"/>
            <a:ext cx="0" cy="3168352"/>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p:cNvCxnSpPr/>
          <p:nvPr/>
        </p:nvCxnSpPr>
        <p:spPr bwMode="auto">
          <a:xfrm>
            <a:off x="8390037" y="2564904"/>
            <a:ext cx="0" cy="3168352"/>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p:cNvCxnSpPr/>
          <p:nvPr/>
        </p:nvCxnSpPr>
        <p:spPr bwMode="auto">
          <a:xfrm>
            <a:off x="9069288" y="2564904"/>
            <a:ext cx="0" cy="3168352"/>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2900" y="332658"/>
            <a:ext cx="11334750" cy="1696168"/>
          </a:xfrm>
        </p:spPr>
        <p:txBody>
          <a:bodyPr>
            <a:normAutofit/>
          </a:bodyPr>
          <a:lstStyle/>
          <a:p>
            <a:r>
              <a:rPr lang="zh-CN" altLang="en-US" sz="4400" dirty="0">
                <a:solidFill>
                  <a:srgbClr val="060606"/>
                </a:solidFill>
              </a:rPr>
              <a:t>单纯形法：代数形式</a:t>
            </a:r>
            <a:r>
              <a:rPr lang="en-US" altLang="zh-CN" sz="4400" dirty="0">
                <a:solidFill>
                  <a:srgbClr val="060606"/>
                </a:solidFill>
              </a:rPr>
              <a:t>(</a:t>
            </a:r>
            <a:r>
              <a:rPr lang="zh-CN" altLang="en-US" sz="4400" dirty="0">
                <a:solidFill>
                  <a:srgbClr val="060606"/>
                </a:solidFill>
              </a:rPr>
              <a:t>以产品组合问题介绍求解方法</a:t>
            </a:r>
            <a:r>
              <a:rPr lang="en-US" altLang="zh-CN" sz="4400" dirty="0">
                <a:solidFill>
                  <a:srgbClr val="060606"/>
                </a:solidFill>
              </a:rPr>
              <a:t>)</a:t>
            </a:r>
            <a:endParaRPr lang="zh-CN" altLang="en-US" sz="4400" dirty="0"/>
          </a:p>
        </p:txBody>
      </p:sp>
      <p:sp>
        <p:nvSpPr>
          <p:cNvPr id="3" name="文本占位符 2"/>
          <p:cNvSpPr>
            <a:spLocks noGrp="1"/>
          </p:cNvSpPr>
          <p:nvPr>
            <p:ph type="body" idx="1"/>
          </p:nvPr>
        </p:nvSpPr>
        <p:spPr>
          <a:xfrm>
            <a:off x="342899" y="2219325"/>
            <a:ext cx="11496675" cy="3152775"/>
          </a:xfrm>
        </p:spPr>
        <p:txBody>
          <a:bodyPr>
            <a:normAutofit/>
          </a:bodyPr>
          <a:lstStyle/>
          <a:p>
            <a:r>
              <a:rPr lang="zh-CN" altLang="en-US" b="1" dirty="0">
                <a:solidFill>
                  <a:srgbClr val="060606"/>
                </a:solidFill>
              </a:rPr>
              <a:t>第一步：将</a:t>
            </a:r>
            <a:r>
              <a:rPr lang="en-US" altLang="zh-CN" b="1" dirty="0">
                <a:solidFill>
                  <a:srgbClr val="060606"/>
                </a:solidFill>
              </a:rPr>
              <a:t>LPQ</a:t>
            </a:r>
            <a:r>
              <a:rPr lang="zh-CN" altLang="en-US" b="1" dirty="0">
                <a:solidFill>
                  <a:srgbClr val="060606"/>
                </a:solidFill>
              </a:rPr>
              <a:t>转换为简单标准形。</a:t>
            </a:r>
            <a:endParaRPr lang="en-US" altLang="zh-CN" b="1" dirty="0">
              <a:solidFill>
                <a:srgbClr val="060606"/>
              </a:solidFill>
            </a:endParaRPr>
          </a:p>
          <a:p>
            <a:r>
              <a:rPr lang="zh-CN" altLang="en-US" b="1" dirty="0">
                <a:solidFill>
                  <a:srgbClr val="060606"/>
                </a:solidFill>
              </a:rPr>
              <a:t>第二步：写成方程组形式</a:t>
            </a:r>
            <a:r>
              <a:rPr lang="en-US" altLang="zh-CN" b="1" dirty="0">
                <a:solidFill>
                  <a:srgbClr val="060606"/>
                </a:solidFill>
              </a:rPr>
              <a:t>(</a:t>
            </a:r>
            <a:r>
              <a:rPr lang="zh-CN" altLang="en-US" b="1" dirty="0">
                <a:solidFill>
                  <a:srgbClr val="060606"/>
                </a:solidFill>
              </a:rPr>
              <a:t>以及增广的矩阵</a:t>
            </a:r>
            <a:r>
              <a:rPr lang="en-US" altLang="zh-CN" b="1" dirty="0">
                <a:solidFill>
                  <a:srgbClr val="060606"/>
                </a:solidFill>
              </a:rPr>
              <a:t>A</a:t>
            </a:r>
            <a:r>
              <a:rPr lang="en-US" altLang="zh-CN" b="1" baseline="-25000" dirty="0">
                <a:solidFill>
                  <a:srgbClr val="060606"/>
                </a:solidFill>
              </a:rPr>
              <a:t>m× (</a:t>
            </a:r>
            <a:r>
              <a:rPr lang="en-US" altLang="zh-CN" b="1" baseline="-25000" dirty="0" err="1">
                <a:solidFill>
                  <a:srgbClr val="060606"/>
                </a:solidFill>
              </a:rPr>
              <a:t>n+m</a:t>
            </a:r>
            <a:r>
              <a:rPr lang="en-US" altLang="zh-CN" b="1" baseline="-25000" dirty="0">
                <a:solidFill>
                  <a:srgbClr val="060606"/>
                </a:solidFill>
              </a:rPr>
              <a:t>)</a:t>
            </a:r>
            <a:r>
              <a:rPr lang="en-US" altLang="zh-CN" b="1" dirty="0">
                <a:solidFill>
                  <a:srgbClr val="060606"/>
                </a:solidFill>
              </a:rPr>
              <a:t>)</a:t>
            </a:r>
            <a:endParaRPr lang="en-US" altLang="zh-CN" b="1" dirty="0">
              <a:solidFill>
                <a:srgbClr val="060606"/>
              </a:solidFill>
            </a:endParaRPr>
          </a:p>
          <a:p>
            <a:r>
              <a:rPr lang="zh-CN" altLang="en-US" b="1" dirty="0">
                <a:solidFill>
                  <a:srgbClr val="060606"/>
                </a:solidFill>
              </a:rPr>
              <a:t>第三步：确定初始基可行解。</a:t>
            </a:r>
            <a:r>
              <a:rPr lang="en-US" altLang="zh-CN" b="1" dirty="0">
                <a:solidFill>
                  <a:srgbClr val="060606"/>
                </a:solidFill>
              </a:rPr>
              <a:t>(</a:t>
            </a:r>
            <a:r>
              <a:rPr lang="zh-CN" altLang="en-US" b="1" dirty="0">
                <a:solidFill>
                  <a:srgbClr val="060606"/>
                </a:solidFill>
              </a:rPr>
              <a:t>初始化</a:t>
            </a:r>
            <a:r>
              <a:rPr lang="en-US" altLang="zh-CN" b="1" dirty="0">
                <a:solidFill>
                  <a:srgbClr val="060606"/>
                </a:solidFill>
              </a:rPr>
              <a:t>)</a:t>
            </a:r>
            <a:endParaRPr lang="en-US" altLang="zh-CN" b="1" dirty="0">
              <a:solidFill>
                <a:srgbClr val="060606"/>
              </a:solidFill>
            </a:endParaRPr>
          </a:p>
          <a:p>
            <a:r>
              <a:rPr lang="zh-CN" altLang="en-US" b="1" dirty="0">
                <a:solidFill>
                  <a:srgbClr val="060606"/>
                </a:solidFill>
              </a:rPr>
              <a:t>第四步：最优性检测和解的判定。</a:t>
            </a:r>
            <a:r>
              <a:rPr lang="en-US" altLang="zh-CN" b="1" dirty="0">
                <a:solidFill>
                  <a:srgbClr val="060606"/>
                </a:solidFill>
              </a:rPr>
              <a:t>(</a:t>
            </a:r>
            <a:r>
              <a:rPr lang="zh-CN" altLang="en-US" b="1" dirty="0">
                <a:solidFill>
                  <a:srgbClr val="060606"/>
                </a:solidFill>
              </a:rPr>
              <a:t>是否最优解？</a:t>
            </a:r>
            <a:r>
              <a:rPr lang="en-US" altLang="zh-CN" b="1" dirty="0">
                <a:solidFill>
                  <a:srgbClr val="060606"/>
                </a:solidFill>
              </a:rPr>
              <a:t>)</a:t>
            </a:r>
            <a:endParaRPr lang="en-US" altLang="zh-CN" b="1" dirty="0">
              <a:solidFill>
                <a:srgbClr val="060606"/>
              </a:solidFill>
            </a:endParaRPr>
          </a:p>
          <a:p>
            <a:r>
              <a:rPr lang="zh-CN" altLang="en-US" b="1" dirty="0">
                <a:solidFill>
                  <a:srgbClr val="060606"/>
                </a:solidFill>
              </a:rPr>
              <a:t>第五步：基可行解的转换。</a:t>
            </a:r>
            <a:r>
              <a:rPr lang="en-US" altLang="zh-CN" b="1" dirty="0">
                <a:solidFill>
                  <a:srgbClr val="060606"/>
                </a:solidFill>
              </a:rPr>
              <a:t>(</a:t>
            </a:r>
            <a:r>
              <a:rPr lang="zh-CN" altLang="en-US" b="1" dirty="0">
                <a:solidFill>
                  <a:srgbClr val="060606"/>
                </a:solidFill>
              </a:rPr>
              <a:t>迭代</a:t>
            </a:r>
            <a:r>
              <a:rPr lang="en-US" altLang="zh-CN" b="1" dirty="0">
                <a:solidFill>
                  <a:srgbClr val="060606"/>
                </a:solidFill>
              </a:rPr>
              <a:t>)</a:t>
            </a:r>
            <a:endParaRPr lang="en-US" altLang="zh-CN" b="1" dirty="0">
              <a:solidFill>
                <a:srgbClr val="060606"/>
              </a:solidFill>
            </a:endParaRPr>
          </a:p>
          <a:p>
            <a:endParaRPr lang="en-US" altLang="zh-CN" b="1" dirty="0">
              <a:solidFill>
                <a:srgbClr val="060606"/>
              </a:solidFill>
            </a:endParaRPr>
          </a:p>
          <a:p>
            <a:endParaRPr lang="en-US" altLang="zh-CN" b="1" dirty="0">
              <a:solidFill>
                <a:srgbClr val="060606"/>
              </a:solidFill>
            </a:endParaRPr>
          </a:p>
          <a:p>
            <a:endParaRPr lang="en-US" altLang="zh-CN" b="1" dirty="0">
              <a:solidFill>
                <a:srgbClr val="060606"/>
              </a:solidFill>
            </a:endParaRPr>
          </a:p>
          <a:p>
            <a:endParaRPr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5919" y="147463"/>
            <a:ext cx="10050463" cy="520088"/>
          </a:xfrm>
        </p:spPr>
        <p:txBody>
          <a:bodyPr>
            <a:normAutofit/>
          </a:bodyPr>
          <a:lstStyle/>
          <a:p>
            <a:pPr>
              <a:buNone/>
            </a:pPr>
            <a:r>
              <a:rPr lang="zh-CN" altLang="en-US" sz="2400" b="1" dirty="0">
                <a:solidFill>
                  <a:srgbClr val="060606"/>
                </a:solidFill>
              </a:rPr>
              <a:t>第一步：将</a:t>
            </a:r>
            <a:r>
              <a:rPr lang="en-US" altLang="zh-CN" sz="2400" b="1" dirty="0">
                <a:solidFill>
                  <a:srgbClr val="060606"/>
                </a:solidFill>
              </a:rPr>
              <a:t>LPQ</a:t>
            </a:r>
            <a:r>
              <a:rPr lang="zh-CN" altLang="en-US" sz="2400" b="1" dirty="0">
                <a:solidFill>
                  <a:srgbClr val="060606"/>
                </a:solidFill>
              </a:rPr>
              <a:t>转换为简单标准形</a:t>
            </a:r>
            <a:r>
              <a:rPr lang="en-US" altLang="zh-CN" sz="2400" b="1" dirty="0">
                <a:solidFill>
                  <a:srgbClr val="060606"/>
                </a:solidFill>
              </a:rPr>
              <a:t>[</a:t>
            </a:r>
            <a:r>
              <a:rPr lang="zh-CN" altLang="en-US" sz="2400" dirty="0">
                <a:solidFill>
                  <a:srgbClr val="00000C"/>
                </a:solidFill>
              </a:rPr>
              <a:t>构造了一个初始基可行解</a:t>
            </a:r>
            <a:r>
              <a:rPr lang="en-US" altLang="zh-CN" sz="2400" b="1" dirty="0">
                <a:solidFill>
                  <a:srgbClr val="060606"/>
                </a:solidFill>
              </a:rPr>
              <a:t>]</a:t>
            </a:r>
            <a:r>
              <a:rPr lang="zh-CN" altLang="en-US" sz="2400" b="1" dirty="0">
                <a:solidFill>
                  <a:srgbClr val="060606"/>
                </a:solidFill>
              </a:rPr>
              <a:t>。</a:t>
            </a:r>
            <a:endParaRPr lang="en-US" altLang="zh-CN" sz="2400" b="1" dirty="0">
              <a:solidFill>
                <a:srgbClr val="060606"/>
              </a:solidFill>
            </a:endParaRPr>
          </a:p>
        </p:txBody>
      </p:sp>
      <p:grpSp>
        <p:nvGrpSpPr>
          <p:cNvPr id="21" name="组合 22"/>
          <p:cNvGrpSpPr/>
          <p:nvPr/>
        </p:nvGrpSpPr>
        <p:grpSpPr>
          <a:xfrm>
            <a:off x="1900892" y="622972"/>
            <a:ext cx="6427358" cy="2251414"/>
            <a:chOff x="3629391" y="3140968"/>
            <a:chExt cx="5012115" cy="1655451"/>
          </a:xfrm>
        </p:grpSpPr>
        <p:grpSp>
          <p:nvGrpSpPr>
            <p:cNvPr id="22" name="组合 37"/>
            <p:cNvGrpSpPr/>
            <p:nvPr/>
          </p:nvGrpSpPr>
          <p:grpSpPr>
            <a:xfrm>
              <a:off x="4067945" y="3140968"/>
              <a:ext cx="2088231" cy="771508"/>
              <a:chOff x="8070970" y="548680"/>
              <a:chExt cx="1773874" cy="515806"/>
            </a:xfrm>
          </p:grpSpPr>
          <p:sp>
            <p:nvSpPr>
              <p:cNvPr id="34" name="矩形 33"/>
              <p:cNvSpPr/>
              <p:nvPr/>
            </p:nvSpPr>
            <p:spPr>
              <a:xfrm>
                <a:off x="8070970" y="692697"/>
                <a:ext cx="1773874" cy="267299"/>
              </a:xfrm>
              <a:prstGeom prst="rect">
                <a:avLst/>
              </a:prstGeom>
            </p:spPr>
            <p:txBody>
              <a:bodyPr wrap="square">
                <a:spAutoFit/>
              </a:bodyPr>
              <a:lstStyle/>
              <a:p>
                <a:pPr marL="342900" indent="-342900" algn="ctr" fontAlgn="base">
                  <a:lnSpc>
                    <a:spcPct val="110000"/>
                  </a:lnSpc>
                  <a:spcAft>
                    <a:spcPct val="0"/>
                  </a:spcAft>
                </a:pPr>
                <a:r>
                  <a:rPr lang="en-US" altLang="zh-CN" sz="2800" dirty="0">
                    <a:solidFill>
                      <a:srgbClr val="FF0000"/>
                    </a:solidFill>
                  </a:rPr>
                  <a:t>max </a:t>
                </a:r>
                <a:r>
                  <a:rPr lang="en-US" altLang="zh-CN" sz="2800" dirty="0">
                    <a:solidFill>
                      <a:srgbClr val="060606"/>
                    </a:solidFill>
                  </a:rPr>
                  <a:t>z =     c</a:t>
                </a:r>
                <a:r>
                  <a:rPr lang="en-US" altLang="zh-CN" sz="2800" baseline="-25000" dirty="0">
                    <a:solidFill>
                      <a:srgbClr val="060606"/>
                    </a:solidFill>
                  </a:rPr>
                  <a:t>j</a:t>
                </a:r>
                <a:r>
                  <a:rPr lang="en-US" altLang="zh-CN" sz="2800" dirty="0">
                    <a:solidFill>
                      <a:srgbClr val="060606"/>
                    </a:solidFill>
                  </a:rPr>
                  <a:t>x</a:t>
                </a:r>
                <a:r>
                  <a:rPr lang="en-US" altLang="zh-CN" sz="2800" baseline="-25000" dirty="0">
                    <a:solidFill>
                      <a:srgbClr val="060606"/>
                    </a:solidFill>
                  </a:rPr>
                  <a:t>j</a:t>
                </a:r>
                <a:endParaRPr lang="en-US" altLang="zh-CN" sz="2800" dirty="0">
                  <a:solidFill>
                    <a:srgbClr val="060606"/>
                  </a:solidFill>
                </a:endParaRPr>
              </a:p>
            </p:txBody>
          </p:sp>
          <p:grpSp>
            <p:nvGrpSpPr>
              <p:cNvPr id="35" name="组合 31"/>
              <p:cNvGrpSpPr/>
              <p:nvPr/>
            </p:nvGrpSpPr>
            <p:grpSpPr>
              <a:xfrm>
                <a:off x="8963314" y="548680"/>
                <a:ext cx="568958" cy="515806"/>
                <a:chOff x="6299018" y="476672"/>
                <a:chExt cx="568958" cy="515806"/>
              </a:xfrm>
            </p:grpSpPr>
            <p:sp>
              <p:nvSpPr>
                <p:cNvPr id="36" name="矩形 35"/>
                <p:cNvSpPr/>
                <p:nvPr/>
              </p:nvSpPr>
              <p:spPr>
                <a:xfrm>
                  <a:off x="6300192" y="765526"/>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37" name="矩形 36"/>
                <p:cNvSpPr/>
                <p:nvPr/>
              </p:nvSpPr>
              <p:spPr>
                <a:xfrm>
                  <a:off x="6353738" y="476672"/>
                  <a:ext cx="234883" cy="226952"/>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38" name="矩形 37"/>
                <p:cNvSpPr/>
                <p:nvPr/>
              </p:nvSpPr>
              <p:spPr>
                <a:xfrm>
                  <a:off x="6299018" y="621099"/>
                  <a:ext cx="351378"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grpSp>
        <p:grpSp>
          <p:nvGrpSpPr>
            <p:cNvPr id="23" name="组合 21"/>
            <p:cNvGrpSpPr/>
            <p:nvPr/>
          </p:nvGrpSpPr>
          <p:grpSpPr>
            <a:xfrm>
              <a:off x="3629391" y="3638190"/>
              <a:ext cx="5012115" cy="1158229"/>
              <a:chOff x="3069734" y="4110311"/>
              <a:chExt cx="5012115" cy="1158229"/>
            </a:xfrm>
          </p:grpSpPr>
          <p:grpSp>
            <p:nvGrpSpPr>
              <p:cNvPr id="24" name="组合 15"/>
              <p:cNvGrpSpPr/>
              <p:nvPr/>
            </p:nvGrpSpPr>
            <p:grpSpPr>
              <a:xfrm>
                <a:off x="3069734" y="4340252"/>
                <a:ext cx="5012115" cy="928288"/>
                <a:chOff x="3190579" y="3222694"/>
                <a:chExt cx="4257603" cy="620624"/>
              </a:xfrm>
            </p:grpSpPr>
            <p:grpSp>
              <p:nvGrpSpPr>
                <p:cNvPr id="29" name="组合 12"/>
                <p:cNvGrpSpPr/>
                <p:nvPr/>
              </p:nvGrpSpPr>
              <p:grpSpPr>
                <a:xfrm>
                  <a:off x="3190579" y="3383714"/>
                  <a:ext cx="542103" cy="343977"/>
                  <a:chOff x="1678411" y="3803609"/>
                  <a:chExt cx="542103" cy="235223"/>
                </a:xfrm>
              </p:grpSpPr>
              <p:sp>
                <p:nvSpPr>
                  <p:cNvPr id="32" name="矩形 31"/>
                  <p:cNvSpPr/>
                  <p:nvPr/>
                </p:nvSpPr>
                <p:spPr>
                  <a:xfrm>
                    <a:off x="1678411" y="3820976"/>
                    <a:ext cx="489345" cy="161104"/>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err="1">
                        <a:solidFill>
                          <a:srgbClr val="060606"/>
                        </a:solidFill>
                      </a:rPr>
                      <a:t>s.t.</a:t>
                    </a:r>
                    <a:endParaRPr lang="en-US" altLang="zh-CN" sz="2400" dirty="0">
                      <a:solidFill>
                        <a:srgbClr val="060606"/>
                      </a:solidFill>
                    </a:endParaRPr>
                  </a:p>
                </p:txBody>
              </p:sp>
              <p:sp>
                <p:nvSpPr>
                  <p:cNvPr id="33" name="左大括号 32"/>
                  <p:cNvSpPr/>
                  <p:nvPr/>
                </p:nvSpPr>
                <p:spPr bwMode="auto">
                  <a:xfrm>
                    <a:off x="2037010" y="3803609"/>
                    <a:ext cx="183504" cy="235223"/>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sp>
              <p:nvSpPr>
                <p:cNvPr id="30" name="矩形 29"/>
                <p:cNvSpPr/>
                <p:nvPr/>
              </p:nvSpPr>
              <p:spPr>
                <a:xfrm>
                  <a:off x="4013821" y="3222694"/>
                  <a:ext cx="2980366" cy="257212"/>
                </a:xfrm>
                <a:prstGeom prst="rect">
                  <a:avLst/>
                </a:prstGeom>
              </p:spPr>
              <p:txBody>
                <a:bodyPr wrap="square">
                  <a:spAutoFit/>
                </a:bodyPr>
                <a:lstStyle/>
                <a:p>
                  <a:r>
                    <a:rPr lang="en-US" altLang="zh-CN" sz="2800" dirty="0">
                      <a:solidFill>
                        <a:srgbClr val="060606"/>
                      </a:solidFill>
                    </a:rPr>
                    <a:t>a</a:t>
                  </a:r>
                  <a:r>
                    <a:rPr lang="en-US" altLang="zh-CN" sz="2800" baseline="-25000" dirty="0">
                      <a:solidFill>
                        <a:srgbClr val="060606"/>
                      </a:solidFill>
                    </a:rPr>
                    <a:t>ij</a:t>
                  </a:r>
                  <a:r>
                    <a:rPr lang="en-US" altLang="zh-CN" sz="2800" dirty="0">
                      <a:solidFill>
                        <a:srgbClr val="060606"/>
                      </a:solidFill>
                    </a:rPr>
                    <a:t>x</a:t>
                  </a:r>
                  <a:r>
                    <a:rPr lang="en-US" altLang="zh-CN" sz="2800" baseline="-25000" dirty="0">
                      <a:solidFill>
                        <a:srgbClr val="060606"/>
                      </a:solidFill>
                    </a:rPr>
                    <a:t>j</a:t>
                  </a:r>
                  <a:r>
                    <a:rPr lang="en-US" altLang="zh-CN" sz="2800" dirty="0">
                      <a:solidFill>
                        <a:srgbClr val="060606"/>
                      </a:solidFill>
                    </a:rPr>
                    <a:t> </a:t>
                  </a:r>
                  <a:r>
                    <a:rPr lang="en-US" altLang="zh-CN" sz="2800" dirty="0">
                      <a:solidFill>
                        <a:srgbClr val="FF0000"/>
                      </a:solidFill>
                    </a:rPr>
                    <a:t>≤</a:t>
                  </a:r>
                  <a:r>
                    <a:rPr lang="en-US" altLang="zh-CN" sz="2800" dirty="0">
                      <a:solidFill>
                        <a:srgbClr val="060606"/>
                      </a:solidFill>
                    </a:rPr>
                    <a:t> b</a:t>
                  </a:r>
                  <a:r>
                    <a:rPr lang="en-US" altLang="zh-CN" sz="2800" baseline="-25000" dirty="0">
                      <a:solidFill>
                        <a:srgbClr val="060606"/>
                      </a:solidFill>
                    </a:rPr>
                    <a:t>i</a:t>
                  </a:r>
                  <a:r>
                    <a:rPr lang="en-US" altLang="zh-CN" sz="2800" dirty="0">
                      <a:solidFill>
                        <a:srgbClr val="060606"/>
                      </a:solidFill>
                    </a:rPr>
                    <a:t>     (i = 1,2,…,m)</a:t>
                  </a:r>
                  <a:endParaRPr lang="zh-CN" altLang="en-US" sz="2800" dirty="0"/>
                </a:p>
              </p:txBody>
            </p:sp>
            <p:sp>
              <p:nvSpPr>
                <p:cNvPr id="31" name="矩形 30"/>
                <p:cNvSpPr/>
                <p:nvPr/>
              </p:nvSpPr>
              <p:spPr>
                <a:xfrm>
                  <a:off x="3793849" y="3586106"/>
                  <a:ext cx="3654333" cy="257212"/>
                </a:xfrm>
                <a:prstGeom prst="rect">
                  <a:avLst/>
                </a:prstGeom>
              </p:spPr>
              <p:txBody>
                <a:bodyPr wrap="square">
                  <a:spAutoFit/>
                </a:bodyPr>
                <a:lstStyle/>
                <a:p>
                  <a:r>
                    <a:rPr lang="en-US" altLang="zh-CN" sz="2800" dirty="0">
                      <a:solidFill>
                        <a:srgbClr val="060606"/>
                      </a:solidFill>
                    </a:rPr>
                    <a:t>x</a:t>
                  </a:r>
                  <a:r>
                    <a:rPr lang="en-US" altLang="zh-CN" sz="2800" baseline="-25000" dirty="0">
                      <a:solidFill>
                        <a:srgbClr val="060606"/>
                      </a:solidFill>
                    </a:rPr>
                    <a:t>j</a:t>
                  </a:r>
                  <a:r>
                    <a:rPr lang="en-US" altLang="zh-CN" sz="2800" dirty="0">
                      <a:solidFill>
                        <a:srgbClr val="060606"/>
                      </a:solidFill>
                    </a:rPr>
                    <a:t>  </a:t>
                  </a:r>
                  <a:r>
                    <a:rPr lang="zh-CN" altLang="en-US" sz="2800" dirty="0">
                      <a:solidFill>
                        <a:srgbClr val="060606"/>
                      </a:solidFill>
                    </a:rPr>
                    <a:t>≥ </a:t>
                  </a:r>
                  <a:r>
                    <a:rPr lang="en-US" altLang="zh-CN" sz="2800" dirty="0">
                      <a:solidFill>
                        <a:srgbClr val="060606"/>
                      </a:solidFill>
                    </a:rPr>
                    <a:t>0       (j = 1,2,…,n</a:t>
                  </a:r>
                  <a:r>
                    <a:rPr lang="zh-CN" altLang="en-US" sz="2800" dirty="0">
                      <a:solidFill>
                        <a:srgbClr val="060606"/>
                      </a:solidFill>
                    </a:rPr>
                    <a:t>，非负约束</a:t>
                  </a:r>
                  <a:r>
                    <a:rPr lang="en-US" altLang="zh-CN" sz="2800" dirty="0">
                      <a:solidFill>
                        <a:srgbClr val="060606"/>
                      </a:solidFill>
                    </a:rPr>
                    <a:t>)</a:t>
                  </a:r>
                  <a:endParaRPr lang="zh-CN" altLang="en-US" sz="2800" dirty="0">
                    <a:solidFill>
                      <a:srgbClr val="060606"/>
                    </a:solidFill>
                  </a:endParaRPr>
                </a:p>
              </p:txBody>
            </p:sp>
          </p:grpSp>
          <p:grpSp>
            <p:nvGrpSpPr>
              <p:cNvPr id="25" name="组合 32"/>
              <p:cNvGrpSpPr/>
              <p:nvPr/>
            </p:nvGrpSpPr>
            <p:grpSpPr>
              <a:xfrm>
                <a:off x="3716984" y="4110311"/>
                <a:ext cx="710990" cy="882284"/>
                <a:chOff x="6260682" y="476672"/>
                <a:chExt cx="603960" cy="589867"/>
              </a:xfrm>
            </p:grpSpPr>
            <p:sp>
              <p:nvSpPr>
                <p:cNvPr id="26" name="矩形 25"/>
                <p:cNvSpPr/>
                <p:nvPr/>
              </p:nvSpPr>
              <p:spPr>
                <a:xfrm>
                  <a:off x="6296858" y="839587"/>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27" name="矩形 26"/>
                <p:cNvSpPr/>
                <p:nvPr/>
              </p:nvSpPr>
              <p:spPr>
                <a:xfrm>
                  <a:off x="6314129" y="476672"/>
                  <a:ext cx="234883" cy="226952"/>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28" name="矩形 27"/>
                <p:cNvSpPr/>
                <p:nvPr/>
              </p:nvSpPr>
              <p:spPr>
                <a:xfrm>
                  <a:off x="6260682"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grpSp>
      </p:grpSp>
      <p:sp>
        <p:nvSpPr>
          <p:cNvPr id="39" name="矩形 38"/>
          <p:cNvSpPr/>
          <p:nvPr/>
        </p:nvSpPr>
        <p:spPr>
          <a:xfrm>
            <a:off x="6240015" y="3207644"/>
            <a:ext cx="5390009" cy="830997"/>
          </a:xfrm>
          <a:prstGeom prst="rect">
            <a:avLst/>
          </a:prstGeom>
        </p:spPr>
        <p:txBody>
          <a:bodyPr wrap="square">
            <a:spAutoFit/>
          </a:bodyPr>
          <a:lstStyle/>
          <a:p>
            <a:pPr lvl="0"/>
            <a:r>
              <a:rPr lang="zh-CN" altLang="en-US" sz="2400" dirty="0">
                <a:solidFill>
                  <a:srgbClr val="0000AC"/>
                </a:solidFill>
              </a:rPr>
              <a:t>为第</a:t>
            </a:r>
            <a:r>
              <a:rPr lang="en-US" altLang="zh-CN" sz="2400" dirty="0">
                <a:solidFill>
                  <a:srgbClr val="0000AC"/>
                </a:solidFill>
              </a:rPr>
              <a:t>i</a:t>
            </a:r>
            <a:r>
              <a:rPr lang="zh-CN" altLang="en-US" sz="2400" dirty="0">
                <a:solidFill>
                  <a:srgbClr val="0000AC"/>
                </a:solidFill>
              </a:rPr>
              <a:t>个约束条件加上松弛变量</a:t>
            </a:r>
            <a:r>
              <a:rPr lang="en-US" altLang="zh-CN" sz="2400" dirty="0" err="1">
                <a:solidFill>
                  <a:srgbClr val="0000AC"/>
                </a:solidFill>
              </a:rPr>
              <a:t>x</a:t>
            </a:r>
            <a:r>
              <a:rPr lang="en-US" altLang="zh-CN" sz="2400" baseline="-25000" dirty="0" err="1">
                <a:solidFill>
                  <a:srgbClr val="0000AC"/>
                </a:solidFill>
              </a:rPr>
              <a:t>si</a:t>
            </a:r>
            <a:r>
              <a:rPr lang="en-US" altLang="zh-CN" sz="2400" dirty="0">
                <a:solidFill>
                  <a:srgbClr val="0000AC"/>
                </a:solidFill>
              </a:rPr>
              <a:t>(</a:t>
            </a:r>
            <a:r>
              <a:rPr lang="en-US" altLang="zh-CN" sz="2400" dirty="0" err="1">
                <a:solidFill>
                  <a:srgbClr val="0000AC"/>
                </a:solidFill>
              </a:rPr>
              <a:t>i</a:t>
            </a:r>
            <a:r>
              <a:rPr lang="en-US" altLang="zh-CN" sz="2400" dirty="0">
                <a:solidFill>
                  <a:srgbClr val="0000AC"/>
                </a:solidFill>
              </a:rPr>
              <a:t> = 1,2,…,m)</a:t>
            </a:r>
            <a:r>
              <a:rPr lang="zh-CN" altLang="en-US" sz="2400" dirty="0">
                <a:solidFill>
                  <a:srgbClr val="0000AC"/>
                </a:solidFill>
              </a:rPr>
              <a:t>，化为标准形</a:t>
            </a:r>
            <a:r>
              <a:rPr lang="en-US" altLang="zh-CN" sz="2400" dirty="0">
                <a:solidFill>
                  <a:srgbClr val="0000AC"/>
                </a:solidFill>
              </a:rPr>
              <a:t>LPQ</a:t>
            </a:r>
            <a:endParaRPr lang="zh-CN" altLang="en-US" sz="2400" dirty="0">
              <a:solidFill>
                <a:srgbClr val="0000AC"/>
              </a:solidFill>
            </a:endParaRPr>
          </a:p>
        </p:txBody>
      </p:sp>
      <p:grpSp>
        <p:nvGrpSpPr>
          <p:cNvPr id="40" name="组合 22"/>
          <p:cNvGrpSpPr/>
          <p:nvPr/>
        </p:nvGrpSpPr>
        <p:grpSpPr>
          <a:xfrm>
            <a:off x="4047453" y="4101339"/>
            <a:ext cx="7801647" cy="2682300"/>
            <a:chOff x="3562575" y="3140968"/>
            <a:chExt cx="5078931" cy="1972279"/>
          </a:xfrm>
        </p:grpSpPr>
        <p:grpSp>
          <p:nvGrpSpPr>
            <p:cNvPr id="41" name="组合 37"/>
            <p:cNvGrpSpPr/>
            <p:nvPr/>
          </p:nvGrpSpPr>
          <p:grpSpPr>
            <a:xfrm>
              <a:off x="3562575" y="3140968"/>
              <a:ext cx="3731274" cy="777129"/>
              <a:chOff x="7641672" y="548680"/>
              <a:chExt cx="3169576" cy="519564"/>
            </a:xfrm>
          </p:grpSpPr>
          <p:sp>
            <p:nvSpPr>
              <p:cNvPr id="53" name="矩形 52"/>
              <p:cNvSpPr/>
              <p:nvPr/>
            </p:nvSpPr>
            <p:spPr>
              <a:xfrm>
                <a:off x="7641672" y="669094"/>
                <a:ext cx="3169576" cy="267299"/>
              </a:xfrm>
              <a:prstGeom prst="rect">
                <a:avLst/>
              </a:prstGeom>
            </p:spPr>
            <p:txBody>
              <a:bodyPr wrap="square">
                <a:spAutoFit/>
              </a:bodyPr>
              <a:lstStyle/>
              <a:p>
                <a:pPr marL="342900" indent="-342900" algn="ctr" fontAlgn="base">
                  <a:lnSpc>
                    <a:spcPct val="110000"/>
                  </a:lnSpc>
                  <a:spcAft>
                    <a:spcPct val="0"/>
                  </a:spcAft>
                </a:pPr>
                <a:r>
                  <a:rPr lang="en-US" altLang="zh-CN" sz="2800" dirty="0">
                    <a:solidFill>
                      <a:srgbClr val="FF0000"/>
                    </a:solidFill>
                  </a:rPr>
                  <a:t>max </a:t>
                </a:r>
                <a:r>
                  <a:rPr lang="en-US" altLang="zh-CN" sz="2800" dirty="0">
                    <a:solidFill>
                      <a:srgbClr val="060606"/>
                    </a:solidFill>
                  </a:rPr>
                  <a:t>z =     </a:t>
                </a:r>
                <a:r>
                  <a:rPr lang="en-US" altLang="zh-CN" sz="2800" dirty="0" err="1">
                    <a:solidFill>
                      <a:srgbClr val="060606"/>
                    </a:solidFill>
                  </a:rPr>
                  <a:t>c</a:t>
                </a:r>
                <a:r>
                  <a:rPr lang="en-US" altLang="zh-CN" sz="2800" baseline="-25000" dirty="0" err="1">
                    <a:solidFill>
                      <a:srgbClr val="060606"/>
                    </a:solidFill>
                  </a:rPr>
                  <a:t>j</a:t>
                </a:r>
                <a:r>
                  <a:rPr lang="en-US" altLang="zh-CN" sz="2800" dirty="0" err="1">
                    <a:solidFill>
                      <a:srgbClr val="060606"/>
                    </a:solidFill>
                  </a:rPr>
                  <a:t>x</a:t>
                </a:r>
                <a:r>
                  <a:rPr lang="en-US" altLang="zh-CN" sz="2800" baseline="-25000" dirty="0" err="1">
                    <a:solidFill>
                      <a:srgbClr val="060606"/>
                    </a:solidFill>
                  </a:rPr>
                  <a:t>j</a:t>
                </a:r>
                <a:r>
                  <a:rPr lang="en-US" altLang="zh-CN" sz="2800" baseline="-25000" dirty="0">
                    <a:solidFill>
                      <a:srgbClr val="060606"/>
                    </a:solidFill>
                  </a:rPr>
                  <a:t> </a:t>
                </a:r>
                <a:r>
                  <a:rPr lang="en-US" altLang="zh-CN" sz="2800" dirty="0">
                    <a:solidFill>
                      <a:srgbClr val="060606"/>
                    </a:solidFill>
                  </a:rPr>
                  <a:t>+   0</a:t>
                </a:r>
                <a:r>
                  <a:rPr lang="en-US" altLang="zh-CN" sz="2800" dirty="0">
                    <a:solidFill>
                      <a:srgbClr val="FF0000"/>
                    </a:solidFill>
                  </a:rPr>
                  <a:t> </a:t>
                </a:r>
                <a:r>
                  <a:rPr lang="en-US" altLang="zh-CN" sz="2800" dirty="0" err="1">
                    <a:solidFill>
                      <a:srgbClr val="FF0000"/>
                    </a:solidFill>
                  </a:rPr>
                  <a:t>x</a:t>
                </a:r>
                <a:r>
                  <a:rPr lang="en-US" altLang="zh-CN" sz="2800" baseline="-25000" dirty="0" err="1">
                    <a:solidFill>
                      <a:srgbClr val="FF0000"/>
                    </a:solidFill>
                  </a:rPr>
                  <a:t>si</a:t>
                </a:r>
                <a:r>
                  <a:rPr lang="en-US" altLang="zh-CN" sz="2800" dirty="0">
                    <a:solidFill>
                      <a:srgbClr val="FF0000"/>
                    </a:solidFill>
                  </a:rPr>
                  <a:t> </a:t>
                </a:r>
                <a:r>
                  <a:rPr lang="en-US" altLang="zh-CN" sz="2800" dirty="0">
                    <a:solidFill>
                      <a:srgbClr val="060606"/>
                    </a:solidFill>
                  </a:rPr>
                  <a:t>    </a:t>
                </a:r>
                <a:endParaRPr lang="en-US" altLang="zh-CN" sz="2800" dirty="0">
                  <a:solidFill>
                    <a:srgbClr val="060606"/>
                  </a:solidFill>
                </a:endParaRPr>
              </a:p>
            </p:txBody>
          </p:sp>
          <p:grpSp>
            <p:nvGrpSpPr>
              <p:cNvPr id="54" name="组合 31"/>
              <p:cNvGrpSpPr/>
              <p:nvPr/>
            </p:nvGrpSpPr>
            <p:grpSpPr>
              <a:xfrm>
                <a:off x="8964488" y="548680"/>
                <a:ext cx="1222058" cy="519564"/>
                <a:chOff x="6300192" y="476672"/>
                <a:chExt cx="1222058" cy="519564"/>
              </a:xfrm>
            </p:grpSpPr>
            <p:sp>
              <p:nvSpPr>
                <p:cNvPr id="55" name="矩形 54"/>
                <p:cNvSpPr/>
                <p:nvPr/>
              </p:nvSpPr>
              <p:spPr>
                <a:xfrm>
                  <a:off x="6300192" y="765526"/>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56" name="矩形 55"/>
                <p:cNvSpPr/>
                <p:nvPr/>
              </p:nvSpPr>
              <p:spPr>
                <a:xfrm>
                  <a:off x="6353738" y="476672"/>
                  <a:ext cx="234883" cy="226952"/>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57" name="矩形 56"/>
                <p:cNvSpPr/>
                <p:nvPr/>
              </p:nvSpPr>
              <p:spPr>
                <a:xfrm>
                  <a:off x="6314818" y="621099"/>
                  <a:ext cx="351378" cy="226952"/>
                </a:xfrm>
                <a:prstGeom prst="rect">
                  <a:avLst/>
                </a:prstGeom>
              </p:spPr>
              <p:txBody>
                <a:bodyPr wrap="square">
                  <a:spAutoFit/>
                </a:bodyPr>
                <a:lstStyle/>
                <a:p>
                  <a:r>
                    <a:rPr lang="en-US" altLang="zh-CN" sz="2400" dirty="0">
                      <a:solidFill>
                        <a:srgbClr val="060606"/>
                      </a:solidFill>
                    </a:rPr>
                    <a:t>∑ </a:t>
                  </a:r>
                  <a:endParaRPr lang="zh-CN" altLang="en-US" sz="2400" dirty="0"/>
                </a:p>
              </p:txBody>
            </p:sp>
            <p:sp>
              <p:nvSpPr>
                <p:cNvPr id="59" name="矩形 58"/>
                <p:cNvSpPr/>
                <p:nvPr/>
              </p:nvSpPr>
              <p:spPr>
                <a:xfrm>
                  <a:off x="6934632" y="613129"/>
                  <a:ext cx="351378" cy="226952"/>
                </a:xfrm>
                <a:prstGeom prst="rect">
                  <a:avLst/>
                </a:prstGeom>
              </p:spPr>
              <p:txBody>
                <a:bodyPr wrap="square">
                  <a:spAutoFit/>
                </a:bodyPr>
                <a:lstStyle/>
                <a:p>
                  <a:r>
                    <a:rPr lang="en-US" altLang="zh-CN" sz="2400" dirty="0">
                      <a:solidFill>
                        <a:srgbClr val="060606"/>
                      </a:solidFill>
                    </a:rPr>
                    <a:t>∑ </a:t>
                  </a:r>
                  <a:endParaRPr lang="zh-CN" altLang="en-US" sz="2400" dirty="0"/>
                </a:p>
              </p:txBody>
            </p:sp>
            <p:sp>
              <p:nvSpPr>
                <p:cNvPr id="60" name="矩形 59"/>
                <p:cNvSpPr/>
                <p:nvPr/>
              </p:nvSpPr>
              <p:spPr>
                <a:xfrm>
                  <a:off x="6906770" y="769284"/>
                  <a:ext cx="567784" cy="226952"/>
                </a:xfrm>
                <a:prstGeom prst="rect">
                  <a:avLst/>
                </a:prstGeom>
              </p:spPr>
              <p:txBody>
                <a:bodyPr wrap="square">
                  <a:spAutoFit/>
                </a:bodyPr>
                <a:lstStyle/>
                <a:p>
                  <a:r>
                    <a:rPr lang="en-US" altLang="zh-CN" sz="2400" dirty="0">
                      <a:solidFill>
                        <a:srgbClr val="060606"/>
                      </a:solidFill>
                    </a:rPr>
                    <a:t>i=1</a:t>
                  </a:r>
                  <a:endParaRPr lang="zh-CN" altLang="en-US" sz="2400" dirty="0"/>
                </a:p>
              </p:txBody>
            </p:sp>
            <p:sp>
              <p:nvSpPr>
                <p:cNvPr id="61" name="矩形 60"/>
                <p:cNvSpPr/>
                <p:nvPr/>
              </p:nvSpPr>
              <p:spPr>
                <a:xfrm>
                  <a:off x="6954466" y="486094"/>
                  <a:ext cx="567784" cy="226952"/>
                </a:xfrm>
                <a:prstGeom prst="rect">
                  <a:avLst/>
                </a:prstGeom>
              </p:spPr>
              <p:txBody>
                <a:bodyPr wrap="square">
                  <a:spAutoFit/>
                </a:bodyPr>
                <a:lstStyle/>
                <a:p>
                  <a:r>
                    <a:rPr lang="en-US" altLang="zh-CN" sz="2400" dirty="0"/>
                    <a:t>m</a:t>
                  </a:r>
                  <a:endParaRPr lang="zh-CN" altLang="en-US" sz="2400" dirty="0"/>
                </a:p>
              </p:txBody>
            </p:sp>
          </p:grpSp>
        </p:grpSp>
        <p:grpSp>
          <p:nvGrpSpPr>
            <p:cNvPr id="42" name="组合 21"/>
            <p:cNvGrpSpPr/>
            <p:nvPr/>
          </p:nvGrpSpPr>
          <p:grpSpPr>
            <a:xfrm>
              <a:off x="3629391" y="3638190"/>
              <a:ext cx="5012115" cy="1475057"/>
              <a:chOff x="3069734" y="4110311"/>
              <a:chExt cx="5012115" cy="1475057"/>
            </a:xfrm>
          </p:grpSpPr>
          <p:grpSp>
            <p:nvGrpSpPr>
              <p:cNvPr id="43" name="组合 15"/>
              <p:cNvGrpSpPr/>
              <p:nvPr/>
            </p:nvGrpSpPr>
            <p:grpSpPr>
              <a:xfrm>
                <a:off x="3069734" y="4340251"/>
                <a:ext cx="5012115" cy="1245117"/>
                <a:chOff x="3190579" y="3222694"/>
                <a:chExt cx="4257603" cy="832446"/>
              </a:xfrm>
            </p:grpSpPr>
            <p:grpSp>
              <p:nvGrpSpPr>
                <p:cNvPr id="48" name="组合 12"/>
                <p:cNvGrpSpPr/>
                <p:nvPr/>
              </p:nvGrpSpPr>
              <p:grpSpPr>
                <a:xfrm>
                  <a:off x="3190579" y="3383714"/>
                  <a:ext cx="542103" cy="343977"/>
                  <a:chOff x="1678411" y="3803609"/>
                  <a:chExt cx="542103" cy="235223"/>
                </a:xfrm>
              </p:grpSpPr>
              <p:sp>
                <p:nvSpPr>
                  <p:cNvPr id="51" name="矩形 50"/>
                  <p:cNvSpPr/>
                  <p:nvPr/>
                </p:nvSpPr>
                <p:spPr>
                  <a:xfrm>
                    <a:off x="1678411" y="3820976"/>
                    <a:ext cx="489345" cy="161104"/>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52" name="左大括号 51"/>
                  <p:cNvSpPr/>
                  <p:nvPr/>
                </p:nvSpPr>
                <p:spPr bwMode="auto">
                  <a:xfrm>
                    <a:off x="2037010" y="3803609"/>
                    <a:ext cx="183504" cy="235223"/>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sp>
              <p:nvSpPr>
                <p:cNvPr id="49" name="矩形 48"/>
                <p:cNvSpPr/>
                <p:nvPr/>
              </p:nvSpPr>
              <p:spPr>
                <a:xfrm>
                  <a:off x="3944414" y="3222694"/>
                  <a:ext cx="2980366" cy="257212"/>
                </a:xfrm>
                <a:prstGeom prst="rect">
                  <a:avLst/>
                </a:prstGeom>
              </p:spPr>
              <p:txBody>
                <a:bodyPr wrap="square">
                  <a:spAutoFit/>
                </a:bodyPr>
                <a:lstStyle/>
                <a:p>
                  <a:r>
                    <a:rPr lang="en-US" altLang="zh-CN" sz="2800" dirty="0">
                      <a:solidFill>
                        <a:srgbClr val="060606"/>
                      </a:solidFill>
                    </a:rPr>
                    <a:t>a</a:t>
                  </a:r>
                  <a:r>
                    <a:rPr lang="en-US" altLang="zh-CN" sz="2800" baseline="-25000" dirty="0">
                      <a:solidFill>
                        <a:srgbClr val="060606"/>
                      </a:solidFill>
                    </a:rPr>
                    <a:t>ij</a:t>
                  </a:r>
                  <a:r>
                    <a:rPr lang="en-US" altLang="zh-CN" sz="2800" dirty="0">
                      <a:solidFill>
                        <a:srgbClr val="060606"/>
                      </a:solidFill>
                    </a:rPr>
                    <a:t>x</a:t>
                  </a:r>
                  <a:r>
                    <a:rPr lang="en-US" altLang="zh-CN" sz="2800" baseline="-25000" dirty="0">
                      <a:solidFill>
                        <a:srgbClr val="060606"/>
                      </a:solidFill>
                    </a:rPr>
                    <a:t>j</a:t>
                  </a:r>
                  <a:r>
                    <a:rPr lang="en-US" altLang="zh-CN" sz="2800" dirty="0">
                      <a:solidFill>
                        <a:srgbClr val="060606"/>
                      </a:solidFill>
                    </a:rPr>
                    <a:t> </a:t>
                  </a:r>
                  <a:r>
                    <a:rPr lang="en-US" altLang="zh-CN" sz="2800" dirty="0">
                      <a:solidFill>
                        <a:srgbClr val="FF0000"/>
                      </a:solidFill>
                    </a:rPr>
                    <a:t>+ </a:t>
                  </a:r>
                  <a:r>
                    <a:rPr lang="en-US" altLang="zh-CN" sz="2800" dirty="0" err="1">
                      <a:solidFill>
                        <a:srgbClr val="FF0000"/>
                      </a:solidFill>
                    </a:rPr>
                    <a:t>x</a:t>
                  </a:r>
                  <a:r>
                    <a:rPr lang="en-US" altLang="zh-CN" sz="2800" baseline="-25000" dirty="0" err="1">
                      <a:solidFill>
                        <a:srgbClr val="FF0000"/>
                      </a:solidFill>
                    </a:rPr>
                    <a:t>si</a:t>
                  </a:r>
                  <a:r>
                    <a:rPr lang="en-US" altLang="zh-CN" sz="2800" dirty="0">
                      <a:solidFill>
                        <a:srgbClr val="FF0000"/>
                      </a:solidFill>
                    </a:rPr>
                    <a:t> = </a:t>
                  </a:r>
                  <a:r>
                    <a:rPr lang="en-US" altLang="zh-CN" sz="2800" dirty="0">
                      <a:solidFill>
                        <a:srgbClr val="060606"/>
                      </a:solidFill>
                    </a:rPr>
                    <a:t> b</a:t>
                  </a:r>
                  <a:r>
                    <a:rPr lang="en-US" altLang="zh-CN" sz="2800" baseline="-25000" dirty="0">
                      <a:solidFill>
                        <a:srgbClr val="060606"/>
                      </a:solidFill>
                    </a:rPr>
                    <a:t>i</a:t>
                  </a:r>
                  <a:r>
                    <a:rPr lang="en-US" altLang="zh-CN" sz="2800" dirty="0">
                      <a:solidFill>
                        <a:srgbClr val="060606"/>
                      </a:solidFill>
                    </a:rPr>
                    <a:t>     (i = 1,2,…,m)</a:t>
                  </a:r>
                  <a:endParaRPr lang="zh-CN" altLang="en-US" sz="2800" dirty="0"/>
                </a:p>
              </p:txBody>
            </p:sp>
            <p:sp>
              <p:nvSpPr>
                <p:cNvPr id="50" name="矩形 49"/>
                <p:cNvSpPr/>
                <p:nvPr/>
              </p:nvSpPr>
              <p:spPr>
                <a:xfrm>
                  <a:off x="3793849" y="3586106"/>
                  <a:ext cx="3654333" cy="469034"/>
                </a:xfrm>
                <a:prstGeom prst="rect">
                  <a:avLst/>
                </a:prstGeom>
              </p:spPr>
              <p:txBody>
                <a:bodyPr wrap="square">
                  <a:spAutoFit/>
                </a:bodyPr>
                <a:lstStyle/>
                <a:p>
                  <a:r>
                    <a:rPr lang="en-US" altLang="zh-CN" sz="2800" dirty="0">
                      <a:solidFill>
                        <a:srgbClr val="060606"/>
                      </a:solidFill>
                    </a:rPr>
                    <a:t>x</a:t>
                  </a:r>
                  <a:r>
                    <a:rPr lang="en-US" altLang="zh-CN" sz="2800" baseline="-25000" dirty="0">
                      <a:solidFill>
                        <a:srgbClr val="060606"/>
                      </a:solidFill>
                    </a:rPr>
                    <a:t>j</a:t>
                  </a:r>
                  <a:r>
                    <a:rPr lang="en-US" altLang="zh-CN" sz="2800" dirty="0">
                      <a:solidFill>
                        <a:srgbClr val="060606"/>
                      </a:solidFill>
                    </a:rPr>
                    <a:t>  </a:t>
                  </a:r>
                  <a:r>
                    <a:rPr lang="zh-CN" altLang="en-US" sz="2800" dirty="0">
                      <a:solidFill>
                        <a:srgbClr val="060606"/>
                      </a:solidFill>
                    </a:rPr>
                    <a:t>≥ </a:t>
                  </a:r>
                  <a:r>
                    <a:rPr lang="en-US" altLang="zh-CN" sz="2800" dirty="0">
                      <a:solidFill>
                        <a:srgbClr val="060606"/>
                      </a:solidFill>
                    </a:rPr>
                    <a:t>0             (j = 1,2,…,n</a:t>
                  </a:r>
                  <a:r>
                    <a:rPr lang="zh-CN" altLang="en-US" sz="2800" dirty="0">
                      <a:solidFill>
                        <a:srgbClr val="060606"/>
                      </a:solidFill>
                    </a:rPr>
                    <a:t>，非负约束</a:t>
                  </a:r>
                  <a:r>
                    <a:rPr lang="en-US" altLang="zh-CN" sz="2800" dirty="0">
                      <a:solidFill>
                        <a:srgbClr val="060606"/>
                      </a:solidFill>
                    </a:rPr>
                    <a:t>)</a:t>
                  </a:r>
                  <a:endParaRPr lang="zh-CN" altLang="en-US" sz="2800" dirty="0">
                    <a:solidFill>
                      <a:srgbClr val="060606"/>
                    </a:solidFill>
                  </a:endParaRPr>
                </a:p>
              </p:txBody>
            </p:sp>
          </p:grpSp>
          <p:grpSp>
            <p:nvGrpSpPr>
              <p:cNvPr id="44" name="组合 32"/>
              <p:cNvGrpSpPr/>
              <p:nvPr/>
            </p:nvGrpSpPr>
            <p:grpSpPr>
              <a:xfrm>
                <a:off x="3744904" y="4110311"/>
                <a:ext cx="683092" cy="882284"/>
                <a:chOff x="6284382" y="476672"/>
                <a:chExt cx="580260" cy="589867"/>
              </a:xfrm>
            </p:grpSpPr>
            <p:sp>
              <p:nvSpPr>
                <p:cNvPr id="45" name="矩形 44"/>
                <p:cNvSpPr/>
                <p:nvPr/>
              </p:nvSpPr>
              <p:spPr>
                <a:xfrm>
                  <a:off x="6296858" y="839587"/>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46" name="矩形 45"/>
                <p:cNvSpPr/>
                <p:nvPr/>
              </p:nvSpPr>
              <p:spPr>
                <a:xfrm>
                  <a:off x="6314129" y="476672"/>
                  <a:ext cx="234883" cy="226952"/>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47" name="矩形 46"/>
                <p:cNvSpPr/>
                <p:nvPr/>
              </p:nvSpPr>
              <p:spPr>
                <a:xfrm>
                  <a:off x="6284382"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grpSp>
      </p:grpSp>
      <p:sp>
        <p:nvSpPr>
          <p:cNvPr id="58" name="灯片编号占位符 57"/>
          <p:cNvSpPr>
            <a:spLocks noGrp="1"/>
          </p:cNvSpPr>
          <p:nvPr>
            <p:ph type="sldNum" sz="quarter" idx="12"/>
          </p:nvPr>
        </p:nvSpPr>
        <p:spPr>
          <a:xfrm>
            <a:off x="8400256" y="6409134"/>
            <a:ext cx="2133600" cy="476250"/>
          </a:xfrm>
        </p:spPr>
        <p:txBody>
          <a:bodyPr/>
          <a:lstStyle/>
          <a:p>
            <a:fld id="{0C913308-F349-4B6D-A68A-DD1791B4A57B}" type="slidenum">
              <a:rPr lang="zh-CN" altLang="en-US" smtClean="0"/>
            </a:fld>
            <a:endParaRPr lang="zh-CN" altLang="en-US" dirty="0"/>
          </a:p>
        </p:txBody>
      </p:sp>
      <p:sp>
        <p:nvSpPr>
          <p:cNvPr id="6" name="箭头: 下 5"/>
          <p:cNvSpPr/>
          <p:nvPr/>
        </p:nvSpPr>
        <p:spPr>
          <a:xfrm>
            <a:off x="5286375" y="3324225"/>
            <a:ext cx="665610" cy="77406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5318026" y="3414143"/>
            <a:ext cx="6480720" cy="2631197"/>
            <a:chOff x="3059832" y="4106689"/>
            <a:chExt cx="6480720" cy="2631197"/>
          </a:xfrm>
        </p:grpSpPr>
        <p:sp>
          <p:nvSpPr>
            <p:cNvPr id="4" name="矩形 3"/>
            <p:cNvSpPr/>
            <p:nvPr/>
          </p:nvSpPr>
          <p:spPr>
            <a:xfrm>
              <a:off x="3275856" y="4106689"/>
              <a:ext cx="4392488" cy="479234"/>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2400" dirty="0">
                  <a:solidFill>
                    <a:srgbClr val="060606"/>
                  </a:solidFill>
                </a:rPr>
                <a:t>max Z  = 3x</a:t>
              </a:r>
              <a:r>
                <a:rPr lang="en-US" altLang="zh-CN" sz="2400" baseline="-25000" dirty="0">
                  <a:solidFill>
                    <a:srgbClr val="060606"/>
                  </a:solidFill>
                </a:rPr>
                <a:t>1</a:t>
              </a:r>
              <a:r>
                <a:rPr lang="en-US" altLang="zh-CN" sz="2400" dirty="0">
                  <a:solidFill>
                    <a:srgbClr val="060606"/>
                  </a:solidFill>
                </a:rPr>
                <a:t>     +5x</a:t>
              </a:r>
              <a:r>
                <a:rPr lang="en-US" altLang="zh-CN" sz="2400" baseline="-25000" dirty="0">
                  <a:solidFill>
                    <a:srgbClr val="060606"/>
                  </a:solidFill>
                </a:rPr>
                <a:t>2</a:t>
              </a:r>
              <a:endParaRPr lang="en-US" altLang="zh-CN" sz="2400" dirty="0">
                <a:solidFill>
                  <a:srgbClr val="060606"/>
                </a:solidFill>
              </a:endParaRPr>
            </a:p>
          </p:txBody>
        </p:sp>
        <p:sp>
          <p:nvSpPr>
            <p:cNvPr id="5" name="矩形 4"/>
            <p:cNvSpPr/>
            <p:nvPr/>
          </p:nvSpPr>
          <p:spPr>
            <a:xfrm>
              <a:off x="3059832" y="5186809"/>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6" name="左大括号 5"/>
            <p:cNvSpPr/>
            <p:nvPr/>
          </p:nvSpPr>
          <p:spPr bwMode="auto">
            <a:xfrm>
              <a:off x="3635896" y="4682753"/>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7" name="矩形 6"/>
            <p:cNvSpPr/>
            <p:nvPr/>
          </p:nvSpPr>
          <p:spPr>
            <a:xfrm>
              <a:off x="4427984" y="4538737"/>
              <a:ext cx="4557658" cy="461665"/>
            </a:xfrm>
            <a:prstGeom prst="rect">
              <a:avLst/>
            </a:prstGeom>
          </p:spPr>
          <p:txBody>
            <a:bodyPr wrap="none">
              <a:spAutoFit/>
            </a:bodyPr>
            <a:lstStyle/>
            <a:p>
              <a:r>
                <a:rPr lang="en-US" altLang="zh-CN" sz="2400" dirty="0">
                  <a:solidFill>
                    <a:srgbClr val="060606"/>
                  </a:solidFill>
                </a:rPr>
                <a:t>  x</a:t>
              </a:r>
              <a:r>
                <a:rPr lang="en-US" altLang="zh-CN" sz="2400" baseline="-25000" dirty="0">
                  <a:solidFill>
                    <a:srgbClr val="060606"/>
                  </a:solidFill>
                </a:rPr>
                <a:t>1</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 4</a:t>
              </a:r>
              <a:endParaRPr lang="zh-CN" altLang="en-US" dirty="0"/>
            </a:p>
          </p:txBody>
        </p:sp>
        <p:sp>
          <p:nvSpPr>
            <p:cNvPr id="8" name="矩形 7"/>
            <p:cNvSpPr/>
            <p:nvPr/>
          </p:nvSpPr>
          <p:spPr>
            <a:xfrm>
              <a:off x="4499992" y="5402833"/>
              <a:ext cx="4469493" cy="461665"/>
            </a:xfrm>
            <a:prstGeom prst="rect">
              <a:avLst/>
            </a:prstGeom>
          </p:spPr>
          <p:txBody>
            <a:bodyPr wrap="none">
              <a:spAutoFit/>
            </a:bodyPr>
            <a:lstStyle/>
            <a:p>
              <a:r>
                <a:rPr lang="en-US" altLang="zh-CN" sz="2400" dirty="0">
                  <a:solidFill>
                    <a:srgbClr val="060606"/>
                  </a:solidFill>
                </a:rPr>
                <a:t>3x</a:t>
              </a:r>
              <a:r>
                <a:rPr lang="en-US" altLang="zh-CN" sz="2400" baseline="-25000" dirty="0">
                  <a:solidFill>
                    <a:srgbClr val="060606"/>
                  </a:solidFill>
                </a:rPr>
                <a:t>1     </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x</a:t>
              </a:r>
              <a:r>
                <a:rPr lang="en-US" altLang="zh-CN" sz="2400" baseline="-25000" dirty="0">
                  <a:solidFill>
                    <a:srgbClr val="060606"/>
                  </a:solidFill>
                </a:rPr>
                <a:t>5 </a:t>
              </a:r>
              <a:r>
                <a:rPr lang="en-US" altLang="zh-CN" sz="2400" dirty="0">
                  <a:solidFill>
                    <a:srgbClr val="060606"/>
                  </a:solidFill>
                </a:rPr>
                <a:t> = 18</a:t>
              </a:r>
              <a:endParaRPr lang="zh-CN" altLang="en-US" dirty="0"/>
            </a:p>
          </p:txBody>
        </p:sp>
        <p:sp>
          <p:nvSpPr>
            <p:cNvPr id="9" name="矩形 8"/>
            <p:cNvSpPr/>
            <p:nvPr/>
          </p:nvSpPr>
          <p:spPr>
            <a:xfrm>
              <a:off x="4572000" y="5906889"/>
              <a:ext cx="4968552" cy="830997"/>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10" name="矩形 9"/>
            <p:cNvSpPr/>
            <p:nvPr/>
          </p:nvSpPr>
          <p:spPr>
            <a:xfrm>
              <a:off x="4355976" y="4970785"/>
              <a:ext cx="4626588" cy="461665"/>
            </a:xfrm>
            <a:prstGeom prst="rect">
              <a:avLst/>
            </a:prstGeom>
          </p:spPr>
          <p:txBody>
            <a:bodyPr wrap="none">
              <a:spAutoFit/>
            </a:bodyPr>
            <a:lstStyle/>
            <a:p>
              <a:r>
                <a:rPr lang="en-US" altLang="zh-CN" sz="2400" dirty="0">
                  <a:solidFill>
                    <a:srgbClr val="060606"/>
                  </a:solidFill>
                </a:rPr>
                <a:t>             2x</a:t>
              </a:r>
              <a:r>
                <a:rPr lang="en-US" altLang="zh-CN" sz="2400" baseline="-25000" dirty="0">
                  <a:solidFill>
                    <a:srgbClr val="060606"/>
                  </a:solidFill>
                </a:rPr>
                <a:t>2</a:t>
              </a:r>
              <a:r>
                <a:rPr lang="en-US" altLang="zh-CN" sz="2400" dirty="0">
                  <a:solidFill>
                    <a:srgbClr val="060606"/>
                  </a:solidFill>
                </a:rPr>
                <a:t>           +x</a:t>
              </a:r>
              <a:r>
                <a:rPr lang="en-US" altLang="zh-CN" sz="2400" baseline="-25000" dirty="0">
                  <a:solidFill>
                    <a:srgbClr val="060606"/>
                  </a:solidFill>
                </a:rPr>
                <a:t>4</a:t>
              </a:r>
              <a:r>
                <a:rPr lang="en-US" altLang="zh-CN" sz="2400" dirty="0">
                  <a:solidFill>
                    <a:srgbClr val="060606"/>
                  </a:solidFill>
                </a:rPr>
                <a:t>            =12</a:t>
              </a:r>
              <a:endParaRPr lang="zh-CN" altLang="en-US" sz="2400" dirty="0">
                <a:solidFill>
                  <a:srgbClr val="060606"/>
                </a:solidFill>
              </a:endParaRPr>
            </a:p>
          </p:txBody>
        </p:sp>
      </p:grpSp>
      <p:grpSp>
        <p:nvGrpSpPr>
          <p:cNvPr id="11" name="组合 12"/>
          <p:cNvGrpSpPr/>
          <p:nvPr/>
        </p:nvGrpSpPr>
        <p:grpSpPr>
          <a:xfrm>
            <a:off x="217613" y="461815"/>
            <a:ext cx="5352189" cy="2189857"/>
            <a:chOff x="899592" y="3429000"/>
            <a:chExt cx="5352189" cy="2189857"/>
          </a:xfrm>
        </p:grpSpPr>
        <p:sp>
          <p:nvSpPr>
            <p:cNvPr id="13" name="矩形 12"/>
            <p:cNvSpPr/>
            <p:nvPr/>
          </p:nvSpPr>
          <p:spPr>
            <a:xfrm>
              <a:off x="899592" y="3429000"/>
              <a:ext cx="4392488" cy="479234"/>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已知：     </a:t>
              </a:r>
              <a:r>
                <a:rPr lang="en-US" altLang="zh-CN" sz="2400" dirty="0">
                  <a:solidFill>
                    <a:srgbClr val="060606"/>
                  </a:solidFill>
                </a:rPr>
                <a:t>max Z  = 3x</a:t>
              </a:r>
              <a:r>
                <a:rPr lang="en-US" altLang="zh-CN" sz="2400" baseline="-25000" dirty="0">
                  <a:solidFill>
                    <a:srgbClr val="060606"/>
                  </a:solidFill>
                </a:rPr>
                <a:t>1</a:t>
              </a:r>
              <a:r>
                <a:rPr lang="en-US" altLang="zh-CN" sz="2400" dirty="0">
                  <a:solidFill>
                    <a:srgbClr val="060606"/>
                  </a:solidFill>
                </a:rPr>
                <a:t>+5x</a:t>
              </a:r>
              <a:r>
                <a:rPr lang="en-US" altLang="zh-CN" sz="2400" baseline="-25000" dirty="0">
                  <a:solidFill>
                    <a:srgbClr val="060606"/>
                  </a:solidFill>
                </a:rPr>
                <a:t>2</a:t>
              </a:r>
              <a:endParaRPr lang="en-US" altLang="zh-CN" sz="2400" dirty="0">
                <a:solidFill>
                  <a:srgbClr val="060606"/>
                </a:solidFill>
              </a:endParaRPr>
            </a:p>
          </p:txBody>
        </p:sp>
        <p:sp>
          <p:nvSpPr>
            <p:cNvPr id="14" name="矩形 13"/>
            <p:cNvSpPr/>
            <p:nvPr/>
          </p:nvSpPr>
          <p:spPr>
            <a:xfrm>
              <a:off x="899592" y="4437112"/>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15" name="左大括号 14"/>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6" name="矩形 15"/>
            <p:cNvSpPr/>
            <p:nvPr/>
          </p:nvSpPr>
          <p:spPr>
            <a:xfrm>
              <a:off x="2123728" y="3861048"/>
              <a:ext cx="2683748" cy="461665"/>
            </a:xfrm>
            <a:prstGeom prst="rect">
              <a:avLst/>
            </a:prstGeom>
          </p:spPr>
          <p:txBody>
            <a:bodyPr wrap="none">
              <a:spAutoFit/>
            </a:bodyPr>
            <a:lstStyle/>
            <a:p>
              <a:r>
                <a:rPr lang="en-US" altLang="zh-CN" sz="2400" dirty="0">
                  <a:solidFill>
                    <a:srgbClr val="060606"/>
                  </a:solidFill>
                </a:rPr>
                <a:t> x</a:t>
              </a:r>
              <a:r>
                <a:rPr lang="en-US" altLang="zh-CN" sz="2400" baseline="-25000" dirty="0">
                  <a:solidFill>
                    <a:srgbClr val="060606"/>
                  </a:solidFill>
                </a:rPr>
                <a:t>1</a:t>
              </a:r>
              <a:r>
                <a:rPr lang="en-US" altLang="zh-CN" sz="2400" dirty="0">
                  <a:solidFill>
                    <a:srgbClr val="060606"/>
                  </a:solidFill>
                </a:rPr>
                <a:t>≤4                (1)</a:t>
              </a:r>
              <a:endParaRPr lang="zh-CN" altLang="en-US" dirty="0"/>
            </a:p>
          </p:txBody>
        </p:sp>
        <p:sp>
          <p:nvSpPr>
            <p:cNvPr id="17" name="矩形 16"/>
            <p:cNvSpPr/>
            <p:nvPr/>
          </p:nvSpPr>
          <p:spPr>
            <a:xfrm>
              <a:off x="2123728" y="4725144"/>
              <a:ext cx="4128053" cy="461665"/>
            </a:xfrm>
            <a:prstGeom prst="rect">
              <a:avLst/>
            </a:prstGeom>
          </p:spPr>
          <p:txBody>
            <a:bodyPr wrap="none">
              <a:spAutoFit/>
            </a:bodyPr>
            <a:lstStyle/>
            <a:p>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18                     (3)</a:t>
              </a:r>
              <a:endParaRPr lang="zh-CN" altLang="en-US" dirty="0"/>
            </a:p>
          </p:txBody>
        </p:sp>
        <p:sp>
          <p:nvSpPr>
            <p:cNvPr id="18" name="矩形 17"/>
            <p:cNvSpPr/>
            <p:nvPr/>
          </p:nvSpPr>
          <p:spPr>
            <a:xfrm>
              <a:off x="2123728" y="5157192"/>
              <a:ext cx="3704860" cy="461665"/>
            </a:xfrm>
            <a:prstGeom prst="rect">
              <a:avLst/>
            </a:prstGeom>
          </p:spPr>
          <p:txBody>
            <a:bodyPr wrap="non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(4)</a:t>
              </a:r>
              <a:endParaRPr lang="zh-CN" altLang="en-US" dirty="0"/>
            </a:p>
          </p:txBody>
        </p:sp>
        <p:sp>
          <p:nvSpPr>
            <p:cNvPr id="19" name="矩形 18"/>
            <p:cNvSpPr/>
            <p:nvPr/>
          </p:nvSpPr>
          <p:spPr>
            <a:xfrm>
              <a:off x="2123728" y="4293096"/>
              <a:ext cx="3347391" cy="461665"/>
            </a:xfrm>
            <a:prstGeom prst="rect">
              <a:avLst/>
            </a:prstGeom>
          </p:spPr>
          <p:txBody>
            <a:bodyPr wrap="none">
              <a:spAutoFit/>
            </a:bodyPr>
            <a:lstStyle/>
            <a:p>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≤12                    (2)</a:t>
              </a:r>
              <a:endParaRPr lang="zh-CN" altLang="en-US" sz="2400" dirty="0">
                <a:solidFill>
                  <a:srgbClr val="060606"/>
                </a:solidFill>
              </a:endParaRPr>
            </a:p>
          </p:txBody>
        </p:sp>
      </p:grpSp>
      <p:sp>
        <p:nvSpPr>
          <p:cNvPr id="23" name="内容占位符 2"/>
          <p:cNvSpPr txBox="1"/>
          <p:nvPr/>
        </p:nvSpPr>
        <p:spPr bwMode="auto">
          <a:xfrm>
            <a:off x="95249" y="0"/>
            <a:ext cx="10048875" cy="52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defRPr/>
            </a:pPr>
            <a:r>
              <a:rPr lang="zh-CN" altLang="en-US" sz="2400" dirty="0">
                <a:solidFill>
                  <a:srgbClr val="060606"/>
                </a:solidFill>
              </a:rPr>
              <a:t>请同学们做：将产品组合问题转换为简单标准形，写出</a:t>
            </a:r>
            <a:r>
              <a:rPr lang="zh-CN" altLang="en-US" sz="2400" dirty="0">
                <a:solidFill>
                  <a:srgbClr val="00000C"/>
                </a:solidFill>
              </a:rPr>
              <a:t>初始基可行解</a:t>
            </a:r>
            <a:endParaRPr lang="en-US" altLang="zh-CN" sz="2400" dirty="0">
              <a:solidFill>
                <a:srgbClr val="060606"/>
              </a:solidFill>
            </a:endParaRPr>
          </a:p>
        </p:txBody>
      </p:sp>
      <p:sp>
        <p:nvSpPr>
          <p:cNvPr id="24" name="矩形 23"/>
          <p:cNvSpPr/>
          <p:nvPr/>
        </p:nvSpPr>
        <p:spPr>
          <a:xfrm>
            <a:off x="6023992" y="2564905"/>
            <a:ext cx="2984500" cy="461665"/>
          </a:xfrm>
          <a:prstGeom prst="rect">
            <a:avLst/>
          </a:prstGeom>
        </p:spPr>
        <p:txBody>
          <a:bodyPr wrap="square">
            <a:spAutoFit/>
          </a:bodyPr>
          <a:lstStyle/>
          <a:p>
            <a:r>
              <a:rPr lang="zh-CN" altLang="en-US" sz="2400" dirty="0">
                <a:solidFill>
                  <a:srgbClr val="060606"/>
                </a:solidFill>
              </a:rPr>
              <a:t>转换为简单标准形</a:t>
            </a:r>
            <a:endParaRPr lang="zh-CN" altLang="en-US" dirty="0"/>
          </a:p>
        </p:txBody>
      </p:sp>
      <p:sp>
        <p:nvSpPr>
          <p:cNvPr id="26" name="箭头: 下 25"/>
          <p:cNvSpPr/>
          <p:nvPr/>
        </p:nvSpPr>
        <p:spPr>
          <a:xfrm>
            <a:off x="4882535" y="2553361"/>
            <a:ext cx="665610" cy="77406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1247799" y="6153248"/>
            <a:ext cx="9029675" cy="461665"/>
          </a:xfrm>
          <a:prstGeom prst="rect">
            <a:avLst/>
          </a:prstGeom>
          <a:noFill/>
        </p:spPr>
        <p:txBody>
          <a:bodyPr wrap="square">
            <a:spAutoFit/>
          </a:bodyPr>
          <a:lstStyle/>
          <a:p>
            <a:pPr algn="ctr"/>
            <a:r>
              <a:rPr lang="zh-CN" altLang="en-US" sz="2400" dirty="0">
                <a:solidFill>
                  <a:srgbClr val="060606"/>
                </a:solidFill>
              </a:rPr>
              <a:t>第一步</a:t>
            </a:r>
            <a:r>
              <a:rPr lang="en-US" altLang="zh-CN" sz="2400" dirty="0">
                <a:solidFill>
                  <a:srgbClr val="060606"/>
                </a:solidFill>
              </a:rPr>
              <a:t>.</a:t>
            </a:r>
            <a:r>
              <a:rPr lang="zh-CN" altLang="en-US" sz="2400" dirty="0">
                <a:solidFill>
                  <a:srgbClr val="060606"/>
                </a:solidFill>
              </a:rPr>
              <a:t>产品组合问题的简单标准形，得到一个</a:t>
            </a:r>
            <a:r>
              <a:rPr lang="zh-CN" altLang="en-US" sz="2400" dirty="0">
                <a:solidFill>
                  <a:srgbClr val="00000C"/>
                </a:solidFill>
              </a:rPr>
              <a:t>初始基可行解</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675" y="260648"/>
            <a:ext cx="10082461" cy="576064"/>
          </a:xfrm>
        </p:spPr>
        <p:txBody>
          <a:bodyPr/>
          <a:lstStyle/>
          <a:p>
            <a:pPr>
              <a:lnSpc>
                <a:spcPct val="100000"/>
              </a:lnSpc>
              <a:spcBef>
                <a:spcPts val="600"/>
              </a:spcBef>
              <a:buNone/>
            </a:pPr>
            <a:r>
              <a:rPr lang="zh-CN" altLang="en-US" sz="2400" b="1" dirty="0">
                <a:solidFill>
                  <a:srgbClr val="060606"/>
                </a:solidFill>
              </a:rPr>
              <a:t>第二步：写成方程组形式</a:t>
            </a:r>
            <a:r>
              <a:rPr lang="en-US" altLang="zh-CN" sz="2400" b="1" dirty="0">
                <a:solidFill>
                  <a:srgbClr val="060606"/>
                </a:solidFill>
              </a:rPr>
              <a:t>(</a:t>
            </a:r>
            <a:r>
              <a:rPr lang="zh-CN" altLang="en-US" sz="2400" b="1" dirty="0">
                <a:solidFill>
                  <a:srgbClr val="060606"/>
                </a:solidFill>
              </a:rPr>
              <a:t>以及增广的矩阵</a:t>
            </a:r>
            <a:r>
              <a:rPr lang="en-US" altLang="zh-CN" sz="2400" b="1" dirty="0">
                <a:solidFill>
                  <a:srgbClr val="060606"/>
                </a:solidFill>
              </a:rPr>
              <a:t>A</a:t>
            </a:r>
            <a:r>
              <a:rPr lang="en-US" altLang="zh-CN" sz="2400" b="1" baseline="-25000" dirty="0">
                <a:solidFill>
                  <a:srgbClr val="060606"/>
                </a:solidFill>
              </a:rPr>
              <a:t>m× (</a:t>
            </a:r>
            <a:r>
              <a:rPr lang="en-US" altLang="zh-CN" sz="2400" b="1" baseline="-25000" dirty="0" err="1">
                <a:solidFill>
                  <a:srgbClr val="060606"/>
                </a:solidFill>
              </a:rPr>
              <a:t>n+m</a:t>
            </a:r>
            <a:r>
              <a:rPr lang="en-US" altLang="zh-CN" sz="2400" b="1" baseline="-25000" dirty="0">
                <a:solidFill>
                  <a:srgbClr val="060606"/>
                </a:solidFill>
              </a:rPr>
              <a:t>)</a:t>
            </a:r>
            <a:r>
              <a:rPr lang="en-US" altLang="zh-CN" sz="2400" b="1" dirty="0">
                <a:solidFill>
                  <a:srgbClr val="060606"/>
                </a:solidFill>
              </a:rPr>
              <a:t>)</a:t>
            </a:r>
            <a:endParaRPr lang="en-US" altLang="zh-CN" sz="2400" b="1" dirty="0">
              <a:solidFill>
                <a:srgbClr val="060606"/>
              </a:solidFill>
            </a:endParaRPr>
          </a:p>
          <a:p>
            <a:pPr>
              <a:buNone/>
            </a:pPr>
            <a:endParaRPr lang="en-US" altLang="zh-CN" sz="2400" dirty="0">
              <a:solidFill>
                <a:srgbClr val="060606"/>
              </a:solidFill>
            </a:endParaRPr>
          </a:p>
          <a:p>
            <a:pPr>
              <a:buNone/>
            </a:pPr>
            <a:endParaRPr lang="en-US" altLang="zh-CN" sz="2400" dirty="0">
              <a:solidFill>
                <a:srgbClr val="060606"/>
              </a:solidFill>
            </a:endParaRPr>
          </a:p>
        </p:txBody>
      </p:sp>
      <p:grpSp>
        <p:nvGrpSpPr>
          <p:cNvPr id="95" name="组合 31"/>
          <p:cNvGrpSpPr/>
          <p:nvPr/>
        </p:nvGrpSpPr>
        <p:grpSpPr>
          <a:xfrm>
            <a:off x="5768991" y="2968381"/>
            <a:ext cx="857139" cy="951903"/>
            <a:chOff x="6300192" y="503689"/>
            <a:chExt cx="567784" cy="467951"/>
          </a:xfrm>
        </p:grpSpPr>
        <p:sp>
          <p:nvSpPr>
            <p:cNvPr id="96" name="矩形 95"/>
            <p:cNvSpPr/>
            <p:nvPr/>
          </p:nvSpPr>
          <p:spPr>
            <a:xfrm>
              <a:off x="6300192" y="744688"/>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97" name="矩形 96"/>
            <p:cNvSpPr/>
            <p:nvPr/>
          </p:nvSpPr>
          <p:spPr>
            <a:xfrm>
              <a:off x="6353738" y="503689"/>
              <a:ext cx="234883" cy="226952"/>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98" name="矩形 97"/>
            <p:cNvSpPr/>
            <p:nvPr/>
          </p:nvSpPr>
          <p:spPr>
            <a:xfrm>
              <a:off x="6310022" y="621100"/>
              <a:ext cx="351377"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sp>
        <p:nvSpPr>
          <p:cNvPr id="99" name="矩形 98"/>
          <p:cNvSpPr/>
          <p:nvPr/>
        </p:nvSpPr>
        <p:spPr>
          <a:xfrm>
            <a:off x="4727848" y="2636913"/>
            <a:ext cx="3301206" cy="461665"/>
          </a:xfrm>
          <a:prstGeom prst="rect">
            <a:avLst/>
          </a:prstGeom>
        </p:spPr>
        <p:txBody>
          <a:bodyPr wrap="square">
            <a:spAutoFit/>
          </a:bodyPr>
          <a:lstStyle/>
          <a:p>
            <a:r>
              <a:rPr lang="zh-CN" altLang="en-US" sz="2400" dirty="0">
                <a:solidFill>
                  <a:srgbClr val="0000AC"/>
                </a:solidFill>
              </a:rPr>
              <a:t>写成方程组形式</a:t>
            </a:r>
            <a:endParaRPr lang="zh-CN" altLang="en-US" dirty="0">
              <a:solidFill>
                <a:srgbClr val="0000AC"/>
              </a:solidFill>
            </a:endParaRPr>
          </a:p>
        </p:txBody>
      </p:sp>
      <p:grpSp>
        <p:nvGrpSpPr>
          <p:cNvPr id="6" name="组合 5"/>
          <p:cNvGrpSpPr/>
          <p:nvPr/>
        </p:nvGrpSpPr>
        <p:grpSpPr>
          <a:xfrm>
            <a:off x="4537897" y="3133123"/>
            <a:ext cx="6434902" cy="3588168"/>
            <a:chOff x="4537897" y="3133123"/>
            <a:chExt cx="6434902" cy="3588168"/>
          </a:xfrm>
        </p:grpSpPr>
        <p:sp>
          <p:nvSpPr>
            <p:cNvPr id="94" name="矩形 93"/>
            <p:cNvSpPr/>
            <p:nvPr/>
          </p:nvSpPr>
          <p:spPr>
            <a:xfrm>
              <a:off x="4740244" y="3133123"/>
              <a:ext cx="5156231" cy="543739"/>
            </a:xfrm>
            <a:prstGeom prst="rect">
              <a:avLst/>
            </a:prstGeom>
          </p:spPr>
          <p:txBody>
            <a:bodyPr wrap="square">
              <a:spAutoFit/>
            </a:bodyPr>
            <a:lstStyle/>
            <a:p>
              <a:pPr marL="342900" indent="-342900" algn="just" fontAlgn="base">
                <a:lnSpc>
                  <a:spcPct val="110000"/>
                </a:lnSpc>
                <a:spcAft>
                  <a:spcPct val="0"/>
                </a:spcAft>
              </a:pPr>
              <a:r>
                <a:rPr lang="en-US" altLang="zh-CN" sz="2800" dirty="0">
                  <a:solidFill>
                    <a:srgbClr val="060606"/>
                  </a:solidFill>
                </a:rPr>
                <a:t>(0)   z -   c</a:t>
              </a:r>
              <a:r>
                <a:rPr lang="en-US" altLang="zh-CN" sz="2800" baseline="-25000" dirty="0">
                  <a:solidFill>
                    <a:srgbClr val="060606"/>
                  </a:solidFill>
                </a:rPr>
                <a:t>j</a:t>
              </a:r>
              <a:r>
                <a:rPr lang="en-US" altLang="zh-CN" sz="2800" dirty="0">
                  <a:solidFill>
                    <a:srgbClr val="060606"/>
                  </a:solidFill>
                </a:rPr>
                <a:t>x</a:t>
              </a:r>
              <a:r>
                <a:rPr lang="en-US" altLang="zh-CN" sz="2800" baseline="-25000" dirty="0">
                  <a:solidFill>
                    <a:srgbClr val="060606"/>
                  </a:solidFill>
                </a:rPr>
                <a:t>j </a:t>
              </a:r>
              <a:r>
                <a:rPr lang="en-US" altLang="zh-CN" sz="2800" dirty="0">
                  <a:solidFill>
                    <a:srgbClr val="060606"/>
                  </a:solidFill>
                </a:rPr>
                <a:t>= 0</a:t>
              </a:r>
              <a:endParaRPr lang="en-US" altLang="zh-CN" sz="2800" dirty="0">
                <a:solidFill>
                  <a:srgbClr val="060606"/>
                </a:solidFill>
              </a:endParaRPr>
            </a:p>
          </p:txBody>
        </p:sp>
        <p:sp>
          <p:nvSpPr>
            <p:cNvPr id="90" name="矩形 89"/>
            <p:cNvSpPr/>
            <p:nvPr/>
          </p:nvSpPr>
          <p:spPr>
            <a:xfrm>
              <a:off x="4740244" y="3829105"/>
              <a:ext cx="3758093" cy="523220"/>
            </a:xfrm>
            <a:prstGeom prst="rect">
              <a:avLst/>
            </a:prstGeom>
          </p:spPr>
          <p:txBody>
            <a:bodyPr wrap="square">
              <a:spAutoFit/>
            </a:bodyPr>
            <a:lstStyle/>
            <a:p>
              <a:r>
                <a:rPr lang="en-US" altLang="zh-CN" sz="2800" dirty="0">
                  <a:solidFill>
                    <a:srgbClr val="060606"/>
                  </a:solidFill>
                </a:rPr>
                <a:t>(1)       a</a:t>
              </a:r>
              <a:r>
                <a:rPr lang="en-US" altLang="zh-CN" sz="2800" baseline="-25000" dirty="0">
                  <a:solidFill>
                    <a:srgbClr val="060606"/>
                  </a:solidFill>
                </a:rPr>
                <a:t>1j</a:t>
              </a:r>
              <a:r>
                <a:rPr lang="en-US" altLang="zh-CN" sz="2800" dirty="0">
                  <a:solidFill>
                    <a:srgbClr val="060606"/>
                  </a:solidFill>
                </a:rPr>
                <a:t>x</a:t>
              </a:r>
              <a:r>
                <a:rPr lang="en-US" altLang="zh-CN" sz="2800" baseline="-25000" dirty="0">
                  <a:solidFill>
                    <a:srgbClr val="060606"/>
                  </a:solidFill>
                </a:rPr>
                <a:t>j</a:t>
              </a:r>
              <a:r>
                <a:rPr lang="en-US" altLang="zh-CN" sz="2800" dirty="0">
                  <a:solidFill>
                    <a:srgbClr val="060606"/>
                  </a:solidFill>
                </a:rPr>
                <a:t> </a:t>
              </a:r>
              <a:r>
                <a:rPr lang="en-US" altLang="zh-CN" sz="2800" dirty="0">
                  <a:solidFill>
                    <a:srgbClr val="FF0000"/>
                  </a:solidFill>
                </a:rPr>
                <a:t>+ x</a:t>
              </a:r>
              <a:r>
                <a:rPr lang="en-US" altLang="zh-CN" sz="2800" baseline="-25000" dirty="0">
                  <a:solidFill>
                    <a:srgbClr val="FF0000"/>
                  </a:solidFill>
                </a:rPr>
                <a:t>s1</a:t>
              </a:r>
              <a:r>
                <a:rPr lang="en-US" altLang="zh-CN" sz="2800" dirty="0">
                  <a:solidFill>
                    <a:srgbClr val="FF0000"/>
                  </a:solidFill>
                </a:rPr>
                <a:t> = </a:t>
              </a:r>
              <a:r>
                <a:rPr lang="en-US" altLang="zh-CN" sz="2800" dirty="0">
                  <a:solidFill>
                    <a:srgbClr val="060606"/>
                  </a:solidFill>
                </a:rPr>
                <a:t> b</a:t>
              </a:r>
              <a:r>
                <a:rPr lang="en-US" altLang="zh-CN" sz="2800" baseline="-25000" dirty="0">
                  <a:solidFill>
                    <a:srgbClr val="060606"/>
                  </a:solidFill>
                </a:rPr>
                <a:t>1</a:t>
              </a:r>
              <a:endParaRPr lang="zh-CN" altLang="en-US" sz="2800" dirty="0"/>
            </a:p>
          </p:txBody>
        </p:sp>
        <p:sp>
          <p:nvSpPr>
            <p:cNvPr id="91" name="矩形 90"/>
            <p:cNvSpPr/>
            <p:nvPr/>
          </p:nvSpPr>
          <p:spPr>
            <a:xfrm>
              <a:off x="4727848" y="6198071"/>
              <a:ext cx="6244951" cy="523220"/>
            </a:xfrm>
            <a:prstGeom prst="rect">
              <a:avLst/>
            </a:prstGeom>
          </p:spPr>
          <p:txBody>
            <a:bodyPr wrap="square">
              <a:spAutoFit/>
            </a:bodyPr>
            <a:lstStyle/>
            <a:p>
              <a:r>
                <a:rPr lang="zh-CN" altLang="en-US" sz="2400" dirty="0">
                  <a:solidFill>
                    <a:srgbClr val="060606"/>
                  </a:solidFill>
                </a:rPr>
                <a:t>和</a:t>
              </a:r>
              <a:r>
                <a:rPr lang="zh-CN" altLang="en-US" sz="2800" dirty="0">
                  <a:solidFill>
                    <a:srgbClr val="060606"/>
                  </a:solidFill>
                </a:rPr>
                <a:t>   </a:t>
              </a:r>
              <a:r>
                <a:rPr lang="en-US" altLang="zh-CN" sz="2800" dirty="0">
                  <a:solidFill>
                    <a:srgbClr val="060606"/>
                  </a:solidFill>
                </a:rPr>
                <a:t>x</a:t>
              </a:r>
              <a:r>
                <a:rPr lang="en-US" altLang="zh-CN" sz="2800" baseline="-25000" dirty="0">
                  <a:solidFill>
                    <a:srgbClr val="060606"/>
                  </a:solidFill>
                </a:rPr>
                <a:t>j</a:t>
              </a:r>
              <a:r>
                <a:rPr lang="en-US" altLang="zh-CN" sz="2800" dirty="0">
                  <a:solidFill>
                    <a:srgbClr val="060606"/>
                  </a:solidFill>
                </a:rPr>
                <a:t>  </a:t>
              </a:r>
              <a:r>
                <a:rPr lang="zh-CN" altLang="en-US" sz="2800" dirty="0">
                  <a:solidFill>
                    <a:srgbClr val="060606"/>
                  </a:solidFill>
                </a:rPr>
                <a:t>≥ </a:t>
              </a:r>
              <a:r>
                <a:rPr lang="en-US" altLang="zh-CN" sz="2400" dirty="0">
                  <a:solidFill>
                    <a:srgbClr val="060606"/>
                  </a:solidFill>
                </a:rPr>
                <a:t>0             (j = 1,2,…,n</a:t>
              </a:r>
              <a:r>
                <a:rPr lang="zh-CN" altLang="en-US" sz="2400" dirty="0">
                  <a:solidFill>
                    <a:srgbClr val="060606"/>
                  </a:solidFill>
                </a:rPr>
                <a:t>，非负约束</a:t>
              </a:r>
              <a:r>
                <a:rPr lang="en-US" altLang="zh-CN" sz="2400" dirty="0">
                  <a:solidFill>
                    <a:srgbClr val="060606"/>
                  </a:solidFill>
                </a:rPr>
                <a:t>)</a:t>
              </a:r>
              <a:endParaRPr lang="zh-CN" altLang="en-US" sz="2400" dirty="0">
                <a:solidFill>
                  <a:srgbClr val="060606"/>
                </a:solidFill>
              </a:endParaRPr>
            </a:p>
          </p:txBody>
        </p:sp>
        <p:grpSp>
          <p:nvGrpSpPr>
            <p:cNvPr id="85" name="组合 32"/>
            <p:cNvGrpSpPr/>
            <p:nvPr/>
          </p:nvGrpSpPr>
          <p:grpSpPr>
            <a:xfrm>
              <a:off x="5336943" y="3632256"/>
              <a:ext cx="857138" cy="965719"/>
              <a:chOff x="6249159" y="533630"/>
              <a:chExt cx="567784" cy="474741"/>
            </a:xfrm>
          </p:grpSpPr>
          <p:sp>
            <p:nvSpPr>
              <p:cNvPr id="86" name="矩形 85"/>
              <p:cNvSpPr/>
              <p:nvPr/>
            </p:nvSpPr>
            <p:spPr>
              <a:xfrm>
                <a:off x="6249159" y="781419"/>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87" name="矩形 86"/>
              <p:cNvSpPr/>
              <p:nvPr/>
            </p:nvSpPr>
            <p:spPr>
              <a:xfrm>
                <a:off x="6314129" y="533630"/>
                <a:ext cx="234883" cy="226951"/>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88" name="矩形 87"/>
              <p:cNvSpPr/>
              <p:nvPr/>
            </p:nvSpPr>
            <p:spPr>
              <a:xfrm>
                <a:off x="6263652"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sp>
          <p:nvSpPr>
            <p:cNvPr id="100" name="矩形 99"/>
            <p:cNvSpPr/>
            <p:nvPr/>
          </p:nvSpPr>
          <p:spPr>
            <a:xfrm>
              <a:off x="4753921" y="4581128"/>
              <a:ext cx="3744416" cy="523220"/>
            </a:xfrm>
            <a:prstGeom prst="rect">
              <a:avLst/>
            </a:prstGeom>
          </p:spPr>
          <p:txBody>
            <a:bodyPr wrap="square">
              <a:spAutoFit/>
            </a:bodyPr>
            <a:lstStyle/>
            <a:p>
              <a:r>
                <a:rPr lang="en-US" altLang="zh-CN" sz="2800" dirty="0">
                  <a:solidFill>
                    <a:srgbClr val="060606"/>
                  </a:solidFill>
                </a:rPr>
                <a:t>(2)       a</a:t>
              </a:r>
              <a:r>
                <a:rPr lang="en-US" altLang="zh-CN" sz="2800" baseline="-25000" dirty="0">
                  <a:solidFill>
                    <a:srgbClr val="060606"/>
                  </a:solidFill>
                </a:rPr>
                <a:t>2j</a:t>
              </a:r>
              <a:r>
                <a:rPr lang="en-US" altLang="zh-CN" sz="2800" dirty="0">
                  <a:solidFill>
                    <a:srgbClr val="060606"/>
                  </a:solidFill>
                </a:rPr>
                <a:t>x</a:t>
              </a:r>
              <a:r>
                <a:rPr lang="en-US" altLang="zh-CN" sz="2800" baseline="-25000" dirty="0">
                  <a:solidFill>
                    <a:srgbClr val="060606"/>
                  </a:solidFill>
                </a:rPr>
                <a:t>j</a:t>
              </a:r>
              <a:r>
                <a:rPr lang="en-US" altLang="zh-CN" sz="2800" dirty="0">
                  <a:solidFill>
                    <a:srgbClr val="060606"/>
                  </a:solidFill>
                </a:rPr>
                <a:t> </a:t>
              </a:r>
              <a:r>
                <a:rPr lang="en-US" altLang="zh-CN" sz="2800" dirty="0">
                  <a:solidFill>
                    <a:srgbClr val="FF0000"/>
                  </a:solidFill>
                </a:rPr>
                <a:t>+ x</a:t>
              </a:r>
              <a:r>
                <a:rPr lang="en-US" altLang="zh-CN" sz="2800" baseline="-25000" dirty="0">
                  <a:solidFill>
                    <a:srgbClr val="FF0000"/>
                  </a:solidFill>
                </a:rPr>
                <a:t>s2</a:t>
              </a:r>
              <a:r>
                <a:rPr lang="en-US" altLang="zh-CN" sz="2800" dirty="0">
                  <a:solidFill>
                    <a:srgbClr val="FF0000"/>
                  </a:solidFill>
                </a:rPr>
                <a:t> = </a:t>
              </a:r>
              <a:r>
                <a:rPr lang="en-US" altLang="zh-CN" sz="2800" dirty="0">
                  <a:solidFill>
                    <a:srgbClr val="060606"/>
                  </a:solidFill>
                </a:rPr>
                <a:t> b</a:t>
              </a:r>
              <a:r>
                <a:rPr lang="en-US" altLang="zh-CN" sz="2800" baseline="-25000" dirty="0">
                  <a:solidFill>
                    <a:srgbClr val="060606"/>
                  </a:solidFill>
                </a:rPr>
                <a:t>2</a:t>
              </a:r>
              <a:endParaRPr lang="zh-CN" altLang="en-US" sz="2800" dirty="0"/>
            </a:p>
          </p:txBody>
        </p:sp>
        <p:sp>
          <p:nvSpPr>
            <p:cNvPr id="101" name="矩形 100"/>
            <p:cNvSpPr/>
            <p:nvPr/>
          </p:nvSpPr>
          <p:spPr>
            <a:xfrm>
              <a:off x="4753921" y="5517232"/>
              <a:ext cx="3960440" cy="523220"/>
            </a:xfrm>
            <a:prstGeom prst="rect">
              <a:avLst/>
            </a:prstGeom>
          </p:spPr>
          <p:txBody>
            <a:bodyPr wrap="square">
              <a:spAutoFit/>
            </a:bodyPr>
            <a:lstStyle/>
            <a:p>
              <a:r>
                <a:rPr lang="en-US" altLang="zh-CN" sz="2800" dirty="0">
                  <a:solidFill>
                    <a:srgbClr val="060606"/>
                  </a:solidFill>
                </a:rPr>
                <a:t>(m)       </a:t>
              </a:r>
              <a:r>
                <a:rPr lang="en-US" altLang="zh-CN" sz="2800" dirty="0" err="1">
                  <a:solidFill>
                    <a:srgbClr val="060606"/>
                  </a:solidFill>
                </a:rPr>
                <a:t>a</a:t>
              </a:r>
              <a:r>
                <a:rPr lang="en-US" altLang="zh-CN" sz="2800" baseline="-25000" dirty="0" err="1">
                  <a:solidFill>
                    <a:srgbClr val="060606"/>
                  </a:solidFill>
                </a:rPr>
                <a:t>mj</a:t>
              </a:r>
              <a:r>
                <a:rPr lang="en-US" altLang="zh-CN" sz="2800" dirty="0" err="1">
                  <a:solidFill>
                    <a:srgbClr val="060606"/>
                  </a:solidFill>
                </a:rPr>
                <a:t>x</a:t>
              </a:r>
              <a:r>
                <a:rPr lang="en-US" altLang="zh-CN" sz="2800" baseline="-25000" dirty="0" err="1">
                  <a:solidFill>
                    <a:srgbClr val="060606"/>
                  </a:solidFill>
                </a:rPr>
                <a:t>j</a:t>
              </a:r>
              <a:r>
                <a:rPr lang="en-US" altLang="zh-CN" sz="2800" dirty="0">
                  <a:solidFill>
                    <a:srgbClr val="060606"/>
                  </a:solidFill>
                </a:rPr>
                <a:t> </a:t>
              </a:r>
              <a:r>
                <a:rPr lang="en-US" altLang="zh-CN" sz="2800" dirty="0">
                  <a:solidFill>
                    <a:srgbClr val="FF0000"/>
                  </a:solidFill>
                </a:rPr>
                <a:t>+ </a:t>
              </a:r>
              <a:r>
                <a:rPr lang="en-US" altLang="zh-CN" sz="2800" dirty="0" err="1">
                  <a:solidFill>
                    <a:srgbClr val="FF0000"/>
                  </a:solidFill>
                </a:rPr>
                <a:t>x</a:t>
              </a:r>
              <a:r>
                <a:rPr lang="en-US" altLang="zh-CN" sz="2800" baseline="-25000" dirty="0" err="1">
                  <a:solidFill>
                    <a:srgbClr val="FF0000"/>
                  </a:solidFill>
                </a:rPr>
                <a:t>sm</a:t>
              </a:r>
              <a:r>
                <a:rPr lang="en-US" altLang="zh-CN" sz="2800" dirty="0">
                  <a:solidFill>
                    <a:srgbClr val="FF0000"/>
                  </a:solidFill>
                </a:rPr>
                <a:t> = </a:t>
              </a:r>
              <a:r>
                <a:rPr lang="en-US" altLang="zh-CN" sz="2800" dirty="0">
                  <a:solidFill>
                    <a:srgbClr val="060606"/>
                  </a:solidFill>
                </a:rPr>
                <a:t> </a:t>
              </a:r>
              <a:r>
                <a:rPr lang="en-US" altLang="zh-CN" sz="2800" dirty="0" err="1">
                  <a:solidFill>
                    <a:srgbClr val="060606"/>
                  </a:solidFill>
                </a:rPr>
                <a:t>b</a:t>
              </a:r>
              <a:r>
                <a:rPr lang="en-US" altLang="zh-CN" sz="2800" baseline="-25000" dirty="0" err="1">
                  <a:solidFill>
                    <a:srgbClr val="060606"/>
                  </a:solidFill>
                </a:rPr>
                <a:t>m</a:t>
              </a:r>
              <a:endParaRPr lang="zh-CN" altLang="en-US" sz="2800" dirty="0"/>
            </a:p>
          </p:txBody>
        </p:sp>
        <p:grpSp>
          <p:nvGrpSpPr>
            <p:cNvPr id="102" name="组合 32"/>
            <p:cNvGrpSpPr/>
            <p:nvPr/>
          </p:nvGrpSpPr>
          <p:grpSpPr>
            <a:xfrm>
              <a:off x="5329985" y="4365105"/>
              <a:ext cx="857138" cy="965719"/>
              <a:chOff x="6249159" y="533630"/>
              <a:chExt cx="567784" cy="474741"/>
            </a:xfrm>
          </p:grpSpPr>
          <p:sp>
            <p:nvSpPr>
              <p:cNvPr id="103" name="矩形 102"/>
              <p:cNvSpPr/>
              <p:nvPr/>
            </p:nvSpPr>
            <p:spPr>
              <a:xfrm>
                <a:off x="6249159" y="781419"/>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104" name="矩形 103"/>
              <p:cNvSpPr/>
              <p:nvPr/>
            </p:nvSpPr>
            <p:spPr>
              <a:xfrm>
                <a:off x="6314129" y="533630"/>
                <a:ext cx="234883" cy="226951"/>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105" name="矩形 104"/>
              <p:cNvSpPr/>
              <p:nvPr/>
            </p:nvSpPr>
            <p:spPr>
              <a:xfrm>
                <a:off x="6276271"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grpSp>
          <p:nvGrpSpPr>
            <p:cNvPr id="106" name="组合 32"/>
            <p:cNvGrpSpPr/>
            <p:nvPr/>
          </p:nvGrpSpPr>
          <p:grpSpPr>
            <a:xfrm>
              <a:off x="5408951" y="5343602"/>
              <a:ext cx="857138" cy="965719"/>
              <a:chOff x="6249159" y="533630"/>
              <a:chExt cx="567784" cy="474741"/>
            </a:xfrm>
          </p:grpSpPr>
          <p:sp>
            <p:nvSpPr>
              <p:cNvPr id="107" name="矩形 106"/>
              <p:cNvSpPr/>
              <p:nvPr/>
            </p:nvSpPr>
            <p:spPr>
              <a:xfrm>
                <a:off x="6249159" y="781419"/>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108" name="矩形 107"/>
              <p:cNvSpPr/>
              <p:nvPr/>
            </p:nvSpPr>
            <p:spPr>
              <a:xfrm>
                <a:off x="6314129" y="533630"/>
                <a:ext cx="234883" cy="226951"/>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109" name="矩形 108"/>
              <p:cNvSpPr/>
              <p:nvPr/>
            </p:nvSpPr>
            <p:spPr>
              <a:xfrm>
                <a:off x="6263653"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sp>
          <p:nvSpPr>
            <p:cNvPr id="110" name="矩形 109"/>
            <p:cNvSpPr/>
            <p:nvPr/>
          </p:nvSpPr>
          <p:spPr>
            <a:xfrm>
              <a:off x="4537897" y="4994012"/>
              <a:ext cx="3960440" cy="523220"/>
            </a:xfrm>
            <a:prstGeom prst="rect">
              <a:avLst/>
            </a:prstGeom>
          </p:spPr>
          <p:txBody>
            <a:bodyPr wrap="square">
              <a:spAutoFit/>
            </a:bodyPr>
            <a:lstStyle/>
            <a:p>
              <a:pPr algn="ctr"/>
              <a:r>
                <a:rPr lang="en-US" altLang="zh-CN" sz="2800" dirty="0"/>
                <a:t>……………..</a:t>
              </a:r>
              <a:endParaRPr lang="zh-CN" altLang="en-US" sz="2800" dirty="0"/>
            </a:p>
          </p:txBody>
        </p:sp>
      </p:grpSp>
      <p:sp>
        <p:nvSpPr>
          <p:cNvPr id="2" name="箭头: 下 1"/>
          <p:cNvSpPr/>
          <p:nvPr/>
        </p:nvSpPr>
        <p:spPr>
          <a:xfrm>
            <a:off x="3848100" y="2609850"/>
            <a:ext cx="779171" cy="455828"/>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1"/>
          <a:stretch>
            <a:fillRect/>
          </a:stretch>
        </p:blipFill>
        <p:spPr>
          <a:xfrm>
            <a:off x="47129" y="740795"/>
            <a:ext cx="5553571" cy="1831936"/>
          </a:xfrm>
          <a:prstGeom prst="rect">
            <a:avLst/>
          </a:prstGeom>
        </p:spPr>
      </p:pic>
      <p:sp>
        <p:nvSpPr>
          <p:cNvPr id="7" name="箭头: 右 6"/>
          <p:cNvSpPr/>
          <p:nvPr/>
        </p:nvSpPr>
        <p:spPr>
          <a:xfrm>
            <a:off x="9505950" y="4136309"/>
            <a:ext cx="857138" cy="732849"/>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直角上箭头 39"/>
          <p:cNvSpPr/>
          <p:nvPr/>
        </p:nvSpPr>
        <p:spPr bwMode="auto">
          <a:xfrm flipV="1">
            <a:off x="6312024" y="908720"/>
            <a:ext cx="1512168" cy="1152128"/>
          </a:xfrm>
          <a:prstGeom prst="bentUpArrow">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pic>
        <p:nvPicPr>
          <p:cNvPr id="23" name="图片 22"/>
          <p:cNvPicPr>
            <a:picLocks noChangeAspect="1"/>
          </p:cNvPicPr>
          <p:nvPr/>
        </p:nvPicPr>
        <p:blipFill>
          <a:blip r:embed="rId1"/>
          <a:stretch>
            <a:fillRect/>
          </a:stretch>
        </p:blipFill>
        <p:spPr>
          <a:xfrm>
            <a:off x="341313" y="110804"/>
            <a:ext cx="4674563" cy="2875471"/>
          </a:xfrm>
          <a:prstGeom prst="rect">
            <a:avLst/>
          </a:prstGeom>
        </p:spPr>
      </p:pic>
      <p:grpSp>
        <p:nvGrpSpPr>
          <p:cNvPr id="26" name="组合 25"/>
          <p:cNvGrpSpPr/>
          <p:nvPr/>
        </p:nvGrpSpPr>
        <p:grpSpPr>
          <a:xfrm>
            <a:off x="5375920" y="2276872"/>
            <a:ext cx="5884792" cy="4060578"/>
            <a:chOff x="5375920" y="2276872"/>
            <a:chExt cx="5884792" cy="4060578"/>
          </a:xfrm>
        </p:grpSpPr>
        <p:grpSp>
          <p:nvGrpSpPr>
            <p:cNvPr id="38" name="组合 37"/>
            <p:cNvGrpSpPr/>
            <p:nvPr/>
          </p:nvGrpSpPr>
          <p:grpSpPr>
            <a:xfrm>
              <a:off x="5375920" y="2779441"/>
              <a:ext cx="5692127" cy="3558009"/>
              <a:chOff x="4788024" y="908720"/>
              <a:chExt cx="5692127" cy="3558009"/>
            </a:xfrm>
          </p:grpSpPr>
          <p:sp>
            <p:nvSpPr>
              <p:cNvPr id="27" name="矩形 26"/>
              <p:cNvSpPr/>
              <p:nvPr/>
            </p:nvSpPr>
            <p:spPr>
              <a:xfrm>
                <a:off x="4788024" y="1340768"/>
                <a:ext cx="1531188" cy="461665"/>
              </a:xfrm>
              <a:prstGeom prst="rect">
                <a:avLst/>
              </a:prstGeom>
            </p:spPr>
            <p:txBody>
              <a:bodyPr wrap="none">
                <a:spAutoFit/>
              </a:bodyPr>
              <a:lstStyle/>
              <a:p>
                <a:r>
                  <a:rPr lang="en-US" altLang="zh-CN" sz="2400" b="1" dirty="0">
                    <a:solidFill>
                      <a:srgbClr val="060606"/>
                    </a:solidFill>
                  </a:rPr>
                  <a:t>A</a:t>
                </a:r>
                <a:r>
                  <a:rPr lang="en-US" altLang="zh-CN" sz="2400" baseline="-25000" dirty="0">
                    <a:solidFill>
                      <a:srgbClr val="060606"/>
                    </a:solidFill>
                  </a:rPr>
                  <a:t>m×(</a:t>
                </a:r>
                <a:r>
                  <a:rPr lang="en-US" altLang="zh-CN" sz="2400" baseline="-25000" dirty="0" err="1">
                    <a:solidFill>
                      <a:srgbClr val="060606"/>
                    </a:solidFill>
                  </a:rPr>
                  <a:t>m+n</a:t>
                </a:r>
                <a:r>
                  <a:rPr lang="en-US" altLang="zh-CN" sz="2400" baseline="-25000" dirty="0">
                    <a:solidFill>
                      <a:srgbClr val="060606"/>
                    </a:solidFill>
                  </a:rPr>
                  <a:t>)</a:t>
                </a:r>
                <a:r>
                  <a:rPr lang="en-US" altLang="zh-CN" sz="2400" dirty="0">
                    <a:solidFill>
                      <a:srgbClr val="060606"/>
                    </a:solidFill>
                  </a:rPr>
                  <a:t> =</a:t>
                </a:r>
                <a:endParaRPr lang="zh-CN" altLang="en-US" sz="2400" dirty="0"/>
              </a:p>
            </p:txBody>
          </p:sp>
          <p:sp>
            <p:nvSpPr>
              <p:cNvPr id="28" name="双括号 27"/>
              <p:cNvSpPr/>
              <p:nvPr/>
            </p:nvSpPr>
            <p:spPr bwMode="auto">
              <a:xfrm>
                <a:off x="6084167" y="908720"/>
                <a:ext cx="4395984" cy="2376264"/>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29" name="矩形 28"/>
              <p:cNvSpPr/>
              <p:nvPr/>
            </p:nvSpPr>
            <p:spPr>
              <a:xfrm>
                <a:off x="7092280" y="2204864"/>
                <a:ext cx="1656184" cy="461665"/>
              </a:xfrm>
              <a:prstGeom prst="rect">
                <a:avLst/>
              </a:prstGeom>
            </p:spPr>
            <p:txBody>
              <a:bodyPr wrap="square">
                <a:spAutoFit/>
              </a:bodyPr>
              <a:lstStyle/>
              <a:p>
                <a:pPr algn="ctr"/>
                <a:r>
                  <a:rPr lang="en-US" altLang="zh-CN" sz="2400" dirty="0">
                    <a:solidFill>
                      <a:srgbClr val="060606"/>
                    </a:solidFill>
                  </a:rPr>
                  <a:t>………………</a:t>
                </a:r>
                <a:endParaRPr lang="zh-CN" altLang="en-US" sz="2400" dirty="0"/>
              </a:p>
            </p:txBody>
          </p:sp>
          <p:sp>
            <p:nvSpPr>
              <p:cNvPr id="31" name="矩形 30"/>
              <p:cNvSpPr/>
              <p:nvPr/>
            </p:nvSpPr>
            <p:spPr>
              <a:xfrm>
                <a:off x="6228183" y="980728"/>
                <a:ext cx="4166245" cy="461665"/>
              </a:xfrm>
              <a:prstGeom prst="rect">
                <a:avLst/>
              </a:prstGeom>
            </p:spPr>
            <p:txBody>
              <a:bodyPr wrap="square">
                <a:spAutoFit/>
              </a:bodyPr>
              <a:lstStyle/>
              <a:p>
                <a:pPr algn="just"/>
                <a:r>
                  <a:rPr lang="en-US" altLang="zh-CN" sz="2400" dirty="0">
                    <a:solidFill>
                      <a:srgbClr val="060606"/>
                    </a:solidFill>
                  </a:rPr>
                  <a:t>a</a:t>
                </a:r>
                <a:r>
                  <a:rPr lang="en-US" altLang="zh-CN" sz="2400" baseline="-25000" dirty="0">
                    <a:solidFill>
                      <a:srgbClr val="060606"/>
                    </a:solidFill>
                  </a:rPr>
                  <a:t>11</a:t>
                </a:r>
                <a:r>
                  <a:rPr lang="en-US" altLang="zh-CN" sz="2400" dirty="0">
                    <a:solidFill>
                      <a:srgbClr val="060606"/>
                    </a:solidFill>
                  </a:rPr>
                  <a:t>   a</a:t>
                </a:r>
                <a:r>
                  <a:rPr lang="en-US" altLang="zh-CN" sz="2400" baseline="-25000" dirty="0">
                    <a:solidFill>
                      <a:srgbClr val="060606"/>
                    </a:solidFill>
                  </a:rPr>
                  <a:t>12</a:t>
                </a:r>
                <a:r>
                  <a:rPr lang="en-US" altLang="zh-CN" sz="2400" dirty="0">
                    <a:solidFill>
                      <a:srgbClr val="060606"/>
                    </a:solidFill>
                  </a:rPr>
                  <a:t>  …  a</a:t>
                </a:r>
                <a:r>
                  <a:rPr lang="en-US" altLang="zh-CN" sz="2400" baseline="-25000" dirty="0">
                    <a:solidFill>
                      <a:srgbClr val="060606"/>
                    </a:solidFill>
                  </a:rPr>
                  <a:t>1n</a:t>
                </a:r>
                <a:r>
                  <a:rPr lang="en-US" altLang="zh-CN" sz="2400" dirty="0">
                    <a:solidFill>
                      <a:srgbClr val="060606"/>
                    </a:solidFill>
                  </a:rPr>
                  <a:t>  1  0   ……  0</a:t>
                </a:r>
                <a:endParaRPr lang="zh-CN" altLang="en-US" sz="2400" dirty="0"/>
              </a:p>
            </p:txBody>
          </p:sp>
          <p:sp>
            <p:nvSpPr>
              <p:cNvPr id="32" name="矩形 31"/>
              <p:cNvSpPr/>
              <p:nvPr/>
            </p:nvSpPr>
            <p:spPr>
              <a:xfrm>
                <a:off x="6191672" y="4005064"/>
                <a:ext cx="2952328" cy="461665"/>
              </a:xfrm>
              <a:prstGeom prst="rect">
                <a:avLst/>
              </a:prstGeom>
            </p:spPr>
            <p:txBody>
              <a:bodyPr wrap="square">
                <a:spAutoFit/>
              </a:bodyPr>
              <a:lstStyle/>
              <a:p>
                <a:pPr algn="ctr"/>
                <a:r>
                  <a:rPr lang="zh-CN" altLang="en-US" sz="2400" dirty="0">
                    <a:solidFill>
                      <a:srgbClr val="060606"/>
                    </a:solidFill>
                  </a:rPr>
                  <a:t>单位矩阵：基</a:t>
                </a:r>
                <a:r>
                  <a:rPr lang="en-US" altLang="zh-CN" sz="2400" dirty="0" err="1">
                    <a:solidFill>
                      <a:srgbClr val="060606"/>
                    </a:solidFill>
                  </a:rPr>
                  <a:t>B</a:t>
                </a:r>
                <a:r>
                  <a:rPr lang="en-US" altLang="zh-CN" sz="2400" baseline="-25000" dirty="0" err="1">
                    <a:solidFill>
                      <a:srgbClr val="060606"/>
                    </a:solidFill>
                  </a:rPr>
                  <a:t>m×m</a:t>
                </a:r>
                <a:endParaRPr lang="zh-CN" altLang="en-US" sz="2400" baseline="-25000" dirty="0"/>
              </a:p>
            </p:txBody>
          </p:sp>
          <p:sp>
            <p:nvSpPr>
              <p:cNvPr id="33" name="矩形 32"/>
              <p:cNvSpPr/>
              <p:nvPr/>
            </p:nvSpPr>
            <p:spPr>
              <a:xfrm>
                <a:off x="6228184" y="1556792"/>
                <a:ext cx="4166244" cy="461665"/>
              </a:xfrm>
              <a:prstGeom prst="rect">
                <a:avLst/>
              </a:prstGeom>
            </p:spPr>
            <p:txBody>
              <a:bodyPr wrap="square">
                <a:spAutoFit/>
              </a:bodyPr>
              <a:lstStyle/>
              <a:p>
                <a:pPr algn="just"/>
                <a:r>
                  <a:rPr lang="en-US" altLang="zh-CN" sz="2400" dirty="0">
                    <a:solidFill>
                      <a:srgbClr val="060606"/>
                    </a:solidFill>
                  </a:rPr>
                  <a:t>a</a:t>
                </a:r>
                <a:r>
                  <a:rPr lang="en-US" altLang="zh-CN" sz="2400" baseline="-25000" dirty="0">
                    <a:solidFill>
                      <a:srgbClr val="060606"/>
                    </a:solidFill>
                  </a:rPr>
                  <a:t>21</a:t>
                </a:r>
                <a:r>
                  <a:rPr lang="en-US" altLang="zh-CN" sz="2400" dirty="0">
                    <a:solidFill>
                      <a:srgbClr val="060606"/>
                    </a:solidFill>
                  </a:rPr>
                  <a:t>   a</a:t>
                </a:r>
                <a:r>
                  <a:rPr lang="en-US" altLang="zh-CN" sz="2400" baseline="-25000" dirty="0">
                    <a:solidFill>
                      <a:srgbClr val="060606"/>
                    </a:solidFill>
                  </a:rPr>
                  <a:t>22</a:t>
                </a:r>
                <a:r>
                  <a:rPr lang="en-US" altLang="zh-CN" sz="2400" dirty="0">
                    <a:solidFill>
                      <a:srgbClr val="060606"/>
                    </a:solidFill>
                  </a:rPr>
                  <a:t>  …  a</a:t>
                </a:r>
                <a:r>
                  <a:rPr lang="en-US" altLang="zh-CN" sz="2400" baseline="-25000" dirty="0">
                    <a:solidFill>
                      <a:srgbClr val="060606"/>
                    </a:solidFill>
                  </a:rPr>
                  <a:t>2n</a:t>
                </a:r>
                <a:r>
                  <a:rPr lang="en-US" altLang="zh-CN" sz="2400" dirty="0">
                    <a:solidFill>
                      <a:srgbClr val="060606"/>
                    </a:solidFill>
                  </a:rPr>
                  <a:t>  0  1   ……  0 </a:t>
                </a:r>
                <a:endParaRPr lang="zh-CN" altLang="en-US" sz="2400" dirty="0"/>
              </a:p>
            </p:txBody>
          </p:sp>
          <p:sp>
            <p:nvSpPr>
              <p:cNvPr id="34" name="矩形 33"/>
              <p:cNvSpPr/>
              <p:nvPr/>
            </p:nvSpPr>
            <p:spPr>
              <a:xfrm>
                <a:off x="6228184" y="2708920"/>
                <a:ext cx="3985270" cy="461665"/>
              </a:xfrm>
              <a:prstGeom prst="rect">
                <a:avLst/>
              </a:prstGeom>
            </p:spPr>
            <p:txBody>
              <a:bodyPr wrap="square">
                <a:spAutoFit/>
              </a:bodyPr>
              <a:lstStyle/>
              <a:p>
                <a:pPr algn="just"/>
                <a:r>
                  <a:rPr lang="en-US" altLang="zh-CN" sz="2400" dirty="0">
                    <a:solidFill>
                      <a:srgbClr val="060606"/>
                    </a:solidFill>
                  </a:rPr>
                  <a:t>a</a:t>
                </a:r>
                <a:r>
                  <a:rPr lang="en-US" altLang="zh-CN" sz="2400" baseline="-25000" dirty="0">
                    <a:solidFill>
                      <a:srgbClr val="060606"/>
                    </a:solidFill>
                  </a:rPr>
                  <a:t>m1</a:t>
                </a:r>
                <a:r>
                  <a:rPr lang="en-US" altLang="zh-CN" sz="2400" dirty="0">
                    <a:solidFill>
                      <a:srgbClr val="060606"/>
                    </a:solidFill>
                  </a:rPr>
                  <a:t>  a</a:t>
                </a:r>
                <a:r>
                  <a:rPr lang="en-US" altLang="zh-CN" sz="2400" baseline="-25000" dirty="0">
                    <a:solidFill>
                      <a:srgbClr val="060606"/>
                    </a:solidFill>
                  </a:rPr>
                  <a:t>m2</a:t>
                </a:r>
                <a:r>
                  <a:rPr lang="en-US" altLang="zh-CN" sz="2400" dirty="0">
                    <a:solidFill>
                      <a:srgbClr val="060606"/>
                    </a:solidFill>
                  </a:rPr>
                  <a:t>  …  </a:t>
                </a:r>
                <a:r>
                  <a:rPr lang="en-US" altLang="zh-CN" sz="2400" dirty="0" err="1">
                    <a:solidFill>
                      <a:srgbClr val="060606"/>
                    </a:solidFill>
                  </a:rPr>
                  <a:t>a</a:t>
                </a:r>
                <a:r>
                  <a:rPr lang="en-US" altLang="zh-CN" sz="2400" baseline="-25000" dirty="0" err="1">
                    <a:solidFill>
                      <a:srgbClr val="060606"/>
                    </a:solidFill>
                  </a:rPr>
                  <a:t>mn</a:t>
                </a:r>
                <a:r>
                  <a:rPr lang="en-US" altLang="zh-CN" sz="2400" dirty="0">
                    <a:solidFill>
                      <a:srgbClr val="060606"/>
                    </a:solidFill>
                  </a:rPr>
                  <a:t> 0  0   ……  1</a:t>
                </a:r>
                <a:endParaRPr lang="zh-CN" altLang="en-US" sz="2400" dirty="0"/>
              </a:p>
            </p:txBody>
          </p:sp>
          <p:cxnSp>
            <p:nvCxnSpPr>
              <p:cNvPr id="37" name="直接箭头连接符 36"/>
              <p:cNvCxnSpPr/>
              <p:nvPr/>
            </p:nvCxnSpPr>
            <p:spPr bwMode="auto">
              <a:xfrm flipH="1">
                <a:off x="7596336" y="2924944"/>
                <a:ext cx="1296144" cy="1080120"/>
              </a:xfrm>
              <a:prstGeom prst="straightConnector1">
                <a:avLst/>
              </a:prstGeom>
              <a:ln w="38100">
                <a:solidFill>
                  <a:srgbClr val="00B050"/>
                </a:solidFill>
                <a:prstDash val="lgDashDotDot"/>
                <a:headEnd type="none" w="med" len="med"/>
                <a:tailEnd type="arrow"/>
              </a:ln>
            </p:spPr>
            <p:style>
              <a:lnRef idx="2">
                <a:schemeClr val="accent6"/>
              </a:lnRef>
              <a:fillRef idx="0">
                <a:schemeClr val="accent6"/>
              </a:fillRef>
              <a:effectRef idx="1">
                <a:schemeClr val="accent6"/>
              </a:effectRef>
              <a:fontRef idx="minor">
                <a:schemeClr val="tx1"/>
              </a:fontRef>
            </p:style>
          </p:cxnSp>
        </p:grpSp>
        <p:sp>
          <p:nvSpPr>
            <p:cNvPr id="45" name="矩形 44"/>
            <p:cNvSpPr/>
            <p:nvPr/>
          </p:nvSpPr>
          <p:spPr>
            <a:xfrm>
              <a:off x="6204520" y="2276873"/>
              <a:ext cx="5056192" cy="461665"/>
            </a:xfrm>
            <a:prstGeom prst="rect">
              <a:avLst/>
            </a:prstGeom>
          </p:spPr>
          <p:txBody>
            <a:bodyPr wrap="none">
              <a:spAutoFit/>
            </a:bodyPr>
            <a:lstStyle/>
            <a:p>
              <a:r>
                <a:rPr lang="en-US" altLang="zh-CN" sz="2400" b="1" dirty="0">
                  <a:solidFill>
                    <a:srgbClr val="060606"/>
                  </a:solidFill>
                </a:rPr>
                <a:t>x</a:t>
              </a:r>
              <a:r>
                <a:rPr lang="en-US" altLang="zh-CN" sz="2400" dirty="0">
                  <a:solidFill>
                    <a:srgbClr val="060606"/>
                  </a:solidFill>
                </a:rPr>
                <a:t> = (                                                 )</a:t>
              </a:r>
              <a:endParaRPr lang="zh-CN" altLang="en-US" sz="2400" baseline="30000" dirty="0">
                <a:solidFill>
                  <a:srgbClr val="060606"/>
                </a:solidFill>
              </a:endParaRPr>
            </a:p>
          </p:txBody>
        </p:sp>
        <p:sp>
          <p:nvSpPr>
            <p:cNvPr id="46" name="矩形 45"/>
            <p:cNvSpPr/>
            <p:nvPr/>
          </p:nvSpPr>
          <p:spPr>
            <a:xfrm>
              <a:off x="6816079" y="2276873"/>
              <a:ext cx="4323973" cy="461665"/>
            </a:xfrm>
            <a:prstGeom prst="rect">
              <a:avLst/>
            </a:prstGeom>
          </p:spPr>
          <p:txBody>
            <a:bodyPr wrap="square">
              <a:spAutoFit/>
            </a:bodyPr>
            <a:lstStyle/>
            <a:p>
              <a:pPr algn="just"/>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60606"/>
                  </a:solidFill>
                </a:rPr>
                <a:t>    x</a:t>
              </a:r>
              <a:r>
                <a:rPr lang="en-US" altLang="zh-CN" sz="2400" baseline="-25000" dirty="0">
                  <a:solidFill>
                    <a:srgbClr val="060606"/>
                  </a:solidFill>
                </a:rPr>
                <a:t>2</a:t>
              </a:r>
              <a:r>
                <a:rPr lang="en-US" altLang="zh-CN" sz="2400" dirty="0">
                  <a:solidFill>
                    <a:srgbClr val="060606"/>
                  </a:solidFill>
                </a:rPr>
                <a:t>   …   </a:t>
              </a:r>
              <a:r>
                <a:rPr lang="en-US" altLang="zh-CN" sz="2400" dirty="0" err="1">
                  <a:solidFill>
                    <a:srgbClr val="060606"/>
                  </a:solidFill>
                </a:rPr>
                <a:t>x</a:t>
              </a:r>
              <a:r>
                <a:rPr lang="en-US" altLang="zh-CN" sz="2400" baseline="-25000" dirty="0" err="1">
                  <a:solidFill>
                    <a:srgbClr val="060606"/>
                  </a:solidFill>
                </a:rPr>
                <a:t>n</a:t>
              </a:r>
              <a:r>
                <a:rPr lang="en-US" altLang="zh-CN" sz="2400" dirty="0">
                  <a:solidFill>
                    <a:srgbClr val="060606"/>
                  </a:solidFill>
                </a:rPr>
                <a:t> </a:t>
              </a:r>
              <a:r>
                <a:rPr lang="en-US" altLang="zh-CN" sz="2400" dirty="0">
                  <a:solidFill>
                    <a:srgbClr val="FF0000"/>
                  </a:solidFill>
                </a:rPr>
                <a:t>x</a:t>
              </a:r>
              <a:r>
                <a:rPr lang="en-US" altLang="zh-CN" sz="2400" baseline="-25000" dirty="0">
                  <a:solidFill>
                    <a:srgbClr val="FF0000"/>
                  </a:solidFill>
                </a:rPr>
                <a:t>s1</a:t>
              </a:r>
              <a:r>
                <a:rPr lang="en-US" altLang="zh-CN" sz="2400" dirty="0">
                  <a:solidFill>
                    <a:srgbClr val="060606"/>
                  </a:solidFill>
                </a:rPr>
                <a:t> </a:t>
              </a:r>
              <a:r>
                <a:rPr lang="en-US" altLang="zh-CN" sz="2400" dirty="0">
                  <a:solidFill>
                    <a:srgbClr val="FF0000"/>
                  </a:solidFill>
                </a:rPr>
                <a:t>x</a:t>
              </a:r>
              <a:r>
                <a:rPr lang="en-US" altLang="zh-CN" sz="2400" baseline="-25000" dirty="0">
                  <a:solidFill>
                    <a:srgbClr val="FF0000"/>
                  </a:solidFill>
                </a:rPr>
                <a:t>s2 </a:t>
              </a:r>
              <a:r>
                <a:rPr lang="en-US" altLang="zh-CN" sz="2400" dirty="0">
                  <a:solidFill>
                    <a:srgbClr val="060606"/>
                  </a:solidFill>
                </a:rPr>
                <a:t>…… </a:t>
              </a:r>
              <a:r>
                <a:rPr lang="en-US" altLang="zh-CN" sz="2400" dirty="0" err="1">
                  <a:solidFill>
                    <a:srgbClr val="FF0000"/>
                  </a:solidFill>
                </a:rPr>
                <a:t>x</a:t>
              </a:r>
              <a:r>
                <a:rPr lang="en-US" altLang="zh-CN" sz="2400" baseline="-25000" dirty="0" err="1">
                  <a:solidFill>
                    <a:srgbClr val="FF0000"/>
                  </a:solidFill>
                </a:rPr>
                <a:t>sm</a:t>
              </a:r>
              <a:endParaRPr lang="zh-CN" altLang="en-US" sz="2400" dirty="0"/>
            </a:p>
          </p:txBody>
        </p:sp>
        <p:cxnSp>
          <p:nvCxnSpPr>
            <p:cNvPr id="49" name="直接连接符 48"/>
            <p:cNvCxnSpPr/>
            <p:nvPr/>
          </p:nvCxnSpPr>
          <p:spPr bwMode="auto">
            <a:xfrm>
              <a:off x="7392144" y="2276872"/>
              <a:ext cx="0" cy="3024336"/>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7896200" y="2276872"/>
              <a:ext cx="0" cy="3024336"/>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a:off x="8859738" y="2348880"/>
              <a:ext cx="0" cy="3024336"/>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9267403" y="2348880"/>
              <a:ext cx="0" cy="3024336"/>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52"/>
            <p:cNvCxnSpPr/>
            <p:nvPr/>
          </p:nvCxnSpPr>
          <p:spPr bwMode="auto">
            <a:xfrm>
              <a:off x="9665543" y="2348880"/>
              <a:ext cx="0" cy="3024336"/>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连接符 53"/>
            <p:cNvCxnSpPr/>
            <p:nvPr/>
          </p:nvCxnSpPr>
          <p:spPr bwMode="auto">
            <a:xfrm>
              <a:off x="10153600" y="2348880"/>
              <a:ext cx="0" cy="3024336"/>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矩形 23"/>
            <p:cNvSpPr/>
            <p:nvPr/>
          </p:nvSpPr>
          <p:spPr>
            <a:xfrm>
              <a:off x="8905875" y="2775100"/>
              <a:ext cx="1654621" cy="2263625"/>
            </a:xfrm>
            <a:prstGeom prst="rect">
              <a:avLst/>
            </a:prstGeom>
            <a:noFill/>
            <a:ln w="5715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cxnSp>
          <p:nvCxnSpPr>
            <p:cNvPr id="55" name="直接连接符 54"/>
            <p:cNvCxnSpPr/>
            <p:nvPr/>
          </p:nvCxnSpPr>
          <p:spPr bwMode="auto">
            <a:xfrm>
              <a:off x="8353400" y="2295922"/>
              <a:ext cx="0" cy="3024336"/>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6" name="文本框 55"/>
          <p:cNvSpPr txBox="1"/>
          <p:nvPr/>
        </p:nvSpPr>
        <p:spPr>
          <a:xfrm>
            <a:off x="6414301" y="434763"/>
            <a:ext cx="2540893" cy="461665"/>
          </a:xfrm>
          <a:prstGeom prst="rect">
            <a:avLst/>
          </a:prstGeom>
          <a:noFill/>
        </p:spPr>
        <p:txBody>
          <a:bodyPr wrap="square">
            <a:spAutoFit/>
          </a:bodyPr>
          <a:lstStyle/>
          <a:p>
            <a:r>
              <a:rPr lang="zh-CN" altLang="en-US" sz="2400" dirty="0">
                <a:solidFill>
                  <a:srgbClr val="0322BD"/>
                </a:solidFill>
              </a:rPr>
              <a:t>增广矩阵</a:t>
            </a:r>
            <a:endParaRPr lang="zh-CN" altLang="en-US" sz="2400" dirty="0">
              <a:solidFill>
                <a:srgbClr val="0322BD"/>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1"/>
          <p:cNvGrpSpPr/>
          <p:nvPr/>
        </p:nvGrpSpPr>
        <p:grpSpPr>
          <a:xfrm>
            <a:off x="1919536" y="476673"/>
            <a:ext cx="7488832" cy="2261865"/>
            <a:chOff x="3059832" y="4106689"/>
            <a:chExt cx="7488832" cy="2261865"/>
          </a:xfrm>
        </p:grpSpPr>
        <p:sp>
          <p:nvSpPr>
            <p:cNvPr id="4" name="矩形 3"/>
            <p:cNvSpPr/>
            <p:nvPr/>
          </p:nvSpPr>
          <p:spPr>
            <a:xfrm>
              <a:off x="3275856" y="4106689"/>
              <a:ext cx="4392488" cy="479234"/>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2400" dirty="0">
                  <a:solidFill>
                    <a:srgbClr val="060606"/>
                  </a:solidFill>
                </a:rPr>
                <a:t>max Z  = 3x</a:t>
              </a:r>
              <a:r>
                <a:rPr lang="en-US" altLang="zh-CN" sz="2400" baseline="-25000" dirty="0">
                  <a:solidFill>
                    <a:srgbClr val="060606"/>
                  </a:solidFill>
                </a:rPr>
                <a:t>1</a:t>
              </a:r>
              <a:r>
                <a:rPr lang="en-US" altLang="zh-CN" sz="2400" dirty="0">
                  <a:solidFill>
                    <a:srgbClr val="060606"/>
                  </a:solidFill>
                </a:rPr>
                <a:t>     +5x</a:t>
              </a:r>
              <a:r>
                <a:rPr lang="en-US" altLang="zh-CN" sz="2400" baseline="-25000" dirty="0">
                  <a:solidFill>
                    <a:srgbClr val="060606"/>
                  </a:solidFill>
                </a:rPr>
                <a:t>2</a:t>
              </a:r>
              <a:endParaRPr lang="en-US" altLang="zh-CN" sz="2400" dirty="0">
                <a:solidFill>
                  <a:srgbClr val="060606"/>
                </a:solidFill>
              </a:endParaRPr>
            </a:p>
          </p:txBody>
        </p:sp>
        <p:sp>
          <p:nvSpPr>
            <p:cNvPr id="5" name="矩形 4"/>
            <p:cNvSpPr/>
            <p:nvPr/>
          </p:nvSpPr>
          <p:spPr>
            <a:xfrm>
              <a:off x="3059832" y="5186809"/>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6" name="左大括号 5"/>
            <p:cNvSpPr/>
            <p:nvPr/>
          </p:nvSpPr>
          <p:spPr bwMode="auto">
            <a:xfrm>
              <a:off x="3635896" y="4682753"/>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7" name="矩形 6"/>
            <p:cNvSpPr/>
            <p:nvPr/>
          </p:nvSpPr>
          <p:spPr>
            <a:xfrm>
              <a:off x="4427984" y="4538737"/>
              <a:ext cx="4557658" cy="461665"/>
            </a:xfrm>
            <a:prstGeom prst="rect">
              <a:avLst/>
            </a:prstGeom>
          </p:spPr>
          <p:txBody>
            <a:bodyPr wrap="none">
              <a:spAutoFit/>
            </a:bodyPr>
            <a:lstStyle/>
            <a:p>
              <a:r>
                <a:rPr lang="en-US" altLang="zh-CN" sz="2400" dirty="0">
                  <a:solidFill>
                    <a:srgbClr val="060606"/>
                  </a:solidFill>
                </a:rPr>
                <a:t>  x</a:t>
              </a:r>
              <a:r>
                <a:rPr lang="en-US" altLang="zh-CN" sz="2400" baseline="-25000" dirty="0">
                  <a:solidFill>
                    <a:srgbClr val="060606"/>
                  </a:solidFill>
                </a:rPr>
                <a:t>1</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 4</a:t>
              </a:r>
              <a:endParaRPr lang="zh-CN" altLang="en-US" dirty="0"/>
            </a:p>
          </p:txBody>
        </p:sp>
        <p:sp>
          <p:nvSpPr>
            <p:cNvPr id="8" name="矩形 7"/>
            <p:cNvSpPr/>
            <p:nvPr/>
          </p:nvSpPr>
          <p:spPr>
            <a:xfrm>
              <a:off x="4499992" y="5402833"/>
              <a:ext cx="4469493" cy="461665"/>
            </a:xfrm>
            <a:prstGeom prst="rect">
              <a:avLst/>
            </a:prstGeom>
          </p:spPr>
          <p:txBody>
            <a:bodyPr wrap="none">
              <a:spAutoFit/>
            </a:bodyPr>
            <a:lstStyle/>
            <a:p>
              <a:r>
                <a:rPr lang="en-US" altLang="zh-CN" sz="2400" dirty="0">
                  <a:solidFill>
                    <a:srgbClr val="060606"/>
                  </a:solidFill>
                </a:rPr>
                <a:t>3x</a:t>
              </a:r>
              <a:r>
                <a:rPr lang="en-US" altLang="zh-CN" sz="2400" baseline="-25000" dirty="0">
                  <a:solidFill>
                    <a:srgbClr val="060606"/>
                  </a:solidFill>
                </a:rPr>
                <a:t>1     </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x</a:t>
              </a:r>
              <a:r>
                <a:rPr lang="en-US" altLang="zh-CN" sz="2400" baseline="-25000" dirty="0">
                  <a:solidFill>
                    <a:srgbClr val="060606"/>
                  </a:solidFill>
                </a:rPr>
                <a:t>5 </a:t>
              </a:r>
              <a:r>
                <a:rPr lang="en-US" altLang="zh-CN" sz="2400" dirty="0">
                  <a:solidFill>
                    <a:srgbClr val="060606"/>
                  </a:solidFill>
                </a:rPr>
                <a:t> = 18</a:t>
              </a:r>
              <a:endParaRPr lang="zh-CN" altLang="en-US" dirty="0"/>
            </a:p>
          </p:txBody>
        </p:sp>
        <p:sp>
          <p:nvSpPr>
            <p:cNvPr id="9" name="矩形 8"/>
            <p:cNvSpPr/>
            <p:nvPr/>
          </p:nvSpPr>
          <p:spPr>
            <a:xfrm>
              <a:off x="4572000" y="5906889"/>
              <a:ext cx="5976664" cy="461665"/>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10" name="矩形 9"/>
            <p:cNvSpPr/>
            <p:nvPr/>
          </p:nvSpPr>
          <p:spPr>
            <a:xfrm>
              <a:off x="4355976" y="4970785"/>
              <a:ext cx="4626588" cy="461665"/>
            </a:xfrm>
            <a:prstGeom prst="rect">
              <a:avLst/>
            </a:prstGeom>
          </p:spPr>
          <p:txBody>
            <a:bodyPr wrap="none">
              <a:spAutoFit/>
            </a:bodyPr>
            <a:lstStyle/>
            <a:p>
              <a:r>
                <a:rPr lang="en-US" altLang="zh-CN" sz="2400" dirty="0">
                  <a:solidFill>
                    <a:srgbClr val="060606"/>
                  </a:solidFill>
                </a:rPr>
                <a:t>             2x</a:t>
              </a:r>
              <a:r>
                <a:rPr lang="en-US" altLang="zh-CN" sz="2400" baseline="-25000" dirty="0">
                  <a:solidFill>
                    <a:srgbClr val="060606"/>
                  </a:solidFill>
                </a:rPr>
                <a:t>2</a:t>
              </a:r>
              <a:r>
                <a:rPr lang="en-US" altLang="zh-CN" sz="2400" dirty="0">
                  <a:solidFill>
                    <a:srgbClr val="060606"/>
                  </a:solidFill>
                </a:rPr>
                <a:t>           +x</a:t>
              </a:r>
              <a:r>
                <a:rPr lang="en-US" altLang="zh-CN" sz="2400" baseline="-25000" dirty="0">
                  <a:solidFill>
                    <a:srgbClr val="060606"/>
                  </a:solidFill>
                </a:rPr>
                <a:t>4</a:t>
              </a:r>
              <a:r>
                <a:rPr lang="en-US" altLang="zh-CN" sz="2400" dirty="0">
                  <a:solidFill>
                    <a:srgbClr val="060606"/>
                  </a:solidFill>
                </a:rPr>
                <a:t>            =12</a:t>
              </a:r>
              <a:endParaRPr lang="zh-CN" altLang="en-US" sz="2400" dirty="0">
                <a:solidFill>
                  <a:srgbClr val="060606"/>
                </a:solidFill>
              </a:endParaRPr>
            </a:p>
          </p:txBody>
        </p:sp>
      </p:grpSp>
      <p:grpSp>
        <p:nvGrpSpPr>
          <p:cNvPr id="11" name="组合 36"/>
          <p:cNvGrpSpPr/>
          <p:nvPr/>
        </p:nvGrpSpPr>
        <p:grpSpPr>
          <a:xfrm>
            <a:off x="2063552" y="3517777"/>
            <a:ext cx="5499298" cy="2261865"/>
            <a:chOff x="3131840" y="4293096"/>
            <a:chExt cx="5499298" cy="2261865"/>
          </a:xfrm>
        </p:grpSpPr>
        <p:sp>
          <p:nvSpPr>
            <p:cNvPr id="24" name="矩形 23"/>
            <p:cNvSpPr/>
            <p:nvPr/>
          </p:nvSpPr>
          <p:spPr>
            <a:xfrm>
              <a:off x="3131840" y="4293096"/>
              <a:ext cx="3600400" cy="476541"/>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a:t>
              </a:r>
              <a:r>
                <a:rPr lang="zh-CN" altLang="en-US" sz="2400" dirty="0">
                  <a:solidFill>
                    <a:srgbClr val="060606"/>
                  </a:solidFill>
                </a:rPr>
                <a:t>－</a:t>
              </a:r>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5x</a:t>
              </a:r>
              <a:r>
                <a:rPr lang="en-US" altLang="zh-CN" sz="2400" baseline="-25000" dirty="0">
                  <a:solidFill>
                    <a:srgbClr val="060606"/>
                  </a:solidFill>
                </a:rPr>
                <a:t>2</a:t>
              </a:r>
              <a:r>
                <a:rPr lang="en-US" altLang="zh-CN" sz="2400" dirty="0">
                  <a:solidFill>
                    <a:srgbClr val="060606"/>
                  </a:solidFill>
                </a:rPr>
                <a:t> = 0 </a:t>
              </a:r>
              <a:endParaRPr lang="en-US" altLang="zh-CN" sz="2400" dirty="0">
                <a:solidFill>
                  <a:srgbClr val="060606"/>
                </a:solidFill>
              </a:endParaRPr>
            </a:p>
          </p:txBody>
        </p:sp>
        <p:sp>
          <p:nvSpPr>
            <p:cNvPr id="27" name="矩形 26"/>
            <p:cNvSpPr/>
            <p:nvPr/>
          </p:nvSpPr>
          <p:spPr>
            <a:xfrm>
              <a:off x="3131840" y="4725144"/>
              <a:ext cx="2332690"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4</a:t>
              </a:r>
              <a:endParaRPr lang="zh-CN" altLang="en-US" dirty="0"/>
            </a:p>
          </p:txBody>
        </p:sp>
        <p:sp>
          <p:nvSpPr>
            <p:cNvPr id="28" name="矩形 27"/>
            <p:cNvSpPr/>
            <p:nvPr/>
          </p:nvSpPr>
          <p:spPr>
            <a:xfrm>
              <a:off x="3131840" y="5589240"/>
              <a:ext cx="3437159"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x</a:t>
              </a:r>
              <a:r>
                <a:rPr lang="en-US" altLang="zh-CN" sz="2400" baseline="-25000" dirty="0">
                  <a:solidFill>
                    <a:srgbClr val="060606"/>
                  </a:solidFill>
                </a:rPr>
                <a:t>5 </a:t>
              </a:r>
              <a:r>
                <a:rPr lang="en-US" altLang="zh-CN" sz="2400" dirty="0">
                  <a:solidFill>
                    <a:srgbClr val="060606"/>
                  </a:solidFill>
                </a:rPr>
                <a:t> = 18</a:t>
              </a:r>
              <a:endParaRPr lang="zh-CN" altLang="en-US" dirty="0"/>
            </a:p>
          </p:txBody>
        </p:sp>
        <p:sp>
          <p:nvSpPr>
            <p:cNvPr id="29" name="矩形 28"/>
            <p:cNvSpPr/>
            <p:nvPr/>
          </p:nvSpPr>
          <p:spPr>
            <a:xfrm>
              <a:off x="3131840" y="6093296"/>
              <a:ext cx="5499298" cy="461665"/>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30" name="矩形 29"/>
            <p:cNvSpPr/>
            <p:nvPr/>
          </p:nvSpPr>
          <p:spPr>
            <a:xfrm>
              <a:off x="3131840" y="5157192"/>
              <a:ext cx="2685351"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2</a:t>
              </a:r>
              <a:r>
                <a:rPr lang="zh-CN" altLang="en-US" sz="2400" dirty="0">
                  <a:solidFill>
                    <a:srgbClr val="060606"/>
                  </a:solidFill>
                </a:rPr>
                <a:t>）</a:t>
              </a:r>
              <a:r>
                <a:rPr lang="en-US" altLang="zh-CN" sz="2400" dirty="0">
                  <a:solidFill>
                    <a:srgbClr val="060606"/>
                  </a:solidFill>
                </a:rPr>
                <a:t> 2x</a:t>
              </a:r>
              <a:r>
                <a:rPr lang="en-US" altLang="zh-CN" sz="2400" baseline="-25000" dirty="0">
                  <a:solidFill>
                    <a:srgbClr val="060606"/>
                  </a:solidFill>
                </a:rPr>
                <a:t>2</a:t>
              </a:r>
              <a:r>
                <a:rPr lang="en-US" altLang="zh-CN" sz="2400" dirty="0">
                  <a:solidFill>
                    <a:srgbClr val="060606"/>
                  </a:solidFill>
                </a:rPr>
                <a:t>  +x</a:t>
              </a:r>
              <a:r>
                <a:rPr lang="en-US" altLang="zh-CN" sz="2400" baseline="-25000" dirty="0">
                  <a:solidFill>
                    <a:srgbClr val="060606"/>
                  </a:solidFill>
                </a:rPr>
                <a:t>4</a:t>
              </a:r>
              <a:r>
                <a:rPr lang="en-US" altLang="zh-CN" sz="2400" dirty="0">
                  <a:solidFill>
                    <a:srgbClr val="060606"/>
                  </a:solidFill>
                </a:rPr>
                <a:t> =12</a:t>
              </a:r>
              <a:endParaRPr lang="zh-CN" altLang="en-US" sz="2400" dirty="0">
                <a:solidFill>
                  <a:srgbClr val="060606"/>
                </a:solidFill>
              </a:endParaRPr>
            </a:p>
          </p:txBody>
        </p:sp>
      </p:grpSp>
      <p:grpSp>
        <p:nvGrpSpPr>
          <p:cNvPr id="12" name="组合 48"/>
          <p:cNvGrpSpPr/>
          <p:nvPr/>
        </p:nvGrpSpPr>
        <p:grpSpPr>
          <a:xfrm>
            <a:off x="7261845" y="3763418"/>
            <a:ext cx="3815730" cy="2160240"/>
            <a:chOff x="5580112" y="4221088"/>
            <a:chExt cx="3024336" cy="2160240"/>
          </a:xfrm>
        </p:grpSpPr>
        <p:grpSp>
          <p:nvGrpSpPr>
            <p:cNvPr id="13" name="组合 37"/>
            <p:cNvGrpSpPr/>
            <p:nvPr/>
          </p:nvGrpSpPr>
          <p:grpSpPr>
            <a:xfrm>
              <a:off x="5580112" y="4221088"/>
              <a:ext cx="3024336" cy="2160240"/>
              <a:chOff x="6228184" y="1916832"/>
              <a:chExt cx="3024336" cy="2160240"/>
            </a:xfrm>
          </p:grpSpPr>
          <p:sp>
            <p:nvSpPr>
              <p:cNvPr id="39" name="矩形 38"/>
              <p:cNvSpPr/>
              <p:nvPr/>
            </p:nvSpPr>
            <p:spPr>
              <a:xfrm>
                <a:off x="6228184" y="2348880"/>
                <a:ext cx="1144865" cy="461665"/>
              </a:xfrm>
              <a:prstGeom prst="rect">
                <a:avLst/>
              </a:prstGeom>
            </p:spPr>
            <p:txBody>
              <a:bodyPr wrap="none">
                <a:spAutoFit/>
              </a:bodyPr>
              <a:lstStyle/>
              <a:p>
                <a:r>
                  <a:rPr lang="en-US" altLang="zh-CN" sz="2400" b="1" dirty="0">
                    <a:solidFill>
                      <a:srgbClr val="060606"/>
                    </a:solidFill>
                  </a:rPr>
                  <a:t>A</a:t>
                </a:r>
                <a:r>
                  <a:rPr lang="en-US" altLang="zh-CN" sz="2400" baseline="-25000" dirty="0">
                    <a:solidFill>
                      <a:srgbClr val="060606"/>
                    </a:solidFill>
                  </a:rPr>
                  <a:t>3 × 5</a:t>
                </a:r>
                <a:r>
                  <a:rPr lang="en-US" altLang="zh-CN" sz="2400" dirty="0">
                    <a:solidFill>
                      <a:srgbClr val="060606"/>
                    </a:solidFill>
                  </a:rPr>
                  <a:t> =</a:t>
                </a:r>
                <a:endParaRPr lang="zh-CN" altLang="en-US" sz="2400" dirty="0"/>
              </a:p>
            </p:txBody>
          </p:sp>
          <p:sp>
            <p:nvSpPr>
              <p:cNvPr id="40" name="双括号 39"/>
              <p:cNvSpPr/>
              <p:nvPr/>
            </p:nvSpPr>
            <p:spPr bwMode="auto">
              <a:xfrm>
                <a:off x="7308304" y="1916832"/>
                <a:ext cx="1728192" cy="1584176"/>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41" name="矩形 40"/>
              <p:cNvSpPr/>
              <p:nvPr/>
            </p:nvSpPr>
            <p:spPr>
              <a:xfrm>
                <a:off x="7308304" y="2996952"/>
                <a:ext cx="1656184" cy="830997"/>
              </a:xfrm>
              <a:prstGeom prst="rect">
                <a:avLst/>
              </a:prstGeom>
            </p:spPr>
            <p:txBody>
              <a:bodyPr wrap="square">
                <a:spAutoFit/>
              </a:bodyPr>
              <a:lstStyle/>
              <a:p>
                <a:pPr algn="ctr"/>
                <a:r>
                  <a:rPr lang="en-US" altLang="zh-CN" sz="2400" dirty="0">
                    <a:solidFill>
                      <a:srgbClr val="060606"/>
                    </a:solidFill>
                  </a:rPr>
                  <a:t>3  2  0  </a:t>
                </a:r>
                <a:r>
                  <a:rPr lang="en-US" altLang="zh-CN" sz="2400" dirty="0" err="1">
                    <a:solidFill>
                      <a:srgbClr val="060606"/>
                    </a:solidFill>
                  </a:rPr>
                  <a:t>0</a:t>
                </a:r>
                <a:r>
                  <a:rPr lang="en-US" altLang="zh-CN" sz="2400" dirty="0">
                    <a:solidFill>
                      <a:srgbClr val="060606"/>
                    </a:solidFill>
                  </a:rPr>
                  <a:t>  1</a:t>
                </a:r>
                <a:endParaRPr lang="zh-CN" altLang="en-US" sz="2400" dirty="0"/>
              </a:p>
            </p:txBody>
          </p:sp>
          <p:sp>
            <p:nvSpPr>
              <p:cNvPr id="42" name="矩形 41"/>
              <p:cNvSpPr/>
              <p:nvPr/>
            </p:nvSpPr>
            <p:spPr>
              <a:xfrm>
                <a:off x="7308304" y="2492896"/>
                <a:ext cx="1656184" cy="830997"/>
              </a:xfrm>
              <a:prstGeom prst="rect">
                <a:avLst/>
              </a:prstGeom>
            </p:spPr>
            <p:txBody>
              <a:bodyPr wrap="square">
                <a:spAutoFit/>
              </a:bodyPr>
              <a:lstStyle/>
              <a:p>
                <a:pPr algn="ctr"/>
                <a:r>
                  <a:rPr lang="en-US" altLang="zh-CN" sz="2400" dirty="0">
                    <a:solidFill>
                      <a:srgbClr val="060606"/>
                    </a:solidFill>
                  </a:rPr>
                  <a:t>0  2  0  1  0</a:t>
                </a:r>
                <a:endParaRPr lang="zh-CN" altLang="en-US" sz="2400" dirty="0"/>
              </a:p>
            </p:txBody>
          </p:sp>
          <p:sp>
            <p:nvSpPr>
              <p:cNvPr id="43" name="矩形 42"/>
              <p:cNvSpPr/>
              <p:nvPr/>
            </p:nvSpPr>
            <p:spPr>
              <a:xfrm>
                <a:off x="7308304" y="1988840"/>
                <a:ext cx="1656184" cy="830997"/>
              </a:xfrm>
              <a:prstGeom prst="rect">
                <a:avLst/>
              </a:prstGeom>
            </p:spPr>
            <p:txBody>
              <a:bodyPr wrap="square">
                <a:spAutoFit/>
              </a:bodyPr>
              <a:lstStyle/>
              <a:p>
                <a:pPr algn="ctr"/>
                <a:r>
                  <a:rPr lang="en-US" altLang="zh-CN" sz="2400" dirty="0">
                    <a:solidFill>
                      <a:srgbClr val="060606"/>
                    </a:solidFill>
                  </a:rPr>
                  <a:t>1  0  1  0  0</a:t>
                </a:r>
                <a:endParaRPr lang="zh-CN" altLang="en-US" sz="2400" dirty="0"/>
              </a:p>
            </p:txBody>
          </p:sp>
          <p:sp>
            <p:nvSpPr>
              <p:cNvPr id="44" name="矩形 43"/>
              <p:cNvSpPr/>
              <p:nvPr/>
            </p:nvSpPr>
            <p:spPr>
              <a:xfrm>
                <a:off x="6300192" y="3615407"/>
                <a:ext cx="2952328" cy="461665"/>
              </a:xfrm>
              <a:prstGeom prst="rect">
                <a:avLst/>
              </a:prstGeom>
            </p:spPr>
            <p:txBody>
              <a:bodyPr wrap="square">
                <a:spAutoFit/>
              </a:bodyPr>
              <a:lstStyle/>
              <a:p>
                <a:pPr algn="ctr"/>
                <a:r>
                  <a:rPr lang="zh-CN" altLang="en-US" sz="2400">
                    <a:solidFill>
                      <a:srgbClr val="060606"/>
                    </a:solidFill>
                  </a:rPr>
                  <a:t>单位矩阵：基</a:t>
                </a:r>
                <a:r>
                  <a:rPr lang="en-US" altLang="zh-CN" sz="2400" dirty="0">
                    <a:solidFill>
                      <a:srgbClr val="060606"/>
                    </a:solidFill>
                  </a:rPr>
                  <a:t>B</a:t>
                </a:r>
                <a:r>
                  <a:rPr lang="en-US" altLang="zh-CN" sz="2400" baseline="-25000" dirty="0">
                    <a:solidFill>
                      <a:srgbClr val="060606"/>
                    </a:solidFill>
                  </a:rPr>
                  <a:t>3×3</a:t>
                </a:r>
                <a:endParaRPr lang="zh-CN" altLang="en-US" sz="2400" baseline="-25000" dirty="0"/>
              </a:p>
            </p:txBody>
          </p:sp>
        </p:grpSp>
        <p:sp>
          <p:nvSpPr>
            <p:cNvPr id="45" name="任意多边形 44"/>
            <p:cNvSpPr/>
            <p:nvPr/>
          </p:nvSpPr>
          <p:spPr bwMode="auto">
            <a:xfrm>
              <a:off x="7382352" y="4293920"/>
              <a:ext cx="823865" cy="1394233"/>
            </a:xfrm>
            <a:custGeom>
              <a:avLst/>
              <a:gdLst>
                <a:gd name="connsiteX0" fmla="*/ 18107 w 823865"/>
                <a:gd name="connsiteY0" fmla="*/ 9053 h 1394233"/>
                <a:gd name="connsiteX1" fmla="*/ 805758 w 823865"/>
                <a:gd name="connsiteY1" fmla="*/ 0 h 1394233"/>
                <a:gd name="connsiteX2" fmla="*/ 823865 w 823865"/>
                <a:gd name="connsiteY2" fmla="*/ 1394233 h 1394233"/>
                <a:gd name="connsiteX3" fmla="*/ 0 w 823865"/>
                <a:gd name="connsiteY3" fmla="*/ 1376126 h 1394233"/>
                <a:gd name="connsiteX4" fmla="*/ 18107 w 823865"/>
                <a:gd name="connsiteY4" fmla="*/ 9053 h 139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865" h="1394233">
                  <a:moveTo>
                    <a:pt x="18107" y="9053"/>
                  </a:moveTo>
                  <a:lnTo>
                    <a:pt x="805758" y="0"/>
                  </a:lnTo>
                  <a:lnTo>
                    <a:pt x="823865" y="1394233"/>
                  </a:lnTo>
                  <a:lnTo>
                    <a:pt x="0" y="1376126"/>
                  </a:lnTo>
                  <a:cubicBezTo>
                    <a:pt x="3018" y="911382"/>
                    <a:pt x="6035" y="446637"/>
                    <a:pt x="18107" y="9053"/>
                  </a:cubicBezTo>
                  <a:close/>
                </a:path>
              </a:pathLst>
            </a:custGeom>
            <a:no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cxnSp>
          <p:nvCxnSpPr>
            <p:cNvPr id="47" name="直接箭头连接符 46"/>
            <p:cNvCxnSpPr/>
            <p:nvPr/>
          </p:nvCxnSpPr>
          <p:spPr bwMode="auto">
            <a:xfrm flipH="1">
              <a:off x="7668344" y="5517232"/>
              <a:ext cx="144016" cy="432048"/>
            </a:xfrm>
            <a:prstGeom prst="straightConnector1">
              <a:avLst/>
            </a:prstGeom>
            <a:solidFill>
              <a:schemeClr val="accent1"/>
            </a:solidFill>
            <a:ln w="28575" cap="flat" cmpd="sng" algn="ctr">
              <a:solidFill>
                <a:srgbClr val="00B05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0" name="矩形 49"/>
          <p:cNvSpPr/>
          <p:nvPr/>
        </p:nvSpPr>
        <p:spPr>
          <a:xfrm>
            <a:off x="7752184" y="3229745"/>
            <a:ext cx="2446504" cy="461665"/>
          </a:xfrm>
          <a:prstGeom prst="rect">
            <a:avLst/>
          </a:prstGeom>
        </p:spPr>
        <p:txBody>
          <a:bodyPr wrap="none">
            <a:spAutoFit/>
          </a:bodyPr>
          <a:lstStyle/>
          <a:p>
            <a:r>
              <a:rPr lang="en-US" altLang="zh-CN" sz="2400" dirty="0">
                <a:solidFill>
                  <a:srgbClr val="060606"/>
                </a:solidFill>
              </a:rPr>
              <a:t>b = (4</a:t>
            </a:r>
            <a:r>
              <a:rPr lang="zh-CN" altLang="en-US" sz="2400" dirty="0">
                <a:solidFill>
                  <a:srgbClr val="060606"/>
                </a:solidFill>
              </a:rPr>
              <a:t>，</a:t>
            </a:r>
            <a:r>
              <a:rPr lang="en-US" altLang="zh-CN" sz="2400" dirty="0">
                <a:solidFill>
                  <a:srgbClr val="060606"/>
                </a:solidFill>
              </a:rPr>
              <a:t>12</a:t>
            </a:r>
            <a:r>
              <a:rPr lang="zh-CN" altLang="en-US" sz="2400" dirty="0">
                <a:solidFill>
                  <a:srgbClr val="060606"/>
                </a:solidFill>
              </a:rPr>
              <a:t>，</a:t>
            </a:r>
            <a:r>
              <a:rPr lang="en-US" altLang="zh-CN" sz="2400" dirty="0">
                <a:solidFill>
                  <a:srgbClr val="060606"/>
                </a:solidFill>
              </a:rPr>
              <a:t>18)</a:t>
            </a:r>
            <a:r>
              <a:rPr lang="en-US" altLang="zh-CN" sz="2400" baseline="30000" dirty="0">
                <a:solidFill>
                  <a:srgbClr val="060606"/>
                </a:solidFill>
              </a:rPr>
              <a:t>T</a:t>
            </a:r>
            <a:endParaRPr lang="zh-CN" altLang="en-US" sz="2400" baseline="30000" dirty="0">
              <a:solidFill>
                <a:srgbClr val="060606"/>
              </a:solidFill>
            </a:endParaRPr>
          </a:p>
        </p:txBody>
      </p:sp>
      <p:sp>
        <p:nvSpPr>
          <p:cNvPr id="32" name="内容占位符 2"/>
          <p:cNvSpPr txBox="1"/>
          <p:nvPr/>
        </p:nvSpPr>
        <p:spPr bwMode="auto">
          <a:xfrm>
            <a:off x="2834309" y="6107227"/>
            <a:ext cx="5975896" cy="52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algn="ctr" fontAlgn="base">
              <a:lnSpc>
                <a:spcPct val="110000"/>
              </a:lnSpc>
              <a:spcBef>
                <a:spcPts val="1800"/>
              </a:spcBef>
              <a:spcAft>
                <a:spcPct val="0"/>
              </a:spcAft>
              <a:defRPr/>
            </a:pPr>
            <a:r>
              <a:rPr lang="zh-CN" altLang="en-US" sz="2400" dirty="0">
                <a:solidFill>
                  <a:srgbClr val="060606"/>
                </a:solidFill>
              </a:rPr>
              <a:t>产品组合问题的方程组形式和增广矩阵</a:t>
            </a:r>
            <a:endParaRPr lang="en-US" altLang="zh-CN" sz="2400" dirty="0">
              <a:solidFill>
                <a:srgbClr val="060606"/>
              </a:solidFill>
            </a:endParaRPr>
          </a:p>
        </p:txBody>
      </p:sp>
      <p:sp>
        <p:nvSpPr>
          <p:cNvPr id="34" name="内容占位符 2"/>
          <p:cNvSpPr txBox="1"/>
          <p:nvPr/>
        </p:nvSpPr>
        <p:spPr bwMode="auto">
          <a:xfrm>
            <a:off x="247650" y="0"/>
            <a:ext cx="9952806" cy="52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zh-CN" altLang="en-US" sz="2400" dirty="0">
                <a:solidFill>
                  <a:srgbClr val="060606"/>
                </a:solidFill>
              </a:rPr>
              <a:t>请同学们做：将产品组合问题写成方程组形式，写出</a:t>
            </a:r>
            <a:r>
              <a:rPr lang="en-US" altLang="zh-CN" sz="2400" b="1" dirty="0">
                <a:solidFill>
                  <a:srgbClr val="060606"/>
                </a:solidFill>
              </a:rPr>
              <a:t>A</a:t>
            </a:r>
            <a:r>
              <a:rPr lang="en-US" altLang="zh-CN" sz="2400" baseline="-25000" dirty="0">
                <a:solidFill>
                  <a:srgbClr val="060606"/>
                </a:solidFill>
              </a:rPr>
              <a:t>3 × 5</a:t>
            </a:r>
            <a:r>
              <a:rPr lang="en-US" altLang="zh-CN" sz="2400" dirty="0">
                <a:solidFill>
                  <a:srgbClr val="060606"/>
                </a:solidFill>
              </a:rPr>
              <a:t> </a:t>
            </a:r>
            <a:endParaRPr lang="en-US" altLang="zh-CN" sz="2400" dirty="0">
              <a:solidFill>
                <a:srgbClr val="060606"/>
              </a:solidFill>
            </a:endParaRPr>
          </a:p>
        </p:txBody>
      </p:sp>
      <p:sp>
        <p:nvSpPr>
          <p:cNvPr id="3" name="箭头: 右 2"/>
          <p:cNvSpPr/>
          <p:nvPr/>
        </p:nvSpPr>
        <p:spPr>
          <a:xfrm>
            <a:off x="6085322" y="4612705"/>
            <a:ext cx="514350" cy="326941"/>
          </a:xfrm>
          <a:prstGeom prst="rightArrow">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下 13"/>
          <p:cNvSpPr/>
          <p:nvPr/>
        </p:nvSpPr>
        <p:spPr>
          <a:xfrm>
            <a:off x="4655841" y="2924945"/>
            <a:ext cx="516234" cy="28803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500" fill="hold"/>
                                        <p:tgtEl>
                                          <p:spTgt spid="32"/>
                                        </p:tgtEl>
                                        <p:attrNameLst>
                                          <p:attrName>ppt_x</p:attrName>
                                        </p:attrNameLst>
                                      </p:cBhvr>
                                      <p:tavLst>
                                        <p:tav tm="0">
                                          <p:val>
                                            <p:strVal val="#ppt_x"/>
                                          </p:val>
                                        </p:tav>
                                        <p:tav tm="100000">
                                          <p:val>
                                            <p:strVal val="#ppt_x"/>
                                          </p:val>
                                        </p:tav>
                                      </p:tavLst>
                                    </p:anim>
                                    <p:anim calcmode="lin" valueType="num">
                                      <p:cBhvr additive="base">
                                        <p:cTn id="16" dur="500" fill="hold"/>
                                        <p:tgtEl>
                                          <p:spTgt spid="3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500" fill="hold"/>
                                        <p:tgtEl>
                                          <p:spTgt spid="50"/>
                                        </p:tgtEl>
                                        <p:attrNameLst>
                                          <p:attrName>ppt_x</p:attrName>
                                        </p:attrNameLst>
                                      </p:cBhvr>
                                      <p:tavLst>
                                        <p:tav tm="0">
                                          <p:val>
                                            <p:strVal val="#ppt_x"/>
                                          </p:val>
                                        </p:tav>
                                        <p:tav tm="100000">
                                          <p:val>
                                            <p:strVal val="#ppt_x"/>
                                          </p:val>
                                        </p:tav>
                                      </p:tavLst>
                                    </p:anim>
                                    <p:anim calcmode="lin" valueType="num">
                                      <p:cBhvr additive="base">
                                        <p:cTn id="20"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32"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83421" y="1926333"/>
            <a:ext cx="5781675" cy="3581400"/>
          </a:xfrm>
          <a:prstGeom prst="rect">
            <a:avLst/>
          </a:prstGeom>
        </p:spPr>
      </p:pic>
      <p:sp>
        <p:nvSpPr>
          <p:cNvPr id="3" name="内容占位符 2"/>
          <p:cNvSpPr>
            <a:spLocks noGrp="1"/>
          </p:cNvSpPr>
          <p:nvPr>
            <p:ph idx="1"/>
          </p:nvPr>
        </p:nvSpPr>
        <p:spPr>
          <a:xfrm>
            <a:off x="1991544" y="188640"/>
            <a:ext cx="8229600" cy="1584176"/>
          </a:xfrm>
        </p:spPr>
        <p:txBody>
          <a:bodyPr/>
          <a:lstStyle/>
          <a:p>
            <a:pPr>
              <a:buNone/>
            </a:pPr>
            <a:r>
              <a:rPr lang="zh-CN" altLang="en-US" sz="2400" b="1" dirty="0">
                <a:solidFill>
                  <a:srgbClr val="060606"/>
                </a:solidFill>
              </a:rPr>
              <a:t>第三步：确定初始基可行解。</a:t>
            </a:r>
            <a:r>
              <a:rPr lang="en-US" altLang="zh-CN" sz="2400" b="1" dirty="0">
                <a:solidFill>
                  <a:srgbClr val="060606"/>
                </a:solidFill>
              </a:rPr>
              <a:t>(</a:t>
            </a:r>
            <a:r>
              <a:rPr lang="zh-CN" altLang="en-US" sz="2400" b="1" dirty="0">
                <a:solidFill>
                  <a:srgbClr val="060606"/>
                </a:solidFill>
              </a:rPr>
              <a:t>初始化</a:t>
            </a:r>
            <a:r>
              <a:rPr lang="en-US" altLang="zh-CN" sz="2400" b="1" dirty="0">
                <a:solidFill>
                  <a:srgbClr val="060606"/>
                </a:solidFill>
              </a:rPr>
              <a:t>)</a:t>
            </a:r>
            <a:endParaRPr lang="en-US" altLang="zh-CN" sz="2400" b="1" dirty="0">
              <a:solidFill>
                <a:srgbClr val="060606"/>
              </a:solidFill>
            </a:endParaRPr>
          </a:p>
          <a:p>
            <a:pPr>
              <a:buNone/>
            </a:pPr>
            <a:r>
              <a:rPr lang="zh-CN" altLang="en-US" sz="2400" dirty="0">
                <a:solidFill>
                  <a:srgbClr val="060606"/>
                </a:solidFill>
              </a:rPr>
              <a:t>步骤：移项，然后令所有</a:t>
            </a:r>
            <a:r>
              <a:rPr lang="zh-CN" altLang="en-US" sz="2400" dirty="0">
                <a:solidFill>
                  <a:srgbClr val="0000AC"/>
                </a:solidFill>
              </a:rPr>
              <a:t>非基变量</a:t>
            </a:r>
            <a:r>
              <a:rPr lang="zh-CN" altLang="en-US" sz="2400" dirty="0">
                <a:solidFill>
                  <a:srgbClr val="060606"/>
                </a:solidFill>
              </a:rPr>
              <a:t>为</a:t>
            </a:r>
            <a:r>
              <a:rPr lang="en-US" altLang="zh-CN" sz="2400" dirty="0">
                <a:solidFill>
                  <a:srgbClr val="060606"/>
                </a:solidFill>
              </a:rPr>
              <a:t>0</a:t>
            </a:r>
            <a:r>
              <a:rPr lang="zh-CN" altLang="en-US" sz="2400" dirty="0">
                <a:solidFill>
                  <a:srgbClr val="060606"/>
                </a:solidFill>
              </a:rPr>
              <a:t>，解出此时</a:t>
            </a:r>
            <a:r>
              <a:rPr lang="zh-CN" altLang="en-US" sz="2400" dirty="0">
                <a:solidFill>
                  <a:srgbClr val="0000AC"/>
                </a:solidFill>
              </a:rPr>
              <a:t>基变量</a:t>
            </a:r>
            <a:r>
              <a:rPr lang="zh-CN" altLang="en-US" sz="2400" dirty="0">
                <a:solidFill>
                  <a:srgbClr val="060606"/>
                </a:solidFill>
              </a:rPr>
              <a:t>的值，得到初始基可行解</a:t>
            </a:r>
            <a:r>
              <a:rPr lang="zh-CN" altLang="en-US" sz="2400" b="1" dirty="0">
                <a:solidFill>
                  <a:srgbClr val="060606"/>
                </a:solidFill>
              </a:rPr>
              <a:t> </a:t>
            </a:r>
            <a:r>
              <a:rPr lang="en-US" altLang="zh-CN" sz="2400" b="1" dirty="0">
                <a:solidFill>
                  <a:srgbClr val="060606"/>
                </a:solidFill>
              </a:rPr>
              <a:t>x</a:t>
            </a:r>
            <a:r>
              <a:rPr lang="en-US" altLang="zh-CN" sz="2400" dirty="0">
                <a:solidFill>
                  <a:srgbClr val="060606"/>
                </a:solidFill>
              </a:rPr>
              <a:t> = (0</a:t>
            </a:r>
            <a:r>
              <a:rPr lang="zh-CN" altLang="en-US" sz="2400" dirty="0">
                <a:solidFill>
                  <a:srgbClr val="060606"/>
                </a:solidFill>
              </a:rPr>
              <a:t>，</a:t>
            </a:r>
            <a:r>
              <a:rPr lang="en-US" altLang="zh-CN" sz="2400" dirty="0">
                <a:solidFill>
                  <a:srgbClr val="060606"/>
                </a:solidFill>
              </a:rPr>
              <a:t>…</a:t>
            </a: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a:t>
            </a:r>
            <a:r>
              <a:rPr lang="en-US" altLang="zh-CN" sz="2400" dirty="0">
                <a:solidFill>
                  <a:srgbClr val="060606"/>
                </a:solidFill>
              </a:rPr>
              <a:t>b</a:t>
            </a:r>
            <a:r>
              <a:rPr lang="en-US" altLang="zh-CN" sz="2400" baseline="-25000" dirty="0">
                <a:solidFill>
                  <a:srgbClr val="060606"/>
                </a:solidFill>
              </a:rPr>
              <a:t>1</a:t>
            </a:r>
            <a:r>
              <a:rPr lang="zh-CN" altLang="en-US" sz="2400" dirty="0">
                <a:solidFill>
                  <a:srgbClr val="060606"/>
                </a:solidFill>
              </a:rPr>
              <a:t>，</a:t>
            </a:r>
            <a:r>
              <a:rPr lang="en-US" altLang="zh-CN" sz="2400" dirty="0">
                <a:solidFill>
                  <a:srgbClr val="060606"/>
                </a:solidFill>
              </a:rPr>
              <a:t>b</a:t>
            </a:r>
            <a:r>
              <a:rPr lang="en-US" altLang="zh-CN" sz="2400" baseline="-25000" dirty="0">
                <a:solidFill>
                  <a:srgbClr val="060606"/>
                </a:solidFill>
              </a:rPr>
              <a:t>2</a:t>
            </a:r>
            <a:r>
              <a:rPr lang="zh-CN" altLang="en-US" sz="2400" dirty="0">
                <a:solidFill>
                  <a:srgbClr val="060606"/>
                </a:solidFill>
              </a:rPr>
              <a:t>，</a:t>
            </a:r>
            <a:r>
              <a:rPr lang="en-US" altLang="zh-CN" sz="2400" dirty="0">
                <a:solidFill>
                  <a:srgbClr val="060606"/>
                </a:solidFill>
              </a:rPr>
              <a:t>…</a:t>
            </a:r>
            <a:r>
              <a:rPr lang="zh-CN" altLang="en-US" sz="2400" dirty="0">
                <a:solidFill>
                  <a:srgbClr val="060606"/>
                </a:solidFill>
              </a:rPr>
              <a:t>，</a:t>
            </a:r>
            <a:r>
              <a:rPr lang="en-US" altLang="zh-CN" sz="2400" dirty="0" err="1">
                <a:solidFill>
                  <a:srgbClr val="060606"/>
                </a:solidFill>
              </a:rPr>
              <a:t>b</a:t>
            </a:r>
            <a:r>
              <a:rPr lang="en-US" altLang="zh-CN" sz="2400" baseline="-25000" dirty="0" err="1">
                <a:solidFill>
                  <a:srgbClr val="060606"/>
                </a:solidFill>
              </a:rPr>
              <a:t>m</a:t>
            </a:r>
            <a:r>
              <a:rPr lang="en-US" altLang="zh-CN" sz="2400" dirty="0">
                <a:solidFill>
                  <a:srgbClr val="060606"/>
                </a:solidFill>
              </a:rPr>
              <a:t>)</a:t>
            </a:r>
            <a:r>
              <a:rPr lang="zh-CN" altLang="en-US" sz="2400" dirty="0">
                <a:solidFill>
                  <a:srgbClr val="060606"/>
                </a:solidFill>
              </a:rPr>
              <a:t>。</a:t>
            </a:r>
            <a:endParaRPr lang="en-US" altLang="zh-CN" sz="2400" dirty="0">
              <a:solidFill>
                <a:srgbClr val="060606"/>
              </a:solidFill>
            </a:endParaRPr>
          </a:p>
          <a:p>
            <a:pPr>
              <a:buNone/>
            </a:pPr>
            <a:endParaRPr lang="en-US" altLang="zh-CN" sz="2400" dirty="0">
              <a:solidFill>
                <a:srgbClr val="060606"/>
              </a:solidFill>
            </a:endParaRPr>
          </a:p>
          <a:p>
            <a:pPr>
              <a:buNone/>
            </a:pPr>
            <a:endParaRPr lang="en-US" altLang="zh-CN" sz="2400" dirty="0">
              <a:solidFill>
                <a:srgbClr val="060606"/>
              </a:solidFill>
            </a:endParaRPr>
          </a:p>
          <a:p>
            <a:pPr>
              <a:buNone/>
            </a:pPr>
            <a:endParaRPr lang="en-US" altLang="zh-CN" sz="2400" dirty="0">
              <a:solidFill>
                <a:srgbClr val="060606"/>
              </a:solidFill>
            </a:endParaRPr>
          </a:p>
          <a:p>
            <a:pPr>
              <a:buNone/>
            </a:pPr>
            <a:endParaRPr lang="en-US" altLang="zh-CN" sz="2400" dirty="0">
              <a:solidFill>
                <a:srgbClr val="060606"/>
              </a:solidFill>
            </a:endParaRPr>
          </a:p>
        </p:txBody>
      </p:sp>
      <p:grpSp>
        <p:nvGrpSpPr>
          <p:cNvPr id="41" name="组合 32"/>
          <p:cNvGrpSpPr/>
          <p:nvPr/>
        </p:nvGrpSpPr>
        <p:grpSpPr>
          <a:xfrm>
            <a:off x="9147435" y="2204865"/>
            <a:ext cx="857138" cy="965717"/>
            <a:chOff x="6249158" y="533630"/>
            <a:chExt cx="567784" cy="474740"/>
          </a:xfrm>
        </p:grpSpPr>
        <p:sp>
          <p:nvSpPr>
            <p:cNvPr id="53" name="矩形 6"/>
            <p:cNvSpPr/>
            <p:nvPr/>
          </p:nvSpPr>
          <p:spPr>
            <a:xfrm>
              <a:off x="6249158" y="781418"/>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54" name="矩形 7"/>
            <p:cNvSpPr/>
            <p:nvPr/>
          </p:nvSpPr>
          <p:spPr>
            <a:xfrm>
              <a:off x="6314129" y="533630"/>
              <a:ext cx="234883" cy="226951"/>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55" name="矩形 8"/>
            <p:cNvSpPr/>
            <p:nvPr/>
          </p:nvSpPr>
          <p:spPr>
            <a:xfrm>
              <a:off x="6276273"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sp>
        <p:nvSpPr>
          <p:cNvPr id="60" name="右箭头 59"/>
          <p:cNvSpPr/>
          <p:nvPr/>
        </p:nvSpPr>
        <p:spPr bwMode="auto">
          <a:xfrm>
            <a:off x="5556448" y="3284985"/>
            <a:ext cx="792088" cy="360040"/>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61" name="矩形 60"/>
          <p:cNvSpPr/>
          <p:nvPr/>
        </p:nvSpPr>
        <p:spPr>
          <a:xfrm>
            <a:off x="5556448" y="2780929"/>
            <a:ext cx="800219" cy="461665"/>
          </a:xfrm>
          <a:prstGeom prst="rect">
            <a:avLst/>
          </a:prstGeom>
        </p:spPr>
        <p:txBody>
          <a:bodyPr wrap="none">
            <a:spAutoFit/>
          </a:bodyPr>
          <a:lstStyle/>
          <a:p>
            <a:r>
              <a:rPr lang="zh-CN" altLang="en-US" sz="2400">
                <a:solidFill>
                  <a:srgbClr val="0000AC"/>
                </a:solidFill>
              </a:rPr>
              <a:t>移项</a:t>
            </a:r>
            <a:endParaRPr lang="zh-CN" altLang="en-US" sz="2400" dirty="0">
              <a:solidFill>
                <a:srgbClr val="0000AC"/>
              </a:solidFill>
            </a:endParaRPr>
          </a:p>
        </p:txBody>
      </p:sp>
      <p:grpSp>
        <p:nvGrpSpPr>
          <p:cNvPr id="5" name="组合 4"/>
          <p:cNvGrpSpPr/>
          <p:nvPr/>
        </p:nvGrpSpPr>
        <p:grpSpPr>
          <a:xfrm>
            <a:off x="5684093" y="2396792"/>
            <a:ext cx="6192688" cy="3812842"/>
            <a:chOff x="5684093" y="2396792"/>
            <a:chExt cx="6192688" cy="3812842"/>
          </a:xfrm>
        </p:grpSpPr>
        <p:sp>
          <p:nvSpPr>
            <p:cNvPr id="40" name="矩形 3"/>
            <p:cNvSpPr/>
            <p:nvPr/>
          </p:nvSpPr>
          <p:spPr>
            <a:xfrm>
              <a:off x="7182583" y="2396792"/>
              <a:ext cx="3758093" cy="523220"/>
            </a:xfrm>
            <a:prstGeom prst="rect">
              <a:avLst/>
            </a:prstGeom>
          </p:spPr>
          <p:txBody>
            <a:bodyPr wrap="square">
              <a:spAutoFit/>
            </a:bodyPr>
            <a:lstStyle/>
            <a:p>
              <a:r>
                <a:rPr lang="en-US" altLang="zh-CN" sz="2800" dirty="0">
                  <a:solidFill>
                    <a:srgbClr val="060606"/>
                  </a:solidFill>
                </a:rPr>
                <a:t>(1)</a:t>
              </a:r>
              <a:r>
                <a:rPr lang="en-US" altLang="zh-CN" sz="2800" dirty="0">
                  <a:solidFill>
                    <a:srgbClr val="FF0000"/>
                  </a:solidFill>
                </a:rPr>
                <a:t> x</a:t>
              </a:r>
              <a:r>
                <a:rPr lang="en-US" altLang="zh-CN" sz="2800" baseline="-25000" dirty="0">
                  <a:solidFill>
                    <a:srgbClr val="FF0000"/>
                  </a:solidFill>
                </a:rPr>
                <a:t>s1</a:t>
              </a:r>
              <a:r>
                <a:rPr lang="en-US" altLang="zh-CN" sz="2800" dirty="0">
                  <a:solidFill>
                    <a:srgbClr val="FF0000"/>
                  </a:solidFill>
                </a:rPr>
                <a:t> = </a:t>
              </a:r>
              <a:r>
                <a:rPr lang="en-US" altLang="zh-CN" sz="2800" dirty="0">
                  <a:solidFill>
                    <a:srgbClr val="060606"/>
                  </a:solidFill>
                </a:rPr>
                <a:t>  b</a:t>
              </a:r>
              <a:r>
                <a:rPr lang="en-US" altLang="zh-CN" sz="2800" baseline="-25000" dirty="0">
                  <a:solidFill>
                    <a:srgbClr val="060606"/>
                  </a:solidFill>
                </a:rPr>
                <a:t>1</a:t>
              </a:r>
              <a:r>
                <a:rPr lang="en-US" altLang="zh-CN" sz="2800" dirty="0">
                  <a:solidFill>
                    <a:srgbClr val="060606"/>
                  </a:solidFill>
                </a:rPr>
                <a:t> -     a</a:t>
              </a:r>
              <a:r>
                <a:rPr lang="en-US" altLang="zh-CN" sz="2800" baseline="-25000" dirty="0">
                  <a:solidFill>
                    <a:srgbClr val="060606"/>
                  </a:solidFill>
                </a:rPr>
                <a:t>1j</a:t>
              </a:r>
              <a:r>
                <a:rPr lang="en-US" altLang="zh-CN" sz="2800" dirty="0">
                  <a:solidFill>
                    <a:srgbClr val="060606"/>
                  </a:solidFill>
                </a:rPr>
                <a:t>x</a:t>
              </a:r>
              <a:r>
                <a:rPr lang="en-US" altLang="zh-CN" sz="2800" baseline="-25000" dirty="0">
                  <a:solidFill>
                    <a:srgbClr val="060606"/>
                  </a:solidFill>
                </a:rPr>
                <a:t>j</a:t>
              </a:r>
              <a:endParaRPr lang="zh-CN" altLang="en-US" sz="2800" dirty="0"/>
            </a:p>
          </p:txBody>
        </p:sp>
        <p:sp>
          <p:nvSpPr>
            <p:cNvPr id="42" name="矩形 41"/>
            <p:cNvSpPr/>
            <p:nvPr/>
          </p:nvSpPr>
          <p:spPr>
            <a:xfrm>
              <a:off x="7196261" y="3148815"/>
              <a:ext cx="3744416" cy="523220"/>
            </a:xfrm>
            <a:prstGeom prst="rect">
              <a:avLst/>
            </a:prstGeom>
          </p:spPr>
          <p:txBody>
            <a:bodyPr wrap="square">
              <a:spAutoFit/>
            </a:bodyPr>
            <a:lstStyle/>
            <a:p>
              <a:r>
                <a:rPr lang="en-US" altLang="zh-CN" sz="2800" dirty="0">
                  <a:solidFill>
                    <a:srgbClr val="060606"/>
                  </a:solidFill>
                </a:rPr>
                <a:t>(2) </a:t>
              </a:r>
              <a:r>
                <a:rPr lang="en-US" altLang="zh-CN" sz="2800" dirty="0">
                  <a:solidFill>
                    <a:srgbClr val="FF0000"/>
                  </a:solidFill>
                </a:rPr>
                <a:t>x</a:t>
              </a:r>
              <a:r>
                <a:rPr lang="en-US" altLang="zh-CN" sz="2800" baseline="-25000" dirty="0">
                  <a:solidFill>
                    <a:srgbClr val="FF0000"/>
                  </a:solidFill>
                </a:rPr>
                <a:t>s2</a:t>
              </a:r>
              <a:r>
                <a:rPr lang="en-US" altLang="zh-CN" sz="2800" dirty="0">
                  <a:solidFill>
                    <a:srgbClr val="FF0000"/>
                  </a:solidFill>
                </a:rPr>
                <a:t> = </a:t>
              </a:r>
              <a:r>
                <a:rPr lang="en-US" altLang="zh-CN" sz="2800" dirty="0">
                  <a:solidFill>
                    <a:srgbClr val="060606"/>
                  </a:solidFill>
                </a:rPr>
                <a:t>  b</a:t>
              </a:r>
              <a:r>
                <a:rPr lang="en-US" altLang="zh-CN" sz="2800" baseline="-25000" dirty="0">
                  <a:solidFill>
                    <a:srgbClr val="060606"/>
                  </a:solidFill>
                </a:rPr>
                <a:t>2</a:t>
              </a:r>
              <a:r>
                <a:rPr lang="en-US" altLang="zh-CN" sz="2800" dirty="0"/>
                <a:t>-     </a:t>
              </a:r>
              <a:r>
                <a:rPr lang="en-US" altLang="zh-CN" sz="2800" dirty="0">
                  <a:solidFill>
                    <a:srgbClr val="060606"/>
                  </a:solidFill>
                </a:rPr>
                <a:t>a</a:t>
              </a:r>
              <a:r>
                <a:rPr lang="en-US" altLang="zh-CN" sz="2800" baseline="-25000" dirty="0">
                  <a:solidFill>
                    <a:srgbClr val="060606"/>
                  </a:solidFill>
                </a:rPr>
                <a:t>2j</a:t>
              </a:r>
              <a:r>
                <a:rPr lang="en-US" altLang="zh-CN" sz="2800" dirty="0">
                  <a:solidFill>
                    <a:srgbClr val="060606"/>
                  </a:solidFill>
                </a:rPr>
                <a:t>x</a:t>
              </a:r>
              <a:r>
                <a:rPr lang="en-US" altLang="zh-CN" sz="2800" baseline="-25000" dirty="0">
                  <a:solidFill>
                    <a:srgbClr val="060606"/>
                  </a:solidFill>
                </a:rPr>
                <a:t>j</a:t>
              </a:r>
              <a:endParaRPr lang="zh-CN" altLang="en-US" sz="2800" dirty="0"/>
            </a:p>
          </p:txBody>
        </p:sp>
        <p:sp>
          <p:nvSpPr>
            <p:cNvPr id="43" name="矩形 42"/>
            <p:cNvSpPr/>
            <p:nvPr/>
          </p:nvSpPr>
          <p:spPr>
            <a:xfrm>
              <a:off x="7196261" y="4300943"/>
              <a:ext cx="3960440" cy="523220"/>
            </a:xfrm>
            <a:prstGeom prst="rect">
              <a:avLst/>
            </a:prstGeom>
          </p:spPr>
          <p:txBody>
            <a:bodyPr wrap="square">
              <a:spAutoFit/>
            </a:bodyPr>
            <a:lstStyle/>
            <a:p>
              <a:r>
                <a:rPr lang="en-US" altLang="zh-CN" sz="2800" dirty="0">
                  <a:solidFill>
                    <a:srgbClr val="060606"/>
                  </a:solidFill>
                </a:rPr>
                <a:t>(m)</a:t>
              </a:r>
              <a:r>
                <a:rPr lang="en-US" altLang="zh-CN" sz="2800" dirty="0" err="1">
                  <a:solidFill>
                    <a:srgbClr val="FF0000"/>
                  </a:solidFill>
                </a:rPr>
                <a:t>x</a:t>
              </a:r>
              <a:r>
                <a:rPr lang="en-US" altLang="zh-CN" sz="2800" baseline="-25000" dirty="0" err="1">
                  <a:solidFill>
                    <a:srgbClr val="FF0000"/>
                  </a:solidFill>
                </a:rPr>
                <a:t>sm</a:t>
              </a:r>
              <a:r>
                <a:rPr lang="en-US" altLang="zh-CN" sz="2800" dirty="0">
                  <a:solidFill>
                    <a:srgbClr val="FF0000"/>
                  </a:solidFill>
                </a:rPr>
                <a:t> =  </a:t>
              </a:r>
              <a:r>
                <a:rPr lang="en-US" altLang="zh-CN" sz="2800" dirty="0">
                  <a:solidFill>
                    <a:srgbClr val="060606"/>
                  </a:solidFill>
                </a:rPr>
                <a:t>b</a:t>
              </a:r>
              <a:r>
                <a:rPr lang="en-US" altLang="zh-CN" sz="2800" baseline="-25000" dirty="0">
                  <a:solidFill>
                    <a:srgbClr val="060606"/>
                  </a:solidFill>
                </a:rPr>
                <a:t>m</a:t>
              </a:r>
              <a:r>
                <a:rPr lang="en-US" altLang="zh-CN" sz="2800" dirty="0">
                  <a:solidFill>
                    <a:srgbClr val="060606"/>
                  </a:solidFill>
                </a:rPr>
                <a:t>-     </a:t>
              </a:r>
              <a:r>
                <a:rPr lang="en-US" altLang="zh-CN" sz="2800" dirty="0" err="1">
                  <a:solidFill>
                    <a:srgbClr val="060606"/>
                  </a:solidFill>
                </a:rPr>
                <a:t>a</a:t>
              </a:r>
              <a:r>
                <a:rPr lang="en-US" altLang="zh-CN" sz="2800" baseline="-25000" dirty="0" err="1">
                  <a:solidFill>
                    <a:srgbClr val="060606"/>
                  </a:solidFill>
                </a:rPr>
                <a:t>mj</a:t>
              </a:r>
              <a:r>
                <a:rPr lang="en-US" altLang="zh-CN" sz="2800" dirty="0" err="1">
                  <a:solidFill>
                    <a:srgbClr val="060606"/>
                  </a:solidFill>
                </a:rPr>
                <a:t>x</a:t>
              </a:r>
              <a:r>
                <a:rPr lang="en-US" altLang="zh-CN" sz="2800" baseline="-25000" dirty="0" err="1">
                  <a:solidFill>
                    <a:srgbClr val="060606"/>
                  </a:solidFill>
                </a:rPr>
                <a:t>j</a:t>
              </a:r>
              <a:endParaRPr lang="zh-CN" altLang="en-US" sz="2800" dirty="0"/>
            </a:p>
          </p:txBody>
        </p:sp>
        <p:grpSp>
          <p:nvGrpSpPr>
            <p:cNvPr id="44" name="组合 32"/>
            <p:cNvGrpSpPr/>
            <p:nvPr/>
          </p:nvGrpSpPr>
          <p:grpSpPr>
            <a:xfrm>
              <a:off x="9140477" y="2967338"/>
              <a:ext cx="857138" cy="965719"/>
              <a:chOff x="6249159" y="533630"/>
              <a:chExt cx="567784" cy="474741"/>
            </a:xfrm>
          </p:grpSpPr>
          <p:sp>
            <p:nvSpPr>
              <p:cNvPr id="50" name="矩形 12"/>
              <p:cNvSpPr/>
              <p:nvPr/>
            </p:nvSpPr>
            <p:spPr>
              <a:xfrm>
                <a:off x="6249159" y="781419"/>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51" name="矩形 50"/>
              <p:cNvSpPr/>
              <p:nvPr/>
            </p:nvSpPr>
            <p:spPr>
              <a:xfrm>
                <a:off x="6314129" y="533630"/>
                <a:ext cx="234883" cy="226951"/>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52" name="矩形 51"/>
              <p:cNvSpPr/>
              <p:nvPr/>
            </p:nvSpPr>
            <p:spPr>
              <a:xfrm>
                <a:off x="6269962"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grpSp>
          <p:nvGrpSpPr>
            <p:cNvPr id="45" name="组合 32"/>
            <p:cNvGrpSpPr/>
            <p:nvPr/>
          </p:nvGrpSpPr>
          <p:grpSpPr>
            <a:xfrm>
              <a:off x="9140477" y="4119466"/>
              <a:ext cx="857138" cy="965719"/>
              <a:chOff x="6249159" y="533630"/>
              <a:chExt cx="567784" cy="474741"/>
            </a:xfrm>
          </p:grpSpPr>
          <p:sp>
            <p:nvSpPr>
              <p:cNvPr id="47" name="矩形 46"/>
              <p:cNvSpPr/>
              <p:nvPr/>
            </p:nvSpPr>
            <p:spPr>
              <a:xfrm>
                <a:off x="6249159" y="781419"/>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48" name="矩形 47"/>
              <p:cNvSpPr/>
              <p:nvPr/>
            </p:nvSpPr>
            <p:spPr>
              <a:xfrm>
                <a:off x="6314129" y="533630"/>
                <a:ext cx="234883" cy="226951"/>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49" name="矩形 48"/>
              <p:cNvSpPr/>
              <p:nvPr/>
            </p:nvSpPr>
            <p:spPr>
              <a:xfrm>
                <a:off x="6263653"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sp>
          <p:nvSpPr>
            <p:cNvPr id="46" name="矩形 45"/>
            <p:cNvSpPr/>
            <p:nvPr/>
          </p:nvSpPr>
          <p:spPr>
            <a:xfrm>
              <a:off x="6276528" y="3717033"/>
              <a:ext cx="3960440" cy="523220"/>
            </a:xfrm>
            <a:prstGeom prst="rect">
              <a:avLst/>
            </a:prstGeom>
          </p:spPr>
          <p:txBody>
            <a:bodyPr wrap="square">
              <a:spAutoFit/>
            </a:bodyPr>
            <a:lstStyle/>
            <a:p>
              <a:pPr algn="ctr"/>
              <a:r>
                <a:rPr lang="en-US" altLang="zh-CN" sz="2800" dirty="0"/>
                <a:t>……………</a:t>
              </a:r>
              <a:endParaRPr lang="zh-CN" altLang="en-US" sz="2800" dirty="0"/>
            </a:p>
          </p:txBody>
        </p:sp>
        <p:sp>
          <p:nvSpPr>
            <p:cNvPr id="62" name="左箭头 61"/>
            <p:cNvSpPr/>
            <p:nvPr/>
          </p:nvSpPr>
          <p:spPr bwMode="auto">
            <a:xfrm rot="16200000">
              <a:off x="8420397" y="5157193"/>
              <a:ext cx="720080" cy="432048"/>
            </a:xfrm>
            <a:prstGeom prst="lef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63" name="矩形 62"/>
            <p:cNvSpPr/>
            <p:nvPr/>
          </p:nvSpPr>
          <p:spPr>
            <a:xfrm>
              <a:off x="8996461" y="5085185"/>
              <a:ext cx="2286000" cy="461665"/>
            </a:xfrm>
            <a:prstGeom prst="rect">
              <a:avLst/>
            </a:prstGeom>
          </p:spPr>
          <p:txBody>
            <a:bodyPr>
              <a:spAutoFit/>
            </a:bodyPr>
            <a:lstStyle/>
            <a:p>
              <a:r>
                <a:rPr lang="zh-CN" altLang="en-US" sz="2400" dirty="0">
                  <a:solidFill>
                    <a:srgbClr val="0000AC"/>
                  </a:solidFill>
                </a:rPr>
                <a:t>令</a:t>
              </a:r>
              <a:r>
                <a:rPr lang="en-US" altLang="zh-CN" sz="2400" dirty="0">
                  <a:solidFill>
                    <a:srgbClr val="0000AC"/>
                  </a:solidFill>
                </a:rPr>
                <a:t>x</a:t>
              </a:r>
              <a:r>
                <a:rPr lang="en-US" altLang="zh-CN" sz="2400" baseline="-25000" dirty="0">
                  <a:solidFill>
                    <a:srgbClr val="0000AC"/>
                  </a:solidFill>
                </a:rPr>
                <a:t>1</a:t>
              </a:r>
              <a:r>
                <a:rPr lang="en-US" altLang="zh-CN" sz="2400" dirty="0">
                  <a:solidFill>
                    <a:srgbClr val="0000AC"/>
                  </a:solidFill>
                </a:rPr>
                <a:t>,x</a:t>
              </a:r>
              <a:r>
                <a:rPr lang="en-US" altLang="zh-CN" sz="2400" baseline="-25000" dirty="0">
                  <a:solidFill>
                    <a:srgbClr val="0000AC"/>
                  </a:solidFill>
                </a:rPr>
                <a:t>2</a:t>
              </a:r>
              <a:r>
                <a:rPr lang="en-US" altLang="zh-CN" sz="2400" dirty="0">
                  <a:solidFill>
                    <a:srgbClr val="0000AC"/>
                  </a:solidFill>
                </a:rPr>
                <a:t>,…,</a:t>
              </a:r>
              <a:r>
                <a:rPr lang="en-US" altLang="zh-CN" sz="2400" dirty="0" err="1">
                  <a:solidFill>
                    <a:srgbClr val="0000AC"/>
                  </a:solidFill>
                </a:rPr>
                <a:t>x</a:t>
              </a:r>
              <a:r>
                <a:rPr lang="en-US" altLang="zh-CN" sz="2400" baseline="-25000" dirty="0" err="1">
                  <a:solidFill>
                    <a:srgbClr val="0000AC"/>
                  </a:solidFill>
                </a:rPr>
                <a:t>n</a:t>
              </a:r>
              <a:r>
                <a:rPr lang="zh-CN" altLang="en-US" sz="2400" dirty="0">
                  <a:solidFill>
                    <a:srgbClr val="0000AC"/>
                  </a:solidFill>
                </a:rPr>
                <a:t>为</a:t>
              </a:r>
              <a:r>
                <a:rPr lang="en-US" altLang="zh-CN" sz="2400" dirty="0">
                  <a:solidFill>
                    <a:srgbClr val="0000AC"/>
                  </a:solidFill>
                </a:rPr>
                <a:t>0</a:t>
              </a:r>
              <a:endParaRPr lang="zh-CN" altLang="en-US" dirty="0">
                <a:solidFill>
                  <a:srgbClr val="0000AC"/>
                </a:solidFill>
              </a:endParaRPr>
            </a:p>
          </p:txBody>
        </p:sp>
        <p:sp>
          <p:nvSpPr>
            <p:cNvPr id="64" name="矩形 63"/>
            <p:cNvSpPr/>
            <p:nvPr/>
          </p:nvSpPr>
          <p:spPr>
            <a:xfrm>
              <a:off x="5684093" y="5747969"/>
              <a:ext cx="6192688" cy="461665"/>
            </a:xfrm>
            <a:prstGeom prst="rect">
              <a:avLst/>
            </a:prstGeom>
          </p:spPr>
          <p:txBody>
            <a:bodyPr wrap="square">
              <a:spAutoFit/>
            </a:bodyPr>
            <a:lstStyle/>
            <a:p>
              <a:pPr lvl="0"/>
              <a:r>
                <a:rPr lang="zh-CN" altLang="en-US" sz="2400" dirty="0">
                  <a:solidFill>
                    <a:srgbClr val="060606"/>
                  </a:solidFill>
                </a:rPr>
                <a:t>初始基可行解</a:t>
              </a:r>
              <a:r>
                <a:rPr lang="zh-CN" altLang="en-US" sz="2400" b="1" dirty="0">
                  <a:solidFill>
                    <a:srgbClr val="060606"/>
                  </a:solidFill>
                </a:rPr>
                <a:t> </a:t>
              </a:r>
              <a:r>
                <a:rPr lang="en-US" altLang="zh-CN" sz="2400" b="1" dirty="0">
                  <a:solidFill>
                    <a:srgbClr val="060606"/>
                  </a:solidFill>
                </a:rPr>
                <a:t>x</a:t>
              </a:r>
              <a:r>
                <a:rPr lang="en-US" altLang="zh-CN" sz="2400" dirty="0">
                  <a:solidFill>
                    <a:srgbClr val="060606"/>
                  </a:solidFill>
                </a:rPr>
                <a:t> = (0</a:t>
              </a:r>
              <a:r>
                <a:rPr lang="zh-CN" altLang="en-US" sz="2400" dirty="0">
                  <a:solidFill>
                    <a:srgbClr val="060606"/>
                  </a:solidFill>
                </a:rPr>
                <a:t>，</a:t>
              </a:r>
              <a:r>
                <a:rPr lang="en-US" altLang="zh-CN" sz="2400" dirty="0">
                  <a:solidFill>
                    <a:srgbClr val="060606"/>
                  </a:solidFill>
                </a:rPr>
                <a:t>…</a:t>
              </a: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a:t>
              </a:r>
              <a:r>
                <a:rPr lang="en-US" altLang="zh-CN" sz="2400" dirty="0">
                  <a:solidFill>
                    <a:srgbClr val="060606"/>
                  </a:solidFill>
                </a:rPr>
                <a:t>b</a:t>
              </a:r>
              <a:r>
                <a:rPr lang="en-US" altLang="zh-CN" sz="2400" baseline="-25000" dirty="0">
                  <a:solidFill>
                    <a:srgbClr val="060606"/>
                  </a:solidFill>
                </a:rPr>
                <a:t>1</a:t>
              </a:r>
              <a:r>
                <a:rPr lang="zh-CN" altLang="en-US" sz="2400" dirty="0">
                  <a:solidFill>
                    <a:srgbClr val="060606"/>
                  </a:solidFill>
                </a:rPr>
                <a:t>，</a:t>
              </a:r>
              <a:r>
                <a:rPr lang="en-US" altLang="zh-CN" sz="2400" dirty="0">
                  <a:solidFill>
                    <a:srgbClr val="060606"/>
                  </a:solidFill>
                </a:rPr>
                <a:t>b</a:t>
              </a:r>
              <a:r>
                <a:rPr lang="en-US" altLang="zh-CN" sz="2400" baseline="-25000" dirty="0">
                  <a:solidFill>
                    <a:srgbClr val="060606"/>
                  </a:solidFill>
                </a:rPr>
                <a:t>2</a:t>
              </a:r>
              <a:r>
                <a:rPr lang="zh-CN" altLang="en-US" sz="2400" dirty="0">
                  <a:solidFill>
                    <a:srgbClr val="060606"/>
                  </a:solidFill>
                </a:rPr>
                <a:t>，</a:t>
              </a:r>
              <a:r>
                <a:rPr lang="en-US" altLang="zh-CN" sz="2400" dirty="0">
                  <a:solidFill>
                    <a:srgbClr val="060606"/>
                  </a:solidFill>
                </a:rPr>
                <a:t>…</a:t>
              </a:r>
              <a:r>
                <a:rPr lang="zh-CN" altLang="en-US" sz="2400" dirty="0">
                  <a:solidFill>
                    <a:srgbClr val="060606"/>
                  </a:solidFill>
                </a:rPr>
                <a:t>，</a:t>
              </a:r>
              <a:r>
                <a:rPr lang="en-US" altLang="zh-CN" sz="2400" dirty="0" err="1">
                  <a:solidFill>
                    <a:srgbClr val="060606"/>
                  </a:solidFill>
                </a:rPr>
                <a:t>b</a:t>
              </a:r>
              <a:r>
                <a:rPr lang="en-US" altLang="zh-CN" sz="2400" baseline="-25000" dirty="0" err="1">
                  <a:solidFill>
                    <a:srgbClr val="060606"/>
                  </a:solidFill>
                </a:rPr>
                <a:t>m</a:t>
              </a:r>
              <a:r>
                <a:rPr lang="en-US" altLang="zh-CN" sz="2400" dirty="0">
                  <a:solidFill>
                    <a:srgbClr val="060606"/>
                  </a:solidFill>
                </a:rPr>
                <a:t>)</a:t>
              </a:r>
              <a:endParaRPr lang="zh-CN" altLang="en-US" dirty="0">
                <a:solidFill>
                  <a:srgbClr val="4B4D4F"/>
                </a:solidFill>
              </a:endParaRPr>
            </a:p>
          </p:txBody>
        </p:sp>
      </p:grpSp>
      <p:sp>
        <p:nvSpPr>
          <p:cNvPr id="6" name="矩形 5"/>
          <p:cNvSpPr/>
          <p:nvPr/>
        </p:nvSpPr>
        <p:spPr>
          <a:xfrm>
            <a:off x="45321" y="2483146"/>
            <a:ext cx="4001750" cy="2602039"/>
          </a:xfrm>
          <a:prstGeom prst="rect">
            <a:avLst/>
          </a:prstGeom>
          <a:noFill/>
          <a:ln w="381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2628900" y="2305465"/>
            <a:ext cx="8297762" cy="4325681"/>
            <a:chOff x="1104900" y="2305464"/>
            <a:chExt cx="8297762" cy="4325681"/>
          </a:xfrm>
        </p:grpSpPr>
        <p:sp>
          <p:nvSpPr>
            <p:cNvPr id="24" name="矩形 23"/>
            <p:cNvSpPr/>
            <p:nvPr/>
          </p:nvSpPr>
          <p:spPr>
            <a:xfrm>
              <a:off x="4205291" y="2966310"/>
              <a:ext cx="4975221" cy="479234"/>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 = 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5x</a:t>
              </a:r>
              <a:r>
                <a:rPr lang="en-US" altLang="zh-CN" sz="2400" baseline="-25000" dirty="0">
                  <a:solidFill>
                    <a:srgbClr val="060606"/>
                  </a:solidFill>
                </a:rPr>
                <a:t>2</a:t>
              </a:r>
              <a:r>
                <a:rPr lang="en-US" altLang="zh-CN" sz="2400" dirty="0">
                  <a:solidFill>
                    <a:srgbClr val="060606"/>
                  </a:solidFill>
                </a:rPr>
                <a:t> =&gt; z=0 </a:t>
              </a:r>
              <a:endParaRPr lang="en-US" altLang="zh-CN" sz="2400" dirty="0">
                <a:solidFill>
                  <a:srgbClr val="060606"/>
                </a:solidFill>
              </a:endParaRPr>
            </a:p>
          </p:txBody>
        </p:sp>
        <p:sp>
          <p:nvSpPr>
            <p:cNvPr id="27" name="矩形 26"/>
            <p:cNvSpPr/>
            <p:nvPr/>
          </p:nvSpPr>
          <p:spPr>
            <a:xfrm>
              <a:off x="4205292" y="3532750"/>
              <a:ext cx="3557384"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4 – x</a:t>
              </a:r>
              <a:r>
                <a:rPr lang="en-US" altLang="zh-CN" sz="2400" baseline="-25000" dirty="0">
                  <a:solidFill>
                    <a:srgbClr val="060606"/>
                  </a:solidFill>
                </a:rPr>
                <a:t>1 </a:t>
              </a:r>
              <a:r>
                <a:rPr lang="en-US" altLang="zh-CN" sz="2400" dirty="0">
                  <a:solidFill>
                    <a:srgbClr val="060606"/>
                  </a:solidFill>
                </a:rPr>
                <a:t>=&gt; x</a:t>
              </a:r>
              <a:r>
                <a:rPr lang="en-US" altLang="zh-CN" sz="2400" baseline="-25000" dirty="0">
                  <a:solidFill>
                    <a:srgbClr val="060606"/>
                  </a:solidFill>
                </a:rPr>
                <a:t>3</a:t>
              </a:r>
              <a:r>
                <a:rPr lang="en-US" altLang="zh-CN" sz="2400" dirty="0">
                  <a:solidFill>
                    <a:srgbClr val="060606"/>
                  </a:solidFill>
                </a:rPr>
                <a:t>= 4</a:t>
              </a:r>
              <a:endParaRPr lang="zh-CN" altLang="en-US" sz="2400" baseline="-25000" dirty="0"/>
            </a:p>
          </p:txBody>
        </p:sp>
        <p:sp>
          <p:nvSpPr>
            <p:cNvPr id="28" name="矩形 27"/>
            <p:cNvSpPr/>
            <p:nvPr/>
          </p:nvSpPr>
          <p:spPr>
            <a:xfrm>
              <a:off x="4211960" y="4665629"/>
              <a:ext cx="5190702" cy="461665"/>
            </a:xfrm>
            <a:prstGeom prst="rect">
              <a:avLst/>
            </a:prstGeom>
          </p:spPr>
          <p:txBody>
            <a:bodyPr wrap="square">
              <a:spAutoFit/>
            </a:bodyPr>
            <a:lstStyle/>
            <a:p>
              <a:r>
                <a:rPr lang="zh-CN" altLang="en-US" sz="2400" dirty="0">
                  <a:solidFill>
                    <a:srgbClr val="060606"/>
                  </a:solidFill>
                </a:rPr>
                <a:t>（</a:t>
              </a: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5 </a:t>
              </a:r>
              <a:r>
                <a:rPr lang="en-US" altLang="zh-CN" sz="2400" dirty="0">
                  <a:solidFill>
                    <a:srgbClr val="060606"/>
                  </a:solidFill>
                </a:rPr>
                <a:t> = 18 - 3x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 </a:t>
              </a:r>
              <a:r>
                <a:rPr lang="en-US" altLang="zh-CN" sz="2400" dirty="0">
                  <a:solidFill>
                    <a:srgbClr val="060606"/>
                  </a:solidFill>
                </a:rPr>
                <a:t>=&gt; x</a:t>
              </a:r>
              <a:r>
                <a:rPr lang="en-US" altLang="zh-CN" sz="2400" baseline="-25000" dirty="0">
                  <a:solidFill>
                    <a:srgbClr val="060606"/>
                  </a:solidFill>
                </a:rPr>
                <a:t>5 </a:t>
              </a:r>
              <a:r>
                <a:rPr lang="en-US" altLang="zh-CN" sz="2400" dirty="0">
                  <a:solidFill>
                    <a:srgbClr val="060606"/>
                  </a:solidFill>
                </a:rPr>
                <a:t> = 18 </a:t>
              </a:r>
              <a:endParaRPr lang="zh-CN" altLang="en-US" sz="2400" dirty="0"/>
            </a:p>
          </p:txBody>
        </p:sp>
        <p:sp>
          <p:nvSpPr>
            <p:cNvPr id="29" name="矩形 28"/>
            <p:cNvSpPr/>
            <p:nvPr/>
          </p:nvSpPr>
          <p:spPr>
            <a:xfrm>
              <a:off x="2837682" y="5326475"/>
              <a:ext cx="6522342" cy="461665"/>
            </a:xfrm>
            <a:prstGeom prst="rect">
              <a:avLst/>
            </a:prstGeom>
          </p:spPr>
          <p:txBody>
            <a:bodyPr wrap="square">
              <a:spAutoFit/>
            </a:bodyPr>
            <a:lstStyle/>
            <a:p>
              <a:r>
                <a:rPr lang="zh-CN" altLang="en-US" sz="2400" dirty="0">
                  <a:solidFill>
                    <a:srgbClr val="060606"/>
                  </a:solidFill>
                </a:rPr>
                <a:t>初始基可行解为</a:t>
              </a:r>
              <a:r>
                <a:rPr lang="en-US" altLang="zh-CN" sz="2400" b="1" dirty="0">
                  <a:solidFill>
                    <a:srgbClr val="060606"/>
                  </a:solidFill>
                </a:rPr>
                <a:t>x</a:t>
              </a:r>
              <a:r>
                <a:rPr lang="en-US" altLang="zh-CN" sz="2400" dirty="0">
                  <a:solidFill>
                    <a:srgbClr val="060606"/>
                  </a:solidFill>
                </a:rPr>
                <a:t> = (0</a:t>
              </a:r>
              <a:r>
                <a:rPr lang="zh-CN" altLang="zh-CN" sz="2400" dirty="0">
                  <a:solidFill>
                    <a:srgbClr val="060606"/>
                  </a:solidFill>
                </a:rPr>
                <a:t>，</a:t>
              </a:r>
              <a:r>
                <a:rPr lang="en-US" altLang="zh-CN" sz="2400" dirty="0">
                  <a:solidFill>
                    <a:srgbClr val="060606"/>
                  </a:solidFill>
                </a:rPr>
                <a:t>0</a:t>
              </a:r>
              <a:r>
                <a:rPr lang="zh-CN" altLang="en-US" sz="2400" dirty="0">
                  <a:solidFill>
                    <a:srgbClr val="060606"/>
                  </a:solidFill>
                </a:rPr>
                <a:t>，</a:t>
              </a:r>
              <a:r>
                <a:rPr lang="en-US" altLang="zh-CN" sz="2400" dirty="0">
                  <a:solidFill>
                    <a:srgbClr val="060606"/>
                  </a:solidFill>
                </a:rPr>
                <a:t>4</a:t>
              </a:r>
              <a:r>
                <a:rPr lang="zh-CN" altLang="en-US" sz="2400" dirty="0">
                  <a:solidFill>
                    <a:srgbClr val="060606"/>
                  </a:solidFill>
                </a:rPr>
                <a:t>，</a:t>
              </a:r>
              <a:r>
                <a:rPr lang="en-US" altLang="zh-CN" sz="2400" dirty="0">
                  <a:solidFill>
                    <a:srgbClr val="060606"/>
                  </a:solidFill>
                </a:rPr>
                <a:t>12</a:t>
              </a:r>
              <a:r>
                <a:rPr lang="zh-CN" altLang="en-US" sz="2400" dirty="0">
                  <a:solidFill>
                    <a:srgbClr val="060606"/>
                  </a:solidFill>
                </a:rPr>
                <a:t>，</a:t>
              </a:r>
              <a:r>
                <a:rPr lang="en-US" altLang="zh-CN" sz="2400" dirty="0">
                  <a:solidFill>
                    <a:srgbClr val="060606"/>
                  </a:solidFill>
                </a:rPr>
                <a:t>18)</a:t>
              </a:r>
              <a:r>
                <a:rPr lang="zh-CN" altLang="en-US" sz="2400" dirty="0">
                  <a:solidFill>
                    <a:srgbClr val="060606"/>
                  </a:solidFill>
                </a:rPr>
                <a:t>，</a:t>
              </a:r>
              <a:r>
                <a:rPr lang="en-US" altLang="zh-CN" sz="2400" dirty="0">
                  <a:solidFill>
                    <a:srgbClr val="060606"/>
                  </a:solidFill>
                </a:rPr>
                <a:t>z=0</a:t>
              </a:r>
              <a:endParaRPr lang="zh-CN" altLang="en-US" sz="2400" dirty="0">
                <a:solidFill>
                  <a:srgbClr val="060606"/>
                </a:solidFill>
              </a:endParaRPr>
            </a:p>
          </p:txBody>
        </p:sp>
        <p:sp>
          <p:nvSpPr>
            <p:cNvPr id="30" name="矩形 29"/>
            <p:cNvSpPr/>
            <p:nvPr/>
          </p:nvSpPr>
          <p:spPr>
            <a:xfrm>
              <a:off x="4205292" y="4099190"/>
              <a:ext cx="4156907"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2</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4</a:t>
              </a:r>
              <a:r>
                <a:rPr lang="en-US" altLang="zh-CN" sz="2400" dirty="0">
                  <a:solidFill>
                    <a:srgbClr val="060606"/>
                  </a:solidFill>
                </a:rPr>
                <a:t> =12 - 2x</a:t>
              </a:r>
              <a:r>
                <a:rPr lang="en-US" altLang="zh-CN" sz="2400" baseline="-25000" dirty="0">
                  <a:solidFill>
                    <a:srgbClr val="060606"/>
                  </a:solidFill>
                </a:rPr>
                <a:t>2</a:t>
              </a:r>
              <a:r>
                <a:rPr lang="en-US" altLang="zh-CN" sz="2400" dirty="0">
                  <a:solidFill>
                    <a:srgbClr val="060606"/>
                  </a:solidFill>
                </a:rPr>
                <a:t> =&gt; x</a:t>
              </a:r>
              <a:r>
                <a:rPr lang="en-US" altLang="zh-CN" sz="2400" baseline="-25000" dirty="0">
                  <a:solidFill>
                    <a:srgbClr val="060606"/>
                  </a:solidFill>
                </a:rPr>
                <a:t>4</a:t>
              </a:r>
              <a:r>
                <a:rPr lang="en-US" altLang="zh-CN" sz="2400" dirty="0">
                  <a:solidFill>
                    <a:srgbClr val="060606"/>
                  </a:solidFill>
                </a:rPr>
                <a:t> = 12</a:t>
              </a:r>
              <a:endParaRPr lang="zh-CN" altLang="en-US" sz="2400" dirty="0">
                <a:solidFill>
                  <a:srgbClr val="060606"/>
                </a:solidFill>
              </a:endParaRPr>
            </a:p>
          </p:txBody>
        </p:sp>
        <p:sp>
          <p:nvSpPr>
            <p:cNvPr id="17" name="矩形 16"/>
            <p:cNvSpPr/>
            <p:nvPr/>
          </p:nvSpPr>
          <p:spPr>
            <a:xfrm>
              <a:off x="4301682" y="2305464"/>
              <a:ext cx="3294112" cy="479234"/>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令</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 0 </a:t>
              </a:r>
              <a:endParaRPr lang="en-US" altLang="zh-CN" sz="2400" dirty="0">
                <a:solidFill>
                  <a:srgbClr val="060606"/>
                </a:solidFill>
              </a:endParaRPr>
            </a:p>
          </p:txBody>
        </p:sp>
        <p:sp>
          <p:nvSpPr>
            <p:cNvPr id="9" name="内容占位符 2"/>
            <p:cNvSpPr txBox="1"/>
            <p:nvPr/>
          </p:nvSpPr>
          <p:spPr bwMode="auto">
            <a:xfrm>
              <a:off x="1104900" y="5949280"/>
              <a:ext cx="6338413" cy="681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algn="ctr" fontAlgn="base">
                <a:lnSpc>
                  <a:spcPct val="110000"/>
                </a:lnSpc>
                <a:spcBef>
                  <a:spcPts val="1800"/>
                </a:spcBef>
                <a:spcAft>
                  <a:spcPct val="0"/>
                </a:spcAft>
              </a:pPr>
              <a:r>
                <a:rPr lang="zh-CN" altLang="en-US" sz="2400" dirty="0">
                  <a:solidFill>
                    <a:srgbClr val="060606"/>
                  </a:solidFill>
                </a:rPr>
                <a:t>产品组合问题的初始基可行解</a:t>
              </a:r>
              <a:endParaRPr lang="en-US" altLang="zh-CN" sz="2400" dirty="0">
                <a:solidFill>
                  <a:srgbClr val="060606"/>
                </a:solidFill>
              </a:endParaRPr>
            </a:p>
          </p:txBody>
        </p:sp>
      </p:grpSp>
      <p:sp>
        <p:nvSpPr>
          <p:cNvPr id="12" name="内容占位符 2"/>
          <p:cNvSpPr txBox="1"/>
          <p:nvPr/>
        </p:nvSpPr>
        <p:spPr bwMode="auto">
          <a:xfrm>
            <a:off x="290857" y="152476"/>
            <a:ext cx="8676456" cy="52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zh-CN" altLang="en-US" sz="2400" dirty="0">
                <a:solidFill>
                  <a:srgbClr val="060606"/>
                </a:solidFill>
              </a:rPr>
              <a:t>请同学们做：解产品组合问题，得到初始基可行解。</a:t>
            </a:r>
            <a:endParaRPr lang="en-US" altLang="zh-CN" sz="2400" dirty="0">
              <a:solidFill>
                <a:srgbClr val="060606"/>
              </a:solidFill>
            </a:endParaRPr>
          </a:p>
        </p:txBody>
      </p:sp>
      <p:grpSp>
        <p:nvGrpSpPr>
          <p:cNvPr id="13" name="组合 36"/>
          <p:cNvGrpSpPr/>
          <p:nvPr/>
        </p:nvGrpSpPr>
        <p:grpSpPr>
          <a:xfrm>
            <a:off x="378624" y="713651"/>
            <a:ext cx="4968552" cy="2631197"/>
            <a:chOff x="3131840" y="4293096"/>
            <a:chExt cx="4968552" cy="2631197"/>
          </a:xfrm>
        </p:grpSpPr>
        <p:sp>
          <p:nvSpPr>
            <p:cNvPr id="14" name="矩形 13"/>
            <p:cNvSpPr/>
            <p:nvPr/>
          </p:nvSpPr>
          <p:spPr>
            <a:xfrm>
              <a:off x="3131840" y="4293096"/>
              <a:ext cx="3600400" cy="476541"/>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a:t>
              </a:r>
              <a:r>
                <a:rPr lang="zh-CN" altLang="en-US" sz="2400" dirty="0">
                  <a:solidFill>
                    <a:srgbClr val="060606"/>
                  </a:solidFill>
                </a:rPr>
                <a:t>－</a:t>
              </a:r>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5x</a:t>
              </a:r>
              <a:r>
                <a:rPr lang="en-US" altLang="zh-CN" sz="2400" baseline="-25000" dirty="0">
                  <a:solidFill>
                    <a:srgbClr val="060606"/>
                  </a:solidFill>
                </a:rPr>
                <a:t>2</a:t>
              </a:r>
              <a:r>
                <a:rPr lang="en-US" altLang="zh-CN" sz="2400" dirty="0">
                  <a:solidFill>
                    <a:srgbClr val="060606"/>
                  </a:solidFill>
                </a:rPr>
                <a:t> = 0 </a:t>
              </a:r>
              <a:endParaRPr lang="en-US" altLang="zh-CN" sz="2400" dirty="0">
                <a:solidFill>
                  <a:srgbClr val="060606"/>
                </a:solidFill>
              </a:endParaRPr>
            </a:p>
          </p:txBody>
        </p:sp>
        <p:sp>
          <p:nvSpPr>
            <p:cNvPr id="15" name="矩形 14"/>
            <p:cNvSpPr/>
            <p:nvPr/>
          </p:nvSpPr>
          <p:spPr>
            <a:xfrm>
              <a:off x="3131840" y="4725144"/>
              <a:ext cx="2332690"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4</a:t>
              </a:r>
              <a:endParaRPr lang="zh-CN" altLang="en-US" dirty="0"/>
            </a:p>
          </p:txBody>
        </p:sp>
        <p:sp>
          <p:nvSpPr>
            <p:cNvPr id="16" name="矩形 15"/>
            <p:cNvSpPr/>
            <p:nvPr/>
          </p:nvSpPr>
          <p:spPr>
            <a:xfrm>
              <a:off x="3131840" y="5589240"/>
              <a:ext cx="3437159"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x</a:t>
              </a:r>
              <a:r>
                <a:rPr lang="en-US" altLang="zh-CN" sz="2400" baseline="-25000" dirty="0">
                  <a:solidFill>
                    <a:srgbClr val="060606"/>
                  </a:solidFill>
                </a:rPr>
                <a:t>5 </a:t>
              </a:r>
              <a:r>
                <a:rPr lang="en-US" altLang="zh-CN" sz="2400" dirty="0">
                  <a:solidFill>
                    <a:srgbClr val="060606"/>
                  </a:solidFill>
                </a:rPr>
                <a:t> = 18</a:t>
              </a:r>
              <a:endParaRPr lang="zh-CN" altLang="en-US" dirty="0"/>
            </a:p>
          </p:txBody>
        </p:sp>
        <p:sp>
          <p:nvSpPr>
            <p:cNvPr id="18" name="矩形 17"/>
            <p:cNvSpPr/>
            <p:nvPr/>
          </p:nvSpPr>
          <p:spPr>
            <a:xfrm>
              <a:off x="3131840" y="6093296"/>
              <a:ext cx="4968552" cy="830997"/>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19" name="矩形 18"/>
            <p:cNvSpPr/>
            <p:nvPr/>
          </p:nvSpPr>
          <p:spPr>
            <a:xfrm>
              <a:off x="3131840" y="5157192"/>
              <a:ext cx="2685351"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2</a:t>
              </a:r>
              <a:r>
                <a:rPr lang="zh-CN" altLang="en-US" sz="2400" dirty="0">
                  <a:solidFill>
                    <a:srgbClr val="060606"/>
                  </a:solidFill>
                </a:rPr>
                <a:t>）</a:t>
              </a:r>
              <a:r>
                <a:rPr lang="en-US" altLang="zh-CN" sz="2400" dirty="0">
                  <a:solidFill>
                    <a:srgbClr val="060606"/>
                  </a:solidFill>
                </a:rPr>
                <a:t> 2x</a:t>
              </a:r>
              <a:r>
                <a:rPr lang="en-US" altLang="zh-CN" sz="2400" baseline="-25000" dirty="0">
                  <a:solidFill>
                    <a:srgbClr val="060606"/>
                  </a:solidFill>
                </a:rPr>
                <a:t>2</a:t>
              </a:r>
              <a:r>
                <a:rPr lang="en-US" altLang="zh-CN" sz="2400" dirty="0">
                  <a:solidFill>
                    <a:srgbClr val="060606"/>
                  </a:solidFill>
                </a:rPr>
                <a:t>  +x</a:t>
              </a:r>
              <a:r>
                <a:rPr lang="en-US" altLang="zh-CN" sz="2400" baseline="-25000" dirty="0">
                  <a:solidFill>
                    <a:srgbClr val="060606"/>
                  </a:solidFill>
                </a:rPr>
                <a:t>4</a:t>
              </a:r>
              <a:r>
                <a:rPr lang="en-US" altLang="zh-CN" sz="2400" dirty="0">
                  <a:solidFill>
                    <a:srgbClr val="060606"/>
                  </a:solidFill>
                </a:rPr>
                <a:t> =12</a:t>
              </a:r>
              <a:endParaRPr lang="zh-CN" altLang="en-US" sz="2400" dirty="0">
                <a:solidFill>
                  <a:srgbClr val="060606"/>
                </a:solidFill>
              </a:endParaRPr>
            </a:p>
          </p:txBody>
        </p:sp>
      </p:grpSp>
      <p:sp>
        <p:nvSpPr>
          <p:cNvPr id="20" name="右箭头 19"/>
          <p:cNvSpPr/>
          <p:nvPr/>
        </p:nvSpPr>
        <p:spPr bwMode="auto">
          <a:xfrm rot="1936204">
            <a:off x="5059144" y="2901346"/>
            <a:ext cx="576064" cy="432048"/>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2" name="灯片编号占位符 2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5" y="116632"/>
            <a:ext cx="11963400" cy="1891829"/>
          </a:xfrm>
        </p:spPr>
        <p:txBody>
          <a:bodyPr>
            <a:normAutofit lnSpcReduction="10000"/>
          </a:bodyPr>
          <a:lstStyle/>
          <a:p>
            <a:pPr>
              <a:lnSpc>
                <a:spcPct val="100000"/>
              </a:lnSpc>
              <a:buNone/>
            </a:pPr>
            <a:r>
              <a:rPr lang="zh-CN" altLang="en-US" sz="2400" b="1" dirty="0">
                <a:solidFill>
                  <a:srgbClr val="060606"/>
                </a:solidFill>
              </a:rPr>
              <a:t>第四步：最优性检测和解的判定。</a:t>
            </a:r>
            <a:r>
              <a:rPr lang="en-US" altLang="zh-CN" sz="2400" b="1" dirty="0">
                <a:solidFill>
                  <a:srgbClr val="060606"/>
                </a:solidFill>
              </a:rPr>
              <a:t>(</a:t>
            </a:r>
            <a:r>
              <a:rPr lang="zh-CN" altLang="en-US" sz="2400" b="1" dirty="0">
                <a:solidFill>
                  <a:srgbClr val="060606"/>
                </a:solidFill>
              </a:rPr>
              <a:t>是否最优解？</a:t>
            </a:r>
            <a:r>
              <a:rPr lang="en-US" altLang="zh-CN" sz="2400" b="1" dirty="0">
                <a:solidFill>
                  <a:srgbClr val="060606"/>
                </a:solidFill>
              </a:rPr>
              <a:t>)</a:t>
            </a:r>
            <a:endParaRPr lang="en-US" altLang="zh-CN" sz="2400" b="1" dirty="0">
              <a:solidFill>
                <a:srgbClr val="060606"/>
              </a:solidFill>
            </a:endParaRPr>
          </a:p>
          <a:p>
            <a:pPr algn="just">
              <a:lnSpc>
                <a:spcPct val="100000"/>
              </a:lnSpc>
              <a:buNone/>
            </a:pPr>
            <a:r>
              <a:rPr lang="zh-CN" altLang="en-US" sz="2400" b="1" dirty="0">
                <a:solidFill>
                  <a:srgbClr val="060606"/>
                </a:solidFill>
              </a:rPr>
              <a:t>最优判定的规则为：</a:t>
            </a:r>
            <a:r>
              <a:rPr lang="zh-CN" altLang="en-US" sz="2400" dirty="0">
                <a:solidFill>
                  <a:srgbClr val="060606"/>
                </a:solidFill>
              </a:rPr>
              <a:t>最优检测当前的</a:t>
            </a:r>
            <a:r>
              <a:rPr lang="en-US" altLang="zh-CN" sz="2400" dirty="0" err="1">
                <a:solidFill>
                  <a:srgbClr val="FF0000"/>
                </a:solidFill>
              </a:rPr>
              <a:t>Eq</a:t>
            </a:r>
            <a:r>
              <a:rPr lang="en-US" altLang="zh-CN" sz="2400" dirty="0">
                <a:solidFill>
                  <a:srgbClr val="FF0000"/>
                </a:solidFill>
              </a:rPr>
              <a:t>(0)</a:t>
            </a:r>
            <a:r>
              <a:rPr lang="zh-CN" altLang="en-US" sz="2400" dirty="0">
                <a:solidFill>
                  <a:srgbClr val="060606"/>
                </a:solidFill>
              </a:rPr>
              <a:t>，若其中所有</a:t>
            </a:r>
            <a:r>
              <a:rPr lang="zh-CN" altLang="en-US" sz="2400" dirty="0">
                <a:solidFill>
                  <a:srgbClr val="FF0000"/>
                </a:solidFill>
              </a:rPr>
              <a:t>非基变量</a:t>
            </a:r>
            <a:r>
              <a:rPr lang="zh-CN" altLang="en-US" sz="2400" dirty="0">
                <a:solidFill>
                  <a:srgbClr val="060606"/>
                </a:solidFill>
              </a:rPr>
              <a:t>的系数</a:t>
            </a:r>
            <a:r>
              <a:rPr lang="el-GR" altLang="zh-CN" sz="2400" dirty="0">
                <a:solidFill>
                  <a:srgbClr val="060606"/>
                </a:solidFill>
              </a:rPr>
              <a:t>σ</a:t>
            </a:r>
            <a:r>
              <a:rPr lang="en-US" altLang="zh-CN" sz="2400" baseline="-25000" dirty="0">
                <a:solidFill>
                  <a:srgbClr val="060606"/>
                </a:solidFill>
              </a:rPr>
              <a:t>j</a:t>
            </a:r>
            <a:r>
              <a:rPr lang="en-US" altLang="zh-CN" sz="2400" dirty="0">
                <a:solidFill>
                  <a:srgbClr val="060606"/>
                </a:solidFill>
              </a:rPr>
              <a:t> ≥ 0</a:t>
            </a:r>
            <a:r>
              <a:rPr lang="zh-CN" altLang="en-US" sz="2400" dirty="0">
                <a:solidFill>
                  <a:srgbClr val="060606"/>
                </a:solidFill>
              </a:rPr>
              <a:t>，则此时的基可行解为最优解</a:t>
            </a:r>
            <a:r>
              <a:rPr lang="en-US" altLang="zh-CN" sz="2400" dirty="0">
                <a:solidFill>
                  <a:srgbClr val="060606"/>
                </a:solidFill>
              </a:rPr>
              <a:t>(∵ </a:t>
            </a:r>
            <a:r>
              <a:rPr lang="el-GR" altLang="zh-CN" sz="2400" dirty="0">
                <a:solidFill>
                  <a:srgbClr val="060606"/>
                </a:solidFill>
              </a:rPr>
              <a:t>σ</a:t>
            </a:r>
            <a:r>
              <a:rPr lang="en-US" altLang="zh-CN" sz="2400" baseline="-25000" dirty="0">
                <a:solidFill>
                  <a:srgbClr val="060606"/>
                </a:solidFill>
              </a:rPr>
              <a:t>j</a:t>
            </a:r>
            <a:r>
              <a:rPr lang="en-US" altLang="zh-CN" sz="2400" dirty="0">
                <a:solidFill>
                  <a:srgbClr val="060606"/>
                </a:solidFill>
              </a:rPr>
              <a:t> ≥ 0,</a:t>
            </a:r>
            <a:r>
              <a:rPr lang="el-GR" altLang="zh-CN" sz="2400" dirty="0">
                <a:solidFill>
                  <a:srgbClr val="060606"/>
                </a:solidFill>
              </a:rPr>
              <a:t> </a:t>
            </a:r>
            <a:r>
              <a:rPr lang="en-US" altLang="zh-CN" sz="2400" dirty="0" err="1">
                <a:solidFill>
                  <a:srgbClr val="060606"/>
                </a:solidFill>
              </a:rPr>
              <a:t>x</a:t>
            </a:r>
            <a:r>
              <a:rPr lang="en-US" altLang="zh-CN" sz="2400" baseline="-25000" dirty="0" err="1">
                <a:solidFill>
                  <a:srgbClr val="060606"/>
                </a:solidFill>
              </a:rPr>
              <a:t>j</a:t>
            </a:r>
            <a:r>
              <a:rPr lang="en-US" altLang="zh-CN" sz="2400" dirty="0">
                <a:solidFill>
                  <a:srgbClr val="060606"/>
                </a:solidFill>
              </a:rPr>
              <a:t> ↑,z ↓</a:t>
            </a:r>
            <a:r>
              <a:rPr lang="zh-CN" altLang="en-US" sz="2400" dirty="0">
                <a:solidFill>
                  <a:srgbClr val="060606"/>
                </a:solidFill>
              </a:rPr>
              <a:t>而我们求的是</a:t>
            </a:r>
            <a:r>
              <a:rPr lang="en-US" altLang="zh-CN" sz="2400" dirty="0">
                <a:solidFill>
                  <a:srgbClr val="060606"/>
                </a:solidFill>
              </a:rPr>
              <a:t>z</a:t>
            </a:r>
            <a:r>
              <a:rPr lang="zh-CN" altLang="en-US" sz="2400" dirty="0">
                <a:solidFill>
                  <a:srgbClr val="060606"/>
                </a:solidFill>
              </a:rPr>
              <a:t>最大值</a:t>
            </a:r>
            <a:r>
              <a:rPr lang="en-US" altLang="zh-CN" sz="2400" dirty="0">
                <a:solidFill>
                  <a:srgbClr val="060606"/>
                </a:solidFill>
              </a:rPr>
              <a:t>)</a:t>
            </a:r>
            <a:r>
              <a:rPr lang="zh-CN" altLang="en-US" sz="2400" dirty="0">
                <a:solidFill>
                  <a:srgbClr val="060606"/>
                </a:solidFill>
              </a:rPr>
              <a:t>，否则就要迭代进行“第</a:t>
            </a:r>
            <a:r>
              <a:rPr lang="en-US" altLang="zh-CN" sz="2400" dirty="0">
                <a:solidFill>
                  <a:srgbClr val="060606"/>
                </a:solidFill>
              </a:rPr>
              <a:t>5</a:t>
            </a:r>
            <a:r>
              <a:rPr lang="zh-CN" altLang="en-US" sz="2400" dirty="0">
                <a:solidFill>
                  <a:srgbClr val="060606"/>
                </a:solidFill>
              </a:rPr>
              <a:t>步 基可行解的转换”并进行“</a:t>
            </a:r>
            <a:r>
              <a:rPr lang="zh-CN" altLang="zh-CN" sz="2400" dirty="0">
                <a:solidFill>
                  <a:srgbClr val="060606"/>
                </a:solidFill>
              </a:rPr>
              <a:t>最优性检测和解的判定</a:t>
            </a:r>
            <a:r>
              <a:rPr lang="zh-CN" altLang="en-US" sz="2400" dirty="0">
                <a:solidFill>
                  <a:srgbClr val="060606"/>
                </a:solidFill>
              </a:rPr>
              <a:t>”，直到</a:t>
            </a:r>
            <a:r>
              <a:rPr lang="en-US" altLang="zh-CN" sz="2400" dirty="0" err="1">
                <a:solidFill>
                  <a:srgbClr val="060606"/>
                </a:solidFill>
              </a:rPr>
              <a:t>Eq</a:t>
            </a:r>
            <a:r>
              <a:rPr lang="en-US" altLang="zh-CN" sz="2400" dirty="0">
                <a:solidFill>
                  <a:srgbClr val="060606"/>
                </a:solidFill>
              </a:rPr>
              <a:t>(0)</a:t>
            </a:r>
            <a:r>
              <a:rPr lang="zh-CN" altLang="en-US" sz="2400" dirty="0">
                <a:solidFill>
                  <a:srgbClr val="060606"/>
                </a:solidFill>
              </a:rPr>
              <a:t>中若所有变量的系数</a:t>
            </a:r>
            <a:r>
              <a:rPr lang="el-GR" altLang="zh-CN" sz="2400" dirty="0">
                <a:solidFill>
                  <a:srgbClr val="060606"/>
                </a:solidFill>
              </a:rPr>
              <a:t>σ</a:t>
            </a:r>
            <a:r>
              <a:rPr lang="en-US" altLang="zh-CN" sz="2400" baseline="-25000" dirty="0">
                <a:solidFill>
                  <a:srgbClr val="060606"/>
                </a:solidFill>
              </a:rPr>
              <a:t>j</a:t>
            </a:r>
            <a:r>
              <a:rPr lang="en-US" altLang="zh-CN" sz="2400" dirty="0">
                <a:solidFill>
                  <a:srgbClr val="060606"/>
                </a:solidFill>
              </a:rPr>
              <a:t> ≥ 0</a:t>
            </a:r>
            <a:r>
              <a:rPr lang="zh-CN" altLang="en-US" sz="2400" dirty="0">
                <a:solidFill>
                  <a:srgbClr val="060606"/>
                </a:solidFill>
              </a:rPr>
              <a:t>。</a:t>
            </a:r>
            <a:endParaRPr lang="en-US" altLang="zh-CN" sz="2400" dirty="0">
              <a:solidFill>
                <a:srgbClr val="060606"/>
              </a:solidFill>
            </a:endParaRPr>
          </a:p>
        </p:txBody>
      </p:sp>
      <p:sp>
        <p:nvSpPr>
          <p:cNvPr id="7" name="矩形 6"/>
          <p:cNvSpPr/>
          <p:nvPr/>
        </p:nvSpPr>
        <p:spPr>
          <a:xfrm>
            <a:off x="947144" y="2219378"/>
            <a:ext cx="4062980" cy="608180"/>
          </a:xfrm>
          <a:prstGeom prst="rect">
            <a:avLst/>
          </a:prstGeom>
        </p:spPr>
        <p:txBody>
          <a:bodyPr wrap="square">
            <a:spAutoFit/>
          </a:bodyPr>
          <a:lstStyle/>
          <a:p>
            <a:pPr marL="342900" indent="-342900" algn="just" fontAlgn="base">
              <a:lnSpc>
                <a:spcPct val="110000"/>
              </a:lnSpc>
              <a:spcAft>
                <a:spcPct val="0"/>
              </a:spcAft>
            </a:pPr>
            <a:r>
              <a:rPr lang="en-US" altLang="zh-CN" sz="3200" dirty="0">
                <a:solidFill>
                  <a:srgbClr val="FF0000"/>
                </a:solidFill>
              </a:rPr>
              <a:t>(0)    z-   c</a:t>
            </a:r>
            <a:r>
              <a:rPr lang="en-US" altLang="zh-CN" sz="3200" baseline="-25000" dirty="0">
                <a:solidFill>
                  <a:srgbClr val="FF0000"/>
                </a:solidFill>
              </a:rPr>
              <a:t>j</a:t>
            </a:r>
            <a:r>
              <a:rPr lang="en-US" altLang="zh-CN" sz="3200" dirty="0">
                <a:solidFill>
                  <a:srgbClr val="FF0000"/>
                </a:solidFill>
              </a:rPr>
              <a:t>x</a:t>
            </a:r>
            <a:r>
              <a:rPr lang="en-US" altLang="zh-CN" sz="3200" baseline="-25000" dirty="0">
                <a:solidFill>
                  <a:srgbClr val="FF0000"/>
                </a:solidFill>
              </a:rPr>
              <a:t>j </a:t>
            </a:r>
            <a:r>
              <a:rPr lang="en-US" altLang="zh-CN" sz="3200" dirty="0">
                <a:solidFill>
                  <a:srgbClr val="FF0000"/>
                </a:solidFill>
              </a:rPr>
              <a:t>= 0</a:t>
            </a:r>
            <a:endParaRPr lang="en-US" altLang="zh-CN" sz="3200" dirty="0">
              <a:solidFill>
                <a:srgbClr val="FF0000"/>
              </a:solidFill>
            </a:endParaRPr>
          </a:p>
        </p:txBody>
      </p:sp>
      <p:grpSp>
        <p:nvGrpSpPr>
          <p:cNvPr id="9" name="组合 32"/>
          <p:cNvGrpSpPr/>
          <p:nvPr/>
        </p:nvGrpSpPr>
        <p:grpSpPr>
          <a:xfrm>
            <a:off x="2075955" y="2072757"/>
            <a:ext cx="1300485" cy="965719"/>
            <a:chOff x="6249159" y="533630"/>
            <a:chExt cx="567784" cy="474741"/>
          </a:xfrm>
        </p:grpSpPr>
        <p:sp>
          <p:nvSpPr>
            <p:cNvPr id="21" name="矩形 6"/>
            <p:cNvSpPr/>
            <p:nvPr/>
          </p:nvSpPr>
          <p:spPr>
            <a:xfrm>
              <a:off x="6249159" y="781419"/>
              <a:ext cx="567784" cy="226952"/>
            </a:xfrm>
            <a:prstGeom prst="rect">
              <a:avLst/>
            </a:prstGeom>
          </p:spPr>
          <p:txBody>
            <a:bodyPr wrap="square">
              <a:spAutoFit/>
            </a:bodyPr>
            <a:lstStyle/>
            <a:p>
              <a:r>
                <a:rPr lang="en-US" altLang="zh-CN" sz="2400" dirty="0">
                  <a:solidFill>
                    <a:srgbClr val="FF0000"/>
                  </a:solidFill>
                </a:rPr>
                <a:t>j=1</a:t>
              </a:r>
              <a:endParaRPr lang="zh-CN" altLang="en-US" sz="2400" dirty="0">
                <a:solidFill>
                  <a:srgbClr val="FF0000"/>
                </a:solidFill>
              </a:endParaRPr>
            </a:p>
          </p:txBody>
        </p:sp>
        <p:sp>
          <p:nvSpPr>
            <p:cNvPr id="22" name="矩形 7"/>
            <p:cNvSpPr/>
            <p:nvPr/>
          </p:nvSpPr>
          <p:spPr>
            <a:xfrm>
              <a:off x="6314129" y="533630"/>
              <a:ext cx="154809" cy="226951"/>
            </a:xfrm>
            <a:prstGeom prst="rect">
              <a:avLst/>
            </a:prstGeom>
          </p:spPr>
          <p:txBody>
            <a:bodyPr wrap="none">
              <a:spAutoFit/>
            </a:bodyPr>
            <a:lstStyle/>
            <a:p>
              <a:r>
                <a:rPr lang="en-US" altLang="zh-CN" sz="2400" dirty="0">
                  <a:solidFill>
                    <a:srgbClr val="FF0000"/>
                  </a:solidFill>
                </a:rPr>
                <a:t>n</a:t>
              </a:r>
              <a:endParaRPr lang="zh-CN" altLang="en-US" sz="2400" dirty="0">
                <a:solidFill>
                  <a:srgbClr val="FF0000"/>
                </a:solidFill>
              </a:endParaRPr>
            </a:p>
          </p:txBody>
        </p:sp>
        <p:sp>
          <p:nvSpPr>
            <p:cNvPr id="23" name="矩形 8"/>
            <p:cNvSpPr/>
            <p:nvPr/>
          </p:nvSpPr>
          <p:spPr>
            <a:xfrm>
              <a:off x="6285016" y="647019"/>
              <a:ext cx="346489" cy="226952"/>
            </a:xfrm>
            <a:prstGeom prst="rect">
              <a:avLst/>
            </a:prstGeom>
          </p:spPr>
          <p:txBody>
            <a:bodyPr wrap="square">
              <a:spAutoFit/>
            </a:bodyPr>
            <a:lstStyle/>
            <a:p>
              <a:r>
                <a:rPr lang="en-US" altLang="zh-CN" sz="2400" dirty="0">
                  <a:solidFill>
                    <a:srgbClr val="FF0000"/>
                  </a:solidFill>
                </a:rPr>
                <a:t>∑ </a:t>
              </a:r>
              <a:endParaRPr lang="zh-CN" altLang="en-US" sz="2400" dirty="0">
                <a:solidFill>
                  <a:srgbClr val="FF0000"/>
                </a:solidFill>
              </a:endParaRPr>
            </a:p>
          </p:txBody>
        </p:sp>
      </p:grpSp>
      <p:sp>
        <p:nvSpPr>
          <p:cNvPr id="30" name="矩形 29"/>
          <p:cNvSpPr/>
          <p:nvPr/>
        </p:nvSpPr>
        <p:spPr>
          <a:xfrm>
            <a:off x="7505205" y="2765079"/>
            <a:ext cx="3600400" cy="1569660"/>
          </a:xfrm>
          <a:prstGeom prst="rect">
            <a:avLst/>
          </a:prstGeom>
        </p:spPr>
        <p:txBody>
          <a:bodyPr wrap="square">
            <a:spAutoFit/>
          </a:bodyPr>
          <a:lstStyle/>
          <a:p>
            <a:r>
              <a:rPr lang="el-GR" altLang="zh-CN" sz="3200" dirty="0">
                <a:solidFill>
                  <a:srgbClr val="060606"/>
                </a:solidFill>
              </a:rPr>
              <a:t>σ</a:t>
            </a:r>
            <a:r>
              <a:rPr lang="en-US" altLang="zh-CN" sz="3200" baseline="-25000" dirty="0">
                <a:solidFill>
                  <a:srgbClr val="060606"/>
                </a:solidFill>
              </a:rPr>
              <a:t>j</a:t>
            </a:r>
            <a:r>
              <a:rPr lang="en-US" altLang="zh-CN" sz="3200" dirty="0">
                <a:solidFill>
                  <a:srgbClr val="060606"/>
                </a:solidFill>
              </a:rPr>
              <a:t> = </a:t>
            </a:r>
            <a:r>
              <a:rPr lang="en-US" altLang="zh-CN" sz="3200" dirty="0">
                <a:solidFill>
                  <a:srgbClr val="FF0000"/>
                </a:solidFill>
              </a:rPr>
              <a:t>-</a:t>
            </a:r>
            <a:r>
              <a:rPr lang="en-US" altLang="zh-CN" sz="3200" dirty="0" err="1">
                <a:solidFill>
                  <a:srgbClr val="FF0000"/>
                </a:solidFill>
              </a:rPr>
              <a:t>c</a:t>
            </a:r>
            <a:r>
              <a:rPr lang="en-US" altLang="zh-CN" sz="3200" baseline="-25000" dirty="0" err="1">
                <a:solidFill>
                  <a:srgbClr val="FF0000"/>
                </a:solidFill>
              </a:rPr>
              <a:t>j</a:t>
            </a:r>
            <a:r>
              <a:rPr lang="zh-CN" altLang="en-US" sz="3200" dirty="0">
                <a:solidFill>
                  <a:srgbClr val="060606"/>
                </a:solidFill>
              </a:rPr>
              <a:t>，</a:t>
            </a:r>
            <a:endParaRPr lang="en-US" altLang="zh-CN" sz="3200" dirty="0">
              <a:solidFill>
                <a:srgbClr val="060606"/>
              </a:solidFill>
            </a:endParaRPr>
          </a:p>
          <a:p>
            <a:r>
              <a:rPr lang="en-US" altLang="zh-CN" sz="3200" dirty="0">
                <a:solidFill>
                  <a:srgbClr val="FF0000"/>
                </a:solidFill>
              </a:rPr>
              <a:t>x</a:t>
            </a:r>
            <a:r>
              <a:rPr lang="en-US" altLang="zh-CN" sz="3200" baseline="-25000" dirty="0">
                <a:solidFill>
                  <a:srgbClr val="FF0000"/>
                </a:solidFill>
              </a:rPr>
              <a:t>j</a:t>
            </a:r>
            <a:r>
              <a:rPr lang="zh-CN" altLang="en-US" sz="3200" dirty="0">
                <a:solidFill>
                  <a:srgbClr val="060606"/>
                </a:solidFill>
              </a:rPr>
              <a:t>非基变量，</a:t>
            </a:r>
            <a:r>
              <a:rPr lang="en-US" altLang="zh-CN" sz="3200" dirty="0">
                <a:solidFill>
                  <a:srgbClr val="060606"/>
                </a:solidFill>
              </a:rPr>
              <a:t>j=1,2,…,n</a:t>
            </a:r>
            <a:endParaRPr lang="zh-CN" altLang="en-US" sz="3200" dirty="0"/>
          </a:p>
        </p:txBody>
      </p:sp>
      <p:sp>
        <p:nvSpPr>
          <p:cNvPr id="31" name="灯片编号占位符 30"/>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4" name="图片 3"/>
          <p:cNvPicPr>
            <a:picLocks noChangeAspect="1"/>
          </p:cNvPicPr>
          <p:nvPr/>
        </p:nvPicPr>
        <p:blipFill>
          <a:blip r:embed="rId1"/>
          <a:stretch>
            <a:fillRect/>
          </a:stretch>
        </p:blipFill>
        <p:spPr>
          <a:xfrm>
            <a:off x="975224" y="3038475"/>
            <a:ext cx="5886450" cy="3076575"/>
          </a:xfrm>
          <a:prstGeom prst="rect">
            <a:avLst/>
          </a:prstGeom>
        </p:spPr>
      </p:pic>
      <p:sp>
        <p:nvSpPr>
          <p:cNvPr id="6" name="箭头: 右 5"/>
          <p:cNvSpPr/>
          <p:nvPr/>
        </p:nvSpPr>
        <p:spPr>
          <a:xfrm>
            <a:off x="5514975" y="3286125"/>
            <a:ext cx="1346699" cy="81915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685800" y="2008461"/>
            <a:ext cx="3810000" cy="1115739"/>
          </a:xfrm>
          <a:prstGeom prst="rect">
            <a:avLst/>
          </a:prstGeom>
          <a:noFill/>
          <a:ln w="381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2450" y="1109117"/>
            <a:ext cx="10801350" cy="4104456"/>
          </a:xfrm>
        </p:spPr>
        <p:txBody>
          <a:bodyPr>
            <a:normAutofit/>
          </a:bodyPr>
          <a:lstStyle/>
          <a:p>
            <a:pPr algn="just">
              <a:buNone/>
            </a:pPr>
            <a:r>
              <a:rPr lang="zh-CN" altLang="en-US" dirty="0">
                <a:solidFill>
                  <a:srgbClr val="060606"/>
                </a:solidFill>
              </a:rPr>
              <a:t>观察：在此时基可行解</a:t>
            </a:r>
            <a:r>
              <a:rPr lang="en-US" altLang="zh-CN" b="1" dirty="0">
                <a:solidFill>
                  <a:srgbClr val="060606"/>
                </a:solidFill>
              </a:rPr>
              <a:t>x</a:t>
            </a:r>
            <a:r>
              <a:rPr lang="en-US" altLang="zh-CN" dirty="0">
                <a:solidFill>
                  <a:srgbClr val="060606"/>
                </a:solidFill>
              </a:rPr>
              <a:t> = (0</a:t>
            </a:r>
            <a:r>
              <a:rPr lang="zh-CN" altLang="zh-CN" dirty="0">
                <a:solidFill>
                  <a:srgbClr val="060606"/>
                </a:solidFill>
              </a:rPr>
              <a:t>，</a:t>
            </a:r>
            <a:r>
              <a:rPr lang="en-US" altLang="zh-CN" dirty="0">
                <a:solidFill>
                  <a:srgbClr val="060606"/>
                </a:solidFill>
              </a:rPr>
              <a:t>0</a:t>
            </a:r>
            <a:r>
              <a:rPr lang="zh-CN" altLang="en-US" dirty="0">
                <a:solidFill>
                  <a:srgbClr val="060606"/>
                </a:solidFill>
              </a:rPr>
              <a:t>，</a:t>
            </a:r>
            <a:r>
              <a:rPr lang="en-US" altLang="zh-CN" dirty="0">
                <a:solidFill>
                  <a:srgbClr val="060606"/>
                </a:solidFill>
              </a:rPr>
              <a:t>4</a:t>
            </a:r>
            <a:r>
              <a:rPr lang="zh-CN" altLang="en-US" dirty="0">
                <a:solidFill>
                  <a:srgbClr val="060606"/>
                </a:solidFill>
              </a:rPr>
              <a:t>，</a:t>
            </a:r>
            <a:r>
              <a:rPr lang="en-US" altLang="zh-CN" dirty="0">
                <a:solidFill>
                  <a:srgbClr val="060606"/>
                </a:solidFill>
              </a:rPr>
              <a:t>12</a:t>
            </a:r>
            <a:r>
              <a:rPr lang="zh-CN" altLang="en-US" dirty="0">
                <a:solidFill>
                  <a:srgbClr val="060606"/>
                </a:solidFill>
              </a:rPr>
              <a:t>，</a:t>
            </a:r>
            <a:r>
              <a:rPr lang="en-US" altLang="zh-CN" dirty="0">
                <a:solidFill>
                  <a:srgbClr val="060606"/>
                </a:solidFill>
              </a:rPr>
              <a:t>18)</a:t>
            </a:r>
            <a:r>
              <a:rPr lang="zh-CN" altLang="en-US" dirty="0">
                <a:solidFill>
                  <a:srgbClr val="060606"/>
                </a:solidFill>
              </a:rPr>
              <a:t>下：</a:t>
            </a:r>
            <a:endParaRPr lang="en-US" altLang="zh-CN" dirty="0">
              <a:solidFill>
                <a:srgbClr val="060606"/>
              </a:solidFill>
            </a:endParaRPr>
          </a:p>
          <a:p>
            <a:pPr algn="just">
              <a:buNone/>
            </a:pPr>
            <a:r>
              <a:rPr lang="zh-CN" altLang="en-US" dirty="0">
                <a:solidFill>
                  <a:srgbClr val="060606"/>
                </a:solidFill>
              </a:rPr>
              <a:t>解得：</a:t>
            </a:r>
            <a:r>
              <a:rPr lang="en-US" altLang="zh-CN" dirty="0">
                <a:solidFill>
                  <a:srgbClr val="060606"/>
                </a:solidFill>
              </a:rPr>
              <a:t>z = 0</a:t>
            </a:r>
            <a:r>
              <a:rPr lang="zh-CN" altLang="en-US" dirty="0">
                <a:solidFill>
                  <a:srgbClr val="060606"/>
                </a:solidFill>
              </a:rPr>
              <a:t>。</a:t>
            </a:r>
            <a:endParaRPr lang="en-US" altLang="zh-CN" dirty="0">
              <a:solidFill>
                <a:srgbClr val="060606"/>
              </a:solidFill>
            </a:endParaRPr>
          </a:p>
          <a:p>
            <a:pPr algn="just">
              <a:buNone/>
            </a:pPr>
            <a:r>
              <a:rPr lang="zh-CN" altLang="en-US" dirty="0">
                <a:solidFill>
                  <a:srgbClr val="060606"/>
                </a:solidFill>
              </a:rPr>
              <a:t>最优检测</a:t>
            </a:r>
            <a:r>
              <a:rPr lang="en-US" altLang="zh-CN" dirty="0" err="1">
                <a:solidFill>
                  <a:srgbClr val="060606"/>
                </a:solidFill>
              </a:rPr>
              <a:t>Eq</a:t>
            </a:r>
            <a:r>
              <a:rPr lang="en-US" altLang="zh-CN" dirty="0">
                <a:solidFill>
                  <a:srgbClr val="060606"/>
                </a:solidFill>
              </a:rPr>
              <a:t>(0)</a:t>
            </a:r>
            <a:r>
              <a:rPr lang="zh-CN" altLang="en-US" dirty="0">
                <a:solidFill>
                  <a:srgbClr val="060606"/>
                </a:solidFill>
              </a:rPr>
              <a:t>：</a:t>
            </a:r>
            <a:r>
              <a:rPr lang="en-US" altLang="zh-CN" dirty="0">
                <a:solidFill>
                  <a:srgbClr val="060606"/>
                </a:solidFill>
              </a:rPr>
              <a:t> z </a:t>
            </a:r>
            <a:r>
              <a:rPr lang="en-US" altLang="zh-CN" dirty="0">
                <a:solidFill>
                  <a:srgbClr val="FF0000"/>
                </a:solidFill>
              </a:rPr>
              <a:t>- 3</a:t>
            </a:r>
            <a:r>
              <a:rPr lang="en-US" altLang="zh-CN" dirty="0">
                <a:solidFill>
                  <a:srgbClr val="060606"/>
                </a:solidFill>
              </a:rPr>
              <a:t>x</a:t>
            </a:r>
            <a:r>
              <a:rPr lang="en-US" altLang="zh-CN" baseline="-25000" dirty="0">
                <a:solidFill>
                  <a:srgbClr val="060606"/>
                </a:solidFill>
              </a:rPr>
              <a:t>1</a:t>
            </a:r>
            <a:r>
              <a:rPr lang="en-US" altLang="zh-CN" dirty="0">
                <a:solidFill>
                  <a:srgbClr val="060606"/>
                </a:solidFill>
              </a:rPr>
              <a:t> </a:t>
            </a:r>
            <a:r>
              <a:rPr lang="en-US" altLang="zh-CN" dirty="0">
                <a:solidFill>
                  <a:srgbClr val="FF0000"/>
                </a:solidFill>
              </a:rPr>
              <a:t>-</a:t>
            </a:r>
            <a:r>
              <a:rPr lang="zh-CN" altLang="en-US" dirty="0">
                <a:solidFill>
                  <a:srgbClr val="FF0000"/>
                </a:solidFill>
              </a:rPr>
              <a:t> </a:t>
            </a:r>
            <a:r>
              <a:rPr lang="en-US" altLang="zh-CN" dirty="0">
                <a:solidFill>
                  <a:srgbClr val="FF0000"/>
                </a:solidFill>
              </a:rPr>
              <a:t>5</a:t>
            </a:r>
            <a:r>
              <a:rPr lang="en-US" altLang="zh-CN" dirty="0">
                <a:solidFill>
                  <a:srgbClr val="060606"/>
                </a:solidFill>
              </a:rPr>
              <a:t>x</a:t>
            </a:r>
            <a:r>
              <a:rPr lang="en-US" altLang="zh-CN" baseline="-25000" dirty="0">
                <a:solidFill>
                  <a:srgbClr val="060606"/>
                </a:solidFill>
              </a:rPr>
              <a:t>2 </a:t>
            </a:r>
            <a:r>
              <a:rPr lang="en-US" altLang="zh-CN" dirty="0">
                <a:solidFill>
                  <a:srgbClr val="060606"/>
                </a:solidFill>
              </a:rPr>
              <a:t> = 0   </a:t>
            </a:r>
            <a:endParaRPr lang="en-US" altLang="zh-CN" dirty="0">
              <a:solidFill>
                <a:srgbClr val="060606"/>
              </a:solidFill>
            </a:endParaRPr>
          </a:p>
          <a:p>
            <a:pPr algn="just">
              <a:buNone/>
            </a:pPr>
            <a:r>
              <a:rPr lang="zh-CN" altLang="en-US" dirty="0">
                <a:solidFill>
                  <a:srgbClr val="060606"/>
                </a:solidFill>
              </a:rPr>
              <a:t>此时，</a:t>
            </a:r>
            <a:r>
              <a:rPr lang="en-US" altLang="zh-CN" dirty="0">
                <a:solidFill>
                  <a:srgbClr val="060606"/>
                </a:solidFill>
              </a:rPr>
              <a:t> </a:t>
            </a:r>
            <a:r>
              <a:rPr lang="en-US" altLang="zh-CN" dirty="0" err="1">
                <a:solidFill>
                  <a:srgbClr val="060606"/>
                </a:solidFill>
              </a:rPr>
              <a:t>Eq</a:t>
            </a:r>
            <a:r>
              <a:rPr lang="en-US" altLang="zh-CN" dirty="0">
                <a:solidFill>
                  <a:srgbClr val="060606"/>
                </a:solidFill>
              </a:rPr>
              <a:t>(0) </a:t>
            </a:r>
            <a:r>
              <a:rPr lang="zh-CN" altLang="en-US" dirty="0">
                <a:solidFill>
                  <a:srgbClr val="060606"/>
                </a:solidFill>
              </a:rPr>
              <a:t>中所有变量的系数</a:t>
            </a:r>
            <a:r>
              <a:rPr lang="el-GR" altLang="zh-CN" dirty="0">
                <a:solidFill>
                  <a:srgbClr val="060606"/>
                </a:solidFill>
                <a:ea typeface="宋体"/>
              </a:rPr>
              <a:t>σ</a:t>
            </a:r>
            <a:r>
              <a:rPr lang="en-US" altLang="zh-CN" baseline="-25000" dirty="0">
                <a:solidFill>
                  <a:srgbClr val="060606"/>
                </a:solidFill>
                <a:ea typeface="宋体"/>
              </a:rPr>
              <a:t>1</a:t>
            </a:r>
            <a:r>
              <a:rPr lang="en-US" altLang="zh-CN" dirty="0">
                <a:solidFill>
                  <a:srgbClr val="060606"/>
                </a:solidFill>
                <a:ea typeface="宋体"/>
              </a:rPr>
              <a:t> = -3&lt;0</a:t>
            </a:r>
            <a:r>
              <a:rPr lang="zh-CN" altLang="en-US" dirty="0">
                <a:solidFill>
                  <a:srgbClr val="060606"/>
                </a:solidFill>
                <a:ea typeface="宋体"/>
              </a:rPr>
              <a:t>，</a:t>
            </a:r>
            <a:r>
              <a:rPr lang="el-GR" altLang="zh-CN" dirty="0">
                <a:solidFill>
                  <a:srgbClr val="060606"/>
                </a:solidFill>
              </a:rPr>
              <a:t>σ</a:t>
            </a:r>
            <a:r>
              <a:rPr lang="en-US" altLang="zh-CN" baseline="-25000" dirty="0">
                <a:solidFill>
                  <a:srgbClr val="060606"/>
                </a:solidFill>
              </a:rPr>
              <a:t>2</a:t>
            </a:r>
            <a:r>
              <a:rPr lang="en-US" altLang="zh-CN" dirty="0">
                <a:solidFill>
                  <a:srgbClr val="060606"/>
                </a:solidFill>
              </a:rPr>
              <a:t> = -3&lt;0</a:t>
            </a:r>
            <a:endParaRPr lang="en-US" altLang="zh-CN" dirty="0">
              <a:solidFill>
                <a:srgbClr val="060606"/>
              </a:solidFill>
            </a:endParaRPr>
          </a:p>
          <a:p>
            <a:pPr algn="just">
              <a:buNone/>
            </a:pPr>
            <a:r>
              <a:rPr lang="zh-CN" altLang="en-US" dirty="0">
                <a:solidFill>
                  <a:srgbClr val="060606"/>
                </a:solidFill>
              </a:rPr>
              <a:t>由</a:t>
            </a:r>
            <a:r>
              <a:rPr lang="en-US" altLang="zh-CN" dirty="0">
                <a:solidFill>
                  <a:srgbClr val="060606"/>
                </a:solidFill>
              </a:rPr>
              <a:t>z = 3x</a:t>
            </a:r>
            <a:r>
              <a:rPr lang="en-US" altLang="zh-CN" baseline="-25000" dirty="0">
                <a:solidFill>
                  <a:srgbClr val="060606"/>
                </a:solidFill>
              </a:rPr>
              <a:t>1</a:t>
            </a:r>
            <a:r>
              <a:rPr lang="en-US" altLang="zh-CN" dirty="0">
                <a:solidFill>
                  <a:srgbClr val="060606"/>
                </a:solidFill>
              </a:rPr>
              <a:t> +</a:t>
            </a:r>
            <a:r>
              <a:rPr lang="zh-CN" altLang="en-US" dirty="0">
                <a:solidFill>
                  <a:srgbClr val="060606"/>
                </a:solidFill>
              </a:rPr>
              <a:t> </a:t>
            </a:r>
            <a:r>
              <a:rPr lang="en-US" altLang="zh-CN" dirty="0">
                <a:solidFill>
                  <a:srgbClr val="060606"/>
                </a:solidFill>
              </a:rPr>
              <a:t>5x</a:t>
            </a:r>
            <a:r>
              <a:rPr lang="en-US" altLang="zh-CN" baseline="-25000" dirty="0">
                <a:solidFill>
                  <a:srgbClr val="060606"/>
                </a:solidFill>
              </a:rPr>
              <a:t>2</a:t>
            </a:r>
            <a:r>
              <a:rPr lang="zh-CN" altLang="en-US" dirty="0">
                <a:solidFill>
                  <a:srgbClr val="060606"/>
                </a:solidFill>
              </a:rPr>
              <a:t>可知，</a:t>
            </a:r>
            <a:r>
              <a:rPr lang="en-US" altLang="zh-CN" dirty="0">
                <a:solidFill>
                  <a:srgbClr val="060606"/>
                </a:solidFill>
              </a:rPr>
              <a:t>x</a:t>
            </a:r>
            <a:r>
              <a:rPr lang="en-US" altLang="zh-CN" baseline="-25000" dirty="0">
                <a:solidFill>
                  <a:srgbClr val="060606"/>
                </a:solidFill>
              </a:rPr>
              <a:t>1</a:t>
            </a:r>
            <a:r>
              <a:rPr lang="en-US" altLang="zh-CN" dirty="0">
                <a:solidFill>
                  <a:srgbClr val="060606"/>
                </a:solidFill>
              </a:rPr>
              <a:t>↑</a:t>
            </a:r>
            <a:r>
              <a:rPr lang="zh-CN" altLang="en-US" dirty="0">
                <a:solidFill>
                  <a:srgbClr val="060606"/>
                </a:solidFill>
              </a:rPr>
              <a:t>，</a:t>
            </a:r>
            <a:r>
              <a:rPr lang="en-US" altLang="zh-CN" dirty="0">
                <a:solidFill>
                  <a:srgbClr val="060606"/>
                </a:solidFill>
              </a:rPr>
              <a:t>x</a:t>
            </a:r>
            <a:r>
              <a:rPr lang="en-US" altLang="zh-CN" baseline="-25000" dirty="0">
                <a:solidFill>
                  <a:srgbClr val="060606"/>
                </a:solidFill>
              </a:rPr>
              <a:t>2</a:t>
            </a:r>
            <a:r>
              <a:rPr lang="en-US" altLang="zh-CN" dirty="0">
                <a:solidFill>
                  <a:srgbClr val="060606"/>
                </a:solidFill>
              </a:rPr>
              <a:t>↑</a:t>
            </a:r>
            <a:r>
              <a:rPr lang="zh-CN" altLang="en-US" dirty="0">
                <a:solidFill>
                  <a:srgbClr val="060606"/>
                </a:solidFill>
              </a:rPr>
              <a:t>时，</a:t>
            </a:r>
            <a:r>
              <a:rPr lang="en-US" altLang="zh-CN" dirty="0">
                <a:solidFill>
                  <a:srgbClr val="060606"/>
                </a:solidFill>
              </a:rPr>
              <a:t>z↑</a:t>
            </a:r>
            <a:r>
              <a:rPr lang="zh-CN" altLang="en-US" dirty="0">
                <a:solidFill>
                  <a:srgbClr val="060606"/>
                </a:solidFill>
              </a:rPr>
              <a:t>；所以</a:t>
            </a:r>
            <a:r>
              <a:rPr lang="zh-CN" altLang="en-US" dirty="0">
                <a:solidFill>
                  <a:srgbClr val="0000AC"/>
                </a:solidFill>
              </a:rPr>
              <a:t>此时的基可行解不是一个最优解</a:t>
            </a:r>
            <a:r>
              <a:rPr lang="zh-CN" altLang="en-US" dirty="0">
                <a:solidFill>
                  <a:srgbClr val="060606"/>
                </a:solidFill>
              </a:rPr>
              <a:t>。</a:t>
            </a:r>
            <a:endParaRPr lang="en-US" altLang="zh-CN" dirty="0">
              <a:solidFill>
                <a:srgbClr val="060606"/>
              </a:solidFill>
            </a:endParaRPr>
          </a:p>
        </p:txBody>
      </p:sp>
      <p:sp>
        <p:nvSpPr>
          <p:cNvPr id="4" name="内容占位符 2"/>
          <p:cNvSpPr txBox="1"/>
          <p:nvPr/>
        </p:nvSpPr>
        <p:spPr bwMode="auto">
          <a:xfrm>
            <a:off x="0" y="260648"/>
            <a:ext cx="11639550"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zh-CN" altLang="en-US" sz="2400" dirty="0">
                <a:solidFill>
                  <a:srgbClr val="00000C"/>
                </a:solidFill>
              </a:rPr>
              <a:t>请同学们做：对得到初始基可行解做</a:t>
            </a:r>
            <a:r>
              <a:rPr lang="zh-CN" altLang="zh-CN" sz="2400" dirty="0">
                <a:solidFill>
                  <a:srgbClr val="00000C"/>
                </a:solidFill>
              </a:rPr>
              <a:t>最优性检测和解的判定</a:t>
            </a:r>
            <a:r>
              <a:rPr lang="zh-CN" altLang="en-US" sz="2400" dirty="0">
                <a:solidFill>
                  <a:srgbClr val="00000C"/>
                </a:solidFill>
              </a:rPr>
              <a:t>，判定是否最优解？</a:t>
            </a:r>
            <a:endParaRPr lang="en-US" altLang="zh-CN" sz="2400" dirty="0">
              <a:solidFill>
                <a:srgbClr val="00000C"/>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8599" y="419100"/>
            <a:ext cx="11839575" cy="4810125"/>
          </a:xfrm>
          <a:noFill/>
        </p:spPr>
        <p:txBody>
          <a:bodyPr/>
          <a:lstStyle/>
          <a:p>
            <a:pPr>
              <a:buNone/>
            </a:pPr>
            <a:r>
              <a:rPr lang="zh-CN" altLang="en-US" sz="2400" b="1" dirty="0">
                <a:solidFill>
                  <a:srgbClr val="060606"/>
                </a:solidFill>
              </a:rPr>
              <a:t>第五步：基可行解的转换。</a:t>
            </a:r>
            <a:r>
              <a:rPr lang="en-US" altLang="zh-CN" sz="2400" b="1" dirty="0">
                <a:solidFill>
                  <a:srgbClr val="060606"/>
                </a:solidFill>
              </a:rPr>
              <a:t>(</a:t>
            </a:r>
            <a:r>
              <a:rPr lang="zh-CN" altLang="en-US" sz="2400" b="1" dirty="0">
                <a:solidFill>
                  <a:srgbClr val="060606"/>
                </a:solidFill>
              </a:rPr>
              <a:t>迭代</a:t>
            </a:r>
            <a:r>
              <a:rPr lang="en-US" altLang="zh-CN" sz="2400" b="1" dirty="0">
                <a:solidFill>
                  <a:srgbClr val="060606"/>
                </a:solidFill>
              </a:rPr>
              <a:t>)</a:t>
            </a:r>
            <a:endParaRPr lang="en-US" altLang="zh-CN" sz="2400" b="1" dirty="0">
              <a:solidFill>
                <a:srgbClr val="060606"/>
              </a:solidFill>
            </a:endParaRPr>
          </a:p>
          <a:p>
            <a:pPr>
              <a:buNone/>
            </a:pPr>
            <a:r>
              <a:rPr lang="zh-CN" altLang="en-US" sz="2400" dirty="0">
                <a:solidFill>
                  <a:srgbClr val="060606"/>
                </a:solidFill>
              </a:rPr>
              <a:t>具体做法是：从原可行解基中找一个列向量，得到一个新的基可行解基，称为基变换。为了换基，先要确定换入变量，再确定换出变量，让它们相应的系数列向量进行对换，就得到一个新的可行基，从而找到一个新的基可行解。然后进行最优性检测和解的判别。迭代进行，直到</a:t>
            </a:r>
            <a:r>
              <a:rPr lang="en-US" altLang="zh-CN" sz="2400" dirty="0" err="1">
                <a:solidFill>
                  <a:srgbClr val="060606"/>
                </a:solidFill>
              </a:rPr>
              <a:t>Eq</a:t>
            </a:r>
            <a:r>
              <a:rPr lang="en-US" altLang="zh-CN" sz="2400" dirty="0">
                <a:solidFill>
                  <a:srgbClr val="060606"/>
                </a:solidFill>
              </a:rPr>
              <a:t>(0)</a:t>
            </a:r>
            <a:r>
              <a:rPr lang="zh-CN" altLang="en-US" sz="2400" dirty="0">
                <a:solidFill>
                  <a:srgbClr val="060606"/>
                </a:solidFill>
              </a:rPr>
              <a:t>中若所有变量的系数</a:t>
            </a:r>
            <a:r>
              <a:rPr lang="el-GR" altLang="zh-CN" sz="2400" dirty="0">
                <a:solidFill>
                  <a:srgbClr val="060606"/>
                </a:solidFill>
              </a:rPr>
              <a:t>σ</a:t>
            </a:r>
            <a:r>
              <a:rPr lang="en-US" altLang="zh-CN" sz="2400" baseline="-25000" dirty="0">
                <a:solidFill>
                  <a:srgbClr val="060606"/>
                </a:solidFill>
              </a:rPr>
              <a:t>j</a:t>
            </a:r>
            <a:r>
              <a:rPr lang="en-US" altLang="zh-CN" sz="2400" dirty="0">
                <a:solidFill>
                  <a:srgbClr val="060606"/>
                </a:solidFill>
              </a:rPr>
              <a:t> ≥ 0</a:t>
            </a:r>
            <a:r>
              <a:rPr lang="zh-CN" altLang="en-US" sz="2400" dirty="0">
                <a:solidFill>
                  <a:srgbClr val="060606"/>
                </a:solidFill>
              </a:rPr>
              <a:t>。</a:t>
            </a:r>
            <a:endParaRPr lang="en-US" altLang="zh-CN" sz="2400" dirty="0">
              <a:solidFill>
                <a:srgbClr val="060606"/>
              </a:solidFill>
            </a:endParaRPr>
          </a:p>
          <a:p>
            <a:pPr>
              <a:spcBef>
                <a:spcPts val="0"/>
              </a:spcBef>
              <a:buNone/>
            </a:pPr>
            <a:endParaRPr lang="en-US" altLang="zh-CN" sz="800" dirty="0">
              <a:solidFill>
                <a:srgbClr val="060606"/>
              </a:solidFill>
            </a:endParaRPr>
          </a:p>
          <a:p>
            <a:pPr>
              <a:spcBef>
                <a:spcPts val="0"/>
              </a:spcBef>
              <a:buNone/>
            </a:pPr>
            <a:r>
              <a:rPr lang="zh-CN" altLang="en-US" sz="2400" dirty="0">
                <a:solidFill>
                  <a:srgbClr val="060606"/>
                </a:solidFill>
              </a:rPr>
              <a:t>分</a:t>
            </a:r>
            <a:r>
              <a:rPr lang="en-US" altLang="zh-CN" sz="2400" dirty="0">
                <a:solidFill>
                  <a:srgbClr val="060606"/>
                </a:solidFill>
              </a:rPr>
              <a:t>5</a:t>
            </a:r>
            <a:r>
              <a:rPr lang="zh-CN" altLang="en-US" sz="2400" dirty="0">
                <a:solidFill>
                  <a:srgbClr val="060606"/>
                </a:solidFill>
              </a:rPr>
              <a:t>小步：</a:t>
            </a:r>
            <a:endParaRPr lang="en-US" altLang="zh-CN" sz="2400" dirty="0">
              <a:solidFill>
                <a:srgbClr val="060606"/>
              </a:solidFill>
            </a:endParaRPr>
          </a:p>
          <a:p>
            <a:pPr>
              <a:spcBef>
                <a:spcPts val="0"/>
              </a:spcBef>
              <a:buNone/>
            </a:pPr>
            <a:r>
              <a:rPr lang="en-US" altLang="zh-CN" sz="2400" dirty="0">
                <a:solidFill>
                  <a:srgbClr val="060606"/>
                </a:solidFill>
              </a:rPr>
              <a:t>5.1.</a:t>
            </a:r>
            <a:r>
              <a:rPr lang="zh-CN" altLang="en-US" sz="2400" dirty="0">
                <a:solidFill>
                  <a:srgbClr val="060606"/>
                </a:solidFill>
              </a:rPr>
              <a:t>换入变量的确定</a:t>
            </a:r>
            <a:endParaRPr lang="en-US" altLang="zh-CN" sz="2400" dirty="0">
              <a:solidFill>
                <a:srgbClr val="060606"/>
              </a:solidFill>
            </a:endParaRPr>
          </a:p>
          <a:p>
            <a:pPr>
              <a:spcBef>
                <a:spcPts val="0"/>
              </a:spcBef>
              <a:buNone/>
            </a:pPr>
            <a:r>
              <a:rPr lang="en-US" altLang="zh-CN" sz="2400" dirty="0">
                <a:solidFill>
                  <a:srgbClr val="060606"/>
                </a:solidFill>
              </a:rPr>
              <a:t>5.2.</a:t>
            </a:r>
            <a:r>
              <a:rPr lang="zh-CN" altLang="en-US" sz="2400" dirty="0">
                <a:solidFill>
                  <a:srgbClr val="060606"/>
                </a:solidFill>
              </a:rPr>
              <a:t>换出变量的确定</a:t>
            </a:r>
            <a:endParaRPr lang="en-US" altLang="zh-CN" sz="2400" dirty="0">
              <a:solidFill>
                <a:srgbClr val="060606"/>
              </a:solidFill>
            </a:endParaRPr>
          </a:p>
          <a:p>
            <a:pPr>
              <a:spcBef>
                <a:spcPts val="0"/>
              </a:spcBef>
              <a:buNone/>
            </a:pPr>
            <a:r>
              <a:rPr lang="en-US" altLang="zh-CN" sz="2400" dirty="0">
                <a:solidFill>
                  <a:srgbClr val="060606"/>
                </a:solidFill>
              </a:rPr>
              <a:t>5.3.</a:t>
            </a:r>
            <a:r>
              <a:rPr lang="zh-CN" altLang="en-US" sz="2400" dirty="0">
                <a:solidFill>
                  <a:srgbClr val="060606"/>
                </a:solidFill>
              </a:rPr>
              <a:t>应用</a:t>
            </a:r>
            <a:r>
              <a:rPr lang="en-US" altLang="zh-CN" sz="2400" dirty="0">
                <a:solidFill>
                  <a:srgbClr val="060606"/>
                </a:solidFill>
              </a:rPr>
              <a:t>Gauss</a:t>
            </a:r>
            <a:r>
              <a:rPr lang="zh-CN" altLang="en-US" sz="2400" dirty="0">
                <a:solidFill>
                  <a:srgbClr val="060606"/>
                </a:solidFill>
              </a:rPr>
              <a:t>消元法等得到新的方程组和</a:t>
            </a:r>
            <a:r>
              <a:rPr lang="en-US" altLang="zh-CN" sz="2400" dirty="0">
                <a:solidFill>
                  <a:srgbClr val="060606"/>
                </a:solidFill>
              </a:rPr>
              <a:t>A’</a:t>
            </a:r>
            <a:r>
              <a:rPr lang="en-US" altLang="zh-CN" sz="2400" b="1" baseline="-25000" dirty="0">
                <a:solidFill>
                  <a:srgbClr val="060606"/>
                </a:solidFill>
              </a:rPr>
              <a:t> m× (</a:t>
            </a:r>
            <a:r>
              <a:rPr lang="en-US" altLang="zh-CN" sz="2400" b="1" baseline="-25000" dirty="0" err="1">
                <a:solidFill>
                  <a:srgbClr val="060606"/>
                </a:solidFill>
              </a:rPr>
              <a:t>n+m</a:t>
            </a:r>
            <a:r>
              <a:rPr lang="en-US" altLang="zh-CN" sz="2400" b="1" baseline="-25000" dirty="0">
                <a:solidFill>
                  <a:srgbClr val="060606"/>
                </a:solidFill>
              </a:rPr>
              <a:t>)</a:t>
            </a:r>
            <a:r>
              <a:rPr lang="en-US" altLang="zh-CN" sz="2400" b="1" dirty="0">
                <a:solidFill>
                  <a:srgbClr val="060606"/>
                </a:solidFill>
              </a:rPr>
              <a:t>,</a:t>
            </a:r>
            <a:endParaRPr lang="en-US" altLang="zh-CN" sz="2400" b="1" dirty="0">
              <a:solidFill>
                <a:srgbClr val="060606"/>
              </a:solidFill>
            </a:endParaRPr>
          </a:p>
          <a:p>
            <a:pPr>
              <a:spcBef>
                <a:spcPts val="0"/>
              </a:spcBef>
              <a:buNone/>
            </a:pPr>
            <a:r>
              <a:rPr lang="en-US" altLang="zh-CN" sz="2400" dirty="0">
                <a:solidFill>
                  <a:srgbClr val="060606"/>
                </a:solidFill>
              </a:rPr>
              <a:t>5.4.</a:t>
            </a:r>
            <a:r>
              <a:rPr lang="zh-CN" altLang="en-US" sz="2400" dirty="0">
                <a:solidFill>
                  <a:srgbClr val="060606"/>
                </a:solidFill>
              </a:rPr>
              <a:t>基于新的方程组，确定新的基可行解</a:t>
            </a:r>
            <a:endParaRPr lang="en-US" altLang="zh-CN" sz="2400" dirty="0">
              <a:solidFill>
                <a:srgbClr val="060606"/>
              </a:solidFill>
            </a:endParaRPr>
          </a:p>
          <a:p>
            <a:pPr>
              <a:spcBef>
                <a:spcPts val="0"/>
              </a:spcBef>
              <a:buNone/>
            </a:pPr>
            <a:r>
              <a:rPr lang="en-US" altLang="zh-CN" sz="2400" dirty="0">
                <a:solidFill>
                  <a:srgbClr val="060606"/>
                </a:solidFill>
              </a:rPr>
              <a:t>5.5.</a:t>
            </a:r>
            <a:r>
              <a:rPr lang="zh-CN" altLang="en-US" sz="2400" dirty="0">
                <a:solidFill>
                  <a:srgbClr val="060606"/>
                </a:solidFill>
              </a:rPr>
              <a:t>最优性检测和解的判别</a:t>
            </a:r>
            <a:endParaRPr lang="en-US" altLang="zh-CN" sz="2400" dirty="0">
              <a:solidFill>
                <a:srgbClr val="060606"/>
              </a:solidFill>
            </a:endParaRPr>
          </a:p>
          <a:p>
            <a:pPr>
              <a:spcBef>
                <a:spcPts val="0"/>
              </a:spcBef>
              <a:buNone/>
            </a:pPr>
            <a:r>
              <a:rPr lang="en-US" altLang="zh-CN" sz="2400" dirty="0">
                <a:solidFill>
                  <a:srgbClr val="060606"/>
                </a:solidFill>
              </a:rPr>
              <a:t>5.6.</a:t>
            </a:r>
            <a:r>
              <a:rPr lang="zh-CN" altLang="en-US" sz="2400" dirty="0">
                <a:solidFill>
                  <a:srgbClr val="060606"/>
                </a:solidFill>
              </a:rPr>
              <a:t> 如果</a:t>
            </a:r>
            <a:r>
              <a:rPr lang="en-US" altLang="zh-CN" sz="2400" dirty="0" err="1">
                <a:solidFill>
                  <a:srgbClr val="060606"/>
                </a:solidFill>
              </a:rPr>
              <a:t>Eq</a:t>
            </a:r>
            <a:r>
              <a:rPr lang="en-US" altLang="zh-CN" sz="2400" dirty="0">
                <a:solidFill>
                  <a:srgbClr val="060606"/>
                </a:solidFill>
              </a:rPr>
              <a:t>(0)</a:t>
            </a:r>
            <a:r>
              <a:rPr lang="zh-CN" altLang="zh-CN" sz="2400" dirty="0">
                <a:solidFill>
                  <a:srgbClr val="060606"/>
                </a:solidFill>
              </a:rPr>
              <a:t>中若所有变量的系数</a:t>
            </a:r>
            <a:r>
              <a:rPr lang="el-GR" altLang="zh-CN" sz="2400" dirty="0">
                <a:solidFill>
                  <a:srgbClr val="060606"/>
                </a:solidFill>
              </a:rPr>
              <a:t>σ</a:t>
            </a:r>
            <a:r>
              <a:rPr lang="en-US" altLang="zh-CN" sz="2400" baseline="-25000" dirty="0">
                <a:solidFill>
                  <a:srgbClr val="060606"/>
                </a:solidFill>
              </a:rPr>
              <a:t>j</a:t>
            </a:r>
            <a:r>
              <a:rPr lang="en-US" altLang="zh-CN" sz="2400" dirty="0">
                <a:solidFill>
                  <a:srgbClr val="060606"/>
                </a:solidFill>
              </a:rPr>
              <a:t> ≥ 0</a:t>
            </a:r>
            <a:r>
              <a:rPr lang="zh-CN" altLang="en-US" sz="2400" dirty="0">
                <a:solidFill>
                  <a:srgbClr val="060606"/>
                </a:solidFill>
              </a:rPr>
              <a:t>，则找到最优解，否则返回</a:t>
            </a:r>
            <a:r>
              <a:rPr lang="en-US" altLang="zh-CN" sz="2400" dirty="0">
                <a:solidFill>
                  <a:srgbClr val="060606"/>
                </a:solidFill>
              </a:rPr>
              <a:t>5.1</a:t>
            </a:r>
            <a:r>
              <a:rPr lang="zh-CN" altLang="en-US" sz="2400" dirty="0">
                <a:solidFill>
                  <a:srgbClr val="060606"/>
                </a:solidFill>
              </a:rPr>
              <a:t> ，即进入下一迭代。</a:t>
            </a:r>
            <a:endParaRPr lang="en-US" altLang="zh-CN" sz="2400" dirty="0">
              <a:solidFill>
                <a:srgbClr val="060606"/>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775" y="44624"/>
            <a:ext cx="11915775" cy="3960440"/>
          </a:xfrm>
        </p:spPr>
        <p:txBody>
          <a:bodyPr/>
          <a:lstStyle/>
          <a:p>
            <a:pPr>
              <a:buNone/>
            </a:pPr>
            <a:r>
              <a:rPr lang="en-US" altLang="zh-CN" sz="2400" b="1" dirty="0">
                <a:solidFill>
                  <a:srgbClr val="060606"/>
                </a:solidFill>
              </a:rPr>
              <a:t>5.1.</a:t>
            </a:r>
            <a:r>
              <a:rPr lang="zh-CN" altLang="en-US" sz="2400" b="1" dirty="0">
                <a:solidFill>
                  <a:srgbClr val="060606"/>
                </a:solidFill>
              </a:rPr>
              <a:t>换入变量的确定</a:t>
            </a:r>
            <a:endParaRPr lang="en-US" altLang="zh-CN" sz="2400" b="1" dirty="0">
              <a:solidFill>
                <a:srgbClr val="060606"/>
              </a:solidFill>
            </a:endParaRPr>
          </a:p>
          <a:p>
            <a:pPr>
              <a:buNone/>
            </a:pPr>
            <a:r>
              <a:rPr lang="zh-CN" altLang="en-US" sz="2400" dirty="0">
                <a:solidFill>
                  <a:srgbClr val="060606"/>
                </a:solidFill>
              </a:rPr>
              <a:t>第一个解决的问题是：将原</a:t>
            </a:r>
            <a:r>
              <a:rPr lang="zh-CN" altLang="en-US" sz="2400" dirty="0">
                <a:solidFill>
                  <a:srgbClr val="0000AC"/>
                </a:solidFill>
              </a:rPr>
              <a:t>非基变量</a:t>
            </a:r>
            <a:r>
              <a:rPr lang="zh-CN" altLang="en-US" sz="2400" dirty="0">
                <a:solidFill>
                  <a:srgbClr val="060606"/>
                </a:solidFill>
              </a:rPr>
              <a:t>中的哪一个</a:t>
            </a:r>
            <a:r>
              <a:rPr lang="zh-CN" altLang="zh-CN" sz="2400" dirty="0">
                <a:solidFill>
                  <a:srgbClr val="060606"/>
                </a:solidFill>
              </a:rPr>
              <a:t>变为</a:t>
            </a:r>
            <a:r>
              <a:rPr lang="zh-CN" altLang="zh-CN" sz="2400" dirty="0">
                <a:solidFill>
                  <a:srgbClr val="0000AC"/>
                </a:solidFill>
              </a:rPr>
              <a:t>基变量</a:t>
            </a:r>
            <a:r>
              <a:rPr lang="zh-CN" altLang="en-US" sz="2400" dirty="0"/>
              <a:t>？</a:t>
            </a:r>
            <a:endParaRPr lang="en-US" altLang="zh-CN" sz="2400" dirty="0">
              <a:solidFill>
                <a:srgbClr val="060606"/>
              </a:solidFill>
            </a:endParaRPr>
          </a:p>
          <a:p>
            <a:pPr>
              <a:buNone/>
            </a:pPr>
            <a:r>
              <a:rPr lang="zh-CN" altLang="en-US" sz="2400" dirty="0">
                <a:solidFill>
                  <a:srgbClr val="060606"/>
                </a:solidFill>
              </a:rPr>
              <a:t>原则：观察</a:t>
            </a:r>
            <a:r>
              <a:rPr lang="en-US" altLang="zh-CN" sz="2400" dirty="0" err="1">
                <a:solidFill>
                  <a:srgbClr val="060606"/>
                </a:solidFill>
              </a:rPr>
              <a:t>Eq</a:t>
            </a:r>
            <a:r>
              <a:rPr lang="en-US" altLang="zh-CN" sz="2400" dirty="0">
                <a:solidFill>
                  <a:srgbClr val="060606"/>
                </a:solidFill>
              </a:rPr>
              <a:t>(0)</a:t>
            </a:r>
            <a:r>
              <a:rPr lang="zh-CN" altLang="en-US" sz="2400" dirty="0">
                <a:solidFill>
                  <a:srgbClr val="060606"/>
                </a:solidFill>
              </a:rPr>
              <a:t>，对于有多个</a:t>
            </a:r>
            <a:r>
              <a:rPr lang="el-GR" altLang="zh-CN" sz="2400" dirty="0">
                <a:solidFill>
                  <a:srgbClr val="060606"/>
                </a:solidFill>
              </a:rPr>
              <a:t>σ</a:t>
            </a:r>
            <a:r>
              <a:rPr lang="en-US" altLang="zh-CN" sz="2400" baseline="-25000" dirty="0">
                <a:solidFill>
                  <a:srgbClr val="060606"/>
                </a:solidFill>
              </a:rPr>
              <a:t>j</a:t>
            </a:r>
            <a:r>
              <a:rPr lang="en-US" altLang="zh-CN" sz="2400" dirty="0">
                <a:solidFill>
                  <a:srgbClr val="060606"/>
                </a:solidFill>
              </a:rPr>
              <a:t> &lt;0</a:t>
            </a:r>
            <a:r>
              <a:rPr lang="zh-CN" altLang="en-US" sz="2400" dirty="0">
                <a:solidFill>
                  <a:srgbClr val="060606"/>
                </a:solidFill>
              </a:rPr>
              <a:t>，为使目标函数值增加得快，从直观上一般选择</a:t>
            </a:r>
            <a:r>
              <a:rPr lang="en-US" altLang="zh-CN" sz="2400" dirty="0">
                <a:solidFill>
                  <a:srgbClr val="060606"/>
                </a:solidFill>
              </a:rPr>
              <a:t>|</a:t>
            </a:r>
            <a:r>
              <a:rPr lang="el-GR" altLang="zh-CN" sz="2400" dirty="0">
                <a:solidFill>
                  <a:srgbClr val="060606"/>
                </a:solidFill>
              </a:rPr>
              <a:t> σ</a:t>
            </a:r>
            <a:r>
              <a:rPr lang="en-US" altLang="zh-CN" sz="2400" baseline="-25000" dirty="0">
                <a:solidFill>
                  <a:srgbClr val="060606"/>
                </a:solidFill>
              </a:rPr>
              <a:t>j</a:t>
            </a:r>
            <a:r>
              <a:rPr lang="en-US" altLang="zh-CN" sz="2400" dirty="0">
                <a:solidFill>
                  <a:srgbClr val="060606"/>
                </a:solidFill>
              </a:rPr>
              <a:t> |&gt;0</a:t>
            </a:r>
            <a:r>
              <a:rPr lang="zh-CN" altLang="en-US" sz="2400" dirty="0">
                <a:solidFill>
                  <a:srgbClr val="060606"/>
                </a:solidFill>
              </a:rPr>
              <a:t>中的大者</a:t>
            </a:r>
            <a:r>
              <a:rPr lang="en-US" altLang="zh-CN" sz="2400" dirty="0">
                <a:solidFill>
                  <a:srgbClr val="060606"/>
                </a:solidFill>
              </a:rPr>
              <a:t>(</a:t>
            </a:r>
            <a:r>
              <a:rPr lang="zh-CN" altLang="en-US" sz="2400" dirty="0">
                <a:solidFill>
                  <a:srgbClr val="060606"/>
                </a:solidFill>
              </a:rPr>
              <a:t>即，</a:t>
            </a:r>
            <a:r>
              <a:rPr lang="en-US" altLang="zh-CN" sz="2400" dirty="0">
                <a:solidFill>
                  <a:srgbClr val="060606"/>
                </a:solidFill>
              </a:rPr>
              <a:t>max{|</a:t>
            </a:r>
            <a:r>
              <a:rPr lang="el-GR" altLang="zh-CN" sz="2400" dirty="0">
                <a:solidFill>
                  <a:srgbClr val="060606"/>
                </a:solidFill>
              </a:rPr>
              <a:t> σ</a:t>
            </a:r>
            <a:r>
              <a:rPr lang="en-US" altLang="zh-CN" sz="2400" baseline="-25000" dirty="0">
                <a:solidFill>
                  <a:srgbClr val="060606"/>
                </a:solidFill>
              </a:rPr>
              <a:t>j</a:t>
            </a:r>
            <a:r>
              <a:rPr lang="en-US" altLang="zh-CN" sz="2400" dirty="0">
                <a:solidFill>
                  <a:srgbClr val="060606"/>
                </a:solidFill>
              </a:rPr>
              <a:t> |&gt;0,j = 1,2,…,l} = |</a:t>
            </a:r>
            <a:r>
              <a:rPr lang="el-GR" altLang="zh-CN" sz="2400" dirty="0">
                <a:solidFill>
                  <a:srgbClr val="060606"/>
                </a:solidFill>
              </a:rPr>
              <a:t> σ</a:t>
            </a:r>
            <a:r>
              <a:rPr lang="en-US" altLang="zh-CN" sz="2400" baseline="-25000" dirty="0">
                <a:solidFill>
                  <a:srgbClr val="060606"/>
                </a:solidFill>
              </a:rPr>
              <a:t>k </a:t>
            </a:r>
            <a:r>
              <a:rPr lang="en-US" altLang="zh-CN" sz="2400" dirty="0">
                <a:solidFill>
                  <a:srgbClr val="060606"/>
                </a:solidFill>
              </a:rPr>
              <a:t>|)</a:t>
            </a:r>
            <a:r>
              <a:rPr lang="zh-CN" altLang="en-US" sz="2400" dirty="0">
                <a:solidFill>
                  <a:srgbClr val="060606"/>
                </a:solidFill>
              </a:rPr>
              <a:t>所对应的非基变量</a:t>
            </a:r>
            <a:r>
              <a:rPr lang="en-US" altLang="zh-CN" sz="2400" dirty="0" err="1">
                <a:solidFill>
                  <a:srgbClr val="060606"/>
                </a:solidFill>
              </a:rPr>
              <a:t>x</a:t>
            </a:r>
            <a:r>
              <a:rPr lang="en-US" altLang="zh-CN" sz="2400" baseline="-25000" dirty="0" err="1">
                <a:solidFill>
                  <a:srgbClr val="060606"/>
                </a:solidFill>
              </a:rPr>
              <a:t>k</a:t>
            </a:r>
            <a:r>
              <a:rPr lang="zh-CN" altLang="en-US" sz="2400" dirty="0">
                <a:solidFill>
                  <a:srgbClr val="060606"/>
                </a:solidFill>
              </a:rPr>
              <a:t>作为换入变量</a:t>
            </a:r>
            <a:r>
              <a:rPr lang="en-US" altLang="zh-CN" sz="2400" dirty="0">
                <a:solidFill>
                  <a:srgbClr val="060606"/>
                </a:solidFill>
              </a:rPr>
              <a:t>(</a:t>
            </a:r>
            <a:r>
              <a:rPr lang="zh-CN" altLang="en-US" sz="2400" dirty="0">
                <a:solidFill>
                  <a:srgbClr val="060606"/>
                </a:solidFill>
              </a:rPr>
              <a:t>将其变为基变量</a:t>
            </a:r>
            <a:r>
              <a:rPr lang="en-US" altLang="zh-CN" sz="2400" dirty="0">
                <a:solidFill>
                  <a:srgbClr val="060606"/>
                </a:solidFill>
              </a:rPr>
              <a:t>)</a:t>
            </a:r>
            <a:r>
              <a:rPr lang="zh-CN" altLang="en-US" sz="2400" dirty="0">
                <a:solidFill>
                  <a:srgbClr val="060606"/>
                </a:solidFill>
              </a:rPr>
              <a:t>。</a:t>
            </a:r>
            <a:endParaRPr lang="en-US" altLang="zh-CN" sz="2400" dirty="0">
              <a:solidFill>
                <a:srgbClr val="060606"/>
              </a:solidFill>
            </a:endParaRPr>
          </a:p>
          <a:p>
            <a:pPr>
              <a:buNone/>
            </a:pPr>
            <a:r>
              <a:rPr lang="en-US" altLang="zh-CN" sz="2400" dirty="0">
                <a:solidFill>
                  <a:srgbClr val="060606"/>
                </a:solidFill>
              </a:rPr>
              <a:t>Bland</a:t>
            </a:r>
            <a:r>
              <a:rPr lang="zh-CN" altLang="en-US" sz="2400" dirty="0">
                <a:solidFill>
                  <a:srgbClr val="060606"/>
                </a:solidFill>
              </a:rPr>
              <a:t>法则：当有多个相同的</a:t>
            </a:r>
            <a:r>
              <a:rPr lang="en-US" altLang="zh-CN" sz="2400" dirty="0">
                <a:solidFill>
                  <a:srgbClr val="060606"/>
                </a:solidFill>
              </a:rPr>
              <a:t>|</a:t>
            </a:r>
            <a:r>
              <a:rPr lang="el-GR" altLang="zh-CN" sz="2400" dirty="0">
                <a:solidFill>
                  <a:srgbClr val="060606"/>
                </a:solidFill>
              </a:rPr>
              <a:t> σ</a:t>
            </a:r>
            <a:r>
              <a:rPr lang="en-US" altLang="zh-CN" sz="2400" baseline="-25000" dirty="0">
                <a:solidFill>
                  <a:srgbClr val="060606"/>
                </a:solidFill>
              </a:rPr>
              <a:t>j</a:t>
            </a:r>
            <a:r>
              <a:rPr lang="en-US" altLang="zh-CN" sz="2400" dirty="0">
                <a:solidFill>
                  <a:srgbClr val="060606"/>
                </a:solidFill>
              </a:rPr>
              <a:t> |&gt;0</a:t>
            </a:r>
            <a:r>
              <a:rPr lang="zh-CN" altLang="en-US" sz="2400" dirty="0">
                <a:solidFill>
                  <a:srgbClr val="060606"/>
                </a:solidFill>
              </a:rPr>
              <a:t>，始终选取下标值为最小的变量作为换入变量。</a:t>
            </a:r>
            <a:endParaRPr lang="en-US" altLang="zh-CN" sz="2400" dirty="0">
              <a:solidFill>
                <a:srgbClr val="060606"/>
              </a:solidFill>
            </a:endParaRPr>
          </a:p>
          <a:p>
            <a:pPr>
              <a:buNone/>
            </a:pPr>
            <a:endParaRPr lang="en-US" altLang="zh-CN" sz="2400" dirty="0">
              <a:solidFill>
                <a:srgbClr val="060606"/>
              </a:solidFill>
            </a:endParaRPr>
          </a:p>
          <a:p>
            <a:pPr>
              <a:buNone/>
            </a:pPr>
            <a:endParaRPr lang="en-US" altLang="zh-CN" sz="2400" dirty="0">
              <a:solidFill>
                <a:srgbClr val="060606"/>
              </a:solidFill>
            </a:endParaRPr>
          </a:p>
          <a:p>
            <a:pPr>
              <a:buNone/>
            </a:pPr>
            <a:endParaRPr lang="en-US" altLang="zh-CN" sz="2400" dirty="0">
              <a:solidFill>
                <a:srgbClr val="060606"/>
              </a:solidFill>
            </a:endParaRPr>
          </a:p>
        </p:txBody>
      </p:sp>
      <p:sp>
        <p:nvSpPr>
          <p:cNvPr id="16" name="右箭头 15"/>
          <p:cNvSpPr/>
          <p:nvPr/>
        </p:nvSpPr>
        <p:spPr bwMode="auto">
          <a:xfrm>
            <a:off x="6168007" y="5070085"/>
            <a:ext cx="792088" cy="608180"/>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8" name="矩形 17"/>
          <p:cNvSpPr/>
          <p:nvPr/>
        </p:nvSpPr>
        <p:spPr>
          <a:xfrm>
            <a:off x="7320136" y="4379620"/>
            <a:ext cx="2808312" cy="1569660"/>
          </a:xfrm>
          <a:prstGeom prst="rect">
            <a:avLst/>
          </a:prstGeom>
        </p:spPr>
        <p:txBody>
          <a:bodyPr wrap="square">
            <a:spAutoFit/>
          </a:bodyPr>
          <a:lstStyle/>
          <a:p>
            <a:r>
              <a:rPr lang="el-GR" altLang="zh-CN" sz="3200" dirty="0">
                <a:solidFill>
                  <a:srgbClr val="060606"/>
                </a:solidFill>
              </a:rPr>
              <a:t>σ</a:t>
            </a:r>
            <a:r>
              <a:rPr lang="en-US" altLang="zh-CN" sz="3200" baseline="-25000" dirty="0">
                <a:solidFill>
                  <a:srgbClr val="060606"/>
                </a:solidFill>
              </a:rPr>
              <a:t>j</a:t>
            </a:r>
            <a:r>
              <a:rPr lang="en-US" altLang="zh-CN" sz="3200" dirty="0">
                <a:solidFill>
                  <a:srgbClr val="060606"/>
                </a:solidFill>
              </a:rPr>
              <a:t> = </a:t>
            </a:r>
            <a:r>
              <a:rPr lang="en-US" altLang="zh-CN" sz="3200" dirty="0">
                <a:solidFill>
                  <a:srgbClr val="FF0000"/>
                </a:solidFill>
              </a:rPr>
              <a:t>-</a:t>
            </a:r>
            <a:r>
              <a:rPr lang="en-US" altLang="zh-CN" sz="3200" dirty="0" err="1">
                <a:solidFill>
                  <a:srgbClr val="FF0000"/>
                </a:solidFill>
              </a:rPr>
              <a:t>c</a:t>
            </a:r>
            <a:r>
              <a:rPr lang="en-US" altLang="zh-CN" sz="3200" baseline="-25000" dirty="0" err="1">
                <a:solidFill>
                  <a:srgbClr val="FF0000"/>
                </a:solidFill>
              </a:rPr>
              <a:t>j</a:t>
            </a:r>
            <a:r>
              <a:rPr lang="zh-CN" altLang="en-US" sz="3200" dirty="0">
                <a:solidFill>
                  <a:srgbClr val="060606"/>
                </a:solidFill>
              </a:rPr>
              <a:t>，</a:t>
            </a:r>
            <a:endParaRPr lang="en-US" altLang="zh-CN" sz="3200" dirty="0">
              <a:solidFill>
                <a:srgbClr val="060606"/>
              </a:solidFill>
            </a:endParaRPr>
          </a:p>
          <a:p>
            <a:r>
              <a:rPr lang="en-US" altLang="zh-CN" sz="3200" dirty="0">
                <a:solidFill>
                  <a:srgbClr val="FF0000"/>
                </a:solidFill>
              </a:rPr>
              <a:t>x</a:t>
            </a:r>
            <a:r>
              <a:rPr lang="en-US" altLang="zh-CN" sz="3200" baseline="-25000" dirty="0">
                <a:solidFill>
                  <a:srgbClr val="FF0000"/>
                </a:solidFill>
              </a:rPr>
              <a:t>j</a:t>
            </a:r>
            <a:r>
              <a:rPr lang="zh-CN" altLang="en-US" sz="3200" dirty="0">
                <a:solidFill>
                  <a:srgbClr val="060606"/>
                </a:solidFill>
              </a:rPr>
              <a:t>非基变量，</a:t>
            </a:r>
            <a:r>
              <a:rPr lang="en-US" altLang="zh-CN" sz="3200" dirty="0">
                <a:solidFill>
                  <a:srgbClr val="060606"/>
                </a:solidFill>
              </a:rPr>
              <a:t>j=1,2,…,n</a:t>
            </a:r>
            <a:endParaRPr lang="zh-CN" altLang="en-US" sz="3200" dirty="0"/>
          </a:p>
        </p:txBody>
      </p:sp>
      <p:sp>
        <p:nvSpPr>
          <p:cNvPr id="14" name="灯片编号占位符 13"/>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27" name="组合 26"/>
          <p:cNvGrpSpPr/>
          <p:nvPr/>
        </p:nvGrpSpPr>
        <p:grpSpPr>
          <a:xfrm>
            <a:off x="3864866" y="2836094"/>
            <a:ext cx="7303728" cy="1872580"/>
            <a:chOff x="2340866" y="2836093"/>
            <a:chExt cx="7303728" cy="1872580"/>
          </a:xfrm>
        </p:grpSpPr>
        <p:cxnSp>
          <p:nvCxnSpPr>
            <p:cNvPr id="19" name="直接箭头连接符 18"/>
            <p:cNvCxnSpPr>
              <a:stCxn id="4" idx="0"/>
            </p:cNvCxnSpPr>
            <p:nvPr/>
          </p:nvCxnSpPr>
          <p:spPr bwMode="auto">
            <a:xfrm flipV="1">
              <a:off x="2340866" y="3573016"/>
              <a:ext cx="2735190" cy="1135657"/>
            </a:xfrm>
            <a:prstGeom prst="straightConnector1">
              <a:avLst/>
            </a:prstGeom>
            <a:solidFill>
              <a:schemeClr val="accent1"/>
            </a:solidFill>
            <a:ln w="9525" cap="flat" cmpd="sng" algn="ctr">
              <a:solidFill>
                <a:srgbClr val="00B050"/>
              </a:solidFill>
              <a:prstDash val="lgDashDotDot"/>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Box 19"/>
            <p:cNvSpPr txBox="1"/>
            <p:nvPr/>
          </p:nvSpPr>
          <p:spPr>
            <a:xfrm>
              <a:off x="5148063" y="2836093"/>
              <a:ext cx="4496531" cy="138499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800" dirty="0"/>
                <a:t>目标函数系数</a:t>
              </a:r>
              <a:r>
                <a:rPr lang="en-US" altLang="zh-CN" sz="2800" dirty="0" err="1"/>
                <a:t>C</a:t>
              </a:r>
              <a:r>
                <a:rPr lang="en-US" altLang="zh-CN" sz="2800" baseline="-25000" dirty="0" err="1"/>
                <a:t>j</a:t>
              </a:r>
              <a:r>
                <a:rPr lang="zh-CN" altLang="en-US" sz="2800" dirty="0"/>
                <a:t>大者，</a:t>
              </a:r>
              <a:r>
                <a:rPr lang="zh-CN" altLang="en-US" sz="2800" dirty="0">
                  <a:solidFill>
                    <a:srgbClr val="0000AC"/>
                  </a:solidFill>
                </a:rPr>
                <a:t>应首先安排</a:t>
              </a:r>
              <a:r>
                <a:rPr lang="zh-CN" altLang="en-US" sz="2800" dirty="0"/>
                <a:t>，并尽可能多的安排（</a:t>
              </a:r>
              <a:r>
                <a:rPr lang="en-US" altLang="zh-CN" sz="2800" dirty="0"/>
                <a:t>Why?</a:t>
              </a:r>
              <a:r>
                <a:rPr lang="zh-CN" altLang="en-US" sz="2800" dirty="0"/>
                <a:t>）</a:t>
              </a:r>
              <a:endParaRPr lang="zh-CN" altLang="en-US" sz="2800" dirty="0"/>
            </a:p>
          </p:txBody>
        </p:sp>
      </p:grpSp>
      <p:pic>
        <p:nvPicPr>
          <p:cNvPr id="4" name="图片 3"/>
          <p:cNvPicPr>
            <a:picLocks noChangeAspect="1"/>
          </p:cNvPicPr>
          <p:nvPr/>
        </p:nvPicPr>
        <p:blipFill>
          <a:blip r:embed="rId1"/>
          <a:stretch>
            <a:fillRect/>
          </a:stretch>
        </p:blipFill>
        <p:spPr>
          <a:xfrm>
            <a:off x="1921766" y="4708674"/>
            <a:ext cx="3886200" cy="1238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3564682" y="3690015"/>
            <a:ext cx="6624736" cy="2144048"/>
          </a:xfrm>
          <a:prstGeom prst="rect">
            <a:avLst/>
          </a:prstGeom>
          <a:ln>
            <a:solidFill>
              <a:srgbClr val="00B050"/>
            </a:solidFill>
          </a:ln>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a:t>
            </a:r>
            <a:r>
              <a:rPr lang="en-US" altLang="zh-CN" sz="3200" dirty="0" err="1">
                <a:solidFill>
                  <a:srgbClr val="060606"/>
                </a:solidFill>
              </a:rPr>
              <a:t>Eq</a:t>
            </a:r>
            <a:r>
              <a:rPr lang="en-US" altLang="zh-CN" sz="3200" dirty="0">
                <a:solidFill>
                  <a:srgbClr val="060606"/>
                </a:solidFill>
              </a:rPr>
              <a:t>(0)</a:t>
            </a:r>
            <a:r>
              <a:rPr lang="zh-CN" altLang="en-US" sz="3200" dirty="0">
                <a:solidFill>
                  <a:srgbClr val="060606"/>
                </a:solidFill>
              </a:rPr>
              <a:t>：</a:t>
            </a:r>
            <a:r>
              <a:rPr lang="en-US" altLang="zh-CN" sz="3200" dirty="0">
                <a:solidFill>
                  <a:srgbClr val="060606"/>
                </a:solidFill>
              </a:rPr>
              <a:t> z </a:t>
            </a:r>
            <a:r>
              <a:rPr lang="en-US" altLang="zh-CN" sz="3200" dirty="0">
                <a:solidFill>
                  <a:srgbClr val="FF0000"/>
                </a:solidFill>
              </a:rPr>
              <a:t>- 3</a:t>
            </a:r>
            <a:r>
              <a:rPr lang="en-US" altLang="zh-CN" sz="3200" dirty="0">
                <a:solidFill>
                  <a:srgbClr val="060606"/>
                </a:solidFill>
              </a:rPr>
              <a:t>x</a:t>
            </a:r>
            <a:r>
              <a:rPr lang="en-US" altLang="zh-CN" sz="3200" baseline="-25000" dirty="0">
                <a:solidFill>
                  <a:srgbClr val="060606"/>
                </a:solidFill>
              </a:rPr>
              <a:t>1</a:t>
            </a:r>
            <a:r>
              <a:rPr lang="en-US" altLang="zh-CN" sz="3200" dirty="0">
                <a:solidFill>
                  <a:srgbClr val="060606"/>
                </a:solidFill>
              </a:rPr>
              <a:t> </a:t>
            </a:r>
            <a:r>
              <a:rPr lang="en-US" altLang="zh-CN" sz="3200" dirty="0">
                <a:solidFill>
                  <a:srgbClr val="FF0000"/>
                </a:solidFill>
              </a:rPr>
              <a:t>-</a:t>
            </a:r>
            <a:r>
              <a:rPr lang="zh-CN" altLang="en-US" sz="3200" dirty="0">
                <a:solidFill>
                  <a:srgbClr val="FF0000"/>
                </a:solidFill>
              </a:rPr>
              <a:t> </a:t>
            </a:r>
            <a:r>
              <a:rPr lang="en-US" altLang="zh-CN" sz="3200" dirty="0">
                <a:solidFill>
                  <a:srgbClr val="FF0000"/>
                </a:solidFill>
              </a:rPr>
              <a:t>5</a:t>
            </a:r>
            <a:r>
              <a:rPr lang="en-US" altLang="zh-CN" sz="3200" dirty="0">
                <a:solidFill>
                  <a:srgbClr val="060606"/>
                </a:solidFill>
              </a:rPr>
              <a:t>x</a:t>
            </a:r>
            <a:r>
              <a:rPr lang="en-US" altLang="zh-CN" sz="3200" baseline="-25000" dirty="0">
                <a:solidFill>
                  <a:srgbClr val="060606"/>
                </a:solidFill>
              </a:rPr>
              <a:t>2 </a:t>
            </a:r>
            <a:r>
              <a:rPr lang="en-US" altLang="zh-CN" sz="3200" dirty="0">
                <a:solidFill>
                  <a:srgbClr val="060606"/>
                </a:solidFill>
              </a:rPr>
              <a:t> = 0</a:t>
            </a:r>
            <a:r>
              <a:rPr lang="zh-CN" altLang="en-US" sz="3200" dirty="0">
                <a:solidFill>
                  <a:srgbClr val="060606"/>
                </a:solidFill>
              </a:rPr>
              <a:t>可知，</a:t>
            </a:r>
            <a:endParaRPr lang="en-US" altLang="zh-CN" sz="3200" dirty="0">
              <a:solidFill>
                <a:srgbClr val="060606"/>
              </a:solidFill>
            </a:endParaRPr>
          </a:p>
          <a:p>
            <a:pPr marL="342900" indent="-342900" algn="just" fontAlgn="base">
              <a:lnSpc>
                <a:spcPct val="110000"/>
              </a:lnSpc>
              <a:spcBef>
                <a:spcPts val="1800"/>
              </a:spcBef>
              <a:spcAft>
                <a:spcPct val="0"/>
              </a:spcAft>
            </a:pPr>
            <a:r>
              <a:rPr lang="en-US" altLang="zh-CN" sz="3200" dirty="0">
                <a:solidFill>
                  <a:srgbClr val="060606"/>
                </a:solidFill>
              </a:rPr>
              <a:t>max{|</a:t>
            </a:r>
            <a:r>
              <a:rPr lang="el-GR" altLang="zh-CN" sz="3200" dirty="0">
                <a:solidFill>
                  <a:srgbClr val="060606"/>
                </a:solidFill>
              </a:rPr>
              <a:t> σ</a:t>
            </a:r>
            <a:r>
              <a:rPr lang="en-US" altLang="zh-CN" sz="3200" baseline="-25000" dirty="0">
                <a:solidFill>
                  <a:srgbClr val="060606"/>
                </a:solidFill>
              </a:rPr>
              <a:t>1</a:t>
            </a:r>
            <a:r>
              <a:rPr lang="en-US" altLang="zh-CN" sz="3200" dirty="0">
                <a:solidFill>
                  <a:srgbClr val="060606"/>
                </a:solidFill>
              </a:rPr>
              <a:t> |=3, |</a:t>
            </a:r>
            <a:r>
              <a:rPr lang="el-GR" altLang="zh-CN" sz="3200" dirty="0">
                <a:solidFill>
                  <a:srgbClr val="060606"/>
                </a:solidFill>
              </a:rPr>
              <a:t> σ</a:t>
            </a:r>
            <a:r>
              <a:rPr lang="en-US" altLang="zh-CN" sz="3200" baseline="-25000" dirty="0">
                <a:solidFill>
                  <a:srgbClr val="060606"/>
                </a:solidFill>
              </a:rPr>
              <a:t>2</a:t>
            </a:r>
            <a:r>
              <a:rPr lang="en-US" altLang="zh-CN" sz="3200" dirty="0">
                <a:solidFill>
                  <a:srgbClr val="060606"/>
                </a:solidFill>
              </a:rPr>
              <a:t> |=5} = |</a:t>
            </a:r>
            <a:r>
              <a:rPr lang="el-GR" altLang="zh-CN" sz="3200" dirty="0">
                <a:solidFill>
                  <a:srgbClr val="060606"/>
                </a:solidFill>
              </a:rPr>
              <a:t> σ</a:t>
            </a:r>
            <a:r>
              <a:rPr lang="en-US" altLang="zh-CN" sz="3200" baseline="-25000" dirty="0">
                <a:solidFill>
                  <a:srgbClr val="0000AC"/>
                </a:solidFill>
              </a:rPr>
              <a:t>2</a:t>
            </a:r>
            <a:r>
              <a:rPr lang="en-US" altLang="zh-CN" sz="3200" baseline="-25000" dirty="0">
                <a:solidFill>
                  <a:srgbClr val="060606"/>
                </a:solidFill>
              </a:rPr>
              <a:t> </a:t>
            </a:r>
            <a:r>
              <a:rPr lang="en-US" altLang="zh-CN" sz="3200" dirty="0">
                <a:solidFill>
                  <a:srgbClr val="060606"/>
                </a:solidFill>
              </a:rPr>
              <a:t>|</a:t>
            </a:r>
            <a:endParaRPr lang="en-US" altLang="zh-CN" sz="3200" dirty="0">
              <a:solidFill>
                <a:srgbClr val="060606"/>
              </a:solidFill>
            </a:endParaRPr>
          </a:p>
          <a:p>
            <a:pPr marL="342900" indent="-342900" algn="just" fontAlgn="base">
              <a:lnSpc>
                <a:spcPct val="110000"/>
              </a:lnSpc>
              <a:spcBef>
                <a:spcPts val="1800"/>
              </a:spcBef>
              <a:spcAft>
                <a:spcPct val="0"/>
              </a:spcAft>
            </a:pPr>
            <a:r>
              <a:rPr lang="en-US" altLang="zh-CN" sz="3200" dirty="0">
                <a:solidFill>
                  <a:srgbClr val="060606"/>
                </a:solidFill>
              </a:rPr>
              <a:t>∴x</a:t>
            </a:r>
            <a:r>
              <a:rPr lang="en-US" altLang="zh-CN" sz="3200" baseline="-25000" dirty="0">
                <a:solidFill>
                  <a:srgbClr val="0000AC"/>
                </a:solidFill>
              </a:rPr>
              <a:t>2</a:t>
            </a:r>
            <a:r>
              <a:rPr lang="zh-CN" altLang="en-US" sz="3200" dirty="0">
                <a:solidFill>
                  <a:srgbClr val="060606"/>
                </a:solidFill>
              </a:rPr>
              <a:t>为换入变量</a:t>
            </a:r>
            <a:endParaRPr lang="en-US" altLang="zh-CN" sz="3200" dirty="0">
              <a:solidFill>
                <a:srgbClr val="060606"/>
              </a:solidFill>
            </a:endParaRPr>
          </a:p>
        </p:txBody>
      </p:sp>
      <p:sp>
        <p:nvSpPr>
          <p:cNvPr id="5" name="内容占位符 2"/>
          <p:cNvSpPr txBox="1"/>
          <p:nvPr/>
        </p:nvSpPr>
        <p:spPr bwMode="auto">
          <a:xfrm>
            <a:off x="146745" y="90212"/>
            <a:ext cx="8676456" cy="690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zh-CN" altLang="en-US" sz="3200" dirty="0">
                <a:solidFill>
                  <a:srgbClr val="00000C"/>
                </a:solidFill>
              </a:rPr>
              <a:t>请同学们做：确定换入变量？</a:t>
            </a:r>
            <a:endParaRPr lang="en-US" altLang="zh-CN" sz="3200" dirty="0">
              <a:solidFill>
                <a:srgbClr val="00000C"/>
              </a:solidFill>
            </a:endParaRPr>
          </a:p>
        </p:txBody>
      </p:sp>
      <p:pic>
        <p:nvPicPr>
          <p:cNvPr id="3" name="图片 2"/>
          <p:cNvPicPr>
            <a:picLocks noChangeAspect="1"/>
          </p:cNvPicPr>
          <p:nvPr/>
        </p:nvPicPr>
        <p:blipFill>
          <a:blip r:embed="rId1"/>
          <a:stretch>
            <a:fillRect/>
          </a:stretch>
        </p:blipFill>
        <p:spPr>
          <a:xfrm>
            <a:off x="628650" y="1023937"/>
            <a:ext cx="5314950" cy="22955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 calcmode="lin" valueType="num">
                                      <p:cBhvr additive="base">
                                        <p:cTn id="13"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anim calcmode="lin" valueType="num">
                                      <p:cBhvr additive="base">
                                        <p:cTn id="19" dur="500" fill="hold"/>
                                        <p:tgtEl>
                                          <p:spTgt spid="1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27384"/>
            <a:ext cx="11734800" cy="4656534"/>
          </a:xfrm>
        </p:spPr>
        <p:txBody>
          <a:bodyPr/>
          <a:lstStyle/>
          <a:p>
            <a:pPr>
              <a:buNone/>
            </a:pPr>
            <a:r>
              <a:rPr lang="en-US" altLang="zh-CN" sz="2400" b="1" dirty="0">
                <a:solidFill>
                  <a:srgbClr val="060606"/>
                </a:solidFill>
              </a:rPr>
              <a:t>5.2.</a:t>
            </a:r>
            <a:r>
              <a:rPr lang="zh-CN" altLang="en-US" sz="2400" b="1" dirty="0">
                <a:solidFill>
                  <a:srgbClr val="060606"/>
                </a:solidFill>
              </a:rPr>
              <a:t>换出变量的确定</a:t>
            </a:r>
            <a:endParaRPr lang="en-US" altLang="zh-CN" sz="2400" b="1" dirty="0">
              <a:solidFill>
                <a:srgbClr val="060606"/>
              </a:solidFill>
            </a:endParaRPr>
          </a:p>
          <a:p>
            <a:pPr>
              <a:lnSpc>
                <a:spcPct val="100000"/>
              </a:lnSpc>
              <a:buNone/>
            </a:pPr>
            <a:r>
              <a:rPr lang="zh-CN" altLang="en-US" sz="2400" dirty="0">
                <a:solidFill>
                  <a:srgbClr val="060606"/>
                </a:solidFill>
              </a:rPr>
              <a:t>现在的问题是将</a:t>
            </a:r>
            <a:r>
              <a:rPr lang="zh-CN" altLang="en-US" sz="2400" dirty="0">
                <a:solidFill>
                  <a:srgbClr val="0000AC"/>
                </a:solidFill>
              </a:rPr>
              <a:t>原基变量</a:t>
            </a:r>
            <a:r>
              <a:rPr lang="zh-CN" altLang="en-US" sz="2400" dirty="0">
                <a:solidFill>
                  <a:srgbClr val="060606"/>
                </a:solidFill>
              </a:rPr>
              <a:t>中的哪一个转换为</a:t>
            </a:r>
            <a:r>
              <a:rPr lang="zh-CN" altLang="en-US" sz="2400" dirty="0">
                <a:solidFill>
                  <a:srgbClr val="0000AC"/>
                </a:solidFill>
              </a:rPr>
              <a:t>非基变量</a:t>
            </a:r>
            <a:r>
              <a:rPr lang="zh-CN" altLang="en-US" sz="2400" dirty="0">
                <a:solidFill>
                  <a:srgbClr val="060606"/>
                </a:solidFill>
              </a:rPr>
              <a:t>，使其存在于</a:t>
            </a:r>
            <a:r>
              <a:rPr lang="en-US" altLang="zh-CN" sz="2400" dirty="0" err="1">
                <a:solidFill>
                  <a:srgbClr val="060606"/>
                </a:solidFill>
              </a:rPr>
              <a:t>Eq</a:t>
            </a:r>
            <a:r>
              <a:rPr lang="en-US" altLang="zh-CN" sz="2400" dirty="0">
                <a:solidFill>
                  <a:srgbClr val="060606"/>
                </a:solidFill>
              </a:rPr>
              <a:t>(0)</a:t>
            </a:r>
            <a:r>
              <a:rPr lang="zh-CN" altLang="en-US" sz="2400" dirty="0">
                <a:solidFill>
                  <a:srgbClr val="060606"/>
                </a:solidFill>
              </a:rPr>
              <a:t>中。</a:t>
            </a:r>
            <a:endParaRPr lang="en-US" altLang="zh-CN" sz="2400" dirty="0">
              <a:solidFill>
                <a:srgbClr val="060606"/>
              </a:solidFill>
            </a:endParaRPr>
          </a:p>
          <a:p>
            <a:pPr>
              <a:lnSpc>
                <a:spcPct val="100000"/>
              </a:lnSpc>
              <a:spcBef>
                <a:spcPts val="0"/>
              </a:spcBef>
              <a:buNone/>
            </a:pPr>
            <a:r>
              <a:rPr lang="zh-CN" altLang="en-US" sz="2400" dirty="0">
                <a:solidFill>
                  <a:srgbClr val="060606"/>
                </a:solidFill>
              </a:rPr>
              <a:t>原则：最小比值原则。</a:t>
            </a:r>
            <a:endParaRPr lang="en-US" altLang="zh-CN" sz="2400" dirty="0">
              <a:solidFill>
                <a:srgbClr val="060606"/>
              </a:solidFill>
            </a:endParaRPr>
          </a:p>
          <a:p>
            <a:pPr>
              <a:lnSpc>
                <a:spcPct val="100000"/>
              </a:lnSpc>
              <a:spcBef>
                <a:spcPts val="0"/>
              </a:spcBef>
              <a:buNone/>
            </a:pPr>
            <a:r>
              <a:rPr lang="en-US" altLang="zh-CN" sz="2400" dirty="0">
                <a:solidFill>
                  <a:srgbClr val="060606"/>
                </a:solidFill>
              </a:rPr>
              <a:t>(1)</a:t>
            </a:r>
            <a:r>
              <a:rPr lang="zh-CN" altLang="en-US" sz="2400" dirty="0">
                <a:solidFill>
                  <a:srgbClr val="060606"/>
                </a:solidFill>
              </a:rPr>
              <a:t>由</a:t>
            </a:r>
            <a:r>
              <a:rPr lang="en-US" altLang="zh-CN" sz="2400" dirty="0">
                <a:solidFill>
                  <a:srgbClr val="060606"/>
                </a:solidFill>
              </a:rPr>
              <a:t>max{|</a:t>
            </a:r>
            <a:r>
              <a:rPr lang="el-GR" altLang="zh-CN" sz="2400" dirty="0">
                <a:solidFill>
                  <a:srgbClr val="060606"/>
                </a:solidFill>
              </a:rPr>
              <a:t> σ</a:t>
            </a:r>
            <a:r>
              <a:rPr lang="en-US" altLang="zh-CN" sz="2400" baseline="-25000" dirty="0">
                <a:solidFill>
                  <a:srgbClr val="060606"/>
                </a:solidFill>
              </a:rPr>
              <a:t>j</a:t>
            </a:r>
            <a:r>
              <a:rPr lang="en-US" altLang="zh-CN" sz="2400" dirty="0">
                <a:solidFill>
                  <a:srgbClr val="060606"/>
                </a:solidFill>
              </a:rPr>
              <a:t> |&gt;0,j = 1,2,…,l} = |</a:t>
            </a:r>
            <a:r>
              <a:rPr lang="el-GR" altLang="zh-CN" sz="2400" dirty="0">
                <a:solidFill>
                  <a:srgbClr val="060606"/>
                </a:solidFill>
              </a:rPr>
              <a:t> σ</a:t>
            </a:r>
            <a:r>
              <a:rPr lang="en-US" altLang="zh-CN" sz="2400" baseline="-25000" dirty="0">
                <a:solidFill>
                  <a:srgbClr val="060606"/>
                </a:solidFill>
              </a:rPr>
              <a:t>k </a:t>
            </a:r>
            <a:r>
              <a:rPr lang="en-US" altLang="zh-CN" sz="2400" dirty="0">
                <a:solidFill>
                  <a:srgbClr val="060606"/>
                </a:solidFill>
              </a:rPr>
              <a:t>|</a:t>
            </a:r>
            <a:r>
              <a:rPr lang="zh-CN" altLang="en-US" sz="2400" dirty="0">
                <a:solidFill>
                  <a:srgbClr val="060606"/>
                </a:solidFill>
              </a:rPr>
              <a:t>，以“目标函数系数</a:t>
            </a:r>
            <a:r>
              <a:rPr lang="en-US" altLang="zh-CN" sz="2400" dirty="0" err="1">
                <a:solidFill>
                  <a:srgbClr val="060606"/>
                </a:solidFill>
              </a:rPr>
              <a:t>C</a:t>
            </a:r>
            <a:r>
              <a:rPr lang="en-US" altLang="zh-CN" sz="2400" baseline="-25000" dirty="0" err="1">
                <a:solidFill>
                  <a:srgbClr val="060606"/>
                </a:solidFill>
              </a:rPr>
              <a:t>j</a:t>
            </a:r>
            <a:r>
              <a:rPr lang="zh-CN" altLang="en-US" sz="2400" dirty="0">
                <a:solidFill>
                  <a:srgbClr val="060606"/>
                </a:solidFill>
              </a:rPr>
              <a:t>大者</a:t>
            </a:r>
            <a:r>
              <a:rPr lang="en-US" altLang="zh-CN" sz="2400" dirty="0" err="1">
                <a:solidFill>
                  <a:srgbClr val="060606"/>
                </a:solidFill>
              </a:rPr>
              <a:t>x</a:t>
            </a:r>
            <a:r>
              <a:rPr lang="en-US" altLang="zh-CN" sz="2400" baseline="-25000" dirty="0" err="1">
                <a:solidFill>
                  <a:srgbClr val="060606"/>
                </a:solidFill>
              </a:rPr>
              <a:t>k</a:t>
            </a:r>
            <a:r>
              <a:rPr lang="en-US" altLang="zh-CN" sz="2400" dirty="0">
                <a:solidFill>
                  <a:srgbClr val="060606"/>
                </a:solidFill>
              </a:rPr>
              <a:t> </a:t>
            </a:r>
            <a:r>
              <a:rPr lang="zh-CN" altLang="en-US" sz="2400" dirty="0">
                <a:solidFill>
                  <a:srgbClr val="060606"/>
                </a:solidFill>
              </a:rPr>
              <a:t>，应首先安排，并尽可能多的安排”原则确定了为换入变量</a:t>
            </a:r>
            <a:r>
              <a:rPr lang="en-US" altLang="zh-CN" sz="2400" dirty="0" err="1">
                <a:solidFill>
                  <a:srgbClr val="060606"/>
                </a:solidFill>
              </a:rPr>
              <a:t>x</a:t>
            </a:r>
            <a:r>
              <a:rPr lang="en-US" altLang="zh-CN" sz="2400" baseline="-25000" dirty="0" err="1">
                <a:solidFill>
                  <a:srgbClr val="060606"/>
                </a:solidFill>
              </a:rPr>
              <a:t>k</a:t>
            </a:r>
            <a:endParaRPr lang="en-US" altLang="zh-CN" sz="2400" baseline="-25000" dirty="0">
              <a:solidFill>
                <a:srgbClr val="060606"/>
              </a:solidFill>
            </a:endParaRPr>
          </a:p>
          <a:p>
            <a:pPr>
              <a:lnSpc>
                <a:spcPct val="100000"/>
              </a:lnSpc>
              <a:spcBef>
                <a:spcPts val="0"/>
              </a:spcBef>
              <a:buNone/>
            </a:pPr>
            <a:r>
              <a:rPr lang="en-US" altLang="zh-CN" sz="2400" dirty="0">
                <a:solidFill>
                  <a:srgbClr val="060606"/>
                </a:solidFill>
              </a:rPr>
              <a:t>(2)</a:t>
            </a:r>
            <a:r>
              <a:rPr lang="zh-CN" altLang="en-US" sz="2400" dirty="0">
                <a:solidFill>
                  <a:srgbClr val="060606"/>
                </a:solidFill>
              </a:rPr>
              <a:t>对于约束条件方程组中每一方程，令除了</a:t>
            </a:r>
            <a:r>
              <a:rPr lang="zh-CN" altLang="en-US" sz="2400" dirty="0">
                <a:solidFill>
                  <a:srgbClr val="0000AC"/>
                </a:solidFill>
              </a:rPr>
              <a:t>换入变量</a:t>
            </a:r>
            <a:r>
              <a:rPr lang="zh-CN" altLang="en-US" sz="2400" dirty="0">
                <a:solidFill>
                  <a:srgbClr val="060606"/>
                </a:solidFill>
              </a:rPr>
              <a:t>的其它</a:t>
            </a:r>
            <a:r>
              <a:rPr lang="zh-CN" altLang="en-US" sz="2400" dirty="0">
                <a:solidFill>
                  <a:srgbClr val="0000AC"/>
                </a:solidFill>
              </a:rPr>
              <a:t>非基变量</a:t>
            </a:r>
            <a:r>
              <a:rPr lang="zh-CN" altLang="en-US" sz="2400" dirty="0">
                <a:solidFill>
                  <a:srgbClr val="060606"/>
                </a:solidFill>
              </a:rPr>
              <a:t>为</a:t>
            </a:r>
            <a:r>
              <a:rPr lang="en-US" altLang="zh-CN" sz="2400" dirty="0">
                <a:solidFill>
                  <a:srgbClr val="060606"/>
                </a:solidFill>
              </a:rPr>
              <a:t>0</a:t>
            </a:r>
            <a:r>
              <a:rPr lang="zh-CN" altLang="en-US" sz="2400" dirty="0">
                <a:solidFill>
                  <a:srgbClr val="060606"/>
                </a:solidFill>
              </a:rPr>
              <a:t>，然后计算：</a:t>
            </a:r>
            <a:r>
              <a:rPr lang="en-US" altLang="zh-CN" sz="2400" dirty="0">
                <a:solidFill>
                  <a:srgbClr val="060606"/>
                </a:solidFill>
                <a:ea typeface="宋体"/>
              </a:rPr>
              <a:t>       </a:t>
            </a:r>
            <a:r>
              <a:rPr lang="el-GR" altLang="zh-CN" sz="2400" dirty="0">
                <a:solidFill>
                  <a:srgbClr val="060606"/>
                </a:solidFill>
                <a:ea typeface="宋体"/>
              </a:rPr>
              <a:t>θ</a:t>
            </a:r>
            <a:r>
              <a:rPr lang="en-US" altLang="zh-CN" sz="2400" baseline="-25000" dirty="0" err="1">
                <a:solidFill>
                  <a:srgbClr val="060606"/>
                </a:solidFill>
                <a:ea typeface="宋体"/>
              </a:rPr>
              <a:t>si</a:t>
            </a:r>
            <a:r>
              <a:rPr lang="en-US" altLang="zh-CN" sz="2400" dirty="0">
                <a:solidFill>
                  <a:srgbClr val="060606"/>
                </a:solidFill>
                <a:ea typeface="宋体"/>
              </a:rPr>
              <a:t> = b</a:t>
            </a:r>
            <a:r>
              <a:rPr lang="en-US" altLang="zh-CN" sz="2400" baseline="-25000" dirty="0">
                <a:solidFill>
                  <a:srgbClr val="060606"/>
                </a:solidFill>
                <a:ea typeface="宋体"/>
              </a:rPr>
              <a:t>i</a:t>
            </a:r>
            <a:r>
              <a:rPr lang="en-US" altLang="zh-CN" sz="2400" dirty="0">
                <a:solidFill>
                  <a:srgbClr val="060606"/>
                </a:solidFill>
                <a:ea typeface="宋体"/>
              </a:rPr>
              <a:t>/</a:t>
            </a:r>
            <a:r>
              <a:rPr lang="en-US" altLang="zh-CN" sz="2400" dirty="0" err="1">
                <a:solidFill>
                  <a:srgbClr val="060606"/>
                </a:solidFill>
                <a:ea typeface="宋体"/>
              </a:rPr>
              <a:t>a</a:t>
            </a:r>
            <a:r>
              <a:rPr lang="en-US" altLang="zh-CN" sz="2400" baseline="-25000" dirty="0" err="1">
                <a:solidFill>
                  <a:srgbClr val="060606"/>
                </a:solidFill>
                <a:ea typeface="宋体"/>
              </a:rPr>
              <a:t>ik</a:t>
            </a:r>
            <a:r>
              <a:rPr lang="zh-CN" altLang="en-US" sz="2400" dirty="0">
                <a:solidFill>
                  <a:srgbClr val="060606"/>
                </a:solidFill>
                <a:ea typeface="宋体"/>
              </a:rPr>
              <a:t>，</a:t>
            </a:r>
            <a:r>
              <a:rPr lang="en-US" altLang="zh-CN" sz="2400" dirty="0" err="1">
                <a:solidFill>
                  <a:srgbClr val="060606"/>
                </a:solidFill>
                <a:ea typeface="宋体"/>
              </a:rPr>
              <a:t>i</a:t>
            </a:r>
            <a:r>
              <a:rPr lang="en-US" altLang="zh-CN" sz="2400" dirty="0">
                <a:solidFill>
                  <a:srgbClr val="060606"/>
                </a:solidFill>
                <a:ea typeface="宋体"/>
              </a:rPr>
              <a:t>=1</a:t>
            </a:r>
            <a:r>
              <a:rPr lang="zh-CN" altLang="en-US" sz="2400" dirty="0">
                <a:solidFill>
                  <a:srgbClr val="060606"/>
                </a:solidFill>
                <a:ea typeface="宋体"/>
              </a:rPr>
              <a:t>，</a:t>
            </a:r>
            <a:r>
              <a:rPr lang="en-US" altLang="zh-CN" sz="2400" dirty="0">
                <a:solidFill>
                  <a:srgbClr val="060606"/>
                </a:solidFill>
                <a:ea typeface="宋体"/>
              </a:rPr>
              <a:t>2</a:t>
            </a:r>
            <a:r>
              <a:rPr lang="zh-CN" altLang="en-US" sz="2400" dirty="0">
                <a:solidFill>
                  <a:srgbClr val="060606"/>
                </a:solidFill>
                <a:ea typeface="宋体"/>
              </a:rPr>
              <a:t>，</a:t>
            </a:r>
            <a:r>
              <a:rPr lang="en-US" altLang="zh-CN" sz="2400" dirty="0">
                <a:solidFill>
                  <a:srgbClr val="060606"/>
                </a:solidFill>
                <a:ea typeface="宋体"/>
              </a:rPr>
              <a:t>…</a:t>
            </a:r>
            <a:r>
              <a:rPr lang="zh-CN" altLang="en-US" sz="2400" dirty="0">
                <a:solidFill>
                  <a:srgbClr val="060606"/>
                </a:solidFill>
                <a:ea typeface="宋体"/>
              </a:rPr>
              <a:t>，</a:t>
            </a:r>
            <a:r>
              <a:rPr lang="en-US" altLang="zh-CN" sz="2400" dirty="0">
                <a:solidFill>
                  <a:srgbClr val="060606"/>
                </a:solidFill>
                <a:ea typeface="宋体"/>
              </a:rPr>
              <a:t>m</a:t>
            </a:r>
            <a:r>
              <a:rPr lang="zh-CN" altLang="en-US" sz="2400" dirty="0">
                <a:solidFill>
                  <a:srgbClr val="060606"/>
                </a:solidFill>
                <a:ea typeface="宋体"/>
              </a:rPr>
              <a:t>，得到相对每种资源的安排极限</a:t>
            </a:r>
            <a:r>
              <a:rPr lang="en-US" altLang="zh-CN" sz="2400" dirty="0">
                <a:solidFill>
                  <a:srgbClr val="060606"/>
                </a:solidFill>
                <a:ea typeface="宋体"/>
              </a:rPr>
              <a:t>(</a:t>
            </a:r>
            <a:r>
              <a:rPr lang="zh-CN" altLang="en-US" sz="2400" dirty="0">
                <a:solidFill>
                  <a:srgbClr val="060606"/>
                </a:solidFill>
                <a:ea typeface="宋体"/>
              </a:rPr>
              <a:t>全用于安排</a:t>
            </a:r>
            <a:r>
              <a:rPr lang="en-US" altLang="zh-CN" sz="2400" dirty="0" err="1">
                <a:solidFill>
                  <a:srgbClr val="060606"/>
                </a:solidFill>
                <a:ea typeface="宋体"/>
              </a:rPr>
              <a:t>x</a:t>
            </a:r>
            <a:r>
              <a:rPr lang="en-US" altLang="zh-CN" sz="2400" baseline="-25000" dirty="0" err="1">
                <a:solidFill>
                  <a:srgbClr val="060606"/>
                </a:solidFill>
                <a:ea typeface="宋体"/>
              </a:rPr>
              <a:t>k</a:t>
            </a:r>
            <a:r>
              <a:rPr lang="en-US" altLang="zh-CN" sz="2400" dirty="0">
                <a:solidFill>
                  <a:srgbClr val="060606"/>
                </a:solidFill>
                <a:ea typeface="宋体"/>
              </a:rPr>
              <a:t>)</a:t>
            </a:r>
            <a:r>
              <a:rPr lang="zh-CN" altLang="en-US" sz="2400" dirty="0">
                <a:solidFill>
                  <a:srgbClr val="060606"/>
                </a:solidFill>
                <a:ea typeface="宋体"/>
              </a:rPr>
              <a:t>。</a:t>
            </a:r>
            <a:endParaRPr lang="en-US" altLang="zh-CN" sz="2400" dirty="0">
              <a:solidFill>
                <a:srgbClr val="060606"/>
              </a:solidFill>
              <a:ea typeface="宋体"/>
            </a:endParaRPr>
          </a:p>
          <a:p>
            <a:pPr>
              <a:lnSpc>
                <a:spcPct val="100000"/>
              </a:lnSpc>
              <a:spcBef>
                <a:spcPts val="0"/>
              </a:spcBef>
              <a:buNone/>
            </a:pPr>
            <a:r>
              <a:rPr lang="en-US" altLang="zh-CN" sz="2400" dirty="0">
                <a:solidFill>
                  <a:srgbClr val="060606"/>
                </a:solidFill>
                <a:latin typeface="+mn-ea"/>
              </a:rPr>
              <a:t>(3)</a:t>
            </a:r>
            <a:r>
              <a:rPr lang="zh-CN" altLang="en-US" sz="2400" dirty="0">
                <a:solidFill>
                  <a:srgbClr val="060606"/>
                </a:solidFill>
                <a:latin typeface="+mn-ea"/>
              </a:rPr>
              <a:t>选择</a:t>
            </a:r>
            <a:r>
              <a:rPr lang="en-US" altLang="zh-CN" sz="2400" dirty="0">
                <a:solidFill>
                  <a:srgbClr val="060606"/>
                </a:solidFill>
                <a:latin typeface="+mn-ea"/>
              </a:rPr>
              <a:t>min{</a:t>
            </a:r>
            <a:r>
              <a:rPr lang="el-GR" altLang="zh-CN" sz="2400" dirty="0">
                <a:solidFill>
                  <a:srgbClr val="060606"/>
                </a:solidFill>
                <a:ea typeface="宋体"/>
              </a:rPr>
              <a:t>θ</a:t>
            </a:r>
            <a:r>
              <a:rPr lang="en-US" altLang="zh-CN" sz="2400" baseline="-25000" dirty="0" err="1">
                <a:solidFill>
                  <a:srgbClr val="060606"/>
                </a:solidFill>
                <a:ea typeface="宋体"/>
              </a:rPr>
              <a:t>si</a:t>
            </a:r>
            <a:r>
              <a:rPr lang="en-US" altLang="zh-CN" sz="2400" dirty="0">
                <a:solidFill>
                  <a:srgbClr val="060606"/>
                </a:solidFill>
                <a:ea typeface="宋体"/>
              </a:rPr>
              <a:t> = </a:t>
            </a:r>
            <a:r>
              <a:rPr lang="en-US" altLang="zh-CN" sz="2400" dirty="0">
                <a:solidFill>
                  <a:srgbClr val="060606"/>
                </a:solidFill>
                <a:latin typeface="+mn-ea"/>
              </a:rPr>
              <a:t>b</a:t>
            </a:r>
            <a:r>
              <a:rPr lang="en-US" altLang="zh-CN" sz="2400" baseline="-25000" dirty="0">
                <a:solidFill>
                  <a:srgbClr val="060606"/>
                </a:solidFill>
                <a:latin typeface="+mn-ea"/>
              </a:rPr>
              <a:t>i</a:t>
            </a:r>
            <a:r>
              <a:rPr lang="en-US" altLang="zh-CN" sz="2400" dirty="0">
                <a:solidFill>
                  <a:srgbClr val="060606"/>
                </a:solidFill>
                <a:latin typeface="+mn-ea"/>
              </a:rPr>
              <a:t>/</a:t>
            </a:r>
            <a:r>
              <a:rPr lang="en-US" altLang="zh-CN" sz="2400" dirty="0" err="1">
                <a:solidFill>
                  <a:srgbClr val="060606"/>
                </a:solidFill>
                <a:latin typeface="+mn-ea"/>
              </a:rPr>
              <a:t>a</a:t>
            </a:r>
            <a:r>
              <a:rPr lang="en-US" altLang="zh-CN" sz="2400" baseline="-25000" dirty="0" err="1">
                <a:solidFill>
                  <a:srgbClr val="060606"/>
                </a:solidFill>
                <a:latin typeface="+mn-ea"/>
              </a:rPr>
              <a:t>ik</a:t>
            </a:r>
            <a:r>
              <a:rPr lang="zh-CN" altLang="en-US" sz="2400" dirty="0">
                <a:solidFill>
                  <a:srgbClr val="060606"/>
                </a:solidFill>
                <a:latin typeface="+mn-ea"/>
              </a:rPr>
              <a:t>，</a:t>
            </a:r>
            <a:r>
              <a:rPr lang="en-US" altLang="zh-CN" sz="2400" dirty="0" err="1">
                <a:solidFill>
                  <a:srgbClr val="060606"/>
                </a:solidFill>
                <a:latin typeface="+mn-ea"/>
              </a:rPr>
              <a:t>i</a:t>
            </a:r>
            <a:r>
              <a:rPr lang="en-US" altLang="zh-CN" sz="2400" dirty="0">
                <a:solidFill>
                  <a:srgbClr val="060606"/>
                </a:solidFill>
                <a:latin typeface="+mn-ea"/>
              </a:rPr>
              <a:t>=1</a:t>
            </a:r>
            <a:r>
              <a:rPr lang="zh-CN" altLang="en-US" sz="2400" dirty="0">
                <a:solidFill>
                  <a:srgbClr val="060606"/>
                </a:solidFill>
                <a:latin typeface="+mn-ea"/>
              </a:rPr>
              <a:t>，</a:t>
            </a:r>
            <a:r>
              <a:rPr lang="en-US" altLang="zh-CN" sz="2400" dirty="0">
                <a:solidFill>
                  <a:srgbClr val="060606"/>
                </a:solidFill>
                <a:latin typeface="+mn-ea"/>
              </a:rPr>
              <a:t>2</a:t>
            </a:r>
            <a:r>
              <a:rPr lang="zh-CN" altLang="en-US" sz="2400" dirty="0">
                <a:solidFill>
                  <a:srgbClr val="060606"/>
                </a:solidFill>
                <a:latin typeface="+mn-ea"/>
              </a:rPr>
              <a:t>，</a:t>
            </a:r>
            <a:r>
              <a:rPr lang="en-US" altLang="zh-CN" sz="2400" dirty="0">
                <a:solidFill>
                  <a:srgbClr val="060606"/>
                </a:solidFill>
                <a:latin typeface="+mn-ea"/>
              </a:rPr>
              <a:t>…</a:t>
            </a:r>
            <a:r>
              <a:rPr lang="zh-CN" altLang="en-US" sz="2400" dirty="0">
                <a:solidFill>
                  <a:srgbClr val="060606"/>
                </a:solidFill>
                <a:latin typeface="+mn-ea"/>
              </a:rPr>
              <a:t>，</a:t>
            </a:r>
            <a:r>
              <a:rPr lang="en-US" altLang="zh-CN" sz="2400" dirty="0">
                <a:solidFill>
                  <a:srgbClr val="060606"/>
                </a:solidFill>
                <a:latin typeface="+mn-ea"/>
              </a:rPr>
              <a:t>m} = </a:t>
            </a:r>
            <a:r>
              <a:rPr lang="el-GR" altLang="zh-CN" sz="2400" dirty="0">
                <a:solidFill>
                  <a:srgbClr val="FF0000"/>
                </a:solidFill>
                <a:latin typeface="+mn-ea"/>
              </a:rPr>
              <a:t>θ</a:t>
            </a:r>
            <a:r>
              <a:rPr lang="en-US" altLang="zh-CN" sz="2400" baseline="-25000" dirty="0">
                <a:solidFill>
                  <a:srgbClr val="FF0000"/>
                </a:solidFill>
                <a:latin typeface="+mn-ea"/>
              </a:rPr>
              <a:t>sq</a:t>
            </a:r>
            <a:r>
              <a:rPr lang="en-US" altLang="zh-CN" sz="2400" dirty="0">
                <a:solidFill>
                  <a:srgbClr val="FF0000"/>
                </a:solidFill>
                <a:latin typeface="+mn-ea"/>
              </a:rPr>
              <a:t> </a:t>
            </a:r>
            <a:r>
              <a:rPr lang="zh-CN" altLang="en-US" sz="2400" dirty="0">
                <a:solidFill>
                  <a:srgbClr val="060606"/>
                </a:solidFill>
                <a:latin typeface="+mn-ea"/>
              </a:rPr>
              <a:t>对应的</a:t>
            </a:r>
            <a:r>
              <a:rPr lang="en-US" altLang="zh-CN" sz="2400" dirty="0">
                <a:solidFill>
                  <a:srgbClr val="060606"/>
                </a:solidFill>
                <a:latin typeface="+mn-ea"/>
              </a:rPr>
              <a:t> </a:t>
            </a:r>
            <a:r>
              <a:rPr lang="zh-CN" altLang="en-US" sz="2400" dirty="0">
                <a:solidFill>
                  <a:srgbClr val="060606"/>
                </a:solidFill>
                <a:latin typeface="+mn-ea"/>
              </a:rPr>
              <a:t>基变量</a:t>
            </a:r>
            <a:r>
              <a:rPr lang="en-US" altLang="zh-CN" sz="2400" dirty="0" err="1">
                <a:solidFill>
                  <a:srgbClr val="060606"/>
                </a:solidFill>
                <a:latin typeface="+mn-ea"/>
              </a:rPr>
              <a:t>x</a:t>
            </a:r>
            <a:r>
              <a:rPr lang="en-US" altLang="zh-CN" sz="2400" baseline="-25000" dirty="0" err="1">
                <a:solidFill>
                  <a:srgbClr val="060606"/>
                </a:solidFill>
                <a:latin typeface="+mn-ea"/>
              </a:rPr>
              <a:t>sq</a:t>
            </a:r>
            <a:r>
              <a:rPr lang="zh-CN" altLang="en-US" sz="2400" dirty="0">
                <a:solidFill>
                  <a:srgbClr val="060606"/>
                </a:solidFill>
                <a:latin typeface="+mn-ea"/>
              </a:rPr>
              <a:t>做为换出变量，得到考虑所有资源限制下的</a:t>
            </a:r>
            <a:r>
              <a:rPr lang="en-US" altLang="zh-CN" sz="2400" dirty="0" err="1">
                <a:solidFill>
                  <a:srgbClr val="060606"/>
                </a:solidFill>
                <a:latin typeface="+mn-ea"/>
              </a:rPr>
              <a:t>X</a:t>
            </a:r>
            <a:r>
              <a:rPr lang="en-US" altLang="zh-CN" sz="2400" baseline="-25000" dirty="0" err="1">
                <a:solidFill>
                  <a:srgbClr val="060606"/>
                </a:solidFill>
                <a:latin typeface="+mn-ea"/>
              </a:rPr>
              <a:t>k</a:t>
            </a:r>
            <a:r>
              <a:rPr lang="zh-CN" altLang="en-US" sz="2400" dirty="0">
                <a:solidFill>
                  <a:srgbClr val="060606"/>
                </a:solidFill>
                <a:latin typeface="+mn-ea"/>
              </a:rPr>
              <a:t>安排极限。</a:t>
            </a:r>
            <a:endParaRPr lang="zh-CN" altLang="en-US" sz="2400" dirty="0">
              <a:solidFill>
                <a:srgbClr val="060606"/>
              </a:solidFill>
              <a:latin typeface="+mn-ea"/>
            </a:endParaRPr>
          </a:p>
          <a:p>
            <a:pPr>
              <a:lnSpc>
                <a:spcPct val="100000"/>
              </a:lnSpc>
              <a:spcBef>
                <a:spcPts val="0"/>
              </a:spcBef>
              <a:buNone/>
            </a:pPr>
            <a:r>
              <a:rPr lang="zh-CN" altLang="en-US" sz="2400" dirty="0">
                <a:solidFill>
                  <a:srgbClr val="FF0000"/>
                </a:solidFill>
                <a:latin typeface="+mn-ea"/>
              </a:rPr>
              <a:t>这一“最小比值”原则决定了</a:t>
            </a:r>
            <a:r>
              <a:rPr lang="zh-CN" altLang="en-US" sz="2400" dirty="0">
                <a:solidFill>
                  <a:srgbClr val="000018"/>
                </a:solidFill>
                <a:latin typeface="+mn-ea"/>
              </a:rPr>
              <a:t>，</a:t>
            </a:r>
            <a:r>
              <a:rPr lang="zh-CN" altLang="en-US" sz="2400" dirty="0">
                <a:solidFill>
                  <a:srgbClr val="FF0000"/>
                </a:solidFill>
                <a:latin typeface="+mn-ea"/>
              </a:rPr>
              <a:t>基变量</a:t>
            </a:r>
            <a:r>
              <a:rPr lang="en-US" altLang="zh-CN" sz="2400" dirty="0" err="1">
                <a:solidFill>
                  <a:srgbClr val="FF0000"/>
                </a:solidFill>
                <a:latin typeface="+mn-ea"/>
              </a:rPr>
              <a:t>x</a:t>
            </a:r>
            <a:r>
              <a:rPr lang="en-US" altLang="zh-CN" sz="2400" baseline="-25000" dirty="0" err="1">
                <a:solidFill>
                  <a:srgbClr val="FF0000"/>
                </a:solidFill>
                <a:latin typeface="+mn-ea"/>
              </a:rPr>
              <a:t>sq</a:t>
            </a:r>
            <a:r>
              <a:rPr lang="zh-CN" altLang="en-US" sz="2400" dirty="0">
                <a:solidFill>
                  <a:srgbClr val="FF0000"/>
                </a:solidFill>
                <a:latin typeface="+mn-ea"/>
              </a:rPr>
              <a:t>最先到达</a:t>
            </a:r>
            <a:r>
              <a:rPr lang="en-US" altLang="zh-CN" sz="2400" dirty="0">
                <a:solidFill>
                  <a:srgbClr val="FF0000"/>
                </a:solidFill>
                <a:latin typeface="+mn-ea"/>
              </a:rPr>
              <a:t>0</a:t>
            </a:r>
            <a:r>
              <a:rPr lang="en-US" altLang="zh-CN" sz="2400" dirty="0">
                <a:solidFill>
                  <a:srgbClr val="000018"/>
                </a:solidFill>
                <a:latin typeface="+mn-ea"/>
              </a:rPr>
              <a:t>[</a:t>
            </a:r>
            <a:r>
              <a:rPr lang="en-US" altLang="zh-CN" sz="2400" dirty="0" err="1">
                <a:solidFill>
                  <a:srgbClr val="060606"/>
                </a:solidFill>
              </a:rPr>
              <a:t>x</a:t>
            </a:r>
            <a:r>
              <a:rPr lang="en-US" altLang="zh-CN" sz="2400" baseline="-25000" dirty="0" err="1">
                <a:solidFill>
                  <a:srgbClr val="060606"/>
                </a:solidFill>
              </a:rPr>
              <a:t>k</a:t>
            </a:r>
            <a:r>
              <a:rPr lang="en-US" altLang="zh-CN" sz="2400" dirty="0">
                <a:solidFill>
                  <a:srgbClr val="060606"/>
                </a:solidFill>
                <a:latin typeface="+mn-ea"/>
              </a:rPr>
              <a:t>=</a:t>
            </a:r>
            <a:r>
              <a:rPr lang="el-GR" altLang="zh-CN" sz="2400" dirty="0">
                <a:solidFill>
                  <a:srgbClr val="FF0000"/>
                </a:solidFill>
                <a:latin typeface="+mn-ea"/>
              </a:rPr>
              <a:t>θ</a:t>
            </a:r>
            <a:r>
              <a:rPr lang="en-US" altLang="zh-CN" sz="2400" baseline="-25000" dirty="0">
                <a:solidFill>
                  <a:srgbClr val="FF0000"/>
                </a:solidFill>
                <a:latin typeface="+mn-ea"/>
              </a:rPr>
              <a:t>sq</a:t>
            </a:r>
            <a:r>
              <a:rPr lang="zh-CN" altLang="zh-CN" sz="2400" dirty="0"/>
              <a:t>时</a:t>
            </a:r>
            <a:r>
              <a:rPr lang="zh-CN" altLang="en-US" sz="2400" dirty="0"/>
              <a:t>，</a:t>
            </a:r>
            <a:r>
              <a:rPr lang="en-US" altLang="zh-CN" sz="2400" dirty="0"/>
              <a:t>Z</a:t>
            </a:r>
            <a:r>
              <a:rPr lang="zh-CN" altLang="en-US" sz="2400" dirty="0">
                <a:solidFill>
                  <a:srgbClr val="000018"/>
                </a:solidFill>
                <a:latin typeface="+mn-ea"/>
              </a:rPr>
              <a:t>距离最优解为</a:t>
            </a:r>
            <a:r>
              <a:rPr lang="en-US" altLang="zh-CN" sz="2400" dirty="0">
                <a:solidFill>
                  <a:srgbClr val="000018"/>
                </a:solidFill>
                <a:latin typeface="+mn-ea"/>
              </a:rPr>
              <a:t>min</a:t>
            </a:r>
            <a:r>
              <a:rPr lang="en-US" altLang="zh-CN" sz="2400" dirty="0">
                <a:solidFill>
                  <a:srgbClr val="060606"/>
                </a:solidFill>
                <a:latin typeface="+mn-ea"/>
              </a:rPr>
              <a:t>{</a:t>
            </a:r>
            <a:r>
              <a:rPr lang="el-GR" altLang="zh-CN" sz="2400" dirty="0">
                <a:solidFill>
                  <a:srgbClr val="060606"/>
                </a:solidFill>
                <a:ea typeface="宋体"/>
              </a:rPr>
              <a:t>θ</a:t>
            </a:r>
            <a:r>
              <a:rPr lang="en-US" altLang="zh-CN" sz="2400" baseline="-25000" dirty="0" err="1">
                <a:solidFill>
                  <a:srgbClr val="060606"/>
                </a:solidFill>
                <a:ea typeface="宋体"/>
              </a:rPr>
              <a:t>si</a:t>
            </a:r>
            <a:r>
              <a:rPr lang="en-US" altLang="zh-CN" sz="2400" dirty="0">
                <a:solidFill>
                  <a:srgbClr val="060606"/>
                </a:solidFill>
                <a:ea typeface="宋体"/>
              </a:rPr>
              <a:t>}</a:t>
            </a:r>
            <a:r>
              <a:rPr lang="zh-CN" altLang="en-US" sz="2400" dirty="0">
                <a:solidFill>
                  <a:srgbClr val="060606"/>
                </a:solidFill>
                <a:ea typeface="宋体"/>
              </a:rPr>
              <a:t> 最小</a:t>
            </a:r>
            <a:r>
              <a:rPr lang="en-US" altLang="zh-CN" sz="2400" dirty="0">
                <a:solidFill>
                  <a:srgbClr val="000018"/>
                </a:solidFill>
                <a:latin typeface="+mn-ea"/>
              </a:rPr>
              <a:t>]</a:t>
            </a:r>
            <a:r>
              <a:rPr lang="zh-CN" altLang="en-US" sz="2400" dirty="0">
                <a:solidFill>
                  <a:srgbClr val="060606"/>
                </a:solidFill>
                <a:latin typeface="+mn-ea"/>
              </a:rPr>
              <a:t>而变为非基变量，在</a:t>
            </a:r>
            <a:r>
              <a:rPr lang="en-US" altLang="zh-CN" sz="2400" dirty="0" err="1">
                <a:solidFill>
                  <a:srgbClr val="060606"/>
                </a:solidFill>
                <a:latin typeface="+mn-ea"/>
              </a:rPr>
              <a:t>Eq</a:t>
            </a:r>
            <a:r>
              <a:rPr lang="en-US" altLang="zh-CN" sz="2400" dirty="0">
                <a:solidFill>
                  <a:srgbClr val="060606"/>
                </a:solidFill>
                <a:latin typeface="+mn-ea"/>
              </a:rPr>
              <a:t>(0)</a:t>
            </a:r>
            <a:r>
              <a:rPr lang="zh-CN" altLang="en-US" sz="2400" dirty="0">
                <a:solidFill>
                  <a:srgbClr val="060606"/>
                </a:solidFill>
                <a:latin typeface="+mn-ea"/>
              </a:rPr>
              <a:t>进行替换，从而保证了</a:t>
            </a:r>
            <a:r>
              <a:rPr lang="en-US" altLang="zh-CN" sz="2400" dirty="0" err="1">
                <a:solidFill>
                  <a:srgbClr val="060606"/>
                </a:solidFill>
              </a:rPr>
              <a:t>x</a:t>
            </a:r>
            <a:r>
              <a:rPr lang="en-US" altLang="zh-CN" sz="2400" baseline="-25000" dirty="0" err="1">
                <a:solidFill>
                  <a:srgbClr val="060606"/>
                </a:solidFill>
              </a:rPr>
              <a:t>k</a:t>
            </a:r>
            <a:r>
              <a:rPr lang="en-US" altLang="zh-CN" sz="2400" dirty="0">
                <a:solidFill>
                  <a:srgbClr val="060606"/>
                </a:solidFill>
                <a:latin typeface="+mn-ea"/>
              </a:rPr>
              <a:t>=</a:t>
            </a:r>
            <a:r>
              <a:rPr lang="el-GR" altLang="zh-CN" sz="2400" dirty="0">
                <a:solidFill>
                  <a:srgbClr val="FF0000"/>
                </a:solidFill>
                <a:latin typeface="+mn-ea"/>
              </a:rPr>
              <a:t>θ</a:t>
            </a:r>
            <a:r>
              <a:rPr lang="en-US" altLang="zh-CN" sz="2400" baseline="-25000" dirty="0">
                <a:solidFill>
                  <a:srgbClr val="FF0000"/>
                </a:solidFill>
                <a:latin typeface="+mn-ea"/>
              </a:rPr>
              <a:t>sq</a:t>
            </a:r>
            <a:r>
              <a:rPr lang="zh-CN" altLang="en-US" sz="2400" dirty="0">
                <a:solidFill>
                  <a:srgbClr val="000018"/>
                </a:solidFill>
                <a:latin typeface="+mn-ea"/>
              </a:rPr>
              <a:t>安排，即对</a:t>
            </a:r>
            <a:r>
              <a:rPr lang="en-US" altLang="zh-CN" sz="2400" dirty="0">
                <a:solidFill>
                  <a:srgbClr val="000018"/>
                </a:solidFill>
                <a:latin typeface="+mn-ea"/>
              </a:rPr>
              <a:t>Z</a:t>
            </a:r>
            <a:r>
              <a:rPr lang="zh-CN" altLang="en-US" sz="2400" dirty="0">
                <a:solidFill>
                  <a:srgbClr val="000018"/>
                </a:solidFill>
                <a:latin typeface="+mn-ea"/>
              </a:rPr>
              <a:t>以确定的数值</a:t>
            </a:r>
            <a:r>
              <a:rPr lang="en-US" altLang="zh-CN" sz="2400" dirty="0" err="1">
                <a:solidFill>
                  <a:srgbClr val="000018"/>
                </a:solidFill>
                <a:latin typeface="+mn-ea"/>
              </a:rPr>
              <a:t>Z+c</a:t>
            </a:r>
            <a:r>
              <a:rPr lang="en-US" altLang="zh-CN" sz="2400" baseline="-25000" dirty="0" err="1">
                <a:solidFill>
                  <a:srgbClr val="060606"/>
                </a:solidFill>
              </a:rPr>
              <a:t>k</a:t>
            </a:r>
            <a:r>
              <a:rPr lang="en-US" altLang="zh-CN" sz="2400" baseline="-25000" dirty="0">
                <a:solidFill>
                  <a:srgbClr val="060606"/>
                </a:solidFill>
              </a:rPr>
              <a:t> </a:t>
            </a:r>
            <a:r>
              <a:rPr lang="el-GR" altLang="zh-CN" sz="2400" dirty="0">
                <a:solidFill>
                  <a:srgbClr val="FF0000"/>
                </a:solidFill>
                <a:latin typeface="+mn-ea"/>
              </a:rPr>
              <a:t>× θ</a:t>
            </a:r>
            <a:r>
              <a:rPr lang="en-US" altLang="zh-CN" sz="2400" baseline="-25000" dirty="0">
                <a:solidFill>
                  <a:srgbClr val="FF0000"/>
                </a:solidFill>
                <a:latin typeface="+mn-ea"/>
              </a:rPr>
              <a:t>sq</a:t>
            </a:r>
            <a:r>
              <a:rPr lang="zh-CN" altLang="en-US" sz="2400" dirty="0">
                <a:solidFill>
                  <a:srgbClr val="000018"/>
                </a:solidFill>
                <a:latin typeface="+mn-ea"/>
              </a:rPr>
              <a:t>进行保证</a:t>
            </a:r>
            <a:r>
              <a:rPr lang="zh-CN" altLang="en-US" sz="2400" dirty="0">
                <a:solidFill>
                  <a:srgbClr val="060606"/>
                </a:solidFill>
                <a:latin typeface="+mn-ea"/>
              </a:rPr>
              <a:t>，故确定了</a:t>
            </a:r>
            <a:r>
              <a:rPr lang="en-US" altLang="zh-CN" sz="2400" dirty="0" err="1">
                <a:solidFill>
                  <a:srgbClr val="060606"/>
                </a:solidFill>
                <a:latin typeface="+mn-ea"/>
              </a:rPr>
              <a:t>x</a:t>
            </a:r>
            <a:r>
              <a:rPr lang="en-US" altLang="zh-CN" sz="2400" baseline="-25000" dirty="0" err="1">
                <a:solidFill>
                  <a:srgbClr val="060606"/>
                </a:solidFill>
                <a:latin typeface="+mn-ea"/>
              </a:rPr>
              <a:t>sq</a:t>
            </a:r>
            <a:r>
              <a:rPr lang="zh-CN" altLang="en-US" sz="2400" dirty="0">
                <a:solidFill>
                  <a:srgbClr val="060606"/>
                </a:solidFill>
                <a:latin typeface="+mn-ea"/>
              </a:rPr>
              <a:t>为换出变量。</a:t>
            </a:r>
            <a:endParaRPr lang="en-US" altLang="zh-CN" sz="2400" dirty="0">
              <a:solidFill>
                <a:srgbClr val="060606"/>
              </a:solidFill>
              <a:latin typeface="+mn-ea"/>
            </a:endParaRPr>
          </a:p>
        </p:txBody>
      </p:sp>
      <p:grpSp>
        <p:nvGrpSpPr>
          <p:cNvPr id="80" name="组合 79"/>
          <p:cNvGrpSpPr/>
          <p:nvPr/>
        </p:nvGrpSpPr>
        <p:grpSpPr>
          <a:xfrm>
            <a:off x="1295400" y="4763368"/>
            <a:ext cx="10648950" cy="1885801"/>
            <a:chOff x="0" y="4866109"/>
            <a:chExt cx="9144000" cy="1885801"/>
          </a:xfrm>
        </p:grpSpPr>
        <p:grpSp>
          <p:nvGrpSpPr>
            <p:cNvPr id="79" name="组合 78"/>
            <p:cNvGrpSpPr/>
            <p:nvPr/>
          </p:nvGrpSpPr>
          <p:grpSpPr>
            <a:xfrm>
              <a:off x="0" y="4866109"/>
              <a:ext cx="8820472" cy="1885801"/>
              <a:chOff x="0" y="4813994"/>
              <a:chExt cx="8820472" cy="1885801"/>
            </a:xfrm>
          </p:grpSpPr>
          <p:sp>
            <p:nvSpPr>
              <p:cNvPr id="78" name="矩形 77"/>
              <p:cNvSpPr/>
              <p:nvPr/>
            </p:nvSpPr>
            <p:spPr bwMode="auto">
              <a:xfrm>
                <a:off x="0" y="4813995"/>
                <a:ext cx="8820472" cy="1885800"/>
              </a:xfrm>
              <a:prstGeom prst="rect">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lang="zh-CN" altLang="en-US">
                  <a:solidFill>
                    <a:schemeClr val="tx1"/>
                  </a:solidFill>
                  <a:latin typeface="Arial" panose="020B0604020202090204" pitchFamily="34" charset="0"/>
                  <a:ea typeface="宋体" panose="02010600030101010101" pitchFamily="2" charset="-122"/>
                </a:endParaRPr>
              </a:p>
            </p:txBody>
          </p:sp>
          <p:sp>
            <p:nvSpPr>
              <p:cNvPr id="12" name="矩形 3"/>
              <p:cNvSpPr/>
              <p:nvPr/>
            </p:nvSpPr>
            <p:spPr>
              <a:xfrm>
                <a:off x="0" y="5393109"/>
                <a:ext cx="3456384" cy="1077218"/>
              </a:xfrm>
              <a:prstGeom prst="rect">
                <a:avLst/>
              </a:prstGeom>
            </p:spPr>
            <p:txBody>
              <a:bodyPr wrap="square">
                <a:spAutoFit/>
              </a:bodyPr>
              <a:lstStyle/>
              <a:p>
                <a:r>
                  <a:rPr lang="en-US" altLang="zh-CN" sz="3200" dirty="0">
                    <a:solidFill>
                      <a:srgbClr val="060606"/>
                    </a:solidFill>
                  </a:rPr>
                  <a:t>(i)       a</a:t>
                </a:r>
                <a:r>
                  <a:rPr lang="en-US" altLang="zh-CN" sz="3200" baseline="-25000" dirty="0">
                    <a:solidFill>
                      <a:srgbClr val="060606"/>
                    </a:solidFill>
                  </a:rPr>
                  <a:t>ij</a:t>
                </a:r>
                <a:r>
                  <a:rPr lang="en-US" altLang="zh-CN" sz="3200" dirty="0">
                    <a:solidFill>
                      <a:srgbClr val="060606"/>
                    </a:solidFill>
                  </a:rPr>
                  <a:t>x</a:t>
                </a:r>
                <a:r>
                  <a:rPr lang="en-US" altLang="zh-CN" sz="3200" baseline="-25000" dirty="0">
                    <a:solidFill>
                      <a:srgbClr val="060606"/>
                    </a:solidFill>
                  </a:rPr>
                  <a:t>j</a:t>
                </a:r>
                <a:r>
                  <a:rPr lang="en-US" altLang="zh-CN" sz="3200" dirty="0">
                    <a:solidFill>
                      <a:srgbClr val="060606"/>
                    </a:solidFill>
                  </a:rPr>
                  <a:t> + </a:t>
                </a:r>
                <a:r>
                  <a:rPr lang="en-US" altLang="zh-CN" sz="3200" dirty="0" err="1">
                    <a:solidFill>
                      <a:srgbClr val="060606"/>
                    </a:solidFill>
                  </a:rPr>
                  <a:t>x</a:t>
                </a:r>
                <a:r>
                  <a:rPr lang="en-US" altLang="zh-CN" sz="3200" baseline="-25000" dirty="0" err="1">
                    <a:solidFill>
                      <a:srgbClr val="060606"/>
                    </a:solidFill>
                  </a:rPr>
                  <a:t>si</a:t>
                </a:r>
                <a:r>
                  <a:rPr lang="en-US" altLang="zh-CN" sz="3200" dirty="0">
                    <a:solidFill>
                      <a:srgbClr val="060606"/>
                    </a:solidFill>
                  </a:rPr>
                  <a:t> =  b</a:t>
                </a:r>
                <a:r>
                  <a:rPr lang="en-US" altLang="zh-CN" sz="3200" baseline="-25000" dirty="0">
                    <a:solidFill>
                      <a:srgbClr val="060606"/>
                    </a:solidFill>
                  </a:rPr>
                  <a:t>i</a:t>
                </a:r>
                <a:endParaRPr lang="zh-CN" altLang="en-US" sz="3200" dirty="0">
                  <a:solidFill>
                    <a:srgbClr val="060606"/>
                  </a:solidFill>
                </a:endParaRPr>
              </a:p>
            </p:txBody>
          </p:sp>
          <p:grpSp>
            <p:nvGrpSpPr>
              <p:cNvPr id="13" name="组合 32"/>
              <p:cNvGrpSpPr/>
              <p:nvPr/>
            </p:nvGrpSpPr>
            <p:grpSpPr>
              <a:xfrm>
                <a:off x="611560" y="5219478"/>
                <a:ext cx="1300485" cy="965719"/>
                <a:chOff x="6249159" y="533630"/>
                <a:chExt cx="567784" cy="474741"/>
              </a:xfrm>
            </p:grpSpPr>
            <p:sp>
              <p:nvSpPr>
                <p:cNvPr id="14" name="矩形 12"/>
                <p:cNvSpPr/>
                <p:nvPr/>
              </p:nvSpPr>
              <p:spPr>
                <a:xfrm>
                  <a:off x="6249159" y="781419"/>
                  <a:ext cx="567784" cy="226952"/>
                </a:xfrm>
                <a:prstGeom prst="rect">
                  <a:avLst/>
                </a:prstGeom>
              </p:spPr>
              <p:txBody>
                <a:bodyPr wrap="square">
                  <a:spAutoFit/>
                </a:bodyPr>
                <a:lstStyle/>
                <a:p>
                  <a:r>
                    <a:rPr lang="en-US" altLang="zh-CN" sz="2400" dirty="0">
                      <a:solidFill>
                        <a:srgbClr val="060606"/>
                      </a:solidFill>
                    </a:rPr>
                    <a:t>j=1</a:t>
                  </a:r>
                  <a:endParaRPr lang="zh-CN" altLang="en-US" sz="2400" dirty="0">
                    <a:solidFill>
                      <a:srgbClr val="060606"/>
                    </a:solidFill>
                  </a:endParaRPr>
                </a:p>
              </p:txBody>
            </p:sp>
            <p:sp>
              <p:nvSpPr>
                <p:cNvPr id="15" name="矩形 14"/>
                <p:cNvSpPr/>
                <p:nvPr/>
              </p:nvSpPr>
              <p:spPr>
                <a:xfrm>
                  <a:off x="6314129" y="533630"/>
                  <a:ext cx="154809" cy="226951"/>
                </a:xfrm>
                <a:prstGeom prst="rect">
                  <a:avLst/>
                </a:prstGeom>
              </p:spPr>
              <p:txBody>
                <a:bodyPr wrap="none">
                  <a:spAutoFit/>
                </a:bodyPr>
                <a:lstStyle/>
                <a:p>
                  <a:r>
                    <a:rPr lang="en-US" altLang="zh-CN" sz="2400" dirty="0">
                      <a:solidFill>
                        <a:srgbClr val="060606"/>
                      </a:solidFill>
                    </a:rPr>
                    <a:t>n</a:t>
                  </a:r>
                  <a:endParaRPr lang="zh-CN" altLang="en-US" sz="2400" dirty="0">
                    <a:solidFill>
                      <a:srgbClr val="060606"/>
                    </a:solidFill>
                  </a:endParaRPr>
                </a:p>
              </p:txBody>
            </p:sp>
            <p:sp>
              <p:nvSpPr>
                <p:cNvPr id="16" name="矩形 15"/>
                <p:cNvSpPr/>
                <p:nvPr/>
              </p:nvSpPr>
              <p:spPr>
                <a:xfrm>
                  <a:off x="6285562"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solidFill>
                      <a:srgbClr val="060606"/>
                    </a:solidFill>
                  </a:endParaRPr>
                </a:p>
              </p:txBody>
            </p:sp>
          </p:grpSp>
          <p:sp>
            <p:nvSpPr>
              <p:cNvPr id="17" name="右箭头 16"/>
              <p:cNvSpPr/>
              <p:nvPr/>
            </p:nvSpPr>
            <p:spPr bwMode="auto">
              <a:xfrm>
                <a:off x="3275856" y="5537125"/>
                <a:ext cx="2376264" cy="432048"/>
              </a:xfrm>
              <a:prstGeom prst="rightArrow">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8" name="矩形 17"/>
              <p:cNvSpPr/>
              <p:nvPr/>
            </p:nvSpPr>
            <p:spPr>
              <a:xfrm>
                <a:off x="2627784" y="4813994"/>
                <a:ext cx="3845925" cy="461665"/>
              </a:xfrm>
              <a:prstGeom prst="rect">
                <a:avLst/>
              </a:prstGeom>
            </p:spPr>
            <p:txBody>
              <a:bodyPr wrap="none">
                <a:spAutoFit/>
              </a:bodyPr>
              <a:lstStyle/>
              <a:p>
                <a:r>
                  <a:rPr lang="zh-CN" altLang="en-US" sz="2400" dirty="0">
                    <a:solidFill>
                      <a:srgbClr val="060606"/>
                    </a:solidFill>
                  </a:rPr>
                  <a:t>令</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x</a:t>
                </a:r>
                <a:r>
                  <a:rPr lang="en-US" altLang="zh-CN" sz="2400" baseline="-25000" dirty="0">
                    <a:solidFill>
                      <a:srgbClr val="060606"/>
                    </a:solidFill>
                  </a:rPr>
                  <a:t>2</a:t>
                </a:r>
                <a:r>
                  <a:rPr lang="en-US" altLang="zh-CN" sz="2400" dirty="0">
                    <a:solidFill>
                      <a:srgbClr val="060606"/>
                    </a:solidFill>
                  </a:rPr>
                  <a:t>,…,</a:t>
                </a:r>
                <a:r>
                  <a:rPr lang="en-US" altLang="zh-CN" sz="2400" baseline="-25000" dirty="0">
                    <a:solidFill>
                      <a:srgbClr val="060606"/>
                    </a:solidFill>
                  </a:rPr>
                  <a:t> </a:t>
                </a:r>
                <a:r>
                  <a:rPr lang="en-US" altLang="zh-CN" sz="2400" dirty="0">
                    <a:solidFill>
                      <a:srgbClr val="0000AC"/>
                    </a:solidFill>
                  </a:rPr>
                  <a:t>x</a:t>
                </a:r>
                <a:r>
                  <a:rPr lang="en-US" altLang="zh-CN" sz="2400" baseline="-25000" dirty="0">
                    <a:solidFill>
                      <a:srgbClr val="0000AC"/>
                    </a:solidFill>
                  </a:rPr>
                  <a:t>k-1</a:t>
                </a:r>
                <a:r>
                  <a:rPr lang="en-US" altLang="zh-CN" sz="2400" dirty="0">
                    <a:solidFill>
                      <a:srgbClr val="0000AC"/>
                    </a:solidFill>
                  </a:rPr>
                  <a:t>, x</a:t>
                </a:r>
                <a:r>
                  <a:rPr lang="en-US" altLang="zh-CN" sz="2400" baseline="-25000" dirty="0">
                    <a:solidFill>
                      <a:srgbClr val="0000AC"/>
                    </a:solidFill>
                  </a:rPr>
                  <a:t>k+1</a:t>
                </a:r>
                <a:r>
                  <a:rPr lang="en-US" altLang="zh-CN" sz="2400" dirty="0">
                    <a:solidFill>
                      <a:srgbClr val="060606"/>
                    </a:solidFill>
                  </a:rPr>
                  <a:t>,…,</a:t>
                </a:r>
                <a:r>
                  <a:rPr lang="en-US" altLang="zh-CN" sz="2400" dirty="0" err="1">
                    <a:solidFill>
                      <a:srgbClr val="060606"/>
                    </a:solidFill>
                  </a:rPr>
                  <a:t>x</a:t>
                </a:r>
                <a:r>
                  <a:rPr lang="en-US" altLang="zh-CN" sz="2400" baseline="-25000" dirty="0" err="1">
                    <a:solidFill>
                      <a:srgbClr val="060606"/>
                    </a:solidFill>
                  </a:rPr>
                  <a:t>n</a:t>
                </a:r>
                <a:r>
                  <a:rPr lang="en-US" altLang="zh-CN" sz="2400" dirty="0">
                    <a:solidFill>
                      <a:srgbClr val="060606"/>
                    </a:solidFill>
                  </a:rPr>
                  <a:t> </a:t>
                </a:r>
                <a:r>
                  <a:rPr lang="zh-CN" altLang="en-US" sz="2400" dirty="0">
                    <a:solidFill>
                      <a:srgbClr val="060606"/>
                    </a:solidFill>
                  </a:rPr>
                  <a:t>为</a:t>
                </a:r>
                <a:r>
                  <a:rPr lang="en-US" altLang="zh-CN" sz="2400" dirty="0">
                    <a:solidFill>
                      <a:srgbClr val="060606"/>
                    </a:solidFill>
                  </a:rPr>
                  <a:t> 0</a:t>
                </a:r>
                <a:endParaRPr lang="zh-CN" altLang="en-US" dirty="0"/>
              </a:p>
            </p:txBody>
          </p:sp>
        </p:grpSp>
        <p:sp>
          <p:nvSpPr>
            <p:cNvPr id="19" name="矩形 3"/>
            <p:cNvSpPr/>
            <p:nvPr/>
          </p:nvSpPr>
          <p:spPr>
            <a:xfrm>
              <a:off x="5687616" y="5373216"/>
              <a:ext cx="3456384" cy="584775"/>
            </a:xfrm>
            <a:prstGeom prst="rect">
              <a:avLst/>
            </a:prstGeom>
          </p:spPr>
          <p:txBody>
            <a:bodyPr wrap="square">
              <a:spAutoFit/>
            </a:bodyPr>
            <a:lstStyle/>
            <a:p>
              <a:r>
                <a:rPr lang="en-US" altLang="zh-CN" sz="3200" dirty="0">
                  <a:solidFill>
                    <a:srgbClr val="060606"/>
                  </a:solidFill>
                </a:rPr>
                <a:t>(i)  </a:t>
              </a:r>
              <a:r>
                <a:rPr lang="en-US" altLang="zh-CN" sz="3200" dirty="0" err="1">
                  <a:solidFill>
                    <a:srgbClr val="060606"/>
                  </a:solidFill>
                </a:rPr>
                <a:t>a</a:t>
              </a:r>
              <a:r>
                <a:rPr lang="en-US" altLang="zh-CN" sz="3200" baseline="-25000" dirty="0" err="1">
                  <a:solidFill>
                    <a:srgbClr val="060606"/>
                  </a:solidFill>
                </a:rPr>
                <a:t>ik</a:t>
              </a:r>
              <a:r>
                <a:rPr lang="en-US" altLang="zh-CN" sz="3200" dirty="0" err="1">
                  <a:solidFill>
                    <a:srgbClr val="060606"/>
                  </a:solidFill>
                </a:rPr>
                <a:t>x</a:t>
              </a:r>
              <a:r>
                <a:rPr lang="en-US" altLang="zh-CN" sz="3200" baseline="-25000" dirty="0" err="1">
                  <a:solidFill>
                    <a:srgbClr val="060606"/>
                  </a:solidFill>
                </a:rPr>
                <a:t>k</a:t>
              </a:r>
              <a:r>
                <a:rPr lang="en-US" altLang="zh-CN" sz="3200" dirty="0">
                  <a:solidFill>
                    <a:srgbClr val="060606"/>
                  </a:solidFill>
                </a:rPr>
                <a:t> + </a:t>
              </a:r>
              <a:r>
                <a:rPr lang="en-US" altLang="zh-CN" sz="3200" dirty="0" err="1">
                  <a:solidFill>
                    <a:srgbClr val="060606"/>
                  </a:solidFill>
                </a:rPr>
                <a:t>x</a:t>
              </a:r>
              <a:r>
                <a:rPr lang="en-US" altLang="zh-CN" sz="3200" baseline="-25000" dirty="0" err="1">
                  <a:solidFill>
                    <a:srgbClr val="060606"/>
                  </a:solidFill>
                </a:rPr>
                <a:t>si</a:t>
              </a:r>
              <a:r>
                <a:rPr lang="en-US" altLang="zh-CN" sz="3200" dirty="0">
                  <a:solidFill>
                    <a:srgbClr val="060606"/>
                  </a:solidFill>
                </a:rPr>
                <a:t> =  b</a:t>
              </a:r>
              <a:r>
                <a:rPr lang="en-US" altLang="zh-CN" sz="3200" baseline="-25000" dirty="0">
                  <a:solidFill>
                    <a:srgbClr val="060606"/>
                  </a:solidFill>
                </a:rPr>
                <a:t>i</a:t>
              </a:r>
              <a:endParaRPr lang="zh-CN" altLang="en-US" sz="3200" dirty="0">
                <a:solidFill>
                  <a:srgbClr val="060606"/>
                </a:solidFill>
              </a:endParaRPr>
            </a:p>
          </p:txBody>
        </p:sp>
        <p:sp>
          <p:nvSpPr>
            <p:cNvPr id="20" name="矩形 3"/>
            <p:cNvSpPr/>
            <p:nvPr/>
          </p:nvSpPr>
          <p:spPr>
            <a:xfrm>
              <a:off x="5687616" y="5877272"/>
              <a:ext cx="3456384" cy="584775"/>
            </a:xfrm>
            <a:prstGeom prst="rect">
              <a:avLst/>
            </a:prstGeom>
          </p:spPr>
          <p:txBody>
            <a:bodyPr wrap="square">
              <a:spAutoFit/>
            </a:bodyPr>
            <a:lstStyle/>
            <a:p>
              <a:r>
                <a:rPr lang="zh-CN" altLang="en-US" sz="3200" dirty="0">
                  <a:solidFill>
                    <a:srgbClr val="060606"/>
                  </a:solidFill>
                </a:rPr>
                <a:t>或</a:t>
              </a:r>
              <a:r>
                <a:rPr lang="en-US" altLang="zh-CN" sz="3200" dirty="0">
                  <a:solidFill>
                    <a:srgbClr val="060606"/>
                  </a:solidFill>
                </a:rPr>
                <a:t>(i) </a:t>
              </a:r>
              <a:r>
                <a:rPr lang="en-US" altLang="zh-CN" sz="3200" dirty="0" err="1">
                  <a:solidFill>
                    <a:srgbClr val="060606"/>
                  </a:solidFill>
                </a:rPr>
                <a:t>x</a:t>
              </a:r>
              <a:r>
                <a:rPr lang="en-US" altLang="zh-CN" sz="3200" baseline="-25000" dirty="0" err="1">
                  <a:solidFill>
                    <a:srgbClr val="060606"/>
                  </a:solidFill>
                </a:rPr>
                <a:t>si</a:t>
              </a:r>
              <a:r>
                <a:rPr lang="en-US" altLang="zh-CN" sz="3200" dirty="0">
                  <a:solidFill>
                    <a:srgbClr val="060606"/>
                  </a:solidFill>
                </a:rPr>
                <a:t> =  b</a:t>
              </a:r>
              <a:r>
                <a:rPr lang="en-US" altLang="zh-CN" sz="3200" baseline="-25000" dirty="0">
                  <a:solidFill>
                    <a:srgbClr val="060606"/>
                  </a:solidFill>
                </a:rPr>
                <a:t>i</a:t>
              </a:r>
              <a:r>
                <a:rPr lang="en-US" altLang="zh-CN" sz="3200" dirty="0">
                  <a:solidFill>
                    <a:srgbClr val="060606"/>
                  </a:solidFill>
                </a:rPr>
                <a:t> - </a:t>
              </a:r>
              <a:r>
                <a:rPr lang="en-US" altLang="zh-CN" sz="3200" dirty="0" err="1">
                  <a:solidFill>
                    <a:srgbClr val="060606"/>
                  </a:solidFill>
                </a:rPr>
                <a:t>a</a:t>
              </a:r>
              <a:r>
                <a:rPr lang="en-US" altLang="zh-CN" sz="3200" baseline="-25000" dirty="0" err="1">
                  <a:solidFill>
                    <a:srgbClr val="060606"/>
                  </a:solidFill>
                </a:rPr>
                <a:t>ik</a:t>
              </a:r>
              <a:r>
                <a:rPr lang="en-US" altLang="zh-CN" sz="3200" dirty="0" err="1">
                  <a:solidFill>
                    <a:srgbClr val="060606"/>
                  </a:solidFill>
                </a:rPr>
                <a:t>x</a:t>
              </a:r>
              <a:r>
                <a:rPr lang="en-US" altLang="zh-CN" sz="3200" baseline="-25000" dirty="0" err="1">
                  <a:solidFill>
                    <a:srgbClr val="060606"/>
                  </a:solidFill>
                </a:rPr>
                <a:t>k</a:t>
              </a:r>
              <a:r>
                <a:rPr lang="en-US" altLang="zh-CN" sz="3200" dirty="0">
                  <a:solidFill>
                    <a:srgbClr val="060606"/>
                  </a:solidFill>
                </a:rPr>
                <a:t> </a:t>
              </a:r>
              <a:endParaRPr lang="zh-CN" altLang="en-US" sz="3200" dirty="0">
                <a:solidFill>
                  <a:srgbClr val="060606"/>
                </a:solidFill>
              </a:endParaRPr>
            </a:p>
          </p:txBody>
        </p:sp>
      </p:gr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bwMode="auto">
          <a:xfrm>
            <a:off x="8004795" y="404664"/>
            <a:ext cx="3491880" cy="288032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2" name="内容占位符 2"/>
          <p:cNvSpPr txBox="1"/>
          <p:nvPr/>
        </p:nvSpPr>
        <p:spPr bwMode="auto">
          <a:xfrm>
            <a:off x="33717" y="89118"/>
            <a:ext cx="10375776"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zh-CN" altLang="en-US" sz="3200" dirty="0">
                <a:solidFill>
                  <a:srgbClr val="00000C"/>
                </a:solidFill>
              </a:rPr>
              <a:t>请同学们做：确定换出变量？</a:t>
            </a:r>
            <a:endParaRPr lang="en-US" altLang="zh-CN" sz="3200" dirty="0">
              <a:solidFill>
                <a:srgbClr val="00000C"/>
              </a:solidFill>
            </a:endParaRPr>
          </a:p>
        </p:txBody>
      </p:sp>
      <p:grpSp>
        <p:nvGrpSpPr>
          <p:cNvPr id="14" name="组合 13"/>
          <p:cNvGrpSpPr/>
          <p:nvPr/>
        </p:nvGrpSpPr>
        <p:grpSpPr>
          <a:xfrm>
            <a:off x="533400" y="1105581"/>
            <a:ext cx="11611764" cy="5059914"/>
            <a:chOff x="395536" y="1196752"/>
            <a:chExt cx="10178618" cy="5059914"/>
          </a:xfrm>
        </p:grpSpPr>
        <p:sp>
          <p:nvSpPr>
            <p:cNvPr id="4" name="矩形 3"/>
            <p:cNvSpPr/>
            <p:nvPr/>
          </p:nvSpPr>
          <p:spPr>
            <a:xfrm>
              <a:off x="395536" y="1556792"/>
              <a:ext cx="2688557" cy="523220"/>
            </a:xfrm>
            <a:prstGeom prst="rect">
              <a:avLst/>
            </a:prstGeom>
          </p:spPr>
          <p:txBody>
            <a:bodyPr wrap="none">
              <a:spAutoFit/>
            </a:bodyPr>
            <a:lstStyle/>
            <a:p>
              <a:r>
                <a:rPr lang="zh-CN" altLang="en-US" sz="2800" dirty="0">
                  <a:solidFill>
                    <a:srgbClr val="060606"/>
                  </a:solidFill>
                </a:rPr>
                <a:t>（</a:t>
              </a:r>
              <a:r>
                <a:rPr lang="en-US" altLang="zh-CN" sz="2800" dirty="0">
                  <a:solidFill>
                    <a:srgbClr val="060606"/>
                  </a:solidFill>
                </a:rPr>
                <a:t>1</a:t>
              </a:r>
              <a:r>
                <a:rPr lang="zh-CN" altLang="en-US" sz="2800" dirty="0">
                  <a:solidFill>
                    <a:srgbClr val="060606"/>
                  </a:solidFill>
                </a:rPr>
                <a:t>）</a:t>
              </a:r>
              <a:r>
                <a:rPr lang="en-US" altLang="zh-CN" sz="2800" dirty="0">
                  <a:solidFill>
                    <a:srgbClr val="060606"/>
                  </a:solidFill>
                </a:rPr>
                <a:t> x</a:t>
              </a:r>
              <a:r>
                <a:rPr lang="en-US" altLang="zh-CN" sz="2800" baseline="-25000" dirty="0">
                  <a:solidFill>
                    <a:srgbClr val="060606"/>
                  </a:solidFill>
                </a:rPr>
                <a:t>1 </a:t>
              </a:r>
              <a:r>
                <a:rPr lang="en-US" altLang="zh-CN" sz="2800" dirty="0">
                  <a:solidFill>
                    <a:srgbClr val="060606"/>
                  </a:solidFill>
                </a:rPr>
                <a:t>+ x</a:t>
              </a:r>
              <a:r>
                <a:rPr lang="en-US" altLang="zh-CN" sz="2800" baseline="-25000" dirty="0">
                  <a:solidFill>
                    <a:srgbClr val="060606"/>
                  </a:solidFill>
                </a:rPr>
                <a:t>3</a:t>
              </a:r>
              <a:r>
                <a:rPr lang="en-US" altLang="zh-CN" sz="2800" dirty="0">
                  <a:solidFill>
                    <a:srgbClr val="060606"/>
                  </a:solidFill>
                </a:rPr>
                <a:t>= 4</a:t>
              </a:r>
              <a:endParaRPr lang="zh-CN" altLang="en-US" sz="2800" dirty="0"/>
            </a:p>
          </p:txBody>
        </p:sp>
        <p:sp>
          <p:nvSpPr>
            <p:cNvPr id="5" name="矩形 4"/>
            <p:cNvSpPr/>
            <p:nvPr/>
          </p:nvSpPr>
          <p:spPr>
            <a:xfrm>
              <a:off x="395536" y="2420888"/>
              <a:ext cx="3975768" cy="523220"/>
            </a:xfrm>
            <a:prstGeom prst="rect">
              <a:avLst/>
            </a:prstGeom>
          </p:spPr>
          <p:txBody>
            <a:bodyPr wrap="none">
              <a:spAutoFit/>
            </a:bodyPr>
            <a:lstStyle/>
            <a:p>
              <a:r>
                <a:rPr lang="zh-CN" altLang="en-US" sz="2800" dirty="0">
                  <a:solidFill>
                    <a:srgbClr val="060606"/>
                  </a:solidFill>
                </a:rPr>
                <a:t>（</a:t>
              </a:r>
              <a:r>
                <a:rPr lang="en-US" altLang="zh-CN" sz="2800" dirty="0">
                  <a:solidFill>
                    <a:srgbClr val="060606"/>
                  </a:solidFill>
                </a:rPr>
                <a:t>3</a:t>
              </a:r>
              <a:r>
                <a:rPr lang="zh-CN" altLang="en-US" sz="2800" dirty="0">
                  <a:solidFill>
                    <a:srgbClr val="060606"/>
                  </a:solidFill>
                </a:rPr>
                <a:t>）</a:t>
              </a:r>
              <a:r>
                <a:rPr lang="en-US" altLang="zh-CN" sz="2800" dirty="0">
                  <a:solidFill>
                    <a:srgbClr val="060606"/>
                  </a:solidFill>
                </a:rPr>
                <a:t> 3x</a:t>
              </a:r>
              <a:r>
                <a:rPr lang="en-US" altLang="zh-CN" sz="2800" baseline="-25000" dirty="0">
                  <a:solidFill>
                    <a:srgbClr val="060606"/>
                  </a:solidFill>
                </a:rPr>
                <a:t>1</a:t>
              </a:r>
              <a:r>
                <a:rPr lang="en-US" altLang="zh-CN" sz="2800" dirty="0">
                  <a:solidFill>
                    <a:srgbClr val="060606"/>
                  </a:solidFill>
                </a:rPr>
                <a:t>+2x</a:t>
              </a:r>
              <a:r>
                <a:rPr lang="en-US" altLang="zh-CN" sz="2800" baseline="-25000" dirty="0">
                  <a:solidFill>
                    <a:srgbClr val="060606"/>
                  </a:solidFill>
                </a:rPr>
                <a:t>2</a:t>
              </a:r>
              <a:r>
                <a:rPr lang="en-US" altLang="zh-CN" sz="2800" dirty="0">
                  <a:solidFill>
                    <a:srgbClr val="060606"/>
                  </a:solidFill>
                </a:rPr>
                <a:t> + x</a:t>
              </a:r>
              <a:r>
                <a:rPr lang="en-US" altLang="zh-CN" sz="2800" baseline="-25000" dirty="0">
                  <a:solidFill>
                    <a:srgbClr val="060606"/>
                  </a:solidFill>
                </a:rPr>
                <a:t>5 </a:t>
              </a:r>
              <a:r>
                <a:rPr lang="en-US" altLang="zh-CN" sz="2800" dirty="0">
                  <a:solidFill>
                    <a:srgbClr val="060606"/>
                  </a:solidFill>
                </a:rPr>
                <a:t> = 18</a:t>
              </a:r>
              <a:endParaRPr lang="zh-CN" altLang="en-US" sz="2800" dirty="0"/>
            </a:p>
          </p:txBody>
        </p:sp>
        <p:sp>
          <p:nvSpPr>
            <p:cNvPr id="6" name="矩形 5"/>
            <p:cNvSpPr/>
            <p:nvPr/>
          </p:nvSpPr>
          <p:spPr>
            <a:xfrm>
              <a:off x="395536" y="1988840"/>
              <a:ext cx="3098925" cy="523220"/>
            </a:xfrm>
            <a:prstGeom prst="rect">
              <a:avLst/>
            </a:prstGeom>
          </p:spPr>
          <p:txBody>
            <a:bodyPr wrap="none">
              <a:spAutoFit/>
            </a:bodyPr>
            <a:lstStyle/>
            <a:p>
              <a:r>
                <a:rPr lang="zh-CN" altLang="en-US" sz="2800" dirty="0">
                  <a:solidFill>
                    <a:srgbClr val="060606"/>
                  </a:solidFill>
                </a:rPr>
                <a:t>（</a:t>
              </a:r>
              <a:r>
                <a:rPr lang="en-US" altLang="zh-CN" sz="2800" dirty="0">
                  <a:solidFill>
                    <a:srgbClr val="060606"/>
                  </a:solidFill>
                </a:rPr>
                <a:t>2</a:t>
              </a:r>
              <a:r>
                <a:rPr lang="zh-CN" altLang="en-US" sz="2800" dirty="0">
                  <a:solidFill>
                    <a:srgbClr val="060606"/>
                  </a:solidFill>
                </a:rPr>
                <a:t>）</a:t>
              </a:r>
              <a:r>
                <a:rPr lang="en-US" altLang="zh-CN" sz="2800" dirty="0">
                  <a:solidFill>
                    <a:srgbClr val="060606"/>
                  </a:solidFill>
                </a:rPr>
                <a:t> 2x</a:t>
              </a:r>
              <a:r>
                <a:rPr lang="en-US" altLang="zh-CN" sz="2800" baseline="-25000" dirty="0">
                  <a:solidFill>
                    <a:srgbClr val="060606"/>
                  </a:solidFill>
                </a:rPr>
                <a:t>2</a:t>
              </a:r>
              <a:r>
                <a:rPr lang="en-US" altLang="zh-CN" sz="2800" dirty="0">
                  <a:solidFill>
                    <a:srgbClr val="060606"/>
                  </a:solidFill>
                </a:rPr>
                <a:t>  +x</a:t>
              </a:r>
              <a:r>
                <a:rPr lang="en-US" altLang="zh-CN" sz="2800" baseline="-25000" dirty="0">
                  <a:solidFill>
                    <a:srgbClr val="060606"/>
                  </a:solidFill>
                </a:rPr>
                <a:t>4</a:t>
              </a:r>
              <a:r>
                <a:rPr lang="en-US" altLang="zh-CN" sz="2800" dirty="0">
                  <a:solidFill>
                    <a:srgbClr val="060606"/>
                  </a:solidFill>
                </a:rPr>
                <a:t> =12</a:t>
              </a:r>
              <a:endParaRPr lang="zh-CN" altLang="en-US" sz="2800" dirty="0">
                <a:solidFill>
                  <a:srgbClr val="060606"/>
                </a:solidFill>
              </a:endParaRPr>
            </a:p>
          </p:txBody>
        </p:sp>
        <p:sp>
          <p:nvSpPr>
            <p:cNvPr id="7" name="矩形 6"/>
            <p:cNvSpPr/>
            <p:nvPr/>
          </p:nvSpPr>
          <p:spPr>
            <a:xfrm>
              <a:off x="3491880" y="3573016"/>
              <a:ext cx="7082274" cy="523220"/>
            </a:xfrm>
            <a:prstGeom prst="rect">
              <a:avLst/>
            </a:prstGeom>
          </p:spPr>
          <p:txBody>
            <a:bodyPr wrap="none">
              <a:spAutoFit/>
            </a:bodyPr>
            <a:lstStyle/>
            <a:p>
              <a:r>
                <a:rPr lang="zh-CN" altLang="en-US" sz="2800" dirty="0">
                  <a:solidFill>
                    <a:srgbClr val="060606"/>
                  </a:solidFill>
                </a:rPr>
                <a:t>（</a:t>
              </a:r>
              <a:r>
                <a:rPr lang="en-US" altLang="zh-CN" sz="2800" dirty="0">
                  <a:solidFill>
                    <a:srgbClr val="060606"/>
                  </a:solidFill>
                </a:rPr>
                <a:t>1</a:t>
              </a:r>
              <a:r>
                <a:rPr lang="zh-CN" altLang="en-US" sz="2800" dirty="0">
                  <a:solidFill>
                    <a:srgbClr val="060606"/>
                  </a:solidFill>
                </a:rPr>
                <a:t>）</a:t>
              </a:r>
              <a:r>
                <a:rPr lang="en-US" altLang="zh-CN" sz="2800" dirty="0">
                  <a:solidFill>
                    <a:srgbClr val="060606"/>
                  </a:solidFill>
                </a:rPr>
                <a:t> x</a:t>
              </a:r>
              <a:r>
                <a:rPr lang="en-US" altLang="zh-CN" sz="2800" baseline="-25000" dirty="0">
                  <a:solidFill>
                    <a:srgbClr val="060606"/>
                  </a:solidFill>
                </a:rPr>
                <a:t>3</a:t>
              </a:r>
              <a:r>
                <a:rPr lang="en-US" altLang="zh-CN" sz="2800" dirty="0">
                  <a:solidFill>
                    <a:srgbClr val="060606"/>
                  </a:solidFill>
                </a:rPr>
                <a:t>= 4   </a:t>
              </a:r>
              <a:r>
                <a:rPr lang="en-US" altLang="zh-CN" sz="2800" dirty="0">
                  <a:solidFill>
                    <a:srgbClr val="060606"/>
                  </a:solidFill>
                  <a:latin typeface="+mn-ea"/>
                </a:rPr>
                <a:t>=&gt;</a:t>
              </a:r>
              <a:r>
                <a:rPr lang="el-GR" altLang="zh-CN" sz="2800" dirty="0">
                  <a:solidFill>
                    <a:srgbClr val="060606"/>
                  </a:solidFill>
                  <a:latin typeface="+mn-ea"/>
                </a:rPr>
                <a:t> θ</a:t>
              </a:r>
              <a:r>
                <a:rPr lang="en-US" altLang="zh-CN" sz="2800" baseline="-25000" dirty="0">
                  <a:solidFill>
                    <a:srgbClr val="060606"/>
                  </a:solidFill>
                  <a:latin typeface="+mn-ea"/>
                </a:rPr>
                <a:t>3</a:t>
              </a:r>
              <a:r>
                <a:rPr lang="en-US" altLang="zh-CN" sz="2800" dirty="0">
                  <a:solidFill>
                    <a:srgbClr val="060606"/>
                  </a:solidFill>
                  <a:latin typeface="+mn-ea"/>
                </a:rPr>
                <a:t> = </a:t>
              </a:r>
              <a:r>
                <a:rPr lang="zh-CN" altLang="en-US" sz="2800" dirty="0">
                  <a:solidFill>
                    <a:srgbClr val="060606"/>
                  </a:solidFill>
                  <a:latin typeface="+mn-ea"/>
                </a:rPr>
                <a:t>无上界</a:t>
              </a:r>
              <a:r>
                <a:rPr lang="en-US" altLang="zh-CN" sz="2800" dirty="0">
                  <a:solidFill>
                    <a:srgbClr val="060606"/>
                  </a:solidFill>
                  <a:latin typeface="+mn-ea"/>
                </a:rPr>
                <a:t>(</a:t>
              </a:r>
              <a:r>
                <a:rPr lang="zh-CN" altLang="en-US" sz="2800" dirty="0">
                  <a:solidFill>
                    <a:srgbClr val="060606"/>
                  </a:solidFill>
                  <a:latin typeface="+mn-ea"/>
                </a:rPr>
                <a:t>即该资源对</a:t>
              </a:r>
              <a:r>
                <a:rPr lang="en-US" altLang="zh-CN" sz="2800" dirty="0">
                  <a:solidFill>
                    <a:srgbClr val="060606"/>
                  </a:solidFill>
                </a:rPr>
                <a:t>x</a:t>
              </a:r>
              <a:r>
                <a:rPr lang="en-US" altLang="zh-CN" sz="2800" baseline="-25000" dirty="0">
                  <a:solidFill>
                    <a:srgbClr val="060606"/>
                  </a:solidFill>
                </a:rPr>
                <a:t>2</a:t>
              </a:r>
              <a:r>
                <a:rPr lang="zh-CN" altLang="en-US" sz="2800" dirty="0">
                  <a:solidFill>
                    <a:srgbClr val="060606"/>
                  </a:solidFill>
                  <a:latin typeface="+mn-ea"/>
                </a:rPr>
                <a:t>无约束</a:t>
              </a:r>
              <a:r>
                <a:rPr lang="en-US" altLang="zh-CN" sz="2800" dirty="0">
                  <a:solidFill>
                    <a:srgbClr val="060606"/>
                  </a:solidFill>
                  <a:latin typeface="+mn-ea"/>
                </a:rPr>
                <a:t>)</a:t>
              </a:r>
              <a:endParaRPr lang="zh-CN" altLang="en-US" sz="2800" dirty="0">
                <a:latin typeface="+mn-ea"/>
              </a:endParaRPr>
            </a:p>
          </p:txBody>
        </p:sp>
        <p:sp>
          <p:nvSpPr>
            <p:cNvPr id="8" name="矩形 7"/>
            <p:cNvSpPr/>
            <p:nvPr/>
          </p:nvSpPr>
          <p:spPr>
            <a:xfrm>
              <a:off x="3491880" y="4437112"/>
              <a:ext cx="5630067" cy="523220"/>
            </a:xfrm>
            <a:prstGeom prst="rect">
              <a:avLst/>
            </a:prstGeom>
          </p:spPr>
          <p:txBody>
            <a:bodyPr wrap="none">
              <a:spAutoFit/>
            </a:bodyPr>
            <a:lstStyle/>
            <a:p>
              <a:r>
                <a:rPr lang="zh-CN" altLang="en-US" sz="2800" dirty="0">
                  <a:solidFill>
                    <a:srgbClr val="060606"/>
                  </a:solidFill>
                </a:rPr>
                <a:t>（</a:t>
              </a:r>
              <a:r>
                <a:rPr lang="en-US" altLang="zh-CN" sz="2800" dirty="0">
                  <a:solidFill>
                    <a:srgbClr val="060606"/>
                  </a:solidFill>
                </a:rPr>
                <a:t>3</a:t>
              </a:r>
              <a:r>
                <a:rPr lang="zh-CN" altLang="en-US" sz="2800" dirty="0">
                  <a:solidFill>
                    <a:srgbClr val="060606"/>
                  </a:solidFill>
                </a:rPr>
                <a:t>）</a:t>
              </a:r>
              <a:r>
                <a:rPr lang="en-US" altLang="zh-CN" sz="2800" dirty="0">
                  <a:solidFill>
                    <a:srgbClr val="060606"/>
                  </a:solidFill>
                </a:rPr>
                <a:t> x</a:t>
              </a:r>
              <a:r>
                <a:rPr lang="en-US" altLang="zh-CN" sz="2800" baseline="-25000" dirty="0">
                  <a:solidFill>
                    <a:srgbClr val="060606"/>
                  </a:solidFill>
                </a:rPr>
                <a:t>5 </a:t>
              </a:r>
              <a:r>
                <a:rPr lang="en-US" altLang="zh-CN" sz="2800" dirty="0">
                  <a:solidFill>
                    <a:srgbClr val="060606"/>
                  </a:solidFill>
                </a:rPr>
                <a:t> = 18-2x</a:t>
              </a:r>
              <a:r>
                <a:rPr lang="en-US" altLang="zh-CN" sz="2800" baseline="-25000" dirty="0">
                  <a:solidFill>
                    <a:srgbClr val="060606"/>
                  </a:solidFill>
                </a:rPr>
                <a:t>2</a:t>
              </a:r>
              <a:r>
                <a:rPr lang="en-US" altLang="zh-CN" sz="2800" dirty="0">
                  <a:solidFill>
                    <a:srgbClr val="060606"/>
                  </a:solidFill>
                  <a:latin typeface="+mn-ea"/>
                </a:rPr>
                <a:t> =&gt;</a:t>
              </a:r>
              <a:r>
                <a:rPr lang="el-GR" altLang="zh-CN" sz="2800" dirty="0">
                  <a:solidFill>
                    <a:srgbClr val="060606"/>
                  </a:solidFill>
                  <a:latin typeface="+mn-ea"/>
                </a:rPr>
                <a:t> θ</a:t>
              </a:r>
              <a:r>
                <a:rPr lang="en-US" altLang="zh-CN" sz="2800" baseline="-25000" dirty="0">
                  <a:solidFill>
                    <a:srgbClr val="060606"/>
                  </a:solidFill>
                  <a:latin typeface="+mn-ea"/>
                </a:rPr>
                <a:t>5</a:t>
              </a:r>
              <a:r>
                <a:rPr lang="en-US" altLang="zh-CN" sz="2800" dirty="0">
                  <a:solidFill>
                    <a:srgbClr val="060606"/>
                  </a:solidFill>
                  <a:latin typeface="+mn-ea"/>
                </a:rPr>
                <a:t> = 18/2=9</a:t>
              </a:r>
              <a:endParaRPr lang="zh-CN" altLang="en-US" sz="2800" dirty="0"/>
            </a:p>
          </p:txBody>
        </p:sp>
        <p:sp>
          <p:nvSpPr>
            <p:cNvPr id="9" name="矩形 8"/>
            <p:cNvSpPr/>
            <p:nvPr/>
          </p:nvSpPr>
          <p:spPr>
            <a:xfrm>
              <a:off x="3491880" y="4005064"/>
              <a:ext cx="5493812" cy="523220"/>
            </a:xfrm>
            <a:prstGeom prst="rect">
              <a:avLst/>
            </a:prstGeom>
          </p:spPr>
          <p:txBody>
            <a:bodyPr wrap="none">
              <a:spAutoFit/>
            </a:bodyPr>
            <a:lstStyle/>
            <a:p>
              <a:r>
                <a:rPr lang="zh-CN" altLang="en-US" sz="2800" dirty="0">
                  <a:solidFill>
                    <a:srgbClr val="060606"/>
                  </a:solidFill>
                </a:rPr>
                <a:t>（</a:t>
              </a:r>
              <a:r>
                <a:rPr lang="en-US" altLang="zh-CN" sz="2800" dirty="0">
                  <a:solidFill>
                    <a:srgbClr val="060606"/>
                  </a:solidFill>
                </a:rPr>
                <a:t>2</a:t>
              </a:r>
              <a:r>
                <a:rPr lang="zh-CN" altLang="en-US" sz="2800" dirty="0">
                  <a:solidFill>
                    <a:srgbClr val="060606"/>
                  </a:solidFill>
                </a:rPr>
                <a:t>）</a:t>
              </a:r>
              <a:r>
                <a:rPr lang="en-US" altLang="zh-CN" sz="2800" dirty="0">
                  <a:solidFill>
                    <a:srgbClr val="060606"/>
                  </a:solidFill>
                </a:rPr>
                <a:t> x</a:t>
              </a:r>
              <a:r>
                <a:rPr lang="en-US" altLang="zh-CN" sz="2800" baseline="-25000" dirty="0">
                  <a:solidFill>
                    <a:srgbClr val="060606"/>
                  </a:solidFill>
                </a:rPr>
                <a:t>4</a:t>
              </a:r>
              <a:r>
                <a:rPr lang="en-US" altLang="zh-CN" sz="2800" dirty="0">
                  <a:solidFill>
                    <a:srgbClr val="060606"/>
                  </a:solidFill>
                </a:rPr>
                <a:t> =12-2x</a:t>
              </a:r>
              <a:r>
                <a:rPr lang="en-US" altLang="zh-CN" sz="2800" baseline="-25000" dirty="0">
                  <a:solidFill>
                    <a:srgbClr val="060606"/>
                  </a:solidFill>
                </a:rPr>
                <a:t>2</a:t>
              </a:r>
              <a:r>
                <a:rPr lang="en-US" altLang="zh-CN" sz="2800" dirty="0">
                  <a:solidFill>
                    <a:srgbClr val="060606"/>
                  </a:solidFill>
                  <a:latin typeface="+mn-ea"/>
                </a:rPr>
                <a:t> =&gt;</a:t>
              </a:r>
              <a:r>
                <a:rPr lang="el-GR" altLang="zh-CN" sz="2800" dirty="0">
                  <a:solidFill>
                    <a:srgbClr val="060606"/>
                  </a:solidFill>
                  <a:latin typeface="+mn-ea"/>
                </a:rPr>
                <a:t> θ</a:t>
              </a:r>
              <a:r>
                <a:rPr lang="en-US" altLang="zh-CN" sz="2800" baseline="-25000" dirty="0">
                  <a:solidFill>
                    <a:srgbClr val="060606"/>
                  </a:solidFill>
                  <a:latin typeface="+mn-ea"/>
                </a:rPr>
                <a:t>4</a:t>
              </a:r>
              <a:r>
                <a:rPr lang="en-US" altLang="zh-CN" sz="2800" dirty="0">
                  <a:solidFill>
                    <a:srgbClr val="060606"/>
                  </a:solidFill>
                  <a:latin typeface="+mn-ea"/>
                </a:rPr>
                <a:t> = 12/2=6</a:t>
              </a:r>
              <a:endParaRPr lang="zh-CN" altLang="en-US" sz="2800" dirty="0">
                <a:solidFill>
                  <a:srgbClr val="060606"/>
                </a:solidFill>
              </a:endParaRPr>
            </a:p>
          </p:txBody>
        </p:sp>
        <p:sp>
          <p:nvSpPr>
            <p:cNvPr id="10" name="矩形 9"/>
            <p:cNvSpPr/>
            <p:nvPr/>
          </p:nvSpPr>
          <p:spPr>
            <a:xfrm>
              <a:off x="3851920" y="1196752"/>
              <a:ext cx="2173683" cy="1815882"/>
            </a:xfrm>
            <a:prstGeom prst="rect">
              <a:avLst/>
            </a:prstGeom>
          </p:spPr>
          <p:txBody>
            <a:bodyPr wrap="square">
              <a:spAutoFit/>
            </a:bodyPr>
            <a:lstStyle/>
            <a:p>
              <a:r>
                <a:rPr lang="en-US" altLang="zh-CN" sz="2800" dirty="0">
                  <a:solidFill>
                    <a:srgbClr val="060606"/>
                  </a:solidFill>
                </a:rPr>
                <a:t> x</a:t>
              </a:r>
              <a:r>
                <a:rPr lang="en-US" altLang="zh-CN" sz="2800" baseline="-25000" dirty="0">
                  <a:solidFill>
                    <a:srgbClr val="060606"/>
                  </a:solidFill>
                </a:rPr>
                <a:t>2</a:t>
              </a:r>
              <a:r>
                <a:rPr lang="zh-CN" altLang="en-US" sz="2800" dirty="0">
                  <a:solidFill>
                    <a:srgbClr val="060606"/>
                  </a:solidFill>
                </a:rPr>
                <a:t>为换入变</a:t>
              </a:r>
              <a:endParaRPr lang="en-US" altLang="zh-CN" sz="2800" dirty="0">
                <a:solidFill>
                  <a:srgbClr val="060606"/>
                </a:solidFill>
              </a:endParaRPr>
            </a:p>
            <a:p>
              <a:r>
                <a:rPr lang="zh-CN" altLang="en-US" sz="2800" dirty="0">
                  <a:solidFill>
                    <a:srgbClr val="060606"/>
                  </a:solidFill>
                </a:rPr>
                <a:t>量，令</a:t>
              </a:r>
              <a:r>
                <a:rPr lang="en-US" altLang="zh-CN" sz="2800" dirty="0">
                  <a:solidFill>
                    <a:srgbClr val="060606"/>
                  </a:solidFill>
                </a:rPr>
                <a:t>x</a:t>
              </a:r>
              <a:r>
                <a:rPr lang="en-US" altLang="zh-CN" sz="2800" baseline="-25000" dirty="0">
                  <a:solidFill>
                    <a:srgbClr val="060606"/>
                  </a:solidFill>
                </a:rPr>
                <a:t>1 </a:t>
              </a:r>
              <a:r>
                <a:rPr lang="en-US" altLang="zh-CN" sz="2800" dirty="0">
                  <a:solidFill>
                    <a:srgbClr val="060606"/>
                  </a:solidFill>
                </a:rPr>
                <a:t>=0</a:t>
              </a:r>
              <a:endParaRPr lang="en-US" altLang="zh-CN" sz="2800" dirty="0">
                <a:solidFill>
                  <a:srgbClr val="060606"/>
                </a:solidFill>
              </a:endParaRPr>
            </a:p>
            <a:p>
              <a:endParaRPr lang="en-US" altLang="zh-CN" sz="2800" dirty="0">
                <a:solidFill>
                  <a:srgbClr val="060606"/>
                </a:solidFill>
              </a:endParaRPr>
            </a:p>
            <a:p>
              <a:r>
                <a:rPr lang="en-US" altLang="zh-CN" sz="2400" dirty="0">
                  <a:solidFill>
                    <a:srgbClr val="060606"/>
                  </a:solidFill>
                </a:rPr>
                <a:t>(</a:t>
              </a:r>
              <a:r>
                <a:rPr lang="zh-CN" altLang="en-US" sz="2400" dirty="0">
                  <a:solidFill>
                    <a:srgbClr val="060606"/>
                  </a:solidFill>
                </a:rPr>
                <a:t>暂不安排</a:t>
              </a:r>
              <a:r>
                <a:rPr lang="en-US" altLang="zh-CN" sz="2400" dirty="0">
                  <a:solidFill>
                    <a:srgbClr val="060606"/>
                  </a:solidFill>
                </a:rPr>
                <a:t>)</a:t>
              </a:r>
              <a:endParaRPr lang="zh-CN" altLang="en-US" sz="2400" dirty="0"/>
            </a:p>
          </p:txBody>
        </p:sp>
        <p:sp>
          <p:nvSpPr>
            <p:cNvPr id="13" name="直角上箭头 12"/>
            <p:cNvSpPr/>
            <p:nvPr/>
          </p:nvSpPr>
          <p:spPr bwMode="auto">
            <a:xfrm flipV="1">
              <a:off x="3635896" y="2060848"/>
              <a:ext cx="2160240" cy="936104"/>
            </a:xfrm>
            <a:prstGeom prst="bentUpArrow">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800">
                <a:latin typeface="Arial" panose="020B0604020202090204" pitchFamily="34" charset="0"/>
                <a:ea typeface="宋体" panose="02010600030101010101" pitchFamily="2" charset="-122"/>
              </a:endParaRPr>
            </a:p>
          </p:txBody>
        </p:sp>
        <p:sp>
          <p:nvSpPr>
            <p:cNvPr id="15" name="矩形 14"/>
            <p:cNvSpPr/>
            <p:nvPr/>
          </p:nvSpPr>
          <p:spPr>
            <a:xfrm>
              <a:off x="3635896" y="5302559"/>
              <a:ext cx="5596404" cy="954107"/>
            </a:xfrm>
            <a:prstGeom prst="rect">
              <a:avLst/>
            </a:prstGeom>
          </p:spPr>
          <p:txBody>
            <a:bodyPr wrap="none">
              <a:spAutoFit/>
            </a:bodyPr>
            <a:lstStyle/>
            <a:p>
              <a:r>
                <a:rPr lang="en-US" altLang="zh-CN" sz="2800" dirty="0">
                  <a:solidFill>
                    <a:srgbClr val="060606"/>
                  </a:solidFill>
                  <a:latin typeface="+mn-ea"/>
                </a:rPr>
                <a:t>∵ (</a:t>
              </a:r>
              <a:r>
                <a:rPr lang="el-GR" altLang="zh-CN" sz="2800" dirty="0">
                  <a:solidFill>
                    <a:srgbClr val="060606"/>
                  </a:solidFill>
                  <a:latin typeface="+mn-ea"/>
                </a:rPr>
                <a:t>θ</a:t>
              </a:r>
              <a:r>
                <a:rPr lang="en-US" altLang="zh-CN" sz="2800" baseline="-25000" dirty="0">
                  <a:solidFill>
                    <a:srgbClr val="060606"/>
                  </a:solidFill>
                  <a:latin typeface="+mn-ea"/>
                </a:rPr>
                <a:t>4</a:t>
              </a:r>
              <a:r>
                <a:rPr lang="en-US" altLang="zh-CN" sz="2800" dirty="0">
                  <a:solidFill>
                    <a:srgbClr val="060606"/>
                  </a:solidFill>
                  <a:latin typeface="+mn-ea"/>
                </a:rPr>
                <a:t> =6 )&lt;</a:t>
              </a:r>
              <a:r>
                <a:rPr lang="el-GR" altLang="zh-CN" sz="2800" dirty="0">
                  <a:solidFill>
                    <a:srgbClr val="060606"/>
                  </a:solidFill>
                  <a:latin typeface="+mn-ea"/>
                </a:rPr>
                <a:t> </a:t>
              </a:r>
              <a:r>
                <a:rPr lang="en-US" altLang="zh-CN" sz="2800" dirty="0">
                  <a:solidFill>
                    <a:srgbClr val="060606"/>
                  </a:solidFill>
                  <a:latin typeface="+mn-ea"/>
                </a:rPr>
                <a:t>(</a:t>
              </a:r>
              <a:r>
                <a:rPr lang="el-GR" altLang="zh-CN" sz="2800" dirty="0">
                  <a:solidFill>
                    <a:srgbClr val="060606"/>
                  </a:solidFill>
                  <a:latin typeface="+mn-ea"/>
                </a:rPr>
                <a:t>θ</a:t>
              </a:r>
              <a:r>
                <a:rPr lang="en-US" altLang="zh-CN" sz="2800" baseline="-25000" dirty="0">
                  <a:solidFill>
                    <a:srgbClr val="060606"/>
                  </a:solidFill>
                  <a:latin typeface="+mn-ea"/>
                </a:rPr>
                <a:t>5</a:t>
              </a:r>
              <a:r>
                <a:rPr lang="en-US" altLang="zh-CN" sz="2800" dirty="0">
                  <a:solidFill>
                    <a:srgbClr val="060606"/>
                  </a:solidFill>
                  <a:latin typeface="+mn-ea"/>
                </a:rPr>
                <a:t> =9 )&lt;(</a:t>
              </a:r>
              <a:r>
                <a:rPr lang="el-GR" altLang="zh-CN" sz="2800" dirty="0">
                  <a:solidFill>
                    <a:srgbClr val="060606"/>
                  </a:solidFill>
                  <a:latin typeface="+mn-ea"/>
                </a:rPr>
                <a:t>θ</a:t>
              </a:r>
              <a:r>
                <a:rPr lang="en-US" altLang="zh-CN" sz="2800" baseline="-25000" dirty="0">
                  <a:solidFill>
                    <a:srgbClr val="060606"/>
                  </a:solidFill>
                  <a:latin typeface="+mn-ea"/>
                </a:rPr>
                <a:t>3</a:t>
              </a:r>
              <a:r>
                <a:rPr lang="en-US" altLang="zh-CN" sz="2800" dirty="0">
                  <a:solidFill>
                    <a:srgbClr val="060606"/>
                  </a:solidFill>
                  <a:latin typeface="+mn-ea"/>
                </a:rPr>
                <a:t> = </a:t>
              </a:r>
              <a:r>
                <a:rPr lang="zh-CN" altLang="en-US" sz="2800" dirty="0">
                  <a:solidFill>
                    <a:srgbClr val="060606"/>
                  </a:solidFill>
                  <a:latin typeface="+mn-ea"/>
                </a:rPr>
                <a:t>无上界</a:t>
              </a:r>
              <a:r>
                <a:rPr lang="en-US" altLang="zh-CN" sz="2800" dirty="0">
                  <a:solidFill>
                    <a:srgbClr val="060606"/>
                  </a:solidFill>
                  <a:latin typeface="+mn-ea"/>
                </a:rPr>
                <a:t>)</a:t>
              </a:r>
              <a:endParaRPr lang="en-US" altLang="zh-CN" sz="2800" dirty="0">
                <a:solidFill>
                  <a:srgbClr val="060606"/>
                </a:solidFill>
                <a:latin typeface="+mn-ea"/>
              </a:endParaRPr>
            </a:p>
            <a:p>
              <a:r>
                <a:rPr lang="en-US" altLang="zh-CN" sz="2800" dirty="0">
                  <a:solidFill>
                    <a:srgbClr val="060606"/>
                  </a:solidFill>
                  <a:latin typeface="+mn-ea"/>
                </a:rPr>
                <a:t>∴</a:t>
              </a:r>
              <a:r>
                <a:rPr lang="zh-CN" altLang="en-US" sz="2800" dirty="0">
                  <a:solidFill>
                    <a:srgbClr val="060606"/>
                  </a:solidFill>
                  <a:latin typeface="+mn-ea"/>
                </a:rPr>
                <a:t>确定</a:t>
              </a:r>
              <a:r>
                <a:rPr lang="en-US" altLang="zh-CN" sz="2800" dirty="0">
                  <a:solidFill>
                    <a:srgbClr val="060606"/>
                  </a:solidFill>
                </a:rPr>
                <a:t>x</a:t>
              </a:r>
              <a:r>
                <a:rPr lang="en-US" altLang="zh-CN" sz="2800" baseline="-25000" dirty="0">
                  <a:solidFill>
                    <a:srgbClr val="060606"/>
                  </a:solidFill>
                </a:rPr>
                <a:t>4</a:t>
              </a:r>
              <a:r>
                <a:rPr lang="zh-CN" altLang="en-US" sz="2800" dirty="0">
                  <a:solidFill>
                    <a:srgbClr val="060606"/>
                  </a:solidFill>
                  <a:latin typeface="+mn-ea"/>
                </a:rPr>
                <a:t>为换出变量</a:t>
              </a:r>
              <a:endParaRPr lang="zh-CN" altLang="en-US" sz="2800" dirty="0">
                <a:solidFill>
                  <a:srgbClr val="060606"/>
                </a:solidFill>
              </a:endParaRPr>
            </a:p>
          </p:txBody>
        </p:sp>
      </p:grpSp>
      <p:sp>
        <p:nvSpPr>
          <p:cNvPr id="16" name="灯片编号占位符 15"/>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17" name="组合 36"/>
          <p:cNvGrpSpPr/>
          <p:nvPr/>
        </p:nvGrpSpPr>
        <p:grpSpPr>
          <a:xfrm>
            <a:off x="8076803" y="476673"/>
            <a:ext cx="3600400" cy="2631197"/>
            <a:chOff x="3131840" y="4293096"/>
            <a:chExt cx="3600400" cy="2631197"/>
          </a:xfrm>
        </p:grpSpPr>
        <p:sp>
          <p:nvSpPr>
            <p:cNvPr id="18" name="矩形 17"/>
            <p:cNvSpPr/>
            <p:nvPr/>
          </p:nvSpPr>
          <p:spPr>
            <a:xfrm>
              <a:off x="3131840" y="4293096"/>
              <a:ext cx="3600400" cy="476541"/>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a:t>
              </a:r>
              <a:r>
                <a:rPr lang="zh-CN" altLang="en-US" sz="2400" dirty="0">
                  <a:solidFill>
                    <a:srgbClr val="060606"/>
                  </a:solidFill>
                </a:rPr>
                <a:t>－</a:t>
              </a:r>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5x</a:t>
              </a:r>
              <a:r>
                <a:rPr lang="en-US" altLang="zh-CN" sz="2400" baseline="-25000" dirty="0">
                  <a:solidFill>
                    <a:srgbClr val="060606"/>
                  </a:solidFill>
                </a:rPr>
                <a:t>2</a:t>
              </a:r>
              <a:r>
                <a:rPr lang="en-US" altLang="zh-CN" sz="2400" dirty="0">
                  <a:solidFill>
                    <a:srgbClr val="060606"/>
                  </a:solidFill>
                </a:rPr>
                <a:t> = 0 </a:t>
              </a:r>
              <a:endParaRPr lang="en-US" altLang="zh-CN" sz="2400" dirty="0">
                <a:solidFill>
                  <a:srgbClr val="060606"/>
                </a:solidFill>
              </a:endParaRPr>
            </a:p>
          </p:txBody>
        </p:sp>
        <p:sp>
          <p:nvSpPr>
            <p:cNvPr id="19" name="矩形 18"/>
            <p:cNvSpPr/>
            <p:nvPr/>
          </p:nvSpPr>
          <p:spPr>
            <a:xfrm>
              <a:off x="3131840" y="4725144"/>
              <a:ext cx="2332690"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4</a:t>
              </a:r>
              <a:endParaRPr lang="zh-CN" altLang="en-US" dirty="0"/>
            </a:p>
          </p:txBody>
        </p:sp>
        <p:sp>
          <p:nvSpPr>
            <p:cNvPr id="20" name="矩形 19"/>
            <p:cNvSpPr/>
            <p:nvPr/>
          </p:nvSpPr>
          <p:spPr>
            <a:xfrm>
              <a:off x="3131840" y="5589240"/>
              <a:ext cx="3437159"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x</a:t>
              </a:r>
              <a:r>
                <a:rPr lang="en-US" altLang="zh-CN" sz="2400" baseline="-25000" dirty="0">
                  <a:solidFill>
                    <a:srgbClr val="060606"/>
                  </a:solidFill>
                </a:rPr>
                <a:t>5 </a:t>
              </a:r>
              <a:r>
                <a:rPr lang="en-US" altLang="zh-CN" sz="2400" dirty="0">
                  <a:solidFill>
                    <a:srgbClr val="060606"/>
                  </a:solidFill>
                </a:rPr>
                <a:t> = 18</a:t>
              </a:r>
              <a:endParaRPr lang="zh-CN" altLang="en-US" dirty="0"/>
            </a:p>
          </p:txBody>
        </p:sp>
        <p:sp>
          <p:nvSpPr>
            <p:cNvPr id="21" name="矩形 20"/>
            <p:cNvSpPr/>
            <p:nvPr/>
          </p:nvSpPr>
          <p:spPr>
            <a:xfrm>
              <a:off x="3131840" y="6093296"/>
              <a:ext cx="3419872" cy="830997"/>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22" name="矩形 21"/>
            <p:cNvSpPr/>
            <p:nvPr/>
          </p:nvSpPr>
          <p:spPr>
            <a:xfrm>
              <a:off x="3131840" y="5157192"/>
              <a:ext cx="2685351"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2</a:t>
              </a:r>
              <a:r>
                <a:rPr lang="zh-CN" altLang="en-US" sz="2400" dirty="0">
                  <a:solidFill>
                    <a:srgbClr val="060606"/>
                  </a:solidFill>
                </a:rPr>
                <a:t>）</a:t>
              </a:r>
              <a:r>
                <a:rPr lang="en-US" altLang="zh-CN" sz="2400" dirty="0">
                  <a:solidFill>
                    <a:srgbClr val="060606"/>
                  </a:solidFill>
                </a:rPr>
                <a:t> 2x</a:t>
              </a:r>
              <a:r>
                <a:rPr lang="en-US" altLang="zh-CN" sz="2400" baseline="-25000" dirty="0">
                  <a:solidFill>
                    <a:srgbClr val="060606"/>
                  </a:solidFill>
                </a:rPr>
                <a:t>2</a:t>
              </a:r>
              <a:r>
                <a:rPr lang="en-US" altLang="zh-CN" sz="2400" dirty="0">
                  <a:solidFill>
                    <a:srgbClr val="060606"/>
                  </a:solidFill>
                </a:rPr>
                <a:t>  +x</a:t>
              </a:r>
              <a:r>
                <a:rPr lang="en-US" altLang="zh-CN" sz="2400" baseline="-25000" dirty="0">
                  <a:solidFill>
                    <a:srgbClr val="060606"/>
                  </a:solidFill>
                </a:rPr>
                <a:t>4</a:t>
              </a:r>
              <a:r>
                <a:rPr lang="en-US" altLang="zh-CN" sz="2400" dirty="0">
                  <a:solidFill>
                    <a:srgbClr val="060606"/>
                  </a:solidFill>
                </a:rPr>
                <a:t> =12</a:t>
              </a:r>
              <a:endParaRPr lang="zh-CN" altLang="en-US" sz="2400" dirty="0">
                <a:solidFill>
                  <a:srgbClr val="060606"/>
                </a:solidFill>
              </a:endParaRPr>
            </a:p>
          </p:txBody>
        </p:sp>
      </p:grpSp>
      <p:sp>
        <p:nvSpPr>
          <p:cNvPr id="24" name="TextBox 23"/>
          <p:cNvSpPr txBox="1"/>
          <p:nvPr/>
        </p:nvSpPr>
        <p:spPr>
          <a:xfrm>
            <a:off x="38100" y="4183559"/>
            <a:ext cx="2771800" cy="2585323"/>
          </a:xfrm>
          <a:prstGeom prst="rect">
            <a:avLst/>
          </a:prstGeom>
          <a:noFill/>
          <a:ln>
            <a:solidFill>
              <a:srgbClr val="00B050"/>
            </a:solidFill>
          </a:ln>
        </p:spPr>
        <p:txBody>
          <a:bodyPr wrap="square" rtlCol="0">
            <a:spAutoFit/>
          </a:bodyPr>
          <a:lstStyle/>
          <a:p>
            <a:r>
              <a:rPr lang="en-US" altLang="zh-CN" dirty="0">
                <a:solidFill>
                  <a:srgbClr val="FF0000"/>
                </a:solidFill>
                <a:latin typeface="+mn-ea"/>
              </a:rPr>
              <a:t>Tips</a:t>
            </a:r>
            <a:r>
              <a:rPr lang="zh-CN" altLang="en-US" dirty="0">
                <a:solidFill>
                  <a:srgbClr val="FF0000"/>
                </a:solidFill>
                <a:latin typeface="+mn-ea"/>
              </a:rPr>
              <a:t>：最小比值原则决定了基变量</a:t>
            </a:r>
            <a:r>
              <a:rPr lang="en-US" altLang="zh-CN" dirty="0" err="1">
                <a:solidFill>
                  <a:srgbClr val="FF0000"/>
                </a:solidFill>
                <a:latin typeface="+mn-ea"/>
              </a:rPr>
              <a:t>x</a:t>
            </a:r>
            <a:r>
              <a:rPr lang="en-US" altLang="zh-CN" baseline="-25000" dirty="0" err="1">
                <a:solidFill>
                  <a:srgbClr val="FF0000"/>
                </a:solidFill>
                <a:latin typeface="+mn-ea"/>
              </a:rPr>
              <a:t>sq</a:t>
            </a:r>
            <a:r>
              <a:rPr lang="zh-CN" altLang="en-US" dirty="0">
                <a:solidFill>
                  <a:srgbClr val="FF0000"/>
                </a:solidFill>
                <a:latin typeface="+mn-ea"/>
              </a:rPr>
              <a:t>最先到达</a:t>
            </a:r>
            <a:r>
              <a:rPr lang="en-US" altLang="zh-CN" dirty="0">
                <a:solidFill>
                  <a:srgbClr val="FF0000"/>
                </a:solidFill>
                <a:latin typeface="+mn-ea"/>
              </a:rPr>
              <a:t>0</a:t>
            </a:r>
            <a:r>
              <a:rPr lang="zh-CN" altLang="en-US" dirty="0">
                <a:solidFill>
                  <a:srgbClr val="FF0000"/>
                </a:solidFill>
                <a:latin typeface="+mn-ea"/>
              </a:rPr>
              <a:t>：</a:t>
            </a:r>
            <a:endParaRPr lang="en-US" altLang="zh-CN" dirty="0"/>
          </a:p>
          <a:p>
            <a:r>
              <a:rPr lang="zh-CN" altLang="en-US" dirty="0"/>
              <a:t>本</a:t>
            </a:r>
            <a:r>
              <a:rPr lang="en-US" altLang="zh-CN" dirty="0"/>
              <a:t>LPQ</a:t>
            </a:r>
            <a:r>
              <a:rPr lang="zh-CN" altLang="zh-CN" dirty="0"/>
              <a:t>最优解为</a:t>
            </a:r>
            <a:r>
              <a:rPr lang="en-US" altLang="zh-CN" dirty="0"/>
              <a:t>36</a:t>
            </a:r>
            <a:r>
              <a:rPr lang="zh-CN" altLang="en-US" dirty="0"/>
              <a:t>。若此时确定</a:t>
            </a:r>
            <a:r>
              <a:rPr lang="en-US" altLang="zh-CN" dirty="0"/>
              <a:t>x</a:t>
            </a:r>
            <a:r>
              <a:rPr lang="en-US" altLang="zh-CN" baseline="-25000" dirty="0"/>
              <a:t>5</a:t>
            </a:r>
            <a:r>
              <a:rPr lang="zh-CN" altLang="en-US" dirty="0"/>
              <a:t>为换出变量，得</a:t>
            </a:r>
            <a:r>
              <a:rPr lang="en-US" altLang="zh-CN" dirty="0"/>
              <a:t>Z=45</a:t>
            </a:r>
            <a:r>
              <a:rPr lang="zh-CN" altLang="en-US" dirty="0"/>
              <a:t>，相差</a:t>
            </a:r>
            <a:r>
              <a:rPr lang="en-US" altLang="zh-CN" dirty="0"/>
              <a:t>45-36 =9</a:t>
            </a:r>
            <a:r>
              <a:rPr lang="zh-CN" altLang="en-US" dirty="0"/>
              <a:t>；</a:t>
            </a:r>
            <a:endParaRPr lang="en-US" altLang="zh-CN" dirty="0"/>
          </a:p>
          <a:p>
            <a:r>
              <a:rPr lang="zh-CN" altLang="en-US" dirty="0"/>
              <a:t>而</a:t>
            </a:r>
            <a:r>
              <a:rPr lang="en-US" altLang="zh-CN" dirty="0"/>
              <a:t>x</a:t>
            </a:r>
            <a:r>
              <a:rPr lang="en-US" altLang="zh-CN" baseline="-25000" dirty="0"/>
              <a:t>4</a:t>
            </a:r>
            <a:r>
              <a:rPr lang="zh-CN" altLang="en-US" dirty="0"/>
              <a:t>为换出变量，得</a:t>
            </a:r>
            <a:r>
              <a:rPr lang="en-US" altLang="zh-CN" dirty="0"/>
              <a:t>Z=30</a:t>
            </a:r>
            <a:r>
              <a:rPr lang="zh-CN" altLang="en-US" dirty="0"/>
              <a:t>， ，相差</a:t>
            </a:r>
            <a:r>
              <a:rPr lang="en-US" altLang="zh-CN" dirty="0"/>
              <a:t>36-30 =6</a:t>
            </a:r>
            <a:r>
              <a:rPr lang="zh-CN" altLang="en-US" dirty="0"/>
              <a:t>；</a:t>
            </a:r>
            <a:endParaRPr lang="en-US" altLang="zh-CN" dirty="0"/>
          </a:p>
          <a:p>
            <a:r>
              <a:rPr lang="zh-CN" altLang="en-US" dirty="0"/>
              <a:t>说明换出</a:t>
            </a:r>
            <a:r>
              <a:rPr lang="en-US" altLang="zh-CN" dirty="0"/>
              <a:t>x</a:t>
            </a:r>
            <a:r>
              <a:rPr lang="en-US" altLang="zh-CN" baseline="-25000" dirty="0"/>
              <a:t>4</a:t>
            </a:r>
            <a:r>
              <a:rPr lang="zh-CN" altLang="en-US" dirty="0"/>
              <a:t>比</a:t>
            </a:r>
            <a:r>
              <a:rPr lang="en-US" altLang="zh-CN" dirty="0"/>
              <a:t>x</a:t>
            </a:r>
            <a:r>
              <a:rPr lang="en-US" altLang="zh-CN" baseline="-25000" dirty="0"/>
              <a:t>5</a:t>
            </a:r>
            <a:r>
              <a:rPr lang="zh-CN" altLang="en-US" dirty="0"/>
              <a:t>更快的接近最优解</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4">
                                            <p:txEl>
                                              <p:pRg st="0" end="0"/>
                                            </p:txEl>
                                          </p:spTgt>
                                        </p:tgtEl>
                                        <p:attrNameLst>
                                          <p:attrName>style.visibility</p:attrName>
                                        </p:attrNameLst>
                                      </p:cBhvr>
                                      <p:to>
                                        <p:strVal val="visible"/>
                                      </p:to>
                                    </p:set>
                                    <p:animEffect transition="in" filter="fade">
                                      <p:cBhvr>
                                        <p:cTn id="13" dur="2000"/>
                                        <p:tgtEl>
                                          <p:spTgt spid="24">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xEl>
                                              <p:pRg st="1" end="1"/>
                                            </p:txEl>
                                          </p:spTgt>
                                        </p:tgtEl>
                                        <p:attrNameLst>
                                          <p:attrName>style.visibility</p:attrName>
                                        </p:attrNameLst>
                                      </p:cBhvr>
                                      <p:to>
                                        <p:strVal val="visible"/>
                                      </p:to>
                                    </p:set>
                                    <p:animEffect transition="in" filter="fade">
                                      <p:cBhvr>
                                        <p:cTn id="16" dur="2000"/>
                                        <p:tgtEl>
                                          <p:spTgt spid="24">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xEl>
                                              <p:pRg st="2" end="2"/>
                                            </p:txEl>
                                          </p:spTgt>
                                        </p:tgtEl>
                                        <p:attrNameLst>
                                          <p:attrName>style.visibility</p:attrName>
                                        </p:attrNameLst>
                                      </p:cBhvr>
                                      <p:to>
                                        <p:strVal val="visible"/>
                                      </p:to>
                                    </p:set>
                                    <p:animEffect transition="in" filter="fade">
                                      <p:cBhvr>
                                        <p:cTn id="19" dur="2000"/>
                                        <p:tgtEl>
                                          <p:spTgt spid="24">
                                            <p:txEl>
                                              <p:pRg st="2" end="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xEl>
                                              <p:pRg st="3" end="3"/>
                                            </p:txEl>
                                          </p:spTgt>
                                        </p:tgtEl>
                                        <p:attrNameLst>
                                          <p:attrName>style.visibility</p:attrName>
                                        </p:attrNameLst>
                                      </p:cBhvr>
                                      <p:to>
                                        <p:strVal val="visible"/>
                                      </p:to>
                                    </p:set>
                                    <p:animEffect transition="in" filter="fade">
                                      <p:cBhvr>
                                        <p:cTn id="22" dur="2000"/>
                                        <p:tgtEl>
                                          <p:spTgt spid="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allAtOnce"/>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9550" y="44624"/>
            <a:ext cx="11830050" cy="1584176"/>
          </a:xfrm>
        </p:spPr>
        <p:txBody>
          <a:bodyPr/>
          <a:lstStyle/>
          <a:p>
            <a:pPr>
              <a:buNone/>
            </a:pPr>
            <a:r>
              <a:rPr lang="en-US" altLang="zh-CN" sz="2400" b="1" dirty="0">
                <a:solidFill>
                  <a:srgbClr val="060606"/>
                </a:solidFill>
              </a:rPr>
              <a:t>5.3.</a:t>
            </a:r>
            <a:r>
              <a:rPr lang="zh-CN" altLang="en-US" sz="2400" b="1" dirty="0">
                <a:solidFill>
                  <a:srgbClr val="060606"/>
                </a:solidFill>
              </a:rPr>
              <a:t>应用</a:t>
            </a:r>
            <a:r>
              <a:rPr lang="en-US" altLang="zh-CN" sz="2400" b="1" dirty="0">
                <a:solidFill>
                  <a:srgbClr val="060606"/>
                </a:solidFill>
              </a:rPr>
              <a:t>Gauss</a:t>
            </a:r>
            <a:r>
              <a:rPr lang="zh-CN" altLang="en-US" sz="2400" b="1" dirty="0">
                <a:solidFill>
                  <a:srgbClr val="060606"/>
                </a:solidFill>
              </a:rPr>
              <a:t>消元法等得到新的方程组和</a:t>
            </a:r>
            <a:r>
              <a:rPr lang="en-US" altLang="zh-CN" sz="2400" b="1" dirty="0">
                <a:solidFill>
                  <a:srgbClr val="060606"/>
                </a:solidFill>
              </a:rPr>
              <a:t>A’</a:t>
            </a:r>
            <a:r>
              <a:rPr lang="en-US" altLang="zh-CN" sz="2400" b="1" baseline="-25000" dirty="0">
                <a:solidFill>
                  <a:srgbClr val="060606"/>
                </a:solidFill>
              </a:rPr>
              <a:t> m× (</a:t>
            </a:r>
            <a:r>
              <a:rPr lang="en-US" altLang="zh-CN" sz="2400" b="1" baseline="-25000" dirty="0" err="1">
                <a:solidFill>
                  <a:srgbClr val="060606"/>
                </a:solidFill>
              </a:rPr>
              <a:t>n+m</a:t>
            </a:r>
            <a:r>
              <a:rPr lang="en-US" altLang="zh-CN" sz="2400" b="1" baseline="-25000" dirty="0">
                <a:solidFill>
                  <a:srgbClr val="060606"/>
                </a:solidFill>
              </a:rPr>
              <a:t>)</a:t>
            </a:r>
            <a:r>
              <a:rPr lang="zh-CN" altLang="en-US" sz="2400" b="1" dirty="0">
                <a:solidFill>
                  <a:srgbClr val="060606"/>
                </a:solidFill>
              </a:rPr>
              <a:t>。</a:t>
            </a:r>
            <a:endParaRPr lang="en-US" altLang="zh-CN" sz="2400" b="1" dirty="0">
              <a:solidFill>
                <a:srgbClr val="060606"/>
              </a:solidFill>
            </a:endParaRPr>
          </a:p>
          <a:p>
            <a:pPr>
              <a:buNone/>
            </a:pPr>
            <a:r>
              <a:rPr lang="en-US" altLang="zh-CN" sz="2400" dirty="0">
                <a:solidFill>
                  <a:srgbClr val="060606"/>
                </a:solidFill>
              </a:rPr>
              <a:t>Gauss</a:t>
            </a:r>
            <a:r>
              <a:rPr lang="zh-CN" altLang="en-US" sz="2400" dirty="0">
                <a:solidFill>
                  <a:srgbClr val="060606"/>
                </a:solidFill>
              </a:rPr>
              <a:t>消元法：是一种基本代数运算方法，即将一行乘以一个数，或一行乘以一个数加到另外一行中去，重构变量之间的关系。</a:t>
            </a:r>
            <a:endParaRPr lang="en-US" altLang="zh-CN" sz="2400" dirty="0">
              <a:solidFill>
                <a:srgbClr val="060606"/>
              </a:solidFill>
            </a:endParaRPr>
          </a:p>
        </p:txBody>
      </p:sp>
      <p:grpSp>
        <p:nvGrpSpPr>
          <p:cNvPr id="24" name="组合 23"/>
          <p:cNvGrpSpPr/>
          <p:nvPr/>
        </p:nvGrpSpPr>
        <p:grpSpPr>
          <a:xfrm>
            <a:off x="5591944" y="2529198"/>
            <a:ext cx="5340216" cy="4248472"/>
            <a:chOff x="6084168" y="218257"/>
            <a:chExt cx="5340216" cy="4248472"/>
          </a:xfrm>
        </p:grpSpPr>
        <p:sp>
          <p:nvSpPr>
            <p:cNvPr id="25" name="矩形 24"/>
            <p:cNvSpPr/>
            <p:nvPr/>
          </p:nvSpPr>
          <p:spPr>
            <a:xfrm>
              <a:off x="7236296" y="218257"/>
              <a:ext cx="1531188" cy="461665"/>
            </a:xfrm>
            <a:prstGeom prst="rect">
              <a:avLst/>
            </a:prstGeom>
          </p:spPr>
          <p:txBody>
            <a:bodyPr wrap="none">
              <a:spAutoFit/>
            </a:bodyPr>
            <a:lstStyle/>
            <a:p>
              <a:r>
                <a:rPr lang="en-US" altLang="zh-CN" sz="2400" b="1" dirty="0">
                  <a:solidFill>
                    <a:srgbClr val="060606"/>
                  </a:solidFill>
                </a:rPr>
                <a:t>A</a:t>
              </a:r>
              <a:r>
                <a:rPr lang="en-US" altLang="zh-CN" sz="2400" baseline="-25000" dirty="0">
                  <a:solidFill>
                    <a:srgbClr val="060606"/>
                  </a:solidFill>
                </a:rPr>
                <a:t>m×(</a:t>
              </a:r>
              <a:r>
                <a:rPr lang="en-US" altLang="zh-CN" sz="2400" baseline="-25000" dirty="0" err="1">
                  <a:solidFill>
                    <a:srgbClr val="060606"/>
                  </a:solidFill>
                </a:rPr>
                <a:t>m+n</a:t>
              </a:r>
              <a:r>
                <a:rPr lang="en-US" altLang="zh-CN" sz="2400" baseline="-25000" dirty="0">
                  <a:solidFill>
                    <a:srgbClr val="060606"/>
                  </a:solidFill>
                </a:rPr>
                <a:t>)</a:t>
              </a:r>
              <a:r>
                <a:rPr lang="en-US" altLang="zh-CN" sz="2400" dirty="0">
                  <a:solidFill>
                    <a:srgbClr val="060606"/>
                  </a:solidFill>
                </a:rPr>
                <a:t> =</a:t>
              </a:r>
              <a:endParaRPr lang="zh-CN" altLang="en-US" sz="2400" dirty="0"/>
            </a:p>
          </p:txBody>
        </p:sp>
        <p:sp>
          <p:nvSpPr>
            <p:cNvPr id="26" name="双括号 25"/>
            <p:cNvSpPr/>
            <p:nvPr/>
          </p:nvSpPr>
          <p:spPr bwMode="auto">
            <a:xfrm>
              <a:off x="6084168" y="908720"/>
              <a:ext cx="5340216" cy="2376264"/>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27" name="矩形 26"/>
            <p:cNvSpPr/>
            <p:nvPr/>
          </p:nvSpPr>
          <p:spPr>
            <a:xfrm>
              <a:off x="7020272" y="2204864"/>
              <a:ext cx="1656184" cy="461665"/>
            </a:xfrm>
            <a:prstGeom prst="rect">
              <a:avLst/>
            </a:prstGeom>
          </p:spPr>
          <p:txBody>
            <a:bodyPr wrap="square">
              <a:spAutoFit/>
            </a:bodyPr>
            <a:lstStyle/>
            <a:p>
              <a:pPr algn="ctr"/>
              <a:r>
                <a:rPr lang="en-US" altLang="zh-CN" sz="2400" dirty="0">
                  <a:solidFill>
                    <a:srgbClr val="060606"/>
                  </a:solidFill>
                </a:rPr>
                <a:t>……  …1……</a:t>
              </a:r>
              <a:endParaRPr lang="zh-CN" altLang="en-US" sz="2400" dirty="0"/>
            </a:p>
          </p:txBody>
        </p:sp>
        <p:sp>
          <p:nvSpPr>
            <p:cNvPr id="28" name="矩形 27"/>
            <p:cNvSpPr/>
            <p:nvPr/>
          </p:nvSpPr>
          <p:spPr>
            <a:xfrm>
              <a:off x="6228184" y="980728"/>
              <a:ext cx="4968552" cy="461665"/>
            </a:xfrm>
            <a:prstGeom prst="rect">
              <a:avLst/>
            </a:prstGeom>
          </p:spPr>
          <p:txBody>
            <a:bodyPr wrap="square">
              <a:spAutoFit/>
            </a:bodyPr>
            <a:lstStyle/>
            <a:p>
              <a:pPr algn="just"/>
              <a:r>
                <a:rPr lang="en-US" altLang="zh-CN" sz="2400" dirty="0">
                  <a:solidFill>
                    <a:srgbClr val="060606"/>
                  </a:solidFill>
                </a:rPr>
                <a:t>a'</a:t>
              </a:r>
              <a:r>
                <a:rPr lang="en-US" altLang="zh-CN" sz="2400" baseline="-25000" dirty="0">
                  <a:solidFill>
                    <a:srgbClr val="060606"/>
                  </a:solidFill>
                </a:rPr>
                <a:t>11</a:t>
              </a:r>
              <a:r>
                <a:rPr lang="en-US" altLang="zh-CN" sz="2400" dirty="0">
                  <a:solidFill>
                    <a:srgbClr val="060606"/>
                  </a:solidFill>
                </a:rPr>
                <a:t>   a’</a:t>
              </a:r>
              <a:r>
                <a:rPr lang="en-US" altLang="zh-CN" sz="2400" baseline="-25000" dirty="0">
                  <a:solidFill>
                    <a:srgbClr val="060606"/>
                  </a:solidFill>
                </a:rPr>
                <a:t>12</a:t>
              </a:r>
              <a:r>
                <a:rPr lang="en-US" altLang="zh-CN" sz="2400" dirty="0">
                  <a:solidFill>
                    <a:srgbClr val="060606"/>
                  </a:solidFill>
                </a:rPr>
                <a:t>  …  0… a’</a:t>
              </a:r>
              <a:r>
                <a:rPr lang="en-US" altLang="zh-CN" sz="2400" baseline="-25000" dirty="0">
                  <a:solidFill>
                    <a:srgbClr val="060606"/>
                  </a:solidFill>
                </a:rPr>
                <a:t>1n</a:t>
              </a:r>
              <a:r>
                <a:rPr lang="en-US" altLang="zh-CN" sz="2400" dirty="0">
                  <a:solidFill>
                    <a:srgbClr val="060606"/>
                  </a:solidFill>
                </a:rPr>
                <a:t>  1  0  … a’</a:t>
              </a:r>
              <a:r>
                <a:rPr lang="en-US" altLang="zh-CN" sz="2400" baseline="-25000" dirty="0">
                  <a:solidFill>
                    <a:srgbClr val="060606"/>
                  </a:solidFill>
                </a:rPr>
                <a:t>1q </a:t>
              </a:r>
              <a:r>
                <a:rPr lang="en-US" altLang="zh-CN" sz="2400" dirty="0">
                  <a:solidFill>
                    <a:srgbClr val="060606"/>
                  </a:solidFill>
                </a:rPr>
                <a:t>… 0</a:t>
              </a:r>
              <a:endParaRPr lang="zh-CN" altLang="en-US" sz="2400" dirty="0"/>
            </a:p>
          </p:txBody>
        </p:sp>
        <p:sp>
          <p:nvSpPr>
            <p:cNvPr id="29" name="矩形 28"/>
            <p:cNvSpPr/>
            <p:nvPr/>
          </p:nvSpPr>
          <p:spPr>
            <a:xfrm>
              <a:off x="6191672" y="4005064"/>
              <a:ext cx="2952328" cy="461665"/>
            </a:xfrm>
            <a:prstGeom prst="rect">
              <a:avLst/>
            </a:prstGeom>
          </p:spPr>
          <p:txBody>
            <a:bodyPr wrap="square">
              <a:spAutoFit/>
            </a:bodyPr>
            <a:lstStyle/>
            <a:p>
              <a:pPr algn="ctr"/>
              <a:r>
                <a:rPr lang="zh-CN" altLang="en-US" sz="2400" dirty="0">
                  <a:solidFill>
                    <a:srgbClr val="060606"/>
                  </a:solidFill>
                </a:rPr>
                <a:t>单位矩阵：基</a:t>
              </a:r>
              <a:r>
                <a:rPr lang="en-US" altLang="zh-CN" sz="2400" dirty="0" err="1">
                  <a:solidFill>
                    <a:srgbClr val="060606"/>
                  </a:solidFill>
                </a:rPr>
                <a:t>B’</a:t>
              </a:r>
              <a:r>
                <a:rPr lang="en-US" altLang="zh-CN" sz="2400" baseline="-25000" dirty="0" err="1">
                  <a:solidFill>
                    <a:srgbClr val="060606"/>
                  </a:solidFill>
                </a:rPr>
                <a:t>m×m</a:t>
              </a:r>
              <a:endParaRPr lang="zh-CN" altLang="en-US" sz="2400" baseline="-25000" dirty="0"/>
            </a:p>
          </p:txBody>
        </p:sp>
        <p:sp>
          <p:nvSpPr>
            <p:cNvPr id="30" name="矩形 29"/>
            <p:cNvSpPr/>
            <p:nvPr/>
          </p:nvSpPr>
          <p:spPr>
            <a:xfrm>
              <a:off x="6228184" y="1556792"/>
              <a:ext cx="5040560" cy="461665"/>
            </a:xfrm>
            <a:prstGeom prst="rect">
              <a:avLst/>
            </a:prstGeom>
          </p:spPr>
          <p:txBody>
            <a:bodyPr wrap="square">
              <a:spAutoFit/>
            </a:bodyPr>
            <a:lstStyle/>
            <a:p>
              <a:pPr algn="just"/>
              <a:r>
                <a:rPr lang="en-US" altLang="zh-CN" sz="2400" dirty="0">
                  <a:solidFill>
                    <a:srgbClr val="060606"/>
                  </a:solidFill>
                </a:rPr>
                <a:t>a'</a:t>
              </a:r>
              <a:r>
                <a:rPr lang="en-US" altLang="zh-CN" sz="2400" baseline="-25000" dirty="0">
                  <a:solidFill>
                    <a:srgbClr val="060606"/>
                  </a:solidFill>
                </a:rPr>
                <a:t>21</a:t>
              </a:r>
              <a:r>
                <a:rPr lang="en-US" altLang="zh-CN" sz="2400" dirty="0">
                  <a:solidFill>
                    <a:srgbClr val="060606"/>
                  </a:solidFill>
                </a:rPr>
                <a:t>   a’</a:t>
              </a:r>
              <a:r>
                <a:rPr lang="en-US" altLang="zh-CN" sz="2400" baseline="-25000" dirty="0">
                  <a:solidFill>
                    <a:srgbClr val="060606"/>
                  </a:solidFill>
                </a:rPr>
                <a:t>22</a:t>
              </a:r>
              <a:r>
                <a:rPr lang="en-US" altLang="zh-CN" sz="2400" dirty="0">
                  <a:solidFill>
                    <a:srgbClr val="060606"/>
                  </a:solidFill>
                </a:rPr>
                <a:t>  …  0… a’</a:t>
              </a:r>
              <a:r>
                <a:rPr lang="en-US" altLang="zh-CN" sz="2400" baseline="-25000" dirty="0">
                  <a:solidFill>
                    <a:srgbClr val="060606"/>
                  </a:solidFill>
                </a:rPr>
                <a:t>2n</a:t>
              </a:r>
              <a:r>
                <a:rPr lang="en-US" altLang="zh-CN" sz="2400" dirty="0">
                  <a:solidFill>
                    <a:srgbClr val="060606"/>
                  </a:solidFill>
                </a:rPr>
                <a:t>  0  1  … a’</a:t>
              </a:r>
              <a:r>
                <a:rPr lang="en-US" altLang="zh-CN" sz="2400" baseline="-25000" dirty="0">
                  <a:solidFill>
                    <a:srgbClr val="060606"/>
                  </a:solidFill>
                </a:rPr>
                <a:t>2q </a:t>
              </a:r>
              <a:r>
                <a:rPr lang="en-US" altLang="zh-CN" sz="2400" dirty="0">
                  <a:solidFill>
                    <a:srgbClr val="060606"/>
                  </a:solidFill>
                </a:rPr>
                <a:t>… 0</a:t>
              </a:r>
              <a:endParaRPr lang="zh-CN" altLang="en-US" sz="2400" dirty="0"/>
            </a:p>
          </p:txBody>
        </p:sp>
        <p:sp>
          <p:nvSpPr>
            <p:cNvPr id="31" name="矩形 30"/>
            <p:cNvSpPr/>
            <p:nvPr/>
          </p:nvSpPr>
          <p:spPr>
            <a:xfrm>
              <a:off x="6228184" y="2708920"/>
              <a:ext cx="4968552" cy="461665"/>
            </a:xfrm>
            <a:prstGeom prst="rect">
              <a:avLst/>
            </a:prstGeom>
          </p:spPr>
          <p:txBody>
            <a:bodyPr wrap="square">
              <a:spAutoFit/>
            </a:bodyPr>
            <a:lstStyle/>
            <a:p>
              <a:pPr algn="just"/>
              <a:r>
                <a:rPr lang="en-US" altLang="zh-CN" sz="2400" dirty="0">
                  <a:solidFill>
                    <a:srgbClr val="060606"/>
                  </a:solidFill>
                </a:rPr>
                <a:t>a'</a:t>
              </a:r>
              <a:r>
                <a:rPr lang="en-US" altLang="zh-CN" sz="2400" baseline="-25000" dirty="0">
                  <a:solidFill>
                    <a:srgbClr val="060606"/>
                  </a:solidFill>
                </a:rPr>
                <a:t>m1</a:t>
              </a:r>
              <a:r>
                <a:rPr lang="en-US" altLang="zh-CN" sz="2400" dirty="0">
                  <a:solidFill>
                    <a:srgbClr val="060606"/>
                  </a:solidFill>
                </a:rPr>
                <a:t>  a’</a:t>
              </a:r>
              <a:r>
                <a:rPr lang="en-US" altLang="zh-CN" sz="2400" baseline="-25000" dirty="0">
                  <a:solidFill>
                    <a:srgbClr val="060606"/>
                  </a:solidFill>
                </a:rPr>
                <a:t>m2</a:t>
              </a:r>
              <a:r>
                <a:rPr lang="en-US" altLang="zh-CN" sz="2400" dirty="0">
                  <a:solidFill>
                    <a:srgbClr val="060606"/>
                  </a:solidFill>
                </a:rPr>
                <a:t>  … 0…  </a:t>
              </a:r>
              <a:r>
                <a:rPr lang="en-US" altLang="zh-CN" sz="2400" dirty="0" err="1">
                  <a:solidFill>
                    <a:srgbClr val="060606"/>
                  </a:solidFill>
                </a:rPr>
                <a:t>a’</a:t>
              </a:r>
              <a:r>
                <a:rPr lang="en-US" altLang="zh-CN" sz="2400" baseline="-25000" dirty="0" err="1">
                  <a:solidFill>
                    <a:srgbClr val="060606"/>
                  </a:solidFill>
                </a:rPr>
                <a:t>mn</a:t>
              </a:r>
              <a:r>
                <a:rPr lang="en-US" altLang="zh-CN" sz="2400" dirty="0">
                  <a:solidFill>
                    <a:srgbClr val="060606"/>
                  </a:solidFill>
                </a:rPr>
                <a:t> 0  0  … </a:t>
              </a:r>
              <a:r>
                <a:rPr lang="en-US" altLang="zh-CN" sz="2400" dirty="0" err="1">
                  <a:solidFill>
                    <a:srgbClr val="060606"/>
                  </a:solidFill>
                </a:rPr>
                <a:t>a’</a:t>
              </a:r>
              <a:r>
                <a:rPr lang="en-US" altLang="zh-CN" sz="2400" baseline="-25000" dirty="0" err="1">
                  <a:solidFill>
                    <a:srgbClr val="060606"/>
                  </a:solidFill>
                </a:rPr>
                <a:t>mq</a:t>
              </a:r>
              <a:r>
                <a:rPr lang="en-US" altLang="zh-CN" sz="2400" baseline="-25000" dirty="0">
                  <a:solidFill>
                    <a:srgbClr val="060606"/>
                  </a:solidFill>
                </a:rPr>
                <a:t> </a:t>
              </a:r>
              <a:r>
                <a:rPr lang="en-US" altLang="zh-CN" sz="2400" dirty="0">
                  <a:solidFill>
                    <a:srgbClr val="060606"/>
                  </a:solidFill>
                </a:rPr>
                <a:t>… 1</a:t>
              </a:r>
              <a:endParaRPr lang="zh-CN" altLang="en-US" sz="2400" dirty="0"/>
            </a:p>
          </p:txBody>
        </p:sp>
        <p:cxnSp>
          <p:nvCxnSpPr>
            <p:cNvPr id="33" name="直接箭头连接符 32"/>
            <p:cNvCxnSpPr/>
            <p:nvPr/>
          </p:nvCxnSpPr>
          <p:spPr bwMode="auto">
            <a:xfrm flipH="1">
              <a:off x="7596336" y="3182336"/>
              <a:ext cx="1430778" cy="822728"/>
            </a:xfrm>
            <a:prstGeom prst="straightConnector1">
              <a:avLst/>
            </a:prstGeom>
            <a:solidFill>
              <a:schemeClr val="accent1"/>
            </a:solidFill>
            <a:ln w="38100" cap="flat" cmpd="sng" algn="ctr">
              <a:solidFill>
                <a:srgbClr val="FF000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箭头连接符 39"/>
            <p:cNvCxnSpPr>
              <a:endCxn id="29" idx="0"/>
            </p:cNvCxnSpPr>
            <p:nvPr/>
          </p:nvCxnSpPr>
          <p:spPr bwMode="auto">
            <a:xfrm flipH="1">
              <a:off x="7667836" y="3142456"/>
              <a:ext cx="216532" cy="862608"/>
            </a:xfrm>
            <a:prstGeom prst="straightConnector1">
              <a:avLst/>
            </a:prstGeom>
            <a:solidFill>
              <a:schemeClr val="accent1"/>
            </a:solidFill>
            <a:ln w="38100" cap="flat" cmpd="sng" algn="ctr">
              <a:solidFill>
                <a:srgbClr val="FF000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箭头连接符 42"/>
            <p:cNvCxnSpPr/>
            <p:nvPr/>
          </p:nvCxnSpPr>
          <p:spPr bwMode="auto">
            <a:xfrm flipH="1">
              <a:off x="7668344" y="3214464"/>
              <a:ext cx="2411760" cy="792088"/>
            </a:xfrm>
            <a:prstGeom prst="straightConnector1">
              <a:avLst/>
            </a:prstGeom>
            <a:solidFill>
              <a:schemeClr val="accent1"/>
            </a:solidFill>
            <a:ln w="38100" cap="flat" cmpd="sng" algn="ctr">
              <a:solidFill>
                <a:srgbClr val="FF000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4" name="直角上箭头 33"/>
          <p:cNvSpPr/>
          <p:nvPr/>
        </p:nvSpPr>
        <p:spPr bwMode="auto">
          <a:xfrm flipV="1">
            <a:off x="5015880" y="1665102"/>
            <a:ext cx="2376264" cy="792088"/>
          </a:xfrm>
          <a:prstGeom prst="bentUpArrow">
            <a:avLst/>
          </a:prstGeom>
          <a:noFill/>
          <a:ln w="9525" cap="flat" cmpd="sng" algn="ctr">
            <a:solidFill>
              <a:srgbClr val="0322BD"/>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nvGrpSpPr>
          <p:cNvPr id="45" name="组合 44"/>
          <p:cNvGrpSpPr/>
          <p:nvPr/>
        </p:nvGrpSpPr>
        <p:grpSpPr>
          <a:xfrm>
            <a:off x="200472" y="1569566"/>
            <a:ext cx="5616116" cy="3983969"/>
            <a:chOff x="-180528" y="1569565"/>
            <a:chExt cx="5616116" cy="3983969"/>
          </a:xfrm>
        </p:grpSpPr>
        <p:grpSp>
          <p:nvGrpSpPr>
            <p:cNvPr id="4" name="组合 3"/>
            <p:cNvGrpSpPr/>
            <p:nvPr/>
          </p:nvGrpSpPr>
          <p:grpSpPr>
            <a:xfrm>
              <a:off x="-180528" y="1700808"/>
              <a:ext cx="5616116" cy="3852726"/>
              <a:chOff x="0" y="188640"/>
              <a:chExt cx="5616116" cy="3852726"/>
            </a:xfrm>
          </p:grpSpPr>
          <p:sp>
            <p:nvSpPr>
              <p:cNvPr id="5" name="矩形 4"/>
              <p:cNvSpPr/>
              <p:nvPr/>
            </p:nvSpPr>
            <p:spPr>
              <a:xfrm>
                <a:off x="189952" y="3148814"/>
                <a:ext cx="5426164" cy="892552"/>
              </a:xfrm>
              <a:prstGeom prst="rect">
                <a:avLst/>
              </a:prstGeom>
            </p:spPr>
            <p:txBody>
              <a:bodyPr wrap="square">
                <a:spAutoFit/>
              </a:bodyPr>
              <a:lstStyle/>
              <a:p>
                <a:r>
                  <a:rPr lang="zh-CN" altLang="en-US" sz="2400" dirty="0">
                    <a:solidFill>
                      <a:srgbClr val="060606"/>
                    </a:solidFill>
                  </a:rPr>
                  <a:t>和</a:t>
                </a:r>
                <a:r>
                  <a:rPr lang="zh-CN" altLang="en-US" sz="2800" dirty="0">
                    <a:solidFill>
                      <a:srgbClr val="060606"/>
                    </a:solidFill>
                  </a:rPr>
                  <a:t>   </a:t>
                </a:r>
                <a:r>
                  <a:rPr lang="en-US" altLang="zh-CN" sz="2800" dirty="0" err="1">
                    <a:solidFill>
                      <a:srgbClr val="060606"/>
                    </a:solidFill>
                  </a:rPr>
                  <a:t>x’</a:t>
                </a:r>
                <a:r>
                  <a:rPr lang="en-US" altLang="zh-CN" sz="2800" baseline="-25000" dirty="0" err="1">
                    <a:solidFill>
                      <a:srgbClr val="060606"/>
                    </a:solidFill>
                  </a:rPr>
                  <a:t>j</a:t>
                </a:r>
                <a:r>
                  <a:rPr lang="en-US" altLang="zh-CN" sz="2800" dirty="0">
                    <a:solidFill>
                      <a:srgbClr val="060606"/>
                    </a:solidFill>
                  </a:rPr>
                  <a:t>  </a:t>
                </a:r>
                <a:r>
                  <a:rPr lang="zh-CN" altLang="en-US" sz="2800" dirty="0">
                    <a:solidFill>
                      <a:srgbClr val="060606"/>
                    </a:solidFill>
                  </a:rPr>
                  <a:t>≥ </a:t>
                </a:r>
                <a:r>
                  <a:rPr lang="en-US" altLang="zh-CN" sz="2400" dirty="0">
                    <a:solidFill>
                      <a:srgbClr val="060606"/>
                    </a:solidFill>
                  </a:rPr>
                  <a:t>0  </a:t>
                </a:r>
                <a:endParaRPr lang="en-US" altLang="zh-CN" sz="2400" dirty="0">
                  <a:solidFill>
                    <a:srgbClr val="060606"/>
                  </a:solidFill>
                </a:endParaRPr>
              </a:p>
              <a:p>
                <a:r>
                  <a:rPr lang="en-US" altLang="zh-CN" sz="2400" dirty="0">
                    <a:solidFill>
                      <a:srgbClr val="060606"/>
                    </a:solidFill>
                  </a:rPr>
                  <a:t> (j = 1,2,…,n</a:t>
                </a:r>
                <a:r>
                  <a:rPr lang="zh-CN" altLang="en-US" sz="2400" dirty="0">
                    <a:solidFill>
                      <a:srgbClr val="060606"/>
                    </a:solidFill>
                  </a:rPr>
                  <a:t>，非负约束</a:t>
                </a:r>
                <a:r>
                  <a:rPr lang="en-US" altLang="zh-CN" sz="2400" dirty="0">
                    <a:solidFill>
                      <a:srgbClr val="060606"/>
                    </a:solidFill>
                  </a:rPr>
                  <a:t>)</a:t>
                </a:r>
                <a:endParaRPr lang="zh-CN" altLang="en-US" sz="2400" dirty="0">
                  <a:solidFill>
                    <a:srgbClr val="060606"/>
                  </a:solidFill>
                </a:endParaRPr>
              </a:p>
            </p:txBody>
          </p:sp>
          <p:grpSp>
            <p:nvGrpSpPr>
              <p:cNvPr id="6" name="组合 20"/>
              <p:cNvGrpSpPr/>
              <p:nvPr/>
            </p:nvGrpSpPr>
            <p:grpSpPr>
              <a:xfrm>
                <a:off x="0" y="188640"/>
                <a:ext cx="4694198" cy="3176198"/>
                <a:chOff x="0" y="188640"/>
                <a:chExt cx="4694198" cy="3176198"/>
              </a:xfrm>
            </p:grpSpPr>
            <p:sp>
              <p:nvSpPr>
                <p:cNvPr id="7" name="矩形 6"/>
                <p:cNvSpPr/>
                <p:nvPr/>
              </p:nvSpPr>
              <p:spPr>
                <a:xfrm>
                  <a:off x="145196" y="188640"/>
                  <a:ext cx="3744416" cy="543739"/>
                </a:xfrm>
                <a:prstGeom prst="rect">
                  <a:avLst/>
                </a:prstGeom>
              </p:spPr>
              <p:txBody>
                <a:bodyPr wrap="square">
                  <a:spAutoFit/>
                </a:bodyPr>
                <a:lstStyle/>
                <a:p>
                  <a:pPr marL="342900" indent="-342900" algn="just" fontAlgn="base">
                    <a:lnSpc>
                      <a:spcPct val="110000"/>
                    </a:lnSpc>
                    <a:spcAft>
                      <a:spcPct val="0"/>
                    </a:spcAft>
                  </a:pPr>
                  <a:r>
                    <a:rPr lang="en-US" altLang="zh-CN" sz="2800" dirty="0">
                      <a:solidFill>
                        <a:srgbClr val="060606"/>
                      </a:solidFill>
                    </a:rPr>
                    <a:t>(0)    z -   </a:t>
                  </a:r>
                  <a:r>
                    <a:rPr lang="en-US" altLang="zh-CN" sz="2800" dirty="0" err="1">
                      <a:solidFill>
                        <a:srgbClr val="060606"/>
                      </a:solidFill>
                    </a:rPr>
                    <a:t>c’</a:t>
                  </a:r>
                  <a:r>
                    <a:rPr lang="en-US" altLang="zh-CN" sz="2800" baseline="-25000" dirty="0" err="1">
                      <a:solidFill>
                        <a:srgbClr val="060606"/>
                      </a:solidFill>
                    </a:rPr>
                    <a:t>j</a:t>
                  </a:r>
                  <a:r>
                    <a:rPr lang="en-US" altLang="zh-CN" sz="2800" dirty="0" err="1">
                      <a:solidFill>
                        <a:srgbClr val="060606"/>
                      </a:solidFill>
                    </a:rPr>
                    <a:t>x’</a:t>
                  </a:r>
                  <a:r>
                    <a:rPr lang="en-US" altLang="zh-CN" sz="2800" baseline="-25000" dirty="0" err="1">
                      <a:solidFill>
                        <a:srgbClr val="060606"/>
                      </a:solidFill>
                    </a:rPr>
                    <a:t>j</a:t>
                  </a:r>
                  <a:r>
                    <a:rPr lang="en-US" altLang="zh-CN" sz="2800" baseline="-25000" dirty="0">
                      <a:solidFill>
                        <a:srgbClr val="060606"/>
                      </a:solidFill>
                    </a:rPr>
                    <a:t> </a:t>
                  </a:r>
                  <a:r>
                    <a:rPr lang="en-US" altLang="zh-CN" sz="2800" dirty="0">
                      <a:solidFill>
                        <a:srgbClr val="060606"/>
                      </a:solidFill>
                    </a:rPr>
                    <a:t>= 0</a:t>
                  </a:r>
                  <a:endParaRPr lang="en-US" altLang="zh-CN" sz="2800" dirty="0">
                    <a:solidFill>
                      <a:srgbClr val="060606"/>
                    </a:solidFill>
                  </a:endParaRPr>
                </a:p>
              </p:txBody>
            </p:sp>
            <p:sp>
              <p:nvSpPr>
                <p:cNvPr id="8" name="矩形 3"/>
                <p:cNvSpPr/>
                <p:nvPr/>
              </p:nvSpPr>
              <p:spPr>
                <a:xfrm>
                  <a:off x="202346" y="884623"/>
                  <a:ext cx="4478174" cy="523220"/>
                </a:xfrm>
                <a:prstGeom prst="rect">
                  <a:avLst/>
                </a:prstGeom>
              </p:spPr>
              <p:txBody>
                <a:bodyPr wrap="square">
                  <a:spAutoFit/>
                </a:bodyPr>
                <a:lstStyle/>
                <a:p>
                  <a:r>
                    <a:rPr lang="en-US" altLang="zh-CN" sz="2800" dirty="0">
                      <a:solidFill>
                        <a:srgbClr val="060606"/>
                      </a:solidFill>
                    </a:rPr>
                    <a:t>(1)       a’</a:t>
                  </a:r>
                  <a:r>
                    <a:rPr lang="en-US" altLang="zh-CN" sz="2800" baseline="-25000" dirty="0">
                      <a:solidFill>
                        <a:srgbClr val="060606"/>
                      </a:solidFill>
                    </a:rPr>
                    <a:t>1j</a:t>
                  </a:r>
                  <a:r>
                    <a:rPr lang="en-US" altLang="zh-CN" sz="2800" dirty="0">
                      <a:solidFill>
                        <a:srgbClr val="060606"/>
                      </a:solidFill>
                    </a:rPr>
                    <a:t>x’</a:t>
                  </a:r>
                  <a:r>
                    <a:rPr lang="en-US" altLang="zh-CN" sz="2800" baseline="-25000" dirty="0">
                      <a:solidFill>
                        <a:srgbClr val="060606"/>
                      </a:solidFill>
                    </a:rPr>
                    <a:t>j</a:t>
                  </a:r>
                  <a:r>
                    <a:rPr lang="en-US" altLang="zh-CN" sz="2800" dirty="0">
                      <a:solidFill>
                        <a:srgbClr val="060606"/>
                      </a:solidFill>
                    </a:rPr>
                    <a:t> </a:t>
                  </a:r>
                  <a:r>
                    <a:rPr lang="en-US" altLang="zh-CN" sz="2800" dirty="0">
                      <a:solidFill>
                        <a:srgbClr val="FF0000"/>
                      </a:solidFill>
                    </a:rPr>
                    <a:t>+ x’</a:t>
                  </a:r>
                  <a:r>
                    <a:rPr lang="en-US" altLang="zh-CN" sz="2800" baseline="-25000" dirty="0">
                      <a:solidFill>
                        <a:srgbClr val="FF0000"/>
                      </a:solidFill>
                    </a:rPr>
                    <a:t>s1</a:t>
                  </a:r>
                  <a:r>
                    <a:rPr lang="en-US" altLang="zh-CN" sz="2800" dirty="0">
                      <a:solidFill>
                        <a:srgbClr val="FF0000"/>
                      </a:solidFill>
                    </a:rPr>
                    <a:t> = </a:t>
                  </a:r>
                  <a:r>
                    <a:rPr lang="en-US" altLang="zh-CN" sz="2800" dirty="0">
                      <a:solidFill>
                        <a:srgbClr val="060606"/>
                      </a:solidFill>
                    </a:rPr>
                    <a:t> b’</a:t>
                  </a:r>
                  <a:r>
                    <a:rPr lang="en-US" altLang="zh-CN" sz="2800" baseline="-25000" dirty="0">
                      <a:solidFill>
                        <a:srgbClr val="060606"/>
                      </a:solidFill>
                    </a:rPr>
                    <a:t>1</a:t>
                  </a:r>
                  <a:endParaRPr lang="zh-CN" altLang="en-US" sz="2800" dirty="0"/>
                </a:p>
              </p:txBody>
            </p:sp>
            <p:grpSp>
              <p:nvGrpSpPr>
                <p:cNvPr id="9" name="组合 32"/>
                <p:cNvGrpSpPr/>
                <p:nvPr/>
              </p:nvGrpSpPr>
              <p:grpSpPr>
                <a:xfrm>
                  <a:off x="799046" y="687773"/>
                  <a:ext cx="857138" cy="965719"/>
                  <a:chOff x="6249159" y="533630"/>
                  <a:chExt cx="567784" cy="474741"/>
                </a:xfrm>
              </p:grpSpPr>
              <p:sp>
                <p:nvSpPr>
                  <p:cNvPr id="21" name="矩形 6"/>
                  <p:cNvSpPr/>
                  <p:nvPr/>
                </p:nvSpPr>
                <p:spPr>
                  <a:xfrm>
                    <a:off x="6249159" y="781419"/>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22" name="矩形 7"/>
                  <p:cNvSpPr/>
                  <p:nvPr/>
                </p:nvSpPr>
                <p:spPr>
                  <a:xfrm>
                    <a:off x="6314129" y="533630"/>
                    <a:ext cx="234883" cy="226951"/>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23" name="矩形 8"/>
                  <p:cNvSpPr/>
                  <p:nvPr/>
                </p:nvSpPr>
                <p:spPr>
                  <a:xfrm>
                    <a:off x="6269962"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sp>
              <p:nvSpPr>
                <p:cNvPr id="10" name="矩形 9"/>
                <p:cNvSpPr/>
                <p:nvPr/>
              </p:nvSpPr>
              <p:spPr>
                <a:xfrm>
                  <a:off x="216024" y="1636646"/>
                  <a:ext cx="3744416" cy="523220"/>
                </a:xfrm>
                <a:prstGeom prst="rect">
                  <a:avLst/>
                </a:prstGeom>
              </p:spPr>
              <p:txBody>
                <a:bodyPr wrap="square">
                  <a:spAutoFit/>
                </a:bodyPr>
                <a:lstStyle/>
                <a:p>
                  <a:r>
                    <a:rPr lang="en-US" altLang="zh-CN" sz="2800" dirty="0">
                      <a:solidFill>
                        <a:srgbClr val="060606"/>
                      </a:solidFill>
                    </a:rPr>
                    <a:t>(2)       a’</a:t>
                  </a:r>
                  <a:r>
                    <a:rPr lang="en-US" altLang="zh-CN" sz="2800" baseline="-25000" dirty="0">
                      <a:solidFill>
                        <a:srgbClr val="060606"/>
                      </a:solidFill>
                    </a:rPr>
                    <a:t>2j</a:t>
                  </a:r>
                  <a:r>
                    <a:rPr lang="en-US" altLang="zh-CN" sz="2800" dirty="0">
                      <a:solidFill>
                        <a:srgbClr val="060606"/>
                      </a:solidFill>
                    </a:rPr>
                    <a:t>x</a:t>
                  </a:r>
                  <a:r>
                    <a:rPr lang="en-US" altLang="zh-CN" sz="2800" baseline="-25000" dirty="0">
                      <a:solidFill>
                        <a:srgbClr val="060606"/>
                      </a:solidFill>
                    </a:rPr>
                    <a:t>j</a:t>
                  </a:r>
                  <a:r>
                    <a:rPr lang="en-US" altLang="zh-CN" sz="2800" dirty="0">
                      <a:solidFill>
                        <a:srgbClr val="060606"/>
                      </a:solidFill>
                    </a:rPr>
                    <a:t> </a:t>
                  </a:r>
                  <a:r>
                    <a:rPr lang="en-US" altLang="zh-CN" sz="2800" dirty="0">
                      <a:solidFill>
                        <a:srgbClr val="FF0000"/>
                      </a:solidFill>
                    </a:rPr>
                    <a:t>+ x’</a:t>
                  </a:r>
                  <a:r>
                    <a:rPr lang="en-US" altLang="zh-CN" sz="2800" baseline="-25000" dirty="0">
                      <a:solidFill>
                        <a:srgbClr val="FF0000"/>
                      </a:solidFill>
                    </a:rPr>
                    <a:t>s2</a:t>
                  </a:r>
                  <a:r>
                    <a:rPr lang="en-US" altLang="zh-CN" sz="2800" dirty="0">
                      <a:solidFill>
                        <a:srgbClr val="FF0000"/>
                      </a:solidFill>
                    </a:rPr>
                    <a:t> = </a:t>
                  </a:r>
                  <a:r>
                    <a:rPr lang="en-US" altLang="zh-CN" sz="2800" dirty="0">
                      <a:solidFill>
                        <a:srgbClr val="060606"/>
                      </a:solidFill>
                    </a:rPr>
                    <a:t> b’</a:t>
                  </a:r>
                  <a:r>
                    <a:rPr lang="en-US" altLang="zh-CN" sz="2800" baseline="-25000" dirty="0">
                      <a:solidFill>
                        <a:srgbClr val="060606"/>
                      </a:solidFill>
                    </a:rPr>
                    <a:t>2</a:t>
                  </a:r>
                  <a:endParaRPr lang="zh-CN" altLang="en-US" sz="2800" dirty="0"/>
                </a:p>
              </p:txBody>
            </p:sp>
            <p:sp>
              <p:nvSpPr>
                <p:cNvPr id="11" name="矩形 10"/>
                <p:cNvSpPr/>
                <p:nvPr/>
              </p:nvSpPr>
              <p:spPr>
                <a:xfrm>
                  <a:off x="216024" y="2572750"/>
                  <a:ext cx="4478174" cy="523220"/>
                </a:xfrm>
                <a:prstGeom prst="rect">
                  <a:avLst/>
                </a:prstGeom>
              </p:spPr>
              <p:txBody>
                <a:bodyPr wrap="square">
                  <a:spAutoFit/>
                </a:bodyPr>
                <a:lstStyle/>
                <a:p>
                  <a:r>
                    <a:rPr lang="en-US" altLang="zh-CN" sz="2800" dirty="0">
                      <a:solidFill>
                        <a:srgbClr val="060606"/>
                      </a:solidFill>
                    </a:rPr>
                    <a:t>(m)       </a:t>
                  </a:r>
                  <a:r>
                    <a:rPr lang="en-US" altLang="zh-CN" sz="2800" dirty="0" err="1">
                      <a:solidFill>
                        <a:srgbClr val="060606"/>
                      </a:solidFill>
                    </a:rPr>
                    <a:t>a’</a:t>
                  </a:r>
                  <a:r>
                    <a:rPr lang="en-US" altLang="zh-CN" sz="2800" baseline="-25000" dirty="0" err="1">
                      <a:solidFill>
                        <a:srgbClr val="060606"/>
                      </a:solidFill>
                    </a:rPr>
                    <a:t>mj</a:t>
                  </a:r>
                  <a:r>
                    <a:rPr lang="en-US" altLang="zh-CN" sz="2800" dirty="0" err="1">
                      <a:solidFill>
                        <a:srgbClr val="060606"/>
                      </a:solidFill>
                    </a:rPr>
                    <a:t>x’</a:t>
                  </a:r>
                  <a:r>
                    <a:rPr lang="en-US" altLang="zh-CN" sz="2800" baseline="-25000" dirty="0" err="1">
                      <a:solidFill>
                        <a:srgbClr val="060606"/>
                      </a:solidFill>
                    </a:rPr>
                    <a:t>j</a:t>
                  </a:r>
                  <a:r>
                    <a:rPr lang="en-US" altLang="zh-CN" sz="2800" dirty="0">
                      <a:solidFill>
                        <a:srgbClr val="060606"/>
                      </a:solidFill>
                    </a:rPr>
                    <a:t> </a:t>
                  </a:r>
                  <a:r>
                    <a:rPr lang="en-US" altLang="zh-CN" sz="2800" dirty="0">
                      <a:solidFill>
                        <a:srgbClr val="FF0000"/>
                      </a:solidFill>
                    </a:rPr>
                    <a:t>+ </a:t>
                  </a:r>
                  <a:r>
                    <a:rPr lang="en-US" altLang="zh-CN" sz="2800" dirty="0" err="1">
                      <a:solidFill>
                        <a:srgbClr val="FF0000"/>
                      </a:solidFill>
                    </a:rPr>
                    <a:t>x’</a:t>
                  </a:r>
                  <a:r>
                    <a:rPr lang="en-US" altLang="zh-CN" sz="2800" baseline="-25000" dirty="0" err="1">
                      <a:solidFill>
                        <a:srgbClr val="FF0000"/>
                      </a:solidFill>
                    </a:rPr>
                    <a:t>sm</a:t>
                  </a:r>
                  <a:r>
                    <a:rPr lang="en-US" altLang="zh-CN" sz="2800" dirty="0">
                      <a:solidFill>
                        <a:srgbClr val="FF0000"/>
                      </a:solidFill>
                    </a:rPr>
                    <a:t> = </a:t>
                  </a:r>
                  <a:r>
                    <a:rPr lang="en-US" altLang="zh-CN" sz="2800" dirty="0">
                      <a:solidFill>
                        <a:srgbClr val="060606"/>
                      </a:solidFill>
                    </a:rPr>
                    <a:t> </a:t>
                  </a:r>
                  <a:r>
                    <a:rPr lang="en-US" altLang="zh-CN" sz="2800" dirty="0" err="1">
                      <a:solidFill>
                        <a:srgbClr val="060606"/>
                      </a:solidFill>
                    </a:rPr>
                    <a:t>b’</a:t>
                  </a:r>
                  <a:r>
                    <a:rPr lang="en-US" altLang="zh-CN" sz="2800" baseline="-25000" dirty="0" err="1">
                      <a:solidFill>
                        <a:srgbClr val="060606"/>
                      </a:solidFill>
                    </a:rPr>
                    <a:t>m</a:t>
                  </a:r>
                  <a:endParaRPr lang="zh-CN" altLang="en-US" sz="2800" dirty="0"/>
                </a:p>
              </p:txBody>
            </p:sp>
            <p:grpSp>
              <p:nvGrpSpPr>
                <p:cNvPr id="12" name="组合 32"/>
                <p:cNvGrpSpPr/>
                <p:nvPr/>
              </p:nvGrpSpPr>
              <p:grpSpPr>
                <a:xfrm>
                  <a:off x="792088" y="1420622"/>
                  <a:ext cx="857138" cy="965719"/>
                  <a:chOff x="6249159" y="533630"/>
                  <a:chExt cx="567784" cy="474741"/>
                </a:xfrm>
              </p:grpSpPr>
              <p:sp>
                <p:nvSpPr>
                  <p:cNvPr id="18" name="矩形 12"/>
                  <p:cNvSpPr/>
                  <p:nvPr/>
                </p:nvSpPr>
                <p:spPr>
                  <a:xfrm>
                    <a:off x="6249159" y="781419"/>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19" name="矩形 18"/>
                  <p:cNvSpPr/>
                  <p:nvPr/>
                </p:nvSpPr>
                <p:spPr>
                  <a:xfrm>
                    <a:off x="6314129" y="533630"/>
                    <a:ext cx="234883" cy="226951"/>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20" name="矩形 19"/>
                  <p:cNvSpPr/>
                  <p:nvPr/>
                </p:nvSpPr>
                <p:spPr>
                  <a:xfrm>
                    <a:off x="6263652"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grpSp>
              <p:nvGrpSpPr>
                <p:cNvPr id="13" name="组合 32"/>
                <p:cNvGrpSpPr/>
                <p:nvPr/>
              </p:nvGrpSpPr>
              <p:grpSpPr>
                <a:xfrm>
                  <a:off x="871054" y="2399119"/>
                  <a:ext cx="857138" cy="965719"/>
                  <a:chOff x="6249159" y="533630"/>
                  <a:chExt cx="567784" cy="474741"/>
                </a:xfrm>
              </p:grpSpPr>
              <p:sp>
                <p:nvSpPr>
                  <p:cNvPr id="15" name="矩形 14"/>
                  <p:cNvSpPr/>
                  <p:nvPr/>
                </p:nvSpPr>
                <p:spPr>
                  <a:xfrm>
                    <a:off x="6249159" y="781419"/>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16" name="矩形 15"/>
                  <p:cNvSpPr/>
                  <p:nvPr/>
                </p:nvSpPr>
                <p:spPr>
                  <a:xfrm>
                    <a:off x="6314129" y="533630"/>
                    <a:ext cx="234883" cy="226951"/>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17" name="矩形 16"/>
                  <p:cNvSpPr/>
                  <p:nvPr/>
                </p:nvSpPr>
                <p:spPr>
                  <a:xfrm>
                    <a:off x="6276271" y="647019"/>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sp>
              <p:nvSpPr>
                <p:cNvPr id="14" name="矩形 13"/>
                <p:cNvSpPr/>
                <p:nvPr/>
              </p:nvSpPr>
              <p:spPr>
                <a:xfrm>
                  <a:off x="0" y="2049530"/>
                  <a:ext cx="3960440" cy="523220"/>
                </a:xfrm>
                <a:prstGeom prst="rect">
                  <a:avLst/>
                </a:prstGeom>
              </p:spPr>
              <p:txBody>
                <a:bodyPr wrap="square">
                  <a:spAutoFit/>
                </a:bodyPr>
                <a:lstStyle/>
                <a:p>
                  <a:pPr algn="ctr"/>
                  <a:r>
                    <a:rPr lang="en-US" altLang="zh-CN" sz="2800" dirty="0"/>
                    <a:t>……………..</a:t>
                  </a:r>
                  <a:endParaRPr lang="zh-CN" altLang="en-US" sz="2800" dirty="0"/>
                </a:p>
              </p:txBody>
            </p:sp>
          </p:grpSp>
        </p:grpSp>
        <p:grpSp>
          <p:nvGrpSpPr>
            <p:cNvPr id="35" name="组合 31"/>
            <p:cNvGrpSpPr/>
            <p:nvPr/>
          </p:nvGrpSpPr>
          <p:grpSpPr>
            <a:xfrm>
              <a:off x="1043608" y="1569565"/>
              <a:ext cx="857139" cy="923331"/>
              <a:chOff x="6300192" y="517735"/>
              <a:chExt cx="567784" cy="453905"/>
            </a:xfrm>
          </p:grpSpPr>
          <p:sp>
            <p:nvSpPr>
              <p:cNvPr id="36" name="矩形 35"/>
              <p:cNvSpPr/>
              <p:nvPr/>
            </p:nvSpPr>
            <p:spPr>
              <a:xfrm>
                <a:off x="6300192" y="744688"/>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37" name="矩形 36"/>
              <p:cNvSpPr/>
              <p:nvPr/>
            </p:nvSpPr>
            <p:spPr>
              <a:xfrm>
                <a:off x="6353738" y="517735"/>
                <a:ext cx="234883" cy="226952"/>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38" name="矩形 37"/>
              <p:cNvSpPr/>
              <p:nvPr/>
            </p:nvSpPr>
            <p:spPr>
              <a:xfrm>
                <a:off x="6310022" y="621100"/>
                <a:ext cx="351377"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grpSp>
      <p:sp>
        <p:nvSpPr>
          <p:cNvPr id="2" name="矩形 1"/>
          <p:cNvSpPr/>
          <p:nvPr/>
        </p:nvSpPr>
        <p:spPr>
          <a:xfrm>
            <a:off x="7392144" y="3210389"/>
            <a:ext cx="324544" cy="223224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a:off x="8510592" y="3291669"/>
            <a:ext cx="645240" cy="223224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nvSpPr>
        <p:spPr>
          <a:xfrm>
            <a:off x="10253700" y="3299217"/>
            <a:ext cx="324544" cy="223224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直角上箭头 100"/>
          <p:cNvSpPr/>
          <p:nvPr/>
        </p:nvSpPr>
        <p:spPr bwMode="auto">
          <a:xfrm flipV="1">
            <a:off x="5257594" y="858010"/>
            <a:ext cx="3240731" cy="1079834"/>
          </a:xfrm>
          <a:prstGeom prst="bentUp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11" name="矩形 110"/>
          <p:cNvSpPr/>
          <p:nvPr/>
        </p:nvSpPr>
        <p:spPr>
          <a:xfrm>
            <a:off x="5469992" y="354587"/>
            <a:ext cx="1648208" cy="461665"/>
          </a:xfrm>
          <a:prstGeom prst="rect">
            <a:avLst/>
          </a:prstGeom>
        </p:spPr>
        <p:txBody>
          <a:bodyPr wrap="none">
            <a:spAutoFit/>
          </a:bodyPr>
          <a:lstStyle/>
          <a:p>
            <a:r>
              <a:rPr lang="zh-CN" altLang="en-US" sz="2400" dirty="0">
                <a:solidFill>
                  <a:srgbClr val="060606"/>
                </a:solidFill>
              </a:rPr>
              <a:t>换入变量</a:t>
            </a:r>
            <a:r>
              <a:rPr lang="en-US" altLang="zh-CN" sz="2400" dirty="0" err="1">
                <a:solidFill>
                  <a:srgbClr val="060606"/>
                </a:solidFill>
              </a:rPr>
              <a:t>x</a:t>
            </a:r>
            <a:r>
              <a:rPr lang="en-US" altLang="zh-CN" sz="2400" baseline="-25000" dirty="0" err="1">
                <a:solidFill>
                  <a:srgbClr val="060606"/>
                </a:solidFill>
              </a:rPr>
              <a:t>k</a:t>
            </a:r>
            <a:endParaRPr lang="zh-CN" altLang="en-US" sz="2400" dirty="0"/>
          </a:p>
        </p:txBody>
      </p:sp>
      <p:sp>
        <p:nvSpPr>
          <p:cNvPr id="112" name="矩形 111"/>
          <p:cNvSpPr/>
          <p:nvPr/>
        </p:nvSpPr>
        <p:spPr>
          <a:xfrm>
            <a:off x="7118200" y="365146"/>
            <a:ext cx="1754006" cy="461665"/>
          </a:xfrm>
          <a:prstGeom prst="rect">
            <a:avLst/>
          </a:prstGeom>
        </p:spPr>
        <p:txBody>
          <a:bodyPr wrap="none">
            <a:spAutoFit/>
          </a:bodyPr>
          <a:lstStyle/>
          <a:p>
            <a:r>
              <a:rPr lang="zh-CN" altLang="en-US" sz="2400" dirty="0">
                <a:solidFill>
                  <a:srgbClr val="060606"/>
                </a:solidFill>
                <a:latin typeface="+mn-ea"/>
              </a:rPr>
              <a:t>换出变量</a:t>
            </a:r>
            <a:r>
              <a:rPr lang="en-US" altLang="zh-CN" sz="2400" dirty="0" err="1">
                <a:solidFill>
                  <a:srgbClr val="060606"/>
                </a:solidFill>
                <a:latin typeface="+mn-ea"/>
              </a:rPr>
              <a:t>x</a:t>
            </a:r>
            <a:r>
              <a:rPr lang="en-US" altLang="zh-CN" sz="2400" baseline="-25000" dirty="0" err="1">
                <a:solidFill>
                  <a:srgbClr val="060606"/>
                </a:solidFill>
                <a:latin typeface="+mn-ea"/>
              </a:rPr>
              <a:t>sq</a:t>
            </a:r>
            <a:endParaRPr lang="zh-CN" altLang="en-US" sz="2400" dirty="0"/>
          </a:p>
        </p:txBody>
      </p:sp>
      <p:sp>
        <p:nvSpPr>
          <p:cNvPr id="123" name="矩形 122"/>
          <p:cNvSpPr/>
          <p:nvPr/>
        </p:nvSpPr>
        <p:spPr>
          <a:xfrm>
            <a:off x="8390050" y="1106905"/>
            <a:ext cx="1890261" cy="461665"/>
          </a:xfrm>
          <a:prstGeom prst="rect">
            <a:avLst/>
          </a:prstGeom>
        </p:spPr>
        <p:txBody>
          <a:bodyPr wrap="none">
            <a:spAutoFit/>
          </a:bodyPr>
          <a:lstStyle/>
          <a:p>
            <a:r>
              <a:rPr lang="en-US" altLang="zh-CN" sz="2400" dirty="0">
                <a:solidFill>
                  <a:srgbClr val="060606"/>
                </a:solidFill>
                <a:latin typeface="+mn-ea"/>
              </a:rPr>
              <a:t>Gauss</a:t>
            </a:r>
            <a:r>
              <a:rPr lang="zh-CN" altLang="en-US" sz="2400" dirty="0">
                <a:solidFill>
                  <a:srgbClr val="060606"/>
                </a:solidFill>
                <a:latin typeface="+mn-ea"/>
              </a:rPr>
              <a:t>消元法</a:t>
            </a:r>
            <a:endParaRPr lang="zh-CN" altLang="en-US" sz="2400" dirty="0"/>
          </a:p>
        </p:txBody>
      </p:sp>
      <p:pic>
        <p:nvPicPr>
          <p:cNvPr id="66" name="图片 65"/>
          <p:cNvPicPr>
            <a:picLocks noChangeAspect="1"/>
          </p:cNvPicPr>
          <p:nvPr/>
        </p:nvPicPr>
        <p:blipFill>
          <a:blip r:embed="rId1"/>
          <a:stretch>
            <a:fillRect/>
          </a:stretch>
        </p:blipFill>
        <p:spPr>
          <a:xfrm>
            <a:off x="133330" y="-9416"/>
            <a:ext cx="5069980" cy="3497385"/>
          </a:xfrm>
          <a:prstGeom prst="rect">
            <a:avLst/>
          </a:prstGeom>
        </p:spPr>
      </p:pic>
      <p:grpSp>
        <p:nvGrpSpPr>
          <p:cNvPr id="69" name="组合 68"/>
          <p:cNvGrpSpPr/>
          <p:nvPr/>
        </p:nvGrpSpPr>
        <p:grpSpPr>
          <a:xfrm>
            <a:off x="4308475" y="1920997"/>
            <a:ext cx="8696325" cy="4824935"/>
            <a:chOff x="3495675" y="2896357"/>
            <a:chExt cx="8696325" cy="4824935"/>
          </a:xfrm>
        </p:grpSpPr>
        <p:pic>
          <p:nvPicPr>
            <p:cNvPr id="68" name="图片 67"/>
            <p:cNvPicPr>
              <a:picLocks noChangeAspect="1"/>
            </p:cNvPicPr>
            <p:nvPr/>
          </p:nvPicPr>
          <p:blipFill>
            <a:blip r:embed="rId2"/>
            <a:stretch>
              <a:fillRect/>
            </a:stretch>
          </p:blipFill>
          <p:spPr>
            <a:xfrm>
              <a:off x="3495675" y="3911292"/>
              <a:ext cx="7029450" cy="3810000"/>
            </a:xfrm>
            <a:prstGeom prst="rect">
              <a:avLst/>
            </a:prstGeom>
          </p:spPr>
        </p:pic>
        <p:grpSp>
          <p:nvGrpSpPr>
            <p:cNvPr id="127" name="组合 126"/>
            <p:cNvGrpSpPr/>
            <p:nvPr/>
          </p:nvGrpSpPr>
          <p:grpSpPr>
            <a:xfrm>
              <a:off x="4644349" y="3140969"/>
              <a:ext cx="7547651" cy="776458"/>
              <a:chOff x="12385376" y="2661084"/>
              <a:chExt cx="7577907" cy="828441"/>
            </a:xfrm>
          </p:grpSpPr>
          <p:sp>
            <p:nvSpPr>
              <p:cNvPr id="135" name="矩形 134"/>
              <p:cNvSpPr/>
              <p:nvPr/>
            </p:nvSpPr>
            <p:spPr>
              <a:xfrm>
                <a:off x="12385376" y="2996952"/>
                <a:ext cx="6697155" cy="492573"/>
              </a:xfrm>
              <a:prstGeom prst="rect">
                <a:avLst/>
              </a:prstGeom>
            </p:spPr>
            <p:txBody>
              <a:bodyPr wrap="none">
                <a:spAutoFit/>
              </a:bodyPr>
              <a:lstStyle/>
              <a:p>
                <a:r>
                  <a:rPr lang="en-US" altLang="zh-CN" sz="2400" b="1" dirty="0">
                    <a:solidFill>
                      <a:srgbClr val="060606"/>
                    </a:solidFill>
                  </a:rPr>
                  <a:t>x</a:t>
                </a:r>
                <a:r>
                  <a:rPr lang="en-US" altLang="zh-CN" sz="2400" dirty="0">
                    <a:solidFill>
                      <a:srgbClr val="060606"/>
                    </a:solidFill>
                  </a:rPr>
                  <a:t> = (                                                                    )</a:t>
                </a:r>
                <a:endParaRPr lang="zh-CN" altLang="en-US" sz="2400" baseline="30000" dirty="0">
                  <a:solidFill>
                    <a:srgbClr val="060606"/>
                  </a:solidFill>
                </a:endParaRPr>
              </a:p>
            </p:txBody>
          </p:sp>
          <p:sp>
            <p:nvSpPr>
              <p:cNvPr id="136" name="矩形 135"/>
              <p:cNvSpPr/>
              <p:nvPr/>
            </p:nvSpPr>
            <p:spPr>
              <a:xfrm>
                <a:off x="12996936" y="2996952"/>
                <a:ext cx="6333898" cy="492573"/>
              </a:xfrm>
              <a:prstGeom prst="rect">
                <a:avLst/>
              </a:prstGeom>
            </p:spPr>
            <p:txBody>
              <a:bodyPr wrap="square">
                <a:spAutoFit/>
              </a:bodyPr>
              <a:lstStyle/>
              <a:p>
                <a:pPr algn="just"/>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60606"/>
                    </a:solidFill>
                  </a:rPr>
                  <a:t>    x</a:t>
                </a:r>
                <a:r>
                  <a:rPr lang="en-US" altLang="zh-CN" sz="2400" baseline="-25000" dirty="0">
                    <a:solidFill>
                      <a:srgbClr val="060606"/>
                    </a:solidFill>
                  </a:rPr>
                  <a:t>2</a:t>
                </a:r>
                <a:r>
                  <a:rPr lang="en-US" altLang="zh-CN" sz="2400" dirty="0">
                    <a:solidFill>
                      <a:srgbClr val="060606"/>
                    </a:solidFill>
                  </a:rPr>
                  <a:t>   …  </a:t>
                </a:r>
                <a:r>
                  <a:rPr lang="en-US" altLang="zh-CN" sz="2400" dirty="0" err="1">
                    <a:solidFill>
                      <a:srgbClr val="FF0000"/>
                    </a:solidFill>
                  </a:rPr>
                  <a:t>x</a:t>
                </a:r>
                <a:r>
                  <a:rPr lang="en-US" altLang="zh-CN" sz="2400" baseline="-25000" dirty="0" err="1">
                    <a:solidFill>
                      <a:srgbClr val="FF0000"/>
                    </a:solidFill>
                  </a:rPr>
                  <a:t>k</a:t>
                </a:r>
                <a:r>
                  <a:rPr lang="en-US" altLang="zh-CN" sz="2400" dirty="0">
                    <a:solidFill>
                      <a:srgbClr val="060606"/>
                    </a:solidFill>
                  </a:rPr>
                  <a:t>  …</a:t>
                </a:r>
                <a:r>
                  <a:rPr lang="en-US" altLang="zh-CN" sz="2400" dirty="0" err="1">
                    <a:solidFill>
                      <a:srgbClr val="060606"/>
                    </a:solidFill>
                  </a:rPr>
                  <a:t>x</a:t>
                </a:r>
                <a:r>
                  <a:rPr lang="en-US" altLang="zh-CN" sz="2400" baseline="-25000" dirty="0" err="1">
                    <a:solidFill>
                      <a:srgbClr val="060606"/>
                    </a:solidFill>
                  </a:rPr>
                  <a:t>n</a:t>
                </a:r>
                <a:r>
                  <a:rPr lang="en-US" altLang="zh-CN" sz="2400" dirty="0">
                    <a:solidFill>
                      <a:srgbClr val="060606"/>
                    </a:solidFill>
                  </a:rPr>
                  <a:t>   x</a:t>
                </a:r>
                <a:r>
                  <a:rPr lang="en-US" altLang="zh-CN" sz="2400" baseline="-25000" dirty="0">
                    <a:solidFill>
                      <a:srgbClr val="060606"/>
                    </a:solidFill>
                  </a:rPr>
                  <a:t>s1  </a:t>
                </a:r>
                <a:r>
                  <a:rPr lang="en-US" altLang="zh-CN" sz="2400" dirty="0">
                    <a:solidFill>
                      <a:srgbClr val="060606"/>
                    </a:solidFill>
                  </a:rPr>
                  <a:t>x</a:t>
                </a:r>
                <a:r>
                  <a:rPr lang="en-US" altLang="zh-CN" sz="2400" baseline="-25000" dirty="0">
                    <a:solidFill>
                      <a:srgbClr val="060606"/>
                    </a:solidFill>
                  </a:rPr>
                  <a:t>s2 </a:t>
                </a:r>
                <a:r>
                  <a:rPr lang="en-US" altLang="zh-CN" sz="2400" dirty="0">
                    <a:solidFill>
                      <a:srgbClr val="060606"/>
                    </a:solidFill>
                  </a:rPr>
                  <a:t>… </a:t>
                </a:r>
                <a:r>
                  <a:rPr lang="en-US" altLang="zh-CN" sz="2400" dirty="0" err="1">
                    <a:solidFill>
                      <a:srgbClr val="FF0000"/>
                    </a:solidFill>
                  </a:rPr>
                  <a:t>x</a:t>
                </a:r>
                <a:r>
                  <a:rPr lang="en-US" altLang="zh-CN" sz="2400" baseline="-25000" dirty="0" err="1">
                    <a:solidFill>
                      <a:srgbClr val="FF0000"/>
                    </a:solidFill>
                  </a:rPr>
                  <a:t>sq</a:t>
                </a:r>
                <a:r>
                  <a:rPr lang="en-US" altLang="zh-CN" sz="2400" dirty="0">
                    <a:solidFill>
                      <a:srgbClr val="060606"/>
                    </a:solidFill>
                  </a:rPr>
                  <a:t> … </a:t>
                </a:r>
                <a:r>
                  <a:rPr lang="en-US" altLang="zh-CN" sz="2400" dirty="0" err="1">
                    <a:solidFill>
                      <a:srgbClr val="060606"/>
                    </a:solidFill>
                  </a:rPr>
                  <a:t>x</a:t>
                </a:r>
                <a:r>
                  <a:rPr lang="en-US" altLang="zh-CN" sz="2400" baseline="-25000" dirty="0" err="1">
                    <a:solidFill>
                      <a:srgbClr val="060606"/>
                    </a:solidFill>
                  </a:rPr>
                  <a:t>sm</a:t>
                </a:r>
                <a:endParaRPr lang="zh-CN" altLang="en-US" sz="2400" dirty="0">
                  <a:solidFill>
                    <a:srgbClr val="060606"/>
                  </a:solidFill>
                </a:endParaRPr>
              </a:p>
            </p:txBody>
          </p:sp>
          <p:sp>
            <p:nvSpPr>
              <p:cNvPr id="137" name="矩形 136"/>
              <p:cNvSpPr/>
              <p:nvPr/>
            </p:nvSpPr>
            <p:spPr>
              <a:xfrm>
                <a:off x="12396914" y="2661084"/>
                <a:ext cx="6687498" cy="492573"/>
              </a:xfrm>
              <a:prstGeom prst="rect">
                <a:avLst/>
              </a:prstGeom>
            </p:spPr>
            <p:txBody>
              <a:bodyPr wrap="square">
                <a:spAutoFit/>
              </a:bodyPr>
              <a:lstStyle/>
              <a:p>
                <a:r>
                  <a:rPr lang="en-US" altLang="zh-CN" sz="2400" b="1" dirty="0">
                    <a:solidFill>
                      <a:srgbClr val="060606"/>
                    </a:solidFill>
                  </a:rPr>
                  <a:t>c</a:t>
                </a:r>
                <a:r>
                  <a:rPr lang="en-US" altLang="zh-CN" sz="2400" dirty="0">
                    <a:solidFill>
                      <a:srgbClr val="060606"/>
                    </a:solidFill>
                  </a:rPr>
                  <a:t> = (                                                                    )</a:t>
                </a:r>
                <a:endParaRPr lang="zh-CN" altLang="en-US" sz="2400" baseline="30000" dirty="0">
                  <a:solidFill>
                    <a:srgbClr val="060606"/>
                  </a:solidFill>
                </a:endParaRPr>
              </a:p>
            </p:txBody>
          </p:sp>
          <p:sp>
            <p:nvSpPr>
              <p:cNvPr id="138" name="矩形 137"/>
              <p:cNvSpPr/>
              <p:nvPr/>
            </p:nvSpPr>
            <p:spPr>
              <a:xfrm>
                <a:off x="12975287" y="2661084"/>
                <a:ext cx="6987996" cy="492573"/>
              </a:xfrm>
              <a:prstGeom prst="rect">
                <a:avLst/>
              </a:prstGeom>
            </p:spPr>
            <p:txBody>
              <a:bodyPr wrap="square">
                <a:spAutoFit/>
              </a:bodyPr>
              <a:lstStyle/>
              <a:p>
                <a:pPr algn="just"/>
                <a:r>
                  <a:rPr lang="en-US" altLang="zh-CN" sz="2400" dirty="0">
                    <a:solidFill>
                      <a:srgbClr val="060606"/>
                    </a:solidFill>
                  </a:rPr>
                  <a:t> c</a:t>
                </a:r>
                <a:r>
                  <a:rPr lang="en-US" altLang="zh-CN" sz="2400" baseline="-25000" dirty="0">
                    <a:solidFill>
                      <a:srgbClr val="060606"/>
                    </a:solidFill>
                  </a:rPr>
                  <a:t>1 </a:t>
                </a:r>
                <a:r>
                  <a:rPr lang="en-US" altLang="zh-CN" sz="2400" dirty="0">
                    <a:solidFill>
                      <a:srgbClr val="060606"/>
                    </a:solidFill>
                  </a:rPr>
                  <a:t>    c</a:t>
                </a:r>
                <a:r>
                  <a:rPr lang="en-US" altLang="zh-CN" sz="2400" baseline="-25000" dirty="0">
                    <a:solidFill>
                      <a:srgbClr val="060606"/>
                    </a:solidFill>
                  </a:rPr>
                  <a:t>2</a:t>
                </a:r>
                <a:r>
                  <a:rPr lang="en-US" altLang="zh-CN" sz="2400" dirty="0">
                    <a:solidFill>
                      <a:srgbClr val="060606"/>
                    </a:solidFill>
                  </a:rPr>
                  <a:t>   …  </a:t>
                </a:r>
                <a:r>
                  <a:rPr lang="en-US" altLang="zh-CN" sz="2400" dirty="0">
                    <a:solidFill>
                      <a:srgbClr val="FF0000"/>
                    </a:solidFill>
                  </a:rPr>
                  <a:t>0</a:t>
                </a:r>
                <a:r>
                  <a:rPr lang="en-US" altLang="zh-CN" sz="2400" dirty="0">
                    <a:solidFill>
                      <a:srgbClr val="060606"/>
                    </a:solidFill>
                  </a:rPr>
                  <a:t> …  </a:t>
                </a:r>
                <a:r>
                  <a:rPr lang="en-US" altLang="zh-CN" sz="2400" dirty="0" err="1">
                    <a:solidFill>
                      <a:srgbClr val="060606"/>
                    </a:solidFill>
                  </a:rPr>
                  <a:t>c</a:t>
                </a:r>
                <a:r>
                  <a:rPr lang="en-US" altLang="zh-CN" sz="2400" baseline="-25000" dirty="0" err="1">
                    <a:solidFill>
                      <a:srgbClr val="060606"/>
                    </a:solidFill>
                  </a:rPr>
                  <a:t>n</a:t>
                </a:r>
                <a:r>
                  <a:rPr lang="en-US" altLang="zh-CN" sz="2400" dirty="0">
                    <a:solidFill>
                      <a:srgbClr val="060606"/>
                    </a:solidFill>
                  </a:rPr>
                  <a:t>   0</a:t>
                </a:r>
                <a:r>
                  <a:rPr lang="en-US" altLang="zh-CN" sz="2400" baseline="-25000" dirty="0">
                    <a:solidFill>
                      <a:srgbClr val="060606"/>
                    </a:solidFill>
                  </a:rPr>
                  <a:t>     </a:t>
                </a:r>
                <a:r>
                  <a:rPr lang="en-US" altLang="zh-CN" sz="2400" dirty="0">
                    <a:solidFill>
                      <a:srgbClr val="060606"/>
                    </a:solidFill>
                  </a:rPr>
                  <a:t>0</a:t>
                </a:r>
                <a:r>
                  <a:rPr lang="en-US" altLang="zh-CN" sz="2400" baseline="-25000" dirty="0">
                    <a:solidFill>
                      <a:srgbClr val="060606"/>
                    </a:solidFill>
                  </a:rPr>
                  <a:t>    </a:t>
                </a:r>
                <a:r>
                  <a:rPr lang="en-US" altLang="zh-CN" sz="2400" dirty="0">
                    <a:solidFill>
                      <a:srgbClr val="060606"/>
                    </a:solidFill>
                  </a:rPr>
                  <a:t>… </a:t>
                </a:r>
                <a:r>
                  <a:rPr lang="en-US" altLang="zh-CN" sz="2400" dirty="0" err="1">
                    <a:solidFill>
                      <a:srgbClr val="FF0000"/>
                    </a:solidFill>
                  </a:rPr>
                  <a:t>x</a:t>
                </a:r>
                <a:r>
                  <a:rPr lang="en-US" altLang="zh-CN" sz="2400" baseline="-25000" dirty="0" err="1">
                    <a:solidFill>
                      <a:srgbClr val="FF0000"/>
                    </a:solidFill>
                  </a:rPr>
                  <a:t>sq</a:t>
                </a:r>
                <a:r>
                  <a:rPr lang="en-US" altLang="zh-CN" sz="2400" dirty="0">
                    <a:solidFill>
                      <a:srgbClr val="060606"/>
                    </a:solidFill>
                  </a:rPr>
                  <a:t> … 0</a:t>
                </a:r>
                <a:endParaRPr lang="zh-CN" altLang="en-US" sz="2400" dirty="0">
                  <a:solidFill>
                    <a:srgbClr val="060606"/>
                  </a:solidFill>
                </a:endParaRPr>
              </a:p>
            </p:txBody>
          </p:sp>
        </p:grpSp>
        <p:cxnSp>
          <p:nvCxnSpPr>
            <p:cNvPr id="128" name="直接连接符 127"/>
            <p:cNvCxnSpPr/>
            <p:nvPr/>
          </p:nvCxnSpPr>
          <p:spPr bwMode="auto">
            <a:xfrm>
              <a:off x="5755511" y="2963847"/>
              <a:ext cx="0" cy="349200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直接连接符 128"/>
            <p:cNvCxnSpPr/>
            <p:nvPr/>
          </p:nvCxnSpPr>
          <p:spPr bwMode="auto">
            <a:xfrm>
              <a:off x="6400995" y="3031337"/>
              <a:ext cx="0" cy="349200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直接连接符 129"/>
            <p:cNvCxnSpPr/>
            <p:nvPr/>
          </p:nvCxnSpPr>
          <p:spPr bwMode="auto">
            <a:xfrm>
              <a:off x="6864200" y="3031337"/>
              <a:ext cx="0" cy="349200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直接连接符 130"/>
            <p:cNvCxnSpPr/>
            <p:nvPr/>
          </p:nvCxnSpPr>
          <p:spPr bwMode="auto">
            <a:xfrm>
              <a:off x="7243723" y="3031337"/>
              <a:ext cx="0" cy="349200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直接连接符 131"/>
            <p:cNvCxnSpPr/>
            <p:nvPr/>
          </p:nvCxnSpPr>
          <p:spPr bwMode="auto">
            <a:xfrm>
              <a:off x="8018886" y="3000857"/>
              <a:ext cx="0" cy="349200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连接符 132"/>
            <p:cNvCxnSpPr/>
            <p:nvPr/>
          </p:nvCxnSpPr>
          <p:spPr bwMode="auto">
            <a:xfrm>
              <a:off x="8397808" y="3031337"/>
              <a:ext cx="0" cy="349200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连接符 133"/>
            <p:cNvCxnSpPr/>
            <p:nvPr/>
          </p:nvCxnSpPr>
          <p:spPr bwMode="auto">
            <a:xfrm>
              <a:off x="9054654" y="2896357"/>
              <a:ext cx="0" cy="349200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2" name="直接连接符 171"/>
            <p:cNvCxnSpPr/>
            <p:nvPr/>
          </p:nvCxnSpPr>
          <p:spPr bwMode="auto">
            <a:xfrm>
              <a:off x="8831686" y="3011017"/>
              <a:ext cx="0" cy="349200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直接连接符 172"/>
            <p:cNvCxnSpPr/>
            <p:nvPr/>
          </p:nvCxnSpPr>
          <p:spPr bwMode="auto">
            <a:xfrm>
              <a:off x="9562654" y="2936997"/>
              <a:ext cx="0" cy="349200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直接连接符 173"/>
            <p:cNvCxnSpPr/>
            <p:nvPr/>
          </p:nvCxnSpPr>
          <p:spPr bwMode="auto">
            <a:xfrm>
              <a:off x="9847134" y="2987797"/>
              <a:ext cx="0" cy="349200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下箭头 34"/>
          <p:cNvSpPr/>
          <p:nvPr/>
        </p:nvSpPr>
        <p:spPr bwMode="auto">
          <a:xfrm>
            <a:off x="5976744" y="3356992"/>
            <a:ext cx="360040" cy="792088"/>
          </a:xfrm>
          <a:prstGeom prst="down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2" name="内容占位符 2"/>
          <p:cNvSpPr txBox="1"/>
          <p:nvPr/>
        </p:nvSpPr>
        <p:spPr bwMode="auto">
          <a:xfrm>
            <a:off x="233680" y="56292"/>
            <a:ext cx="11785600" cy="916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zh-CN" altLang="en-US" sz="2800" dirty="0">
                <a:solidFill>
                  <a:srgbClr val="00000C"/>
                </a:solidFill>
              </a:rPr>
              <a:t>请同学们做：对产品组合问题</a:t>
            </a:r>
            <a:r>
              <a:rPr lang="zh-CN" altLang="en-US" sz="2800" dirty="0">
                <a:solidFill>
                  <a:srgbClr val="060606"/>
                </a:solidFill>
              </a:rPr>
              <a:t>应用</a:t>
            </a:r>
            <a:r>
              <a:rPr lang="en-US" altLang="zh-CN" sz="2800" dirty="0">
                <a:solidFill>
                  <a:srgbClr val="060606"/>
                </a:solidFill>
              </a:rPr>
              <a:t>Gauss</a:t>
            </a:r>
            <a:r>
              <a:rPr lang="zh-CN" altLang="en-US" sz="2800" dirty="0">
                <a:solidFill>
                  <a:srgbClr val="060606"/>
                </a:solidFill>
              </a:rPr>
              <a:t>消元法等得到新的方程组和</a:t>
            </a:r>
            <a:r>
              <a:rPr lang="en-US" altLang="zh-CN" sz="2800" dirty="0">
                <a:solidFill>
                  <a:srgbClr val="060606"/>
                </a:solidFill>
              </a:rPr>
              <a:t>A’</a:t>
            </a:r>
            <a:r>
              <a:rPr lang="en-US" altLang="zh-CN" sz="2800" baseline="-25000" dirty="0">
                <a:solidFill>
                  <a:srgbClr val="060606"/>
                </a:solidFill>
              </a:rPr>
              <a:t> 3× 5</a:t>
            </a:r>
            <a:r>
              <a:rPr lang="zh-CN" altLang="en-US" sz="2800" dirty="0">
                <a:solidFill>
                  <a:srgbClr val="060606"/>
                </a:solidFill>
              </a:rPr>
              <a:t>。</a:t>
            </a:r>
            <a:endParaRPr lang="en-US" altLang="zh-CN" sz="2800" dirty="0">
              <a:solidFill>
                <a:srgbClr val="00000C"/>
              </a:solidFill>
            </a:endParaRPr>
          </a:p>
        </p:txBody>
      </p:sp>
      <p:grpSp>
        <p:nvGrpSpPr>
          <p:cNvPr id="14" name="组合 36"/>
          <p:cNvGrpSpPr/>
          <p:nvPr/>
        </p:nvGrpSpPr>
        <p:grpSpPr>
          <a:xfrm>
            <a:off x="812800" y="980729"/>
            <a:ext cx="5668000" cy="2261865"/>
            <a:chOff x="2432392" y="4293096"/>
            <a:chExt cx="5668000" cy="2261865"/>
          </a:xfrm>
        </p:grpSpPr>
        <p:sp>
          <p:nvSpPr>
            <p:cNvPr id="16" name="矩形 15"/>
            <p:cNvSpPr/>
            <p:nvPr/>
          </p:nvSpPr>
          <p:spPr>
            <a:xfrm>
              <a:off x="3131840" y="4293096"/>
              <a:ext cx="3600400" cy="476541"/>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a:t>
              </a:r>
              <a:r>
                <a:rPr lang="zh-CN" altLang="en-US" sz="2400" dirty="0">
                  <a:solidFill>
                    <a:srgbClr val="060606"/>
                  </a:solidFill>
                </a:rPr>
                <a:t>－</a:t>
              </a:r>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5x</a:t>
              </a:r>
              <a:r>
                <a:rPr lang="en-US" altLang="zh-CN" sz="2400" baseline="-25000" dirty="0">
                  <a:solidFill>
                    <a:srgbClr val="060606"/>
                  </a:solidFill>
                </a:rPr>
                <a:t>2</a:t>
              </a:r>
              <a:r>
                <a:rPr lang="en-US" altLang="zh-CN" sz="2400" dirty="0">
                  <a:solidFill>
                    <a:srgbClr val="060606"/>
                  </a:solidFill>
                </a:rPr>
                <a:t> = 0 </a:t>
              </a:r>
              <a:endParaRPr lang="en-US" altLang="zh-CN" sz="2400" dirty="0">
                <a:solidFill>
                  <a:srgbClr val="060606"/>
                </a:solidFill>
              </a:endParaRPr>
            </a:p>
          </p:txBody>
        </p:sp>
        <p:sp>
          <p:nvSpPr>
            <p:cNvPr id="17" name="矩形 16"/>
            <p:cNvSpPr/>
            <p:nvPr/>
          </p:nvSpPr>
          <p:spPr>
            <a:xfrm>
              <a:off x="3131840" y="4725144"/>
              <a:ext cx="2332690"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4</a:t>
              </a:r>
              <a:endParaRPr lang="zh-CN" altLang="en-US" dirty="0"/>
            </a:p>
          </p:txBody>
        </p:sp>
        <p:sp>
          <p:nvSpPr>
            <p:cNvPr id="18" name="矩形 17"/>
            <p:cNvSpPr/>
            <p:nvPr/>
          </p:nvSpPr>
          <p:spPr>
            <a:xfrm>
              <a:off x="3131840" y="5589240"/>
              <a:ext cx="3437159"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x</a:t>
              </a:r>
              <a:r>
                <a:rPr lang="en-US" altLang="zh-CN" sz="2400" baseline="-25000" dirty="0">
                  <a:solidFill>
                    <a:srgbClr val="060606"/>
                  </a:solidFill>
                </a:rPr>
                <a:t>5 </a:t>
              </a:r>
              <a:r>
                <a:rPr lang="en-US" altLang="zh-CN" sz="2400" dirty="0">
                  <a:solidFill>
                    <a:srgbClr val="060606"/>
                  </a:solidFill>
                </a:rPr>
                <a:t> = 18</a:t>
              </a:r>
              <a:endParaRPr lang="zh-CN" altLang="en-US" dirty="0"/>
            </a:p>
          </p:txBody>
        </p:sp>
        <p:sp>
          <p:nvSpPr>
            <p:cNvPr id="19" name="矩形 18"/>
            <p:cNvSpPr/>
            <p:nvPr/>
          </p:nvSpPr>
          <p:spPr>
            <a:xfrm>
              <a:off x="2432392" y="6093296"/>
              <a:ext cx="5668000" cy="461665"/>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20" name="矩形 19"/>
            <p:cNvSpPr/>
            <p:nvPr/>
          </p:nvSpPr>
          <p:spPr>
            <a:xfrm>
              <a:off x="3131840" y="5157192"/>
              <a:ext cx="2685351"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2</a:t>
              </a:r>
              <a:r>
                <a:rPr lang="zh-CN" altLang="en-US" sz="2400" dirty="0">
                  <a:solidFill>
                    <a:srgbClr val="060606"/>
                  </a:solidFill>
                </a:rPr>
                <a:t>）</a:t>
              </a:r>
              <a:r>
                <a:rPr lang="en-US" altLang="zh-CN" sz="2400" dirty="0">
                  <a:solidFill>
                    <a:srgbClr val="060606"/>
                  </a:solidFill>
                </a:rPr>
                <a:t> 2x</a:t>
              </a:r>
              <a:r>
                <a:rPr lang="en-US" altLang="zh-CN" sz="2400" baseline="-25000" dirty="0">
                  <a:solidFill>
                    <a:srgbClr val="060606"/>
                  </a:solidFill>
                </a:rPr>
                <a:t>2</a:t>
              </a:r>
              <a:r>
                <a:rPr lang="en-US" altLang="zh-CN" sz="2400" dirty="0">
                  <a:solidFill>
                    <a:srgbClr val="060606"/>
                  </a:solidFill>
                </a:rPr>
                <a:t>  +x</a:t>
              </a:r>
              <a:r>
                <a:rPr lang="en-US" altLang="zh-CN" sz="2400" baseline="-25000" dirty="0">
                  <a:solidFill>
                    <a:srgbClr val="060606"/>
                  </a:solidFill>
                </a:rPr>
                <a:t>4</a:t>
              </a:r>
              <a:r>
                <a:rPr lang="en-US" altLang="zh-CN" sz="2400" dirty="0">
                  <a:solidFill>
                    <a:srgbClr val="060606"/>
                  </a:solidFill>
                </a:rPr>
                <a:t> =12</a:t>
              </a:r>
              <a:endParaRPr lang="zh-CN" altLang="en-US" sz="2400" dirty="0">
                <a:solidFill>
                  <a:srgbClr val="060606"/>
                </a:solidFill>
              </a:endParaRPr>
            </a:p>
          </p:txBody>
        </p:sp>
      </p:grpSp>
      <p:grpSp>
        <p:nvGrpSpPr>
          <p:cNvPr id="21" name="组合 48"/>
          <p:cNvGrpSpPr/>
          <p:nvPr/>
        </p:nvGrpSpPr>
        <p:grpSpPr>
          <a:xfrm>
            <a:off x="6768832" y="1340768"/>
            <a:ext cx="3685808" cy="2160240"/>
            <a:chOff x="5580112" y="4221088"/>
            <a:chExt cx="3024336" cy="2160240"/>
          </a:xfrm>
        </p:grpSpPr>
        <p:grpSp>
          <p:nvGrpSpPr>
            <p:cNvPr id="22" name="组合 37"/>
            <p:cNvGrpSpPr/>
            <p:nvPr/>
          </p:nvGrpSpPr>
          <p:grpSpPr>
            <a:xfrm>
              <a:off x="5580112" y="4221088"/>
              <a:ext cx="3024336" cy="2160240"/>
              <a:chOff x="6228184" y="1916832"/>
              <a:chExt cx="3024336" cy="2160240"/>
            </a:xfrm>
          </p:grpSpPr>
          <p:sp>
            <p:nvSpPr>
              <p:cNvPr id="25" name="矩形 24"/>
              <p:cNvSpPr/>
              <p:nvPr/>
            </p:nvSpPr>
            <p:spPr>
              <a:xfrm>
                <a:off x="6228184" y="2348880"/>
                <a:ext cx="1144865" cy="461665"/>
              </a:xfrm>
              <a:prstGeom prst="rect">
                <a:avLst/>
              </a:prstGeom>
            </p:spPr>
            <p:txBody>
              <a:bodyPr wrap="none">
                <a:spAutoFit/>
              </a:bodyPr>
              <a:lstStyle/>
              <a:p>
                <a:r>
                  <a:rPr lang="en-US" altLang="zh-CN" sz="2400" b="1" dirty="0">
                    <a:solidFill>
                      <a:srgbClr val="060606"/>
                    </a:solidFill>
                  </a:rPr>
                  <a:t>A</a:t>
                </a:r>
                <a:r>
                  <a:rPr lang="en-US" altLang="zh-CN" sz="2400" baseline="-25000" dirty="0">
                    <a:solidFill>
                      <a:srgbClr val="060606"/>
                    </a:solidFill>
                  </a:rPr>
                  <a:t>3 × 5</a:t>
                </a:r>
                <a:r>
                  <a:rPr lang="en-US" altLang="zh-CN" sz="2400" dirty="0">
                    <a:solidFill>
                      <a:srgbClr val="060606"/>
                    </a:solidFill>
                  </a:rPr>
                  <a:t> =</a:t>
                </a:r>
                <a:endParaRPr lang="zh-CN" altLang="en-US" sz="2400" dirty="0"/>
              </a:p>
            </p:txBody>
          </p:sp>
          <p:sp>
            <p:nvSpPr>
              <p:cNvPr id="26" name="双括号 25"/>
              <p:cNvSpPr/>
              <p:nvPr/>
            </p:nvSpPr>
            <p:spPr bwMode="auto">
              <a:xfrm>
                <a:off x="7308304" y="1916832"/>
                <a:ext cx="1728192" cy="1584176"/>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27" name="矩形 26"/>
              <p:cNvSpPr/>
              <p:nvPr/>
            </p:nvSpPr>
            <p:spPr>
              <a:xfrm>
                <a:off x="7308304" y="2996952"/>
                <a:ext cx="1656184" cy="830997"/>
              </a:xfrm>
              <a:prstGeom prst="rect">
                <a:avLst/>
              </a:prstGeom>
            </p:spPr>
            <p:txBody>
              <a:bodyPr wrap="square">
                <a:spAutoFit/>
              </a:bodyPr>
              <a:lstStyle/>
              <a:p>
                <a:pPr algn="ctr"/>
                <a:r>
                  <a:rPr lang="en-US" altLang="zh-CN" sz="2400" dirty="0">
                    <a:solidFill>
                      <a:srgbClr val="060606"/>
                    </a:solidFill>
                  </a:rPr>
                  <a:t>3  2  0  </a:t>
                </a:r>
                <a:r>
                  <a:rPr lang="en-US" altLang="zh-CN" sz="2400" dirty="0" err="1">
                    <a:solidFill>
                      <a:srgbClr val="060606"/>
                    </a:solidFill>
                  </a:rPr>
                  <a:t>0</a:t>
                </a:r>
                <a:r>
                  <a:rPr lang="en-US" altLang="zh-CN" sz="2400" dirty="0">
                    <a:solidFill>
                      <a:srgbClr val="060606"/>
                    </a:solidFill>
                  </a:rPr>
                  <a:t>  1</a:t>
                </a:r>
                <a:endParaRPr lang="zh-CN" altLang="en-US" sz="2400" dirty="0"/>
              </a:p>
            </p:txBody>
          </p:sp>
          <p:sp>
            <p:nvSpPr>
              <p:cNvPr id="28" name="矩形 27"/>
              <p:cNvSpPr/>
              <p:nvPr/>
            </p:nvSpPr>
            <p:spPr>
              <a:xfrm>
                <a:off x="7308304" y="2492896"/>
                <a:ext cx="1656184" cy="830997"/>
              </a:xfrm>
              <a:prstGeom prst="rect">
                <a:avLst/>
              </a:prstGeom>
            </p:spPr>
            <p:txBody>
              <a:bodyPr wrap="square">
                <a:spAutoFit/>
              </a:bodyPr>
              <a:lstStyle/>
              <a:p>
                <a:pPr algn="ctr"/>
                <a:r>
                  <a:rPr lang="en-US" altLang="zh-CN" sz="2400" dirty="0">
                    <a:solidFill>
                      <a:srgbClr val="060606"/>
                    </a:solidFill>
                  </a:rPr>
                  <a:t>0  2  0  1  0</a:t>
                </a:r>
                <a:endParaRPr lang="zh-CN" altLang="en-US" sz="2400" dirty="0"/>
              </a:p>
            </p:txBody>
          </p:sp>
          <p:sp>
            <p:nvSpPr>
              <p:cNvPr id="29" name="矩形 28"/>
              <p:cNvSpPr/>
              <p:nvPr/>
            </p:nvSpPr>
            <p:spPr>
              <a:xfrm>
                <a:off x="7308304" y="1988840"/>
                <a:ext cx="1656184" cy="830997"/>
              </a:xfrm>
              <a:prstGeom prst="rect">
                <a:avLst/>
              </a:prstGeom>
            </p:spPr>
            <p:txBody>
              <a:bodyPr wrap="square">
                <a:spAutoFit/>
              </a:bodyPr>
              <a:lstStyle/>
              <a:p>
                <a:pPr algn="ctr"/>
                <a:r>
                  <a:rPr lang="en-US" altLang="zh-CN" sz="2400" dirty="0">
                    <a:solidFill>
                      <a:srgbClr val="060606"/>
                    </a:solidFill>
                  </a:rPr>
                  <a:t>1  0  1  0  0</a:t>
                </a:r>
                <a:endParaRPr lang="zh-CN" altLang="en-US" sz="2400" dirty="0"/>
              </a:p>
            </p:txBody>
          </p:sp>
          <p:sp>
            <p:nvSpPr>
              <p:cNvPr id="30" name="矩形 29"/>
              <p:cNvSpPr/>
              <p:nvPr/>
            </p:nvSpPr>
            <p:spPr>
              <a:xfrm>
                <a:off x="6300192" y="3615407"/>
                <a:ext cx="2952328" cy="461665"/>
              </a:xfrm>
              <a:prstGeom prst="rect">
                <a:avLst/>
              </a:prstGeom>
            </p:spPr>
            <p:txBody>
              <a:bodyPr wrap="square">
                <a:spAutoFit/>
              </a:bodyPr>
              <a:lstStyle/>
              <a:p>
                <a:pPr algn="ctr"/>
                <a:r>
                  <a:rPr lang="zh-CN" altLang="en-US" sz="2400">
                    <a:solidFill>
                      <a:srgbClr val="060606"/>
                    </a:solidFill>
                  </a:rPr>
                  <a:t>单位矩阵：基</a:t>
                </a:r>
                <a:r>
                  <a:rPr lang="en-US" altLang="zh-CN" sz="2400" dirty="0">
                    <a:solidFill>
                      <a:srgbClr val="060606"/>
                    </a:solidFill>
                  </a:rPr>
                  <a:t>B</a:t>
                </a:r>
                <a:r>
                  <a:rPr lang="en-US" altLang="zh-CN" sz="2400" baseline="-25000" dirty="0">
                    <a:solidFill>
                      <a:srgbClr val="060606"/>
                    </a:solidFill>
                  </a:rPr>
                  <a:t>3×3</a:t>
                </a:r>
                <a:endParaRPr lang="zh-CN" altLang="en-US" sz="2400" baseline="-25000" dirty="0"/>
              </a:p>
            </p:txBody>
          </p:sp>
        </p:grpSp>
        <p:sp>
          <p:nvSpPr>
            <p:cNvPr id="23" name="任意多边形 22"/>
            <p:cNvSpPr/>
            <p:nvPr/>
          </p:nvSpPr>
          <p:spPr bwMode="auto">
            <a:xfrm>
              <a:off x="7382352" y="4293920"/>
              <a:ext cx="823865" cy="1394233"/>
            </a:xfrm>
            <a:custGeom>
              <a:avLst/>
              <a:gdLst>
                <a:gd name="connsiteX0" fmla="*/ 18107 w 823865"/>
                <a:gd name="connsiteY0" fmla="*/ 9053 h 1394233"/>
                <a:gd name="connsiteX1" fmla="*/ 805758 w 823865"/>
                <a:gd name="connsiteY1" fmla="*/ 0 h 1394233"/>
                <a:gd name="connsiteX2" fmla="*/ 823865 w 823865"/>
                <a:gd name="connsiteY2" fmla="*/ 1394233 h 1394233"/>
                <a:gd name="connsiteX3" fmla="*/ 0 w 823865"/>
                <a:gd name="connsiteY3" fmla="*/ 1376126 h 1394233"/>
                <a:gd name="connsiteX4" fmla="*/ 18107 w 823865"/>
                <a:gd name="connsiteY4" fmla="*/ 9053 h 139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865" h="1394233">
                  <a:moveTo>
                    <a:pt x="18107" y="9053"/>
                  </a:moveTo>
                  <a:lnTo>
                    <a:pt x="805758" y="0"/>
                  </a:lnTo>
                  <a:lnTo>
                    <a:pt x="823865" y="1394233"/>
                  </a:lnTo>
                  <a:lnTo>
                    <a:pt x="0" y="1376126"/>
                  </a:lnTo>
                  <a:cubicBezTo>
                    <a:pt x="3018" y="911382"/>
                    <a:pt x="6035" y="446637"/>
                    <a:pt x="18107" y="9053"/>
                  </a:cubicBezTo>
                  <a:close/>
                </a:path>
              </a:pathLst>
            </a:custGeom>
            <a:no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cxnSp>
          <p:nvCxnSpPr>
            <p:cNvPr id="24" name="直接箭头连接符 23"/>
            <p:cNvCxnSpPr/>
            <p:nvPr/>
          </p:nvCxnSpPr>
          <p:spPr bwMode="auto">
            <a:xfrm flipH="1">
              <a:off x="7668344" y="5517232"/>
              <a:ext cx="144016" cy="432048"/>
            </a:xfrm>
            <a:prstGeom prst="straightConnector1">
              <a:avLst/>
            </a:prstGeom>
            <a:solidFill>
              <a:schemeClr val="accent1"/>
            </a:solidFill>
            <a:ln w="28575" cap="flat" cmpd="sng" algn="ctr">
              <a:solidFill>
                <a:srgbClr val="00B05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1" name="矩形 30"/>
          <p:cNvSpPr/>
          <p:nvPr/>
        </p:nvSpPr>
        <p:spPr>
          <a:xfrm>
            <a:off x="7344896" y="764705"/>
            <a:ext cx="2446504" cy="461665"/>
          </a:xfrm>
          <a:prstGeom prst="rect">
            <a:avLst/>
          </a:prstGeom>
        </p:spPr>
        <p:txBody>
          <a:bodyPr wrap="none">
            <a:spAutoFit/>
          </a:bodyPr>
          <a:lstStyle/>
          <a:p>
            <a:r>
              <a:rPr lang="en-US" altLang="zh-CN" sz="2400" dirty="0">
                <a:solidFill>
                  <a:srgbClr val="060606"/>
                </a:solidFill>
              </a:rPr>
              <a:t>b = (4</a:t>
            </a:r>
            <a:r>
              <a:rPr lang="zh-CN" altLang="en-US" sz="2400" dirty="0">
                <a:solidFill>
                  <a:srgbClr val="060606"/>
                </a:solidFill>
              </a:rPr>
              <a:t>，</a:t>
            </a:r>
            <a:r>
              <a:rPr lang="en-US" altLang="zh-CN" sz="2400" dirty="0">
                <a:solidFill>
                  <a:srgbClr val="060606"/>
                </a:solidFill>
              </a:rPr>
              <a:t>12</a:t>
            </a:r>
            <a:r>
              <a:rPr lang="zh-CN" altLang="en-US" sz="2400" dirty="0">
                <a:solidFill>
                  <a:srgbClr val="060606"/>
                </a:solidFill>
              </a:rPr>
              <a:t>，</a:t>
            </a:r>
            <a:r>
              <a:rPr lang="en-US" altLang="zh-CN" sz="2400" dirty="0">
                <a:solidFill>
                  <a:srgbClr val="060606"/>
                </a:solidFill>
              </a:rPr>
              <a:t>18)</a:t>
            </a:r>
            <a:r>
              <a:rPr lang="en-US" altLang="zh-CN" sz="2400" baseline="30000" dirty="0">
                <a:solidFill>
                  <a:srgbClr val="060606"/>
                </a:solidFill>
              </a:rPr>
              <a:t>T</a:t>
            </a:r>
            <a:endParaRPr lang="zh-CN" altLang="en-US" sz="2400" baseline="30000" dirty="0">
              <a:solidFill>
                <a:srgbClr val="060606"/>
              </a:solidFill>
            </a:endParaRPr>
          </a:p>
        </p:txBody>
      </p:sp>
      <p:sp>
        <p:nvSpPr>
          <p:cNvPr id="32" name="右箭头 31"/>
          <p:cNvSpPr/>
          <p:nvPr/>
        </p:nvSpPr>
        <p:spPr bwMode="auto">
          <a:xfrm>
            <a:off x="5544696" y="1700808"/>
            <a:ext cx="576064" cy="360040"/>
          </a:xfrm>
          <a:prstGeom prst="rightArrow">
            <a:avLst/>
          </a:prstGeom>
          <a:noFill/>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lang="zh-CN" altLang="en-US">
              <a:solidFill>
                <a:schemeClr val="tx1"/>
              </a:solidFill>
              <a:latin typeface="Arial" panose="020B0604020202090204" pitchFamily="34" charset="0"/>
              <a:ea typeface="宋体" panose="02010600030101010101" pitchFamily="2" charset="-122"/>
            </a:endParaRPr>
          </a:p>
        </p:txBody>
      </p:sp>
      <p:sp>
        <p:nvSpPr>
          <p:cNvPr id="34" name="矩形 33"/>
          <p:cNvSpPr/>
          <p:nvPr/>
        </p:nvSpPr>
        <p:spPr>
          <a:xfrm>
            <a:off x="3600481" y="3429000"/>
            <a:ext cx="4956223" cy="523220"/>
          </a:xfrm>
          <a:prstGeom prst="rect">
            <a:avLst/>
          </a:prstGeom>
        </p:spPr>
        <p:txBody>
          <a:bodyPr wrap="square">
            <a:spAutoFit/>
          </a:bodyPr>
          <a:lstStyle/>
          <a:p>
            <a:r>
              <a:rPr lang="en-US" altLang="zh-CN" sz="2800" dirty="0">
                <a:solidFill>
                  <a:srgbClr val="060606"/>
                </a:solidFill>
              </a:rPr>
              <a:t> x</a:t>
            </a:r>
            <a:r>
              <a:rPr lang="en-US" altLang="zh-CN" sz="2800" baseline="-25000" dirty="0">
                <a:solidFill>
                  <a:srgbClr val="060606"/>
                </a:solidFill>
              </a:rPr>
              <a:t>2</a:t>
            </a:r>
            <a:r>
              <a:rPr lang="zh-CN" altLang="en-US" sz="2800" dirty="0">
                <a:solidFill>
                  <a:srgbClr val="060606"/>
                </a:solidFill>
              </a:rPr>
              <a:t>为换入变量，</a:t>
            </a:r>
            <a:r>
              <a:rPr lang="en-US" altLang="zh-CN" sz="2800" dirty="0">
                <a:solidFill>
                  <a:srgbClr val="060606"/>
                </a:solidFill>
              </a:rPr>
              <a:t>x</a:t>
            </a:r>
            <a:r>
              <a:rPr lang="en-US" altLang="zh-CN" sz="2800" baseline="-25000" dirty="0">
                <a:solidFill>
                  <a:srgbClr val="060606"/>
                </a:solidFill>
              </a:rPr>
              <a:t>4</a:t>
            </a:r>
            <a:r>
              <a:rPr lang="zh-CN" altLang="en-US" sz="2800" dirty="0">
                <a:solidFill>
                  <a:srgbClr val="060606"/>
                </a:solidFill>
              </a:rPr>
              <a:t>为换出变量</a:t>
            </a:r>
            <a:endParaRPr lang="zh-CN" altLang="en-US" sz="2800" dirty="0"/>
          </a:p>
        </p:txBody>
      </p:sp>
      <p:grpSp>
        <p:nvGrpSpPr>
          <p:cNvPr id="58" name="组合 57"/>
          <p:cNvGrpSpPr/>
          <p:nvPr/>
        </p:nvGrpSpPr>
        <p:grpSpPr>
          <a:xfrm>
            <a:off x="1584256" y="3933056"/>
            <a:ext cx="9327584" cy="2924944"/>
            <a:chOff x="395536" y="3933056"/>
            <a:chExt cx="8352928" cy="2924944"/>
          </a:xfrm>
        </p:grpSpPr>
        <p:sp>
          <p:nvSpPr>
            <p:cNvPr id="33" name="内容占位符 2"/>
            <p:cNvSpPr txBox="1"/>
            <p:nvPr/>
          </p:nvSpPr>
          <p:spPr bwMode="auto">
            <a:xfrm>
              <a:off x="3203848" y="6337912"/>
              <a:ext cx="3887663" cy="52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defRPr/>
              </a:pPr>
              <a:r>
                <a:rPr lang="zh-CN" altLang="en-US" sz="2400" dirty="0">
                  <a:solidFill>
                    <a:srgbClr val="060606"/>
                  </a:solidFill>
                </a:rPr>
                <a:t>产品组合问题的新的方程组</a:t>
              </a:r>
              <a:endParaRPr lang="en-US" altLang="zh-CN" sz="2400" dirty="0">
                <a:solidFill>
                  <a:srgbClr val="060606"/>
                </a:solidFill>
              </a:endParaRPr>
            </a:p>
          </p:txBody>
        </p:sp>
        <p:grpSp>
          <p:nvGrpSpPr>
            <p:cNvPr id="36" name="组合 36"/>
            <p:cNvGrpSpPr/>
            <p:nvPr/>
          </p:nvGrpSpPr>
          <p:grpSpPr>
            <a:xfrm>
              <a:off x="395536" y="3933056"/>
              <a:ext cx="4968552" cy="2631197"/>
              <a:chOff x="3131840" y="4293096"/>
              <a:chExt cx="4968552" cy="2631197"/>
            </a:xfrm>
          </p:grpSpPr>
          <p:sp>
            <p:nvSpPr>
              <p:cNvPr id="37" name="矩形 36"/>
              <p:cNvSpPr/>
              <p:nvPr/>
            </p:nvSpPr>
            <p:spPr>
              <a:xfrm>
                <a:off x="3131840" y="4293096"/>
                <a:ext cx="3600400" cy="885499"/>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a:t>
                </a:r>
                <a:r>
                  <a:rPr lang="zh-CN" altLang="en-US" sz="2400" dirty="0">
                    <a:solidFill>
                      <a:srgbClr val="060606"/>
                    </a:solidFill>
                  </a:rPr>
                  <a:t>－</a:t>
                </a:r>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a:t>
                </a:r>
                <a:r>
                  <a:rPr lang="en-US" altLang="zh-CN" sz="2400" dirty="0">
                    <a:solidFill>
                      <a:srgbClr val="0000AC"/>
                    </a:solidFill>
                  </a:rPr>
                  <a:t>x</a:t>
                </a:r>
                <a:r>
                  <a:rPr lang="en-US" altLang="zh-CN" sz="2400" baseline="-25000" dirty="0">
                    <a:solidFill>
                      <a:srgbClr val="0000AC"/>
                    </a:solidFill>
                  </a:rPr>
                  <a:t>4</a:t>
                </a:r>
                <a:r>
                  <a:rPr lang="en-US" altLang="zh-CN" sz="2400" dirty="0">
                    <a:solidFill>
                      <a:srgbClr val="060606"/>
                    </a:solidFill>
                  </a:rPr>
                  <a:t>/2 = 30 </a:t>
                </a:r>
                <a:endParaRPr lang="en-US" altLang="zh-CN" sz="2400" dirty="0">
                  <a:solidFill>
                    <a:srgbClr val="060606"/>
                  </a:solidFill>
                </a:endParaRPr>
              </a:p>
            </p:txBody>
          </p:sp>
          <p:sp>
            <p:nvSpPr>
              <p:cNvPr id="38" name="矩形 37"/>
              <p:cNvSpPr/>
              <p:nvPr/>
            </p:nvSpPr>
            <p:spPr>
              <a:xfrm>
                <a:off x="3131840" y="4725144"/>
                <a:ext cx="2332690"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000AC"/>
                    </a:solidFill>
                  </a:rPr>
                  <a:t>+ x</a:t>
                </a:r>
                <a:r>
                  <a:rPr lang="en-US" altLang="zh-CN" sz="2400" baseline="-25000" dirty="0">
                    <a:solidFill>
                      <a:srgbClr val="0000AC"/>
                    </a:solidFill>
                  </a:rPr>
                  <a:t>3</a:t>
                </a:r>
                <a:r>
                  <a:rPr lang="en-US" altLang="zh-CN" sz="2400" dirty="0">
                    <a:solidFill>
                      <a:srgbClr val="060606"/>
                    </a:solidFill>
                  </a:rPr>
                  <a:t>= 4</a:t>
                </a:r>
                <a:endParaRPr lang="zh-CN" altLang="en-US" dirty="0"/>
              </a:p>
            </p:txBody>
          </p:sp>
          <p:sp>
            <p:nvSpPr>
              <p:cNvPr id="39" name="矩形 38"/>
              <p:cNvSpPr/>
              <p:nvPr/>
            </p:nvSpPr>
            <p:spPr>
              <a:xfrm>
                <a:off x="3131840" y="5589240"/>
                <a:ext cx="3231975"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3x</a:t>
                </a:r>
                <a:r>
                  <a:rPr lang="en-US" altLang="zh-CN" sz="2400" baseline="-25000" dirty="0">
                    <a:solidFill>
                      <a:srgbClr val="060606"/>
                    </a:solidFill>
                  </a:rPr>
                  <a:t>1</a:t>
                </a:r>
                <a:r>
                  <a:rPr lang="en-US" altLang="zh-CN" sz="2400" dirty="0">
                    <a:solidFill>
                      <a:srgbClr val="060606"/>
                    </a:solidFill>
                  </a:rPr>
                  <a:t> - x</a:t>
                </a:r>
                <a:r>
                  <a:rPr lang="en-US" altLang="zh-CN" sz="2400" baseline="-25000" dirty="0">
                    <a:solidFill>
                      <a:srgbClr val="060606"/>
                    </a:solidFill>
                  </a:rPr>
                  <a:t>4</a:t>
                </a:r>
                <a:r>
                  <a:rPr lang="en-US" altLang="zh-CN" sz="2400" dirty="0">
                    <a:solidFill>
                      <a:srgbClr val="060606"/>
                    </a:solidFill>
                  </a:rPr>
                  <a:t> + </a:t>
                </a:r>
                <a:r>
                  <a:rPr lang="en-US" altLang="zh-CN" sz="2400" dirty="0">
                    <a:solidFill>
                      <a:srgbClr val="0000AC"/>
                    </a:solidFill>
                  </a:rPr>
                  <a:t>x</a:t>
                </a:r>
                <a:r>
                  <a:rPr lang="en-US" altLang="zh-CN" sz="2400" baseline="-25000" dirty="0">
                    <a:solidFill>
                      <a:srgbClr val="0000AC"/>
                    </a:solidFill>
                  </a:rPr>
                  <a:t>5</a:t>
                </a:r>
                <a:r>
                  <a:rPr lang="en-US" altLang="zh-CN" sz="2400" baseline="-25000" dirty="0">
                    <a:solidFill>
                      <a:srgbClr val="060606"/>
                    </a:solidFill>
                  </a:rPr>
                  <a:t> </a:t>
                </a:r>
                <a:r>
                  <a:rPr lang="en-US" altLang="zh-CN" sz="2400" dirty="0">
                    <a:solidFill>
                      <a:srgbClr val="060606"/>
                    </a:solidFill>
                  </a:rPr>
                  <a:t> = 6</a:t>
                </a:r>
                <a:endParaRPr lang="zh-CN" altLang="en-US" dirty="0"/>
              </a:p>
            </p:txBody>
          </p:sp>
          <p:sp>
            <p:nvSpPr>
              <p:cNvPr id="40" name="矩形 39"/>
              <p:cNvSpPr/>
              <p:nvPr/>
            </p:nvSpPr>
            <p:spPr>
              <a:xfrm>
                <a:off x="3131840" y="6093296"/>
                <a:ext cx="4968552" cy="830997"/>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41" name="矩形 40"/>
              <p:cNvSpPr/>
              <p:nvPr/>
            </p:nvSpPr>
            <p:spPr>
              <a:xfrm>
                <a:off x="3131840" y="5157192"/>
                <a:ext cx="2640466"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2</a:t>
                </a:r>
                <a:r>
                  <a:rPr lang="zh-CN" altLang="en-US" sz="2400" dirty="0">
                    <a:solidFill>
                      <a:srgbClr val="060606"/>
                    </a:solidFill>
                  </a:rPr>
                  <a:t>）</a:t>
                </a:r>
                <a:r>
                  <a:rPr lang="en-US" altLang="zh-CN" sz="2400" dirty="0">
                    <a:solidFill>
                      <a:srgbClr val="0000AC"/>
                    </a:solidFill>
                  </a:rPr>
                  <a:t> x</a:t>
                </a:r>
                <a:r>
                  <a:rPr lang="en-US" altLang="zh-CN" sz="2400" baseline="-25000" dirty="0">
                    <a:solidFill>
                      <a:srgbClr val="0000AC"/>
                    </a:solidFill>
                  </a:rPr>
                  <a:t>2</a:t>
                </a:r>
                <a:r>
                  <a:rPr lang="en-US" altLang="zh-CN" sz="2400" dirty="0">
                    <a:solidFill>
                      <a:srgbClr val="0000AC"/>
                    </a:solidFill>
                  </a:rPr>
                  <a:t>  </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/2 =6</a:t>
                </a:r>
                <a:endParaRPr lang="zh-CN" altLang="en-US" sz="2400" dirty="0">
                  <a:solidFill>
                    <a:srgbClr val="060606"/>
                  </a:solidFill>
                </a:endParaRPr>
              </a:p>
            </p:txBody>
          </p:sp>
        </p:grpSp>
        <p:grpSp>
          <p:nvGrpSpPr>
            <p:cNvPr id="42" name="组合 48"/>
            <p:cNvGrpSpPr/>
            <p:nvPr/>
          </p:nvGrpSpPr>
          <p:grpSpPr>
            <a:xfrm>
              <a:off x="5652120" y="4293096"/>
              <a:ext cx="3096344" cy="2160240"/>
              <a:chOff x="5580112" y="4221088"/>
              <a:chExt cx="3096344" cy="2160240"/>
            </a:xfrm>
          </p:grpSpPr>
          <p:grpSp>
            <p:nvGrpSpPr>
              <p:cNvPr id="43" name="组合 37"/>
              <p:cNvGrpSpPr/>
              <p:nvPr/>
            </p:nvGrpSpPr>
            <p:grpSpPr>
              <a:xfrm>
                <a:off x="5580112" y="4221088"/>
                <a:ext cx="3096344" cy="2160240"/>
                <a:chOff x="6228184" y="1916832"/>
                <a:chExt cx="3096344" cy="2160240"/>
              </a:xfrm>
            </p:grpSpPr>
            <p:sp>
              <p:nvSpPr>
                <p:cNvPr id="46" name="矩形 45"/>
                <p:cNvSpPr/>
                <p:nvPr/>
              </p:nvSpPr>
              <p:spPr>
                <a:xfrm>
                  <a:off x="6228184" y="2348880"/>
                  <a:ext cx="1223412" cy="461665"/>
                </a:xfrm>
                <a:prstGeom prst="rect">
                  <a:avLst/>
                </a:prstGeom>
              </p:spPr>
              <p:txBody>
                <a:bodyPr wrap="none">
                  <a:spAutoFit/>
                </a:bodyPr>
                <a:lstStyle/>
                <a:p>
                  <a:r>
                    <a:rPr lang="en-US" altLang="zh-CN" sz="2400" b="1" dirty="0">
                      <a:solidFill>
                        <a:srgbClr val="060606"/>
                      </a:solidFill>
                    </a:rPr>
                    <a:t>A’</a:t>
                  </a:r>
                  <a:r>
                    <a:rPr lang="en-US" altLang="zh-CN" sz="2400" baseline="-25000" dirty="0">
                      <a:solidFill>
                        <a:srgbClr val="060606"/>
                      </a:solidFill>
                    </a:rPr>
                    <a:t>3 × 5</a:t>
                  </a:r>
                  <a:r>
                    <a:rPr lang="en-US" altLang="zh-CN" sz="2400" dirty="0">
                      <a:solidFill>
                        <a:srgbClr val="060606"/>
                      </a:solidFill>
                    </a:rPr>
                    <a:t> =</a:t>
                  </a:r>
                  <a:endParaRPr lang="zh-CN" altLang="en-US" sz="2400" dirty="0"/>
                </a:p>
              </p:txBody>
            </p:sp>
            <p:sp>
              <p:nvSpPr>
                <p:cNvPr id="47" name="双括号 46"/>
                <p:cNvSpPr/>
                <p:nvPr/>
              </p:nvSpPr>
              <p:spPr bwMode="auto">
                <a:xfrm>
                  <a:off x="7308304" y="1916832"/>
                  <a:ext cx="2016224" cy="1584176"/>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48" name="矩形 47"/>
                <p:cNvSpPr/>
                <p:nvPr/>
              </p:nvSpPr>
              <p:spPr>
                <a:xfrm>
                  <a:off x="7308304" y="2996952"/>
                  <a:ext cx="1944216" cy="830997"/>
                </a:xfrm>
                <a:prstGeom prst="rect">
                  <a:avLst/>
                </a:prstGeom>
              </p:spPr>
              <p:txBody>
                <a:bodyPr wrap="square">
                  <a:spAutoFit/>
                </a:bodyPr>
                <a:lstStyle/>
                <a:p>
                  <a:pPr algn="just"/>
                  <a:r>
                    <a:rPr lang="en-US" altLang="zh-CN" sz="2400" dirty="0">
                      <a:solidFill>
                        <a:srgbClr val="060606"/>
                      </a:solidFill>
                    </a:rPr>
                    <a:t>3  0  </a:t>
                  </a:r>
                  <a:r>
                    <a:rPr lang="en-US" altLang="zh-CN" sz="2400" dirty="0" err="1">
                      <a:solidFill>
                        <a:srgbClr val="060606"/>
                      </a:solidFill>
                    </a:rPr>
                    <a:t>0</a:t>
                  </a:r>
                  <a:r>
                    <a:rPr lang="en-US" altLang="zh-CN" sz="2400" dirty="0">
                      <a:solidFill>
                        <a:srgbClr val="060606"/>
                      </a:solidFill>
                    </a:rPr>
                    <a:t>    -1   1</a:t>
                  </a:r>
                  <a:endParaRPr lang="zh-CN" altLang="en-US" sz="2400" dirty="0"/>
                </a:p>
              </p:txBody>
            </p:sp>
            <p:sp>
              <p:nvSpPr>
                <p:cNvPr id="49" name="矩形 48"/>
                <p:cNvSpPr/>
                <p:nvPr/>
              </p:nvSpPr>
              <p:spPr>
                <a:xfrm>
                  <a:off x="7308304" y="2492896"/>
                  <a:ext cx="2016224" cy="461665"/>
                </a:xfrm>
                <a:prstGeom prst="rect">
                  <a:avLst/>
                </a:prstGeom>
              </p:spPr>
              <p:txBody>
                <a:bodyPr wrap="square">
                  <a:spAutoFit/>
                </a:bodyPr>
                <a:lstStyle/>
                <a:p>
                  <a:pPr algn="just"/>
                  <a:r>
                    <a:rPr lang="en-US" altLang="zh-CN" sz="2400" dirty="0">
                      <a:solidFill>
                        <a:srgbClr val="060606"/>
                      </a:solidFill>
                    </a:rPr>
                    <a:t>0  1  0  1/2  0</a:t>
                  </a:r>
                  <a:endParaRPr lang="zh-CN" altLang="en-US" sz="2400" dirty="0"/>
                </a:p>
              </p:txBody>
            </p:sp>
            <p:sp>
              <p:nvSpPr>
                <p:cNvPr id="50" name="矩形 49"/>
                <p:cNvSpPr/>
                <p:nvPr/>
              </p:nvSpPr>
              <p:spPr>
                <a:xfrm>
                  <a:off x="7308304" y="1988840"/>
                  <a:ext cx="1872208" cy="830997"/>
                </a:xfrm>
                <a:prstGeom prst="rect">
                  <a:avLst/>
                </a:prstGeom>
              </p:spPr>
              <p:txBody>
                <a:bodyPr wrap="square">
                  <a:spAutoFit/>
                </a:bodyPr>
                <a:lstStyle/>
                <a:p>
                  <a:pPr algn="just"/>
                  <a:r>
                    <a:rPr lang="en-US" altLang="zh-CN" sz="2400" dirty="0">
                      <a:solidFill>
                        <a:srgbClr val="060606"/>
                      </a:solidFill>
                    </a:rPr>
                    <a:t>1  0  1     0   </a:t>
                  </a:r>
                  <a:r>
                    <a:rPr lang="en-US" altLang="zh-CN" sz="2400" dirty="0" err="1">
                      <a:solidFill>
                        <a:srgbClr val="060606"/>
                      </a:solidFill>
                    </a:rPr>
                    <a:t>0</a:t>
                  </a:r>
                  <a:endParaRPr lang="zh-CN" altLang="en-US" sz="2400" dirty="0"/>
                </a:p>
              </p:txBody>
            </p:sp>
            <p:sp>
              <p:nvSpPr>
                <p:cNvPr id="51" name="矩形 50"/>
                <p:cNvSpPr/>
                <p:nvPr/>
              </p:nvSpPr>
              <p:spPr>
                <a:xfrm>
                  <a:off x="6300192" y="3615407"/>
                  <a:ext cx="2952328" cy="461665"/>
                </a:xfrm>
                <a:prstGeom prst="rect">
                  <a:avLst/>
                </a:prstGeom>
              </p:spPr>
              <p:txBody>
                <a:bodyPr wrap="square">
                  <a:spAutoFit/>
                </a:bodyPr>
                <a:lstStyle/>
                <a:p>
                  <a:pPr algn="ctr"/>
                  <a:r>
                    <a:rPr lang="zh-CN" altLang="en-US" sz="2400" dirty="0">
                      <a:solidFill>
                        <a:srgbClr val="060606"/>
                      </a:solidFill>
                    </a:rPr>
                    <a:t>单位矩阵：基</a:t>
                  </a:r>
                  <a:r>
                    <a:rPr lang="en-US" altLang="zh-CN" sz="2400" dirty="0">
                      <a:solidFill>
                        <a:srgbClr val="060606"/>
                      </a:solidFill>
                    </a:rPr>
                    <a:t>B’</a:t>
                  </a:r>
                  <a:r>
                    <a:rPr lang="en-US" altLang="zh-CN" sz="2400" baseline="-25000" dirty="0">
                      <a:solidFill>
                        <a:srgbClr val="060606"/>
                      </a:solidFill>
                    </a:rPr>
                    <a:t>3×3</a:t>
                  </a:r>
                  <a:endParaRPr lang="zh-CN" altLang="en-US" sz="2400" baseline="-25000" dirty="0"/>
                </a:p>
              </p:txBody>
            </p:sp>
          </p:grpSp>
          <p:sp>
            <p:nvSpPr>
              <p:cNvPr id="44" name="任意多边形 43"/>
              <p:cNvSpPr/>
              <p:nvPr/>
            </p:nvSpPr>
            <p:spPr bwMode="auto">
              <a:xfrm>
                <a:off x="7020272" y="4293920"/>
                <a:ext cx="648071" cy="1394233"/>
              </a:xfrm>
              <a:custGeom>
                <a:avLst/>
                <a:gdLst>
                  <a:gd name="connsiteX0" fmla="*/ 18107 w 823865"/>
                  <a:gd name="connsiteY0" fmla="*/ 9053 h 1394233"/>
                  <a:gd name="connsiteX1" fmla="*/ 805758 w 823865"/>
                  <a:gd name="connsiteY1" fmla="*/ 0 h 1394233"/>
                  <a:gd name="connsiteX2" fmla="*/ 823865 w 823865"/>
                  <a:gd name="connsiteY2" fmla="*/ 1394233 h 1394233"/>
                  <a:gd name="connsiteX3" fmla="*/ 0 w 823865"/>
                  <a:gd name="connsiteY3" fmla="*/ 1376126 h 1394233"/>
                  <a:gd name="connsiteX4" fmla="*/ 18107 w 823865"/>
                  <a:gd name="connsiteY4" fmla="*/ 9053 h 139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865" h="1394233">
                    <a:moveTo>
                      <a:pt x="18107" y="9053"/>
                    </a:moveTo>
                    <a:lnTo>
                      <a:pt x="805758" y="0"/>
                    </a:lnTo>
                    <a:lnTo>
                      <a:pt x="823865" y="1394233"/>
                    </a:lnTo>
                    <a:lnTo>
                      <a:pt x="0" y="1376126"/>
                    </a:lnTo>
                    <a:cubicBezTo>
                      <a:pt x="3018" y="911382"/>
                      <a:pt x="6035" y="446637"/>
                      <a:pt x="18107" y="9053"/>
                    </a:cubicBezTo>
                    <a:close/>
                  </a:path>
                </a:pathLst>
              </a:custGeom>
              <a:no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cxnSp>
            <p:nvCxnSpPr>
              <p:cNvPr id="45" name="直接箭头连接符 44"/>
              <p:cNvCxnSpPr>
                <a:stCxn id="54" idx="3"/>
              </p:cNvCxnSpPr>
              <p:nvPr/>
            </p:nvCxnSpPr>
            <p:spPr bwMode="auto">
              <a:xfrm flipH="1">
                <a:off x="7668344" y="5741230"/>
                <a:ext cx="432049" cy="208050"/>
              </a:xfrm>
              <a:prstGeom prst="straightConnector1">
                <a:avLst/>
              </a:prstGeom>
              <a:solidFill>
                <a:schemeClr val="accent1"/>
              </a:solidFill>
              <a:ln w="28575" cap="flat" cmpd="sng" algn="ctr">
                <a:solidFill>
                  <a:srgbClr val="00B05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任意多边形 53"/>
              <p:cNvSpPr/>
              <p:nvPr/>
            </p:nvSpPr>
            <p:spPr bwMode="auto">
              <a:xfrm>
                <a:off x="8100393" y="4365104"/>
                <a:ext cx="360040" cy="1394233"/>
              </a:xfrm>
              <a:custGeom>
                <a:avLst/>
                <a:gdLst>
                  <a:gd name="connsiteX0" fmla="*/ 18107 w 823865"/>
                  <a:gd name="connsiteY0" fmla="*/ 9053 h 1394233"/>
                  <a:gd name="connsiteX1" fmla="*/ 805758 w 823865"/>
                  <a:gd name="connsiteY1" fmla="*/ 0 h 1394233"/>
                  <a:gd name="connsiteX2" fmla="*/ 823865 w 823865"/>
                  <a:gd name="connsiteY2" fmla="*/ 1394233 h 1394233"/>
                  <a:gd name="connsiteX3" fmla="*/ 0 w 823865"/>
                  <a:gd name="connsiteY3" fmla="*/ 1376126 h 1394233"/>
                  <a:gd name="connsiteX4" fmla="*/ 18107 w 823865"/>
                  <a:gd name="connsiteY4" fmla="*/ 9053 h 139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865" h="1394233">
                    <a:moveTo>
                      <a:pt x="18107" y="9053"/>
                    </a:moveTo>
                    <a:lnTo>
                      <a:pt x="805758" y="0"/>
                    </a:lnTo>
                    <a:lnTo>
                      <a:pt x="823865" y="1394233"/>
                    </a:lnTo>
                    <a:lnTo>
                      <a:pt x="0" y="1376126"/>
                    </a:lnTo>
                    <a:cubicBezTo>
                      <a:pt x="3018" y="911382"/>
                      <a:pt x="6035" y="446637"/>
                      <a:pt x="18107" y="9053"/>
                    </a:cubicBezTo>
                    <a:close/>
                  </a:path>
                </a:pathLst>
              </a:custGeom>
              <a:no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cxnSp>
            <p:nvCxnSpPr>
              <p:cNvPr id="56" name="直接箭头连接符 55"/>
              <p:cNvCxnSpPr/>
              <p:nvPr/>
            </p:nvCxnSpPr>
            <p:spPr bwMode="auto">
              <a:xfrm>
                <a:off x="7452322" y="5733256"/>
                <a:ext cx="144014" cy="144016"/>
              </a:xfrm>
              <a:prstGeom prst="straightConnector1">
                <a:avLst/>
              </a:prstGeom>
              <a:solidFill>
                <a:schemeClr val="accent1"/>
              </a:solidFill>
              <a:ln w="28575" cap="flat" cmpd="sng" algn="ctr">
                <a:solidFill>
                  <a:srgbClr val="00B05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2" name="矩形 51"/>
            <p:cNvSpPr/>
            <p:nvPr/>
          </p:nvSpPr>
          <p:spPr>
            <a:xfrm>
              <a:off x="6228184" y="3933056"/>
              <a:ext cx="2190023" cy="461665"/>
            </a:xfrm>
            <a:prstGeom prst="rect">
              <a:avLst/>
            </a:prstGeom>
          </p:spPr>
          <p:txBody>
            <a:bodyPr wrap="none">
              <a:spAutoFit/>
            </a:bodyPr>
            <a:lstStyle/>
            <a:p>
              <a:r>
                <a:rPr lang="en-US" altLang="zh-CN" sz="2400" dirty="0">
                  <a:solidFill>
                    <a:srgbClr val="060606"/>
                  </a:solidFill>
                </a:rPr>
                <a:t>b‘ = (6</a:t>
              </a:r>
              <a:r>
                <a:rPr lang="zh-CN" altLang="en-US" sz="2400" dirty="0">
                  <a:solidFill>
                    <a:srgbClr val="060606"/>
                  </a:solidFill>
                </a:rPr>
                <a:t>，</a:t>
              </a:r>
              <a:r>
                <a:rPr lang="en-US" altLang="zh-CN" sz="2400" dirty="0">
                  <a:solidFill>
                    <a:srgbClr val="060606"/>
                  </a:solidFill>
                </a:rPr>
                <a:t>4</a:t>
              </a:r>
              <a:r>
                <a:rPr lang="zh-CN" altLang="en-US" sz="2400" dirty="0">
                  <a:solidFill>
                    <a:srgbClr val="060606"/>
                  </a:solidFill>
                </a:rPr>
                <a:t>，</a:t>
              </a:r>
              <a:r>
                <a:rPr lang="en-US" altLang="zh-CN" sz="2400" dirty="0">
                  <a:solidFill>
                    <a:srgbClr val="060606"/>
                  </a:solidFill>
                </a:rPr>
                <a:t>6)</a:t>
              </a:r>
              <a:r>
                <a:rPr lang="en-US" altLang="zh-CN" sz="2400" baseline="30000" dirty="0">
                  <a:solidFill>
                    <a:srgbClr val="060606"/>
                  </a:solidFill>
                </a:rPr>
                <a:t>T</a:t>
              </a:r>
              <a:endParaRPr lang="zh-CN" altLang="en-US" sz="2400" baseline="30000" dirty="0">
                <a:solidFill>
                  <a:srgbClr val="060606"/>
                </a:solidFill>
              </a:endParaRPr>
            </a:p>
          </p:txBody>
        </p:sp>
        <p:sp>
          <p:nvSpPr>
            <p:cNvPr id="53" name="右箭头 52"/>
            <p:cNvSpPr/>
            <p:nvPr/>
          </p:nvSpPr>
          <p:spPr bwMode="auto">
            <a:xfrm>
              <a:off x="4427984" y="4653136"/>
              <a:ext cx="576064" cy="360040"/>
            </a:xfrm>
            <a:prstGeom prst="rightArrow">
              <a:avLst/>
            </a:prstGeom>
            <a:noFill/>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lang="zh-CN" altLang="en-US">
                <a:solidFill>
                  <a:schemeClr val="tx1"/>
                </a:solidFill>
                <a:latin typeface="Arial" panose="020B060402020209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additive="base">
                                        <p:cTn id="7" dur="500" fill="hold"/>
                                        <p:tgtEl>
                                          <p:spTgt spid="58"/>
                                        </p:tgtEl>
                                        <p:attrNameLst>
                                          <p:attrName>ppt_x</p:attrName>
                                        </p:attrNameLst>
                                      </p:cBhvr>
                                      <p:tavLst>
                                        <p:tav tm="0">
                                          <p:val>
                                            <p:strVal val="#ppt_x"/>
                                          </p:val>
                                        </p:tav>
                                        <p:tav tm="100000">
                                          <p:val>
                                            <p:strVal val="#ppt_x"/>
                                          </p:val>
                                        </p:tav>
                                      </p:tavLst>
                                    </p:anim>
                                    <p:anim calcmode="lin" valueType="num">
                                      <p:cBhvr additive="base">
                                        <p:cTn id="8"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65760" y="346348"/>
            <a:ext cx="11206480" cy="6165304"/>
          </a:xfrm>
        </p:spPr>
        <p:txBody>
          <a:bodyPr/>
          <a:lstStyle/>
          <a:p>
            <a:pPr>
              <a:lnSpc>
                <a:spcPct val="100000"/>
              </a:lnSpc>
              <a:spcBef>
                <a:spcPts val="0"/>
              </a:spcBef>
              <a:buNone/>
            </a:pPr>
            <a:r>
              <a:rPr lang="en-US" altLang="zh-CN" b="1" dirty="0">
                <a:solidFill>
                  <a:srgbClr val="060606"/>
                </a:solidFill>
              </a:rPr>
              <a:t>5.4.</a:t>
            </a:r>
            <a:r>
              <a:rPr lang="zh-CN" altLang="en-US" b="1" dirty="0">
                <a:solidFill>
                  <a:srgbClr val="060606"/>
                </a:solidFill>
              </a:rPr>
              <a:t>基于新的方程组，确定新的基可行解</a:t>
            </a:r>
            <a:endParaRPr lang="en-US" altLang="zh-CN" b="1" dirty="0">
              <a:solidFill>
                <a:srgbClr val="060606"/>
              </a:solidFill>
            </a:endParaRPr>
          </a:p>
          <a:p>
            <a:pPr>
              <a:lnSpc>
                <a:spcPct val="100000"/>
              </a:lnSpc>
              <a:spcBef>
                <a:spcPts val="0"/>
              </a:spcBef>
              <a:buNone/>
            </a:pPr>
            <a:r>
              <a:rPr lang="zh-CN" altLang="en-US" dirty="0">
                <a:solidFill>
                  <a:srgbClr val="060606"/>
                </a:solidFill>
              </a:rPr>
              <a:t>方法同“第三步 确定初始基可行解”：</a:t>
            </a:r>
            <a:r>
              <a:rPr lang="en-US" altLang="zh-CN" dirty="0">
                <a:solidFill>
                  <a:srgbClr val="060606"/>
                </a:solidFill>
              </a:rPr>
              <a:t>(</a:t>
            </a:r>
            <a:r>
              <a:rPr lang="zh-CN" altLang="zh-CN" dirty="0">
                <a:solidFill>
                  <a:srgbClr val="060606"/>
                </a:solidFill>
              </a:rPr>
              <a:t>步骤</a:t>
            </a:r>
            <a:r>
              <a:rPr lang="en-US" altLang="zh-CN" dirty="0">
                <a:solidFill>
                  <a:srgbClr val="060606"/>
                </a:solidFill>
              </a:rPr>
              <a:t>)</a:t>
            </a:r>
            <a:r>
              <a:rPr lang="zh-CN" altLang="zh-CN" dirty="0">
                <a:solidFill>
                  <a:srgbClr val="060606"/>
                </a:solidFill>
              </a:rPr>
              <a:t>移项，然后令所有非基变量为</a:t>
            </a:r>
            <a:r>
              <a:rPr lang="en-US" altLang="zh-CN" dirty="0">
                <a:solidFill>
                  <a:srgbClr val="060606"/>
                </a:solidFill>
              </a:rPr>
              <a:t>0</a:t>
            </a:r>
            <a:r>
              <a:rPr lang="zh-CN" altLang="zh-CN" dirty="0">
                <a:solidFill>
                  <a:srgbClr val="060606"/>
                </a:solidFill>
              </a:rPr>
              <a:t>，解出此时基变量的值，得到</a:t>
            </a:r>
            <a:r>
              <a:rPr lang="zh-CN" altLang="en-US" dirty="0">
                <a:solidFill>
                  <a:srgbClr val="060606"/>
                </a:solidFill>
              </a:rPr>
              <a:t>一个</a:t>
            </a:r>
            <a:r>
              <a:rPr lang="zh-CN" altLang="zh-CN" dirty="0">
                <a:solidFill>
                  <a:srgbClr val="060606"/>
                </a:solidFill>
              </a:rPr>
              <a:t>基可行解</a:t>
            </a:r>
            <a:r>
              <a:rPr lang="zh-CN" altLang="zh-CN" b="1" dirty="0">
                <a:solidFill>
                  <a:srgbClr val="060606"/>
                </a:solidFill>
              </a:rPr>
              <a:t> </a:t>
            </a:r>
            <a:r>
              <a:rPr lang="en-US" altLang="zh-CN" b="1" dirty="0">
                <a:solidFill>
                  <a:srgbClr val="060606"/>
                </a:solidFill>
              </a:rPr>
              <a:t>x</a:t>
            </a:r>
            <a:r>
              <a:rPr lang="en-US" altLang="zh-CN" dirty="0">
                <a:solidFill>
                  <a:srgbClr val="060606"/>
                </a:solidFill>
              </a:rPr>
              <a:t> = (0,…,</a:t>
            </a:r>
            <a:r>
              <a:rPr lang="en-US" altLang="zh-CN" dirty="0" err="1">
                <a:solidFill>
                  <a:srgbClr val="060606"/>
                </a:solidFill>
              </a:rPr>
              <a:t>b’</a:t>
            </a:r>
            <a:r>
              <a:rPr lang="en-US" altLang="zh-CN" baseline="-25000" dirty="0" err="1">
                <a:solidFill>
                  <a:srgbClr val="060606"/>
                </a:solidFill>
              </a:rPr>
              <a:t>q</a:t>
            </a:r>
            <a:r>
              <a:rPr lang="en-US" altLang="zh-CN" dirty="0">
                <a:solidFill>
                  <a:srgbClr val="060606"/>
                </a:solidFill>
              </a:rPr>
              <a:t>,…,0</a:t>
            </a:r>
            <a:r>
              <a:rPr lang="zh-CN" altLang="zh-CN" dirty="0">
                <a:solidFill>
                  <a:srgbClr val="060606"/>
                </a:solidFill>
              </a:rPr>
              <a:t>，</a:t>
            </a:r>
            <a:r>
              <a:rPr lang="en-US" altLang="zh-CN" dirty="0">
                <a:solidFill>
                  <a:srgbClr val="060606"/>
                </a:solidFill>
              </a:rPr>
              <a:t>b’</a:t>
            </a:r>
            <a:r>
              <a:rPr lang="en-US" altLang="zh-CN" baseline="-25000" dirty="0">
                <a:solidFill>
                  <a:srgbClr val="060606"/>
                </a:solidFill>
              </a:rPr>
              <a:t>1</a:t>
            </a:r>
            <a:r>
              <a:rPr lang="zh-CN" altLang="zh-CN" dirty="0">
                <a:solidFill>
                  <a:srgbClr val="060606"/>
                </a:solidFill>
              </a:rPr>
              <a:t>，</a:t>
            </a:r>
            <a:r>
              <a:rPr lang="en-US" altLang="zh-CN" dirty="0">
                <a:solidFill>
                  <a:srgbClr val="060606"/>
                </a:solidFill>
              </a:rPr>
              <a:t>b’</a:t>
            </a:r>
            <a:r>
              <a:rPr lang="en-US" altLang="zh-CN" baseline="-25000" dirty="0">
                <a:solidFill>
                  <a:srgbClr val="060606"/>
                </a:solidFill>
              </a:rPr>
              <a:t>2</a:t>
            </a:r>
            <a:r>
              <a:rPr lang="zh-CN" altLang="zh-CN" dirty="0">
                <a:solidFill>
                  <a:srgbClr val="060606"/>
                </a:solidFill>
              </a:rPr>
              <a:t>，</a:t>
            </a:r>
            <a:r>
              <a:rPr lang="en-US" altLang="zh-CN" dirty="0">
                <a:solidFill>
                  <a:srgbClr val="060606"/>
                </a:solidFill>
              </a:rPr>
              <a:t>…0…</a:t>
            </a:r>
            <a:r>
              <a:rPr lang="zh-CN" altLang="zh-CN" dirty="0">
                <a:solidFill>
                  <a:srgbClr val="060606"/>
                </a:solidFill>
              </a:rPr>
              <a:t>，</a:t>
            </a:r>
            <a:r>
              <a:rPr lang="en-US" altLang="zh-CN" dirty="0" err="1">
                <a:solidFill>
                  <a:srgbClr val="060606"/>
                </a:solidFill>
              </a:rPr>
              <a:t>b’</a:t>
            </a:r>
            <a:r>
              <a:rPr lang="en-US" altLang="zh-CN" baseline="-25000" dirty="0" err="1">
                <a:solidFill>
                  <a:srgbClr val="060606"/>
                </a:solidFill>
              </a:rPr>
              <a:t>m</a:t>
            </a:r>
            <a:r>
              <a:rPr lang="en-US" altLang="zh-CN" dirty="0">
                <a:solidFill>
                  <a:srgbClr val="060606"/>
                </a:solidFill>
              </a:rPr>
              <a:t>)</a:t>
            </a:r>
            <a:r>
              <a:rPr lang="zh-CN" altLang="zh-CN" dirty="0">
                <a:solidFill>
                  <a:srgbClr val="060606"/>
                </a:solidFill>
              </a:rPr>
              <a:t>。</a:t>
            </a:r>
            <a:endParaRPr lang="en-US" altLang="zh-CN" dirty="0">
              <a:solidFill>
                <a:srgbClr val="060606"/>
              </a:solidFill>
            </a:endParaRPr>
          </a:p>
          <a:p>
            <a:pPr>
              <a:lnSpc>
                <a:spcPct val="100000"/>
              </a:lnSpc>
              <a:spcBef>
                <a:spcPts val="0"/>
              </a:spcBef>
              <a:buNone/>
            </a:pPr>
            <a:endParaRPr lang="en-US" altLang="zh-CN" dirty="0">
              <a:solidFill>
                <a:srgbClr val="060606"/>
              </a:solidFill>
            </a:endParaRPr>
          </a:p>
          <a:p>
            <a:pPr>
              <a:lnSpc>
                <a:spcPct val="100000"/>
              </a:lnSpc>
              <a:spcBef>
                <a:spcPts val="0"/>
              </a:spcBef>
              <a:buNone/>
            </a:pPr>
            <a:r>
              <a:rPr lang="en-US" altLang="zh-CN" b="1" dirty="0">
                <a:solidFill>
                  <a:srgbClr val="060606"/>
                </a:solidFill>
              </a:rPr>
              <a:t>5.5.</a:t>
            </a:r>
            <a:r>
              <a:rPr lang="zh-CN" altLang="en-US" b="1" dirty="0">
                <a:solidFill>
                  <a:srgbClr val="060606"/>
                </a:solidFill>
              </a:rPr>
              <a:t>最优性检测和</a:t>
            </a:r>
            <a:r>
              <a:rPr lang="zh-CN" altLang="zh-CN" b="1" dirty="0">
                <a:solidFill>
                  <a:srgbClr val="060606"/>
                </a:solidFill>
              </a:rPr>
              <a:t>解的判别</a:t>
            </a:r>
            <a:endParaRPr lang="en-US" altLang="zh-CN" b="1" dirty="0">
              <a:solidFill>
                <a:srgbClr val="060606"/>
              </a:solidFill>
            </a:endParaRPr>
          </a:p>
          <a:p>
            <a:pPr>
              <a:lnSpc>
                <a:spcPct val="100000"/>
              </a:lnSpc>
              <a:spcBef>
                <a:spcPts val="0"/>
              </a:spcBef>
              <a:buNone/>
            </a:pPr>
            <a:r>
              <a:rPr lang="zh-CN" altLang="en-US" dirty="0">
                <a:solidFill>
                  <a:srgbClr val="060606"/>
                </a:solidFill>
              </a:rPr>
              <a:t>方法同“</a:t>
            </a:r>
            <a:r>
              <a:rPr lang="zh-CN" altLang="zh-CN" dirty="0">
                <a:solidFill>
                  <a:srgbClr val="060606"/>
                </a:solidFill>
              </a:rPr>
              <a:t>第四步：最优性检测和解的判定</a:t>
            </a:r>
            <a:r>
              <a:rPr lang="zh-CN" altLang="en-US" dirty="0">
                <a:solidFill>
                  <a:srgbClr val="060606"/>
                </a:solidFill>
              </a:rPr>
              <a:t>”：应用</a:t>
            </a:r>
            <a:r>
              <a:rPr lang="zh-CN" altLang="zh-CN" dirty="0">
                <a:solidFill>
                  <a:srgbClr val="060606"/>
                </a:solidFill>
              </a:rPr>
              <a:t>最优判定的规则</a:t>
            </a:r>
            <a:r>
              <a:rPr lang="en-US" altLang="zh-CN" dirty="0">
                <a:solidFill>
                  <a:srgbClr val="060606"/>
                </a:solidFill>
              </a:rPr>
              <a:t>——</a:t>
            </a:r>
            <a:r>
              <a:rPr lang="zh-CN" altLang="zh-CN" dirty="0">
                <a:solidFill>
                  <a:srgbClr val="060606"/>
                </a:solidFill>
              </a:rPr>
              <a:t>最优检测当前的</a:t>
            </a:r>
            <a:r>
              <a:rPr lang="en-US" altLang="zh-CN" dirty="0" err="1">
                <a:solidFill>
                  <a:srgbClr val="060606"/>
                </a:solidFill>
              </a:rPr>
              <a:t>Eq</a:t>
            </a:r>
            <a:r>
              <a:rPr lang="en-US" altLang="zh-CN" dirty="0">
                <a:solidFill>
                  <a:srgbClr val="060606"/>
                </a:solidFill>
              </a:rPr>
              <a:t>(0)</a:t>
            </a:r>
            <a:r>
              <a:rPr lang="zh-CN" altLang="zh-CN" dirty="0">
                <a:solidFill>
                  <a:srgbClr val="060606"/>
                </a:solidFill>
              </a:rPr>
              <a:t>，若其中所有非基变量的系数</a:t>
            </a:r>
            <a:r>
              <a:rPr lang="el-GR" altLang="zh-CN" dirty="0">
                <a:solidFill>
                  <a:srgbClr val="060606"/>
                </a:solidFill>
              </a:rPr>
              <a:t>σ</a:t>
            </a:r>
            <a:r>
              <a:rPr lang="en-US" altLang="zh-CN" baseline="-25000" dirty="0">
                <a:solidFill>
                  <a:srgbClr val="060606"/>
                </a:solidFill>
              </a:rPr>
              <a:t>j</a:t>
            </a:r>
            <a:r>
              <a:rPr lang="en-US" altLang="zh-CN" dirty="0">
                <a:solidFill>
                  <a:srgbClr val="060606"/>
                </a:solidFill>
              </a:rPr>
              <a:t> ≥ 0</a:t>
            </a:r>
            <a:r>
              <a:rPr lang="zh-CN" altLang="zh-CN" dirty="0">
                <a:solidFill>
                  <a:srgbClr val="060606"/>
                </a:solidFill>
              </a:rPr>
              <a:t>，则此时的基可行解为最优解，否则就要迭代进行“第</a:t>
            </a:r>
            <a:r>
              <a:rPr lang="zh-CN" altLang="en-US" dirty="0">
                <a:solidFill>
                  <a:srgbClr val="060606"/>
                </a:solidFill>
              </a:rPr>
              <a:t>五</a:t>
            </a:r>
            <a:r>
              <a:rPr lang="zh-CN" altLang="zh-CN" dirty="0">
                <a:solidFill>
                  <a:srgbClr val="060606"/>
                </a:solidFill>
              </a:rPr>
              <a:t>步 基可行解的转换”并进行“最优性检测和解的判定”，直到</a:t>
            </a:r>
            <a:r>
              <a:rPr lang="en-US" altLang="zh-CN" dirty="0" err="1">
                <a:solidFill>
                  <a:srgbClr val="060606"/>
                </a:solidFill>
              </a:rPr>
              <a:t>Eq</a:t>
            </a:r>
            <a:r>
              <a:rPr lang="en-US" altLang="zh-CN" dirty="0">
                <a:solidFill>
                  <a:srgbClr val="060606"/>
                </a:solidFill>
              </a:rPr>
              <a:t>(0)</a:t>
            </a:r>
            <a:r>
              <a:rPr lang="zh-CN" altLang="zh-CN" dirty="0">
                <a:solidFill>
                  <a:srgbClr val="060606"/>
                </a:solidFill>
              </a:rPr>
              <a:t>中若所有变量的系数</a:t>
            </a:r>
            <a:r>
              <a:rPr lang="el-GR" altLang="zh-CN" dirty="0">
                <a:solidFill>
                  <a:srgbClr val="060606"/>
                </a:solidFill>
              </a:rPr>
              <a:t>σ</a:t>
            </a:r>
            <a:r>
              <a:rPr lang="en-US" altLang="zh-CN" baseline="-25000" dirty="0">
                <a:solidFill>
                  <a:srgbClr val="060606"/>
                </a:solidFill>
              </a:rPr>
              <a:t>j</a:t>
            </a:r>
            <a:r>
              <a:rPr lang="en-US" altLang="zh-CN" dirty="0">
                <a:solidFill>
                  <a:srgbClr val="060606"/>
                </a:solidFill>
              </a:rPr>
              <a:t> ≥ 0</a:t>
            </a:r>
            <a:r>
              <a:rPr lang="zh-CN" altLang="zh-CN" dirty="0">
                <a:solidFill>
                  <a:srgbClr val="060606"/>
                </a:solidFill>
              </a:rPr>
              <a:t>。</a:t>
            </a:r>
            <a:endParaRPr lang="en-US" altLang="zh-CN" dirty="0">
              <a:solidFill>
                <a:srgbClr val="060606"/>
              </a:solidFill>
            </a:endParaRPr>
          </a:p>
          <a:p>
            <a:pPr>
              <a:lnSpc>
                <a:spcPct val="100000"/>
              </a:lnSpc>
              <a:spcBef>
                <a:spcPts val="0"/>
              </a:spcBef>
              <a:buNone/>
            </a:pPr>
            <a:endParaRPr lang="en-US" altLang="zh-CN" dirty="0">
              <a:solidFill>
                <a:srgbClr val="060606"/>
              </a:solidFill>
            </a:endParaRPr>
          </a:p>
          <a:p>
            <a:pPr>
              <a:lnSpc>
                <a:spcPct val="100000"/>
              </a:lnSpc>
              <a:spcBef>
                <a:spcPts val="0"/>
              </a:spcBef>
              <a:buNone/>
            </a:pPr>
            <a:r>
              <a:rPr lang="en-US" altLang="zh-CN" b="1" dirty="0">
                <a:solidFill>
                  <a:srgbClr val="060606"/>
                </a:solidFill>
              </a:rPr>
              <a:t>5.6.</a:t>
            </a:r>
            <a:r>
              <a:rPr lang="zh-CN" altLang="en-US" b="1" dirty="0">
                <a:solidFill>
                  <a:srgbClr val="060606"/>
                </a:solidFill>
              </a:rPr>
              <a:t> 如果</a:t>
            </a:r>
            <a:r>
              <a:rPr lang="en-US" altLang="zh-CN" b="1" dirty="0" err="1">
                <a:solidFill>
                  <a:srgbClr val="060606"/>
                </a:solidFill>
              </a:rPr>
              <a:t>Eq</a:t>
            </a:r>
            <a:r>
              <a:rPr lang="en-US" altLang="zh-CN" b="1" dirty="0">
                <a:solidFill>
                  <a:srgbClr val="060606"/>
                </a:solidFill>
              </a:rPr>
              <a:t>(0)</a:t>
            </a:r>
            <a:r>
              <a:rPr lang="zh-CN" altLang="zh-CN" b="1" dirty="0">
                <a:solidFill>
                  <a:srgbClr val="060606"/>
                </a:solidFill>
              </a:rPr>
              <a:t>中若所有变量的系数</a:t>
            </a:r>
            <a:r>
              <a:rPr lang="el-GR" altLang="zh-CN" b="1" dirty="0">
                <a:solidFill>
                  <a:srgbClr val="060606"/>
                </a:solidFill>
              </a:rPr>
              <a:t>σ</a:t>
            </a:r>
            <a:r>
              <a:rPr lang="en-US" altLang="zh-CN" b="1" baseline="-25000" dirty="0">
                <a:solidFill>
                  <a:srgbClr val="060606"/>
                </a:solidFill>
              </a:rPr>
              <a:t>j</a:t>
            </a:r>
            <a:r>
              <a:rPr lang="en-US" altLang="zh-CN" b="1" dirty="0">
                <a:solidFill>
                  <a:srgbClr val="060606"/>
                </a:solidFill>
              </a:rPr>
              <a:t> ≥ 0</a:t>
            </a:r>
            <a:r>
              <a:rPr lang="zh-CN" altLang="en-US" b="1" dirty="0">
                <a:solidFill>
                  <a:srgbClr val="060606"/>
                </a:solidFill>
              </a:rPr>
              <a:t>，则找到最优解；否则返回</a:t>
            </a:r>
            <a:r>
              <a:rPr lang="en-US" altLang="zh-CN" b="1" dirty="0">
                <a:solidFill>
                  <a:srgbClr val="060606"/>
                </a:solidFill>
              </a:rPr>
              <a:t>5.1</a:t>
            </a:r>
            <a:r>
              <a:rPr lang="zh-CN" altLang="en-US" b="1" dirty="0">
                <a:solidFill>
                  <a:srgbClr val="060606"/>
                </a:solidFill>
              </a:rPr>
              <a:t>，即进入下一迭代。</a:t>
            </a:r>
            <a:endParaRPr lang="en-US" altLang="zh-CN" b="1" dirty="0">
              <a:solidFill>
                <a:srgbClr val="060606"/>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下箭头 34"/>
          <p:cNvSpPr/>
          <p:nvPr/>
        </p:nvSpPr>
        <p:spPr bwMode="auto">
          <a:xfrm>
            <a:off x="6268062" y="3337037"/>
            <a:ext cx="773172" cy="792088"/>
          </a:xfrm>
          <a:prstGeom prst="down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2" name="内容占位符 2"/>
          <p:cNvSpPr txBox="1"/>
          <p:nvPr/>
        </p:nvSpPr>
        <p:spPr bwMode="auto">
          <a:xfrm>
            <a:off x="242064" y="134906"/>
            <a:ext cx="11419840" cy="88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zh-CN" altLang="en-US" sz="3200" dirty="0">
                <a:solidFill>
                  <a:srgbClr val="00000C"/>
                </a:solidFill>
              </a:rPr>
              <a:t>请同学们做：解</a:t>
            </a:r>
            <a:r>
              <a:rPr lang="zh-CN" altLang="en-US" sz="3200" dirty="0">
                <a:solidFill>
                  <a:srgbClr val="060606"/>
                </a:solidFill>
              </a:rPr>
              <a:t>新的方程组和</a:t>
            </a:r>
            <a:r>
              <a:rPr lang="en-US" altLang="zh-CN" sz="3200" dirty="0">
                <a:solidFill>
                  <a:srgbClr val="060606"/>
                </a:solidFill>
              </a:rPr>
              <a:t>A’</a:t>
            </a:r>
            <a:r>
              <a:rPr lang="en-US" altLang="zh-CN" sz="3200" baseline="-25000" dirty="0">
                <a:solidFill>
                  <a:srgbClr val="060606"/>
                </a:solidFill>
              </a:rPr>
              <a:t> 3× 5</a:t>
            </a:r>
            <a:r>
              <a:rPr lang="zh-CN" altLang="en-US" sz="3200" dirty="0">
                <a:solidFill>
                  <a:srgbClr val="060606"/>
                </a:solidFill>
              </a:rPr>
              <a:t>并最优检测和解判定</a:t>
            </a:r>
            <a:endParaRPr lang="en-US" altLang="zh-CN" sz="3200" dirty="0">
              <a:solidFill>
                <a:srgbClr val="00000C"/>
              </a:solidFill>
            </a:endParaRPr>
          </a:p>
        </p:txBody>
      </p:sp>
      <p:sp>
        <p:nvSpPr>
          <p:cNvPr id="37" name="矩形 36"/>
          <p:cNvSpPr/>
          <p:nvPr/>
        </p:nvSpPr>
        <p:spPr>
          <a:xfrm>
            <a:off x="1919536" y="908721"/>
            <a:ext cx="4176464" cy="479234"/>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a:t>
            </a:r>
            <a:r>
              <a:rPr lang="zh-CN" altLang="en-US" sz="2400" dirty="0">
                <a:solidFill>
                  <a:srgbClr val="060606"/>
                </a:solidFill>
              </a:rPr>
              <a:t>－</a:t>
            </a:r>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5x</a:t>
            </a:r>
            <a:r>
              <a:rPr lang="en-US" altLang="zh-CN" sz="2400" baseline="-25000" dirty="0">
                <a:solidFill>
                  <a:srgbClr val="060606"/>
                </a:solidFill>
              </a:rPr>
              <a:t>4</a:t>
            </a:r>
            <a:r>
              <a:rPr lang="en-US" altLang="zh-CN" sz="2400" dirty="0">
                <a:solidFill>
                  <a:srgbClr val="060606"/>
                </a:solidFill>
              </a:rPr>
              <a:t>/2 = 30 </a:t>
            </a:r>
            <a:endParaRPr lang="en-US" altLang="zh-CN" sz="2400" dirty="0">
              <a:solidFill>
                <a:srgbClr val="060606"/>
              </a:solidFill>
            </a:endParaRPr>
          </a:p>
        </p:txBody>
      </p:sp>
      <p:sp>
        <p:nvSpPr>
          <p:cNvPr id="38" name="矩形 37"/>
          <p:cNvSpPr/>
          <p:nvPr/>
        </p:nvSpPr>
        <p:spPr>
          <a:xfrm>
            <a:off x="1919536" y="1340769"/>
            <a:ext cx="2332690"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000AC"/>
                </a:solidFill>
              </a:rPr>
              <a:t>+ x</a:t>
            </a:r>
            <a:r>
              <a:rPr lang="en-US" altLang="zh-CN" sz="2400" baseline="-25000" dirty="0">
                <a:solidFill>
                  <a:srgbClr val="0000AC"/>
                </a:solidFill>
              </a:rPr>
              <a:t>3</a:t>
            </a:r>
            <a:r>
              <a:rPr lang="en-US" altLang="zh-CN" sz="2400" dirty="0">
                <a:solidFill>
                  <a:srgbClr val="060606"/>
                </a:solidFill>
              </a:rPr>
              <a:t>= 4</a:t>
            </a:r>
            <a:endParaRPr lang="zh-CN" altLang="en-US" dirty="0"/>
          </a:p>
        </p:txBody>
      </p:sp>
      <p:sp>
        <p:nvSpPr>
          <p:cNvPr id="39" name="矩形 38"/>
          <p:cNvSpPr/>
          <p:nvPr/>
        </p:nvSpPr>
        <p:spPr>
          <a:xfrm>
            <a:off x="1919537" y="2204865"/>
            <a:ext cx="3231975"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3x</a:t>
            </a:r>
            <a:r>
              <a:rPr lang="en-US" altLang="zh-CN" sz="2400" baseline="-25000" dirty="0">
                <a:solidFill>
                  <a:srgbClr val="060606"/>
                </a:solidFill>
              </a:rPr>
              <a:t>1</a:t>
            </a:r>
            <a:r>
              <a:rPr lang="en-US" altLang="zh-CN" sz="2400" dirty="0">
                <a:solidFill>
                  <a:srgbClr val="060606"/>
                </a:solidFill>
              </a:rPr>
              <a:t> - x</a:t>
            </a:r>
            <a:r>
              <a:rPr lang="en-US" altLang="zh-CN" sz="2400" baseline="-25000" dirty="0">
                <a:solidFill>
                  <a:srgbClr val="060606"/>
                </a:solidFill>
              </a:rPr>
              <a:t>4</a:t>
            </a:r>
            <a:r>
              <a:rPr lang="en-US" altLang="zh-CN" sz="2400" dirty="0">
                <a:solidFill>
                  <a:srgbClr val="060606"/>
                </a:solidFill>
              </a:rPr>
              <a:t> + x</a:t>
            </a:r>
            <a:r>
              <a:rPr lang="en-US" altLang="zh-CN" sz="2400" baseline="-25000" dirty="0">
                <a:solidFill>
                  <a:srgbClr val="060606"/>
                </a:solidFill>
              </a:rPr>
              <a:t>5 </a:t>
            </a:r>
            <a:r>
              <a:rPr lang="en-US" altLang="zh-CN" sz="2400" dirty="0">
                <a:solidFill>
                  <a:srgbClr val="060606"/>
                </a:solidFill>
              </a:rPr>
              <a:t> = 6</a:t>
            </a:r>
            <a:endParaRPr lang="zh-CN" altLang="en-US" dirty="0"/>
          </a:p>
        </p:txBody>
      </p:sp>
      <p:sp>
        <p:nvSpPr>
          <p:cNvPr id="40" name="矩形 39"/>
          <p:cNvSpPr/>
          <p:nvPr/>
        </p:nvSpPr>
        <p:spPr>
          <a:xfrm>
            <a:off x="1290320" y="2708921"/>
            <a:ext cx="5597768" cy="461665"/>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41" name="矩形 40"/>
          <p:cNvSpPr/>
          <p:nvPr/>
        </p:nvSpPr>
        <p:spPr>
          <a:xfrm>
            <a:off x="1919536" y="1772817"/>
            <a:ext cx="2640466"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2</a:t>
            </a:r>
            <a:r>
              <a:rPr lang="zh-CN" altLang="en-US" sz="2400" dirty="0">
                <a:solidFill>
                  <a:srgbClr val="060606"/>
                </a:solidFill>
              </a:rPr>
              <a:t>）</a:t>
            </a:r>
            <a:r>
              <a:rPr lang="en-US" altLang="zh-CN" sz="2400" dirty="0">
                <a:solidFill>
                  <a:srgbClr val="0000AC"/>
                </a:solidFill>
              </a:rPr>
              <a:t> x</a:t>
            </a:r>
            <a:r>
              <a:rPr lang="en-US" altLang="zh-CN" sz="2400" baseline="-25000" dirty="0">
                <a:solidFill>
                  <a:srgbClr val="0000AC"/>
                </a:solidFill>
              </a:rPr>
              <a:t>2</a:t>
            </a:r>
            <a:r>
              <a:rPr lang="en-US" altLang="zh-CN" sz="2400" dirty="0">
                <a:solidFill>
                  <a:srgbClr val="0000AC"/>
                </a:solidFill>
              </a:rPr>
              <a:t>  </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/2 =6</a:t>
            </a:r>
            <a:endParaRPr lang="zh-CN" altLang="en-US" sz="2400" dirty="0">
              <a:solidFill>
                <a:srgbClr val="060606"/>
              </a:solidFill>
            </a:endParaRPr>
          </a:p>
        </p:txBody>
      </p:sp>
      <p:grpSp>
        <p:nvGrpSpPr>
          <p:cNvPr id="7" name="组合 48"/>
          <p:cNvGrpSpPr/>
          <p:nvPr/>
        </p:nvGrpSpPr>
        <p:grpSpPr>
          <a:xfrm>
            <a:off x="7176120" y="1268760"/>
            <a:ext cx="3491880" cy="2160240"/>
            <a:chOff x="5580112" y="4221088"/>
            <a:chExt cx="3096344" cy="2160240"/>
          </a:xfrm>
        </p:grpSpPr>
        <p:grpSp>
          <p:nvGrpSpPr>
            <p:cNvPr id="8" name="组合 37"/>
            <p:cNvGrpSpPr/>
            <p:nvPr/>
          </p:nvGrpSpPr>
          <p:grpSpPr>
            <a:xfrm>
              <a:off x="5580112" y="4221088"/>
              <a:ext cx="3096344" cy="2160240"/>
              <a:chOff x="6228184" y="1916832"/>
              <a:chExt cx="3096344" cy="2160240"/>
            </a:xfrm>
          </p:grpSpPr>
          <p:sp>
            <p:nvSpPr>
              <p:cNvPr id="46" name="矩形 45"/>
              <p:cNvSpPr/>
              <p:nvPr/>
            </p:nvSpPr>
            <p:spPr>
              <a:xfrm>
                <a:off x="6228184" y="2348880"/>
                <a:ext cx="1223412" cy="461665"/>
              </a:xfrm>
              <a:prstGeom prst="rect">
                <a:avLst/>
              </a:prstGeom>
            </p:spPr>
            <p:txBody>
              <a:bodyPr wrap="none">
                <a:spAutoFit/>
              </a:bodyPr>
              <a:lstStyle/>
              <a:p>
                <a:r>
                  <a:rPr lang="en-US" altLang="zh-CN" sz="2400" b="1" dirty="0">
                    <a:solidFill>
                      <a:srgbClr val="060606"/>
                    </a:solidFill>
                  </a:rPr>
                  <a:t>A’</a:t>
                </a:r>
                <a:r>
                  <a:rPr lang="en-US" altLang="zh-CN" sz="2400" baseline="-25000" dirty="0">
                    <a:solidFill>
                      <a:srgbClr val="060606"/>
                    </a:solidFill>
                  </a:rPr>
                  <a:t>3 × 5</a:t>
                </a:r>
                <a:r>
                  <a:rPr lang="en-US" altLang="zh-CN" sz="2400" dirty="0">
                    <a:solidFill>
                      <a:srgbClr val="060606"/>
                    </a:solidFill>
                  </a:rPr>
                  <a:t> =</a:t>
                </a:r>
                <a:endParaRPr lang="zh-CN" altLang="en-US" sz="2400" dirty="0"/>
              </a:p>
            </p:txBody>
          </p:sp>
          <p:sp>
            <p:nvSpPr>
              <p:cNvPr id="47" name="双括号 46"/>
              <p:cNvSpPr/>
              <p:nvPr/>
            </p:nvSpPr>
            <p:spPr bwMode="auto">
              <a:xfrm>
                <a:off x="7308304" y="1916832"/>
                <a:ext cx="2016224" cy="1584176"/>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48" name="矩形 47"/>
              <p:cNvSpPr/>
              <p:nvPr/>
            </p:nvSpPr>
            <p:spPr>
              <a:xfrm>
                <a:off x="7308304" y="2996952"/>
                <a:ext cx="1944216" cy="830997"/>
              </a:xfrm>
              <a:prstGeom prst="rect">
                <a:avLst/>
              </a:prstGeom>
            </p:spPr>
            <p:txBody>
              <a:bodyPr wrap="square">
                <a:spAutoFit/>
              </a:bodyPr>
              <a:lstStyle/>
              <a:p>
                <a:pPr algn="just"/>
                <a:r>
                  <a:rPr lang="en-US" altLang="zh-CN" sz="2400" dirty="0">
                    <a:solidFill>
                      <a:srgbClr val="060606"/>
                    </a:solidFill>
                  </a:rPr>
                  <a:t>3  0  </a:t>
                </a:r>
                <a:r>
                  <a:rPr lang="en-US" altLang="zh-CN" sz="2400" dirty="0" err="1">
                    <a:solidFill>
                      <a:srgbClr val="060606"/>
                    </a:solidFill>
                  </a:rPr>
                  <a:t>0</a:t>
                </a:r>
                <a:r>
                  <a:rPr lang="en-US" altLang="zh-CN" sz="2400" dirty="0">
                    <a:solidFill>
                      <a:srgbClr val="060606"/>
                    </a:solidFill>
                  </a:rPr>
                  <a:t>    -1   1</a:t>
                </a:r>
                <a:endParaRPr lang="zh-CN" altLang="en-US" sz="2400" dirty="0"/>
              </a:p>
            </p:txBody>
          </p:sp>
          <p:sp>
            <p:nvSpPr>
              <p:cNvPr id="49" name="矩形 48"/>
              <p:cNvSpPr/>
              <p:nvPr/>
            </p:nvSpPr>
            <p:spPr>
              <a:xfrm>
                <a:off x="7308304" y="2492896"/>
                <a:ext cx="2016224" cy="461665"/>
              </a:xfrm>
              <a:prstGeom prst="rect">
                <a:avLst/>
              </a:prstGeom>
            </p:spPr>
            <p:txBody>
              <a:bodyPr wrap="square">
                <a:spAutoFit/>
              </a:bodyPr>
              <a:lstStyle/>
              <a:p>
                <a:pPr algn="just"/>
                <a:r>
                  <a:rPr lang="en-US" altLang="zh-CN" sz="2400" dirty="0">
                    <a:solidFill>
                      <a:srgbClr val="060606"/>
                    </a:solidFill>
                  </a:rPr>
                  <a:t>0  1  0  1/2  0</a:t>
                </a:r>
                <a:endParaRPr lang="zh-CN" altLang="en-US" sz="2400" dirty="0"/>
              </a:p>
            </p:txBody>
          </p:sp>
          <p:sp>
            <p:nvSpPr>
              <p:cNvPr id="50" name="矩形 49"/>
              <p:cNvSpPr/>
              <p:nvPr/>
            </p:nvSpPr>
            <p:spPr>
              <a:xfrm>
                <a:off x="7308304" y="1988840"/>
                <a:ext cx="1872208" cy="830997"/>
              </a:xfrm>
              <a:prstGeom prst="rect">
                <a:avLst/>
              </a:prstGeom>
            </p:spPr>
            <p:txBody>
              <a:bodyPr wrap="square">
                <a:spAutoFit/>
              </a:bodyPr>
              <a:lstStyle/>
              <a:p>
                <a:pPr algn="just"/>
                <a:r>
                  <a:rPr lang="en-US" altLang="zh-CN" sz="2400" dirty="0">
                    <a:solidFill>
                      <a:srgbClr val="060606"/>
                    </a:solidFill>
                  </a:rPr>
                  <a:t>1  0  1     0   </a:t>
                </a:r>
                <a:r>
                  <a:rPr lang="en-US" altLang="zh-CN" sz="2400" dirty="0" err="1">
                    <a:solidFill>
                      <a:srgbClr val="060606"/>
                    </a:solidFill>
                  </a:rPr>
                  <a:t>0</a:t>
                </a:r>
                <a:endParaRPr lang="zh-CN" altLang="en-US" sz="2400" dirty="0"/>
              </a:p>
            </p:txBody>
          </p:sp>
          <p:sp>
            <p:nvSpPr>
              <p:cNvPr id="51" name="矩形 50"/>
              <p:cNvSpPr/>
              <p:nvPr/>
            </p:nvSpPr>
            <p:spPr>
              <a:xfrm>
                <a:off x="6300192" y="3615407"/>
                <a:ext cx="2952328" cy="461665"/>
              </a:xfrm>
              <a:prstGeom prst="rect">
                <a:avLst/>
              </a:prstGeom>
            </p:spPr>
            <p:txBody>
              <a:bodyPr wrap="square">
                <a:spAutoFit/>
              </a:bodyPr>
              <a:lstStyle/>
              <a:p>
                <a:pPr algn="ctr"/>
                <a:r>
                  <a:rPr lang="zh-CN" altLang="en-US" sz="2400" dirty="0">
                    <a:solidFill>
                      <a:srgbClr val="060606"/>
                    </a:solidFill>
                  </a:rPr>
                  <a:t>单位矩阵：基</a:t>
                </a:r>
                <a:r>
                  <a:rPr lang="en-US" altLang="zh-CN" sz="2400" dirty="0">
                    <a:solidFill>
                      <a:srgbClr val="060606"/>
                    </a:solidFill>
                  </a:rPr>
                  <a:t>B’</a:t>
                </a:r>
                <a:r>
                  <a:rPr lang="en-US" altLang="zh-CN" sz="2400" baseline="-25000" dirty="0">
                    <a:solidFill>
                      <a:srgbClr val="060606"/>
                    </a:solidFill>
                  </a:rPr>
                  <a:t>3×3</a:t>
                </a:r>
                <a:endParaRPr lang="zh-CN" altLang="en-US" sz="2400" baseline="-25000" dirty="0"/>
              </a:p>
            </p:txBody>
          </p:sp>
        </p:grpSp>
        <p:sp>
          <p:nvSpPr>
            <p:cNvPr id="44" name="任意多边形 43"/>
            <p:cNvSpPr/>
            <p:nvPr/>
          </p:nvSpPr>
          <p:spPr bwMode="auto">
            <a:xfrm>
              <a:off x="7020272" y="4293920"/>
              <a:ext cx="648071" cy="1394233"/>
            </a:xfrm>
            <a:custGeom>
              <a:avLst/>
              <a:gdLst>
                <a:gd name="connsiteX0" fmla="*/ 18107 w 823865"/>
                <a:gd name="connsiteY0" fmla="*/ 9053 h 1394233"/>
                <a:gd name="connsiteX1" fmla="*/ 805758 w 823865"/>
                <a:gd name="connsiteY1" fmla="*/ 0 h 1394233"/>
                <a:gd name="connsiteX2" fmla="*/ 823865 w 823865"/>
                <a:gd name="connsiteY2" fmla="*/ 1394233 h 1394233"/>
                <a:gd name="connsiteX3" fmla="*/ 0 w 823865"/>
                <a:gd name="connsiteY3" fmla="*/ 1376126 h 1394233"/>
                <a:gd name="connsiteX4" fmla="*/ 18107 w 823865"/>
                <a:gd name="connsiteY4" fmla="*/ 9053 h 139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865" h="1394233">
                  <a:moveTo>
                    <a:pt x="18107" y="9053"/>
                  </a:moveTo>
                  <a:lnTo>
                    <a:pt x="805758" y="0"/>
                  </a:lnTo>
                  <a:lnTo>
                    <a:pt x="823865" y="1394233"/>
                  </a:lnTo>
                  <a:lnTo>
                    <a:pt x="0" y="1376126"/>
                  </a:lnTo>
                  <a:cubicBezTo>
                    <a:pt x="3018" y="911382"/>
                    <a:pt x="6035" y="446637"/>
                    <a:pt x="18107" y="9053"/>
                  </a:cubicBezTo>
                  <a:close/>
                </a:path>
              </a:pathLst>
            </a:custGeom>
            <a:no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cxnSp>
          <p:nvCxnSpPr>
            <p:cNvPr id="45" name="直接箭头连接符 44"/>
            <p:cNvCxnSpPr>
              <a:stCxn id="54" idx="3"/>
            </p:cNvCxnSpPr>
            <p:nvPr/>
          </p:nvCxnSpPr>
          <p:spPr bwMode="auto">
            <a:xfrm flipH="1">
              <a:off x="7668344" y="5741230"/>
              <a:ext cx="432049" cy="208050"/>
            </a:xfrm>
            <a:prstGeom prst="straightConnector1">
              <a:avLst/>
            </a:prstGeom>
            <a:solidFill>
              <a:schemeClr val="accent1"/>
            </a:solidFill>
            <a:ln w="28575" cap="flat" cmpd="sng" algn="ctr">
              <a:solidFill>
                <a:srgbClr val="00B05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任意多边形 53"/>
            <p:cNvSpPr/>
            <p:nvPr/>
          </p:nvSpPr>
          <p:spPr bwMode="auto">
            <a:xfrm>
              <a:off x="8100393" y="4365104"/>
              <a:ext cx="360040" cy="1394233"/>
            </a:xfrm>
            <a:custGeom>
              <a:avLst/>
              <a:gdLst>
                <a:gd name="connsiteX0" fmla="*/ 18107 w 823865"/>
                <a:gd name="connsiteY0" fmla="*/ 9053 h 1394233"/>
                <a:gd name="connsiteX1" fmla="*/ 805758 w 823865"/>
                <a:gd name="connsiteY1" fmla="*/ 0 h 1394233"/>
                <a:gd name="connsiteX2" fmla="*/ 823865 w 823865"/>
                <a:gd name="connsiteY2" fmla="*/ 1394233 h 1394233"/>
                <a:gd name="connsiteX3" fmla="*/ 0 w 823865"/>
                <a:gd name="connsiteY3" fmla="*/ 1376126 h 1394233"/>
                <a:gd name="connsiteX4" fmla="*/ 18107 w 823865"/>
                <a:gd name="connsiteY4" fmla="*/ 9053 h 139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865" h="1394233">
                  <a:moveTo>
                    <a:pt x="18107" y="9053"/>
                  </a:moveTo>
                  <a:lnTo>
                    <a:pt x="805758" y="0"/>
                  </a:lnTo>
                  <a:lnTo>
                    <a:pt x="823865" y="1394233"/>
                  </a:lnTo>
                  <a:lnTo>
                    <a:pt x="0" y="1376126"/>
                  </a:lnTo>
                  <a:cubicBezTo>
                    <a:pt x="3018" y="911382"/>
                    <a:pt x="6035" y="446637"/>
                    <a:pt x="18107" y="9053"/>
                  </a:cubicBezTo>
                  <a:close/>
                </a:path>
              </a:pathLst>
            </a:custGeom>
            <a:no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cxnSp>
          <p:nvCxnSpPr>
            <p:cNvPr id="56" name="直接箭头连接符 55"/>
            <p:cNvCxnSpPr/>
            <p:nvPr/>
          </p:nvCxnSpPr>
          <p:spPr bwMode="auto">
            <a:xfrm>
              <a:off x="7452322" y="5733256"/>
              <a:ext cx="144014" cy="144016"/>
            </a:xfrm>
            <a:prstGeom prst="straightConnector1">
              <a:avLst/>
            </a:prstGeom>
            <a:solidFill>
              <a:schemeClr val="accent1"/>
            </a:solidFill>
            <a:ln w="28575" cap="flat" cmpd="sng" algn="ctr">
              <a:solidFill>
                <a:srgbClr val="00B05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2" name="矩形 51"/>
          <p:cNvSpPr/>
          <p:nvPr/>
        </p:nvSpPr>
        <p:spPr>
          <a:xfrm>
            <a:off x="7752185" y="908721"/>
            <a:ext cx="2190023" cy="461665"/>
          </a:xfrm>
          <a:prstGeom prst="rect">
            <a:avLst/>
          </a:prstGeom>
        </p:spPr>
        <p:txBody>
          <a:bodyPr wrap="none">
            <a:spAutoFit/>
          </a:bodyPr>
          <a:lstStyle/>
          <a:p>
            <a:r>
              <a:rPr lang="en-US" altLang="zh-CN" sz="2400" dirty="0">
                <a:solidFill>
                  <a:srgbClr val="060606"/>
                </a:solidFill>
              </a:rPr>
              <a:t>b‘ = (6</a:t>
            </a:r>
            <a:r>
              <a:rPr lang="zh-CN" altLang="en-US" sz="2400" dirty="0">
                <a:solidFill>
                  <a:srgbClr val="060606"/>
                </a:solidFill>
              </a:rPr>
              <a:t>，</a:t>
            </a:r>
            <a:r>
              <a:rPr lang="en-US" altLang="zh-CN" sz="2400" dirty="0">
                <a:solidFill>
                  <a:srgbClr val="060606"/>
                </a:solidFill>
              </a:rPr>
              <a:t>4</a:t>
            </a:r>
            <a:r>
              <a:rPr lang="zh-CN" altLang="en-US" sz="2400" dirty="0">
                <a:solidFill>
                  <a:srgbClr val="060606"/>
                </a:solidFill>
              </a:rPr>
              <a:t>，</a:t>
            </a:r>
            <a:r>
              <a:rPr lang="en-US" altLang="zh-CN" sz="2400" dirty="0">
                <a:solidFill>
                  <a:srgbClr val="060606"/>
                </a:solidFill>
              </a:rPr>
              <a:t>6)</a:t>
            </a:r>
            <a:r>
              <a:rPr lang="en-US" altLang="zh-CN" sz="2400" baseline="30000" dirty="0">
                <a:solidFill>
                  <a:srgbClr val="060606"/>
                </a:solidFill>
              </a:rPr>
              <a:t>T</a:t>
            </a:r>
            <a:endParaRPr lang="zh-CN" altLang="en-US" sz="2400" baseline="30000" dirty="0">
              <a:solidFill>
                <a:srgbClr val="060606"/>
              </a:solidFill>
            </a:endParaRPr>
          </a:p>
        </p:txBody>
      </p:sp>
      <p:sp>
        <p:nvSpPr>
          <p:cNvPr id="53" name="右箭头 52"/>
          <p:cNvSpPr/>
          <p:nvPr/>
        </p:nvSpPr>
        <p:spPr bwMode="auto">
          <a:xfrm>
            <a:off x="5951984" y="1628800"/>
            <a:ext cx="576064" cy="360040"/>
          </a:xfrm>
          <a:prstGeom prst="rightArrow">
            <a:avLst/>
          </a:prstGeom>
          <a:noFill/>
          <a:ln>
            <a:solidFill>
              <a:srgbClr val="0322BD"/>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lang="zh-CN" altLang="en-US">
              <a:solidFill>
                <a:schemeClr val="tx1"/>
              </a:solidFill>
              <a:latin typeface="Arial" panose="020B0604020202090204" pitchFamily="34" charset="0"/>
              <a:ea typeface="宋体" panose="02010600030101010101" pitchFamily="2" charset="-122"/>
            </a:endParaRPr>
          </a:p>
        </p:txBody>
      </p:sp>
      <p:grpSp>
        <p:nvGrpSpPr>
          <p:cNvPr id="77" name="组合 76"/>
          <p:cNvGrpSpPr/>
          <p:nvPr/>
        </p:nvGrpSpPr>
        <p:grpSpPr>
          <a:xfrm>
            <a:off x="1524000" y="3356992"/>
            <a:ext cx="8892480" cy="3328400"/>
            <a:chOff x="0" y="3356992"/>
            <a:chExt cx="8892480" cy="3328400"/>
          </a:xfrm>
        </p:grpSpPr>
        <p:sp>
          <p:nvSpPr>
            <p:cNvPr id="57" name="矩形 56"/>
            <p:cNvSpPr/>
            <p:nvPr/>
          </p:nvSpPr>
          <p:spPr>
            <a:xfrm>
              <a:off x="0" y="3356992"/>
              <a:ext cx="2483768" cy="523220"/>
            </a:xfrm>
            <a:prstGeom prst="rect">
              <a:avLst/>
            </a:prstGeom>
          </p:spPr>
          <p:txBody>
            <a:bodyPr wrap="square">
              <a:spAutoFit/>
            </a:bodyPr>
            <a:lstStyle/>
            <a:p>
              <a:r>
                <a:rPr lang="en-US" altLang="zh-CN" sz="2800" dirty="0">
                  <a:solidFill>
                    <a:srgbClr val="060606"/>
                  </a:solidFill>
                </a:rPr>
                <a:t> x</a:t>
              </a:r>
              <a:r>
                <a:rPr lang="en-US" altLang="zh-CN" sz="2800" baseline="-25000" dirty="0">
                  <a:solidFill>
                    <a:srgbClr val="060606"/>
                  </a:solidFill>
                </a:rPr>
                <a:t>2</a:t>
              </a:r>
              <a:r>
                <a:rPr lang="zh-CN" altLang="en-US" sz="2800" dirty="0">
                  <a:solidFill>
                    <a:srgbClr val="060606"/>
                  </a:solidFill>
                </a:rPr>
                <a:t>为换入变量</a:t>
              </a:r>
              <a:endParaRPr lang="zh-CN" altLang="en-US" sz="2800" dirty="0"/>
            </a:p>
          </p:txBody>
        </p:sp>
        <p:sp>
          <p:nvSpPr>
            <p:cNvPr id="58" name="矩形 57"/>
            <p:cNvSpPr/>
            <p:nvPr/>
          </p:nvSpPr>
          <p:spPr>
            <a:xfrm>
              <a:off x="2483768" y="3356992"/>
              <a:ext cx="2286000" cy="523220"/>
            </a:xfrm>
            <a:prstGeom prst="rect">
              <a:avLst/>
            </a:prstGeom>
          </p:spPr>
          <p:txBody>
            <a:bodyPr>
              <a:spAutoFit/>
            </a:bodyPr>
            <a:lstStyle/>
            <a:p>
              <a:r>
                <a:rPr lang="en-US" altLang="zh-CN" sz="2800" dirty="0">
                  <a:solidFill>
                    <a:srgbClr val="060606"/>
                  </a:solidFill>
                </a:rPr>
                <a:t>x</a:t>
              </a:r>
              <a:r>
                <a:rPr lang="en-US" altLang="zh-CN" sz="2800" baseline="-25000" dirty="0">
                  <a:solidFill>
                    <a:srgbClr val="060606"/>
                  </a:solidFill>
                </a:rPr>
                <a:t>4</a:t>
              </a:r>
              <a:r>
                <a:rPr lang="zh-CN" altLang="en-US" sz="2800" dirty="0">
                  <a:solidFill>
                    <a:srgbClr val="060606"/>
                  </a:solidFill>
                </a:rPr>
                <a:t>为换出变量</a:t>
              </a:r>
              <a:endParaRPr lang="zh-CN" altLang="en-US" dirty="0"/>
            </a:p>
          </p:txBody>
        </p:sp>
        <p:grpSp>
          <p:nvGrpSpPr>
            <p:cNvPr id="76" name="组合 75"/>
            <p:cNvGrpSpPr/>
            <p:nvPr/>
          </p:nvGrpSpPr>
          <p:grpSpPr>
            <a:xfrm>
              <a:off x="467544" y="3880212"/>
              <a:ext cx="8424936" cy="2805180"/>
              <a:chOff x="467544" y="3880212"/>
              <a:chExt cx="8424936" cy="2805180"/>
            </a:xfrm>
          </p:grpSpPr>
          <p:sp>
            <p:nvSpPr>
              <p:cNvPr id="68" name="矩形 67"/>
              <p:cNvSpPr/>
              <p:nvPr/>
            </p:nvSpPr>
            <p:spPr>
              <a:xfrm>
                <a:off x="5724128" y="4221088"/>
                <a:ext cx="3168352" cy="885499"/>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2400" dirty="0">
                    <a:solidFill>
                      <a:srgbClr val="060606"/>
                    </a:solidFill>
                  </a:rPr>
                  <a:t>(0) </a:t>
                </a:r>
                <a:r>
                  <a:rPr lang="zh-CN" altLang="en-US" sz="2400" dirty="0">
                    <a:solidFill>
                      <a:srgbClr val="060606"/>
                    </a:solidFill>
                  </a:rPr>
                  <a:t> </a:t>
                </a:r>
                <a:r>
                  <a:rPr lang="en-US" altLang="zh-CN" sz="2400" dirty="0">
                    <a:solidFill>
                      <a:srgbClr val="060606"/>
                    </a:solidFill>
                  </a:rPr>
                  <a:t>Z</a:t>
                </a:r>
                <a:r>
                  <a:rPr lang="zh-CN" altLang="en-US" sz="2400" dirty="0">
                    <a:solidFill>
                      <a:srgbClr val="060606"/>
                    </a:solidFill>
                  </a:rPr>
                  <a:t>－</a:t>
                </a:r>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5x</a:t>
                </a:r>
                <a:r>
                  <a:rPr lang="en-US" altLang="zh-CN" sz="2400" baseline="-25000" dirty="0">
                    <a:solidFill>
                      <a:srgbClr val="060606"/>
                    </a:solidFill>
                  </a:rPr>
                  <a:t>2</a:t>
                </a:r>
                <a:r>
                  <a:rPr lang="en-US" altLang="zh-CN" sz="2400" dirty="0">
                    <a:solidFill>
                      <a:srgbClr val="060606"/>
                    </a:solidFill>
                  </a:rPr>
                  <a:t>/2 = 30 </a:t>
                </a:r>
                <a:endParaRPr lang="en-US" altLang="zh-CN" sz="2400" dirty="0">
                  <a:solidFill>
                    <a:srgbClr val="060606"/>
                  </a:solidFill>
                </a:endParaRPr>
              </a:p>
            </p:txBody>
          </p:sp>
          <p:grpSp>
            <p:nvGrpSpPr>
              <p:cNvPr id="75" name="组合 74"/>
              <p:cNvGrpSpPr/>
              <p:nvPr/>
            </p:nvGrpSpPr>
            <p:grpSpPr>
              <a:xfrm>
                <a:off x="467544" y="3880212"/>
                <a:ext cx="8352929" cy="2805180"/>
                <a:chOff x="467544" y="3880212"/>
                <a:chExt cx="8352929" cy="2805180"/>
              </a:xfrm>
            </p:grpSpPr>
            <p:sp>
              <p:nvSpPr>
                <p:cNvPr id="33" name="内容占位符 2"/>
                <p:cNvSpPr txBox="1"/>
                <p:nvPr/>
              </p:nvSpPr>
              <p:spPr bwMode="auto">
                <a:xfrm>
                  <a:off x="2555776" y="6165304"/>
                  <a:ext cx="5256584" cy="52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defRPr/>
                  </a:pPr>
                  <a:r>
                    <a:rPr lang="zh-CN" altLang="en-US" sz="2400" dirty="0">
                      <a:solidFill>
                        <a:srgbClr val="060606"/>
                      </a:solidFill>
                    </a:rPr>
                    <a:t>产品组合问题的</a:t>
                  </a:r>
                  <a:r>
                    <a:rPr lang="zh-CN" altLang="en-US" sz="2400">
                      <a:solidFill>
                        <a:srgbClr val="060606"/>
                      </a:solidFill>
                    </a:rPr>
                    <a:t>新的一个基可</a:t>
                  </a:r>
                  <a:r>
                    <a:rPr lang="zh-CN" altLang="en-US" sz="2400" dirty="0">
                      <a:solidFill>
                        <a:srgbClr val="060606"/>
                      </a:solidFill>
                    </a:rPr>
                    <a:t>行解</a:t>
                  </a:r>
                  <a:endParaRPr lang="en-US" altLang="zh-CN" sz="2400" dirty="0">
                    <a:solidFill>
                      <a:srgbClr val="060606"/>
                    </a:solidFill>
                  </a:endParaRPr>
                </a:p>
              </p:txBody>
            </p:sp>
            <p:sp>
              <p:nvSpPr>
                <p:cNvPr id="55" name="内容占位符 2"/>
                <p:cNvSpPr txBox="1"/>
                <p:nvPr/>
              </p:nvSpPr>
              <p:spPr bwMode="auto">
                <a:xfrm>
                  <a:off x="467544" y="4293096"/>
                  <a:ext cx="3887663" cy="52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defRPr/>
                  </a:pPr>
                  <a:r>
                    <a:rPr lang="zh-CN" altLang="en-US" sz="2400" dirty="0">
                      <a:solidFill>
                        <a:srgbClr val="060606"/>
                      </a:solidFill>
                    </a:rPr>
                    <a:t>基可行解</a:t>
                  </a:r>
                  <a:r>
                    <a:rPr lang="en-US" altLang="zh-CN" sz="2400" b="1" dirty="0">
                      <a:solidFill>
                        <a:srgbClr val="060606"/>
                      </a:solidFill>
                    </a:rPr>
                    <a:t>x’</a:t>
                  </a:r>
                  <a:r>
                    <a:rPr lang="en-US" altLang="zh-CN" sz="2400" dirty="0">
                      <a:solidFill>
                        <a:srgbClr val="060606"/>
                      </a:solidFill>
                    </a:rPr>
                    <a:t> = (0,6,4,0,6)</a:t>
                  </a:r>
                  <a:endParaRPr lang="en-US" altLang="zh-CN" sz="2400" dirty="0">
                    <a:solidFill>
                      <a:srgbClr val="060606"/>
                    </a:solidFill>
                  </a:endParaRPr>
                </a:p>
                <a:p>
                  <a:pPr marL="342900" indent="-342900" fontAlgn="base">
                    <a:lnSpc>
                      <a:spcPct val="110000"/>
                    </a:lnSpc>
                    <a:spcBef>
                      <a:spcPts val="1800"/>
                    </a:spcBef>
                    <a:spcAft>
                      <a:spcPct val="0"/>
                    </a:spcAft>
                    <a:defRPr/>
                  </a:pPr>
                  <a:r>
                    <a:rPr lang="en-US" altLang="zh-CN" sz="2400" dirty="0">
                      <a:solidFill>
                        <a:srgbClr val="060606"/>
                      </a:solidFill>
                    </a:rPr>
                    <a:t>z = 30 </a:t>
                  </a:r>
                  <a:endParaRPr lang="en-US" altLang="zh-CN" sz="2400" dirty="0">
                    <a:solidFill>
                      <a:srgbClr val="060606"/>
                    </a:solidFill>
                  </a:endParaRPr>
                </a:p>
              </p:txBody>
            </p:sp>
            <p:sp>
              <p:nvSpPr>
                <p:cNvPr id="67" name="内容占位符 2"/>
                <p:cNvSpPr txBox="1"/>
                <p:nvPr/>
              </p:nvSpPr>
              <p:spPr bwMode="auto">
                <a:xfrm>
                  <a:off x="3635897" y="4221088"/>
                  <a:ext cx="5184576"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defRPr/>
                  </a:pPr>
                  <a:r>
                    <a:rPr lang="zh-CN" altLang="en-US" sz="2400" b="1" dirty="0">
                      <a:solidFill>
                        <a:srgbClr val="060606"/>
                      </a:solidFill>
                    </a:rPr>
                    <a:t>最优检测</a:t>
                  </a:r>
                  <a:r>
                    <a:rPr lang="en-US" altLang="zh-CN" sz="2400" b="1" dirty="0" err="1">
                      <a:solidFill>
                        <a:srgbClr val="060606"/>
                      </a:solidFill>
                    </a:rPr>
                    <a:t>Eq</a:t>
                  </a:r>
                  <a:r>
                    <a:rPr lang="en-US" altLang="zh-CN" sz="2400" b="1" dirty="0">
                      <a:solidFill>
                        <a:srgbClr val="060606"/>
                      </a:solidFill>
                    </a:rPr>
                    <a:t>(0):</a:t>
                  </a:r>
                  <a:endParaRPr lang="en-US" altLang="zh-CN" sz="2400" b="1" dirty="0">
                    <a:solidFill>
                      <a:srgbClr val="060606"/>
                    </a:solidFill>
                  </a:endParaRPr>
                </a:p>
                <a:p>
                  <a:pPr marL="342900" indent="-342900" fontAlgn="base">
                    <a:lnSpc>
                      <a:spcPct val="110000"/>
                    </a:lnSpc>
                    <a:spcBef>
                      <a:spcPts val="1800"/>
                    </a:spcBef>
                    <a:spcAft>
                      <a:spcPct val="0"/>
                    </a:spcAft>
                  </a:pPr>
                  <a:r>
                    <a:rPr lang="en-US" altLang="zh-CN" sz="2400" dirty="0">
                      <a:solidFill>
                        <a:srgbClr val="060606"/>
                      </a:solidFill>
                    </a:rPr>
                    <a:t>Z</a:t>
                  </a:r>
                  <a:r>
                    <a:rPr lang="zh-CN" altLang="en-US" sz="2400" dirty="0">
                      <a:solidFill>
                        <a:srgbClr val="060606"/>
                      </a:solidFill>
                    </a:rPr>
                    <a:t> </a:t>
                  </a:r>
                  <a:r>
                    <a:rPr lang="en-US" altLang="zh-CN" sz="2400" dirty="0">
                      <a:solidFill>
                        <a:srgbClr val="060606"/>
                      </a:solidFill>
                    </a:rPr>
                    <a:t>=30+3x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5x</a:t>
                  </a:r>
                  <a:r>
                    <a:rPr lang="en-US" altLang="zh-CN" sz="2400" baseline="-25000" dirty="0">
                      <a:solidFill>
                        <a:srgbClr val="060606"/>
                      </a:solidFill>
                    </a:rPr>
                    <a:t>2</a:t>
                  </a:r>
                  <a:r>
                    <a:rPr lang="en-US" altLang="zh-CN" sz="2400" dirty="0">
                      <a:solidFill>
                        <a:srgbClr val="060606"/>
                      </a:solidFill>
                    </a:rPr>
                    <a:t>/2</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1</a:t>
                  </a:r>
                  <a:r>
                    <a:rPr lang="zh-CN" altLang="en-US" sz="2400" dirty="0">
                      <a:solidFill>
                        <a:srgbClr val="060606"/>
                      </a:solidFill>
                    </a:rPr>
                    <a:t>↑，</a:t>
                  </a:r>
                  <a:r>
                    <a:rPr lang="en-US" altLang="zh-CN" sz="2400" dirty="0">
                      <a:solidFill>
                        <a:srgbClr val="060606"/>
                      </a:solidFill>
                    </a:rPr>
                    <a:t>z</a:t>
                  </a:r>
                  <a:r>
                    <a:rPr lang="zh-CN" altLang="zh-CN" sz="2400" dirty="0"/>
                    <a:t>↑</a:t>
                  </a:r>
                  <a:endParaRPr lang="en-US" altLang="zh-CN" sz="2400" dirty="0">
                    <a:solidFill>
                      <a:srgbClr val="060606"/>
                    </a:solidFill>
                  </a:endParaRPr>
                </a:p>
              </p:txBody>
            </p:sp>
            <p:sp>
              <p:nvSpPr>
                <p:cNvPr id="74" name="内容占位符 2"/>
                <p:cNvSpPr txBox="1"/>
                <p:nvPr/>
              </p:nvSpPr>
              <p:spPr bwMode="auto">
                <a:xfrm>
                  <a:off x="2123728" y="5445224"/>
                  <a:ext cx="3887663" cy="52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defRPr/>
                  </a:pPr>
                  <a:r>
                    <a:rPr lang="zh-CN" altLang="en-US" sz="2400" dirty="0">
                      <a:solidFill>
                        <a:srgbClr val="060606"/>
                      </a:solidFill>
                    </a:rPr>
                    <a:t>可知，需要进入下一迭代。</a:t>
                  </a:r>
                  <a:endParaRPr lang="en-US" altLang="zh-CN" sz="2400" dirty="0">
                    <a:solidFill>
                      <a:srgbClr val="060606"/>
                    </a:solidFill>
                  </a:endParaRPr>
                </a:p>
              </p:txBody>
            </p:sp>
            <p:cxnSp>
              <p:nvCxnSpPr>
                <p:cNvPr id="60" name="直接箭头连接符 59"/>
                <p:cNvCxnSpPr>
                  <a:stCxn id="57" idx="2"/>
                </p:cNvCxnSpPr>
                <p:nvPr/>
              </p:nvCxnSpPr>
              <p:spPr bwMode="auto">
                <a:xfrm>
                  <a:off x="1241884" y="3880212"/>
                  <a:ext cx="1313892" cy="556900"/>
                </a:xfrm>
                <a:prstGeom prst="straightConnector1">
                  <a:avLst/>
                </a:prstGeom>
                <a:solidFill>
                  <a:schemeClr val="accent1"/>
                </a:solidFill>
                <a:ln w="28575" cap="flat" cmpd="sng" algn="ctr">
                  <a:solidFill>
                    <a:srgbClr val="FF000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箭头连接符 60"/>
                <p:cNvCxnSpPr>
                  <a:stCxn id="58" idx="2"/>
                </p:cNvCxnSpPr>
                <p:nvPr/>
              </p:nvCxnSpPr>
              <p:spPr bwMode="auto">
                <a:xfrm flipH="1">
                  <a:off x="3059832" y="3880212"/>
                  <a:ext cx="566936" cy="556900"/>
                </a:xfrm>
                <a:prstGeom prst="straightConnector1">
                  <a:avLst/>
                </a:prstGeom>
                <a:solidFill>
                  <a:schemeClr val="accent1"/>
                </a:solidFill>
                <a:ln w="28575" cap="flat" cmpd="sng" algn="ctr">
                  <a:solidFill>
                    <a:srgbClr val="FF000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sp>
        <p:nvSpPr>
          <p:cNvPr id="36" name="灯片编号占位符 3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bwMode="auto">
          <a:xfrm>
            <a:off x="254000" y="332656"/>
            <a:ext cx="11338560"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zh-CN" altLang="en-US" sz="3200" dirty="0">
                <a:solidFill>
                  <a:srgbClr val="00000C"/>
                </a:solidFill>
              </a:rPr>
              <a:t>请同学们做：依照</a:t>
            </a:r>
            <a:r>
              <a:rPr lang="en-US" altLang="zh-CN" sz="3200" dirty="0">
                <a:solidFill>
                  <a:srgbClr val="00000C"/>
                </a:solidFill>
              </a:rPr>
              <a:t>5.1-5.6</a:t>
            </a:r>
            <a:r>
              <a:rPr lang="zh-CN" altLang="en-US" sz="3200" dirty="0">
                <a:solidFill>
                  <a:srgbClr val="00000C"/>
                </a:solidFill>
              </a:rPr>
              <a:t>的步骤实施迭代，直到得到最优解。</a:t>
            </a:r>
            <a:endParaRPr lang="en-US" altLang="zh-CN" sz="3200" dirty="0">
              <a:solidFill>
                <a:srgbClr val="00000C"/>
              </a:solidFill>
            </a:endParaRPr>
          </a:p>
        </p:txBody>
      </p:sp>
      <p:grpSp>
        <p:nvGrpSpPr>
          <p:cNvPr id="10" name="组合 9"/>
          <p:cNvGrpSpPr/>
          <p:nvPr/>
        </p:nvGrpSpPr>
        <p:grpSpPr>
          <a:xfrm>
            <a:off x="2777912" y="1592298"/>
            <a:ext cx="7849447" cy="3074550"/>
            <a:chOff x="2777912" y="1592298"/>
            <a:chExt cx="7849447" cy="3074550"/>
          </a:xfrm>
        </p:grpSpPr>
        <p:sp>
          <p:nvSpPr>
            <p:cNvPr id="3" name="矩形 2"/>
            <p:cNvSpPr/>
            <p:nvPr/>
          </p:nvSpPr>
          <p:spPr>
            <a:xfrm>
              <a:off x="2777913" y="2210753"/>
              <a:ext cx="4871867" cy="608180"/>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3200" dirty="0">
                  <a:solidFill>
                    <a:srgbClr val="060606"/>
                  </a:solidFill>
                </a:rPr>
                <a:t>（</a:t>
              </a:r>
              <a:r>
                <a:rPr lang="en-US" altLang="zh-CN" sz="3200" dirty="0">
                  <a:solidFill>
                    <a:srgbClr val="060606"/>
                  </a:solidFill>
                </a:rPr>
                <a:t>0</a:t>
              </a:r>
              <a:r>
                <a:rPr lang="zh-CN" altLang="en-US" sz="3200" dirty="0">
                  <a:solidFill>
                    <a:srgbClr val="060606"/>
                  </a:solidFill>
                </a:rPr>
                <a:t>） </a:t>
              </a:r>
              <a:r>
                <a:rPr lang="en-US" altLang="zh-CN" sz="3200" dirty="0">
                  <a:solidFill>
                    <a:srgbClr val="060606"/>
                  </a:solidFill>
                </a:rPr>
                <a:t>Z</a:t>
              </a:r>
              <a:r>
                <a:rPr lang="zh-CN" altLang="en-US" sz="3200" dirty="0">
                  <a:solidFill>
                    <a:srgbClr val="060606"/>
                  </a:solidFill>
                </a:rPr>
                <a:t>－</a:t>
              </a:r>
              <a:r>
                <a:rPr lang="en-US" altLang="zh-CN" sz="3200" dirty="0">
                  <a:solidFill>
                    <a:srgbClr val="060606"/>
                  </a:solidFill>
                </a:rPr>
                <a:t>3x</a:t>
              </a:r>
              <a:r>
                <a:rPr lang="en-US" altLang="zh-CN" sz="3200" baseline="-25000" dirty="0">
                  <a:solidFill>
                    <a:srgbClr val="060606"/>
                  </a:solidFill>
                </a:rPr>
                <a:t>1</a:t>
              </a:r>
              <a:r>
                <a:rPr lang="en-US" altLang="zh-CN" sz="3200" dirty="0">
                  <a:solidFill>
                    <a:srgbClr val="060606"/>
                  </a:solidFill>
                </a:rPr>
                <a:t> +</a:t>
              </a:r>
              <a:r>
                <a:rPr lang="zh-CN" altLang="en-US" sz="3200" dirty="0">
                  <a:solidFill>
                    <a:srgbClr val="060606"/>
                  </a:solidFill>
                </a:rPr>
                <a:t> </a:t>
              </a:r>
              <a:r>
                <a:rPr lang="en-US" altLang="zh-CN" sz="3200" dirty="0">
                  <a:solidFill>
                    <a:srgbClr val="060606"/>
                  </a:solidFill>
                </a:rPr>
                <a:t>5x</a:t>
              </a:r>
              <a:r>
                <a:rPr lang="en-US" altLang="zh-CN" sz="3200" baseline="-25000" dirty="0">
                  <a:solidFill>
                    <a:srgbClr val="060606"/>
                  </a:solidFill>
                </a:rPr>
                <a:t>4</a:t>
              </a:r>
              <a:r>
                <a:rPr lang="en-US" altLang="zh-CN" sz="3200" dirty="0">
                  <a:solidFill>
                    <a:srgbClr val="060606"/>
                  </a:solidFill>
                </a:rPr>
                <a:t>/2 = 30 </a:t>
              </a:r>
              <a:endParaRPr lang="en-US" altLang="zh-CN" sz="3200" dirty="0">
                <a:solidFill>
                  <a:srgbClr val="060606"/>
                </a:solidFill>
              </a:endParaRPr>
            </a:p>
          </p:txBody>
        </p:sp>
        <p:sp>
          <p:nvSpPr>
            <p:cNvPr id="4" name="矩形 3"/>
            <p:cNvSpPr/>
            <p:nvPr/>
          </p:nvSpPr>
          <p:spPr>
            <a:xfrm>
              <a:off x="2777913" y="2642802"/>
              <a:ext cx="3800692" cy="584775"/>
            </a:xfrm>
            <a:prstGeom prst="rect">
              <a:avLst/>
            </a:prstGeom>
          </p:spPr>
          <p:txBody>
            <a:bodyPr wrap="square">
              <a:spAutoFit/>
            </a:bodyPr>
            <a:lstStyle/>
            <a:p>
              <a:r>
                <a:rPr lang="zh-CN" altLang="en-US" sz="3200" dirty="0">
                  <a:solidFill>
                    <a:srgbClr val="060606"/>
                  </a:solidFill>
                </a:rPr>
                <a:t>（</a:t>
              </a:r>
              <a:r>
                <a:rPr lang="en-US" altLang="zh-CN" sz="3200" dirty="0">
                  <a:solidFill>
                    <a:srgbClr val="060606"/>
                  </a:solidFill>
                </a:rPr>
                <a:t>1</a:t>
              </a:r>
              <a:r>
                <a:rPr lang="zh-CN" altLang="en-US" sz="3200" dirty="0">
                  <a:solidFill>
                    <a:srgbClr val="060606"/>
                  </a:solidFill>
                </a:rPr>
                <a:t>）</a:t>
              </a:r>
              <a:r>
                <a:rPr lang="en-US" altLang="zh-CN" sz="3200" dirty="0">
                  <a:solidFill>
                    <a:srgbClr val="060606"/>
                  </a:solidFill>
                </a:rPr>
                <a:t> x</a:t>
              </a:r>
              <a:r>
                <a:rPr lang="en-US" altLang="zh-CN" sz="3200" baseline="-25000" dirty="0">
                  <a:solidFill>
                    <a:srgbClr val="060606"/>
                  </a:solidFill>
                </a:rPr>
                <a:t>1 </a:t>
              </a:r>
              <a:r>
                <a:rPr lang="en-US" altLang="zh-CN" sz="3200" dirty="0">
                  <a:solidFill>
                    <a:srgbClr val="0000AC"/>
                  </a:solidFill>
                </a:rPr>
                <a:t>+ x</a:t>
              </a:r>
              <a:r>
                <a:rPr lang="en-US" altLang="zh-CN" sz="3200" baseline="-25000" dirty="0">
                  <a:solidFill>
                    <a:srgbClr val="0000AC"/>
                  </a:solidFill>
                </a:rPr>
                <a:t>3</a:t>
              </a:r>
              <a:r>
                <a:rPr lang="en-US" altLang="zh-CN" sz="3200" dirty="0">
                  <a:solidFill>
                    <a:srgbClr val="060606"/>
                  </a:solidFill>
                </a:rPr>
                <a:t>= 4</a:t>
              </a:r>
              <a:endParaRPr lang="zh-CN" altLang="en-US" sz="3200" dirty="0"/>
            </a:p>
          </p:txBody>
        </p:sp>
        <p:sp>
          <p:nvSpPr>
            <p:cNvPr id="5" name="矩形 4"/>
            <p:cNvSpPr/>
            <p:nvPr/>
          </p:nvSpPr>
          <p:spPr>
            <a:xfrm>
              <a:off x="2777913" y="3506898"/>
              <a:ext cx="5184576" cy="584775"/>
            </a:xfrm>
            <a:prstGeom prst="rect">
              <a:avLst/>
            </a:prstGeom>
          </p:spPr>
          <p:txBody>
            <a:bodyPr wrap="square">
              <a:spAutoFit/>
            </a:bodyPr>
            <a:lstStyle/>
            <a:p>
              <a:r>
                <a:rPr lang="zh-CN" altLang="en-US" sz="3200" dirty="0">
                  <a:solidFill>
                    <a:srgbClr val="060606"/>
                  </a:solidFill>
                </a:rPr>
                <a:t>（</a:t>
              </a:r>
              <a:r>
                <a:rPr lang="en-US" altLang="zh-CN" sz="3200" dirty="0">
                  <a:solidFill>
                    <a:srgbClr val="060606"/>
                  </a:solidFill>
                </a:rPr>
                <a:t>3</a:t>
              </a:r>
              <a:r>
                <a:rPr lang="zh-CN" altLang="en-US" sz="3200" dirty="0">
                  <a:solidFill>
                    <a:srgbClr val="060606"/>
                  </a:solidFill>
                </a:rPr>
                <a:t>）</a:t>
              </a:r>
              <a:r>
                <a:rPr lang="en-US" altLang="zh-CN" sz="3200" dirty="0">
                  <a:solidFill>
                    <a:srgbClr val="060606"/>
                  </a:solidFill>
                </a:rPr>
                <a:t> 3x</a:t>
              </a:r>
              <a:r>
                <a:rPr lang="en-US" altLang="zh-CN" sz="3200" baseline="-25000" dirty="0">
                  <a:solidFill>
                    <a:srgbClr val="060606"/>
                  </a:solidFill>
                </a:rPr>
                <a:t>1</a:t>
              </a:r>
              <a:r>
                <a:rPr lang="en-US" altLang="zh-CN" sz="3200" dirty="0">
                  <a:solidFill>
                    <a:srgbClr val="060606"/>
                  </a:solidFill>
                </a:rPr>
                <a:t> - x</a:t>
              </a:r>
              <a:r>
                <a:rPr lang="en-US" altLang="zh-CN" sz="3200" baseline="-25000" dirty="0">
                  <a:solidFill>
                    <a:srgbClr val="060606"/>
                  </a:solidFill>
                </a:rPr>
                <a:t>4</a:t>
              </a:r>
              <a:r>
                <a:rPr lang="en-US" altLang="zh-CN" sz="3200" dirty="0">
                  <a:solidFill>
                    <a:srgbClr val="060606"/>
                  </a:solidFill>
                </a:rPr>
                <a:t> + x</a:t>
              </a:r>
              <a:r>
                <a:rPr lang="en-US" altLang="zh-CN" sz="3200" baseline="-25000" dirty="0">
                  <a:solidFill>
                    <a:srgbClr val="060606"/>
                  </a:solidFill>
                </a:rPr>
                <a:t>5 </a:t>
              </a:r>
              <a:r>
                <a:rPr lang="en-US" altLang="zh-CN" sz="3200" dirty="0">
                  <a:solidFill>
                    <a:srgbClr val="060606"/>
                  </a:solidFill>
                </a:rPr>
                <a:t> = 6</a:t>
              </a:r>
              <a:endParaRPr lang="zh-CN" altLang="en-US" sz="3200" dirty="0"/>
            </a:p>
          </p:txBody>
        </p:sp>
        <p:sp>
          <p:nvSpPr>
            <p:cNvPr id="6" name="矩形 5"/>
            <p:cNvSpPr/>
            <p:nvPr/>
          </p:nvSpPr>
          <p:spPr>
            <a:xfrm>
              <a:off x="2777912" y="4082073"/>
              <a:ext cx="7849447" cy="584775"/>
            </a:xfrm>
            <a:prstGeom prst="rect">
              <a:avLst/>
            </a:prstGeom>
          </p:spPr>
          <p:txBody>
            <a:bodyPr wrap="square">
              <a:spAutoFit/>
            </a:bodyPr>
            <a:lstStyle/>
            <a:p>
              <a:r>
                <a:rPr lang="en-US" altLang="zh-CN" sz="3200" dirty="0">
                  <a:solidFill>
                    <a:srgbClr val="060606"/>
                  </a:solidFill>
                </a:rPr>
                <a:t>x</a:t>
              </a:r>
              <a:r>
                <a:rPr lang="en-US" altLang="zh-CN" sz="3200" baseline="-25000" dirty="0">
                  <a:solidFill>
                    <a:srgbClr val="060606"/>
                  </a:solidFill>
                </a:rPr>
                <a:t>1</a:t>
              </a:r>
              <a:r>
                <a:rPr lang="en-US" altLang="zh-CN" sz="3200" dirty="0">
                  <a:solidFill>
                    <a:srgbClr val="060606"/>
                  </a:solidFill>
                </a:rPr>
                <a:t> ≥0</a:t>
              </a:r>
              <a:r>
                <a:rPr lang="zh-CN" altLang="en-US" sz="3200" dirty="0">
                  <a:solidFill>
                    <a:srgbClr val="060606"/>
                  </a:solidFill>
                </a:rPr>
                <a:t>，</a:t>
              </a:r>
              <a:r>
                <a:rPr lang="en-US" altLang="zh-CN" sz="3200" dirty="0">
                  <a:solidFill>
                    <a:srgbClr val="060606"/>
                  </a:solidFill>
                </a:rPr>
                <a:t>x</a:t>
              </a:r>
              <a:r>
                <a:rPr lang="en-US" altLang="zh-CN" sz="3200" baseline="-25000" dirty="0">
                  <a:solidFill>
                    <a:srgbClr val="060606"/>
                  </a:solidFill>
                </a:rPr>
                <a:t>2</a:t>
              </a:r>
              <a:r>
                <a:rPr lang="en-US" altLang="zh-CN" sz="3200" dirty="0">
                  <a:solidFill>
                    <a:srgbClr val="060606"/>
                  </a:solidFill>
                </a:rPr>
                <a:t> ≥0 , x</a:t>
              </a:r>
              <a:r>
                <a:rPr lang="en-US" altLang="zh-CN" sz="3200" baseline="-25000" dirty="0">
                  <a:solidFill>
                    <a:srgbClr val="060606"/>
                  </a:solidFill>
                </a:rPr>
                <a:t>3</a:t>
              </a:r>
              <a:r>
                <a:rPr lang="en-US" altLang="zh-CN" sz="3200" dirty="0">
                  <a:solidFill>
                    <a:srgbClr val="060606"/>
                  </a:solidFill>
                </a:rPr>
                <a:t> ≥0 </a:t>
              </a:r>
              <a:r>
                <a:rPr lang="zh-CN" altLang="en-US" sz="3200" dirty="0">
                  <a:solidFill>
                    <a:srgbClr val="060606"/>
                  </a:solidFill>
                </a:rPr>
                <a:t>，</a:t>
              </a:r>
              <a:r>
                <a:rPr lang="en-US" altLang="zh-CN" sz="3200" dirty="0">
                  <a:solidFill>
                    <a:srgbClr val="060606"/>
                  </a:solidFill>
                </a:rPr>
                <a:t>x</a:t>
              </a:r>
              <a:r>
                <a:rPr lang="en-US" altLang="zh-CN" sz="3200" baseline="-25000" dirty="0">
                  <a:solidFill>
                    <a:srgbClr val="060606"/>
                  </a:solidFill>
                </a:rPr>
                <a:t>4</a:t>
              </a:r>
              <a:r>
                <a:rPr lang="en-US" altLang="zh-CN" sz="3200" dirty="0">
                  <a:solidFill>
                    <a:srgbClr val="060606"/>
                  </a:solidFill>
                </a:rPr>
                <a:t> ≥0 </a:t>
              </a:r>
              <a:r>
                <a:rPr lang="zh-CN" altLang="en-US" sz="3200" dirty="0">
                  <a:solidFill>
                    <a:srgbClr val="060606"/>
                  </a:solidFill>
                </a:rPr>
                <a:t>，</a:t>
              </a:r>
              <a:r>
                <a:rPr lang="en-US" altLang="zh-CN" sz="3200" dirty="0">
                  <a:solidFill>
                    <a:srgbClr val="060606"/>
                  </a:solidFill>
                </a:rPr>
                <a:t>x</a:t>
              </a:r>
              <a:r>
                <a:rPr lang="en-US" altLang="zh-CN" sz="3200" baseline="-25000" dirty="0">
                  <a:solidFill>
                    <a:srgbClr val="060606"/>
                  </a:solidFill>
                </a:rPr>
                <a:t>5</a:t>
              </a:r>
              <a:r>
                <a:rPr lang="en-US" altLang="zh-CN" sz="3200" dirty="0">
                  <a:solidFill>
                    <a:srgbClr val="060606"/>
                  </a:solidFill>
                </a:rPr>
                <a:t> ≥0 </a:t>
              </a:r>
              <a:endParaRPr lang="zh-CN" altLang="en-US" sz="3200" dirty="0">
                <a:solidFill>
                  <a:srgbClr val="060606"/>
                </a:solidFill>
              </a:endParaRPr>
            </a:p>
          </p:txBody>
        </p:sp>
        <p:sp>
          <p:nvSpPr>
            <p:cNvPr id="7" name="矩形 6"/>
            <p:cNvSpPr/>
            <p:nvPr/>
          </p:nvSpPr>
          <p:spPr>
            <a:xfrm>
              <a:off x="2777913" y="3074850"/>
              <a:ext cx="4338628" cy="584775"/>
            </a:xfrm>
            <a:prstGeom prst="rect">
              <a:avLst/>
            </a:prstGeom>
          </p:spPr>
          <p:txBody>
            <a:bodyPr wrap="square">
              <a:spAutoFit/>
            </a:bodyPr>
            <a:lstStyle/>
            <a:p>
              <a:r>
                <a:rPr lang="zh-CN" altLang="en-US" sz="3200" dirty="0">
                  <a:solidFill>
                    <a:srgbClr val="060606"/>
                  </a:solidFill>
                </a:rPr>
                <a:t>（</a:t>
              </a:r>
              <a:r>
                <a:rPr lang="en-US" altLang="zh-CN" sz="3200" dirty="0">
                  <a:solidFill>
                    <a:srgbClr val="060606"/>
                  </a:solidFill>
                </a:rPr>
                <a:t>2</a:t>
              </a:r>
              <a:r>
                <a:rPr lang="zh-CN" altLang="en-US" sz="3200" dirty="0">
                  <a:solidFill>
                    <a:srgbClr val="060606"/>
                  </a:solidFill>
                </a:rPr>
                <a:t>）</a:t>
              </a:r>
              <a:r>
                <a:rPr lang="en-US" altLang="zh-CN" sz="3200" dirty="0">
                  <a:solidFill>
                    <a:srgbClr val="0000AC"/>
                  </a:solidFill>
                </a:rPr>
                <a:t> x</a:t>
              </a:r>
              <a:r>
                <a:rPr lang="en-US" altLang="zh-CN" sz="3200" baseline="-25000" dirty="0">
                  <a:solidFill>
                    <a:srgbClr val="0000AC"/>
                  </a:solidFill>
                </a:rPr>
                <a:t>2</a:t>
              </a:r>
              <a:r>
                <a:rPr lang="en-US" altLang="zh-CN" sz="3200" dirty="0">
                  <a:solidFill>
                    <a:srgbClr val="0000AC"/>
                  </a:solidFill>
                </a:rPr>
                <a:t>  </a:t>
              </a:r>
              <a:r>
                <a:rPr lang="en-US" altLang="zh-CN" sz="3200" dirty="0">
                  <a:solidFill>
                    <a:srgbClr val="060606"/>
                  </a:solidFill>
                </a:rPr>
                <a:t>+x</a:t>
              </a:r>
              <a:r>
                <a:rPr lang="en-US" altLang="zh-CN" sz="3200" baseline="-25000" dirty="0">
                  <a:solidFill>
                    <a:srgbClr val="060606"/>
                  </a:solidFill>
                </a:rPr>
                <a:t>4</a:t>
              </a:r>
              <a:r>
                <a:rPr lang="en-US" altLang="zh-CN" sz="3200" dirty="0">
                  <a:solidFill>
                    <a:srgbClr val="060606"/>
                  </a:solidFill>
                </a:rPr>
                <a:t>/2 =6</a:t>
              </a:r>
              <a:endParaRPr lang="zh-CN" altLang="en-US" sz="3200" dirty="0">
                <a:solidFill>
                  <a:srgbClr val="060606"/>
                </a:solidFill>
              </a:endParaRPr>
            </a:p>
          </p:txBody>
        </p:sp>
        <p:sp>
          <p:nvSpPr>
            <p:cNvPr id="9" name="矩形 8"/>
            <p:cNvSpPr/>
            <p:nvPr/>
          </p:nvSpPr>
          <p:spPr>
            <a:xfrm>
              <a:off x="2777913" y="1592298"/>
              <a:ext cx="4871867" cy="608180"/>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3200" dirty="0">
                  <a:solidFill>
                    <a:srgbClr val="060606"/>
                  </a:solidFill>
                </a:rPr>
                <a:t>第二次迭代的方程组：</a:t>
              </a:r>
              <a:endParaRPr lang="en-US" altLang="zh-CN" sz="3200" dirty="0">
                <a:solidFill>
                  <a:srgbClr val="060606"/>
                </a:solidFill>
              </a:endParaRPr>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873760" y="682536"/>
            <a:ext cx="8822640" cy="521625"/>
            <a:chOff x="-650240" y="1052736"/>
            <a:chExt cx="8822640" cy="521625"/>
          </a:xfrm>
        </p:grpSpPr>
        <p:sp>
          <p:nvSpPr>
            <p:cNvPr id="3" name="矩形 2"/>
            <p:cNvSpPr/>
            <p:nvPr/>
          </p:nvSpPr>
          <p:spPr>
            <a:xfrm>
              <a:off x="-650240" y="1095127"/>
              <a:ext cx="4646176" cy="479234"/>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a:t>
              </a:r>
              <a:r>
                <a:rPr lang="zh-CN" altLang="en-US" sz="2400" dirty="0">
                  <a:solidFill>
                    <a:srgbClr val="060606"/>
                  </a:solidFill>
                </a:rPr>
                <a:t>－</a:t>
              </a:r>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a:t>
              </a:r>
              <a:r>
                <a:rPr lang="en-US" altLang="zh-CN" sz="2400" dirty="0">
                  <a:solidFill>
                    <a:srgbClr val="0000AC"/>
                  </a:solidFill>
                </a:rPr>
                <a:t>x</a:t>
              </a:r>
              <a:r>
                <a:rPr lang="en-US" altLang="zh-CN" sz="2400" baseline="-25000" dirty="0">
                  <a:solidFill>
                    <a:srgbClr val="0000AC"/>
                  </a:solidFill>
                </a:rPr>
                <a:t>4</a:t>
              </a:r>
              <a:r>
                <a:rPr lang="en-US" altLang="zh-CN" sz="2400" dirty="0">
                  <a:solidFill>
                    <a:srgbClr val="060606"/>
                  </a:solidFill>
                </a:rPr>
                <a:t>/2 = 30 </a:t>
              </a:r>
              <a:endParaRPr lang="en-US" altLang="zh-CN" sz="2400" dirty="0">
                <a:solidFill>
                  <a:srgbClr val="060606"/>
                </a:solidFill>
              </a:endParaRPr>
            </a:p>
          </p:txBody>
        </p:sp>
        <p:sp>
          <p:nvSpPr>
            <p:cNvPr id="9" name="右箭头 8"/>
            <p:cNvSpPr/>
            <p:nvPr/>
          </p:nvSpPr>
          <p:spPr bwMode="auto">
            <a:xfrm>
              <a:off x="3923928" y="1124744"/>
              <a:ext cx="576064" cy="360040"/>
            </a:xfrm>
            <a:prstGeom prst="rightArrow">
              <a:avLst/>
            </a:prstGeom>
            <a:noFill/>
            <a:ln>
              <a:solidFill>
                <a:srgbClr val="0322BD"/>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lang="zh-CN" altLang="en-US">
                <a:solidFill>
                  <a:schemeClr val="tx1"/>
                </a:solidFill>
                <a:latin typeface="Arial" panose="020B0604020202090204" pitchFamily="34" charset="0"/>
                <a:ea typeface="宋体" panose="02010600030101010101" pitchFamily="2" charset="-122"/>
              </a:endParaRPr>
            </a:p>
          </p:txBody>
        </p:sp>
        <p:sp>
          <p:nvSpPr>
            <p:cNvPr id="10" name="矩形 9"/>
            <p:cNvSpPr/>
            <p:nvPr/>
          </p:nvSpPr>
          <p:spPr>
            <a:xfrm>
              <a:off x="4572000" y="1052736"/>
              <a:ext cx="3600400" cy="478272"/>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换入变量：</a:t>
              </a:r>
              <a:r>
                <a:rPr lang="en-US" altLang="zh-CN" sz="2400" dirty="0">
                  <a:solidFill>
                    <a:srgbClr val="060606"/>
                  </a:solidFill>
                </a:rPr>
                <a:t>x</a:t>
              </a:r>
              <a:r>
                <a:rPr lang="en-US" altLang="zh-CN" sz="2400" baseline="-25000" dirty="0">
                  <a:solidFill>
                    <a:srgbClr val="060606"/>
                  </a:solidFill>
                </a:rPr>
                <a:t>1</a:t>
              </a:r>
              <a:endParaRPr lang="en-US" altLang="zh-CN" sz="2400" dirty="0">
                <a:solidFill>
                  <a:srgbClr val="060606"/>
                </a:solidFill>
              </a:endParaRPr>
            </a:p>
          </p:txBody>
        </p:sp>
      </p:grpSp>
      <p:grpSp>
        <p:nvGrpSpPr>
          <p:cNvPr id="19" name="组合 18"/>
          <p:cNvGrpSpPr/>
          <p:nvPr/>
        </p:nvGrpSpPr>
        <p:grpSpPr>
          <a:xfrm>
            <a:off x="1919536" y="1268760"/>
            <a:ext cx="10170864" cy="2279434"/>
            <a:chOff x="395536" y="1628800"/>
            <a:chExt cx="10170864" cy="2279434"/>
          </a:xfrm>
        </p:grpSpPr>
        <p:sp>
          <p:nvSpPr>
            <p:cNvPr id="4" name="矩形 3"/>
            <p:cNvSpPr/>
            <p:nvPr/>
          </p:nvSpPr>
          <p:spPr>
            <a:xfrm>
              <a:off x="395536" y="2031231"/>
              <a:ext cx="9076524"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000AC"/>
                  </a:solidFill>
                </a:rPr>
                <a:t>+ x</a:t>
              </a:r>
              <a:r>
                <a:rPr lang="en-US" altLang="zh-CN" sz="2400" baseline="-25000" dirty="0">
                  <a:solidFill>
                    <a:srgbClr val="0000AC"/>
                  </a:solidFill>
                </a:rPr>
                <a:t>3</a:t>
              </a:r>
              <a:r>
                <a:rPr lang="en-US" altLang="zh-CN" sz="2400" dirty="0">
                  <a:solidFill>
                    <a:srgbClr val="060606"/>
                  </a:solidFill>
                </a:rPr>
                <a:t>= 4                        =&gt; </a:t>
              </a:r>
              <a:r>
                <a:rPr lang="en-US" altLang="zh-CN" sz="2400" dirty="0">
                  <a:solidFill>
                    <a:srgbClr val="0000AC"/>
                  </a:solidFill>
                </a:rPr>
                <a:t>x</a:t>
              </a:r>
              <a:r>
                <a:rPr lang="en-US" altLang="zh-CN" sz="2400" baseline="-25000" dirty="0">
                  <a:solidFill>
                    <a:srgbClr val="0000AC"/>
                  </a:solidFill>
                </a:rPr>
                <a:t>3</a:t>
              </a:r>
              <a:r>
                <a:rPr lang="en-US" altLang="zh-CN" sz="2400" dirty="0">
                  <a:solidFill>
                    <a:srgbClr val="060606"/>
                  </a:solidFill>
                </a:rPr>
                <a:t>= 4  -  x</a:t>
              </a:r>
              <a:r>
                <a:rPr lang="en-US" altLang="zh-CN" sz="2400" baseline="-25000" dirty="0">
                  <a:solidFill>
                    <a:srgbClr val="060606"/>
                  </a:solidFill>
                </a:rPr>
                <a:t>1 </a:t>
              </a:r>
              <a:r>
                <a:rPr lang="en-US" altLang="zh-CN" sz="2400" dirty="0">
                  <a:solidFill>
                    <a:srgbClr val="060606"/>
                  </a:solidFill>
                </a:rPr>
                <a:t>≥0  =&gt;x</a:t>
              </a:r>
              <a:r>
                <a:rPr lang="en-US" altLang="zh-CN" sz="2400" baseline="-25000" dirty="0">
                  <a:solidFill>
                    <a:srgbClr val="060606"/>
                  </a:solidFill>
                </a:rPr>
                <a:t>1 </a:t>
              </a:r>
              <a:r>
                <a:rPr lang="en-US" altLang="zh-CN" sz="2400" dirty="0">
                  <a:solidFill>
                    <a:srgbClr val="060606"/>
                  </a:solidFill>
                </a:rPr>
                <a:t> ≤4/1 = 4</a:t>
              </a:r>
              <a:endParaRPr lang="zh-CN" altLang="en-US" sz="2400" dirty="0"/>
            </a:p>
          </p:txBody>
        </p:sp>
        <p:sp>
          <p:nvSpPr>
            <p:cNvPr id="5" name="矩形 4"/>
            <p:cNvSpPr/>
            <p:nvPr/>
          </p:nvSpPr>
          <p:spPr>
            <a:xfrm>
              <a:off x="395536" y="2895327"/>
              <a:ext cx="10170864" cy="461665"/>
            </a:xfrm>
            <a:prstGeom prst="rect">
              <a:avLst/>
            </a:prstGeom>
          </p:spPr>
          <p:txBody>
            <a:bodyPr wrap="square">
              <a:spAutoFit/>
            </a:bodyPr>
            <a:lstStyle/>
            <a:p>
              <a:pPr lvl="0"/>
              <a:r>
                <a:rPr lang="zh-CN" altLang="en-US" sz="2400" dirty="0">
                  <a:solidFill>
                    <a:srgbClr val="060606"/>
                  </a:solidFill>
                </a:rPr>
                <a:t>（</a:t>
              </a: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3x</a:t>
              </a:r>
              <a:r>
                <a:rPr lang="en-US" altLang="zh-CN" sz="2400" baseline="-25000" dirty="0">
                  <a:solidFill>
                    <a:srgbClr val="060606"/>
                  </a:solidFill>
                </a:rPr>
                <a:t>1</a:t>
              </a:r>
              <a:r>
                <a:rPr lang="en-US" altLang="zh-CN" sz="2400" dirty="0">
                  <a:solidFill>
                    <a:srgbClr val="060606"/>
                  </a:solidFill>
                </a:rPr>
                <a:t> - x</a:t>
              </a:r>
              <a:r>
                <a:rPr lang="en-US" altLang="zh-CN" sz="2400" baseline="-25000" dirty="0">
                  <a:solidFill>
                    <a:srgbClr val="060606"/>
                  </a:solidFill>
                </a:rPr>
                <a:t>4</a:t>
              </a:r>
              <a:r>
                <a:rPr lang="en-US" altLang="zh-CN" sz="2400" dirty="0">
                  <a:solidFill>
                    <a:srgbClr val="060606"/>
                  </a:solidFill>
                </a:rPr>
                <a:t> + </a:t>
              </a:r>
              <a:r>
                <a:rPr lang="en-US" altLang="zh-CN" sz="2400" dirty="0">
                  <a:solidFill>
                    <a:srgbClr val="0000AC"/>
                  </a:solidFill>
                </a:rPr>
                <a:t>x</a:t>
              </a:r>
              <a:r>
                <a:rPr lang="en-US" altLang="zh-CN" sz="2400" baseline="-25000" dirty="0">
                  <a:solidFill>
                    <a:srgbClr val="0000AC"/>
                  </a:solidFill>
                </a:rPr>
                <a:t>5 </a:t>
              </a:r>
              <a:r>
                <a:rPr lang="en-US" altLang="zh-CN" sz="2400" dirty="0">
                  <a:solidFill>
                    <a:srgbClr val="060606"/>
                  </a:solidFill>
                </a:rPr>
                <a:t> = 6             =&gt; </a:t>
              </a:r>
              <a:r>
                <a:rPr lang="en-US" altLang="zh-CN" sz="2400" dirty="0">
                  <a:solidFill>
                    <a:srgbClr val="0000AC"/>
                  </a:solidFill>
                </a:rPr>
                <a:t>x</a:t>
              </a:r>
              <a:r>
                <a:rPr lang="en-US" altLang="zh-CN" sz="2400" baseline="-25000" dirty="0">
                  <a:solidFill>
                    <a:srgbClr val="0000AC"/>
                  </a:solidFill>
                </a:rPr>
                <a:t>5 </a:t>
              </a:r>
              <a:r>
                <a:rPr lang="en-US" altLang="zh-CN" sz="2400" dirty="0">
                  <a:solidFill>
                    <a:srgbClr val="060606"/>
                  </a:solidFill>
                </a:rPr>
                <a:t> = 6 - 3x</a:t>
              </a:r>
              <a:r>
                <a:rPr lang="en-US" altLang="zh-CN" sz="2400" baseline="-25000" dirty="0">
                  <a:solidFill>
                    <a:srgbClr val="060606"/>
                  </a:solidFill>
                </a:rPr>
                <a:t>1</a:t>
              </a:r>
              <a:r>
                <a:rPr lang="en-US" altLang="zh-CN" sz="2400" dirty="0">
                  <a:solidFill>
                    <a:srgbClr val="060606"/>
                  </a:solidFill>
                </a:rPr>
                <a:t> =&gt; x</a:t>
              </a:r>
              <a:r>
                <a:rPr lang="en-US" altLang="zh-CN" sz="2400" baseline="-25000" dirty="0">
                  <a:solidFill>
                    <a:srgbClr val="060606"/>
                  </a:solidFill>
                </a:rPr>
                <a:t>1</a:t>
              </a:r>
              <a:r>
                <a:rPr lang="en-US" altLang="zh-CN" sz="2400" dirty="0">
                  <a:solidFill>
                    <a:srgbClr val="060606"/>
                  </a:solidFill>
                </a:rPr>
                <a:t>≤6/3 = 2(min) </a:t>
              </a:r>
              <a:endParaRPr lang="zh-CN" altLang="en-US" sz="2400" dirty="0"/>
            </a:p>
          </p:txBody>
        </p:sp>
        <p:sp>
          <p:nvSpPr>
            <p:cNvPr id="7" name="矩形 6"/>
            <p:cNvSpPr/>
            <p:nvPr/>
          </p:nvSpPr>
          <p:spPr>
            <a:xfrm>
              <a:off x="395536" y="2463279"/>
              <a:ext cx="9076524" cy="461665"/>
            </a:xfrm>
            <a:prstGeom prst="rect">
              <a:avLst/>
            </a:prstGeom>
          </p:spPr>
          <p:txBody>
            <a:bodyPr wrap="square">
              <a:spAutoFit/>
            </a:bodyPr>
            <a:lstStyle/>
            <a:p>
              <a:pPr lvl="0"/>
              <a:r>
                <a:rPr lang="zh-CN" altLang="en-US" sz="2400" dirty="0">
                  <a:solidFill>
                    <a:srgbClr val="060606"/>
                  </a:solidFill>
                </a:rPr>
                <a:t>（</a:t>
              </a:r>
              <a:r>
                <a:rPr lang="en-US" altLang="zh-CN" sz="2400" dirty="0">
                  <a:solidFill>
                    <a:srgbClr val="060606"/>
                  </a:solidFill>
                </a:rPr>
                <a:t>2</a:t>
              </a:r>
              <a:r>
                <a:rPr lang="zh-CN" altLang="en-US" sz="2400" dirty="0">
                  <a:solidFill>
                    <a:srgbClr val="060606"/>
                  </a:solidFill>
                </a:rPr>
                <a:t>）</a:t>
              </a:r>
              <a:r>
                <a:rPr lang="en-US" altLang="zh-CN" sz="2400" dirty="0">
                  <a:solidFill>
                    <a:srgbClr val="0000AC"/>
                  </a:solidFill>
                </a:rPr>
                <a:t> x</a:t>
              </a:r>
              <a:r>
                <a:rPr lang="en-US" altLang="zh-CN" sz="2400" baseline="-25000" dirty="0">
                  <a:solidFill>
                    <a:srgbClr val="0000AC"/>
                  </a:solidFill>
                </a:rPr>
                <a:t>2</a:t>
              </a:r>
              <a:r>
                <a:rPr lang="en-US" altLang="zh-CN" sz="2400" dirty="0">
                  <a:solidFill>
                    <a:srgbClr val="0000AC"/>
                  </a:solidFill>
                </a:rPr>
                <a:t>  </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/2 =6                   =&gt;</a:t>
              </a:r>
              <a:r>
                <a:rPr lang="en-US" altLang="zh-CN" sz="2400" dirty="0">
                  <a:solidFill>
                    <a:srgbClr val="0000AC"/>
                  </a:solidFill>
                </a:rPr>
                <a:t> x</a:t>
              </a:r>
              <a:r>
                <a:rPr lang="en-US" altLang="zh-CN" sz="2400" baseline="-25000" dirty="0">
                  <a:solidFill>
                    <a:srgbClr val="0000AC"/>
                  </a:solidFill>
                </a:rPr>
                <a:t>2</a:t>
              </a:r>
              <a:r>
                <a:rPr lang="en-US" altLang="zh-CN" sz="2400" dirty="0">
                  <a:solidFill>
                    <a:srgbClr val="060606"/>
                  </a:solidFill>
                </a:rPr>
                <a:t>=6   =&gt;  x</a:t>
              </a:r>
              <a:r>
                <a:rPr lang="en-US" altLang="zh-CN" sz="2400" baseline="-25000" dirty="0">
                  <a:solidFill>
                    <a:srgbClr val="060606"/>
                  </a:solidFill>
                </a:rPr>
                <a:t>1</a:t>
              </a:r>
              <a:r>
                <a:rPr lang="zh-CN" altLang="en-US" sz="2400" dirty="0">
                  <a:solidFill>
                    <a:srgbClr val="060606"/>
                  </a:solidFill>
                </a:rPr>
                <a:t>无上界限制</a:t>
              </a:r>
              <a:endParaRPr lang="zh-CN" altLang="en-US" sz="2400" dirty="0">
                <a:solidFill>
                  <a:srgbClr val="060606"/>
                </a:solidFill>
              </a:endParaRPr>
            </a:p>
          </p:txBody>
        </p:sp>
        <p:sp>
          <p:nvSpPr>
            <p:cNvPr id="15" name="矩形 14"/>
            <p:cNvSpPr/>
            <p:nvPr/>
          </p:nvSpPr>
          <p:spPr>
            <a:xfrm>
              <a:off x="611560" y="1628800"/>
              <a:ext cx="3600400" cy="476541"/>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令</a:t>
              </a:r>
              <a:r>
                <a:rPr lang="en-US" altLang="zh-CN" sz="2400" dirty="0">
                  <a:solidFill>
                    <a:srgbClr val="060606"/>
                  </a:solidFill>
                </a:rPr>
                <a:t>x</a:t>
              </a:r>
              <a:r>
                <a:rPr lang="en-US" altLang="zh-CN" sz="2400" baseline="-25000" dirty="0">
                  <a:solidFill>
                    <a:srgbClr val="060606"/>
                  </a:solidFill>
                </a:rPr>
                <a:t>4</a:t>
              </a:r>
              <a:r>
                <a:rPr lang="zh-CN" altLang="en-US" sz="2400" dirty="0">
                  <a:solidFill>
                    <a:srgbClr val="060606"/>
                  </a:solidFill>
                </a:rPr>
                <a:t>为</a:t>
              </a:r>
              <a:r>
                <a:rPr lang="en-US" altLang="zh-CN" sz="2400" dirty="0">
                  <a:solidFill>
                    <a:srgbClr val="060606"/>
                  </a:solidFill>
                </a:rPr>
                <a:t>0,</a:t>
              </a:r>
              <a:r>
                <a:rPr lang="zh-CN" altLang="en-US" sz="2400" dirty="0">
                  <a:solidFill>
                    <a:srgbClr val="060606"/>
                  </a:solidFill>
                </a:rPr>
                <a:t>确定换出变量</a:t>
              </a:r>
              <a:endParaRPr lang="en-US" altLang="zh-CN" sz="2400" dirty="0">
                <a:solidFill>
                  <a:srgbClr val="060606"/>
                </a:solidFill>
              </a:endParaRPr>
            </a:p>
          </p:txBody>
        </p:sp>
        <p:sp>
          <p:nvSpPr>
            <p:cNvPr id="16" name="右箭头 15"/>
            <p:cNvSpPr/>
            <p:nvPr/>
          </p:nvSpPr>
          <p:spPr bwMode="auto">
            <a:xfrm>
              <a:off x="755576" y="3501008"/>
              <a:ext cx="576064" cy="360040"/>
            </a:xfrm>
            <a:prstGeom prst="rightArrow">
              <a:avLst/>
            </a:prstGeom>
            <a:noFill/>
            <a:ln>
              <a:solidFill>
                <a:srgbClr val="0322BD"/>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lang="zh-CN" altLang="en-US">
                <a:solidFill>
                  <a:schemeClr val="tx1"/>
                </a:solidFill>
                <a:latin typeface="Arial" panose="020B0604020202090204" pitchFamily="34" charset="0"/>
                <a:ea typeface="宋体" panose="02010600030101010101" pitchFamily="2" charset="-122"/>
              </a:endParaRPr>
            </a:p>
          </p:txBody>
        </p:sp>
        <p:sp>
          <p:nvSpPr>
            <p:cNvPr id="17" name="矩形 16"/>
            <p:cNvSpPr/>
            <p:nvPr/>
          </p:nvSpPr>
          <p:spPr>
            <a:xfrm>
              <a:off x="1403648" y="3429000"/>
              <a:ext cx="3600400" cy="479234"/>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换出变量：</a:t>
              </a:r>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p:txBody>
        </p:sp>
      </p:grpSp>
      <p:grpSp>
        <p:nvGrpSpPr>
          <p:cNvPr id="39" name="组合 38"/>
          <p:cNvGrpSpPr/>
          <p:nvPr/>
        </p:nvGrpSpPr>
        <p:grpSpPr>
          <a:xfrm>
            <a:off x="1117600" y="3634865"/>
            <a:ext cx="9560560" cy="2520280"/>
            <a:chOff x="-406400" y="4005064"/>
            <a:chExt cx="9560560" cy="2520280"/>
          </a:xfrm>
          <a:noFill/>
        </p:grpSpPr>
        <p:sp>
          <p:nvSpPr>
            <p:cNvPr id="20" name="矩形 19"/>
            <p:cNvSpPr/>
            <p:nvPr/>
          </p:nvSpPr>
          <p:spPr>
            <a:xfrm>
              <a:off x="395536" y="4005064"/>
              <a:ext cx="3600400" cy="479234"/>
            </a:xfrm>
            <a:prstGeom prst="rect">
              <a:avLst/>
            </a:prstGeom>
            <a:grpFill/>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z+3x</a:t>
              </a:r>
              <a:r>
                <a:rPr lang="en-US" altLang="zh-CN" sz="2400" baseline="-25000" dirty="0">
                  <a:solidFill>
                    <a:srgbClr val="060606"/>
                  </a:solidFill>
                </a:rPr>
                <a:t>4</a:t>
              </a:r>
              <a:r>
                <a:rPr lang="en-US" altLang="zh-CN" sz="2400" dirty="0">
                  <a:solidFill>
                    <a:srgbClr val="060606"/>
                  </a:solidFill>
                </a:rPr>
                <a:t>/2 +</a:t>
              </a:r>
              <a:r>
                <a:rPr lang="zh-CN" altLang="en-US" sz="2400" dirty="0">
                  <a:solidFill>
                    <a:srgbClr val="060606"/>
                  </a:solidFill>
                </a:rPr>
                <a:t> </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 36 </a:t>
              </a:r>
              <a:endParaRPr lang="en-US" altLang="zh-CN" sz="2400" dirty="0">
                <a:solidFill>
                  <a:srgbClr val="060606"/>
                </a:solidFill>
              </a:endParaRPr>
            </a:p>
          </p:txBody>
        </p:sp>
        <p:sp>
          <p:nvSpPr>
            <p:cNvPr id="21" name="矩形 20"/>
            <p:cNvSpPr/>
            <p:nvPr/>
          </p:nvSpPr>
          <p:spPr>
            <a:xfrm>
              <a:off x="395536" y="4437112"/>
              <a:ext cx="3514104" cy="461665"/>
            </a:xfrm>
            <a:prstGeom prst="rect">
              <a:avLst/>
            </a:prstGeom>
            <a:grpFill/>
          </p:spPr>
          <p:txBody>
            <a:bodyPr wrap="none">
              <a:spAutoFit/>
            </a:bodyPr>
            <a:lstStyle/>
            <a:p>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3 </a:t>
              </a:r>
              <a:r>
                <a:rPr lang="en-US" altLang="zh-CN" sz="2400" dirty="0">
                  <a:solidFill>
                    <a:srgbClr val="0000AC"/>
                  </a:solidFill>
                </a:rPr>
                <a:t>+ x</a:t>
              </a:r>
              <a:r>
                <a:rPr lang="en-US" altLang="zh-CN" sz="2400" baseline="-25000" dirty="0">
                  <a:solidFill>
                    <a:srgbClr val="0000AC"/>
                  </a:solidFill>
                </a:rPr>
                <a:t>4</a:t>
              </a:r>
              <a:r>
                <a:rPr lang="en-US" altLang="zh-CN" sz="2400" dirty="0">
                  <a:solidFill>
                    <a:srgbClr val="0000AC"/>
                  </a:solidFill>
                </a:rPr>
                <a:t>/3 -</a:t>
              </a:r>
              <a:r>
                <a:rPr lang="en-US" altLang="zh-CN" sz="2400" dirty="0">
                  <a:solidFill>
                    <a:srgbClr val="060606"/>
                  </a:solidFill>
                </a:rPr>
                <a:t> x</a:t>
              </a:r>
              <a:r>
                <a:rPr lang="en-US" altLang="zh-CN" sz="2400" baseline="-25000" dirty="0">
                  <a:solidFill>
                    <a:srgbClr val="060606"/>
                  </a:solidFill>
                </a:rPr>
                <a:t>5 </a:t>
              </a:r>
              <a:r>
                <a:rPr lang="en-US" altLang="zh-CN" sz="2400" dirty="0">
                  <a:solidFill>
                    <a:srgbClr val="060606"/>
                  </a:solidFill>
                </a:rPr>
                <a:t>/3= 2</a:t>
              </a:r>
              <a:endParaRPr lang="zh-CN" altLang="en-US" dirty="0"/>
            </a:p>
          </p:txBody>
        </p:sp>
        <p:sp>
          <p:nvSpPr>
            <p:cNvPr id="22" name="矩形 21"/>
            <p:cNvSpPr/>
            <p:nvPr/>
          </p:nvSpPr>
          <p:spPr>
            <a:xfrm>
              <a:off x="395536" y="5301208"/>
              <a:ext cx="3401893" cy="461665"/>
            </a:xfrm>
            <a:prstGeom prst="rect">
              <a:avLst/>
            </a:prstGeom>
            <a:grpFill/>
          </p:spPr>
          <p:txBody>
            <a:bodyPr wrap="none">
              <a:spAutoFit/>
            </a:bodyPr>
            <a:lstStyle/>
            <a:p>
              <a:r>
                <a:rPr lang="zh-CN" altLang="en-US" sz="2400" dirty="0">
                  <a:solidFill>
                    <a:srgbClr val="060606"/>
                  </a:solidFill>
                </a:rPr>
                <a:t>（</a:t>
              </a: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a:t>
              </a:r>
              <a:r>
                <a:rPr lang="en-US" altLang="zh-CN" sz="2400" dirty="0">
                  <a:solidFill>
                    <a:srgbClr val="060606"/>
                  </a:solidFill>
                </a:rPr>
                <a:t> - x</a:t>
              </a:r>
              <a:r>
                <a:rPr lang="en-US" altLang="zh-CN" sz="2400" baseline="-25000" dirty="0">
                  <a:solidFill>
                    <a:srgbClr val="060606"/>
                  </a:solidFill>
                </a:rPr>
                <a:t>4</a:t>
              </a:r>
              <a:r>
                <a:rPr lang="en-US" altLang="zh-CN" sz="2400" dirty="0">
                  <a:solidFill>
                    <a:srgbClr val="060606"/>
                  </a:solidFill>
                </a:rPr>
                <a:t>/3+ x</a:t>
              </a:r>
              <a:r>
                <a:rPr lang="en-US" altLang="zh-CN" sz="2400" baseline="-25000" dirty="0">
                  <a:solidFill>
                    <a:srgbClr val="060606"/>
                  </a:solidFill>
                </a:rPr>
                <a:t>5</a:t>
              </a:r>
              <a:r>
                <a:rPr lang="en-US" altLang="zh-CN" sz="2400" dirty="0">
                  <a:solidFill>
                    <a:srgbClr val="060606"/>
                  </a:solidFill>
                </a:rPr>
                <a:t>/3= 2</a:t>
              </a:r>
              <a:endParaRPr lang="zh-CN" altLang="en-US" dirty="0"/>
            </a:p>
          </p:txBody>
        </p:sp>
        <p:sp>
          <p:nvSpPr>
            <p:cNvPr id="23" name="矩形 22"/>
            <p:cNvSpPr/>
            <p:nvPr/>
          </p:nvSpPr>
          <p:spPr>
            <a:xfrm>
              <a:off x="-406400" y="5805264"/>
              <a:ext cx="5770488" cy="461665"/>
            </a:xfrm>
            <a:prstGeom prst="rect">
              <a:avLst/>
            </a:prstGeom>
            <a:grpFill/>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24" name="矩形 23"/>
            <p:cNvSpPr/>
            <p:nvPr/>
          </p:nvSpPr>
          <p:spPr>
            <a:xfrm>
              <a:off x="395536" y="4869160"/>
              <a:ext cx="2640466" cy="461665"/>
            </a:xfrm>
            <a:prstGeom prst="rect">
              <a:avLst/>
            </a:prstGeom>
            <a:grpFill/>
          </p:spPr>
          <p:txBody>
            <a:bodyPr wrap="none">
              <a:spAutoFit/>
            </a:bodyPr>
            <a:lstStyle/>
            <a:p>
              <a:r>
                <a:rPr lang="zh-CN" altLang="en-US" sz="2400" dirty="0">
                  <a:solidFill>
                    <a:srgbClr val="060606"/>
                  </a:solidFill>
                </a:rPr>
                <a:t>（</a:t>
              </a:r>
              <a:r>
                <a:rPr lang="en-US" altLang="zh-CN" sz="2400" dirty="0">
                  <a:solidFill>
                    <a:srgbClr val="060606"/>
                  </a:solidFill>
                </a:rPr>
                <a:t>2</a:t>
              </a:r>
              <a:r>
                <a:rPr lang="zh-CN" altLang="en-US" sz="2400" dirty="0">
                  <a:solidFill>
                    <a:srgbClr val="060606"/>
                  </a:solidFill>
                </a:rPr>
                <a:t>）</a:t>
              </a:r>
              <a:r>
                <a:rPr lang="en-US" altLang="zh-CN" sz="2400" dirty="0">
                  <a:solidFill>
                    <a:srgbClr val="0000AC"/>
                  </a:solidFill>
                </a:rPr>
                <a:t> x</a:t>
              </a:r>
              <a:r>
                <a:rPr lang="en-US" altLang="zh-CN" sz="2400" baseline="-25000" dirty="0">
                  <a:solidFill>
                    <a:srgbClr val="0000AC"/>
                  </a:solidFill>
                </a:rPr>
                <a:t>2</a:t>
              </a:r>
              <a:r>
                <a:rPr lang="en-US" altLang="zh-CN" sz="2400" dirty="0">
                  <a:solidFill>
                    <a:srgbClr val="0000AC"/>
                  </a:solidFill>
                </a:rPr>
                <a:t>  </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/2 =6</a:t>
              </a:r>
              <a:endParaRPr lang="zh-CN" altLang="en-US" sz="2400" dirty="0">
                <a:solidFill>
                  <a:srgbClr val="060606"/>
                </a:solidFill>
              </a:endParaRPr>
            </a:p>
          </p:txBody>
        </p:sp>
        <p:grpSp>
          <p:nvGrpSpPr>
            <p:cNvPr id="25" name="组合 48"/>
            <p:cNvGrpSpPr/>
            <p:nvPr/>
          </p:nvGrpSpPr>
          <p:grpSpPr>
            <a:xfrm>
              <a:off x="5652120" y="4365104"/>
              <a:ext cx="3502040" cy="2160240"/>
              <a:chOff x="5580112" y="4221088"/>
              <a:chExt cx="3502040" cy="2160240"/>
            </a:xfrm>
            <a:grpFill/>
          </p:grpSpPr>
          <p:grpSp>
            <p:nvGrpSpPr>
              <p:cNvPr id="26" name="组合 37"/>
              <p:cNvGrpSpPr/>
              <p:nvPr/>
            </p:nvGrpSpPr>
            <p:grpSpPr>
              <a:xfrm>
                <a:off x="5580112" y="4221088"/>
                <a:ext cx="3502040" cy="2160240"/>
                <a:chOff x="6228184" y="1916832"/>
                <a:chExt cx="3502040" cy="2160240"/>
              </a:xfrm>
              <a:grpFill/>
            </p:grpSpPr>
            <p:sp>
              <p:nvSpPr>
                <p:cNvPr id="31" name="矩形 30"/>
                <p:cNvSpPr/>
                <p:nvPr/>
              </p:nvSpPr>
              <p:spPr>
                <a:xfrm>
                  <a:off x="6228184" y="2348880"/>
                  <a:ext cx="1301959" cy="461665"/>
                </a:xfrm>
                <a:prstGeom prst="rect">
                  <a:avLst/>
                </a:prstGeom>
                <a:grpFill/>
              </p:spPr>
              <p:txBody>
                <a:bodyPr wrap="none">
                  <a:spAutoFit/>
                </a:bodyPr>
                <a:lstStyle/>
                <a:p>
                  <a:r>
                    <a:rPr lang="en-US" altLang="zh-CN" sz="2400" b="1" dirty="0">
                      <a:solidFill>
                        <a:srgbClr val="060606"/>
                      </a:solidFill>
                    </a:rPr>
                    <a:t>A’’</a:t>
                  </a:r>
                  <a:r>
                    <a:rPr lang="en-US" altLang="zh-CN" sz="2400" baseline="-25000" dirty="0">
                      <a:solidFill>
                        <a:srgbClr val="060606"/>
                      </a:solidFill>
                    </a:rPr>
                    <a:t>3 × 5</a:t>
                  </a:r>
                  <a:r>
                    <a:rPr lang="en-US" altLang="zh-CN" sz="2400" dirty="0">
                      <a:solidFill>
                        <a:srgbClr val="060606"/>
                      </a:solidFill>
                    </a:rPr>
                    <a:t> =</a:t>
                  </a:r>
                  <a:endParaRPr lang="zh-CN" altLang="en-US" sz="2400" dirty="0"/>
                </a:p>
              </p:txBody>
            </p:sp>
            <p:sp>
              <p:nvSpPr>
                <p:cNvPr id="32" name="双括号 31"/>
                <p:cNvSpPr/>
                <p:nvPr/>
              </p:nvSpPr>
              <p:spPr bwMode="auto">
                <a:xfrm>
                  <a:off x="7308304" y="1916832"/>
                  <a:ext cx="2257348" cy="1584176"/>
                </a:xfrm>
                <a:prstGeom prst="bracketPair">
                  <a:avLst/>
                </a:prstGeom>
                <a:grp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33" name="矩形 32"/>
                <p:cNvSpPr/>
                <p:nvPr/>
              </p:nvSpPr>
              <p:spPr>
                <a:xfrm>
                  <a:off x="7308304" y="2996952"/>
                  <a:ext cx="2160240" cy="830997"/>
                </a:xfrm>
                <a:prstGeom prst="rect">
                  <a:avLst/>
                </a:prstGeom>
                <a:grpFill/>
              </p:spPr>
              <p:txBody>
                <a:bodyPr wrap="square">
                  <a:spAutoFit/>
                </a:bodyPr>
                <a:lstStyle/>
                <a:p>
                  <a:pPr algn="just"/>
                  <a:r>
                    <a:rPr lang="en-US" altLang="zh-CN" sz="2400" dirty="0">
                      <a:solidFill>
                        <a:srgbClr val="060606"/>
                      </a:solidFill>
                    </a:rPr>
                    <a:t>1  0  </a:t>
                  </a:r>
                  <a:r>
                    <a:rPr lang="en-US" altLang="zh-CN" sz="2400" dirty="0" err="1">
                      <a:solidFill>
                        <a:srgbClr val="060606"/>
                      </a:solidFill>
                    </a:rPr>
                    <a:t>0</a:t>
                  </a:r>
                  <a:r>
                    <a:rPr lang="en-US" altLang="zh-CN" sz="2400" dirty="0">
                      <a:solidFill>
                        <a:srgbClr val="060606"/>
                      </a:solidFill>
                    </a:rPr>
                    <a:t> -1/3 1/3</a:t>
                  </a:r>
                  <a:endParaRPr lang="zh-CN" altLang="en-US" sz="2400" dirty="0"/>
                </a:p>
              </p:txBody>
            </p:sp>
            <p:sp>
              <p:nvSpPr>
                <p:cNvPr id="34" name="矩形 33"/>
                <p:cNvSpPr/>
                <p:nvPr/>
              </p:nvSpPr>
              <p:spPr>
                <a:xfrm>
                  <a:off x="7308304" y="2492896"/>
                  <a:ext cx="2421920" cy="461665"/>
                </a:xfrm>
                <a:prstGeom prst="rect">
                  <a:avLst/>
                </a:prstGeom>
                <a:grpFill/>
              </p:spPr>
              <p:txBody>
                <a:bodyPr wrap="square">
                  <a:spAutoFit/>
                </a:bodyPr>
                <a:lstStyle/>
                <a:p>
                  <a:pPr algn="just"/>
                  <a:r>
                    <a:rPr lang="en-US" altLang="zh-CN" sz="2400" dirty="0">
                      <a:solidFill>
                        <a:srgbClr val="060606"/>
                      </a:solidFill>
                    </a:rPr>
                    <a:t>0  1  0  1/2  0</a:t>
                  </a:r>
                  <a:endParaRPr lang="zh-CN" altLang="en-US" sz="2400" dirty="0"/>
                </a:p>
              </p:txBody>
            </p:sp>
            <p:sp>
              <p:nvSpPr>
                <p:cNvPr id="35" name="矩形 34"/>
                <p:cNvSpPr/>
                <p:nvPr/>
              </p:nvSpPr>
              <p:spPr>
                <a:xfrm>
                  <a:off x="7308304" y="1988840"/>
                  <a:ext cx="2257348" cy="461665"/>
                </a:xfrm>
                <a:prstGeom prst="rect">
                  <a:avLst/>
                </a:prstGeom>
                <a:grpFill/>
              </p:spPr>
              <p:txBody>
                <a:bodyPr wrap="square">
                  <a:spAutoFit/>
                </a:bodyPr>
                <a:lstStyle/>
                <a:p>
                  <a:pPr algn="just"/>
                  <a:r>
                    <a:rPr lang="en-US" altLang="zh-CN" sz="2400" dirty="0">
                      <a:solidFill>
                        <a:srgbClr val="060606"/>
                      </a:solidFill>
                    </a:rPr>
                    <a:t>0  0  1  1/3  -1</a:t>
                  </a:r>
                  <a:endParaRPr lang="zh-CN" altLang="en-US" sz="2400" dirty="0"/>
                </a:p>
              </p:txBody>
            </p:sp>
            <p:sp>
              <p:nvSpPr>
                <p:cNvPr id="36" name="矩形 35"/>
                <p:cNvSpPr/>
                <p:nvPr/>
              </p:nvSpPr>
              <p:spPr>
                <a:xfrm>
                  <a:off x="6300192" y="3615407"/>
                  <a:ext cx="2952328" cy="461665"/>
                </a:xfrm>
                <a:prstGeom prst="rect">
                  <a:avLst/>
                </a:prstGeom>
                <a:grpFill/>
              </p:spPr>
              <p:txBody>
                <a:bodyPr wrap="square">
                  <a:spAutoFit/>
                </a:bodyPr>
                <a:lstStyle/>
                <a:p>
                  <a:pPr algn="ctr"/>
                  <a:r>
                    <a:rPr lang="zh-CN" altLang="en-US" sz="2400" dirty="0">
                      <a:solidFill>
                        <a:srgbClr val="060606"/>
                      </a:solidFill>
                    </a:rPr>
                    <a:t>单位矩阵：基</a:t>
                  </a:r>
                  <a:r>
                    <a:rPr lang="en-US" altLang="zh-CN" sz="2400" dirty="0">
                      <a:solidFill>
                        <a:srgbClr val="060606"/>
                      </a:solidFill>
                    </a:rPr>
                    <a:t>B’’</a:t>
                  </a:r>
                  <a:r>
                    <a:rPr lang="en-US" altLang="zh-CN" sz="2400" baseline="-25000" dirty="0">
                      <a:solidFill>
                        <a:srgbClr val="060606"/>
                      </a:solidFill>
                    </a:rPr>
                    <a:t>3×3</a:t>
                  </a:r>
                  <a:endParaRPr lang="zh-CN" altLang="en-US" sz="2400" baseline="-25000" dirty="0"/>
                </a:p>
              </p:txBody>
            </p:sp>
          </p:grpSp>
          <p:sp>
            <p:nvSpPr>
              <p:cNvPr id="27" name="任意多边形 26"/>
              <p:cNvSpPr/>
              <p:nvPr/>
            </p:nvSpPr>
            <p:spPr bwMode="auto">
              <a:xfrm>
                <a:off x="6732240" y="4293920"/>
                <a:ext cx="936103" cy="1394233"/>
              </a:xfrm>
              <a:custGeom>
                <a:avLst/>
                <a:gdLst>
                  <a:gd name="connsiteX0" fmla="*/ 18107 w 823865"/>
                  <a:gd name="connsiteY0" fmla="*/ 9053 h 1394233"/>
                  <a:gd name="connsiteX1" fmla="*/ 805758 w 823865"/>
                  <a:gd name="connsiteY1" fmla="*/ 0 h 1394233"/>
                  <a:gd name="connsiteX2" fmla="*/ 823865 w 823865"/>
                  <a:gd name="connsiteY2" fmla="*/ 1394233 h 1394233"/>
                  <a:gd name="connsiteX3" fmla="*/ 0 w 823865"/>
                  <a:gd name="connsiteY3" fmla="*/ 1376126 h 1394233"/>
                  <a:gd name="connsiteX4" fmla="*/ 18107 w 823865"/>
                  <a:gd name="connsiteY4" fmla="*/ 9053 h 139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865" h="1394233">
                    <a:moveTo>
                      <a:pt x="18107" y="9053"/>
                    </a:moveTo>
                    <a:lnTo>
                      <a:pt x="805758" y="0"/>
                    </a:lnTo>
                    <a:lnTo>
                      <a:pt x="823865" y="1394233"/>
                    </a:lnTo>
                    <a:lnTo>
                      <a:pt x="0" y="1376126"/>
                    </a:lnTo>
                    <a:cubicBezTo>
                      <a:pt x="3018" y="911382"/>
                      <a:pt x="6035" y="446637"/>
                      <a:pt x="18107" y="9053"/>
                    </a:cubicBezTo>
                    <a:close/>
                  </a:path>
                </a:pathLst>
              </a:custGeom>
              <a:grp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cxnSp>
            <p:nvCxnSpPr>
              <p:cNvPr id="30" name="直接箭头连接符 29"/>
              <p:cNvCxnSpPr/>
              <p:nvPr/>
            </p:nvCxnSpPr>
            <p:spPr bwMode="auto">
              <a:xfrm>
                <a:off x="7452322" y="5733256"/>
                <a:ext cx="144014" cy="144016"/>
              </a:xfrm>
              <a:prstGeom prst="straightConnector1">
                <a:avLst/>
              </a:prstGeom>
              <a:grpFill/>
              <a:ln w="28575" cap="flat" cmpd="sng" algn="ctr">
                <a:solidFill>
                  <a:srgbClr val="00B05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7" name="矩形 36"/>
            <p:cNvSpPr/>
            <p:nvPr/>
          </p:nvSpPr>
          <p:spPr>
            <a:xfrm>
              <a:off x="6228184" y="4005064"/>
              <a:ext cx="2257349" cy="461665"/>
            </a:xfrm>
            <a:prstGeom prst="rect">
              <a:avLst/>
            </a:prstGeom>
            <a:grpFill/>
          </p:spPr>
          <p:txBody>
            <a:bodyPr wrap="none">
              <a:spAutoFit/>
            </a:bodyPr>
            <a:lstStyle/>
            <a:p>
              <a:r>
                <a:rPr lang="en-US" altLang="zh-CN" sz="2400" dirty="0">
                  <a:solidFill>
                    <a:srgbClr val="060606"/>
                  </a:solidFill>
                </a:rPr>
                <a:t>b‘’ = (2</a:t>
              </a:r>
              <a:r>
                <a:rPr lang="zh-CN" altLang="en-US" sz="2400" dirty="0">
                  <a:solidFill>
                    <a:srgbClr val="060606"/>
                  </a:solidFill>
                </a:rPr>
                <a:t>，</a:t>
              </a:r>
              <a:r>
                <a:rPr lang="en-US" altLang="zh-CN" sz="2400" dirty="0">
                  <a:solidFill>
                    <a:srgbClr val="060606"/>
                  </a:solidFill>
                </a:rPr>
                <a:t>6</a:t>
              </a:r>
              <a:r>
                <a:rPr lang="zh-CN" altLang="en-US" sz="2400" dirty="0">
                  <a:solidFill>
                    <a:srgbClr val="060606"/>
                  </a:solidFill>
                </a:rPr>
                <a:t>，</a:t>
              </a:r>
              <a:r>
                <a:rPr lang="en-US" altLang="zh-CN" sz="2400" dirty="0">
                  <a:solidFill>
                    <a:srgbClr val="060606"/>
                  </a:solidFill>
                </a:rPr>
                <a:t>2)</a:t>
              </a:r>
              <a:r>
                <a:rPr lang="en-US" altLang="zh-CN" sz="2400" baseline="30000" dirty="0">
                  <a:solidFill>
                    <a:srgbClr val="060606"/>
                  </a:solidFill>
                </a:rPr>
                <a:t>T</a:t>
              </a:r>
              <a:endParaRPr lang="zh-CN" altLang="en-US" sz="2400" baseline="30000" dirty="0">
                <a:solidFill>
                  <a:srgbClr val="060606"/>
                </a:solidFill>
              </a:endParaRPr>
            </a:p>
          </p:txBody>
        </p:sp>
        <p:sp>
          <p:nvSpPr>
            <p:cNvPr id="38" name="右箭头 37"/>
            <p:cNvSpPr/>
            <p:nvPr/>
          </p:nvSpPr>
          <p:spPr bwMode="auto">
            <a:xfrm>
              <a:off x="4427984" y="4725144"/>
              <a:ext cx="576064" cy="360040"/>
            </a:xfrm>
            <a:prstGeom prst="rightArrow">
              <a:avLst/>
            </a:prstGeom>
            <a:grpFill/>
            <a:ln>
              <a:solidFill>
                <a:srgbClr val="0322BD"/>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lstStyle/>
            <a:p>
              <a:pPr fontAlgn="base">
                <a:spcBef>
                  <a:spcPct val="0"/>
                </a:spcBef>
                <a:spcAft>
                  <a:spcPct val="0"/>
                </a:spcAft>
              </a:pPr>
              <a:endParaRPr lang="zh-CN" altLang="en-US">
                <a:solidFill>
                  <a:schemeClr val="tx1"/>
                </a:solidFill>
                <a:latin typeface="Arial" panose="020B060402020209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ppt_x"/>
                                          </p:val>
                                        </p:tav>
                                        <p:tav tm="100000">
                                          <p:val>
                                            <p:strVal val="#ppt_x"/>
                                          </p:val>
                                        </p:tav>
                                      </p:tavLst>
                                    </p:anim>
                                    <p:anim calcmode="lin" valueType="num">
                                      <p:cBhvr additive="base">
                                        <p:cTn id="2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161070" y="620689"/>
            <a:ext cx="7679346" cy="4792223"/>
            <a:chOff x="637070" y="620688"/>
            <a:chExt cx="7679346" cy="4792223"/>
          </a:xfrm>
        </p:grpSpPr>
        <p:grpSp>
          <p:nvGrpSpPr>
            <p:cNvPr id="2" name="组合 1"/>
            <p:cNvGrpSpPr/>
            <p:nvPr/>
          </p:nvGrpSpPr>
          <p:grpSpPr>
            <a:xfrm>
              <a:off x="637070" y="620688"/>
              <a:ext cx="7679346" cy="4792223"/>
              <a:chOff x="0" y="3356992"/>
              <a:chExt cx="7806811" cy="4209815"/>
            </a:xfrm>
          </p:grpSpPr>
          <p:sp>
            <p:nvSpPr>
              <p:cNvPr id="3" name="矩形 2"/>
              <p:cNvSpPr/>
              <p:nvPr/>
            </p:nvSpPr>
            <p:spPr>
              <a:xfrm>
                <a:off x="0" y="3356992"/>
                <a:ext cx="2483769" cy="459632"/>
              </a:xfrm>
              <a:prstGeom prst="rect">
                <a:avLst/>
              </a:prstGeom>
            </p:spPr>
            <p:txBody>
              <a:bodyPr wrap="square">
                <a:spAutoFit/>
              </a:bodyPr>
              <a:lstStyle/>
              <a:p>
                <a:r>
                  <a:rPr lang="en-US" altLang="zh-CN" sz="2800" dirty="0">
                    <a:solidFill>
                      <a:srgbClr val="060606"/>
                    </a:solidFill>
                  </a:rPr>
                  <a:t> x</a:t>
                </a:r>
                <a:r>
                  <a:rPr lang="en-US" altLang="zh-CN" sz="2800" baseline="-25000" dirty="0">
                    <a:solidFill>
                      <a:srgbClr val="060606"/>
                    </a:solidFill>
                  </a:rPr>
                  <a:t>1</a:t>
                </a:r>
                <a:r>
                  <a:rPr lang="zh-CN" altLang="en-US" sz="2800" dirty="0">
                    <a:solidFill>
                      <a:srgbClr val="060606"/>
                    </a:solidFill>
                  </a:rPr>
                  <a:t>为换入变量</a:t>
                </a:r>
                <a:endParaRPr lang="zh-CN" altLang="en-US" sz="2800" dirty="0"/>
              </a:p>
            </p:txBody>
          </p:sp>
          <p:sp>
            <p:nvSpPr>
              <p:cNvPr id="4" name="矩形 3"/>
              <p:cNvSpPr/>
              <p:nvPr/>
            </p:nvSpPr>
            <p:spPr>
              <a:xfrm>
                <a:off x="2483769" y="3356992"/>
                <a:ext cx="2286000" cy="459632"/>
              </a:xfrm>
              <a:prstGeom prst="rect">
                <a:avLst/>
              </a:prstGeom>
            </p:spPr>
            <p:txBody>
              <a:bodyPr>
                <a:spAutoFit/>
              </a:bodyPr>
              <a:lstStyle/>
              <a:p>
                <a:r>
                  <a:rPr lang="en-US" altLang="zh-CN" sz="2800" dirty="0">
                    <a:solidFill>
                      <a:srgbClr val="060606"/>
                    </a:solidFill>
                  </a:rPr>
                  <a:t>x</a:t>
                </a:r>
                <a:r>
                  <a:rPr lang="en-US" altLang="zh-CN" sz="2800" baseline="-25000" dirty="0">
                    <a:solidFill>
                      <a:srgbClr val="060606"/>
                    </a:solidFill>
                  </a:rPr>
                  <a:t>5</a:t>
                </a:r>
                <a:r>
                  <a:rPr lang="zh-CN" altLang="en-US" sz="2800" dirty="0">
                    <a:solidFill>
                      <a:srgbClr val="060606"/>
                    </a:solidFill>
                  </a:rPr>
                  <a:t>为换出变量</a:t>
                </a:r>
                <a:endParaRPr lang="zh-CN" altLang="en-US" dirty="0"/>
              </a:p>
            </p:txBody>
          </p:sp>
          <p:grpSp>
            <p:nvGrpSpPr>
              <p:cNvPr id="7" name="组合 74"/>
              <p:cNvGrpSpPr/>
              <p:nvPr/>
            </p:nvGrpSpPr>
            <p:grpSpPr>
              <a:xfrm>
                <a:off x="366016" y="3816624"/>
                <a:ext cx="7440795" cy="3750183"/>
                <a:chOff x="366016" y="3816624"/>
                <a:chExt cx="7440795" cy="3750183"/>
              </a:xfrm>
            </p:grpSpPr>
            <p:sp>
              <p:nvSpPr>
                <p:cNvPr id="9" name="内容占位符 2"/>
                <p:cNvSpPr txBox="1"/>
                <p:nvPr/>
              </p:nvSpPr>
              <p:spPr bwMode="auto">
                <a:xfrm>
                  <a:off x="467543" y="4293096"/>
                  <a:ext cx="6925982" cy="52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defRPr/>
                  </a:pPr>
                  <a:r>
                    <a:rPr lang="zh-CN" altLang="en-US" sz="2400" dirty="0">
                      <a:solidFill>
                        <a:srgbClr val="060606"/>
                      </a:solidFill>
                    </a:rPr>
                    <a:t>基可行解</a:t>
                  </a:r>
                  <a:r>
                    <a:rPr lang="en-US" altLang="zh-CN" sz="2400" b="1" dirty="0">
                      <a:solidFill>
                        <a:srgbClr val="060606"/>
                      </a:solidFill>
                    </a:rPr>
                    <a:t>x’’</a:t>
                  </a:r>
                  <a:r>
                    <a:rPr lang="en-US" altLang="zh-CN" sz="2400" dirty="0">
                      <a:solidFill>
                        <a:srgbClr val="060606"/>
                      </a:solidFill>
                    </a:rPr>
                    <a:t> = (2,6,2,0,0)         </a:t>
                  </a:r>
                  <a:r>
                    <a:rPr lang="zh-CN" altLang="en-US" sz="2400" dirty="0">
                      <a:solidFill>
                        <a:srgbClr val="060606"/>
                      </a:solidFill>
                    </a:rPr>
                    <a:t>，</a:t>
                  </a:r>
                  <a:r>
                    <a:rPr lang="en-US" altLang="zh-CN" sz="2400" dirty="0">
                      <a:solidFill>
                        <a:srgbClr val="060606"/>
                      </a:solidFill>
                    </a:rPr>
                    <a:t>z = 36 </a:t>
                  </a:r>
                  <a:endParaRPr lang="en-US" altLang="zh-CN" sz="2400" dirty="0">
                    <a:solidFill>
                      <a:srgbClr val="060606"/>
                    </a:solidFill>
                  </a:endParaRPr>
                </a:p>
              </p:txBody>
            </p:sp>
            <p:sp>
              <p:nvSpPr>
                <p:cNvPr id="10" name="内容占位符 2"/>
                <p:cNvSpPr txBox="1"/>
                <p:nvPr/>
              </p:nvSpPr>
              <p:spPr bwMode="auto">
                <a:xfrm>
                  <a:off x="366016" y="4952494"/>
                  <a:ext cx="7125308"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defRPr/>
                  </a:pPr>
                  <a:r>
                    <a:rPr lang="zh-CN" altLang="en-US" sz="2400" b="1" dirty="0">
                      <a:solidFill>
                        <a:srgbClr val="060606"/>
                      </a:solidFill>
                    </a:rPr>
                    <a:t>最优检测</a:t>
                  </a:r>
                  <a:r>
                    <a:rPr lang="en-US" altLang="zh-CN" sz="2400" b="1" dirty="0" err="1">
                      <a:solidFill>
                        <a:srgbClr val="060606"/>
                      </a:solidFill>
                    </a:rPr>
                    <a:t>Eq</a:t>
                  </a:r>
                  <a:r>
                    <a:rPr lang="en-US" altLang="zh-CN" sz="2400" b="1" dirty="0">
                      <a:solidFill>
                        <a:srgbClr val="060606"/>
                      </a:solidFill>
                    </a:rPr>
                    <a:t>(0):</a:t>
                  </a:r>
                  <a:endParaRPr lang="en-US" altLang="zh-CN" sz="2400" b="1" dirty="0">
                    <a:solidFill>
                      <a:srgbClr val="060606"/>
                    </a:solidFill>
                  </a:endParaRPr>
                </a:p>
                <a:p>
                  <a:pPr marL="342900" indent="-342900" fontAlgn="base">
                    <a:lnSpc>
                      <a:spcPct val="110000"/>
                    </a:lnSpc>
                    <a:spcBef>
                      <a:spcPts val="1800"/>
                    </a:spcBef>
                    <a:spcAft>
                      <a:spcPct val="0"/>
                    </a:spcAft>
                  </a:pPr>
                  <a:r>
                    <a:rPr lang="en-US" altLang="zh-CN" sz="2400" dirty="0">
                      <a:solidFill>
                        <a:srgbClr val="060606"/>
                      </a:solidFill>
                    </a:rPr>
                    <a:t>z</a:t>
                  </a:r>
                  <a:r>
                    <a:rPr lang="zh-CN" altLang="en-US" sz="2400" dirty="0">
                      <a:solidFill>
                        <a:srgbClr val="060606"/>
                      </a:solidFill>
                    </a:rPr>
                    <a:t> </a:t>
                  </a:r>
                  <a:r>
                    <a:rPr lang="en-US" altLang="zh-CN" sz="2400" dirty="0">
                      <a:solidFill>
                        <a:srgbClr val="060606"/>
                      </a:solidFill>
                    </a:rPr>
                    <a:t>=36 - 3x</a:t>
                  </a:r>
                  <a:r>
                    <a:rPr lang="en-US" altLang="zh-CN" sz="2400" baseline="-25000" dirty="0">
                      <a:solidFill>
                        <a:srgbClr val="060606"/>
                      </a:solidFill>
                    </a:rPr>
                    <a:t>4</a:t>
                  </a:r>
                  <a:r>
                    <a:rPr lang="en-US" altLang="zh-CN" sz="2400" dirty="0">
                      <a:solidFill>
                        <a:srgbClr val="060606"/>
                      </a:solidFill>
                    </a:rPr>
                    <a:t>/2 -</a:t>
                  </a:r>
                  <a:r>
                    <a:rPr lang="zh-CN" altLang="en-US" sz="2400" dirty="0">
                      <a:solidFill>
                        <a:srgbClr val="060606"/>
                      </a:solidFill>
                    </a:rPr>
                    <a:t> </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a:t>
                  </a:r>
                  <a:r>
                    <a:rPr lang="zh-CN" altLang="en-US" sz="2400" dirty="0">
                      <a:solidFill>
                        <a:srgbClr val="060606"/>
                      </a:solidFill>
                    </a:rPr>
                    <a:t>，</a:t>
                  </a:r>
                  <a:r>
                    <a:rPr lang="el-GR" altLang="zh-CN" sz="2400" dirty="0">
                      <a:solidFill>
                        <a:srgbClr val="060606"/>
                      </a:solidFill>
                      <a:ea typeface="宋体"/>
                    </a:rPr>
                    <a:t>σ</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l-GR" altLang="zh-CN" sz="2400" dirty="0">
                      <a:solidFill>
                        <a:srgbClr val="060606"/>
                      </a:solidFill>
                      <a:ea typeface="宋体"/>
                    </a:rPr>
                    <a:t>σ</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a:t>
                  </a:r>
                  <a:r>
                    <a:rPr lang="en-US" altLang="zh-CN" sz="2400" dirty="0"/>
                    <a:t> 0</a:t>
                  </a:r>
                  <a:endParaRPr lang="en-US" altLang="zh-CN" sz="2400" dirty="0">
                    <a:solidFill>
                      <a:srgbClr val="060606"/>
                    </a:solidFill>
                  </a:endParaRPr>
                </a:p>
              </p:txBody>
            </p:sp>
            <p:sp>
              <p:nvSpPr>
                <p:cNvPr id="11" name="内容占位符 2"/>
                <p:cNvSpPr txBox="1"/>
                <p:nvPr/>
              </p:nvSpPr>
              <p:spPr bwMode="auto">
                <a:xfrm>
                  <a:off x="439220" y="6470655"/>
                  <a:ext cx="7367591" cy="1096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fontAlgn="base">
                    <a:lnSpc>
                      <a:spcPct val="110000"/>
                    </a:lnSpc>
                    <a:spcBef>
                      <a:spcPts val="1800"/>
                    </a:spcBef>
                    <a:spcAft>
                      <a:spcPct val="0"/>
                    </a:spcAft>
                  </a:pPr>
                  <a:r>
                    <a:rPr lang="zh-CN" altLang="en-US" sz="2400" dirty="0">
                      <a:solidFill>
                        <a:srgbClr val="060606"/>
                      </a:solidFill>
                    </a:rPr>
                    <a:t>可知，</a:t>
                  </a:r>
                  <a:r>
                    <a:rPr lang="en-US" altLang="zh-CN" sz="2400" b="1" dirty="0">
                      <a:solidFill>
                        <a:srgbClr val="060606"/>
                      </a:solidFill>
                    </a:rPr>
                    <a:t> x’’</a:t>
                  </a:r>
                  <a:r>
                    <a:rPr lang="en-US" altLang="zh-CN" sz="2400" dirty="0">
                      <a:solidFill>
                        <a:srgbClr val="060606"/>
                      </a:solidFill>
                    </a:rPr>
                    <a:t> = (2,6,2,0,0)</a:t>
                  </a:r>
                  <a:r>
                    <a:rPr lang="zh-CN" altLang="en-US" sz="2400" dirty="0">
                      <a:solidFill>
                        <a:srgbClr val="060606"/>
                      </a:solidFill>
                    </a:rPr>
                    <a:t>是最优解，最优值为</a:t>
                  </a:r>
                  <a:r>
                    <a:rPr lang="en-US" altLang="zh-CN" sz="2400" dirty="0" err="1">
                      <a:solidFill>
                        <a:srgbClr val="060606"/>
                      </a:solidFill>
                    </a:rPr>
                    <a:t>z</a:t>
                  </a:r>
                  <a:r>
                    <a:rPr lang="en-US" altLang="zh-CN" sz="2400" baseline="-25000" dirty="0" err="1">
                      <a:solidFill>
                        <a:srgbClr val="060606"/>
                      </a:solidFill>
                    </a:rPr>
                    <a:t>max</a:t>
                  </a:r>
                  <a:r>
                    <a:rPr lang="en-US" altLang="zh-CN" sz="2400" dirty="0">
                      <a:solidFill>
                        <a:srgbClr val="060606"/>
                      </a:solidFill>
                    </a:rPr>
                    <a:t> = 36 </a:t>
                  </a:r>
                  <a:r>
                    <a:rPr lang="zh-CN" altLang="en-US" sz="2400" dirty="0">
                      <a:solidFill>
                        <a:srgbClr val="060606"/>
                      </a:solidFill>
                    </a:rPr>
                    <a:t>。</a:t>
                  </a:r>
                  <a:endParaRPr lang="en-US" altLang="zh-CN" sz="2400" dirty="0">
                    <a:solidFill>
                      <a:srgbClr val="060606"/>
                    </a:solidFill>
                  </a:endParaRPr>
                </a:p>
                <a:p>
                  <a:pPr marL="342900" indent="-342900" fontAlgn="base">
                    <a:lnSpc>
                      <a:spcPct val="110000"/>
                    </a:lnSpc>
                    <a:spcBef>
                      <a:spcPts val="1800"/>
                    </a:spcBef>
                    <a:spcAft>
                      <a:spcPct val="0"/>
                    </a:spcAft>
                  </a:pPr>
                  <a:r>
                    <a:rPr lang="zh-CN" altLang="en-US" sz="2400" dirty="0">
                      <a:solidFill>
                        <a:srgbClr val="060606"/>
                      </a:solidFill>
                    </a:rPr>
                    <a:t>迭代结束。</a:t>
                  </a:r>
                  <a:endParaRPr lang="en-US" altLang="zh-CN" sz="2400" dirty="0">
                    <a:solidFill>
                      <a:srgbClr val="060606"/>
                    </a:solidFill>
                  </a:endParaRPr>
                </a:p>
              </p:txBody>
            </p:sp>
            <p:cxnSp>
              <p:nvCxnSpPr>
                <p:cNvPr id="12" name="直接箭头连接符 11"/>
                <p:cNvCxnSpPr>
                  <a:stCxn id="3" idx="2"/>
                </p:cNvCxnSpPr>
                <p:nvPr/>
              </p:nvCxnSpPr>
              <p:spPr bwMode="auto">
                <a:xfrm>
                  <a:off x="1241885" y="3816624"/>
                  <a:ext cx="1313891" cy="620487"/>
                </a:xfrm>
                <a:prstGeom prst="straightConnector1">
                  <a:avLst/>
                </a:prstGeom>
                <a:solidFill>
                  <a:schemeClr val="accent1"/>
                </a:solidFill>
                <a:ln w="28575" cap="flat" cmpd="sng" algn="ctr">
                  <a:solidFill>
                    <a:srgbClr val="FF000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箭头连接符 12"/>
                <p:cNvCxnSpPr>
                  <a:stCxn id="4" idx="2"/>
                </p:cNvCxnSpPr>
                <p:nvPr/>
              </p:nvCxnSpPr>
              <p:spPr bwMode="auto">
                <a:xfrm flipH="1">
                  <a:off x="3561024" y="3816624"/>
                  <a:ext cx="65744" cy="615731"/>
                </a:xfrm>
                <a:prstGeom prst="straightConnector1">
                  <a:avLst/>
                </a:prstGeom>
                <a:solidFill>
                  <a:schemeClr val="accent1"/>
                </a:solidFill>
                <a:ln w="28575" cap="flat" cmpd="sng" algn="ctr">
                  <a:solidFill>
                    <a:srgbClr val="FF0000"/>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14" name="矩形 13"/>
            <p:cNvSpPr/>
            <p:nvPr/>
          </p:nvSpPr>
          <p:spPr>
            <a:xfrm>
              <a:off x="3229358" y="2436920"/>
              <a:ext cx="4776722" cy="479234"/>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z+3x</a:t>
              </a:r>
              <a:r>
                <a:rPr lang="en-US" altLang="zh-CN" sz="2400" baseline="-25000" dirty="0">
                  <a:solidFill>
                    <a:srgbClr val="060606"/>
                  </a:solidFill>
                </a:rPr>
                <a:t>4</a:t>
              </a:r>
              <a:r>
                <a:rPr lang="en-US" altLang="zh-CN" sz="2400" dirty="0">
                  <a:solidFill>
                    <a:srgbClr val="060606"/>
                  </a:solidFill>
                </a:rPr>
                <a:t>/2 +</a:t>
              </a:r>
              <a:r>
                <a:rPr lang="zh-CN" altLang="en-US" sz="2400" dirty="0">
                  <a:solidFill>
                    <a:srgbClr val="060606"/>
                  </a:solidFill>
                </a:rPr>
                <a:t> </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 36 </a:t>
              </a:r>
              <a:endParaRPr lang="en-US" altLang="zh-CN" sz="2400" dirty="0">
                <a:solidFill>
                  <a:srgbClr val="060606"/>
                </a:solidFill>
              </a:endParaRPr>
            </a:p>
          </p:txBody>
        </p:sp>
      </p:gr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858928" y="949960"/>
            <a:ext cx="7833360" cy="4958080"/>
            <a:chOff x="1858928" y="949960"/>
            <a:chExt cx="7833360" cy="4958080"/>
          </a:xfrm>
        </p:grpSpPr>
        <p:grpSp>
          <p:nvGrpSpPr>
            <p:cNvPr id="2" name="组合 1"/>
            <p:cNvGrpSpPr/>
            <p:nvPr/>
          </p:nvGrpSpPr>
          <p:grpSpPr>
            <a:xfrm>
              <a:off x="1919536" y="1143909"/>
              <a:ext cx="7712144" cy="4680520"/>
              <a:chOff x="755576" y="1628800"/>
              <a:chExt cx="7272808" cy="4104456"/>
            </a:xfrm>
          </p:grpSpPr>
          <p:sp>
            <p:nvSpPr>
              <p:cNvPr id="3" name="矩形 2"/>
              <p:cNvSpPr/>
              <p:nvPr/>
            </p:nvSpPr>
            <p:spPr bwMode="auto">
              <a:xfrm>
                <a:off x="755576" y="1628800"/>
                <a:ext cx="7272808" cy="4104456"/>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4" name="TextBox 18"/>
              <p:cNvSpPr txBox="1"/>
              <p:nvPr/>
            </p:nvSpPr>
            <p:spPr>
              <a:xfrm>
                <a:off x="1187624" y="1700808"/>
                <a:ext cx="6624736" cy="3967476"/>
              </a:xfrm>
              <a:prstGeom prst="rect">
                <a:avLst/>
              </a:prstGeom>
              <a:noFill/>
              <a:ln>
                <a:noFill/>
              </a:ln>
            </p:spPr>
            <p:txBody>
              <a:bodyPr wrap="square" rtlCol="0">
                <a:spAutoFit/>
              </a:bodyPr>
              <a:lstStyle/>
              <a:p>
                <a:r>
                  <a:rPr lang="zh-CN" altLang="en-US" sz="3600" dirty="0"/>
                  <a:t>单纯形法核心思想</a:t>
                </a:r>
                <a:r>
                  <a:rPr lang="en-US" altLang="zh-CN" sz="3600" dirty="0"/>
                  <a:t>:</a:t>
                </a:r>
                <a:endParaRPr lang="en-US" altLang="zh-CN" sz="3600" dirty="0"/>
              </a:p>
              <a:p>
                <a:r>
                  <a:rPr lang="en-US" altLang="zh-CN" sz="3600" dirty="0"/>
                  <a:t>1.</a:t>
                </a:r>
                <a:r>
                  <a:rPr lang="zh-CN" altLang="en-US" sz="3600" dirty="0"/>
                  <a:t>最优解在凸集顶点到达，而凸集顶点即为基可行解。</a:t>
                </a:r>
                <a:endParaRPr lang="en-US" altLang="zh-CN" sz="3600" dirty="0"/>
              </a:p>
              <a:p>
                <a:r>
                  <a:rPr lang="en-US" altLang="zh-CN" sz="3600" dirty="0"/>
                  <a:t>2.</a:t>
                </a:r>
                <a:r>
                  <a:rPr lang="zh-CN" altLang="en-US" sz="3600" dirty="0"/>
                  <a:t>通过初等行变换找到基可行解。</a:t>
                </a:r>
                <a:endParaRPr lang="en-US" altLang="zh-CN" sz="3600" dirty="0"/>
              </a:p>
              <a:p>
                <a:r>
                  <a:rPr lang="en-US" altLang="zh-CN" sz="3600" dirty="0"/>
                  <a:t>3.</a:t>
                </a:r>
                <a:r>
                  <a:rPr lang="zh-CN" altLang="en-US" sz="3600" dirty="0"/>
                  <a:t>通过换基找到最优解，而换基的原则为对贡献大的活动最先并尽可能多的安排，而安排受资源的约束。</a:t>
                </a:r>
                <a:endParaRPr lang="zh-CN" altLang="en-US" sz="3600" dirty="0"/>
              </a:p>
            </p:txBody>
          </p:sp>
        </p:grpSp>
        <p:sp>
          <p:nvSpPr>
            <p:cNvPr id="5" name="矩形: 折角 4"/>
            <p:cNvSpPr/>
            <p:nvPr/>
          </p:nvSpPr>
          <p:spPr>
            <a:xfrm flipV="1">
              <a:off x="1858928" y="949960"/>
              <a:ext cx="7833360" cy="4958080"/>
            </a:xfrm>
            <a:prstGeom prst="foldedCorner">
              <a:avLst>
                <a:gd name="adj" fmla="val 127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LPQ</a:t>
            </a:r>
            <a:r>
              <a:rPr lang="zh-CN" altLang="en-US" dirty="0"/>
              <a:t>的单纯形方法的基本思路</a:t>
            </a:r>
            <a:r>
              <a:rPr lang="en-US" altLang="zh-CN" dirty="0"/>
              <a:t>(</a:t>
            </a:r>
            <a:r>
              <a:rPr lang="zh-CN" altLang="en-US" dirty="0"/>
              <a:t>源于图解法</a:t>
            </a:r>
            <a:r>
              <a:rPr lang="en-US" altLang="zh-CN" dirty="0"/>
              <a:t>)</a:t>
            </a:r>
            <a:endParaRPr lang="zh-CN" altLang="en-US" dirty="0"/>
          </a:p>
        </p:txBody>
      </p:sp>
      <p:sp>
        <p:nvSpPr>
          <p:cNvPr id="3" name="内容占位符 2"/>
          <p:cNvSpPr>
            <a:spLocks noGrp="1"/>
          </p:cNvSpPr>
          <p:nvPr>
            <p:ph idx="1"/>
          </p:nvPr>
        </p:nvSpPr>
        <p:spPr>
          <a:xfrm>
            <a:off x="924560" y="1761173"/>
            <a:ext cx="10099040" cy="3921760"/>
          </a:xfrm>
        </p:spPr>
        <p:txBody>
          <a:bodyPr>
            <a:normAutofit/>
          </a:bodyPr>
          <a:lstStyle/>
          <a:p>
            <a:pPr>
              <a:lnSpc>
                <a:spcPct val="100000"/>
              </a:lnSpc>
              <a:buNone/>
            </a:pPr>
            <a:r>
              <a:rPr lang="en-US" altLang="zh-CN" sz="3200" dirty="0"/>
              <a:t>(1)</a:t>
            </a:r>
            <a:r>
              <a:rPr lang="zh-CN" altLang="en-US" sz="3200" dirty="0"/>
              <a:t>从可行域中某个基础可行解</a:t>
            </a:r>
            <a:r>
              <a:rPr lang="en-US" altLang="zh-CN" sz="3200" dirty="0"/>
              <a:t>(</a:t>
            </a:r>
            <a:r>
              <a:rPr lang="zh-CN" altLang="en-US" sz="3200" dirty="0"/>
              <a:t>凸集合中的一个顶点</a:t>
            </a:r>
            <a:r>
              <a:rPr lang="en-US" altLang="zh-CN" sz="3200" dirty="0"/>
              <a:t>)</a:t>
            </a:r>
            <a:r>
              <a:rPr lang="zh-CN" altLang="en-US" sz="3200" dirty="0"/>
              <a:t>开始，称为初始基础可行解。</a:t>
            </a:r>
            <a:endParaRPr lang="en-US" altLang="zh-CN" sz="3200" dirty="0"/>
          </a:p>
          <a:p>
            <a:pPr>
              <a:lnSpc>
                <a:spcPct val="100000"/>
              </a:lnSpc>
              <a:buNone/>
            </a:pPr>
            <a:r>
              <a:rPr lang="en-US" altLang="zh-CN" sz="3200" dirty="0"/>
              <a:t>(2)</a:t>
            </a:r>
            <a:r>
              <a:rPr lang="zh-CN" altLang="en-US" sz="3200" dirty="0"/>
              <a:t>如可能，从可行域中求出具有最优目标值函数的另一个基础可行解</a:t>
            </a:r>
            <a:r>
              <a:rPr lang="en-US" altLang="zh-CN" sz="3200" dirty="0"/>
              <a:t>(</a:t>
            </a:r>
            <a:r>
              <a:rPr lang="zh-CN" altLang="en-US" sz="3200" dirty="0"/>
              <a:t>凸集合中的另一个顶点</a:t>
            </a:r>
            <a:r>
              <a:rPr lang="en-US" altLang="zh-CN" sz="3200" dirty="0"/>
              <a:t>)</a:t>
            </a:r>
            <a:r>
              <a:rPr lang="zh-CN" altLang="en-US" sz="3200" dirty="0"/>
              <a:t>，以改进初始解。</a:t>
            </a:r>
            <a:endParaRPr lang="en-US" altLang="zh-CN" sz="3200" dirty="0"/>
          </a:p>
          <a:p>
            <a:pPr>
              <a:lnSpc>
                <a:spcPct val="100000"/>
              </a:lnSpc>
              <a:buNone/>
            </a:pPr>
            <a:r>
              <a:rPr lang="en-US" altLang="zh-CN" sz="3200" dirty="0"/>
              <a:t>(3)</a:t>
            </a:r>
            <a:r>
              <a:rPr lang="zh-CN" altLang="en-US" sz="3200" dirty="0"/>
              <a:t>继续寻找最优的基础可行解，进一步改进目标函数值。当某一个基础可行解不能再改善时，该解就是最优解。</a:t>
            </a:r>
            <a:endParaRPr lang="zh-CN" altLang="en-US" sz="3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44880" y="1556793"/>
            <a:ext cx="9221396" cy="2852737"/>
          </a:xfrm>
        </p:spPr>
        <p:txBody>
          <a:bodyPr/>
          <a:lstStyle/>
          <a:p>
            <a:r>
              <a:rPr lang="zh-CN" altLang="en-US" dirty="0">
                <a:solidFill>
                  <a:srgbClr val="060606"/>
                </a:solidFill>
              </a:rPr>
              <a:t>三，单纯形法：借助表格</a:t>
            </a:r>
            <a:r>
              <a:rPr lang="en-US" altLang="zh-CN" dirty="0">
                <a:solidFill>
                  <a:srgbClr val="060606"/>
                </a:solidFill>
              </a:rPr>
              <a:t>(</a:t>
            </a:r>
            <a:r>
              <a:rPr lang="zh-CN" altLang="en-US" dirty="0">
                <a:solidFill>
                  <a:srgbClr val="060606"/>
                </a:solidFill>
              </a:rPr>
              <a:t>以产品组合问题介绍求解方法</a:t>
            </a:r>
            <a:r>
              <a:rPr lang="en-US" altLang="zh-CN" dirty="0">
                <a:solidFill>
                  <a:srgbClr val="060606"/>
                </a:solidFill>
              </a:rPr>
              <a:t>)</a:t>
            </a:r>
            <a:endParaRPr lang="zh-CN" altLang="en-US" dirty="0"/>
          </a:p>
        </p:txBody>
      </p:sp>
      <p:sp>
        <p:nvSpPr>
          <p:cNvPr id="3" name="文本占位符 2"/>
          <p:cNvSpPr>
            <a:spLocks noGrp="1"/>
          </p:cNvSpPr>
          <p:nvPr>
            <p:ph type="body" idx="1"/>
          </p:nvPr>
        </p:nvSpPr>
        <p:spPr>
          <a:xfrm>
            <a:off x="1046480" y="4744720"/>
            <a:ext cx="8975780" cy="1264588"/>
          </a:xfrm>
        </p:spPr>
        <p:txBody>
          <a:bodyPr>
            <a:normAutofit/>
          </a:bodyPr>
          <a:lstStyle/>
          <a:p>
            <a:r>
              <a:rPr lang="zh-CN" altLang="en-US" sz="3200" b="1" dirty="0">
                <a:solidFill>
                  <a:srgbClr val="060606"/>
                </a:solidFill>
              </a:rPr>
              <a:t>表、判、算</a:t>
            </a:r>
            <a:endParaRPr lang="en-US" altLang="zh-CN" sz="3200" b="1" dirty="0">
              <a:solidFill>
                <a:srgbClr val="060606"/>
              </a:solidFill>
            </a:endParaRPr>
          </a:p>
          <a:p>
            <a:endParaRPr lang="en-US" altLang="zh-CN" sz="3200" b="1" dirty="0">
              <a:solidFill>
                <a:srgbClr val="060606"/>
              </a:solidFill>
            </a:endParaRPr>
          </a:p>
          <a:p>
            <a:endParaRPr lang="en-US" altLang="zh-CN" sz="3200" b="1" dirty="0">
              <a:solidFill>
                <a:srgbClr val="060606"/>
              </a:solidFill>
            </a:endParaRPr>
          </a:p>
          <a:p>
            <a:endParaRPr lang="zh-CN" altLang="en-US" sz="32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1600" y="136525"/>
            <a:ext cx="10119544" cy="3652515"/>
          </a:xfrm>
        </p:spPr>
        <p:txBody>
          <a:bodyPr/>
          <a:lstStyle/>
          <a:p>
            <a:pPr>
              <a:buNone/>
            </a:pPr>
            <a:r>
              <a:rPr lang="zh-CN" altLang="en-US" sz="2400" b="1" dirty="0">
                <a:solidFill>
                  <a:srgbClr val="060606"/>
                </a:solidFill>
              </a:rPr>
              <a:t>第一步</a:t>
            </a:r>
            <a:r>
              <a:rPr lang="en-US" altLang="zh-CN" sz="2400" b="1" dirty="0">
                <a:solidFill>
                  <a:srgbClr val="060606"/>
                </a:solidFill>
              </a:rPr>
              <a:t>(</a:t>
            </a:r>
            <a:r>
              <a:rPr lang="zh-CN" altLang="en-US" sz="2400" b="1" dirty="0">
                <a:solidFill>
                  <a:srgbClr val="060606"/>
                </a:solidFill>
              </a:rPr>
              <a:t>写出简单</a:t>
            </a:r>
            <a:r>
              <a:rPr lang="en-US" altLang="zh-CN" sz="2400" b="1" dirty="0">
                <a:solidFill>
                  <a:srgbClr val="060606"/>
                </a:solidFill>
              </a:rPr>
              <a:t>LPQ</a:t>
            </a:r>
            <a:r>
              <a:rPr lang="zh-CN" altLang="en-US" sz="2400" b="1" dirty="0">
                <a:solidFill>
                  <a:srgbClr val="060606"/>
                </a:solidFill>
              </a:rPr>
              <a:t>问题的方程组形式</a:t>
            </a:r>
            <a:r>
              <a:rPr lang="en-US" altLang="zh-CN" sz="2400" b="1" dirty="0">
                <a:solidFill>
                  <a:srgbClr val="060606"/>
                </a:solidFill>
              </a:rPr>
              <a:t>)</a:t>
            </a: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endParaRPr lang="en-US" altLang="zh-CN" sz="2400" b="1" dirty="0">
              <a:solidFill>
                <a:srgbClr val="060606"/>
              </a:solidFill>
            </a:endParaRPr>
          </a:p>
          <a:p>
            <a:pPr>
              <a:buNone/>
            </a:pPr>
            <a:r>
              <a:rPr lang="zh-CN" altLang="en-US" sz="2400" b="1" dirty="0">
                <a:solidFill>
                  <a:srgbClr val="060606"/>
                </a:solidFill>
              </a:rPr>
              <a:t>第二步</a:t>
            </a:r>
            <a:r>
              <a:rPr lang="en-US" altLang="zh-CN" sz="2400" b="1" dirty="0">
                <a:solidFill>
                  <a:srgbClr val="060606"/>
                </a:solidFill>
              </a:rPr>
              <a:t>(</a:t>
            </a:r>
            <a:r>
              <a:rPr lang="zh-CN" altLang="en-US" sz="2400" b="1" dirty="0">
                <a:solidFill>
                  <a:srgbClr val="060606"/>
                </a:solidFill>
              </a:rPr>
              <a:t>表</a:t>
            </a:r>
            <a:r>
              <a:rPr lang="en-US" altLang="zh-CN" sz="2400" b="1" dirty="0">
                <a:solidFill>
                  <a:srgbClr val="060606"/>
                </a:solidFill>
              </a:rPr>
              <a:t>)</a:t>
            </a:r>
            <a:r>
              <a:rPr lang="zh-CN" altLang="en-US" sz="2400" b="1" dirty="0">
                <a:solidFill>
                  <a:srgbClr val="060606"/>
                </a:solidFill>
              </a:rPr>
              <a:t>、作出如下形式的单纯形表。</a:t>
            </a:r>
            <a:endParaRPr lang="en-US" altLang="zh-CN" sz="2400" b="1" dirty="0">
              <a:solidFill>
                <a:srgbClr val="060606"/>
              </a:solidFill>
            </a:endParaRPr>
          </a:p>
        </p:txBody>
      </p:sp>
      <p:graphicFrame>
        <p:nvGraphicFramePr>
          <p:cNvPr id="44" name="表格 43"/>
          <p:cNvGraphicFramePr>
            <a:graphicFrameLocks noGrp="1"/>
          </p:cNvGraphicFramePr>
          <p:nvPr/>
        </p:nvGraphicFramePr>
        <p:xfrm>
          <a:off x="497840" y="3513683"/>
          <a:ext cx="11379199" cy="2103120"/>
        </p:xfrm>
        <a:graphic>
          <a:graphicData uri="http://schemas.openxmlformats.org/drawingml/2006/table">
            <a:tbl>
              <a:tblPr bandRow="1">
                <a:tableStyleId>{5C22544A-7EE6-4342-B048-85BDC9FD1C3A}</a:tableStyleId>
              </a:tblPr>
              <a:tblGrid>
                <a:gridCol w="4514062"/>
                <a:gridCol w="4137890"/>
                <a:gridCol w="2727247"/>
              </a:tblGrid>
              <a:tr h="370840">
                <a:tc rowSpan="2">
                  <a:txBody>
                    <a:bodyPr/>
                    <a:lstStyle/>
                    <a:p>
                      <a:r>
                        <a:rPr lang="zh-CN" altLang="en-US" sz="2000" dirty="0">
                          <a:ln>
                            <a:solidFill>
                              <a:srgbClr val="00000C"/>
                            </a:solidFill>
                          </a:ln>
                          <a:solidFill>
                            <a:srgbClr val="060606"/>
                          </a:solidFill>
                        </a:rPr>
                        <a:t>方程组                             基变量  </a:t>
                      </a:r>
                      <a:r>
                        <a:rPr lang="en-US" altLang="zh-CN" sz="2000" dirty="0">
                          <a:ln>
                            <a:solidFill>
                              <a:srgbClr val="00000C"/>
                            </a:solidFill>
                          </a:ln>
                          <a:solidFill>
                            <a:srgbClr val="060606"/>
                          </a:solidFill>
                        </a:rPr>
                        <a:t>Eq.</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                                              BV.</a:t>
                      </a:r>
                      <a:r>
                        <a:rPr lang="zh-CN" altLang="en-US" sz="2000" dirty="0">
                          <a:ln>
                            <a:solidFill>
                              <a:srgbClr val="00000C"/>
                            </a:solidFill>
                          </a:ln>
                          <a:solidFill>
                            <a:srgbClr val="060606"/>
                          </a:solidFill>
                        </a:rPr>
                        <a:t>     </a:t>
                      </a:r>
                      <a:endParaRPr lang="zh-CN" altLang="en-US" sz="2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pPr algn="ctr"/>
                      <a:r>
                        <a:rPr lang="zh-CN" altLang="en-US" sz="2000" dirty="0">
                          <a:ln>
                            <a:solidFill>
                              <a:srgbClr val="00000C"/>
                            </a:solidFill>
                          </a:ln>
                          <a:solidFill>
                            <a:srgbClr val="060606"/>
                          </a:solidFill>
                        </a:rPr>
                        <a:t>系数</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rowSpan="2">
                  <a:txBody>
                    <a:bodyPr/>
                    <a:lstStyle/>
                    <a:p>
                      <a:r>
                        <a:rPr lang="zh-CN" altLang="en-US" sz="2000" dirty="0">
                          <a:ln>
                            <a:solidFill>
                              <a:srgbClr val="00000C"/>
                            </a:solidFill>
                          </a:ln>
                          <a:solidFill>
                            <a:srgbClr val="060606"/>
                          </a:solidFill>
                        </a:rPr>
                        <a:t>方程右端      比值</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37084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060606"/>
                          </a:solidFill>
                        </a:rPr>
                        <a:t>Z</a:t>
                      </a:r>
                      <a:r>
                        <a:rPr lang="zh-CN" altLang="en-US" sz="2000" baseline="0" dirty="0">
                          <a:ln>
                            <a:solidFill>
                              <a:srgbClr val="00000C"/>
                            </a:solidFill>
                          </a:ln>
                          <a:solidFill>
                            <a:srgbClr val="060606"/>
                          </a:solidFill>
                        </a:rPr>
                        <a:t>        </a:t>
                      </a:r>
                      <a:r>
                        <a:rPr lang="en-US" altLang="zh-CN" sz="2000" baseline="0" dirty="0">
                          <a:ln>
                            <a:solidFill>
                              <a:srgbClr val="00000C"/>
                            </a:solidFill>
                          </a:ln>
                          <a:solidFill>
                            <a:srgbClr val="060606"/>
                          </a:solidFill>
                        </a:rPr>
                        <a:t>x1      x2     x3      x4      x5</a:t>
                      </a:r>
                      <a:endParaRPr lang="en-US" altLang="zh-CN"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0</a:t>
                      </a:r>
                      <a:r>
                        <a:rPr lang="zh-CN" altLang="en-US" sz="2000" dirty="0">
                          <a:solidFill>
                            <a:srgbClr val="060606"/>
                          </a:solidFill>
                        </a:rPr>
                        <a:t>） </a:t>
                      </a:r>
                      <a:r>
                        <a:rPr lang="en-US" altLang="zh-CN" sz="2000" dirty="0">
                          <a:solidFill>
                            <a:srgbClr val="060606"/>
                          </a:solidFill>
                        </a:rPr>
                        <a:t>z</a:t>
                      </a:r>
                      <a:r>
                        <a:rPr lang="zh-CN" altLang="en-US" sz="2000" dirty="0">
                          <a:solidFill>
                            <a:srgbClr val="060606"/>
                          </a:solidFill>
                        </a:rPr>
                        <a:t>－</a:t>
                      </a:r>
                      <a:r>
                        <a:rPr lang="en-US" altLang="zh-CN" sz="2000" dirty="0">
                          <a:solidFill>
                            <a:srgbClr val="060606"/>
                          </a:solidFill>
                        </a:rPr>
                        <a:t>3x</a:t>
                      </a:r>
                      <a:r>
                        <a:rPr lang="en-US" altLang="zh-CN" sz="2000" baseline="-25000" dirty="0">
                          <a:solidFill>
                            <a:srgbClr val="060606"/>
                          </a:solidFill>
                        </a:rPr>
                        <a:t>1</a:t>
                      </a:r>
                      <a:r>
                        <a:rPr lang="en-US" altLang="zh-CN" sz="2000" dirty="0">
                          <a:solidFill>
                            <a:srgbClr val="060606"/>
                          </a:solidFill>
                        </a:rPr>
                        <a:t> </a:t>
                      </a:r>
                      <a:r>
                        <a:rPr lang="zh-CN" altLang="en-US" sz="2000" dirty="0">
                          <a:solidFill>
                            <a:srgbClr val="060606"/>
                          </a:solidFill>
                        </a:rPr>
                        <a:t>－ </a:t>
                      </a:r>
                      <a:r>
                        <a:rPr lang="en-US" altLang="zh-CN" sz="2000" dirty="0">
                          <a:solidFill>
                            <a:srgbClr val="060606"/>
                          </a:solidFill>
                        </a:rPr>
                        <a:t>5x</a:t>
                      </a:r>
                      <a:r>
                        <a:rPr lang="en-US" altLang="zh-CN" sz="2000" baseline="-25000" dirty="0">
                          <a:solidFill>
                            <a:srgbClr val="060606"/>
                          </a:solidFill>
                        </a:rPr>
                        <a:t>2</a:t>
                      </a:r>
                      <a:r>
                        <a:rPr lang="en-US" altLang="zh-CN" sz="2000" dirty="0">
                          <a:solidFill>
                            <a:srgbClr val="060606"/>
                          </a:solidFill>
                        </a:rPr>
                        <a:t> = 0      z         (0)</a:t>
                      </a:r>
                      <a:endParaRPr lang="en-US" altLang="zh-CN" sz="2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1</a:t>
                      </a:r>
                      <a:r>
                        <a:rPr lang="zh-CN" altLang="en-US" sz="2000" dirty="0">
                          <a:solidFill>
                            <a:srgbClr val="060606"/>
                          </a:solidFill>
                        </a:rPr>
                        <a:t>）</a:t>
                      </a:r>
                      <a:r>
                        <a:rPr lang="en-US" altLang="zh-CN" sz="2000" dirty="0">
                          <a:solidFill>
                            <a:srgbClr val="060606"/>
                          </a:solidFill>
                        </a:rPr>
                        <a:t> x</a:t>
                      </a:r>
                      <a:r>
                        <a:rPr lang="en-US" altLang="zh-CN" sz="2000" baseline="-25000" dirty="0">
                          <a:solidFill>
                            <a:srgbClr val="060606"/>
                          </a:solidFill>
                        </a:rPr>
                        <a:t>1 </a:t>
                      </a:r>
                      <a:r>
                        <a:rPr lang="en-US" altLang="zh-CN" sz="2000" dirty="0">
                          <a:solidFill>
                            <a:srgbClr val="060606"/>
                          </a:solidFill>
                        </a:rPr>
                        <a:t>+ x</a:t>
                      </a:r>
                      <a:r>
                        <a:rPr lang="en-US" altLang="zh-CN" sz="2000" baseline="-25000" dirty="0">
                          <a:solidFill>
                            <a:srgbClr val="060606"/>
                          </a:solidFill>
                        </a:rPr>
                        <a:t>3</a:t>
                      </a:r>
                      <a:r>
                        <a:rPr lang="en-US" altLang="zh-CN" sz="2000" dirty="0">
                          <a:solidFill>
                            <a:srgbClr val="060606"/>
                          </a:solidFill>
                        </a:rPr>
                        <a:t>= 4                    x</a:t>
                      </a:r>
                      <a:r>
                        <a:rPr lang="en-US" altLang="zh-CN" sz="2000" baseline="-25000" dirty="0">
                          <a:solidFill>
                            <a:srgbClr val="060606"/>
                          </a:solidFill>
                        </a:rPr>
                        <a:t>3</a:t>
                      </a:r>
                      <a:r>
                        <a:rPr lang="en-US" altLang="zh-CN" sz="2000" baseline="0" dirty="0">
                          <a:solidFill>
                            <a:srgbClr val="060606"/>
                          </a:solidFill>
                        </a:rPr>
                        <a:t>       (1)</a:t>
                      </a:r>
                      <a:endParaRPr lang="en-US" altLang="zh-CN" sz="20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2</a:t>
                      </a:r>
                      <a:r>
                        <a:rPr lang="zh-CN" altLang="en-US" sz="2000" dirty="0">
                          <a:solidFill>
                            <a:srgbClr val="060606"/>
                          </a:solidFill>
                        </a:rPr>
                        <a:t>）</a:t>
                      </a:r>
                      <a:r>
                        <a:rPr lang="en-US" altLang="zh-CN" sz="2000" dirty="0">
                          <a:solidFill>
                            <a:srgbClr val="060606"/>
                          </a:solidFill>
                        </a:rPr>
                        <a:t> 2x</a:t>
                      </a:r>
                      <a:r>
                        <a:rPr lang="en-US" altLang="zh-CN" sz="2000" baseline="-25000" dirty="0">
                          <a:solidFill>
                            <a:srgbClr val="060606"/>
                          </a:solidFill>
                        </a:rPr>
                        <a:t>2</a:t>
                      </a:r>
                      <a:r>
                        <a:rPr lang="en-US" altLang="zh-CN" sz="2000" dirty="0">
                          <a:solidFill>
                            <a:srgbClr val="060606"/>
                          </a:solidFill>
                        </a:rPr>
                        <a:t>  +x</a:t>
                      </a:r>
                      <a:r>
                        <a:rPr lang="en-US" altLang="zh-CN" sz="2000" baseline="-25000" dirty="0">
                          <a:solidFill>
                            <a:srgbClr val="060606"/>
                          </a:solidFill>
                        </a:rPr>
                        <a:t>4</a:t>
                      </a:r>
                      <a:r>
                        <a:rPr lang="en-US" altLang="zh-CN" sz="2000" dirty="0">
                          <a:solidFill>
                            <a:srgbClr val="060606"/>
                          </a:solidFill>
                        </a:rPr>
                        <a:t> =12               x</a:t>
                      </a:r>
                      <a:r>
                        <a:rPr lang="en-US" altLang="zh-CN" sz="2000" baseline="-25000" dirty="0">
                          <a:solidFill>
                            <a:srgbClr val="060606"/>
                          </a:solidFill>
                        </a:rPr>
                        <a:t>4</a:t>
                      </a:r>
                      <a:r>
                        <a:rPr lang="en-US" altLang="zh-CN" sz="2000" baseline="0" dirty="0">
                          <a:solidFill>
                            <a:srgbClr val="060606"/>
                          </a:solidFill>
                        </a:rPr>
                        <a:t>       (2)</a:t>
                      </a:r>
                      <a:endParaRPr lang="en-US" altLang="zh-CN" sz="20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3</a:t>
                      </a:r>
                      <a:r>
                        <a:rPr lang="zh-CN" altLang="en-US" sz="2000" dirty="0">
                          <a:solidFill>
                            <a:srgbClr val="060606"/>
                          </a:solidFill>
                        </a:rPr>
                        <a:t>）</a:t>
                      </a:r>
                      <a:r>
                        <a:rPr lang="en-US" altLang="zh-CN" sz="2000" dirty="0">
                          <a:solidFill>
                            <a:srgbClr val="060606"/>
                          </a:solidFill>
                        </a:rPr>
                        <a:t> 3x</a:t>
                      </a:r>
                      <a:r>
                        <a:rPr lang="en-US" altLang="zh-CN" sz="2000" baseline="-25000" dirty="0">
                          <a:solidFill>
                            <a:srgbClr val="060606"/>
                          </a:solidFill>
                        </a:rPr>
                        <a:t>1</a:t>
                      </a:r>
                      <a:r>
                        <a:rPr lang="en-US" altLang="zh-CN" sz="2000" dirty="0">
                          <a:solidFill>
                            <a:srgbClr val="060606"/>
                          </a:solidFill>
                        </a:rPr>
                        <a:t>+2x</a:t>
                      </a:r>
                      <a:r>
                        <a:rPr lang="en-US" altLang="zh-CN" sz="2000" baseline="-25000" dirty="0">
                          <a:solidFill>
                            <a:srgbClr val="060606"/>
                          </a:solidFill>
                        </a:rPr>
                        <a:t>2</a:t>
                      </a:r>
                      <a:r>
                        <a:rPr lang="en-US" altLang="zh-CN" sz="2000" dirty="0">
                          <a:solidFill>
                            <a:srgbClr val="060606"/>
                          </a:solidFill>
                        </a:rPr>
                        <a:t> + x</a:t>
                      </a:r>
                      <a:r>
                        <a:rPr lang="en-US" altLang="zh-CN" sz="2000" baseline="-25000" dirty="0">
                          <a:solidFill>
                            <a:srgbClr val="060606"/>
                          </a:solidFill>
                        </a:rPr>
                        <a:t>5 </a:t>
                      </a:r>
                      <a:r>
                        <a:rPr lang="en-US" altLang="zh-CN" sz="2000" dirty="0">
                          <a:solidFill>
                            <a:srgbClr val="060606"/>
                          </a:solidFill>
                        </a:rPr>
                        <a:t> = 18     x</a:t>
                      </a:r>
                      <a:r>
                        <a:rPr lang="en-US" altLang="zh-CN" sz="2000" baseline="-25000" dirty="0">
                          <a:solidFill>
                            <a:srgbClr val="060606"/>
                          </a:solidFill>
                        </a:rPr>
                        <a:t>5</a:t>
                      </a:r>
                      <a:r>
                        <a:rPr lang="en-US" altLang="zh-CN" sz="2000" baseline="0" dirty="0">
                          <a:solidFill>
                            <a:srgbClr val="060606"/>
                          </a:solidFill>
                        </a:rPr>
                        <a:t>        (3)</a:t>
                      </a:r>
                      <a:endParaRPr lang="zh-CN" altLang="en-US" sz="20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000" dirty="0">
                          <a:ln>
                            <a:solidFill>
                              <a:srgbClr val="00000C"/>
                            </a:solidFill>
                          </a:ln>
                          <a:solidFill>
                            <a:srgbClr val="060606"/>
                          </a:solidFill>
                        </a:rPr>
                        <a:t>1        -3      -5      0        </a:t>
                      </a:r>
                      <a:r>
                        <a:rPr lang="en-US" altLang="zh-CN" sz="2000" dirty="0" err="1">
                          <a:ln>
                            <a:solidFill>
                              <a:srgbClr val="00000C"/>
                            </a:solidFill>
                          </a:ln>
                          <a:solidFill>
                            <a:srgbClr val="060606"/>
                          </a:solidFill>
                        </a:rPr>
                        <a:t>0</a:t>
                      </a:r>
                      <a:r>
                        <a:rPr lang="en-US" altLang="zh-CN" sz="2000" dirty="0">
                          <a:ln>
                            <a:solidFill>
                              <a:srgbClr val="00000C"/>
                            </a:solidFill>
                          </a:ln>
                          <a:solidFill>
                            <a:srgbClr val="060606"/>
                          </a:solidFill>
                        </a:rPr>
                        <a:t>        </a:t>
                      </a:r>
                      <a:r>
                        <a:rPr lang="en-US" altLang="zh-CN" sz="2000" dirty="0" err="1">
                          <a:ln>
                            <a:solidFill>
                              <a:srgbClr val="00000C"/>
                            </a:solidFill>
                          </a:ln>
                          <a:solidFill>
                            <a:srgbClr val="060606"/>
                          </a:solidFill>
                        </a:rPr>
                        <a:t>0</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0       </a:t>
                      </a:r>
                      <a:r>
                        <a:rPr lang="en-US" altLang="zh-CN" sz="2000" baseline="0" dirty="0">
                          <a:ln>
                            <a:solidFill>
                              <a:srgbClr val="00000C"/>
                            </a:solidFill>
                          </a:ln>
                          <a:solidFill>
                            <a:srgbClr val="060606"/>
                          </a:solidFill>
                        </a:rPr>
                        <a:t>  1       0       1        0        </a:t>
                      </a:r>
                      <a:r>
                        <a:rPr lang="en-US" altLang="zh-CN" sz="2000" baseline="0" dirty="0" err="1">
                          <a:ln>
                            <a:solidFill>
                              <a:srgbClr val="00000C"/>
                            </a:solidFill>
                          </a:ln>
                          <a:solidFill>
                            <a:srgbClr val="060606"/>
                          </a:solidFill>
                        </a:rPr>
                        <a:t>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2       0        1        0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0         3       2       0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000" dirty="0">
                          <a:ln>
                            <a:solidFill>
                              <a:srgbClr val="00000C"/>
                            </a:solidFill>
                          </a:ln>
                          <a:solidFill>
                            <a:srgbClr val="060606"/>
                          </a:solidFill>
                        </a:rPr>
                        <a:t>0</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4</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12</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18</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grpSp>
        <p:nvGrpSpPr>
          <p:cNvPr id="6" name="组合 36"/>
          <p:cNvGrpSpPr/>
          <p:nvPr/>
        </p:nvGrpSpPr>
        <p:grpSpPr>
          <a:xfrm>
            <a:off x="6385248" y="122709"/>
            <a:ext cx="5705152" cy="2261865"/>
            <a:chOff x="3131840" y="4293096"/>
            <a:chExt cx="5086305" cy="2261865"/>
          </a:xfrm>
        </p:grpSpPr>
        <p:sp>
          <p:nvSpPr>
            <p:cNvPr id="7" name="矩形 6"/>
            <p:cNvSpPr/>
            <p:nvPr/>
          </p:nvSpPr>
          <p:spPr>
            <a:xfrm>
              <a:off x="3131840" y="4293096"/>
              <a:ext cx="3600400" cy="476541"/>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a:t>
              </a:r>
              <a:r>
                <a:rPr lang="en-US" altLang="zh-CN" sz="2400" dirty="0">
                  <a:solidFill>
                    <a:srgbClr val="060606"/>
                  </a:solidFill>
                </a:rPr>
                <a:t>0</a:t>
              </a:r>
              <a:r>
                <a:rPr lang="zh-CN" altLang="en-US" sz="2400" dirty="0">
                  <a:solidFill>
                    <a:srgbClr val="060606"/>
                  </a:solidFill>
                </a:rPr>
                <a:t>） </a:t>
              </a:r>
              <a:r>
                <a:rPr lang="en-US" altLang="zh-CN" sz="2400" dirty="0">
                  <a:solidFill>
                    <a:srgbClr val="060606"/>
                  </a:solidFill>
                </a:rPr>
                <a:t>Z</a:t>
              </a:r>
              <a:r>
                <a:rPr lang="zh-CN" altLang="en-US" sz="2400" dirty="0">
                  <a:solidFill>
                    <a:srgbClr val="060606"/>
                  </a:solidFill>
                </a:rPr>
                <a:t>－</a:t>
              </a:r>
              <a:r>
                <a:rPr lang="en-US" altLang="zh-CN" sz="2400" dirty="0">
                  <a:solidFill>
                    <a:srgbClr val="060606"/>
                  </a:solidFill>
                </a:rPr>
                <a:t>3x</a:t>
              </a:r>
              <a:r>
                <a:rPr lang="en-US" altLang="zh-CN" sz="2400" baseline="-25000" dirty="0">
                  <a:solidFill>
                    <a:srgbClr val="060606"/>
                  </a:solidFill>
                </a:rPr>
                <a:t>1</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5x</a:t>
              </a:r>
              <a:r>
                <a:rPr lang="en-US" altLang="zh-CN" sz="2400" baseline="-25000" dirty="0">
                  <a:solidFill>
                    <a:srgbClr val="060606"/>
                  </a:solidFill>
                </a:rPr>
                <a:t>2</a:t>
              </a:r>
              <a:r>
                <a:rPr lang="en-US" altLang="zh-CN" sz="2400" dirty="0">
                  <a:solidFill>
                    <a:srgbClr val="060606"/>
                  </a:solidFill>
                </a:rPr>
                <a:t> = 0 </a:t>
              </a:r>
              <a:endParaRPr lang="en-US" altLang="zh-CN" sz="2400" dirty="0">
                <a:solidFill>
                  <a:srgbClr val="060606"/>
                </a:solidFill>
              </a:endParaRPr>
            </a:p>
          </p:txBody>
        </p:sp>
        <p:sp>
          <p:nvSpPr>
            <p:cNvPr id="8" name="矩形 7"/>
            <p:cNvSpPr/>
            <p:nvPr/>
          </p:nvSpPr>
          <p:spPr>
            <a:xfrm>
              <a:off x="3131840" y="4725144"/>
              <a:ext cx="2332690"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4</a:t>
              </a:r>
              <a:endParaRPr lang="zh-CN" altLang="en-US" dirty="0"/>
            </a:p>
          </p:txBody>
        </p:sp>
        <p:sp>
          <p:nvSpPr>
            <p:cNvPr id="9" name="矩形 8"/>
            <p:cNvSpPr/>
            <p:nvPr/>
          </p:nvSpPr>
          <p:spPr>
            <a:xfrm>
              <a:off x="3131840" y="5589240"/>
              <a:ext cx="3437159"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x</a:t>
              </a:r>
              <a:r>
                <a:rPr lang="en-US" altLang="zh-CN" sz="2400" baseline="-25000" dirty="0">
                  <a:solidFill>
                    <a:srgbClr val="060606"/>
                  </a:solidFill>
                </a:rPr>
                <a:t>5 </a:t>
              </a:r>
              <a:r>
                <a:rPr lang="en-US" altLang="zh-CN" sz="2400" dirty="0">
                  <a:solidFill>
                    <a:srgbClr val="060606"/>
                  </a:solidFill>
                </a:rPr>
                <a:t> = 18</a:t>
              </a:r>
              <a:endParaRPr lang="zh-CN" altLang="en-US" dirty="0"/>
            </a:p>
          </p:txBody>
        </p:sp>
        <p:sp>
          <p:nvSpPr>
            <p:cNvPr id="10" name="矩形 9"/>
            <p:cNvSpPr/>
            <p:nvPr/>
          </p:nvSpPr>
          <p:spPr>
            <a:xfrm>
              <a:off x="3131840" y="6093296"/>
              <a:ext cx="5086305" cy="461665"/>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4</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 </a:t>
              </a:r>
              <a:endParaRPr lang="zh-CN" altLang="en-US" sz="2400" dirty="0">
                <a:solidFill>
                  <a:srgbClr val="060606"/>
                </a:solidFill>
              </a:endParaRPr>
            </a:p>
          </p:txBody>
        </p:sp>
        <p:sp>
          <p:nvSpPr>
            <p:cNvPr id="11" name="矩形 10"/>
            <p:cNvSpPr/>
            <p:nvPr/>
          </p:nvSpPr>
          <p:spPr>
            <a:xfrm>
              <a:off x="3131840" y="5157192"/>
              <a:ext cx="2685351" cy="461665"/>
            </a:xfrm>
            <a:prstGeom prst="rect">
              <a:avLst/>
            </a:prstGeom>
          </p:spPr>
          <p:txBody>
            <a:bodyPr wrap="none">
              <a:spAutoFit/>
            </a:bodyPr>
            <a:lstStyle/>
            <a:p>
              <a:r>
                <a:rPr lang="zh-CN" altLang="en-US" sz="2400" dirty="0">
                  <a:solidFill>
                    <a:srgbClr val="060606"/>
                  </a:solidFill>
                </a:rPr>
                <a:t>（</a:t>
              </a:r>
              <a:r>
                <a:rPr lang="en-US" altLang="zh-CN" sz="2400" dirty="0">
                  <a:solidFill>
                    <a:srgbClr val="060606"/>
                  </a:solidFill>
                </a:rPr>
                <a:t>2</a:t>
              </a:r>
              <a:r>
                <a:rPr lang="zh-CN" altLang="en-US" sz="2400" dirty="0">
                  <a:solidFill>
                    <a:srgbClr val="060606"/>
                  </a:solidFill>
                </a:rPr>
                <a:t>）</a:t>
              </a:r>
              <a:r>
                <a:rPr lang="en-US" altLang="zh-CN" sz="2400" dirty="0">
                  <a:solidFill>
                    <a:srgbClr val="060606"/>
                  </a:solidFill>
                </a:rPr>
                <a:t> 2x</a:t>
              </a:r>
              <a:r>
                <a:rPr lang="en-US" altLang="zh-CN" sz="2400" baseline="-25000" dirty="0">
                  <a:solidFill>
                    <a:srgbClr val="060606"/>
                  </a:solidFill>
                </a:rPr>
                <a:t>2</a:t>
              </a:r>
              <a:r>
                <a:rPr lang="en-US" altLang="zh-CN" sz="2400" dirty="0">
                  <a:solidFill>
                    <a:srgbClr val="060606"/>
                  </a:solidFill>
                </a:rPr>
                <a:t>  +x</a:t>
              </a:r>
              <a:r>
                <a:rPr lang="en-US" altLang="zh-CN" sz="2400" baseline="-25000" dirty="0">
                  <a:solidFill>
                    <a:srgbClr val="060606"/>
                  </a:solidFill>
                </a:rPr>
                <a:t>4</a:t>
              </a:r>
              <a:r>
                <a:rPr lang="en-US" altLang="zh-CN" sz="2400" dirty="0">
                  <a:solidFill>
                    <a:srgbClr val="060606"/>
                  </a:solidFill>
                </a:rPr>
                <a:t> =12</a:t>
              </a:r>
              <a:endParaRPr lang="zh-CN" altLang="en-US" sz="2400" dirty="0">
                <a:solidFill>
                  <a:srgbClr val="060606"/>
                </a:solidFill>
              </a:endParaRPr>
            </a:p>
          </p:txBody>
        </p:sp>
      </p:grpSp>
      <p:sp>
        <p:nvSpPr>
          <p:cNvPr id="2" name="箭头: 上下 1"/>
          <p:cNvSpPr/>
          <p:nvPr/>
        </p:nvSpPr>
        <p:spPr>
          <a:xfrm>
            <a:off x="8188960" y="2509520"/>
            <a:ext cx="568960" cy="919480"/>
          </a:xfrm>
          <a:prstGeom prst="upDownArrow">
            <a:avLst/>
          </a:prstGeom>
          <a:noFill/>
          <a:ln>
            <a:solidFill>
              <a:srgbClr val="00F0C8"/>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3360" y="116632"/>
            <a:ext cx="11846560" cy="3744416"/>
          </a:xfrm>
        </p:spPr>
        <p:txBody>
          <a:bodyPr/>
          <a:lstStyle/>
          <a:p>
            <a:pPr>
              <a:buNone/>
            </a:pPr>
            <a:r>
              <a:rPr lang="zh-CN" altLang="en-US" sz="2400" b="1" dirty="0">
                <a:solidFill>
                  <a:srgbClr val="060606"/>
                </a:solidFill>
              </a:rPr>
              <a:t>第三步</a:t>
            </a:r>
            <a:r>
              <a:rPr lang="en-US" altLang="zh-CN" sz="2400" b="1" dirty="0">
                <a:solidFill>
                  <a:srgbClr val="060606"/>
                </a:solidFill>
              </a:rPr>
              <a:t>(</a:t>
            </a:r>
            <a:r>
              <a:rPr lang="zh-CN" altLang="en-US" sz="2400" b="1" dirty="0">
                <a:solidFill>
                  <a:srgbClr val="060606"/>
                </a:solidFill>
              </a:rPr>
              <a:t>判</a:t>
            </a:r>
            <a:r>
              <a:rPr lang="en-US" altLang="zh-CN" sz="2400" b="1" dirty="0">
                <a:solidFill>
                  <a:srgbClr val="060606"/>
                </a:solidFill>
              </a:rPr>
              <a:t>)</a:t>
            </a:r>
            <a:r>
              <a:rPr lang="zh-CN" altLang="en-US" sz="2400" b="1" dirty="0">
                <a:solidFill>
                  <a:srgbClr val="060606"/>
                </a:solidFill>
              </a:rPr>
              <a:t>、分</a:t>
            </a:r>
            <a:r>
              <a:rPr lang="en-US" altLang="zh-CN" sz="2400" b="1" dirty="0">
                <a:solidFill>
                  <a:srgbClr val="060606"/>
                </a:solidFill>
              </a:rPr>
              <a:t>3</a:t>
            </a:r>
            <a:r>
              <a:rPr lang="zh-CN" altLang="en-US" sz="2400" b="1" dirty="0">
                <a:solidFill>
                  <a:srgbClr val="060606"/>
                </a:solidFill>
              </a:rPr>
              <a:t>小步。</a:t>
            </a:r>
            <a:endParaRPr lang="en-US" altLang="zh-CN" sz="2400" b="1" dirty="0">
              <a:solidFill>
                <a:srgbClr val="060606"/>
              </a:solidFill>
            </a:endParaRPr>
          </a:p>
          <a:p>
            <a:pPr>
              <a:buNone/>
            </a:pPr>
            <a:r>
              <a:rPr lang="en-US" altLang="zh-CN" sz="2400" b="1" dirty="0">
                <a:solidFill>
                  <a:srgbClr val="060606"/>
                </a:solidFill>
              </a:rPr>
              <a:t>(3.1)</a:t>
            </a:r>
            <a:r>
              <a:rPr lang="zh-CN" altLang="en-US" sz="2400" b="1" dirty="0">
                <a:solidFill>
                  <a:srgbClr val="060606"/>
                </a:solidFill>
              </a:rPr>
              <a:t>表格的第一行是“检验数行”。</a:t>
            </a:r>
            <a:endParaRPr lang="en-US" altLang="zh-CN" sz="2400" b="1" dirty="0">
              <a:solidFill>
                <a:srgbClr val="060606"/>
              </a:solidFill>
            </a:endParaRPr>
          </a:p>
          <a:p>
            <a:pPr>
              <a:buNone/>
            </a:pPr>
            <a:r>
              <a:rPr lang="en-US" altLang="zh-CN" sz="2400" b="1" dirty="0">
                <a:solidFill>
                  <a:srgbClr val="060606"/>
                </a:solidFill>
              </a:rPr>
              <a:t>(3.2)(</a:t>
            </a:r>
            <a:r>
              <a:rPr lang="zh-CN" altLang="en-US" sz="2400" b="1" dirty="0">
                <a:solidFill>
                  <a:srgbClr val="060606"/>
                </a:solidFill>
              </a:rPr>
              <a:t>最优性判断</a:t>
            </a:r>
            <a:r>
              <a:rPr lang="en-US" altLang="zh-CN" sz="2400" b="1" dirty="0">
                <a:solidFill>
                  <a:srgbClr val="060606"/>
                </a:solidFill>
              </a:rPr>
              <a:t>)</a:t>
            </a:r>
            <a:r>
              <a:rPr lang="zh-CN" altLang="en-US" sz="2400" b="1" dirty="0">
                <a:solidFill>
                  <a:srgbClr val="060606"/>
                </a:solidFill>
              </a:rPr>
              <a:t>若检验数行没有</a:t>
            </a:r>
            <a:r>
              <a:rPr lang="zh-CN" altLang="en-US" sz="2400" b="1" dirty="0">
                <a:solidFill>
                  <a:srgbClr val="0000AC"/>
                </a:solidFill>
              </a:rPr>
              <a:t>负检验数</a:t>
            </a:r>
            <a:r>
              <a:rPr lang="zh-CN" altLang="en-US" sz="2400" b="1" dirty="0">
                <a:solidFill>
                  <a:srgbClr val="060606"/>
                </a:solidFill>
              </a:rPr>
              <a:t>，则转</a:t>
            </a:r>
            <a:r>
              <a:rPr lang="zh-CN" altLang="en-US" sz="2400" b="1" dirty="0">
                <a:solidFill>
                  <a:srgbClr val="0000AC"/>
                </a:solidFill>
              </a:rPr>
              <a:t>第五步</a:t>
            </a:r>
            <a:r>
              <a:rPr lang="zh-CN" altLang="en-US" sz="2400" b="1" dirty="0">
                <a:solidFill>
                  <a:srgbClr val="060606"/>
                </a:solidFill>
              </a:rPr>
              <a:t>得到一个最优解。否则转</a:t>
            </a:r>
            <a:r>
              <a:rPr lang="en-US" altLang="zh-CN" sz="2400" b="1" dirty="0">
                <a:solidFill>
                  <a:srgbClr val="060606"/>
                </a:solidFill>
              </a:rPr>
              <a:t>(3.3)</a:t>
            </a:r>
            <a:r>
              <a:rPr lang="zh-CN" altLang="en-US" sz="2400" b="1" dirty="0">
                <a:solidFill>
                  <a:srgbClr val="060606"/>
                </a:solidFill>
              </a:rPr>
              <a:t>。</a:t>
            </a:r>
            <a:endParaRPr lang="en-US" altLang="zh-CN" sz="2400" b="1" dirty="0">
              <a:solidFill>
                <a:srgbClr val="060606"/>
              </a:solidFill>
            </a:endParaRPr>
          </a:p>
          <a:p>
            <a:pPr>
              <a:buNone/>
            </a:pPr>
            <a:r>
              <a:rPr lang="en-US" altLang="zh-CN" sz="2400" b="1" dirty="0">
                <a:solidFill>
                  <a:srgbClr val="060606"/>
                </a:solidFill>
              </a:rPr>
              <a:t>(3.3)(</a:t>
            </a:r>
            <a:r>
              <a:rPr lang="zh-CN" altLang="en-US" sz="2400" b="1" dirty="0">
                <a:solidFill>
                  <a:srgbClr val="060606"/>
                </a:solidFill>
              </a:rPr>
              <a:t>没有最优解或无优性判定</a:t>
            </a:r>
            <a:r>
              <a:rPr lang="en-US" altLang="zh-CN" sz="2400" b="1" dirty="0">
                <a:solidFill>
                  <a:srgbClr val="060606"/>
                </a:solidFill>
              </a:rPr>
              <a:t>)</a:t>
            </a:r>
            <a:r>
              <a:rPr lang="zh-CN" altLang="en-US" sz="2400" b="1" dirty="0">
                <a:solidFill>
                  <a:srgbClr val="060606"/>
                </a:solidFill>
              </a:rPr>
              <a:t>若某个负检验数下面的列中没有正数，则本问题没有最优解，计算停止。若每个负检验数下面的列都有正数，转</a:t>
            </a:r>
            <a:r>
              <a:rPr lang="zh-CN" altLang="en-US" sz="2400" b="1" dirty="0">
                <a:solidFill>
                  <a:srgbClr val="0000AC"/>
                </a:solidFill>
              </a:rPr>
              <a:t>第四步</a:t>
            </a:r>
            <a:r>
              <a:rPr lang="zh-CN" altLang="en-US" sz="2400" b="1" dirty="0">
                <a:solidFill>
                  <a:srgbClr val="060606"/>
                </a:solidFill>
              </a:rPr>
              <a:t>。</a:t>
            </a:r>
            <a:endParaRPr lang="en-US" altLang="zh-CN" sz="2400" b="1" dirty="0">
              <a:solidFill>
                <a:srgbClr val="060606"/>
              </a:solidFill>
            </a:endParaRPr>
          </a:p>
        </p:txBody>
      </p:sp>
      <p:graphicFrame>
        <p:nvGraphicFramePr>
          <p:cNvPr id="44" name="表格 43"/>
          <p:cNvGraphicFramePr>
            <a:graphicFrameLocks noGrp="1"/>
          </p:cNvGraphicFramePr>
          <p:nvPr/>
        </p:nvGraphicFramePr>
        <p:xfrm>
          <a:off x="809433" y="2804441"/>
          <a:ext cx="11077767" cy="2304257"/>
        </p:xfrm>
        <a:graphic>
          <a:graphicData uri="http://schemas.openxmlformats.org/drawingml/2006/table">
            <a:tbl>
              <a:tblPr bandRow="1">
                <a:tableStyleId>{5C22544A-7EE6-4342-B048-85BDC9FD1C3A}</a:tableStyleId>
              </a:tblPr>
              <a:tblGrid>
                <a:gridCol w="4394486"/>
                <a:gridCol w="4028278"/>
                <a:gridCol w="2655003"/>
              </a:tblGrid>
              <a:tr h="442660">
                <a:tc rowSpan="2">
                  <a:txBody>
                    <a:bodyPr/>
                    <a:lstStyle/>
                    <a:p>
                      <a:r>
                        <a:rPr lang="zh-CN" altLang="en-US" sz="2000" dirty="0">
                          <a:ln>
                            <a:solidFill>
                              <a:srgbClr val="00000C"/>
                            </a:solidFill>
                          </a:ln>
                          <a:solidFill>
                            <a:srgbClr val="060606"/>
                          </a:solidFill>
                        </a:rPr>
                        <a:t>方程组                             基变量  </a:t>
                      </a:r>
                      <a:r>
                        <a:rPr lang="en-US" altLang="zh-CN" sz="2000" dirty="0">
                          <a:ln>
                            <a:solidFill>
                              <a:srgbClr val="00000C"/>
                            </a:solidFill>
                          </a:ln>
                          <a:solidFill>
                            <a:srgbClr val="060606"/>
                          </a:solidFill>
                        </a:rPr>
                        <a:t>Eq.</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                                              BV.</a:t>
                      </a:r>
                      <a:r>
                        <a:rPr lang="zh-CN" altLang="en-US" sz="2000" dirty="0">
                          <a:ln>
                            <a:solidFill>
                              <a:srgbClr val="00000C"/>
                            </a:solidFill>
                          </a:ln>
                          <a:solidFill>
                            <a:srgbClr val="060606"/>
                          </a:solidFill>
                        </a:rPr>
                        <a:t>     </a:t>
                      </a:r>
                      <a:endParaRPr lang="zh-CN" altLang="en-US" sz="2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pPr algn="ctr"/>
                      <a:r>
                        <a:rPr lang="zh-CN" altLang="en-US" sz="2000" dirty="0">
                          <a:ln>
                            <a:solidFill>
                              <a:srgbClr val="00000C"/>
                            </a:solidFill>
                          </a:ln>
                          <a:solidFill>
                            <a:srgbClr val="060606"/>
                          </a:solidFill>
                        </a:rPr>
                        <a:t>系数</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rowSpan="2">
                  <a:txBody>
                    <a:bodyPr/>
                    <a:lstStyle/>
                    <a:p>
                      <a:r>
                        <a:rPr lang="zh-CN" altLang="en-US" sz="2000" dirty="0">
                          <a:ln>
                            <a:solidFill>
                              <a:srgbClr val="00000C"/>
                            </a:solidFill>
                          </a:ln>
                          <a:solidFill>
                            <a:srgbClr val="060606"/>
                          </a:solidFill>
                        </a:rPr>
                        <a:t>方程右端      比值</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44266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060606"/>
                          </a:solidFill>
                        </a:rPr>
                        <a:t>Z</a:t>
                      </a:r>
                      <a:r>
                        <a:rPr lang="zh-CN" altLang="en-US" sz="2000" baseline="0" dirty="0">
                          <a:ln>
                            <a:solidFill>
                              <a:srgbClr val="00000C"/>
                            </a:solidFill>
                          </a:ln>
                          <a:solidFill>
                            <a:srgbClr val="060606"/>
                          </a:solidFill>
                        </a:rPr>
                        <a:t>        </a:t>
                      </a:r>
                      <a:r>
                        <a:rPr lang="en-US" altLang="zh-CN" sz="2000" baseline="0" dirty="0">
                          <a:ln>
                            <a:solidFill>
                              <a:srgbClr val="00000C"/>
                            </a:solidFill>
                          </a:ln>
                          <a:solidFill>
                            <a:srgbClr val="060606"/>
                          </a:solidFill>
                        </a:rPr>
                        <a:t>x1      x2     x3      x4      x5</a:t>
                      </a:r>
                      <a:endParaRPr lang="en-US" altLang="zh-CN"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FF0000"/>
                          </a:solidFill>
                        </a:rPr>
                        <a:t>（</a:t>
                      </a:r>
                      <a:r>
                        <a:rPr lang="en-US" altLang="zh-CN" sz="2000" dirty="0">
                          <a:solidFill>
                            <a:srgbClr val="FF0000"/>
                          </a:solidFill>
                        </a:rPr>
                        <a:t>0</a:t>
                      </a:r>
                      <a:r>
                        <a:rPr lang="zh-CN" altLang="en-US" sz="2000" dirty="0">
                          <a:solidFill>
                            <a:srgbClr val="FF0000"/>
                          </a:solidFill>
                        </a:rPr>
                        <a:t>） </a:t>
                      </a:r>
                      <a:r>
                        <a:rPr lang="en-US" altLang="zh-CN" sz="2000" dirty="0">
                          <a:solidFill>
                            <a:srgbClr val="FF0000"/>
                          </a:solidFill>
                        </a:rPr>
                        <a:t>z</a:t>
                      </a:r>
                      <a:r>
                        <a:rPr lang="zh-CN" altLang="en-US" sz="2000" dirty="0">
                          <a:solidFill>
                            <a:srgbClr val="FF0000"/>
                          </a:solidFill>
                        </a:rPr>
                        <a:t>－</a:t>
                      </a:r>
                      <a:r>
                        <a:rPr lang="en-US" altLang="zh-CN" sz="2000" dirty="0">
                          <a:solidFill>
                            <a:srgbClr val="FF0000"/>
                          </a:solidFill>
                        </a:rPr>
                        <a:t>3x</a:t>
                      </a:r>
                      <a:r>
                        <a:rPr lang="en-US" altLang="zh-CN" sz="2000" baseline="-25000" dirty="0">
                          <a:solidFill>
                            <a:srgbClr val="FF0000"/>
                          </a:solidFill>
                        </a:rPr>
                        <a:t>1</a:t>
                      </a:r>
                      <a:r>
                        <a:rPr lang="en-US" altLang="zh-CN" sz="2000" dirty="0">
                          <a:solidFill>
                            <a:srgbClr val="FF0000"/>
                          </a:solidFill>
                        </a:rPr>
                        <a:t> </a:t>
                      </a:r>
                      <a:r>
                        <a:rPr lang="zh-CN" altLang="en-US" sz="2000" dirty="0">
                          <a:solidFill>
                            <a:srgbClr val="FF0000"/>
                          </a:solidFill>
                        </a:rPr>
                        <a:t>－ </a:t>
                      </a:r>
                      <a:r>
                        <a:rPr lang="en-US" altLang="zh-CN" sz="2000" dirty="0">
                          <a:solidFill>
                            <a:srgbClr val="FF0000"/>
                          </a:solidFill>
                        </a:rPr>
                        <a:t>5x</a:t>
                      </a:r>
                      <a:r>
                        <a:rPr lang="en-US" altLang="zh-CN" sz="2000" baseline="-25000" dirty="0">
                          <a:solidFill>
                            <a:srgbClr val="FF0000"/>
                          </a:solidFill>
                        </a:rPr>
                        <a:t>2</a:t>
                      </a:r>
                      <a:r>
                        <a:rPr lang="en-US" altLang="zh-CN" sz="2000" dirty="0">
                          <a:solidFill>
                            <a:srgbClr val="FF0000"/>
                          </a:solidFill>
                        </a:rPr>
                        <a:t> = 0      z         (0)</a:t>
                      </a:r>
                      <a:endParaRPr lang="en-US" altLang="zh-CN" sz="20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1</a:t>
                      </a:r>
                      <a:r>
                        <a:rPr lang="zh-CN" altLang="en-US" sz="2000" dirty="0">
                          <a:solidFill>
                            <a:srgbClr val="060606"/>
                          </a:solidFill>
                        </a:rPr>
                        <a:t>）</a:t>
                      </a:r>
                      <a:r>
                        <a:rPr lang="en-US" altLang="zh-CN" sz="2000" dirty="0">
                          <a:solidFill>
                            <a:srgbClr val="060606"/>
                          </a:solidFill>
                        </a:rPr>
                        <a:t> x</a:t>
                      </a:r>
                      <a:r>
                        <a:rPr lang="en-US" altLang="zh-CN" sz="2000" baseline="-25000" dirty="0">
                          <a:solidFill>
                            <a:srgbClr val="060606"/>
                          </a:solidFill>
                        </a:rPr>
                        <a:t>1 </a:t>
                      </a:r>
                      <a:r>
                        <a:rPr lang="en-US" altLang="zh-CN" sz="2000" dirty="0">
                          <a:solidFill>
                            <a:srgbClr val="060606"/>
                          </a:solidFill>
                        </a:rPr>
                        <a:t>+ x</a:t>
                      </a:r>
                      <a:r>
                        <a:rPr lang="en-US" altLang="zh-CN" sz="2000" baseline="-25000" dirty="0">
                          <a:solidFill>
                            <a:srgbClr val="060606"/>
                          </a:solidFill>
                        </a:rPr>
                        <a:t>3</a:t>
                      </a:r>
                      <a:r>
                        <a:rPr lang="en-US" altLang="zh-CN" sz="2000" dirty="0">
                          <a:solidFill>
                            <a:srgbClr val="060606"/>
                          </a:solidFill>
                        </a:rPr>
                        <a:t>= 4                    x</a:t>
                      </a:r>
                      <a:r>
                        <a:rPr lang="en-US" altLang="zh-CN" sz="2000" baseline="-25000" dirty="0">
                          <a:solidFill>
                            <a:srgbClr val="060606"/>
                          </a:solidFill>
                        </a:rPr>
                        <a:t>3</a:t>
                      </a:r>
                      <a:r>
                        <a:rPr lang="en-US" altLang="zh-CN" sz="2000" baseline="0" dirty="0">
                          <a:solidFill>
                            <a:srgbClr val="060606"/>
                          </a:solidFill>
                        </a:rPr>
                        <a:t>       (1)</a:t>
                      </a:r>
                      <a:endParaRPr lang="en-US" altLang="zh-CN" sz="20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2</a:t>
                      </a:r>
                      <a:r>
                        <a:rPr lang="zh-CN" altLang="en-US" sz="2000" dirty="0">
                          <a:solidFill>
                            <a:srgbClr val="060606"/>
                          </a:solidFill>
                        </a:rPr>
                        <a:t>）</a:t>
                      </a:r>
                      <a:r>
                        <a:rPr lang="en-US" altLang="zh-CN" sz="2000" dirty="0">
                          <a:solidFill>
                            <a:srgbClr val="060606"/>
                          </a:solidFill>
                        </a:rPr>
                        <a:t> 2x</a:t>
                      </a:r>
                      <a:r>
                        <a:rPr lang="en-US" altLang="zh-CN" sz="2000" baseline="-25000" dirty="0">
                          <a:solidFill>
                            <a:srgbClr val="060606"/>
                          </a:solidFill>
                        </a:rPr>
                        <a:t>2</a:t>
                      </a:r>
                      <a:r>
                        <a:rPr lang="en-US" altLang="zh-CN" sz="2000" dirty="0">
                          <a:solidFill>
                            <a:srgbClr val="060606"/>
                          </a:solidFill>
                        </a:rPr>
                        <a:t>  +x</a:t>
                      </a:r>
                      <a:r>
                        <a:rPr lang="en-US" altLang="zh-CN" sz="2000" baseline="-25000" dirty="0">
                          <a:solidFill>
                            <a:srgbClr val="060606"/>
                          </a:solidFill>
                        </a:rPr>
                        <a:t>4</a:t>
                      </a:r>
                      <a:r>
                        <a:rPr lang="en-US" altLang="zh-CN" sz="2000" dirty="0">
                          <a:solidFill>
                            <a:srgbClr val="060606"/>
                          </a:solidFill>
                        </a:rPr>
                        <a:t> =12               x</a:t>
                      </a:r>
                      <a:r>
                        <a:rPr lang="en-US" altLang="zh-CN" sz="2000" baseline="-25000" dirty="0">
                          <a:solidFill>
                            <a:srgbClr val="060606"/>
                          </a:solidFill>
                        </a:rPr>
                        <a:t>4</a:t>
                      </a:r>
                      <a:r>
                        <a:rPr lang="en-US" altLang="zh-CN" sz="2000" baseline="0" dirty="0">
                          <a:solidFill>
                            <a:srgbClr val="060606"/>
                          </a:solidFill>
                        </a:rPr>
                        <a:t>       (2)</a:t>
                      </a:r>
                      <a:endParaRPr lang="en-US" altLang="zh-CN" sz="20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3</a:t>
                      </a:r>
                      <a:r>
                        <a:rPr lang="zh-CN" altLang="en-US" sz="2000" dirty="0">
                          <a:solidFill>
                            <a:srgbClr val="060606"/>
                          </a:solidFill>
                        </a:rPr>
                        <a:t>）</a:t>
                      </a:r>
                      <a:r>
                        <a:rPr lang="en-US" altLang="zh-CN" sz="2000" dirty="0">
                          <a:solidFill>
                            <a:srgbClr val="060606"/>
                          </a:solidFill>
                        </a:rPr>
                        <a:t> 3x</a:t>
                      </a:r>
                      <a:r>
                        <a:rPr lang="en-US" altLang="zh-CN" sz="2000" baseline="-25000" dirty="0">
                          <a:solidFill>
                            <a:srgbClr val="060606"/>
                          </a:solidFill>
                        </a:rPr>
                        <a:t>1</a:t>
                      </a:r>
                      <a:r>
                        <a:rPr lang="en-US" altLang="zh-CN" sz="2000" dirty="0">
                          <a:solidFill>
                            <a:srgbClr val="060606"/>
                          </a:solidFill>
                        </a:rPr>
                        <a:t>+2x</a:t>
                      </a:r>
                      <a:r>
                        <a:rPr lang="en-US" altLang="zh-CN" sz="2000" baseline="-25000" dirty="0">
                          <a:solidFill>
                            <a:srgbClr val="060606"/>
                          </a:solidFill>
                        </a:rPr>
                        <a:t>2</a:t>
                      </a:r>
                      <a:r>
                        <a:rPr lang="en-US" altLang="zh-CN" sz="2000" dirty="0">
                          <a:solidFill>
                            <a:srgbClr val="060606"/>
                          </a:solidFill>
                        </a:rPr>
                        <a:t> + x</a:t>
                      </a:r>
                      <a:r>
                        <a:rPr lang="en-US" altLang="zh-CN" sz="2000" baseline="-25000" dirty="0">
                          <a:solidFill>
                            <a:srgbClr val="060606"/>
                          </a:solidFill>
                        </a:rPr>
                        <a:t>5 </a:t>
                      </a:r>
                      <a:r>
                        <a:rPr lang="en-US" altLang="zh-CN" sz="2000" dirty="0">
                          <a:solidFill>
                            <a:srgbClr val="060606"/>
                          </a:solidFill>
                        </a:rPr>
                        <a:t> = 18     x</a:t>
                      </a:r>
                      <a:r>
                        <a:rPr lang="en-US" altLang="zh-CN" sz="2000" baseline="-25000" dirty="0">
                          <a:solidFill>
                            <a:srgbClr val="060606"/>
                          </a:solidFill>
                        </a:rPr>
                        <a:t>5</a:t>
                      </a:r>
                      <a:r>
                        <a:rPr lang="en-US" altLang="zh-CN" sz="2000" baseline="0" dirty="0">
                          <a:solidFill>
                            <a:srgbClr val="060606"/>
                          </a:solidFill>
                        </a:rPr>
                        <a:t>        (3)</a:t>
                      </a:r>
                      <a:endParaRPr lang="zh-CN" altLang="en-US" sz="20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000" dirty="0">
                          <a:ln>
                            <a:solidFill>
                              <a:srgbClr val="00000C"/>
                            </a:solidFill>
                          </a:ln>
                          <a:solidFill>
                            <a:srgbClr val="FF0000"/>
                          </a:solidFill>
                        </a:rPr>
                        <a:t>1        -3      -5      0        </a:t>
                      </a:r>
                      <a:r>
                        <a:rPr lang="en-US" altLang="zh-CN" sz="2000" dirty="0" err="1">
                          <a:ln>
                            <a:solidFill>
                              <a:srgbClr val="00000C"/>
                            </a:solidFill>
                          </a:ln>
                          <a:solidFill>
                            <a:srgbClr val="FF0000"/>
                          </a:solidFill>
                        </a:rPr>
                        <a:t>0</a:t>
                      </a:r>
                      <a:r>
                        <a:rPr lang="en-US" altLang="zh-CN" sz="2000" dirty="0">
                          <a:ln>
                            <a:solidFill>
                              <a:srgbClr val="00000C"/>
                            </a:solidFill>
                          </a:ln>
                          <a:solidFill>
                            <a:srgbClr val="FF0000"/>
                          </a:solidFill>
                        </a:rPr>
                        <a:t>        </a:t>
                      </a:r>
                      <a:r>
                        <a:rPr lang="en-US" altLang="zh-CN" sz="2000" dirty="0" err="1">
                          <a:ln>
                            <a:solidFill>
                              <a:srgbClr val="00000C"/>
                            </a:solidFill>
                          </a:ln>
                          <a:solidFill>
                            <a:srgbClr val="FF0000"/>
                          </a:solidFill>
                        </a:rPr>
                        <a:t>0</a:t>
                      </a:r>
                      <a:endParaRPr lang="en-US" altLang="zh-CN" sz="2000" dirty="0">
                        <a:ln>
                          <a:solidFill>
                            <a:srgbClr val="00000C"/>
                          </a:solidFill>
                        </a:ln>
                        <a:solidFill>
                          <a:srgbClr val="FF0000"/>
                        </a:solidFill>
                      </a:endParaRPr>
                    </a:p>
                    <a:p>
                      <a:r>
                        <a:rPr lang="en-US" altLang="zh-CN" sz="2000" dirty="0">
                          <a:ln>
                            <a:solidFill>
                              <a:srgbClr val="00000C"/>
                            </a:solidFill>
                          </a:ln>
                          <a:solidFill>
                            <a:srgbClr val="060606"/>
                          </a:solidFill>
                        </a:rPr>
                        <a:t>0       </a:t>
                      </a:r>
                      <a:r>
                        <a:rPr lang="en-US" altLang="zh-CN" sz="2000" baseline="0" dirty="0">
                          <a:ln>
                            <a:solidFill>
                              <a:srgbClr val="00000C"/>
                            </a:solidFill>
                          </a:ln>
                          <a:solidFill>
                            <a:srgbClr val="060606"/>
                          </a:solidFill>
                        </a:rPr>
                        <a:t>  1       0       1        0        </a:t>
                      </a:r>
                      <a:r>
                        <a:rPr lang="en-US" altLang="zh-CN" sz="2000" baseline="0" dirty="0" err="1">
                          <a:ln>
                            <a:solidFill>
                              <a:srgbClr val="00000C"/>
                            </a:solidFill>
                          </a:ln>
                          <a:solidFill>
                            <a:srgbClr val="060606"/>
                          </a:solidFill>
                        </a:rPr>
                        <a:t>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2       0        1        0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0         3       2       0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000" dirty="0">
                          <a:ln>
                            <a:solidFill>
                              <a:srgbClr val="00000C"/>
                            </a:solidFill>
                          </a:ln>
                          <a:solidFill>
                            <a:srgbClr val="060606"/>
                          </a:solidFill>
                        </a:rPr>
                        <a:t>0</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4</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12</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18</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矩形 1"/>
          <p:cNvSpPr/>
          <p:nvPr/>
        </p:nvSpPr>
        <p:spPr>
          <a:xfrm>
            <a:off x="5720080" y="3718560"/>
            <a:ext cx="3434080" cy="304800"/>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3840" y="44624"/>
            <a:ext cx="11775440" cy="2808312"/>
          </a:xfrm>
        </p:spPr>
        <p:txBody>
          <a:bodyPr/>
          <a:lstStyle/>
          <a:p>
            <a:pPr>
              <a:lnSpc>
                <a:spcPts val="2100"/>
              </a:lnSpc>
              <a:buNone/>
            </a:pPr>
            <a:r>
              <a:rPr lang="zh-CN" altLang="en-US" sz="2400" b="1" dirty="0">
                <a:solidFill>
                  <a:srgbClr val="060606"/>
                </a:solidFill>
              </a:rPr>
              <a:t>第四步</a:t>
            </a:r>
            <a:r>
              <a:rPr lang="en-US" altLang="zh-CN" sz="2400" b="1" dirty="0">
                <a:solidFill>
                  <a:srgbClr val="060606"/>
                </a:solidFill>
              </a:rPr>
              <a:t>(</a:t>
            </a:r>
            <a:r>
              <a:rPr lang="zh-CN" altLang="en-US" sz="2400" b="1" dirty="0">
                <a:solidFill>
                  <a:srgbClr val="060606"/>
                </a:solidFill>
              </a:rPr>
              <a:t>算</a:t>
            </a:r>
            <a:r>
              <a:rPr lang="en-US" altLang="zh-CN" sz="2400" b="1" dirty="0">
                <a:solidFill>
                  <a:srgbClr val="060606"/>
                </a:solidFill>
              </a:rPr>
              <a:t>)</a:t>
            </a:r>
            <a:r>
              <a:rPr lang="zh-CN" altLang="en-US" sz="2400" b="1" dirty="0">
                <a:solidFill>
                  <a:srgbClr val="060606"/>
                </a:solidFill>
              </a:rPr>
              <a:t>、定主元，换基，判，分</a:t>
            </a:r>
            <a:r>
              <a:rPr lang="en-US" altLang="zh-CN" sz="2400" b="1" dirty="0">
                <a:solidFill>
                  <a:srgbClr val="060606"/>
                </a:solidFill>
              </a:rPr>
              <a:t>4</a:t>
            </a:r>
            <a:r>
              <a:rPr lang="zh-CN" altLang="en-US" sz="2400" b="1" dirty="0">
                <a:solidFill>
                  <a:srgbClr val="060606"/>
                </a:solidFill>
              </a:rPr>
              <a:t>小步。</a:t>
            </a:r>
            <a:r>
              <a:rPr lang="en-US" altLang="zh-CN" sz="2400" b="1" dirty="0">
                <a:solidFill>
                  <a:srgbClr val="060606"/>
                </a:solidFill>
              </a:rPr>
              <a:t>(</a:t>
            </a:r>
            <a:r>
              <a:rPr lang="zh-CN" altLang="en-US" sz="2400" b="1" dirty="0">
                <a:solidFill>
                  <a:srgbClr val="060606"/>
                </a:solidFill>
              </a:rPr>
              <a:t>迭代</a:t>
            </a:r>
            <a:r>
              <a:rPr lang="en-US" altLang="zh-CN" sz="2400" b="1" dirty="0">
                <a:solidFill>
                  <a:srgbClr val="060606"/>
                </a:solidFill>
              </a:rPr>
              <a:t>)</a:t>
            </a:r>
            <a:endParaRPr lang="en-US" altLang="zh-CN" sz="2400" b="1" dirty="0">
              <a:solidFill>
                <a:srgbClr val="060606"/>
              </a:solidFill>
            </a:endParaRPr>
          </a:p>
          <a:p>
            <a:pPr>
              <a:lnSpc>
                <a:spcPts val="2100"/>
              </a:lnSpc>
              <a:buNone/>
            </a:pPr>
            <a:r>
              <a:rPr lang="en-US" altLang="zh-CN" sz="2400" b="1" dirty="0">
                <a:solidFill>
                  <a:srgbClr val="060606"/>
                </a:solidFill>
              </a:rPr>
              <a:t>(4.1)</a:t>
            </a:r>
            <a:r>
              <a:rPr lang="zh-CN" altLang="en-US" sz="2400" b="1" dirty="0">
                <a:solidFill>
                  <a:srgbClr val="060606"/>
                </a:solidFill>
              </a:rPr>
              <a:t>换入变量的确定。</a:t>
            </a:r>
            <a:endParaRPr lang="en-US" altLang="zh-CN" sz="2400" b="1" dirty="0">
              <a:solidFill>
                <a:srgbClr val="060606"/>
              </a:solidFill>
            </a:endParaRPr>
          </a:p>
          <a:p>
            <a:pPr>
              <a:lnSpc>
                <a:spcPts val="2100"/>
              </a:lnSpc>
              <a:buNone/>
            </a:pPr>
            <a:r>
              <a:rPr lang="en-US" altLang="zh-CN" sz="2400" b="1" dirty="0">
                <a:solidFill>
                  <a:srgbClr val="060606"/>
                </a:solidFill>
              </a:rPr>
              <a:t>(4.2)</a:t>
            </a:r>
            <a:r>
              <a:rPr lang="zh-CN" altLang="en-US" sz="2400" b="1" dirty="0">
                <a:solidFill>
                  <a:srgbClr val="060606"/>
                </a:solidFill>
              </a:rPr>
              <a:t>换出变量得确定。</a:t>
            </a:r>
            <a:endParaRPr lang="en-US" altLang="zh-CN" sz="2400" b="1" dirty="0">
              <a:solidFill>
                <a:srgbClr val="060606"/>
              </a:solidFill>
            </a:endParaRPr>
          </a:p>
          <a:p>
            <a:pPr>
              <a:lnSpc>
                <a:spcPts val="2100"/>
              </a:lnSpc>
              <a:buNone/>
            </a:pPr>
            <a:r>
              <a:rPr lang="en-US" altLang="zh-CN" sz="2400" b="1" dirty="0">
                <a:solidFill>
                  <a:srgbClr val="060606"/>
                </a:solidFill>
              </a:rPr>
              <a:t>(4.3)</a:t>
            </a:r>
            <a:r>
              <a:rPr lang="zh-CN" altLang="en-US" sz="2400" b="1" dirty="0">
                <a:solidFill>
                  <a:srgbClr val="060606"/>
                </a:solidFill>
              </a:rPr>
              <a:t>变为恰当形式。</a:t>
            </a:r>
            <a:endParaRPr lang="en-US" altLang="zh-CN" sz="2400" b="1" dirty="0">
              <a:solidFill>
                <a:srgbClr val="060606"/>
              </a:solidFill>
            </a:endParaRPr>
          </a:p>
          <a:p>
            <a:pPr>
              <a:lnSpc>
                <a:spcPts val="2100"/>
              </a:lnSpc>
              <a:buNone/>
            </a:pPr>
            <a:r>
              <a:rPr lang="en-US" altLang="zh-CN" sz="2400" b="1" dirty="0">
                <a:solidFill>
                  <a:srgbClr val="060606"/>
                </a:solidFill>
              </a:rPr>
              <a:t>(4.4)</a:t>
            </a:r>
            <a:r>
              <a:rPr lang="zh-CN" altLang="en-US" sz="2400" b="1" dirty="0">
                <a:solidFill>
                  <a:srgbClr val="060606"/>
                </a:solidFill>
              </a:rPr>
              <a:t>判。</a:t>
            </a:r>
            <a:r>
              <a:rPr lang="en-US" altLang="zh-CN" sz="2400" b="1" dirty="0">
                <a:solidFill>
                  <a:srgbClr val="060606"/>
                </a:solidFill>
              </a:rPr>
              <a:t>(</a:t>
            </a:r>
            <a:r>
              <a:rPr lang="zh-CN" altLang="en-US" sz="2400" b="1" dirty="0">
                <a:solidFill>
                  <a:srgbClr val="060606"/>
                </a:solidFill>
              </a:rPr>
              <a:t>迭代判定</a:t>
            </a:r>
            <a:r>
              <a:rPr lang="en-US" altLang="zh-CN" sz="2400" b="1" dirty="0">
                <a:solidFill>
                  <a:srgbClr val="060606"/>
                </a:solidFill>
              </a:rPr>
              <a:t>)</a:t>
            </a:r>
            <a:endParaRPr lang="en-US" altLang="zh-CN" sz="2400" b="1" dirty="0">
              <a:solidFill>
                <a:srgbClr val="060606"/>
              </a:solidFill>
            </a:endParaRPr>
          </a:p>
        </p:txBody>
      </p:sp>
      <p:graphicFrame>
        <p:nvGraphicFramePr>
          <p:cNvPr id="44" name="表格 43"/>
          <p:cNvGraphicFramePr>
            <a:graphicFrameLocks noGrp="1"/>
          </p:cNvGraphicFramePr>
          <p:nvPr/>
        </p:nvGraphicFramePr>
        <p:xfrm>
          <a:off x="314960" y="2538771"/>
          <a:ext cx="11775439" cy="2304257"/>
        </p:xfrm>
        <a:graphic>
          <a:graphicData uri="http://schemas.openxmlformats.org/drawingml/2006/table">
            <a:tbl>
              <a:tblPr bandRow="1">
                <a:tableStyleId>{5C22544A-7EE6-4342-B048-85BDC9FD1C3A}</a:tableStyleId>
              </a:tblPr>
              <a:tblGrid>
                <a:gridCol w="4671248"/>
                <a:gridCol w="4281977"/>
                <a:gridCol w="2822214"/>
              </a:tblGrid>
              <a:tr h="442660">
                <a:tc rowSpan="2">
                  <a:txBody>
                    <a:bodyPr/>
                    <a:lstStyle/>
                    <a:p>
                      <a:r>
                        <a:rPr lang="zh-CN" altLang="en-US" dirty="0">
                          <a:ln>
                            <a:solidFill>
                              <a:srgbClr val="00000C"/>
                            </a:solidFill>
                          </a:ln>
                          <a:solidFill>
                            <a:srgbClr val="060606"/>
                          </a:solidFill>
                        </a:rPr>
                        <a:t>方程组                             基变量  </a:t>
                      </a:r>
                      <a:r>
                        <a:rPr lang="en-US" altLang="zh-CN" dirty="0">
                          <a:ln>
                            <a:solidFill>
                              <a:srgbClr val="00000C"/>
                            </a:solidFill>
                          </a:ln>
                          <a:solidFill>
                            <a:srgbClr val="060606"/>
                          </a:solidFill>
                        </a:rPr>
                        <a:t>Eq.</a:t>
                      </a:r>
                      <a:endParaRPr lang="en-US" altLang="zh-CN" dirty="0">
                        <a:ln>
                          <a:solidFill>
                            <a:srgbClr val="00000C"/>
                          </a:solidFill>
                        </a:ln>
                        <a:solidFill>
                          <a:srgbClr val="060606"/>
                        </a:solidFill>
                      </a:endParaRPr>
                    </a:p>
                    <a:p>
                      <a:r>
                        <a:rPr lang="en-US" altLang="zh-CN" dirty="0">
                          <a:ln>
                            <a:solidFill>
                              <a:srgbClr val="00000C"/>
                            </a:solidFill>
                          </a:ln>
                          <a:solidFill>
                            <a:srgbClr val="060606"/>
                          </a:solidFill>
                        </a:rPr>
                        <a:t>                                              BV.</a:t>
                      </a:r>
                      <a:r>
                        <a:rPr lang="zh-CN" altLang="en-US" dirty="0">
                          <a:ln>
                            <a:solidFill>
                              <a:srgbClr val="00000C"/>
                            </a:solidFill>
                          </a:ln>
                          <a:solidFill>
                            <a:srgbClr val="060606"/>
                          </a:solidFill>
                        </a:rPr>
                        <a:t>     </a:t>
                      </a:r>
                      <a:endParaRPr lang="zh-CN" altLang="en-US"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pPr algn="ctr"/>
                      <a:r>
                        <a:rPr lang="zh-CN" altLang="en-US" dirty="0">
                          <a:ln>
                            <a:solidFill>
                              <a:srgbClr val="00000C"/>
                            </a:solidFill>
                          </a:ln>
                          <a:solidFill>
                            <a:srgbClr val="060606"/>
                          </a:solidFill>
                        </a:rPr>
                        <a:t>系数</a:t>
                      </a:r>
                      <a:endParaRPr lang="zh-CN" altLang="en-US"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rowSpan="2">
                  <a:txBody>
                    <a:bodyPr/>
                    <a:lstStyle/>
                    <a:p>
                      <a:r>
                        <a:rPr lang="zh-CN" altLang="en-US" dirty="0">
                          <a:ln>
                            <a:solidFill>
                              <a:srgbClr val="00000C"/>
                            </a:solidFill>
                          </a:ln>
                          <a:solidFill>
                            <a:srgbClr val="060606"/>
                          </a:solidFill>
                        </a:rPr>
                        <a:t>方程右端      比值</a:t>
                      </a:r>
                      <a:endParaRPr lang="zh-CN" altLang="en-US"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44266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dirty="0">
                          <a:ln>
                            <a:solidFill>
                              <a:srgbClr val="00000C"/>
                            </a:solidFill>
                          </a:ln>
                          <a:solidFill>
                            <a:srgbClr val="060606"/>
                          </a:solidFill>
                        </a:rPr>
                        <a:t>Z</a:t>
                      </a:r>
                      <a:r>
                        <a:rPr lang="zh-CN" altLang="en-US" baseline="0" dirty="0">
                          <a:ln>
                            <a:solidFill>
                              <a:srgbClr val="00000C"/>
                            </a:solidFill>
                          </a:ln>
                          <a:solidFill>
                            <a:srgbClr val="060606"/>
                          </a:solidFill>
                        </a:rPr>
                        <a:t>        </a:t>
                      </a:r>
                      <a:r>
                        <a:rPr lang="en-US" altLang="zh-CN" baseline="0" dirty="0">
                          <a:ln>
                            <a:solidFill>
                              <a:srgbClr val="00000C"/>
                            </a:solidFill>
                          </a:ln>
                          <a:solidFill>
                            <a:srgbClr val="060606"/>
                          </a:solidFill>
                        </a:rPr>
                        <a:t>x1      x2     x3      x4      x5</a:t>
                      </a:r>
                      <a:endParaRPr lang="en-US" altLang="zh-CN"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solidFill>
                            <a:srgbClr val="FF0000"/>
                          </a:solidFill>
                        </a:rPr>
                        <a:t>（</a:t>
                      </a:r>
                      <a:r>
                        <a:rPr lang="en-US" altLang="zh-CN" sz="1800" dirty="0">
                          <a:solidFill>
                            <a:srgbClr val="FF0000"/>
                          </a:solidFill>
                        </a:rPr>
                        <a:t>0</a:t>
                      </a:r>
                      <a:r>
                        <a:rPr lang="zh-CN" altLang="en-US" sz="1800" dirty="0">
                          <a:solidFill>
                            <a:srgbClr val="FF0000"/>
                          </a:solidFill>
                        </a:rPr>
                        <a:t>） </a:t>
                      </a:r>
                      <a:r>
                        <a:rPr lang="en-US" altLang="zh-CN" sz="1800" dirty="0">
                          <a:solidFill>
                            <a:srgbClr val="FF0000"/>
                          </a:solidFill>
                        </a:rPr>
                        <a:t>z</a:t>
                      </a:r>
                      <a:r>
                        <a:rPr lang="zh-CN" altLang="en-US" sz="1800" dirty="0">
                          <a:solidFill>
                            <a:srgbClr val="FF0000"/>
                          </a:solidFill>
                        </a:rPr>
                        <a:t>－</a:t>
                      </a:r>
                      <a:r>
                        <a:rPr lang="en-US" altLang="zh-CN" sz="1800" dirty="0">
                          <a:solidFill>
                            <a:srgbClr val="FF0000"/>
                          </a:solidFill>
                        </a:rPr>
                        <a:t>3x</a:t>
                      </a:r>
                      <a:r>
                        <a:rPr lang="en-US" altLang="zh-CN" sz="1800" baseline="-25000" dirty="0">
                          <a:solidFill>
                            <a:srgbClr val="FF0000"/>
                          </a:solidFill>
                        </a:rPr>
                        <a:t>1</a:t>
                      </a:r>
                      <a:r>
                        <a:rPr lang="en-US" altLang="zh-CN" sz="1800" dirty="0">
                          <a:solidFill>
                            <a:srgbClr val="FF0000"/>
                          </a:solidFill>
                        </a:rPr>
                        <a:t> </a:t>
                      </a:r>
                      <a:r>
                        <a:rPr lang="zh-CN" altLang="en-US" sz="1800" dirty="0">
                          <a:solidFill>
                            <a:srgbClr val="FF0000"/>
                          </a:solidFill>
                        </a:rPr>
                        <a:t>－ </a:t>
                      </a:r>
                      <a:r>
                        <a:rPr lang="en-US" altLang="zh-CN" sz="1800" dirty="0">
                          <a:solidFill>
                            <a:srgbClr val="FF0000"/>
                          </a:solidFill>
                        </a:rPr>
                        <a:t>5x</a:t>
                      </a:r>
                      <a:r>
                        <a:rPr lang="en-US" altLang="zh-CN" sz="1800" baseline="-25000" dirty="0">
                          <a:solidFill>
                            <a:srgbClr val="FF0000"/>
                          </a:solidFill>
                        </a:rPr>
                        <a:t>2</a:t>
                      </a:r>
                      <a:r>
                        <a:rPr lang="en-US" altLang="zh-CN" sz="1800" dirty="0">
                          <a:solidFill>
                            <a:srgbClr val="FF0000"/>
                          </a:solidFill>
                        </a:rPr>
                        <a:t> = 0      z         (0)</a:t>
                      </a:r>
                      <a:endParaRPr lang="en-US" altLang="zh-CN" sz="18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solidFill>
                            <a:srgbClr val="060606"/>
                          </a:solidFill>
                        </a:rPr>
                        <a:t>（</a:t>
                      </a:r>
                      <a:r>
                        <a:rPr lang="en-US" altLang="zh-CN" sz="1800" dirty="0">
                          <a:solidFill>
                            <a:srgbClr val="060606"/>
                          </a:solidFill>
                        </a:rPr>
                        <a:t>1</a:t>
                      </a:r>
                      <a:r>
                        <a:rPr lang="zh-CN" altLang="en-US" sz="1800" dirty="0">
                          <a:solidFill>
                            <a:srgbClr val="060606"/>
                          </a:solidFill>
                        </a:rPr>
                        <a:t>）</a:t>
                      </a:r>
                      <a:r>
                        <a:rPr lang="en-US" altLang="zh-CN" sz="1800" dirty="0">
                          <a:solidFill>
                            <a:srgbClr val="060606"/>
                          </a:solidFill>
                        </a:rPr>
                        <a:t> x</a:t>
                      </a:r>
                      <a:r>
                        <a:rPr lang="en-US" altLang="zh-CN" sz="1800" baseline="-25000" dirty="0">
                          <a:solidFill>
                            <a:srgbClr val="060606"/>
                          </a:solidFill>
                        </a:rPr>
                        <a:t>1 </a:t>
                      </a:r>
                      <a:r>
                        <a:rPr lang="en-US" altLang="zh-CN" sz="1800" dirty="0">
                          <a:solidFill>
                            <a:srgbClr val="060606"/>
                          </a:solidFill>
                        </a:rPr>
                        <a:t>+ x</a:t>
                      </a:r>
                      <a:r>
                        <a:rPr lang="en-US" altLang="zh-CN" sz="1800" baseline="-25000" dirty="0">
                          <a:solidFill>
                            <a:srgbClr val="060606"/>
                          </a:solidFill>
                        </a:rPr>
                        <a:t>3</a:t>
                      </a:r>
                      <a:r>
                        <a:rPr lang="en-US" altLang="zh-CN" sz="1800" dirty="0">
                          <a:solidFill>
                            <a:srgbClr val="060606"/>
                          </a:solidFill>
                        </a:rPr>
                        <a:t>= 4                    x</a:t>
                      </a:r>
                      <a:r>
                        <a:rPr lang="en-US" altLang="zh-CN" sz="1800" baseline="-25000" dirty="0">
                          <a:solidFill>
                            <a:srgbClr val="060606"/>
                          </a:solidFill>
                        </a:rPr>
                        <a:t>3</a:t>
                      </a:r>
                      <a:r>
                        <a:rPr lang="en-US" altLang="zh-CN" sz="1800" baseline="0" dirty="0">
                          <a:solidFill>
                            <a:srgbClr val="060606"/>
                          </a:solidFill>
                        </a:rPr>
                        <a:t>       (1)</a:t>
                      </a:r>
                      <a:endParaRPr lang="en-US" altLang="zh-CN" sz="18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solidFill>
                            <a:srgbClr val="060606"/>
                          </a:solidFill>
                        </a:rPr>
                        <a:t>（</a:t>
                      </a:r>
                      <a:r>
                        <a:rPr lang="en-US" altLang="zh-CN" sz="1800" dirty="0">
                          <a:solidFill>
                            <a:srgbClr val="060606"/>
                          </a:solidFill>
                        </a:rPr>
                        <a:t>2</a:t>
                      </a:r>
                      <a:r>
                        <a:rPr lang="zh-CN" altLang="en-US" sz="1800" dirty="0">
                          <a:solidFill>
                            <a:srgbClr val="060606"/>
                          </a:solidFill>
                        </a:rPr>
                        <a:t>）</a:t>
                      </a:r>
                      <a:r>
                        <a:rPr lang="en-US" altLang="zh-CN" sz="1800" dirty="0">
                          <a:solidFill>
                            <a:srgbClr val="060606"/>
                          </a:solidFill>
                        </a:rPr>
                        <a:t> 2x</a:t>
                      </a:r>
                      <a:r>
                        <a:rPr lang="en-US" altLang="zh-CN" sz="1800" baseline="-25000" dirty="0">
                          <a:solidFill>
                            <a:srgbClr val="060606"/>
                          </a:solidFill>
                        </a:rPr>
                        <a:t>2</a:t>
                      </a:r>
                      <a:r>
                        <a:rPr lang="en-US" altLang="zh-CN" sz="1800" dirty="0">
                          <a:solidFill>
                            <a:srgbClr val="060606"/>
                          </a:solidFill>
                        </a:rPr>
                        <a:t>  +x</a:t>
                      </a:r>
                      <a:r>
                        <a:rPr lang="en-US" altLang="zh-CN" sz="1800" baseline="-25000" dirty="0">
                          <a:solidFill>
                            <a:srgbClr val="060606"/>
                          </a:solidFill>
                        </a:rPr>
                        <a:t>4</a:t>
                      </a:r>
                      <a:r>
                        <a:rPr lang="en-US" altLang="zh-CN" sz="1800" dirty="0">
                          <a:solidFill>
                            <a:srgbClr val="060606"/>
                          </a:solidFill>
                        </a:rPr>
                        <a:t> =12               x</a:t>
                      </a:r>
                      <a:r>
                        <a:rPr lang="en-US" altLang="zh-CN" sz="1800" baseline="-25000" dirty="0">
                          <a:solidFill>
                            <a:srgbClr val="060606"/>
                          </a:solidFill>
                        </a:rPr>
                        <a:t>4</a:t>
                      </a:r>
                      <a:r>
                        <a:rPr lang="en-US" altLang="zh-CN" sz="1800" baseline="0" dirty="0">
                          <a:solidFill>
                            <a:srgbClr val="060606"/>
                          </a:solidFill>
                        </a:rPr>
                        <a:t>       (2)</a:t>
                      </a:r>
                      <a:endParaRPr lang="en-US" altLang="zh-CN" sz="18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solidFill>
                            <a:srgbClr val="060606"/>
                          </a:solidFill>
                        </a:rPr>
                        <a:t>（</a:t>
                      </a:r>
                      <a:r>
                        <a:rPr lang="en-US" altLang="zh-CN" sz="1800" dirty="0">
                          <a:solidFill>
                            <a:srgbClr val="060606"/>
                          </a:solidFill>
                        </a:rPr>
                        <a:t>3</a:t>
                      </a:r>
                      <a:r>
                        <a:rPr lang="zh-CN" altLang="en-US" sz="1800" dirty="0">
                          <a:solidFill>
                            <a:srgbClr val="060606"/>
                          </a:solidFill>
                        </a:rPr>
                        <a:t>）</a:t>
                      </a:r>
                      <a:r>
                        <a:rPr lang="en-US" altLang="zh-CN" sz="1800" dirty="0">
                          <a:solidFill>
                            <a:srgbClr val="060606"/>
                          </a:solidFill>
                        </a:rPr>
                        <a:t> 3x</a:t>
                      </a:r>
                      <a:r>
                        <a:rPr lang="en-US" altLang="zh-CN" sz="1800" baseline="-25000" dirty="0">
                          <a:solidFill>
                            <a:srgbClr val="060606"/>
                          </a:solidFill>
                        </a:rPr>
                        <a:t>1</a:t>
                      </a:r>
                      <a:r>
                        <a:rPr lang="en-US" altLang="zh-CN" sz="1800" dirty="0">
                          <a:solidFill>
                            <a:srgbClr val="060606"/>
                          </a:solidFill>
                        </a:rPr>
                        <a:t>+2x</a:t>
                      </a:r>
                      <a:r>
                        <a:rPr lang="en-US" altLang="zh-CN" sz="1800" baseline="-25000" dirty="0">
                          <a:solidFill>
                            <a:srgbClr val="060606"/>
                          </a:solidFill>
                        </a:rPr>
                        <a:t>2</a:t>
                      </a:r>
                      <a:r>
                        <a:rPr lang="en-US" altLang="zh-CN" sz="1800" dirty="0">
                          <a:solidFill>
                            <a:srgbClr val="060606"/>
                          </a:solidFill>
                        </a:rPr>
                        <a:t> + x</a:t>
                      </a:r>
                      <a:r>
                        <a:rPr lang="en-US" altLang="zh-CN" sz="1800" baseline="-25000" dirty="0">
                          <a:solidFill>
                            <a:srgbClr val="060606"/>
                          </a:solidFill>
                        </a:rPr>
                        <a:t>5 </a:t>
                      </a:r>
                      <a:r>
                        <a:rPr lang="en-US" altLang="zh-CN" sz="1800" dirty="0">
                          <a:solidFill>
                            <a:srgbClr val="060606"/>
                          </a:solidFill>
                        </a:rPr>
                        <a:t> = 18     x</a:t>
                      </a:r>
                      <a:r>
                        <a:rPr lang="en-US" altLang="zh-CN" sz="1800" baseline="-25000" dirty="0">
                          <a:solidFill>
                            <a:srgbClr val="060606"/>
                          </a:solidFill>
                        </a:rPr>
                        <a:t>5</a:t>
                      </a:r>
                      <a:r>
                        <a:rPr lang="en-US" altLang="zh-CN" sz="1800" baseline="0" dirty="0">
                          <a:solidFill>
                            <a:srgbClr val="060606"/>
                          </a:solidFill>
                        </a:rPr>
                        <a:t>        (3)</a:t>
                      </a:r>
                      <a:endParaRPr lang="zh-CN" altLang="en-US"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dirty="0">
                          <a:ln>
                            <a:solidFill>
                              <a:srgbClr val="00000C"/>
                            </a:solidFill>
                          </a:ln>
                          <a:solidFill>
                            <a:srgbClr val="FF0000"/>
                          </a:solidFill>
                        </a:rPr>
                        <a:t>1        -3      -5      0        </a:t>
                      </a:r>
                      <a:r>
                        <a:rPr lang="en-US" altLang="zh-CN" dirty="0" err="1">
                          <a:ln>
                            <a:solidFill>
                              <a:srgbClr val="00000C"/>
                            </a:solidFill>
                          </a:ln>
                          <a:solidFill>
                            <a:srgbClr val="FF0000"/>
                          </a:solidFill>
                        </a:rPr>
                        <a:t>0</a:t>
                      </a:r>
                      <a:r>
                        <a:rPr lang="en-US" altLang="zh-CN" dirty="0">
                          <a:ln>
                            <a:solidFill>
                              <a:srgbClr val="00000C"/>
                            </a:solidFill>
                          </a:ln>
                          <a:solidFill>
                            <a:srgbClr val="FF0000"/>
                          </a:solidFill>
                        </a:rPr>
                        <a:t>        </a:t>
                      </a:r>
                      <a:r>
                        <a:rPr lang="en-US" altLang="zh-CN" dirty="0" err="1">
                          <a:ln>
                            <a:solidFill>
                              <a:srgbClr val="00000C"/>
                            </a:solidFill>
                          </a:ln>
                          <a:solidFill>
                            <a:srgbClr val="FF0000"/>
                          </a:solidFill>
                        </a:rPr>
                        <a:t>0</a:t>
                      </a:r>
                      <a:endParaRPr lang="en-US" altLang="zh-CN" dirty="0">
                        <a:ln>
                          <a:solidFill>
                            <a:srgbClr val="00000C"/>
                          </a:solidFill>
                        </a:ln>
                        <a:solidFill>
                          <a:srgbClr val="FF0000"/>
                        </a:solidFill>
                      </a:endParaRPr>
                    </a:p>
                    <a:p>
                      <a:r>
                        <a:rPr lang="en-US" altLang="zh-CN" dirty="0">
                          <a:ln>
                            <a:solidFill>
                              <a:srgbClr val="00000C"/>
                            </a:solidFill>
                          </a:ln>
                          <a:solidFill>
                            <a:srgbClr val="060606"/>
                          </a:solidFill>
                        </a:rPr>
                        <a:t>0       </a:t>
                      </a:r>
                      <a:r>
                        <a:rPr lang="en-US" altLang="zh-CN" baseline="0" dirty="0">
                          <a:ln>
                            <a:solidFill>
                              <a:srgbClr val="00000C"/>
                            </a:solidFill>
                          </a:ln>
                          <a:solidFill>
                            <a:srgbClr val="060606"/>
                          </a:solidFill>
                        </a:rPr>
                        <a:t>  1       0       1        0        </a:t>
                      </a:r>
                      <a:r>
                        <a:rPr lang="en-US" altLang="zh-CN" baseline="0" dirty="0" err="1">
                          <a:ln>
                            <a:solidFill>
                              <a:srgbClr val="00000C"/>
                            </a:solidFill>
                          </a:ln>
                          <a:solidFill>
                            <a:srgbClr val="060606"/>
                          </a:solidFill>
                        </a:rPr>
                        <a:t>0</a:t>
                      </a:r>
                      <a:endParaRPr lang="en-US" altLang="zh-CN" baseline="0" dirty="0">
                        <a:ln>
                          <a:solidFill>
                            <a:srgbClr val="00000C"/>
                          </a:solidFill>
                        </a:ln>
                        <a:solidFill>
                          <a:srgbClr val="060606"/>
                        </a:solidFill>
                      </a:endParaRPr>
                    </a:p>
                    <a:p>
                      <a:r>
                        <a:rPr lang="en-US" altLang="zh-CN" baseline="0" dirty="0">
                          <a:ln>
                            <a:solidFill>
                              <a:srgbClr val="00000C"/>
                            </a:solidFill>
                          </a:ln>
                          <a:solidFill>
                            <a:srgbClr val="060606"/>
                          </a:solidFill>
                        </a:rPr>
                        <a:t>0         </a:t>
                      </a:r>
                      <a:r>
                        <a:rPr lang="en-US" altLang="zh-CN" baseline="0" dirty="0" err="1">
                          <a:ln>
                            <a:solidFill>
                              <a:srgbClr val="00000C"/>
                            </a:solidFill>
                          </a:ln>
                          <a:solidFill>
                            <a:srgbClr val="060606"/>
                          </a:solidFill>
                        </a:rPr>
                        <a:t>0</a:t>
                      </a:r>
                      <a:r>
                        <a:rPr lang="en-US" altLang="zh-CN" baseline="0" dirty="0">
                          <a:ln>
                            <a:solidFill>
                              <a:srgbClr val="00000C"/>
                            </a:solidFill>
                          </a:ln>
                          <a:solidFill>
                            <a:srgbClr val="060606"/>
                          </a:solidFill>
                        </a:rPr>
                        <a:t>       2       0        1        0</a:t>
                      </a:r>
                      <a:endParaRPr lang="en-US" altLang="zh-CN" baseline="0" dirty="0">
                        <a:ln>
                          <a:solidFill>
                            <a:srgbClr val="00000C"/>
                          </a:solidFill>
                        </a:ln>
                        <a:solidFill>
                          <a:srgbClr val="060606"/>
                        </a:solidFill>
                      </a:endParaRPr>
                    </a:p>
                    <a:p>
                      <a:r>
                        <a:rPr lang="en-US" altLang="zh-CN" baseline="0" dirty="0">
                          <a:ln>
                            <a:solidFill>
                              <a:srgbClr val="00000C"/>
                            </a:solidFill>
                          </a:ln>
                          <a:solidFill>
                            <a:srgbClr val="060606"/>
                          </a:solidFill>
                        </a:rPr>
                        <a:t>0         3       2       0        </a:t>
                      </a:r>
                      <a:r>
                        <a:rPr lang="en-US" altLang="zh-CN" baseline="0" dirty="0" err="1">
                          <a:ln>
                            <a:solidFill>
                              <a:srgbClr val="00000C"/>
                            </a:solidFill>
                          </a:ln>
                          <a:solidFill>
                            <a:srgbClr val="060606"/>
                          </a:solidFill>
                        </a:rPr>
                        <a:t>0</a:t>
                      </a:r>
                      <a:r>
                        <a:rPr lang="en-US" altLang="zh-CN" baseline="0" dirty="0">
                          <a:ln>
                            <a:solidFill>
                              <a:srgbClr val="00000C"/>
                            </a:solidFill>
                          </a:ln>
                          <a:solidFill>
                            <a:srgbClr val="060606"/>
                          </a:solidFill>
                        </a:rPr>
                        <a:t>        1</a:t>
                      </a:r>
                      <a:endParaRPr lang="zh-CN" altLang="en-US"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dirty="0">
                          <a:ln>
                            <a:solidFill>
                              <a:srgbClr val="00000C"/>
                            </a:solidFill>
                          </a:ln>
                          <a:solidFill>
                            <a:srgbClr val="060606"/>
                          </a:solidFill>
                        </a:rPr>
                        <a:t>0</a:t>
                      </a:r>
                      <a:endParaRPr lang="en-US" altLang="zh-CN" dirty="0">
                        <a:ln>
                          <a:solidFill>
                            <a:srgbClr val="00000C"/>
                          </a:solidFill>
                        </a:ln>
                        <a:solidFill>
                          <a:srgbClr val="060606"/>
                        </a:solidFill>
                      </a:endParaRPr>
                    </a:p>
                    <a:p>
                      <a:r>
                        <a:rPr lang="en-US" altLang="zh-CN" dirty="0">
                          <a:ln>
                            <a:solidFill>
                              <a:srgbClr val="00000C"/>
                            </a:solidFill>
                          </a:ln>
                          <a:solidFill>
                            <a:srgbClr val="060606"/>
                          </a:solidFill>
                        </a:rPr>
                        <a:t>4</a:t>
                      </a:r>
                      <a:endParaRPr lang="en-US" altLang="zh-CN" dirty="0">
                        <a:ln>
                          <a:solidFill>
                            <a:srgbClr val="00000C"/>
                          </a:solidFill>
                        </a:ln>
                        <a:solidFill>
                          <a:srgbClr val="060606"/>
                        </a:solidFill>
                      </a:endParaRPr>
                    </a:p>
                    <a:p>
                      <a:r>
                        <a:rPr lang="en-US" altLang="zh-CN" dirty="0">
                          <a:ln>
                            <a:solidFill>
                              <a:srgbClr val="00000C"/>
                            </a:solidFill>
                          </a:ln>
                          <a:solidFill>
                            <a:srgbClr val="060606"/>
                          </a:solidFill>
                        </a:rPr>
                        <a:t>12</a:t>
                      </a:r>
                      <a:endParaRPr lang="en-US" altLang="zh-CN" dirty="0">
                        <a:ln>
                          <a:solidFill>
                            <a:srgbClr val="00000C"/>
                          </a:solidFill>
                        </a:ln>
                        <a:solidFill>
                          <a:srgbClr val="060606"/>
                        </a:solidFill>
                      </a:endParaRPr>
                    </a:p>
                    <a:p>
                      <a:r>
                        <a:rPr lang="en-US" altLang="zh-CN" dirty="0">
                          <a:ln>
                            <a:solidFill>
                              <a:srgbClr val="00000C"/>
                            </a:solidFill>
                          </a:ln>
                          <a:solidFill>
                            <a:srgbClr val="060606"/>
                          </a:solidFill>
                        </a:rPr>
                        <a:t>18</a:t>
                      </a:r>
                      <a:endParaRPr lang="zh-CN" altLang="en-US"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grpSp>
        <p:nvGrpSpPr>
          <p:cNvPr id="13" name="组合 12"/>
          <p:cNvGrpSpPr/>
          <p:nvPr/>
        </p:nvGrpSpPr>
        <p:grpSpPr>
          <a:xfrm>
            <a:off x="2888759" y="4799062"/>
            <a:ext cx="3950573" cy="1798290"/>
            <a:chOff x="2888759" y="4799062"/>
            <a:chExt cx="3950573" cy="1798290"/>
          </a:xfrm>
        </p:grpSpPr>
        <p:grpSp>
          <p:nvGrpSpPr>
            <p:cNvPr id="24" name="组合 23"/>
            <p:cNvGrpSpPr/>
            <p:nvPr/>
          </p:nvGrpSpPr>
          <p:grpSpPr>
            <a:xfrm>
              <a:off x="6318632" y="4935358"/>
              <a:ext cx="520700" cy="1661994"/>
              <a:chOff x="4499992" y="4935358"/>
              <a:chExt cx="520700" cy="1661994"/>
            </a:xfrm>
          </p:grpSpPr>
          <p:sp>
            <p:nvSpPr>
              <p:cNvPr id="14" name="矩形 13"/>
              <p:cNvSpPr/>
              <p:nvPr/>
            </p:nvSpPr>
            <p:spPr>
              <a:xfrm>
                <a:off x="4644008" y="5397023"/>
                <a:ext cx="356188" cy="1200329"/>
              </a:xfrm>
              <a:prstGeom prst="rect">
                <a:avLst/>
              </a:prstGeom>
            </p:spPr>
            <p:txBody>
              <a:bodyPr wrap="none">
                <a:spAutoFit/>
              </a:bodyPr>
              <a:lstStyle/>
              <a:p>
                <a:r>
                  <a:rPr lang="en-US" altLang="zh-CN" sz="2400" b="1" dirty="0">
                    <a:solidFill>
                      <a:srgbClr val="060606"/>
                    </a:solidFill>
                  </a:rPr>
                  <a:t>0</a:t>
                </a:r>
                <a:endParaRPr lang="en-US" altLang="zh-CN" sz="2400" b="1" dirty="0">
                  <a:solidFill>
                    <a:srgbClr val="060606"/>
                  </a:solidFill>
                </a:endParaRPr>
              </a:p>
              <a:p>
                <a:r>
                  <a:rPr lang="en-US" altLang="zh-CN" sz="2400" b="1" dirty="0">
                    <a:solidFill>
                      <a:srgbClr val="060606"/>
                    </a:solidFill>
                  </a:rPr>
                  <a:t>1</a:t>
                </a:r>
                <a:endParaRPr lang="en-US" altLang="zh-CN" sz="2400" b="1" dirty="0">
                  <a:solidFill>
                    <a:srgbClr val="060606"/>
                  </a:solidFill>
                </a:endParaRPr>
              </a:p>
              <a:p>
                <a:r>
                  <a:rPr lang="en-US" altLang="zh-CN" sz="2400" b="1" dirty="0">
                    <a:solidFill>
                      <a:srgbClr val="060606"/>
                    </a:solidFill>
                  </a:rPr>
                  <a:t>0</a:t>
                </a:r>
                <a:endParaRPr lang="zh-CN" altLang="en-US" sz="2400" dirty="0"/>
              </a:p>
            </p:txBody>
          </p:sp>
          <p:sp>
            <p:nvSpPr>
              <p:cNvPr id="15" name="任意多边形 14"/>
              <p:cNvSpPr/>
              <p:nvPr/>
            </p:nvSpPr>
            <p:spPr bwMode="auto">
              <a:xfrm>
                <a:off x="4499992" y="5397023"/>
                <a:ext cx="520700" cy="1169368"/>
              </a:xfrm>
              <a:custGeom>
                <a:avLst/>
                <a:gdLst>
                  <a:gd name="connsiteX0" fmla="*/ 63500 w 520700"/>
                  <a:gd name="connsiteY0" fmla="*/ 0 h 1409700"/>
                  <a:gd name="connsiteX1" fmla="*/ 520700 w 520700"/>
                  <a:gd name="connsiteY1" fmla="*/ 0 h 1409700"/>
                  <a:gd name="connsiteX2" fmla="*/ 508000 w 520700"/>
                  <a:gd name="connsiteY2" fmla="*/ 1409700 h 1409700"/>
                  <a:gd name="connsiteX3" fmla="*/ 0 w 520700"/>
                  <a:gd name="connsiteY3" fmla="*/ 1295400 h 1409700"/>
                  <a:gd name="connsiteX4" fmla="*/ 63500 w 520700"/>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700" h="1409700">
                    <a:moveTo>
                      <a:pt x="63500" y="0"/>
                    </a:moveTo>
                    <a:lnTo>
                      <a:pt x="520700" y="0"/>
                    </a:lnTo>
                    <a:lnTo>
                      <a:pt x="508000" y="1409700"/>
                    </a:lnTo>
                    <a:lnTo>
                      <a:pt x="0" y="1295400"/>
                    </a:lnTo>
                    <a:lnTo>
                      <a:pt x="63500" y="0"/>
                    </a:lnTo>
                    <a:close/>
                  </a:path>
                </a:pathLst>
              </a:custGeom>
              <a:no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8" name="任意多边形 17"/>
              <p:cNvSpPr/>
              <p:nvPr/>
            </p:nvSpPr>
            <p:spPr bwMode="auto">
              <a:xfrm>
                <a:off x="4572000" y="5036983"/>
                <a:ext cx="448692" cy="288032"/>
              </a:xfrm>
              <a:custGeom>
                <a:avLst/>
                <a:gdLst>
                  <a:gd name="connsiteX0" fmla="*/ 63500 w 520700"/>
                  <a:gd name="connsiteY0" fmla="*/ 0 h 1409700"/>
                  <a:gd name="connsiteX1" fmla="*/ 520700 w 520700"/>
                  <a:gd name="connsiteY1" fmla="*/ 0 h 1409700"/>
                  <a:gd name="connsiteX2" fmla="*/ 508000 w 520700"/>
                  <a:gd name="connsiteY2" fmla="*/ 1409700 h 1409700"/>
                  <a:gd name="connsiteX3" fmla="*/ 0 w 520700"/>
                  <a:gd name="connsiteY3" fmla="*/ 1295400 h 1409700"/>
                  <a:gd name="connsiteX4" fmla="*/ 63500 w 520700"/>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700" h="1409700">
                    <a:moveTo>
                      <a:pt x="63500" y="0"/>
                    </a:moveTo>
                    <a:lnTo>
                      <a:pt x="520700" y="0"/>
                    </a:lnTo>
                    <a:lnTo>
                      <a:pt x="508000" y="1409700"/>
                    </a:lnTo>
                    <a:lnTo>
                      <a:pt x="0" y="1295400"/>
                    </a:lnTo>
                    <a:lnTo>
                      <a:pt x="63500" y="0"/>
                    </a:lnTo>
                    <a:close/>
                  </a:path>
                </a:pathLst>
              </a:custGeom>
              <a:no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endParaRPr lang="en-US" altLang="zh-CN" sz="2400" b="1" dirty="0">
                  <a:solidFill>
                    <a:srgbClr val="060606"/>
                  </a:solidFill>
                </a:endParaRPr>
              </a:p>
            </p:txBody>
          </p:sp>
          <p:sp>
            <p:nvSpPr>
              <p:cNvPr id="20" name="矩形 19"/>
              <p:cNvSpPr/>
              <p:nvPr/>
            </p:nvSpPr>
            <p:spPr>
              <a:xfrm>
                <a:off x="4663890" y="4935358"/>
                <a:ext cx="356188" cy="461665"/>
              </a:xfrm>
              <a:prstGeom prst="rect">
                <a:avLst/>
              </a:prstGeom>
            </p:spPr>
            <p:txBody>
              <a:bodyPr wrap="none">
                <a:spAutoFit/>
              </a:bodyPr>
              <a:lstStyle/>
              <a:p>
                <a:r>
                  <a:rPr lang="en-US" altLang="zh-CN" sz="2400" b="1" dirty="0">
                    <a:solidFill>
                      <a:srgbClr val="060606"/>
                    </a:solidFill>
                  </a:rPr>
                  <a:t>0</a:t>
                </a:r>
                <a:endParaRPr lang="zh-CN" altLang="en-US" sz="2400" dirty="0"/>
              </a:p>
            </p:txBody>
          </p:sp>
        </p:grpSp>
        <p:grpSp>
          <p:nvGrpSpPr>
            <p:cNvPr id="23" name="组合 22"/>
            <p:cNvGrpSpPr/>
            <p:nvPr/>
          </p:nvGrpSpPr>
          <p:grpSpPr>
            <a:xfrm>
              <a:off x="2888759" y="4799062"/>
              <a:ext cx="3575161" cy="941451"/>
              <a:chOff x="2624983" y="4893342"/>
              <a:chExt cx="2099160" cy="941451"/>
            </a:xfrm>
          </p:grpSpPr>
          <p:sp>
            <p:nvSpPr>
              <p:cNvPr id="16" name="矩形 15"/>
              <p:cNvSpPr/>
              <p:nvPr/>
            </p:nvSpPr>
            <p:spPr>
              <a:xfrm>
                <a:off x="2624983" y="5003796"/>
                <a:ext cx="1656184" cy="830997"/>
              </a:xfrm>
              <a:prstGeom prst="rect">
                <a:avLst/>
              </a:prstGeom>
            </p:spPr>
            <p:txBody>
              <a:bodyPr wrap="square">
                <a:spAutoFit/>
              </a:bodyPr>
              <a:lstStyle/>
              <a:p>
                <a:r>
                  <a:rPr lang="zh-CN" altLang="en-US" sz="2400" b="1" dirty="0">
                    <a:solidFill>
                      <a:srgbClr val="00000C"/>
                    </a:solidFill>
                  </a:rPr>
                  <a:t>接下来，想办法将该列变为基向量</a:t>
                </a:r>
                <a:endParaRPr lang="zh-CN" altLang="en-US" sz="2400" b="1" dirty="0">
                  <a:solidFill>
                    <a:srgbClr val="00000C"/>
                  </a:solidFill>
                </a:endParaRPr>
              </a:p>
            </p:txBody>
          </p:sp>
          <p:sp>
            <p:nvSpPr>
              <p:cNvPr id="22" name="直角上箭头 21"/>
              <p:cNvSpPr/>
              <p:nvPr/>
            </p:nvSpPr>
            <p:spPr bwMode="auto">
              <a:xfrm rot="7953224">
                <a:off x="4154792" y="5030645"/>
                <a:ext cx="706654" cy="432048"/>
              </a:xfrm>
              <a:prstGeom prst="bentUpArrow">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grpSp>
      <p:grpSp>
        <p:nvGrpSpPr>
          <p:cNvPr id="19" name="组合 18"/>
          <p:cNvGrpSpPr/>
          <p:nvPr/>
        </p:nvGrpSpPr>
        <p:grpSpPr>
          <a:xfrm>
            <a:off x="6131560" y="3046891"/>
            <a:ext cx="540504" cy="716015"/>
            <a:chOff x="6131560" y="3046891"/>
            <a:chExt cx="540504" cy="716015"/>
          </a:xfrm>
        </p:grpSpPr>
        <p:sp>
          <p:nvSpPr>
            <p:cNvPr id="25" name="矩形 24"/>
            <p:cNvSpPr/>
            <p:nvPr/>
          </p:nvSpPr>
          <p:spPr>
            <a:xfrm>
              <a:off x="6131560" y="3492292"/>
              <a:ext cx="540504" cy="270614"/>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6131560" y="3046891"/>
              <a:ext cx="540504" cy="270614"/>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3129280" y="3690898"/>
            <a:ext cx="8668564" cy="952398"/>
            <a:chOff x="3129280" y="3690898"/>
            <a:chExt cx="8668564" cy="952398"/>
          </a:xfrm>
        </p:grpSpPr>
        <p:grpSp>
          <p:nvGrpSpPr>
            <p:cNvPr id="2" name="组合 1"/>
            <p:cNvGrpSpPr/>
            <p:nvPr/>
          </p:nvGrpSpPr>
          <p:grpSpPr>
            <a:xfrm>
              <a:off x="6168008" y="3690898"/>
              <a:ext cx="5629836" cy="952398"/>
              <a:chOff x="6168008" y="3690898"/>
              <a:chExt cx="5629836" cy="952398"/>
            </a:xfrm>
          </p:grpSpPr>
          <p:sp>
            <p:nvSpPr>
              <p:cNvPr id="8" name="矩形 7"/>
              <p:cNvSpPr/>
              <p:nvPr/>
            </p:nvSpPr>
            <p:spPr>
              <a:xfrm>
                <a:off x="9880238" y="3690898"/>
                <a:ext cx="1272078" cy="369332"/>
              </a:xfrm>
              <a:prstGeom prst="rect">
                <a:avLst/>
              </a:prstGeom>
            </p:spPr>
            <p:txBody>
              <a:bodyPr wrap="square">
                <a:spAutoFit/>
              </a:bodyPr>
              <a:lstStyle/>
              <a:p>
                <a:r>
                  <a:rPr lang="en-US" altLang="zh-CN" b="1" dirty="0">
                    <a:solidFill>
                      <a:srgbClr val="060606"/>
                    </a:solidFill>
                  </a:rPr>
                  <a:t>4/0= ∞</a:t>
                </a:r>
                <a:endParaRPr lang="zh-CN" altLang="en-US" dirty="0"/>
              </a:p>
            </p:txBody>
          </p:sp>
          <p:sp>
            <p:nvSpPr>
              <p:cNvPr id="9" name="矩形 8"/>
              <p:cNvSpPr/>
              <p:nvPr/>
            </p:nvSpPr>
            <p:spPr>
              <a:xfrm>
                <a:off x="9822265" y="3949338"/>
                <a:ext cx="1330051" cy="369332"/>
              </a:xfrm>
              <a:prstGeom prst="rect">
                <a:avLst/>
              </a:prstGeom>
            </p:spPr>
            <p:txBody>
              <a:bodyPr wrap="square">
                <a:spAutoFit/>
              </a:bodyPr>
              <a:lstStyle/>
              <a:p>
                <a:r>
                  <a:rPr lang="en-US" altLang="zh-CN" b="1" dirty="0">
                    <a:solidFill>
                      <a:srgbClr val="060606"/>
                    </a:solidFill>
                  </a:rPr>
                  <a:t>12/2=6</a:t>
                </a:r>
                <a:endParaRPr lang="zh-CN" altLang="en-US" dirty="0"/>
              </a:p>
            </p:txBody>
          </p:sp>
          <p:sp>
            <p:nvSpPr>
              <p:cNvPr id="10" name="矩形 9"/>
              <p:cNvSpPr/>
              <p:nvPr/>
            </p:nvSpPr>
            <p:spPr>
              <a:xfrm>
                <a:off x="9822265" y="4248418"/>
                <a:ext cx="1330051" cy="369332"/>
              </a:xfrm>
              <a:prstGeom prst="rect">
                <a:avLst/>
              </a:prstGeom>
            </p:spPr>
            <p:txBody>
              <a:bodyPr wrap="square">
                <a:spAutoFit/>
              </a:bodyPr>
              <a:lstStyle/>
              <a:p>
                <a:r>
                  <a:rPr lang="en-US" altLang="zh-CN" b="1" dirty="0">
                    <a:solidFill>
                      <a:srgbClr val="060606"/>
                    </a:solidFill>
                  </a:rPr>
                  <a:t>18/2=9</a:t>
                </a:r>
                <a:endParaRPr lang="zh-CN" altLang="en-US" dirty="0"/>
              </a:p>
            </p:txBody>
          </p:sp>
          <p:sp>
            <p:nvSpPr>
              <p:cNvPr id="11" name="矩形 10"/>
              <p:cNvSpPr/>
              <p:nvPr/>
            </p:nvSpPr>
            <p:spPr>
              <a:xfrm>
                <a:off x="10649027" y="3931043"/>
                <a:ext cx="1148817" cy="369332"/>
              </a:xfrm>
              <a:prstGeom prst="rect">
                <a:avLst/>
              </a:prstGeom>
            </p:spPr>
            <p:txBody>
              <a:bodyPr wrap="square">
                <a:spAutoFit/>
              </a:bodyPr>
              <a:lstStyle/>
              <a:p>
                <a:r>
                  <a:rPr lang="en-US" altLang="zh-CN" b="1" dirty="0">
                    <a:solidFill>
                      <a:srgbClr val="060606"/>
                    </a:solidFill>
                  </a:rPr>
                  <a:t>min√</a:t>
                </a:r>
                <a:endParaRPr lang="zh-CN" altLang="en-US" dirty="0"/>
              </a:p>
            </p:txBody>
          </p:sp>
          <p:sp>
            <p:nvSpPr>
              <p:cNvPr id="26" name="矩形 25"/>
              <p:cNvSpPr/>
              <p:nvPr/>
            </p:nvSpPr>
            <p:spPr>
              <a:xfrm>
                <a:off x="6168008" y="3718559"/>
                <a:ext cx="504056" cy="924737"/>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129280" y="4060230"/>
              <a:ext cx="504056" cy="258440"/>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289561" y="245866"/>
          <a:ext cx="11577320" cy="3723194"/>
        </p:xfrm>
        <a:graphic>
          <a:graphicData uri="http://schemas.openxmlformats.org/drawingml/2006/table">
            <a:tbl>
              <a:tblPr bandRow="1">
                <a:tableStyleId>{5C22544A-7EE6-4342-B048-85BDC9FD1C3A}</a:tableStyleId>
              </a:tblPr>
              <a:tblGrid>
                <a:gridCol w="4592655"/>
                <a:gridCol w="4209934"/>
                <a:gridCol w="2774731"/>
              </a:tblGrid>
              <a:tr h="442660">
                <a:tc rowSpan="2">
                  <a:txBody>
                    <a:bodyPr/>
                    <a:lstStyle/>
                    <a:p>
                      <a:r>
                        <a:rPr lang="zh-CN" altLang="en-US" sz="2000" dirty="0">
                          <a:ln>
                            <a:solidFill>
                              <a:srgbClr val="00000C"/>
                            </a:solidFill>
                          </a:ln>
                          <a:solidFill>
                            <a:srgbClr val="060606"/>
                          </a:solidFill>
                        </a:rPr>
                        <a:t>方程组                             基变量  </a:t>
                      </a:r>
                      <a:r>
                        <a:rPr lang="en-US" altLang="zh-CN" sz="2000" dirty="0">
                          <a:ln>
                            <a:solidFill>
                              <a:srgbClr val="00000C"/>
                            </a:solidFill>
                          </a:ln>
                          <a:solidFill>
                            <a:srgbClr val="060606"/>
                          </a:solidFill>
                        </a:rPr>
                        <a:t>Eq.</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                                              BV.</a:t>
                      </a:r>
                      <a:r>
                        <a:rPr lang="zh-CN" altLang="en-US" sz="2000" dirty="0">
                          <a:ln>
                            <a:solidFill>
                              <a:srgbClr val="00000C"/>
                            </a:solidFill>
                          </a:ln>
                          <a:solidFill>
                            <a:srgbClr val="060606"/>
                          </a:solidFill>
                        </a:rPr>
                        <a:t>     </a:t>
                      </a:r>
                      <a:endParaRPr lang="zh-CN" altLang="en-US" sz="2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pPr algn="ctr"/>
                      <a:r>
                        <a:rPr lang="zh-CN" altLang="en-US" sz="2000" dirty="0">
                          <a:ln>
                            <a:solidFill>
                              <a:srgbClr val="00000C"/>
                            </a:solidFill>
                          </a:ln>
                          <a:solidFill>
                            <a:srgbClr val="060606"/>
                          </a:solidFill>
                        </a:rPr>
                        <a:t>系数</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rowSpan="2">
                  <a:txBody>
                    <a:bodyPr/>
                    <a:lstStyle/>
                    <a:p>
                      <a:r>
                        <a:rPr lang="zh-CN" altLang="en-US" sz="2000" dirty="0">
                          <a:ln>
                            <a:solidFill>
                              <a:srgbClr val="00000C"/>
                            </a:solidFill>
                          </a:ln>
                          <a:solidFill>
                            <a:srgbClr val="060606"/>
                          </a:solidFill>
                        </a:rPr>
                        <a:t>方程右端      比值</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44266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060606"/>
                          </a:solidFill>
                        </a:rPr>
                        <a:t>Z</a:t>
                      </a:r>
                      <a:r>
                        <a:rPr lang="zh-CN" altLang="en-US" sz="2000" baseline="0" dirty="0">
                          <a:ln>
                            <a:solidFill>
                              <a:srgbClr val="00000C"/>
                            </a:solidFill>
                          </a:ln>
                          <a:solidFill>
                            <a:srgbClr val="060606"/>
                          </a:solidFill>
                        </a:rPr>
                        <a:t>        </a:t>
                      </a:r>
                      <a:r>
                        <a:rPr lang="en-US" altLang="zh-CN" sz="2000" baseline="0" dirty="0">
                          <a:ln>
                            <a:solidFill>
                              <a:srgbClr val="00000C"/>
                            </a:solidFill>
                          </a:ln>
                          <a:solidFill>
                            <a:srgbClr val="060606"/>
                          </a:solidFill>
                        </a:rPr>
                        <a:t>x1      x2     x3      x4      x5</a:t>
                      </a:r>
                      <a:endParaRPr lang="en-US" altLang="zh-CN"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FF0000"/>
                          </a:solidFill>
                        </a:rPr>
                        <a:t>（</a:t>
                      </a:r>
                      <a:r>
                        <a:rPr lang="en-US" altLang="zh-CN" sz="2000" dirty="0">
                          <a:solidFill>
                            <a:srgbClr val="FF0000"/>
                          </a:solidFill>
                        </a:rPr>
                        <a:t>0</a:t>
                      </a:r>
                      <a:r>
                        <a:rPr lang="zh-CN" altLang="en-US" sz="2000" dirty="0">
                          <a:solidFill>
                            <a:srgbClr val="FF0000"/>
                          </a:solidFill>
                        </a:rPr>
                        <a:t>） </a:t>
                      </a:r>
                      <a:r>
                        <a:rPr lang="en-US" altLang="zh-CN" sz="2000" dirty="0">
                          <a:solidFill>
                            <a:srgbClr val="FF0000"/>
                          </a:solidFill>
                        </a:rPr>
                        <a:t>z</a:t>
                      </a:r>
                      <a:r>
                        <a:rPr lang="zh-CN" altLang="en-US" sz="2000" dirty="0">
                          <a:solidFill>
                            <a:srgbClr val="FF0000"/>
                          </a:solidFill>
                        </a:rPr>
                        <a:t>－</a:t>
                      </a:r>
                      <a:r>
                        <a:rPr lang="en-US" altLang="zh-CN" sz="2000" dirty="0">
                          <a:solidFill>
                            <a:srgbClr val="FF0000"/>
                          </a:solidFill>
                        </a:rPr>
                        <a:t>3x</a:t>
                      </a:r>
                      <a:r>
                        <a:rPr lang="en-US" altLang="zh-CN" sz="2000" baseline="-25000" dirty="0">
                          <a:solidFill>
                            <a:srgbClr val="FF0000"/>
                          </a:solidFill>
                        </a:rPr>
                        <a:t>1</a:t>
                      </a:r>
                      <a:r>
                        <a:rPr lang="en-US" altLang="zh-CN" sz="2000" dirty="0">
                          <a:solidFill>
                            <a:srgbClr val="FF0000"/>
                          </a:solidFill>
                        </a:rPr>
                        <a:t> </a:t>
                      </a:r>
                      <a:r>
                        <a:rPr lang="zh-CN" altLang="en-US" sz="2000" dirty="0">
                          <a:solidFill>
                            <a:srgbClr val="FF0000"/>
                          </a:solidFill>
                        </a:rPr>
                        <a:t>－ </a:t>
                      </a:r>
                      <a:r>
                        <a:rPr lang="en-US" altLang="zh-CN" sz="2000" dirty="0">
                          <a:solidFill>
                            <a:srgbClr val="FF0000"/>
                          </a:solidFill>
                        </a:rPr>
                        <a:t>5x</a:t>
                      </a:r>
                      <a:r>
                        <a:rPr lang="en-US" altLang="zh-CN" sz="2000" baseline="-25000" dirty="0">
                          <a:solidFill>
                            <a:srgbClr val="FF0000"/>
                          </a:solidFill>
                        </a:rPr>
                        <a:t>2</a:t>
                      </a:r>
                      <a:r>
                        <a:rPr lang="en-US" altLang="zh-CN" sz="2000" dirty="0">
                          <a:solidFill>
                            <a:srgbClr val="FF0000"/>
                          </a:solidFill>
                        </a:rPr>
                        <a:t> = 0      z         (0)</a:t>
                      </a:r>
                      <a:endParaRPr lang="en-US" altLang="zh-CN" sz="20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1</a:t>
                      </a:r>
                      <a:r>
                        <a:rPr lang="zh-CN" altLang="en-US" sz="2000" dirty="0">
                          <a:solidFill>
                            <a:srgbClr val="060606"/>
                          </a:solidFill>
                        </a:rPr>
                        <a:t>）</a:t>
                      </a:r>
                      <a:r>
                        <a:rPr lang="en-US" altLang="zh-CN" sz="2000" dirty="0">
                          <a:solidFill>
                            <a:srgbClr val="060606"/>
                          </a:solidFill>
                        </a:rPr>
                        <a:t> x</a:t>
                      </a:r>
                      <a:r>
                        <a:rPr lang="en-US" altLang="zh-CN" sz="2000" baseline="-25000" dirty="0">
                          <a:solidFill>
                            <a:srgbClr val="060606"/>
                          </a:solidFill>
                        </a:rPr>
                        <a:t>1 </a:t>
                      </a:r>
                      <a:r>
                        <a:rPr lang="en-US" altLang="zh-CN" sz="2000" dirty="0">
                          <a:solidFill>
                            <a:srgbClr val="060606"/>
                          </a:solidFill>
                        </a:rPr>
                        <a:t>+ x</a:t>
                      </a:r>
                      <a:r>
                        <a:rPr lang="en-US" altLang="zh-CN" sz="2000" baseline="-25000" dirty="0">
                          <a:solidFill>
                            <a:srgbClr val="060606"/>
                          </a:solidFill>
                        </a:rPr>
                        <a:t>3</a:t>
                      </a:r>
                      <a:r>
                        <a:rPr lang="en-US" altLang="zh-CN" sz="2000" dirty="0">
                          <a:solidFill>
                            <a:srgbClr val="060606"/>
                          </a:solidFill>
                        </a:rPr>
                        <a:t>= 4                    x</a:t>
                      </a:r>
                      <a:r>
                        <a:rPr lang="en-US" altLang="zh-CN" sz="2000" baseline="-25000" dirty="0">
                          <a:solidFill>
                            <a:srgbClr val="060606"/>
                          </a:solidFill>
                        </a:rPr>
                        <a:t>3</a:t>
                      </a:r>
                      <a:r>
                        <a:rPr lang="en-US" altLang="zh-CN" sz="2000" baseline="0" dirty="0">
                          <a:solidFill>
                            <a:srgbClr val="060606"/>
                          </a:solidFill>
                        </a:rPr>
                        <a:t>       (1)</a:t>
                      </a:r>
                      <a:endParaRPr lang="en-US" altLang="zh-CN" sz="20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2</a:t>
                      </a:r>
                      <a:r>
                        <a:rPr lang="zh-CN" altLang="en-US" sz="2000" dirty="0">
                          <a:solidFill>
                            <a:srgbClr val="060606"/>
                          </a:solidFill>
                        </a:rPr>
                        <a:t>）</a:t>
                      </a:r>
                      <a:r>
                        <a:rPr lang="en-US" altLang="zh-CN" sz="2000" dirty="0">
                          <a:solidFill>
                            <a:srgbClr val="060606"/>
                          </a:solidFill>
                        </a:rPr>
                        <a:t> 2x</a:t>
                      </a:r>
                      <a:r>
                        <a:rPr lang="en-US" altLang="zh-CN" sz="2000" baseline="-25000" dirty="0">
                          <a:solidFill>
                            <a:srgbClr val="060606"/>
                          </a:solidFill>
                        </a:rPr>
                        <a:t>2</a:t>
                      </a:r>
                      <a:r>
                        <a:rPr lang="en-US" altLang="zh-CN" sz="2000" dirty="0">
                          <a:solidFill>
                            <a:srgbClr val="060606"/>
                          </a:solidFill>
                        </a:rPr>
                        <a:t>  +x</a:t>
                      </a:r>
                      <a:r>
                        <a:rPr lang="en-US" altLang="zh-CN" sz="2000" baseline="-25000" dirty="0">
                          <a:solidFill>
                            <a:srgbClr val="060606"/>
                          </a:solidFill>
                        </a:rPr>
                        <a:t>4</a:t>
                      </a:r>
                      <a:r>
                        <a:rPr lang="en-US" altLang="zh-CN" sz="2000" dirty="0">
                          <a:solidFill>
                            <a:srgbClr val="060606"/>
                          </a:solidFill>
                        </a:rPr>
                        <a:t> =12               </a:t>
                      </a:r>
                      <a:r>
                        <a:rPr lang="en-US" altLang="zh-CN" sz="2000" b="1" dirty="0">
                          <a:solidFill>
                            <a:srgbClr val="0322BD"/>
                          </a:solidFill>
                        </a:rPr>
                        <a:t>x</a:t>
                      </a:r>
                      <a:r>
                        <a:rPr lang="en-US" altLang="zh-CN" sz="2000" b="1" baseline="-25000" dirty="0">
                          <a:solidFill>
                            <a:srgbClr val="0322BD"/>
                          </a:solidFill>
                        </a:rPr>
                        <a:t>4</a:t>
                      </a:r>
                      <a:r>
                        <a:rPr lang="en-US" altLang="zh-CN" sz="2000" b="1" baseline="0" dirty="0">
                          <a:solidFill>
                            <a:srgbClr val="0322BD"/>
                          </a:solidFill>
                        </a:rPr>
                        <a:t> </a:t>
                      </a:r>
                      <a:r>
                        <a:rPr lang="en-US" altLang="zh-CN" sz="2000" baseline="0" dirty="0">
                          <a:solidFill>
                            <a:srgbClr val="060606"/>
                          </a:solidFill>
                        </a:rPr>
                        <a:t>      (2)</a:t>
                      </a:r>
                      <a:endParaRPr lang="en-US" altLang="zh-CN" sz="20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3</a:t>
                      </a:r>
                      <a:r>
                        <a:rPr lang="zh-CN" altLang="en-US" sz="2000" dirty="0">
                          <a:solidFill>
                            <a:srgbClr val="060606"/>
                          </a:solidFill>
                        </a:rPr>
                        <a:t>）</a:t>
                      </a:r>
                      <a:r>
                        <a:rPr lang="en-US" altLang="zh-CN" sz="2000" dirty="0">
                          <a:solidFill>
                            <a:srgbClr val="060606"/>
                          </a:solidFill>
                        </a:rPr>
                        <a:t> 3x</a:t>
                      </a:r>
                      <a:r>
                        <a:rPr lang="en-US" altLang="zh-CN" sz="2000" baseline="-25000" dirty="0">
                          <a:solidFill>
                            <a:srgbClr val="060606"/>
                          </a:solidFill>
                        </a:rPr>
                        <a:t>1</a:t>
                      </a:r>
                      <a:r>
                        <a:rPr lang="en-US" altLang="zh-CN" sz="2000" dirty="0">
                          <a:solidFill>
                            <a:srgbClr val="060606"/>
                          </a:solidFill>
                        </a:rPr>
                        <a:t>+2x</a:t>
                      </a:r>
                      <a:r>
                        <a:rPr lang="en-US" altLang="zh-CN" sz="2000" baseline="-25000" dirty="0">
                          <a:solidFill>
                            <a:srgbClr val="060606"/>
                          </a:solidFill>
                        </a:rPr>
                        <a:t>2</a:t>
                      </a:r>
                      <a:r>
                        <a:rPr lang="en-US" altLang="zh-CN" sz="2000" dirty="0">
                          <a:solidFill>
                            <a:srgbClr val="060606"/>
                          </a:solidFill>
                        </a:rPr>
                        <a:t> + x</a:t>
                      </a:r>
                      <a:r>
                        <a:rPr lang="en-US" altLang="zh-CN" sz="2000" baseline="-25000" dirty="0">
                          <a:solidFill>
                            <a:srgbClr val="060606"/>
                          </a:solidFill>
                        </a:rPr>
                        <a:t>5 </a:t>
                      </a:r>
                      <a:r>
                        <a:rPr lang="en-US" altLang="zh-CN" sz="2000" dirty="0">
                          <a:solidFill>
                            <a:srgbClr val="060606"/>
                          </a:solidFill>
                        </a:rPr>
                        <a:t> = 18     x</a:t>
                      </a:r>
                      <a:r>
                        <a:rPr lang="en-US" altLang="zh-CN" sz="2000" baseline="-25000" dirty="0">
                          <a:solidFill>
                            <a:srgbClr val="060606"/>
                          </a:solidFill>
                        </a:rPr>
                        <a:t>5</a:t>
                      </a:r>
                      <a:r>
                        <a:rPr lang="en-US" altLang="zh-CN" sz="2000" baseline="0" dirty="0">
                          <a:solidFill>
                            <a:srgbClr val="060606"/>
                          </a:solidFill>
                        </a:rPr>
                        <a:t>        (3)</a:t>
                      </a:r>
                      <a:endParaRPr lang="zh-CN" altLang="en-US" sz="20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FF0000"/>
                          </a:solidFill>
                        </a:rPr>
                        <a:t>1        -3      -5      0        </a:t>
                      </a:r>
                      <a:r>
                        <a:rPr lang="en-US" altLang="zh-CN" sz="2000" dirty="0" err="1">
                          <a:ln>
                            <a:solidFill>
                              <a:srgbClr val="00000C"/>
                            </a:solidFill>
                          </a:ln>
                          <a:solidFill>
                            <a:srgbClr val="FF0000"/>
                          </a:solidFill>
                        </a:rPr>
                        <a:t>0</a:t>
                      </a:r>
                      <a:r>
                        <a:rPr lang="en-US" altLang="zh-CN" sz="2000" dirty="0">
                          <a:ln>
                            <a:solidFill>
                              <a:srgbClr val="00000C"/>
                            </a:solidFill>
                          </a:ln>
                          <a:solidFill>
                            <a:srgbClr val="FF0000"/>
                          </a:solidFill>
                        </a:rPr>
                        <a:t>        </a:t>
                      </a:r>
                      <a:r>
                        <a:rPr lang="en-US" altLang="zh-CN" sz="2000" dirty="0" err="1">
                          <a:ln>
                            <a:solidFill>
                              <a:srgbClr val="00000C"/>
                            </a:solidFill>
                          </a:ln>
                          <a:solidFill>
                            <a:srgbClr val="FF0000"/>
                          </a:solidFill>
                        </a:rPr>
                        <a:t>0</a:t>
                      </a:r>
                      <a:endParaRPr lang="en-US" altLang="zh-CN" sz="2000" dirty="0">
                        <a:ln>
                          <a:solidFill>
                            <a:srgbClr val="00000C"/>
                          </a:solidFill>
                        </a:ln>
                        <a:solidFill>
                          <a:srgbClr val="FF0000"/>
                        </a:solidFill>
                      </a:endParaRPr>
                    </a:p>
                    <a:p>
                      <a:r>
                        <a:rPr lang="en-US" altLang="zh-CN" sz="2000" dirty="0">
                          <a:ln>
                            <a:solidFill>
                              <a:srgbClr val="00000C"/>
                            </a:solidFill>
                          </a:ln>
                          <a:solidFill>
                            <a:srgbClr val="060606"/>
                          </a:solidFill>
                        </a:rPr>
                        <a:t>0       </a:t>
                      </a:r>
                      <a:r>
                        <a:rPr lang="en-US" altLang="zh-CN" sz="2000" baseline="0" dirty="0">
                          <a:ln>
                            <a:solidFill>
                              <a:srgbClr val="00000C"/>
                            </a:solidFill>
                          </a:ln>
                          <a:solidFill>
                            <a:srgbClr val="060606"/>
                          </a:solidFill>
                        </a:rPr>
                        <a:t>  1       0       1        0        </a:t>
                      </a:r>
                      <a:r>
                        <a:rPr lang="en-US" altLang="zh-CN" sz="2000" baseline="0" dirty="0" err="1">
                          <a:ln>
                            <a:solidFill>
                              <a:srgbClr val="00000C"/>
                            </a:solidFill>
                          </a:ln>
                          <a:solidFill>
                            <a:srgbClr val="060606"/>
                          </a:solidFill>
                        </a:rPr>
                        <a:t>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2       0        1        0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0         3       2       0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b="1" dirty="0">
                          <a:ln>
                            <a:solidFill>
                              <a:srgbClr val="00000C"/>
                            </a:solidFill>
                          </a:ln>
                          <a:solidFill>
                            <a:srgbClr val="FF0000"/>
                          </a:solidFill>
                        </a:rPr>
                        <a:t>0</a:t>
                      </a:r>
                      <a:endParaRPr lang="en-US" altLang="zh-CN" sz="2000" b="1" dirty="0">
                        <a:ln>
                          <a:solidFill>
                            <a:srgbClr val="00000C"/>
                          </a:solidFill>
                        </a:ln>
                        <a:solidFill>
                          <a:srgbClr val="FF0000"/>
                        </a:solidFill>
                      </a:endParaRPr>
                    </a:p>
                    <a:p>
                      <a:r>
                        <a:rPr lang="en-US" altLang="zh-CN" sz="2000" dirty="0">
                          <a:ln>
                            <a:solidFill>
                              <a:srgbClr val="00000C"/>
                            </a:solidFill>
                          </a:ln>
                          <a:solidFill>
                            <a:srgbClr val="060606"/>
                          </a:solidFill>
                        </a:rPr>
                        <a:t>4</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12</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18</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FF0000"/>
                          </a:solidFill>
                        </a:rPr>
                        <a:t>                                                z         (0)</a:t>
                      </a:r>
                      <a:endParaRPr lang="en-US" altLang="zh-CN" sz="20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3</a:t>
                      </a:r>
                      <a:r>
                        <a:rPr lang="en-US" altLang="zh-CN" sz="2000" baseline="0" dirty="0">
                          <a:solidFill>
                            <a:srgbClr val="060606"/>
                          </a:solidFill>
                        </a:rPr>
                        <a:t>       (1)</a:t>
                      </a:r>
                      <a:endParaRPr lang="en-US" altLang="zh-CN" sz="20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a:t>
                      </a:r>
                      <a:r>
                        <a:rPr lang="en-US" altLang="zh-CN" sz="2000" b="1" dirty="0">
                          <a:solidFill>
                            <a:srgbClr val="0322BD"/>
                          </a:solidFill>
                        </a:rPr>
                        <a:t>x</a:t>
                      </a:r>
                      <a:r>
                        <a:rPr lang="en-US" altLang="zh-CN" sz="2000" b="1" baseline="-25000" dirty="0">
                          <a:solidFill>
                            <a:srgbClr val="0322BD"/>
                          </a:solidFill>
                        </a:rPr>
                        <a:t>2</a:t>
                      </a:r>
                      <a:r>
                        <a:rPr lang="en-US" altLang="zh-CN" sz="2000" baseline="0" dirty="0">
                          <a:solidFill>
                            <a:srgbClr val="060606"/>
                          </a:solidFill>
                        </a:rPr>
                        <a:t>       (2)</a:t>
                      </a:r>
                      <a:endParaRPr lang="en-US" altLang="zh-CN" sz="20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5</a:t>
                      </a:r>
                      <a:r>
                        <a:rPr lang="en-US" altLang="zh-CN" sz="2000" baseline="0" dirty="0">
                          <a:solidFill>
                            <a:srgbClr val="060606"/>
                          </a:solidFill>
                        </a:rPr>
                        <a:t>        (3)</a:t>
                      </a:r>
                      <a:endParaRPr lang="zh-CN" altLang="en-US" sz="20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000" dirty="0">
                          <a:ln>
                            <a:solidFill>
                              <a:srgbClr val="00000C"/>
                            </a:solidFill>
                          </a:ln>
                          <a:solidFill>
                            <a:srgbClr val="FF0000"/>
                          </a:solidFill>
                        </a:rPr>
                        <a:t>1        -3       0       </a:t>
                      </a:r>
                      <a:r>
                        <a:rPr lang="en-US" altLang="zh-CN" sz="2000" dirty="0" err="1">
                          <a:ln>
                            <a:solidFill>
                              <a:srgbClr val="00000C"/>
                            </a:solidFill>
                          </a:ln>
                          <a:solidFill>
                            <a:srgbClr val="FF0000"/>
                          </a:solidFill>
                        </a:rPr>
                        <a:t>0</a:t>
                      </a:r>
                      <a:r>
                        <a:rPr lang="en-US" altLang="zh-CN" sz="2000" dirty="0">
                          <a:ln>
                            <a:solidFill>
                              <a:srgbClr val="00000C"/>
                            </a:solidFill>
                          </a:ln>
                          <a:solidFill>
                            <a:srgbClr val="FF0000"/>
                          </a:solidFill>
                        </a:rPr>
                        <a:t>      5/2       0</a:t>
                      </a:r>
                      <a:endParaRPr lang="en-US" altLang="zh-CN" sz="2000" dirty="0">
                        <a:ln>
                          <a:solidFill>
                            <a:srgbClr val="00000C"/>
                          </a:solidFill>
                        </a:ln>
                        <a:solidFill>
                          <a:srgbClr val="FF0000"/>
                        </a:solidFill>
                      </a:endParaRPr>
                    </a:p>
                    <a:p>
                      <a:r>
                        <a:rPr lang="en-US" altLang="zh-CN" sz="2000" dirty="0">
                          <a:ln>
                            <a:solidFill>
                              <a:srgbClr val="00000C"/>
                            </a:solidFill>
                          </a:ln>
                          <a:solidFill>
                            <a:srgbClr val="060606"/>
                          </a:solidFill>
                        </a:rPr>
                        <a:t>0       </a:t>
                      </a:r>
                      <a:r>
                        <a:rPr lang="en-US" altLang="zh-CN" sz="2000" baseline="0" dirty="0">
                          <a:ln>
                            <a:solidFill>
                              <a:srgbClr val="00000C"/>
                            </a:solidFill>
                          </a:ln>
                          <a:solidFill>
                            <a:srgbClr val="060606"/>
                          </a:solidFill>
                        </a:rPr>
                        <a:t>  1       0       1        0         </a:t>
                      </a:r>
                      <a:r>
                        <a:rPr lang="en-US" altLang="zh-CN" sz="2000" baseline="0" dirty="0" err="1">
                          <a:ln>
                            <a:solidFill>
                              <a:srgbClr val="00000C"/>
                            </a:solidFill>
                          </a:ln>
                          <a:solidFill>
                            <a:srgbClr val="060606"/>
                          </a:solidFill>
                        </a:rPr>
                        <a:t>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a:t>
                      </a:r>
                      <a:r>
                        <a:rPr lang="en-US" altLang="zh-CN" sz="2000" b="1" baseline="0" dirty="0">
                          <a:ln>
                            <a:solidFill>
                              <a:srgbClr val="00000C"/>
                            </a:solidFill>
                          </a:ln>
                          <a:solidFill>
                            <a:srgbClr val="109C17"/>
                          </a:solidFill>
                        </a:rPr>
                        <a:t>1</a:t>
                      </a:r>
                      <a:r>
                        <a:rPr lang="en-US" altLang="zh-CN" sz="2000" baseline="0" dirty="0">
                          <a:ln>
                            <a:solidFill>
                              <a:srgbClr val="00000C"/>
                            </a:solidFill>
                          </a:ln>
                          <a:solidFill>
                            <a:srgbClr val="060606"/>
                          </a:solidFill>
                        </a:rPr>
                        <a:t>       0      1/2        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0         3       0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-1        1</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000" b="1" dirty="0">
                          <a:ln>
                            <a:solidFill>
                              <a:srgbClr val="00000C"/>
                            </a:solidFill>
                          </a:ln>
                          <a:solidFill>
                            <a:srgbClr val="109C17"/>
                          </a:solidFill>
                        </a:rPr>
                        <a:t>30</a:t>
                      </a:r>
                      <a:endParaRPr lang="en-US" altLang="zh-CN" sz="2000" b="1" dirty="0">
                        <a:ln>
                          <a:solidFill>
                            <a:srgbClr val="00000C"/>
                          </a:solidFill>
                        </a:ln>
                        <a:solidFill>
                          <a:srgbClr val="109C17"/>
                        </a:solidFill>
                      </a:endParaRPr>
                    </a:p>
                    <a:p>
                      <a:r>
                        <a:rPr lang="en-US" altLang="zh-CN" sz="2000" dirty="0">
                          <a:ln>
                            <a:solidFill>
                              <a:srgbClr val="00000C"/>
                            </a:solidFill>
                          </a:ln>
                          <a:solidFill>
                            <a:srgbClr val="060606"/>
                          </a:solidFill>
                        </a:rPr>
                        <a:t>4</a:t>
                      </a:r>
                      <a:endParaRPr lang="en-US" altLang="zh-CN" sz="2000" dirty="0">
                        <a:ln>
                          <a:solidFill>
                            <a:srgbClr val="00000C"/>
                          </a:solidFill>
                        </a:ln>
                        <a:solidFill>
                          <a:srgbClr val="060606"/>
                        </a:solidFill>
                      </a:endParaRPr>
                    </a:p>
                    <a:p>
                      <a:r>
                        <a:rPr lang="en-US" altLang="zh-CN" sz="2000" b="1" dirty="0">
                          <a:ln>
                            <a:solidFill>
                              <a:srgbClr val="00000C"/>
                            </a:solidFill>
                          </a:ln>
                          <a:solidFill>
                            <a:srgbClr val="109C17"/>
                          </a:solidFill>
                        </a:rPr>
                        <a:t>6</a:t>
                      </a:r>
                      <a:endParaRPr lang="en-US" altLang="zh-CN" sz="2000" b="1" dirty="0">
                        <a:ln>
                          <a:solidFill>
                            <a:srgbClr val="00000C"/>
                          </a:solidFill>
                        </a:ln>
                        <a:solidFill>
                          <a:srgbClr val="109C17"/>
                        </a:solidFill>
                      </a:endParaRPr>
                    </a:p>
                    <a:p>
                      <a:r>
                        <a:rPr lang="en-US" altLang="zh-CN" sz="2000" dirty="0">
                          <a:ln>
                            <a:solidFill>
                              <a:srgbClr val="00000C"/>
                            </a:solidFill>
                          </a:ln>
                          <a:solidFill>
                            <a:srgbClr val="060606"/>
                          </a:solidFill>
                        </a:rPr>
                        <a:t>6</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grpSp>
        <p:nvGrpSpPr>
          <p:cNvPr id="45" name="组合 44"/>
          <p:cNvGrpSpPr/>
          <p:nvPr/>
        </p:nvGrpSpPr>
        <p:grpSpPr>
          <a:xfrm>
            <a:off x="2297827" y="3898011"/>
            <a:ext cx="3950573" cy="1798290"/>
            <a:chOff x="2888759" y="4799062"/>
            <a:chExt cx="3950573" cy="1798290"/>
          </a:xfrm>
        </p:grpSpPr>
        <p:grpSp>
          <p:nvGrpSpPr>
            <p:cNvPr id="46" name="组合 45"/>
            <p:cNvGrpSpPr/>
            <p:nvPr/>
          </p:nvGrpSpPr>
          <p:grpSpPr>
            <a:xfrm>
              <a:off x="6318632" y="4935358"/>
              <a:ext cx="520700" cy="1661994"/>
              <a:chOff x="4499992" y="4935358"/>
              <a:chExt cx="520700" cy="1661994"/>
            </a:xfrm>
          </p:grpSpPr>
          <p:sp>
            <p:nvSpPr>
              <p:cNvPr id="50" name="矩形 49"/>
              <p:cNvSpPr/>
              <p:nvPr/>
            </p:nvSpPr>
            <p:spPr>
              <a:xfrm>
                <a:off x="4644008" y="5397023"/>
                <a:ext cx="356188" cy="1200329"/>
              </a:xfrm>
              <a:prstGeom prst="rect">
                <a:avLst/>
              </a:prstGeom>
            </p:spPr>
            <p:txBody>
              <a:bodyPr wrap="none">
                <a:spAutoFit/>
              </a:bodyPr>
              <a:lstStyle/>
              <a:p>
                <a:r>
                  <a:rPr lang="en-US" altLang="zh-CN" sz="2400" b="1" dirty="0">
                    <a:solidFill>
                      <a:srgbClr val="060606"/>
                    </a:solidFill>
                  </a:rPr>
                  <a:t>0</a:t>
                </a:r>
                <a:endParaRPr lang="en-US" altLang="zh-CN" sz="2400" b="1" dirty="0">
                  <a:solidFill>
                    <a:srgbClr val="060606"/>
                  </a:solidFill>
                </a:endParaRPr>
              </a:p>
              <a:p>
                <a:r>
                  <a:rPr lang="en-US" altLang="zh-CN" sz="2400" b="1" dirty="0">
                    <a:solidFill>
                      <a:srgbClr val="060606"/>
                    </a:solidFill>
                  </a:rPr>
                  <a:t>1</a:t>
                </a:r>
                <a:endParaRPr lang="en-US" altLang="zh-CN" sz="2400" b="1" dirty="0">
                  <a:solidFill>
                    <a:srgbClr val="060606"/>
                  </a:solidFill>
                </a:endParaRPr>
              </a:p>
              <a:p>
                <a:r>
                  <a:rPr lang="en-US" altLang="zh-CN" sz="2400" b="1" dirty="0">
                    <a:solidFill>
                      <a:srgbClr val="060606"/>
                    </a:solidFill>
                  </a:rPr>
                  <a:t>0</a:t>
                </a:r>
                <a:endParaRPr lang="zh-CN" altLang="en-US" sz="2400" dirty="0"/>
              </a:p>
            </p:txBody>
          </p:sp>
          <p:sp>
            <p:nvSpPr>
              <p:cNvPr id="51" name="任意多边形 14"/>
              <p:cNvSpPr/>
              <p:nvPr/>
            </p:nvSpPr>
            <p:spPr bwMode="auto">
              <a:xfrm>
                <a:off x="4499992" y="5397023"/>
                <a:ext cx="520700" cy="1169368"/>
              </a:xfrm>
              <a:custGeom>
                <a:avLst/>
                <a:gdLst>
                  <a:gd name="connsiteX0" fmla="*/ 63500 w 520700"/>
                  <a:gd name="connsiteY0" fmla="*/ 0 h 1409700"/>
                  <a:gd name="connsiteX1" fmla="*/ 520700 w 520700"/>
                  <a:gd name="connsiteY1" fmla="*/ 0 h 1409700"/>
                  <a:gd name="connsiteX2" fmla="*/ 508000 w 520700"/>
                  <a:gd name="connsiteY2" fmla="*/ 1409700 h 1409700"/>
                  <a:gd name="connsiteX3" fmla="*/ 0 w 520700"/>
                  <a:gd name="connsiteY3" fmla="*/ 1295400 h 1409700"/>
                  <a:gd name="connsiteX4" fmla="*/ 63500 w 520700"/>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700" h="1409700">
                    <a:moveTo>
                      <a:pt x="63500" y="0"/>
                    </a:moveTo>
                    <a:lnTo>
                      <a:pt x="520700" y="0"/>
                    </a:lnTo>
                    <a:lnTo>
                      <a:pt x="508000" y="1409700"/>
                    </a:lnTo>
                    <a:lnTo>
                      <a:pt x="0" y="1295400"/>
                    </a:lnTo>
                    <a:lnTo>
                      <a:pt x="63500" y="0"/>
                    </a:lnTo>
                    <a:close/>
                  </a:path>
                </a:pathLst>
              </a:custGeom>
              <a:no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52" name="任意多边形 17"/>
              <p:cNvSpPr/>
              <p:nvPr/>
            </p:nvSpPr>
            <p:spPr bwMode="auto">
              <a:xfrm>
                <a:off x="4572000" y="5036983"/>
                <a:ext cx="448692" cy="288032"/>
              </a:xfrm>
              <a:custGeom>
                <a:avLst/>
                <a:gdLst>
                  <a:gd name="connsiteX0" fmla="*/ 63500 w 520700"/>
                  <a:gd name="connsiteY0" fmla="*/ 0 h 1409700"/>
                  <a:gd name="connsiteX1" fmla="*/ 520700 w 520700"/>
                  <a:gd name="connsiteY1" fmla="*/ 0 h 1409700"/>
                  <a:gd name="connsiteX2" fmla="*/ 508000 w 520700"/>
                  <a:gd name="connsiteY2" fmla="*/ 1409700 h 1409700"/>
                  <a:gd name="connsiteX3" fmla="*/ 0 w 520700"/>
                  <a:gd name="connsiteY3" fmla="*/ 1295400 h 1409700"/>
                  <a:gd name="connsiteX4" fmla="*/ 63500 w 520700"/>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700" h="1409700">
                    <a:moveTo>
                      <a:pt x="63500" y="0"/>
                    </a:moveTo>
                    <a:lnTo>
                      <a:pt x="520700" y="0"/>
                    </a:lnTo>
                    <a:lnTo>
                      <a:pt x="508000" y="1409700"/>
                    </a:lnTo>
                    <a:lnTo>
                      <a:pt x="0" y="1295400"/>
                    </a:lnTo>
                    <a:lnTo>
                      <a:pt x="63500" y="0"/>
                    </a:lnTo>
                    <a:close/>
                  </a:path>
                </a:pathLst>
              </a:custGeom>
              <a:no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endParaRPr lang="en-US" altLang="zh-CN" sz="2400" b="1" dirty="0">
                  <a:solidFill>
                    <a:srgbClr val="060606"/>
                  </a:solidFill>
                </a:endParaRPr>
              </a:p>
            </p:txBody>
          </p:sp>
          <p:sp>
            <p:nvSpPr>
              <p:cNvPr id="53" name="矩形 52"/>
              <p:cNvSpPr/>
              <p:nvPr/>
            </p:nvSpPr>
            <p:spPr>
              <a:xfrm>
                <a:off x="4663890" y="4935358"/>
                <a:ext cx="356188" cy="461665"/>
              </a:xfrm>
              <a:prstGeom prst="rect">
                <a:avLst/>
              </a:prstGeom>
            </p:spPr>
            <p:txBody>
              <a:bodyPr wrap="none">
                <a:spAutoFit/>
              </a:bodyPr>
              <a:lstStyle/>
              <a:p>
                <a:r>
                  <a:rPr lang="en-US" altLang="zh-CN" sz="2400" b="1" dirty="0">
                    <a:solidFill>
                      <a:srgbClr val="060606"/>
                    </a:solidFill>
                  </a:rPr>
                  <a:t>0</a:t>
                </a:r>
                <a:endParaRPr lang="zh-CN" altLang="en-US" sz="2400" dirty="0"/>
              </a:p>
            </p:txBody>
          </p:sp>
        </p:grpSp>
        <p:grpSp>
          <p:nvGrpSpPr>
            <p:cNvPr id="47" name="组合 46"/>
            <p:cNvGrpSpPr/>
            <p:nvPr/>
          </p:nvGrpSpPr>
          <p:grpSpPr>
            <a:xfrm>
              <a:off x="2888759" y="4799062"/>
              <a:ext cx="3575161" cy="941451"/>
              <a:chOff x="2624983" y="4893342"/>
              <a:chExt cx="2099160" cy="941451"/>
            </a:xfrm>
          </p:grpSpPr>
          <p:sp>
            <p:nvSpPr>
              <p:cNvPr id="48" name="矩形 47"/>
              <p:cNvSpPr/>
              <p:nvPr/>
            </p:nvSpPr>
            <p:spPr>
              <a:xfrm>
                <a:off x="2624983" y="5003796"/>
                <a:ext cx="1656184" cy="830997"/>
              </a:xfrm>
              <a:prstGeom prst="rect">
                <a:avLst/>
              </a:prstGeom>
            </p:spPr>
            <p:txBody>
              <a:bodyPr wrap="square">
                <a:spAutoFit/>
              </a:bodyPr>
              <a:lstStyle/>
              <a:p>
                <a:r>
                  <a:rPr lang="zh-CN" altLang="en-US" sz="2400" b="1" dirty="0">
                    <a:solidFill>
                      <a:srgbClr val="00000C"/>
                    </a:solidFill>
                  </a:rPr>
                  <a:t>接下来，想办法将该列变为基向量</a:t>
                </a:r>
                <a:endParaRPr lang="zh-CN" altLang="en-US" sz="2400" b="1" dirty="0">
                  <a:solidFill>
                    <a:srgbClr val="00000C"/>
                  </a:solidFill>
                </a:endParaRPr>
              </a:p>
            </p:txBody>
          </p:sp>
          <p:sp>
            <p:nvSpPr>
              <p:cNvPr id="49" name="直角上箭头 21"/>
              <p:cNvSpPr/>
              <p:nvPr/>
            </p:nvSpPr>
            <p:spPr bwMode="auto">
              <a:xfrm rot="7953224">
                <a:off x="4154792" y="5030645"/>
                <a:ext cx="706654" cy="432048"/>
              </a:xfrm>
              <a:prstGeom prst="bentUpArrow">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grpSp>
      <p:grpSp>
        <p:nvGrpSpPr>
          <p:cNvPr id="54" name="组合 53"/>
          <p:cNvGrpSpPr/>
          <p:nvPr/>
        </p:nvGrpSpPr>
        <p:grpSpPr>
          <a:xfrm>
            <a:off x="5593080" y="750731"/>
            <a:ext cx="540504" cy="2118095"/>
            <a:chOff x="6131560" y="1644811"/>
            <a:chExt cx="540504" cy="2118095"/>
          </a:xfrm>
        </p:grpSpPr>
        <p:sp>
          <p:nvSpPr>
            <p:cNvPr id="55" name="矩形 54"/>
            <p:cNvSpPr/>
            <p:nvPr/>
          </p:nvSpPr>
          <p:spPr>
            <a:xfrm>
              <a:off x="6131560" y="3492292"/>
              <a:ext cx="540504" cy="270614"/>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6131560" y="1644811"/>
              <a:ext cx="540504" cy="270614"/>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7" name="组合 56"/>
          <p:cNvGrpSpPr/>
          <p:nvPr/>
        </p:nvGrpSpPr>
        <p:grpSpPr>
          <a:xfrm>
            <a:off x="3550372" y="2867938"/>
            <a:ext cx="7797523" cy="952398"/>
            <a:chOff x="4088852" y="3690898"/>
            <a:chExt cx="7797523" cy="952398"/>
          </a:xfrm>
        </p:grpSpPr>
        <p:grpSp>
          <p:nvGrpSpPr>
            <p:cNvPr id="58" name="组合 57"/>
            <p:cNvGrpSpPr/>
            <p:nvPr/>
          </p:nvGrpSpPr>
          <p:grpSpPr>
            <a:xfrm>
              <a:off x="6168008" y="3690898"/>
              <a:ext cx="5718367" cy="952398"/>
              <a:chOff x="6168008" y="3690898"/>
              <a:chExt cx="5718367" cy="952398"/>
            </a:xfrm>
          </p:grpSpPr>
          <p:sp>
            <p:nvSpPr>
              <p:cNvPr id="60" name="矩形 59"/>
              <p:cNvSpPr/>
              <p:nvPr/>
            </p:nvSpPr>
            <p:spPr>
              <a:xfrm>
                <a:off x="9880238" y="3690898"/>
                <a:ext cx="1272078" cy="369332"/>
              </a:xfrm>
              <a:prstGeom prst="rect">
                <a:avLst/>
              </a:prstGeom>
            </p:spPr>
            <p:txBody>
              <a:bodyPr wrap="square">
                <a:spAutoFit/>
              </a:bodyPr>
              <a:lstStyle/>
              <a:p>
                <a:r>
                  <a:rPr lang="en-US" altLang="zh-CN" b="1" dirty="0">
                    <a:solidFill>
                      <a:srgbClr val="060606"/>
                    </a:solidFill>
                  </a:rPr>
                  <a:t>4/1= 4</a:t>
                </a:r>
                <a:endParaRPr lang="zh-CN" altLang="en-US" dirty="0"/>
              </a:p>
            </p:txBody>
          </p:sp>
          <p:sp>
            <p:nvSpPr>
              <p:cNvPr id="61" name="矩形 60"/>
              <p:cNvSpPr/>
              <p:nvPr/>
            </p:nvSpPr>
            <p:spPr>
              <a:xfrm>
                <a:off x="9822265" y="3949338"/>
                <a:ext cx="1330051" cy="369332"/>
              </a:xfrm>
              <a:prstGeom prst="rect">
                <a:avLst/>
              </a:prstGeom>
            </p:spPr>
            <p:txBody>
              <a:bodyPr wrap="square">
                <a:spAutoFit/>
              </a:bodyPr>
              <a:lstStyle/>
              <a:p>
                <a:r>
                  <a:rPr lang="en-US" altLang="zh-CN" b="1" dirty="0">
                    <a:solidFill>
                      <a:srgbClr val="060606"/>
                    </a:solidFill>
                  </a:rPr>
                  <a:t>6/0=</a:t>
                </a:r>
                <a:r>
                  <a:rPr lang="zh-CN" altLang="en-US" b="1" dirty="0">
                    <a:solidFill>
                      <a:srgbClr val="060606"/>
                    </a:solidFill>
                  </a:rPr>
                  <a:t>∞</a:t>
                </a:r>
                <a:endParaRPr lang="zh-CN" altLang="en-US" dirty="0"/>
              </a:p>
            </p:txBody>
          </p:sp>
          <p:sp>
            <p:nvSpPr>
              <p:cNvPr id="62" name="矩形 61"/>
              <p:cNvSpPr/>
              <p:nvPr/>
            </p:nvSpPr>
            <p:spPr>
              <a:xfrm>
                <a:off x="9822265" y="4248418"/>
                <a:ext cx="1330051" cy="369332"/>
              </a:xfrm>
              <a:prstGeom prst="rect">
                <a:avLst/>
              </a:prstGeom>
            </p:spPr>
            <p:txBody>
              <a:bodyPr wrap="square">
                <a:spAutoFit/>
              </a:bodyPr>
              <a:lstStyle/>
              <a:p>
                <a:r>
                  <a:rPr lang="en-US" altLang="zh-CN" b="1" dirty="0">
                    <a:solidFill>
                      <a:srgbClr val="060606"/>
                    </a:solidFill>
                  </a:rPr>
                  <a:t>6/3=9</a:t>
                </a:r>
                <a:endParaRPr lang="zh-CN" altLang="en-US" dirty="0"/>
              </a:p>
            </p:txBody>
          </p:sp>
          <p:sp>
            <p:nvSpPr>
              <p:cNvPr id="63" name="矩形 62"/>
              <p:cNvSpPr/>
              <p:nvPr/>
            </p:nvSpPr>
            <p:spPr>
              <a:xfrm>
                <a:off x="10737558" y="4207778"/>
                <a:ext cx="1148817" cy="369332"/>
              </a:xfrm>
              <a:prstGeom prst="rect">
                <a:avLst/>
              </a:prstGeom>
            </p:spPr>
            <p:txBody>
              <a:bodyPr wrap="square">
                <a:spAutoFit/>
              </a:bodyPr>
              <a:lstStyle/>
              <a:p>
                <a:r>
                  <a:rPr lang="en-US" altLang="zh-CN" b="1" dirty="0">
                    <a:solidFill>
                      <a:srgbClr val="060606"/>
                    </a:solidFill>
                  </a:rPr>
                  <a:t>min√</a:t>
                </a:r>
                <a:endParaRPr lang="zh-CN" altLang="en-US" dirty="0"/>
              </a:p>
            </p:txBody>
          </p:sp>
          <p:sp>
            <p:nvSpPr>
              <p:cNvPr id="64" name="矩形 63"/>
              <p:cNvSpPr/>
              <p:nvPr/>
            </p:nvSpPr>
            <p:spPr>
              <a:xfrm>
                <a:off x="6168008" y="3718559"/>
                <a:ext cx="504056" cy="924737"/>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9" name="矩形 58"/>
            <p:cNvSpPr/>
            <p:nvPr/>
          </p:nvSpPr>
          <p:spPr>
            <a:xfrm>
              <a:off x="4088852" y="4384856"/>
              <a:ext cx="504056" cy="258440"/>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3205700" y="1930400"/>
            <a:ext cx="4764820" cy="1422400"/>
            <a:chOff x="3205700" y="1930400"/>
            <a:chExt cx="4764820" cy="1422400"/>
          </a:xfrm>
        </p:grpSpPr>
        <p:sp>
          <p:nvSpPr>
            <p:cNvPr id="18" name="任意多边形: 形状 17"/>
            <p:cNvSpPr/>
            <p:nvPr/>
          </p:nvSpPr>
          <p:spPr>
            <a:xfrm>
              <a:off x="3205700" y="1930400"/>
              <a:ext cx="472220" cy="1422400"/>
            </a:xfrm>
            <a:custGeom>
              <a:avLst/>
              <a:gdLst>
                <a:gd name="connsiteX0" fmla="*/ 269020 w 472220"/>
                <a:gd name="connsiteY0" fmla="*/ 0 h 1422400"/>
                <a:gd name="connsiteX1" fmla="*/ 4860 w 472220"/>
                <a:gd name="connsiteY1" fmla="*/ 924560 h 1422400"/>
                <a:gd name="connsiteX2" fmla="*/ 472220 w 472220"/>
                <a:gd name="connsiteY2" fmla="*/ 1422400 h 1422400"/>
              </a:gdLst>
              <a:ahLst/>
              <a:cxnLst>
                <a:cxn ang="0">
                  <a:pos x="connsiteX0" y="connsiteY0"/>
                </a:cxn>
                <a:cxn ang="0">
                  <a:pos x="connsiteX1" y="connsiteY1"/>
                </a:cxn>
                <a:cxn ang="0">
                  <a:pos x="connsiteX2" y="connsiteY2"/>
                </a:cxn>
              </a:cxnLst>
              <a:rect l="l" t="t" r="r" b="b"/>
              <a:pathLst>
                <a:path w="472220" h="1422400">
                  <a:moveTo>
                    <a:pt x="269020" y="0"/>
                  </a:moveTo>
                  <a:cubicBezTo>
                    <a:pt x="120006" y="343746"/>
                    <a:pt x="-29007" y="687493"/>
                    <a:pt x="4860" y="924560"/>
                  </a:cubicBezTo>
                  <a:cubicBezTo>
                    <a:pt x="38727" y="1161627"/>
                    <a:pt x="255473" y="1292013"/>
                    <a:pt x="472220" y="1422400"/>
                  </a:cubicBezTo>
                </a:path>
              </a:pathLst>
            </a:custGeom>
            <a:noFill/>
            <a:ln w="38100">
              <a:solidFill>
                <a:srgbClr val="00F0C8"/>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下 19"/>
            <p:cNvSpPr/>
            <p:nvPr/>
          </p:nvSpPr>
          <p:spPr>
            <a:xfrm>
              <a:off x="6248400" y="2357120"/>
              <a:ext cx="396240" cy="365760"/>
            </a:xfrm>
            <a:prstGeom prst="downArrow">
              <a:avLst/>
            </a:prstGeom>
            <a:ln>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箭头: 下 64"/>
            <p:cNvSpPr/>
            <p:nvPr/>
          </p:nvSpPr>
          <p:spPr>
            <a:xfrm>
              <a:off x="7574280" y="2326640"/>
              <a:ext cx="396240" cy="365760"/>
            </a:xfrm>
            <a:prstGeom prst="downArrow">
              <a:avLst/>
            </a:prstGeom>
            <a:ln>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72720" y="801793"/>
          <a:ext cx="11866881" cy="5142131"/>
        </p:xfrm>
        <a:graphic>
          <a:graphicData uri="http://schemas.openxmlformats.org/drawingml/2006/table">
            <a:tbl>
              <a:tblPr bandRow="1">
                <a:tableStyleId>{5C22544A-7EE6-4342-B048-85BDC9FD1C3A}</a:tableStyleId>
              </a:tblPr>
              <a:tblGrid>
                <a:gridCol w="4707522"/>
                <a:gridCol w="4315229"/>
                <a:gridCol w="2844130"/>
              </a:tblGrid>
              <a:tr h="442660">
                <a:tc rowSpan="2">
                  <a:txBody>
                    <a:bodyPr/>
                    <a:lstStyle/>
                    <a:p>
                      <a:r>
                        <a:rPr lang="zh-CN" altLang="en-US" sz="2000" dirty="0">
                          <a:ln>
                            <a:solidFill>
                              <a:srgbClr val="00000C"/>
                            </a:solidFill>
                          </a:ln>
                          <a:solidFill>
                            <a:srgbClr val="060606"/>
                          </a:solidFill>
                        </a:rPr>
                        <a:t>方程组                             基变量  </a:t>
                      </a:r>
                      <a:r>
                        <a:rPr lang="en-US" altLang="zh-CN" sz="2000" dirty="0">
                          <a:ln>
                            <a:solidFill>
                              <a:srgbClr val="00000C"/>
                            </a:solidFill>
                          </a:ln>
                          <a:solidFill>
                            <a:srgbClr val="060606"/>
                          </a:solidFill>
                        </a:rPr>
                        <a:t>Eq.</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                                              BV.</a:t>
                      </a:r>
                      <a:r>
                        <a:rPr lang="zh-CN" altLang="en-US" sz="2000" dirty="0">
                          <a:ln>
                            <a:solidFill>
                              <a:srgbClr val="00000C"/>
                            </a:solidFill>
                          </a:ln>
                          <a:solidFill>
                            <a:srgbClr val="060606"/>
                          </a:solidFill>
                        </a:rPr>
                        <a:t>     </a:t>
                      </a:r>
                      <a:endParaRPr lang="zh-CN" altLang="en-US" sz="2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pPr algn="ctr"/>
                      <a:r>
                        <a:rPr lang="zh-CN" altLang="en-US" sz="2000" dirty="0">
                          <a:ln>
                            <a:solidFill>
                              <a:srgbClr val="00000C"/>
                            </a:solidFill>
                          </a:ln>
                          <a:solidFill>
                            <a:srgbClr val="060606"/>
                          </a:solidFill>
                        </a:rPr>
                        <a:t>系数</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rowSpan="2">
                  <a:txBody>
                    <a:bodyPr/>
                    <a:lstStyle/>
                    <a:p>
                      <a:r>
                        <a:rPr lang="zh-CN" altLang="en-US" sz="2000" dirty="0">
                          <a:ln>
                            <a:solidFill>
                              <a:srgbClr val="00000C"/>
                            </a:solidFill>
                          </a:ln>
                          <a:solidFill>
                            <a:srgbClr val="060606"/>
                          </a:solidFill>
                        </a:rPr>
                        <a:t>方程右端      比值</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44266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060606"/>
                          </a:solidFill>
                        </a:rPr>
                        <a:t>Z</a:t>
                      </a:r>
                      <a:r>
                        <a:rPr lang="zh-CN" altLang="en-US" sz="2000" baseline="0" dirty="0">
                          <a:ln>
                            <a:solidFill>
                              <a:srgbClr val="00000C"/>
                            </a:solidFill>
                          </a:ln>
                          <a:solidFill>
                            <a:srgbClr val="060606"/>
                          </a:solidFill>
                        </a:rPr>
                        <a:t>        </a:t>
                      </a:r>
                      <a:r>
                        <a:rPr lang="en-US" altLang="zh-CN" sz="2000" baseline="0" dirty="0">
                          <a:ln>
                            <a:solidFill>
                              <a:srgbClr val="00000C"/>
                            </a:solidFill>
                          </a:ln>
                          <a:solidFill>
                            <a:srgbClr val="060606"/>
                          </a:solidFill>
                        </a:rPr>
                        <a:t>x1      x2     x3      x4      x5</a:t>
                      </a:r>
                      <a:endParaRPr lang="en-US" altLang="zh-CN"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FF0000"/>
                          </a:solidFill>
                        </a:rPr>
                        <a:t>（</a:t>
                      </a:r>
                      <a:r>
                        <a:rPr lang="en-US" altLang="zh-CN" sz="2000" dirty="0">
                          <a:solidFill>
                            <a:srgbClr val="FF0000"/>
                          </a:solidFill>
                        </a:rPr>
                        <a:t>0</a:t>
                      </a:r>
                      <a:r>
                        <a:rPr lang="zh-CN" altLang="en-US" sz="2000" dirty="0">
                          <a:solidFill>
                            <a:srgbClr val="FF0000"/>
                          </a:solidFill>
                        </a:rPr>
                        <a:t>） </a:t>
                      </a:r>
                      <a:r>
                        <a:rPr lang="en-US" altLang="zh-CN" sz="2000" dirty="0">
                          <a:solidFill>
                            <a:srgbClr val="FF0000"/>
                          </a:solidFill>
                        </a:rPr>
                        <a:t>z</a:t>
                      </a:r>
                      <a:r>
                        <a:rPr lang="zh-CN" altLang="en-US" sz="2000" dirty="0">
                          <a:solidFill>
                            <a:srgbClr val="FF0000"/>
                          </a:solidFill>
                        </a:rPr>
                        <a:t>－</a:t>
                      </a:r>
                      <a:r>
                        <a:rPr lang="en-US" altLang="zh-CN" sz="2000" dirty="0">
                          <a:solidFill>
                            <a:srgbClr val="FF0000"/>
                          </a:solidFill>
                        </a:rPr>
                        <a:t>3x</a:t>
                      </a:r>
                      <a:r>
                        <a:rPr lang="en-US" altLang="zh-CN" sz="2000" baseline="-25000" dirty="0">
                          <a:solidFill>
                            <a:srgbClr val="FF0000"/>
                          </a:solidFill>
                        </a:rPr>
                        <a:t>1</a:t>
                      </a:r>
                      <a:r>
                        <a:rPr lang="en-US" altLang="zh-CN" sz="2000" dirty="0">
                          <a:solidFill>
                            <a:srgbClr val="FF0000"/>
                          </a:solidFill>
                        </a:rPr>
                        <a:t> </a:t>
                      </a:r>
                      <a:r>
                        <a:rPr lang="zh-CN" altLang="en-US" sz="2000" dirty="0">
                          <a:solidFill>
                            <a:srgbClr val="FF0000"/>
                          </a:solidFill>
                        </a:rPr>
                        <a:t>－ </a:t>
                      </a:r>
                      <a:r>
                        <a:rPr lang="en-US" altLang="zh-CN" sz="2000" dirty="0">
                          <a:solidFill>
                            <a:srgbClr val="FF0000"/>
                          </a:solidFill>
                        </a:rPr>
                        <a:t>5x</a:t>
                      </a:r>
                      <a:r>
                        <a:rPr lang="en-US" altLang="zh-CN" sz="2000" baseline="-25000" dirty="0">
                          <a:solidFill>
                            <a:srgbClr val="FF0000"/>
                          </a:solidFill>
                        </a:rPr>
                        <a:t>2</a:t>
                      </a:r>
                      <a:r>
                        <a:rPr lang="en-US" altLang="zh-CN" sz="2000" dirty="0">
                          <a:solidFill>
                            <a:srgbClr val="FF0000"/>
                          </a:solidFill>
                        </a:rPr>
                        <a:t> = 0      z         (0)</a:t>
                      </a:r>
                      <a:endParaRPr lang="en-US" altLang="zh-CN" sz="20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1</a:t>
                      </a:r>
                      <a:r>
                        <a:rPr lang="zh-CN" altLang="en-US" sz="2000" dirty="0">
                          <a:solidFill>
                            <a:srgbClr val="060606"/>
                          </a:solidFill>
                        </a:rPr>
                        <a:t>）</a:t>
                      </a:r>
                      <a:r>
                        <a:rPr lang="en-US" altLang="zh-CN" sz="2000" dirty="0">
                          <a:solidFill>
                            <a:srgbClr val="060606"/>
                          </a:solidFill>
                        </a:rPr>
                        <a:t> x</a:t>
                      </a:r>
                      <a:r>
                        <a:rPr lang="en-US" altLang="zh-CN" sz="2000" baseline="-25000" dirty="0">
                          <a:solidFill>
                            <a:srgbClr val="060606"/>
                          </a:solidFill>
                        </a:rPr>
                        <a:t>1 </a:t>
                      </a:r>
                      <a:r>
                        <a:rPr lang="en-US" altLang="zh-CN" sz="2000" dirty="0">
                          <a:solidFill>
                            <a:srgbClr val="060606"/>
                          </a:solidFill>
                        </a:rPr>
                        <a:t>+ x</a:t>
                      </a:r>
                      <a:r>
                        <a:rPr lang="en-US" altLang="zh-CN" sz="2000" baseline="-25000" dirty="0">
                          <a:solidFill>
                            <a:srgbClr val="060606"/>
                          </a:solidFill>
                        </a:rPr>
                        <a:t>3</a:t>
                      </a:r>
                      <a:r>
                        <a:rPr lang="en-US" altLang="zh-CN" sz="2000" dirty="0">
                          <a:solidFill>
                            <a:srgbClr val="060606"/>
                          </a:solidFill>
                        </a:rPr>
                        <a:t>= 4                    x</a:t>
                      </a:r>
                      <a:r>
                        <a:rPr lang="en-US" altLang="zh-CN" sz="2000" baseline="-25000" dirty="0">
                          <a:solidFill>
                            <a:srgbClr val="060606"/>
                          </a:solidFill>
                        </a:rPr>
                        <a:t>3</a:t>
                      </a:r>
                      <a:r>
                        <a:rPr lang="en-US" altLang="zh-CN" sz="2000" baseline="0" dirty="0">
                          <a:solidFill>
                            <a:srgbClr val="060606"/>
                          </a:solidFill>
                        </a:rPr>
                        <a:t>       (1)</a:t>
                      </a:r>
                      <a:endParaRPr lang="en-US" altLang="zh-CN" sz="20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2</a:t>
                      </a:r>
                      <a:r>
                        <a:rPr lang="zh-CN" altLang="en-US" sz="2000" dirty="0">
                          <a:solidFill>
                            <a:srgbClr val="060606"/>
                          </a:solidFill>
                        </a:rPr>
                        <a:t>）</a:t>
                      </a:r>
                      <a:r>
                        <a:rPr lang="en-US" altLang="zh-CN" sz="2000" dirty="0">
                          <a:solidFill>
                            <a:srgbClr val="060606"/>
                          </a:solidFill>
                        </a:rPr>
                        <a:t> 2x</a:t>
                      </a:r>
                      <a:r>
                        <a:rPr lang="en-US" altLang="zh-CN" sz="2000" baseline="-25000" dirty="0">
                          <a:solidFill>
                            <a:srgbClr val="060606"/>
                          </a:solidFill>
                        </a:rPr>
                        <a:t>2</a:t>
                      </a:r>
                      <a:r>
                        <a:rPr lang="en-US" altLang="zh-CN" sz="2000" dirty="0">
                          <a:solidFill>
                            <a:srgbClr val="060606"/>
                          </a:solidFill>
                        </a:rPr>
                        <a:t>  +x</a:t>
                      </a:r>
                      <a:r>
                        <a:rPr lang="en-US" altLang="zh-CN" sz="2000" baseline="-25000" dirty="0">
                          <a:solidFill>
                            <a:srgbClr val="060606"/>
                          </a:solidFill>
                        </a:rPr>
                        <a:t>4</a:t>
                      </a:r>
                      <a:r>
                        <a:rPr lang="en-US" altLang="zh-CN" sz="2000" dirty="0">
                          <a:solidFill>
                            <a:srgbClr val="060606"/>
                          </a:solidFill>
                        </a:rPr>
                        <a:t> =12               x</a:t>
                      </a:r>
                      <a:r>
                        <a:rPr lang="en-US" altLang="zh-CN" sz="2000" baseline="-25000" dirty="0">
                          <a:solidFill>
                            <a:srgbClr val="060606"/>
                          </a:solidFill>
                        </a:rPr>
                        <a:t>4</a:t>
                      </a:r>
                      <a:r>
                        <a:rPr lang="en-US" altLang="zh-CN" sz="2000" baseline="0" dirty="0">
                          <a:solidFill>
                            <a:srgbClr val="060606"/>
                          </a:solidFill>
                        </a:rPr>
                        <a:t>       (2)</a:t>
                      </a:r>
                      <a:endParaRPr lang="en-US" altLang="zh-CN" sz="20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3</a:t>
                      </a:r>
                      <a:r>
                        <a:rPr lang="zh-CN" altLang="en-US" sz="2000" dirty="0">
                          <a:solidFill>
                            <a:srgbClr val="060606"/>
                          </a:solidFill>
                        </a:rPr>
                        <a:t>）</a:t>
                      </a:r>
                      <a:r>
                        <a:rPr lang="en-US" altLang="zh-CN" sz="2000" dirty="0">
                          <a:solidFill>
                            <a:srgbClr val="060606"/>
                          </a:solidFill>
                        </a:rPr>
                        <a:t> 3x</a:t>
                      </a:r>
                      <a:r>
                        <a:rPr lang="en-US" altLang="zh-CN" sz="2000" baseline="-25000" dirty="0">
                          <a:solidFill>
                            <a:srgbClr val="060606"/>
                          </a:solidFill>
                        </a:rPr>
                        <a:t>1</a:t>
                      </a:r>
                      <a:r>
                        <a:rPr lang="en-US" altLang="zh-CN" sz="2000" dirty="0">
                          <a:solidFill>
                            <a:srgbClr val="060606"/>
                          </a:solidFill>
                        </a:rPr>
                        <a:t>+2x</a:t>
                      </a:r>
                      <a:r>
                        <a:rPr lang="en-US" altLang="zh-CN" sz="2000" baseline="-25000" dirty="0">
                          <a:solidFill>
                            <a:srgbClr val="060606"/>
                          </a:solidFill>
                        </a:rPr>
                        <a:t>2</a:t>
                      </a:r>
                      <a:r>
                        <a:rPr lang="en-US" altLang="zh-CN" sz="2000" dirty="0">
                          <a:solidFill>
                            <a:srgbClr val="060606"/>
                          </a:solidFill>
                        </a:rPr>
                        <a:t> + x</a:t>
                      </a:r>
                      <a:r>
                        <a:rPr lang="en-US" altLang="zh-CN" sz="2000" baseline="-25000" dirty="0">
                          <a:solidFill>
                            <a:srgbClr val="060606"/>
                          </a:solidFill>
                        </a:rPr>
                        <a:t>5 </a:t>
                      </a:r>
                      <a:r>
                        <a:rPr lang="en-US" altLang="zh-CN" sz="2000" dirty="0">
                          <a:solidFill>
                            <a:srgbClr val="060606"/>
                          </a:solidFill>
                        </a:rPr>
                        <a:t> = 18     x</a:t>
                      </a:r>
                      <a:r>
                        <a:rPr lang="en-US" altLang="zh-CN" sz="2000" baseline="-25000" dirty="0">
                          <a:solidFill>
                            <a:srgbClr val="060606"/>
                          </a:solidFill>
                        </a:rPr>
                        <a:t>5</a:t>
                      </a:r>
                      <a:r>
                        <a:rPr lang="en-US" altLang="zh-CN" sz="2000" baseline="0" dirty="0">
                          <a:solidFill>
                            <a:srgbClr val="060606"/>
                          </a:solidFill>
                        </a:rPr>
                        <a:t>        (3)</a:t>
                      </a:r>
                      <a:endParaRPr lang="zh-CN" altLang="en-US" sz="20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FF0000"/>
                          </a:solidFill>
                        </a:rPr>
                        <a:t>1        -3      -5      0        </a:t>
                      </a:r>
                      <a:r>
                        <a:rPr lang="en-US" altLang="zh-CN" sz="2000" dirty="0" err="1">
                          <a:ln>
                            <a:solidFill>
                              <a:srgbClr val="00000C"/>
                            </a:solidFill>
                          </a:ln>
                          <a:solidFill>
                            <a:srgbClr val="FF0000"/>
                          </a:solidFill>
                        </a:rPr>
                        <a:t>0</a:t>
                      </a:r>
                      <a:r>
                        <a:rPr lang="en-US" altLang="zh-CN" sz="2000" dirty="0">
                          <a:ln>
                            <a:solidFill>
                              <a:srgbClr val="00000C"/>
                            </a:solidFill>
                          </a:ln>
                          <a:solidFill>
                            <a:srgbClr val="FF0000"/>
                          </a:solidFill>
                        </a:rPr>
                        <a:t>        </a:t>
                      </a:r>
                      <a:r>
                        <a:rPr lang="en-US" altLang="zh-CN" sz="2000" dirty="0" err="1">
                          <a:ln>
                            <a:solidFill>
                              <a:srgbClr val="00000C"/>
                            </a:solidFill>
                          </a:ln>
                          <a:solidFill>
                            <a:srgbClr val="FF0000"/>
                          </a:solidFill>
                        </a:rPr>
                        <a:t>0</a:t>
                      </a:r>
                      <a:endParaRPr lang="en-US" altLang="zh-CN" sz="2000" dirty="0">
                        <a:ln>
                          <a:solidFill>
                            <a:srgbClr val="00000C"/>
                          </a:solidFill>
                        </a:ln>
                        <a:solidFill>
                          <a:srgbClr val="FF0000"/>
                        </a:solidFill>
                      </a:endParaRPr>
                    </a:p>
                    <a:p>
                      <a:r>
                        <a:rPr lang="en-US" altLang="zh-CN" sz="2000" dirty="0">
                          <a:ln>
                            <a:solidFill>
                              <a:srgbClr val="00000C"/>
                            </a:solidFill>
                          </a:ln>
                          <a:solidFill>
                            <a:srgbClr val="060606"/>
                          </a:solidFill>
                        </a:rPr>
                        <a:t>0       </a:t>
                      </a:r>
                      <a:r>
                        <a:rPr lang="en-US" altLang="zh-CN" sz="2000" baseline="0" dirty="0">
                          <a:ln>
                            <a:solidFill>
                              <a:srgbClr val="00000C"/>
                            </a:solidFill>
                          </a:ln>
                          <a:solidFill>
                            <a:srgbClr val="060606"/>
                          </a:solidFill>
                        </a:rPr>
                        <a:t>  1       0       1        0        </a:t>
                      </a:r>
                      <a:r>
                        <a:rPr lang="en-US" altLang="zh-CN" sz="2000" baseline="0" dirty="0" err="1">
                          <a:ln>
                            <a:solidFill>
                              <a:srgbClr val="00000C"/>
                            </a:solidFill>
                          </a:ln>
                          <a:solidFill>
                            <a:srgbClr val="060606"/>
                          </a:solidFill>
                        </a:rPr>
                        <a:t>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2       0        1        0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0         3       2       0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060606"/>
                          </a:solidFill>
                        </a:rPr>
                        <a:t>0</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4</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12</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18</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FF0000"/>
                          </a:solidFill>
                        </a:rPr>
                        <a:t>                                                z         (0)</a:t>
                      </a:r>
                      <a:endParaRPr lang="en-US" altLang="zh-CN" sz="20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3</a:t>
                      </a:r>
                      <a:r>
                        <a:rPr lang="en-US" altLang="zh-CN" sz="2000" baseline="0" dirty="0">
                          <a:solidFill>
                            <a:srgbClr val="060606"/>
                          </a:solidFill>
                        </a:rPr>
                        <a:t>       (1)</a:t>
                      </a:r>
                      <a:endParaRPr lang="en-US" altLang="zh-CN" sz="20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2</a:t>
                      </a:r>
                      <a:r>
                        <a:rPr lang="en-US" altLang="zh-CN" sz="2000" baseline="0" dirty="0">
                          <a:solidFill>
                            <a:srgbClr val="060606"/>
                          </a:solidFill>
                        </a:rPr>
                        <a:t>       (2)</a:t>
                      </a:r>
                      <a:endParaRPr lang="en-US" altLang="zh-CN" sz="20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a:t>
                      </a:r>
                      <a:r>
                        <a:rPr lang="en-US" altLang="zh-CN" sz="2000" b="1" dirty="0">
                          <a:solidFill>
                            <a:srgbClr val="0322BD"/>
                          </a:solidFill>
                        </a:rPr>
                        <a:t>x</a:t>
                      </a:r>
                      <a:r>
                        <a:rPr lang="en-US" altLang="zh-CN" sz="2000" b="1" baseline="-25000" dirty="0">
                          <a:solidFill>
                            <a:srgbClr val="0322BD"/>
                          </a:solidFill>
                        </a:rPr>
                        <a:t>5</a:t>
                      </a:r>
                      <a:r>
                        <a:rPr lang="en-US" altLang="zh-CN" sz="2000" b="1" baseline="0" dirty="0">
                          <a:solidFill>
                            <a:srgbClr val="0322BD"/>
                          </a:solidFill>
                        </a:rPr>
                        <a:t> </a:t>
                      </a:r>
                      <a:r>
                        <a:rPr lang="en-US" altLang="zh-CN" sz="2000" baseline="0" dirty="0">
                          <a:solidFill>
                            <a:srgbClr val="060606"/>
                          </a:solidFill>
                        </a:rPr>
                        <a:t>      (3)</a:t>
                      </a:r>
                      <a:endParaRPr lang="zh-CN" altLang="en-US" sz="20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FF0000"/>
                          </a:solidFill>
                        </a:rPr>
                        <a:t>1        -3       0       </a:t>
                      </a:r>
                      <a:r>
                        <a:rPr lang="en-US" altLang="zh-CN" sz="2000" dirty="0" err="1">
                          <a:ln>
                            <a:solidFill>
                              <a:srgbClr val="00000C"/>
                            </a:solidFill>
                          </a:ln>
                          <a:solidFill>
                            <a:srgbClr val="FF0000"/>
                          </a:solidFill>
                        </a:rPr>
                        <a:t>0</a:t>
                      </a:r>
                      <a:r>
                        <a:rPr lang="en-US" altLang="zh-CN" sz="2000" dirty="0">
                          <a:ln>
                            <a:solidFill>
                              <a:srgbClr val="00000C"/>
                            </a:solidFill>
                          </a:ln>
                          <a:solidFill>
                            <a:srgbClr val="FF0000"/>
                          </a:solidFill>
                        </a:rPr>
                        <a:t>      5/2       0</a:t>
                      </a:r>
                      <a:endParaRPr lang="en-US" altLang="zh-CN" sz="2000" dirty="0">
                        <a:ln>
                          <a:solidFill>
                            <a:srgbClr val="00000C"/>
                          </a:solidFill>
                        </a:ln>
                        <a:solidFill>
                          <a:srgbClr val="FF0000"/>
                        </a:solidFill>
                      </a:endParaRPr>
                    </a:p>
                    <a:p>
                      <a:r>
                        <a:rPr lang="en-US" altLang="zh-CN" sz="2000" dirty="0">
                          <a:ln>
                            <a:solidFill>
                              <a:srgbClr val="00000C"/>
                            </a:solidFill>
                          </a:ln>
                          <a:solidFill>
                            <a:srgbClr val="060606"/>
                          </a:solidFill>
                        </a:rPr>
                        <a:t>0       </a:t>
                      </a:r>
                      <a:r>
                        <a:rPr lang="en-US" altLang="zh-CN" sz="2000" baseline="0" dirty="0">
                          <a:ln>
                            <a:solidFill>
                              <a:srgbClr val="00000C"/>
                            </a:solidFill>
                          </a:ln>
                          <a:solidFill>
                            <a:srgbClr val="060606"/>
                          </a:solidFill>
                        </a:rPr>
                        <a:t>  1       0       1        0         </a:t>
                      </a:r>
                      <a:r>
                        <a:rPr lang="en-US" altLang="zh-CN" sz="2000" baseline="0" dirty="0" err="1">
                          <a:ln>
                            <a:solidFill>
                              <a:srgbClr val="00000C"/>
                            </a:solidFill>
                          </a:ln>
                          <a:solidFill>
                            <a:srgbClr val="060606"/>
                          </a:solidFill>
                        </a:rPr>
                        <a:t>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       0      1/2        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0         3       0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-1        1</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b="1" dirty="0">
                          <a:ln>
                            <a:solidFill>
                              <a:srgbClr val="00000C"/>
                            </a:solidFill>
                          </a:ln>
                          <a:solidFill>
                            <a:srgbClr val="FF0000"/>
                          </a:solidFill>
                        </a:rPr>
                        <a:t>30</a:t>
                      </a:r>
                      <a:endParaRPr lang="en-US" altLang="zh-CN" sz="2000" b="1" dirty="0">
                        <a:ln>
                          <a:solidFill>
                            <a:srgbClr val="00000C"/>
                          </a:solidFill>
                        </a:ln>
                        <a:solidFill>
                          <a:srgbClr val="FF0000"/>
                        </a:solidFill>
                      </a:endParaRPr>
                    </a:p>
                    <a:p>
                      <a:r>
                        <a:rPr lang="en-US" altLang="zh-CN" sz="2000" dirty="0">
                          <a:ln>
                            <a:solidFill>
                              <a:srgbClr val="00000C"/>
                            </a:solidFill>
                          </a:ln>
                          <a:solidFill>
                            <a:srgbClr val="060606"/>
                          </a:solidFill>
                        </a:rPr>
                        <a:t>4</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6</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6</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FF0000"/>
                          </a:solidFill>
                        </a:rPr>
                        <a:t>                                                z         (0)</a:t>
                      </a:r>
                      <a:endParaRPr lang="en-US" altLang="zh-CN" sz="20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3</a:t>
                      </a:r>
                      <a:r>
                        <a:rPr lang="en-US" altLang="zh-CN" sz="2000" baseline="0" dirty="0">
                          <a:solidFill>
                            <a:srgbClr val="060606"/>
                          </a:solidFill>
                        </a:rPr>
                        <a:t>       (1)</a:t>
                      </a:r>
                      <a:endParaRPr lang="en-US" altLang="zh-CN" sz="20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2</a:t>
                      </a:r>
                      <a:r>
                        <a:rPr lang="en-US" altLang="zh-CN" sz="2000" baseline="0" dirty="0">
                          <a:solidFill>
                            <a:srgbClr val="060606"/>
                          </a:solidFill>
                        </a:rPr>
                        <a:t>       (2)</a:t>
                      </a:r>
                      <a:endParaRPr lang="en-US" altLang="zh-CN" sz="20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a:t>
                      </a:r>
                      <a:r>
                        <a:rPr lang="en-US" altLang="zh-CN" sz="2000" b="1" dirty="0">
                          <a:solidFill>
                            <a:srgbClr val="0322BD"/>
                          </a:solidFill>
                        </a:rPr>
                        <a:t>x</a:t>
                      </a:r>
                      <a:r>
                        <a:rPr lang="en-US" altLang="zh-CN" sz="2000" b="1" baseline="-25000" dirty="0">
                          <a:solidFill>
                            <a:srgbClr val="0322BD"/>
                          </a:solidFill>
                        </a:rPr>
                        <a:t>1</a:t>
                      </a:r>
                      <a:r>
                        <a:rPr lang="en-US" altLang="zh-CN" sz="2000" b="1" baseline="0" dirty="0">
                          <a:solidFill>
                            <a:srgbClr val="0322BD"/>
                          </a:solidFill>
                        </a:rPr>
                        <a:t> </a:t>
                      </a:r>
                      <a:r>
                        <a:rPr lang="en-US" altLang="zh-CN" sz="2000" baseline="0" dirty="0">
                          <a:solidFill>
                            <a:srgbClr val="060606"/>
                          </a:solidFill>
                        </a:rPr>
                        <a:t>      (3)</a:t>
                      </a:r>
                      <a:endParaRPr lang="zh-CN" altLang="en-US" sz="20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000" dirty="0">
                          <a:ln>
                            <a:solidFill>
                              <a:srgbClr val="00000C"/>
                            </a:solidFill>
                          </a:ln>
                          <a:solidFill>
                            <a:srgbClr val="FF0000"/>
                          </a:solidFill>
                        </a:rPr>
                        <a:t>1         0       0       </a:t>
                      </a:r>
                      <a:r>
                        <a:rPr lang="en-US" altLang="zh-CN" sz="2000" dirty="0" err="1">
                          <a:ln>
                            <a:solidFill>
                              <a:srgbClr val="00000C"/>
                            </a:solidFill>
                          </a:ln>
                          <a:solidFill>
                            <a:srgbClr val="FF0000"/>
                          </a:solidFill>
                        </a:rPr>
                        <a:t>0</a:t>
                      </a:r>
                      <a:r>
                        <a:rPr lang="en-US" altLang="zh-CN" sz="2000" dirty="0">
                          <a:ln>
                            <a:solidFill>
                              <a:srgbClr val="00000C"/>
                            </a:solidFill>
                          </a:ln>
                          <a:solidFill>
                            <a:srgbClr val="FF0000"/>
                          </a:solidFill>
                        </a:rPr>
                        <a:t>      3/2       1</a:t>
                      </a:r>
                      <a:endParaRPr lang="en-US" altLang="zh-CN" sz="2000" dirty="0">
                        <a:ln>
                          <a:solidFill>
                            <a:srgbClr val="00000C"/>
                          </a:solidFill>
                        </a:ln>
                        <a:solidFill>
                          <a:srgbClr val="FF0000"/>
                        </a:solidFill>
                      </a:endParaRPr>
                    </a:p>
                    <a:p>
                      <a:r>
                        <a:rPr lang="en-US" altLang="zh-CN" sz="2000" dirty="0">
                          <a:ln>
                            <a:solidFill>
                              <a:srgbClr val="00000C"/>
                            </a:solidFill>
                          </a:ln>
                          <a:solidFill>
                            <a:srgbClr val="060606"/>
                          </a:solidFill>
                        </a:rPr>
                        <a:t>0       </a:t>
                      </a:r>
                      <a:r>
                        <a:rPr lang="en-US" altLang="zh-CN" sz="2000" baseline="0" dirty="0">
                          <a:ln>
                            <a:solidFill>
                              <a:srgbClr val="00000C"/>
                            </a:solidFill>
                          </a:ln>
                          <a:solidFill>
                            <a:srgbClr val="060606"/>
                          </a:solidFill>
                        </a:rPr>
                        <a:t>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0       1      1/3     -1/3</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       0      1/2        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1" baseline="0" dirty="0">
                          <a:ln>
                            <a:solidFill>
                              <a:srgbClr val="00000C"/>
                            </a:solidFill>
                          </a:ln>
                          <a:solidFill>
                            <a:srgbClr val="109C17"/>
                          </a:solidFill>
                        </a:rPr>
                        <a:t> 1 </a:t>
                      </a:r>
                      <a:r>
                        <a:rPr lang="en-US" altLang="zh-CN" sz="2000" baseline="0" dirty="0">
                          <a:ln>
                            <a:solidFill>
                              <a:srgbClr val="00000C"/>
                            </a:solidFill>
                          </a:ln>
                          <a:solidFill>
                            <a:srgbClr val="060606"/>
                          </a:solidFill>
                        </a:rPr>
                        <a:t>      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-1/3      1/3</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000" b="1" dirty="0">
                          <a:ln>
                            <a:solidFill>
                              <a:srgbClr val="00000C"/>
                            </a:solidFill>
                          </a:ln>
                          <a:solidFill>
                            <a:srgbClr val="109C17"/>
                          </a:solidFill>
                        </a:rPr>
                        <a:t>36</a:t>
                      </a:r>
                      <a:endParaRPr lang="en-US" altLang="zh-CN" sz="2000" b="1" dirty="0">
                        <a:ln>
                          <a:solidFill>
                            <a:srgbClr val="00000C"/>
                          </a:solidFill>
                        </a:ln>
                        <a:solidFill>
                          <a:srgbClr val="109C17"/>
                        </a:solidFill>
                      </a:endParaRPr>
                    </a:p>
                    <a:p>
                      <a:r>
                        <a:rPr lang="en-US" altLang="zh-CN" sz="2000" dirty="0">
                          <a:ln>
                            <a:solidFill>
                              <a:srgbClr val="00000C"/>
                            </a:solidFill>
                          </a:ln>
                          <a:solidFill>
                            <a:srgbClr val="060606"/>
                          </a:solidFill>
                        </a:rPr>
                        <a:t>2</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6</a:t>
                      </a:r>
                      <a:endParaRPr lang="en-US" altLang="zh-CN" sz="2000" dirty="0">
                        <a:ln>
                          <a:solidFill>
                            <a:srgbClr val="00000C"/>
                          </a:solidFill>
                        </a:ln>
                        <a:solidFill>
                          <a:srgbClr val="060606"/>
                        </a:solidFill>
                      </a:endParaRPr>
                    </a:p>
                    <a:p>
                      <a:r>
                        <a:rPr lang="en-US" altLang="zh-CN" sz="2000" b="1" dirty="0">
                          <a:ln>
                            <a:solidFill>
                              <a:srgbClr val="00000C"/>
                            </a:solidFill>
                          </a:ln>
                          <a:solidFill>
                            <a:srgbClr val="109C17"/>
                          </a:solidFill>
                        </a:rPr>
                        <a:t>2</a:t>
                      </a:r>
                      <a:endParaRPr lang="zh-CN" altLang="en-US" sz="2000" b="1" dirty="0">
                        <a:ln>
                          <a:solidFill>
                            <a:srgbClr val="00000C"/>
                          </a:solidFill>
                        </a:ln>
                        <a:solidFill>
                          <a:srgbClr val="109C17"/>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grpSp>
        <p:nvGrpSpPr>
          <p:cNvPr id="31" name="组合 30"/>
          <p:cNvGrpSpPr/>
          <p:nvPr/>
        </p:nvGrpSpPr>
        <p:grpSpPr>
          <a:xfrm>
            <a:off x="3134580" y="4257040"/>
            <a:ext cx="5567462" cy="1422400"/>
            <a:chOff x="3205700" y="1930400"/>
            <a:chExt cx="5567462" cy="1422400"/>
          </a:xfrm>
        </p:grpSpPr>
        <p:sp>
          <p:nvSpPr>
            <p:cNvPr id="32" name="任意多边形: 形状 31"/>
            <p:cNvSpPr/>
            <p:nvPr/>
          </p:nvSpPr>
          <p:spPr>
            <a:xfrm>
              <a:off x="3205700" y="1930400"/>
              <a:ext cx="472220" cy="1422400"/>
            </a:xfrm>
            <a:custGeom>
              <a:avLst/>
              <a:gdLst>
                <a:gd name="connsiteX0" fmla="*/ 269020 w 472220"/>
                <a:gd name="connsiteY0" fmla="*/ 0 h 1422400"/>
                <a:gd name="connsiteX1" fmla="*/ 4860 w 472220"/>
                <a:gd name="connsiteY1" fmla="*/ 924560 h 1422400"/>
                <a:gd name="connsiteX2" fmla="*/ 472220 w 472220"/>
                <a:gd name="connsiteY2" fmla="*/ 1422400 h 1422400"/>
              </a:gdLst>
              <a:ahLst/>
              <a:cxnLst>
                <a:cxn ang="0">
                  <a:pos x="connsiteX0" y="connsiteY0"/>
                </a:cxn>
                <a:cxn ang="0">
                  <a:pos x="connsiteX1" y="connsiteY1"/>
                </a:cxn>
                <a:cxn ang="0">
                  <a:pos x="connsiteX2" y="connsiteY2"/>
                </a:cxn>
              </a:cxnLst>
              <a:rect l="l" t="t" r="r" b="b"/>
              <a:pathLst>
                <a:path w="472220" h="1422400">
                  <a:moveTo>
                    <a:pt x="269020" y="0"/>
                  </a:moveTo>
                  <a:cubicBezTo>
                    <a:pt x="120006" y="343746"/>
                    <a:pt x="-29007" y="687493"/>
                    <a:pt x="4860" y="924560"/>
                  </a:cubicBezTo>
                  <a:cubicBezTo>
                    <a:pt x="38727" y="1161627"/>
                    <a:pt x="255473" y="1292013"/>
                    <a:pt x="472220" y="1422400"/>
                  </a:cubicBezTo>
                </a:path>
              </a:pathLst>
            </a:custGeom>
            <a:noFill/>
            <a:ln w="38100">
              <a:solidFill>
                <a:srgbClr val="00F0C8"/>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下 32"/>
            <p:cNvSpPr/>
            <p:nvPr/>
          </p:nvSpPr>
          <p:spPr>
            <a:xfrm>
              <a:off x="5683436" y="1960880"/>
              <a:ext cx="396240" cy="365760"/>
            </a:xfrm>
            <a:prstGeom prst="downArrow">
              <a:avLst/>
            </a:prstGeom>
            <a:ln>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箭头: 下 33"/>
            <p:cNvSpPr/>
            <p:nvPr/>
          </p:nvSpPr>
          <p:spPr>
            <a:xfrm>
              <a:off x="8376922" y="1930400"/>
              <a:ext cx="396240" cy="365760"/>
            </a:xfrm>
            <a:prstGeom prst="downArrow">
              <a:avLst/>
            </a:prstGeom>
            <a:ln>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19536" y="44624"/>
            <a:ext cx="8229600" cy="648072"/>
          </a:xfrm>
        </p:spPr>
        <p:txBody>
          <a:bodyPr/>
          <a:lstStyle/>
          <a:p>
            <a:pPr>
              <a:buNone/>
            </a:pPr>
            <a:r>
              <a:rPr lang="zh-CN" altLang="en-US" sz="2400" b="1" dirty="0">
                <a:solidFill>
                  <a:srgbClr val="060606"/>
                </a:solidFill>
              </a:rPr>
              <a:t>第五步</a:t>
            </a:r>
            <a:r>
              <a:rPr lang="en-US" altLang="zh-CN" sz="2400" b="1" dirty="0">
                <a:solidFill>
                  <a:srgbClr val="060606"/>
                </a:solidFill>
              </a:rPr>
              <a:t>(</a:t>
            </a:r>
            <a:r>
              <a:rPr lang="zh-CN" altLang="en-US" sz="2400" b="1" dirty="0">
                <a:solidFill>
                  <a:srgbClr val="060606"/>
                </a:solidFill>
              </a:rPr>
              <a:t>得到最优解和最优值</a:t>
            </a:r>
            <a:r>
              <a:rPr lang="en-US" altLang="zh-CN" sz="2400" b="1" dirty="0">
                <a:solidFill>
                  <a:srgbClr val="060606"/>
                </a:solidFill>
              </a:rPr>
              <a:t>)</a:t>
            </a:r>
            <a:r>
              <a:rPr lang="zh-CN" altLang="en-US" sz="2400" b="1" dirty="0">
                <a:solidFill>
                  <a:srgbClr val="060606"/>
                </a:solidFill>
              </a:rPr>
              <a:t> 。</a:t>
            </a:r>
            <a:endParaRPr lang="en-US" altLang="zh-CN" sz="2400" b="1" dirty="0">
              <a:solidFill>
                <a:srgbClr val="060606"/>
              </a:solidFill>
            </a:endParaRPr>
          </a:p>
        </p:txBody>
      </p:sp>
      <p:graphicFrame>
        <p:nvGraphicFramePr>
          <p:cNvPr id="17" name="表格 16"/>
          <p:cNvGraphicFramePr>
            <a:graphicFrameLocks noGrp="1"/>
          </p:cNvGraphicFramePr>
          <p:nvPr/>
        </p:nvGraphicFramePr>
        <p:xfrm>
          <a:off x="203200" y="548681"/>
          <a:ext cx="11602720" cy="5142131"/>
        </p:xfrm>
        <a:graphic>
          <a:graphicData uri="http://schemas.openxmlformats.org/drawingml/2006/table">
            <a:tbl>
              <a:tblPr bandRow="1">
                <a:tableStyleId>{5C22544A-7EE6-4342-B048-85BDC9FD1C3A}</a:tableStyleId>
              </a:tblPr>
              <a:tblGrid>
                <a:gridCol w="4602731"/>
                <a:gridCol w="4219171"/>
                <a:gridCol w="2780818"/>
              </a:tblGrid>
              <a:tr h="442660">
                <a:tc rowSpan="2">
                  <a:txBody>
                    <a:bodyPr/>
                    <a:lstStyle/>
                    <a:p>
                      <a:r>
                        <a:rPr lang="zh-CN" altLang="en-US" sz="2000" dirty="0">
                          <a:ln>
                            <a:solidFill>
                              <a:srgbClr val="00000C"/>
                            </a:solidFill>
                          </a:ln>
                          <a:solidFill>
                            <a:srgbClr val="060606"/>
                          </a:solidFill>
                        </a:rPr>
                        <a:t>方程组                             基变量  </a:t>
                      </a:r>
                      <a:r>
                        <a:rPr lang="en-US" altLang="zh-CN" sz="2000" dirty="0">
                          <a:ln>
                            <a:solidFill>
                              <a:srgbClr val="00000C"/>
                            </a:solidFill>
                          </a:ln>
                          <a:solidFill>
                            <a:srgbClr val="060606"/>
                          </a:solidFill>
                        </a:rPr>
                        <a:t>Eq.</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                                              BV.</a:t>
                      </a:r>
                      <a:r>
                        <a:rPr lang="zh-CN" altLang="en-US" sz="2000" dirty="0">
                          <a:ln>
                            <a:solidFill>
                              <a:srgbClr val="00000C"/>
                            </a:solidFill>
                          </a:ln>
                          <a:solidFill>
                            <a:srgbClr val="060606"/>
                          </a:solidFill>
                        </a:rPr>
                        <a:t>     </a:t>
                      </a:r>
                      <a:endParaRPr lang="zh-CN" altLang="en-US" sz="2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pPr algn="ctr"/>
                      <a:r>
                        <a:rPr lang="zh-CN" altLang="en-US" sz="2000" dirty="0">
                          <a:ln>
                            <a:solidFill>
                              <a:srgbClr val="00000C"/>
                            </a:solidFill>
                          </a:ln>
                          <a:solidFill>
                            <a:srgbClr val="060606"/>
                          </a:solidFill>
                        </a:rPr>
                        <a:t>系数</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rowSpan="2">
                  <a:txBody>
                    <a:bodyPr/>
                    <a:lstStyle/>
                    <a:p>
                      <a:r>
                        <a:rPr lang="zh-CN" altLang="en-US" sz="2000" dirty="0">
                          <a:ln>
                            <a:solidFill>
                              <a:srgbClr val="00000C"/>
                            </a:solidFill>
                          </a:ln>
                          <a:solidFill>
                            <a:srgbClr val="060606"/>
                          </a:solidFill>
                        </a:rPr>
                        <a:t>方程右端      比值</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44266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060606"/>
                          </a:solidFill>
                        </a:rPr>
                        <a:t>Z</a:t>
                      </a:r>
                      <a:r>
                        <a:rPr lang="zh-CN" altLang="en-US" sz="2000" baseline="0" dirty="0">
                          <a:ln>
                            <a:solidFill>
                              <a:srgbClr val="00000C"/>
                            </a:solidFill>
                          </a:ln>
                          <a:solidFill>
                            <a:srgbClr val="060606"/>
                          </a:solidFill>
                        </a:rPr>
                        <a:t>        </a:t>
                      </a:r>
                      <a:r>
                        <a:rPr lang="en-US" altLang="zh-CN" sz="2000" baseline="0" dirty="0">
                          <a:ln>
                            <a:solidFill>
                              <a:srgbClr val="00000C"/>
                            </a:solidFill>
                          </a:ln>
                          <a:solidFill>
                            <a:srgbClr val="060606"/>
                          </a:solidFill>
                        </a:rPr>
                        <a:t>x1      x2     x3      x4      x5</a:t>
                      </a:r>
                      <a:endParaRPr lang="en-US" altLang="zh-CN"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FF0000"/>
                          </a:solidFill>
                        </a:rPr>
                        <a:t>（</a:t>
                      </a:r>
                      <a:r>
                        <a:rPr lang="en-US" altLang="zh-CN" sz="2000" dirty="0">
                          <a:solidFill>
                            <a:srgbClr val="FF0000"/>
                          </a:solidFill>
                        </a:rPr>
                        <a:t>0</a:t>
                      </a:r>
                      <a:r>
                        <a:rPr lang="zh-CN" altLang="en-US" sz="2000" dirty="0">
                          <a:solidFill>
                            <a:srgbClr val="FF0000"/>
                          </a:solidFill>
                        </a:rPr>
                        <a:t>） </a:t>
                      </a:r>
                      <a:r>
                        <a:rPr lang="en-US" altLang="zh-CN" sz="2000" dirty="0">
                          <a:solidFill>
                            <a:srgbClr val="FF0000"/>
                          </a:solidFill>
                        </a:rPr>
                        <a:t>z</a:t>
                      </a:r>
                      <a:r>
                        <a:rPr lang="zh-CN" altLang="en-US" sz="2000" dirty="0">
                          <a:solidFill>
                            <a:srgbClr val="FF0000"/>
                          </a:solidFill>
                        </a:rPr>
                        <a:t>－</a:t>
                      </a:r>
                      <a:r>
                        <a:rPr lang="en-US" altLang="zh-CN" sz="2000" dirty="0">
                          <a:solidFill>
                            <a:srgbClr val="FF0000"/>
                          </a:solidFill>
                        </a:rPr>
                        <a:t>3x</a:t>
                      </a:r>
                      <a:r>
                        <a:rPr lang="en-US" altLang="zh-CN" sz="2000" baseline="-25000" dirty="0">
                          <a:solidFill>
                            <a:srgbClr val="FF0000"/>
                          </a:solidFill>
                        </a:rPr>
                        <a:t>1</a:t>
                      </a:r>
                      <a:r>
                        <a:rPr lang="en-US" altLang="zh-CN" sz="2000" dirty="0">
                          <a:solidFill>
                            <a:srgbClr val="FF0000"/>
                          </a:solidFill>
                        </a:rPr>
                        <a:t> </a:t>
                      </a:r>
                      <a:r>
                        <a:rPr lang="zh-CN" altLang="en-US" sz="2000" dirty="0">
                          <a:solidFill>
                            <a:srgbClr val="FF0000"/>
                          </a:solidFill>
                        </a:rPr>
                        <a:t>－ </a:t>
                      </a:r>
                      <a:r>
                        <a:rPr lang="en-US" altLang="zh-CN" sz="2000" dirty="0">
                          <a:solidFill>
                            <a:srgbClr val="FF0000"/>
                          </a:solidFill>
                        </a:rPr>
                        <a:t>5x</a:t>
                      </a:r>
                      <a:r>
                        <a:rPr lang="en-US" altLang="zh-CN" sz="2000" baseline="-25000" dirty="0">
                          <a:solidFill>
                            <a:srgbClr val="FF0000"/>
                          </a:solidFill>
                        </a:rPr>
                        <a:t>2</a:t>
                      </a:r>
                      <a:r>
                        <a:rPr lang="en-US" altLang="zh-CN" sz="2000" dirty="0">
                          <a:solidFill>
                            <a:srgbClr val="FF0000"/>
                          </a:solidFill>
                        </a:rPr>
                        <a:t> = 0      z         (0)</a:t>
                      </a:r>
                      <a:endParaRPr lang="en-US" altLang="zh-CN" sz="20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1</a:t>
                      </a:r>
                      <a:r>
                        <a:rPr lang="zh-CN" altLang="en-US" sz="2000" dirty="0">
                          <a:solidFill>
                            <a:srgbClr val="060606"/>
                          </a:solidFill>
                        </a:rPr>
                        <a:t>）</a:t>
                      </a:r>
                      <a:r>
                        <a:rPr lang="en-US" altLang="zh-CN" sz="2000" dirty="0">
                          <a:solidFill>
                            <a:srgbClr val="060606"/>
                          </a:solidFill>
                        </a:rPr>
                        <a:t> x</a:t>
                      </a:r>
                      <a:r>
                        <a:rPr lang="en-US" altLang="zh-CN" sz="2000" baseline="-25000" dirty="0">
                          <a:solidFill>
                            <a:srgbClr val="060606"/>
                          </a:solidFill>
                        </a:rPr>
                        <a:t>1 </a:t>
                      </a:r>
                      <a:r>
                        <a:rPr lang="en-US" altLang="zh-CN" sz="2000" dirty="0">
                          <a:solidFill>
                            <a:srgbClr val="060606"/>
                          </a:solidFill>
                        </a:rPr>
                        <a:t>+ x</a:t>
                      </a:r>
                      <a:r>
                        <a:rPr lang="en-US" altLang="zh-CN" sz="2000" baseline="-25000" dirty="0">
                          <a:solidFill>
                            <a:srgbClr val="060606"/>
                          </a:solidFill>
                        </a:rPr>
                        <a:t>3</a:t>
                      </a:r>
                      <a:r>
                        <a:rPr lang="en-US" altLang="zh-CN" sz="2000" dirty="0">
                          <a:solidFill>
                            <a:srgbClr val="060606"/>
                          </a:solidFill>
                        </a:rPr>
                        <a:t>= 4                    x</a:t>
                      </a:r>
                      <a:r>
                        <a:rPr lang="en-US" altLang="zh-CN" sz="2000" baseline="-25000" dirty="0">
                          <a:solidFill>
                            <a:srgbClr val="060606"/>
                          </a:solidFill>
                        </a:rPr>
                        <a:t>3</a:t>
                      </a:r>
                      <a:r>
                        <a:rPr lang="en-US" altLang="zh-CN" sz="2000" baseline="0" dirty="0">
                          <a:solidFill>
                            <a:srgbClr val="060606"/>
                          </a:solidFill>
                        </a:rPr>
                        <a:t>       (1)</a:t>
                      </a:r>
                      <a:endParaRPr lang="en-US" altLang="zh-CN" sz="20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2</a:t>
                      </a:r>
                      <a:r>
                        <a:rPr lang="zh-CN" altLang="en-US" sz="2000" dirty="0">
                          <a:solidFill>
                            <a:srgbClr val="060606"/>
                          </a:solidFill>
                        </a:rPr>
                        <a:t>）</a:t>
                      </a:r>
                      <a:r>
                        <a:rPr lang="en-US" altLang="zh-CN" sz="2000" dirty="0">
                          <a:solidFill>
                            <a:srgbClr val="060606"/>
                          </a:solidFill>
                        </a:rPr>
                        <a:t> 2x</a:t>
                      </a:r>
                      <a:r>
                        <a:rPr lang="en-US" altLang="zh-CN" sz="2000" baseline="-25000" dirty="0">
                          <a:solidFill>
                            <a:srgbClr val="060606"/>
                          </a:solidFill>
                        </a:rPr>
                        <a:t>2</a:t>
                      </a:r>
                      <a:r>
                        <a:rPr lang="en-US" altLang="zh-CN" sz="2000" dirty="0">
                          <a:solidFill>
                            <a:srgbClr val="060606"/>
                          </a:solidFill>
                        </a:rPr>
                        <a:t>  +x</a:t>
                      </a:r>
                      <a:r>
                        <a:rPr lang="en-US" altLang="zh-CN" sz="2000" baseline="-25000" dirty="0">
                          <a:solidFill>
                            <a:srgbClr val="060606"/>
                          </a:solidFill>
                        </a:rPr>
                        <a:t>4</a:t>
                      </a:r>
                      <a:r>
                        <a:rPr lang="en-US" altLang="zh-CN" sz="2000" dirty="0">
                          <a:solidFill>
                            <a:srgbClr val="060606"/>
                          </a:solidFill>
                        </a:rPr>
                        <a:t> =12               x</a:t>
                      </a:r>
                      <a:r>
                        <a:rPr lang="en-US" altLang="zh-CN" sz="2000" baseline="-25000" dirty="0">
                          <a:solidFill>
                            <a:srgbClr val="060606"/>
                          </a:solidFill>
                        </a:rPr>
                        <a:t>4</a:t>
                      </a:r>
                      <a:r>
                        <a:rPr lang="en-US" altLang="zh-CN" sz="2000" baseline="0" dirty="0">
                          <a:solidFill>
                            <a:srgbClr val="060606"/>
                          </a:solidFill>
                        </a:rPr>
                        <a:t>       (2)</a:t>
                      </a:r>
                      <a:endParaRPr lang="en-US" altLang="zh-CN" sz="20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60606"/>
                          </a:solidFill>
                        </a:rPr>
                        <a:t>（</a:t>
                      </a:r>
                      <a:r>
                        <a:rPr lang="en-US" altLang="zh-CN" sz="2000" dirty="0">
                          <a:solidFill>
                            <a:srgbClr val="060606"/>
                          </a:solidFill>
                        </a:rPr>
                        <a:t>3</a:t>
                      </a:r>
                      <a:r>
                        <a:rPr lang="zh-CN" altLang="en-US" sz="2000" dirty="0">
                          <a:solidFill>
                            <a:srgbClr val="060606"/>
                          </a:solidFill>
                        </a:rPr>
                        <a:t>）</a:t>
                      </a:r>
                      <a:r>
                        <a:rPr lang="en-US" altLang="zh-CN" sz="2000" dirty="0">
                          <a:solidFill>
                            <a:srgbClr val="060606"/>
                          </a:solidFill>
                        </a:rPr>
                        <a:t> 3x</a:t>
                      </a:r>
                      <a:r>
                        <a:rPr lang="en-US" altLang="zh-CN" sz="2000" baseline="-25000" dirty="0">
                          <a:solidFill>
                            <a:srgbClr val="060606"/>
                          </a:solidFill>
                        </a:rPr>
                        <a:t>1</a:t>
                      </a:r>
                      <a:r>
                        <a:rPr lang="en-US" altLang="zh-CN" sz="2000" dirty="0">
                          <a:solidFill>
                            <a:srgbClr val="060606"/>
                          </a:solidFill>
                        </a:rPr>
                        <a:t>+2x</a:t>
                      </a:r>
                      <a:r>
                        <a:rPr lang="en-US" altLang="zh-CN" sz="2000" baseline="-25000" dirty="0">
                          <a:solidFill>
                            <a:srgbClr val="060606"/>
                          </a:solidFill>
                        </a:rPr>
                        <a:t>2</a:t>
                      </a:r>
                      <a:r>
                        <a:rPr lang="en-US" altLang="zh-CN" sz="2000" dirty="0">
                          <a:solidFill>
                            <a:srgbClr val="060606"/>
                          </a:solidFill>
                        </a:rPr>
                        <a:t> + x</a:t>
                      </a:r>
                      <a:r>
                        <a:rPr lang="en-US" altLang="zh-CN" sz="2000" baseline="-25000" dirty="0">
                          <a:solidFill>
                            <a:srgbClr val="060606"/>
                          </a:solidFill>
                        </a:rPr>
                        <a:t>5 </a:t>
                      </a:r>
                      <a:r>
                        <a:rPr lang="en-US" altLang="zh-CN" sz="2000" dirty="0">
                          <a:solidFill>
                            <a:srgbClr val="060606"/>
                          </a:solidFill>
                        </a:rPr>
                        <a:t> = 18     x</a:t>
                      </a:r>
                      <a:r>
                        <a:rPr lang="en-US" altLang="zh-CN" sz="2000" baseline="-25000" dirty="0">
                          <a:solidFill>
                            <a:srgbClr val="060606"/>
                          </a:solidFill>
                        </a:rPr>
                        <a:t>5</a:t>
                      </a:r>
                      <a:r>
                        <a:rPr lang="en-US" altLang="zh-CN" sz="2000" baseline="0" dirty="0">
                          <a:solidFill>
                            <a:srgbClr val="060606"/>
                          </a:solidFill>
                        </a:rPr>
                        <a:t>        (3)</a:t>
                      </a:r>
                      <a:endParaRPr lang="zh-CN" altLang="en-US" sz="20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FF0000"/>
                          </a:solidFill>
                        </a:rPr>
                        <a:t>1        -3      -5      0        </a:t>
                      </a:r>
                      <a:r>
                        <a:rPr lang="en-US" altLang="zh-CN" sz="2000" dirty="0" err="1">
                          <a:ln>
                            <a:solidFill>
                              <a:srgbClr val="00000C"/>
                            </a:solidFill>
                          </a:ln>
                          <a:solidFill>
                            <a:srgbClr val="FF0000"/>
                          </a:solidFill>
                        </a:rPr>
                        <a:t>0</a:t>
                      </a:r>
                      <a:r>
                        <a:rPr lang="en-US" altLang="zh-CN" sz="2000" dirty="0">
                          <a:ln>
                            <a:solidFill>
                              <a:srgbClr val="00000C"/>
                            </a:solidFill>
                          </a:ln>
                          <a:solidFill>
                            <a:srgbClr val="FF0000"/>
                          </a:solidFill>
                        </a:rPr>
                        <a:t>        </a:t>
                      </a:r>
                      <a:r>
                        <a:rPr lang="en-US" altLang="zh-CN" sz="2000" dirty="0" err="1">
                          <a:ln>
                            <a:solidFill>
                              <a:srgbClr val="00000C"/>
                            </a:solidFill>
                          </a:ln>
                          <a:solidFill>
                            <a:srgbClr val="FF0000"/>
                          </a:solidFill>
                        </a:rPr>
                        <a:t>0</a:t>
                      </a:r>
                      <a:endParaRPr lang="en-US" altLang="zh-CN" sz="2000" dirty="0">
                        <a:ln>
                          <a:solidFill>
                            <a:srgbClr val="00000C"/>
                          </a:solidFill>
                        </a:ln>
                        <a:solidFill>
                          <a:srgbClr val="FF0000"/>
                        </a:solidFill>
                      </a:endParaRPr>
                    </a:p>
                    <a:p>
                      <a:r>
                        <a:rPr lang="en-US" altLang="zh-CN" sz="2000" dirty="0">
                          <a:ln>
                            <a:solidFill>
                              <a:srgbClr val="00000C"/>
                            </a:solidFill>
                          </a:ln>
                          <a:solidFill>
                            <a:srgbClr val="060606"/>
                          </a:solidFill>
                        </a:rPr>
                        <a:t>0       </a:t>
                      </a:r>
                      <a:r>
                        <a:rPr lang="en-US" altLang="zh-CN" sz="2000" baseline="0" dirty="0">
                          <a:ln>
                            <a:solidFill>
                              <a:srgbClr val="00000C"/>
                            </a:solidFill>
                          </a:ln>
                          <a:solidFill>
                            <a:srgbClr val="060606"/>
                          </a:solidFill>
                        </a:rPr>
                        <a:t>  1       0       1        0        </a:t>
                      </a:r>
                      <a:r>
                        <a:rPr lang="en-US" altLang="zh-CN" sz="2000" baseline="0" dirty="0" err="1">
                          <a:ln>
                            <a:solidFill>
                              <a:srgbClr val="00000C"/>
                            </a:solidFill>
                          </a:ln>
                          <a:solidFill>
                            <a:srgbClr val="060606"/>
                          </a:solidFill>
                        </a:rPr>
                        <a:t>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2       0        1        0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0         3       2       0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060606"/>
                          </a:solidFill>
                        </a:rPr>
                        <a:t>0</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4</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12</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18</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FF0000"/>
                          </a:solidFill>
                        </a:rPr>
                        <a:t>                                                z         (0)</a:t>
                      </a:r>
                      <a:endParaRPr lang="en-US" altLang="zh-CN" sz="20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3</a:t>
                      </a:r>
                      <a:r>
                        <a:rPr lang="en-US" altLang="zh-CN" sz="2000" baseline="0" dirty="0">
                          <a:solidFill>
                            <a:srgbClr val="060606"/>
                          </a:solidFill>
                        </a:rPr>
                        <a:t>       (1)</a:t>
                      </a:r>
                      <a:endParaRPr lang="en-US" altLang="zh-CN" sz="20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2</a:t>
                      </a:r>
                      <a:r>
                        <a:rPr lang="en-US" altLang="zh-CN" sz="2000" baseline="0" dirty="0">
                          <a:solidFill>
                            <a:srgbClr val="060606"/>
                          </a:solidFill>
                        </a:rPr>
                        <a:t>       (2)</a:t>
                      </a:r>
                      <a:endParaRPr lang="en-US" altLang="zh-CN" sz="20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5</a:t>
                      </a:r>
                      <a:r>
                        <a:rPr lang="en-US" altLang="zh-CN" sz="2000" baseline="0" dirty="0">
                          <a:solidFill>
                            <a:srgbClr val="060606"/>
                          </a:solidFill>
                        </a:rPr>
                        <a:t>       (3)</a:t>
                      </a:r>
                      <a:endParaRPr lang="zh-CN" altLang="en-US" sz="20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FF0000"/>
                          </a:solidFill>
                        </a:rPr>
                        <a:t>1        -3       0       </a:t>
                      </a:r>
                      <a:r>
                        <a:rPr lang="en-US" altLang="zh-CN" sz="2000" dirty="0" err="1">
                          <a:ln>
                            <a:solidFill>
                              <a:srgbClr val="00000C"/>
                            </a:solidFill>
                          </a:ln>
                          <a:solidFill>
                            <a:srgbClr val="FF0000"/>
                          </a:solidFill>
                        </a:rPr>
                        <a:t>0</a:t>
                      </a:r>
                      <a:r>
                        <a:rPr lang="en-US" altLang="zh-CN" sz="2000" dirty="0">
                          <a:ln>
                            <a:solidFill>
                              <a:srgbClr val="00000C"/>
                            </a:solidFill>
                          </a:ln>
                          <a:solidFill>
                            <a:srgbClr val="FF0000"/>
                          </a:solidFill>
                        </a:rPr>
                        <a:t>      5/2       0</a:t>
                      </a:r>
                      <a:endParaRPr lang="en-US" altLang="zh-CN" sz="2000" dirty="0">
                        <a:ln>
                          <a:solidFill>
                            <a:srgbClr val="00000C"/>
                          </a:solidFill>
                        </a:ln>
                        <a:solidFill>
                          <a:srgbClr val="FF0000"/>
                        </a:solidFill>
                      </a:endParaRPr>
                    </a:p>
                    <a:p>
                      <a:r>
                        <a:rPr lang="en-US" altLang="zh-CN" sz="2000" dirty="0">
                          <a:ln>
                            <a:solidFill>
                              <a:srgbClr val="00000C"/>
                            </a:solidFill>
                          </a:ln>
                          <a:solidFill>
                            <a:srgbClr val="060606"/>
                          </a:solidFill>
                        </a:rPr>
                        <a:t>0       </a:t>
                      </a:r>
                      <a:r>
                        <a:rPr lang="en-US" altLang="zh-CN" sz="2000" baseline="0" dirty="0">
                          <a:ln>
                            <a:solidFill>
                              <a:srgbClr val="00000C"/>
                            </a:solidFill>
                          </a:ln>
                          <a:solidFill>
                            <a:srgbClr val="060606"/>
                          </a:solidFill>
                        </a:rPr>
                        <a:t>  1       0       1        0         </a:t>
                      </a:r>
                      <a:r>
                        <a:rPr lang="en-US" altLang="zh-CN" sz="2000" baseline="0" dirty="0" err="1">
                          <a:ln>
                            <a:solidFill>
                              <a:srgbClr val="00000C"/>
                            </a:solidFill>
                          </a:ln>
                          <a:solidFill>
                            <a:srgbClr val="060606"/>
                          </a:solidFill>
                        </a:rPr>
                        <a:t>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       0      1/2        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0         3       0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-1        1</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000" dirty="0">
                          <a:ln>
                            <a:solidFill>
                              <a:srgbClr val="00000C"/>
                            </a:solidFill>
                          </a:ln>
                          <a:solidFill>
                            <a:srgbClr val="060606"/>
                          </a:solidFill>
                        </a:rPr>
                        <a:t>30</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4</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6</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6</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FF0000"/>
                          </a:solidFill>
                        </a:rPr>
                        <a:t>                                                z         (0)</a:t>
                      </a:r>
                      <a:endParaRPr lang="en-US" altLang="zh-CN" sz="20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3</a:t>
                      </a:r>
                      <a:r>
                        <a:rPr lang="en-US" altLang="zh-CN" sz="2000" baseline="0" dirty="0">
                          <a:solidFill>
                            <a:srgbClr val="060606"/>
                          </a:solidFill>
                        </a:rPr>
                        <a:t>       (1)</a:t>
                      </a:r>
                      <a:endParaRPr lang="en-US" altLang="zh-CN" sz="20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2</a:t>
                      </a:r>
                      <a:r>
                        <a:rPr lang="en-US" altLang="zh-CN" sz="2000" baseline="0" dirty="0">
                          <a:solidFill>
                            <a:srgbClr val="060606"/>
                          </a:solidFill>
                        </a:rPr>
                        <a:t>       (2)</a:t>
                      </a:r>
                      <a:endParaRPr lang="en-US" altLang="zh-CN" sz="20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solidFill>
                            <a:srgbClr val="060606"/>
                          </a:solidFill>
                        </a:rPr>
                        <a:t>                                                x</a:t>
                      </a:r>
                      <a:r>
                        <a:rPr lang="en-US" altLang="zh-CN" sz="2000" baseline="-25000" dirty="0">
                          <a:solidFill>
                            <a:srgbClr val="060606"/>
                          </a:solidFill>
                        </a:rPr>
                        <a:t>1</a:t>
                      </a:r>
                      <a:r>
                        <a:rPr lang="en-US" altLang="zh-CN" sz="2000" baseline="0" dirty="0">
                          <a:solidFill>
                            <a:srgbClr val="060606"/>
                          </a:solidFill>
                        </a:rPr>
                        <a:t>       (3)</a:t>
                      </a:r>
                      <a:endParaRPr lang="zh-CN" altLang="en-US" sz="20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000" dirty="0">
                          <a:ln>
                            <a:solidFill>
                              <a:srgbClr val="00000C"/>
                            </a:solidFill>
                          </a:ln>
                          <a:solidFill>
                            <a:srgbClr val="FF0000"/>
                          </a:solidFill>
                        </a:rPr>
                        <a:t>1         0       0       </a:t>
                      </a:r>
                      <a:r>
                        <a:rPr lang="en-US" altLang="zh-CN" sz="2000" dirty="0" err="1">
                          <a:ln>
                            <a:solidFill>
                              <a:srgbClr val="00000C"/>
                            </a:solidFill>
                          </a:ln>
                          <a:solidFill>
                            <a:srgbClr val="FF0000"/>
                          </a:solidFill>
                        </a:rPr>
                        <a:t>0</a:t>
                      </a:r>
                      <a:r>
                        <a:rPr lang="en-US" altLang="zh-CN" sz="2000" dirty="0">
                          <a:ln>
                            <a:solidFill>
                              <a:srgbClr val="00000C"/>
                            </a:solidFill>
                          </a:ln>
                          <a:solidFill>
                            <a:srgbClr val="FF0000"/>
                          </a:solidFill>
                        </a:rPr>
                        <a:t>      3/2       1</a:t>
                      </a:r>
                      <a:endParaRPr lang="en-US" altLang="zh-CN" sz="2000" dirty="0">
                        <a:ln>
                          <a:solidFill>
                            <a:srgbClr val="00000C"/>
                          </a:solidFill>
                        </a:ln>
                        <a:solidFill>
                          <a:srgbClr val="FF0000"/>
                        </a:solidFill>
                      </a:endParaRPr>
                    </a:p>
                    <a:p>
                      <a:r>
                        <a:rPr lang="en-US" altLang="zh-CN" sz="2000" dirty="0">
                          <a:ln>
                            <a:solidFill>
                              <a:srgbClr val="00000C"/>
                            </a:solidFill>
                          </a:ln>
                          <a:solidFill>
                            <a:srgbClr val="060606"/>
                          </a:solidFill>
                        </a:rPr>
                        <a:t>0       </a:t>
                      </a:r>
                      <a:r>
                        <a:rPr lang="en-US" altLang="zh-CN" sz="2000" baseline="0" dirty="0">
                          <a:ln>
                            <a:solidFill>
                              <a:srgbClr val="00000C"/>
                            </a:solidFill>
                          </a:ln>
                          <a:solidFill>
                            <a:srgbClr val="060606"/>
                          </a:solidFill>
                        </a:rPr>
                        <a:t>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0       1      1/3     -1/3</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       0      1/2        0</a:t>
                      </a:r>
                      <a:endParaRPr lang="en-US" altLang="zh-CN" sz="2000" baseline="0" dirty="0">
                        <a:ln>
                          <a:solidFill>
                            <a:srgbClr val="00000C"/>
                          </a:solidFill>
                        </a:ln>
                        <a:solidFill>
                          <a:srgbClr val="060606"/>
                        </a:solidFill>
                      </a:endParaRPr>
                    </a:p>
                    <a:p>
                      <a:r>
                        <a:rPr lang="en-US" altLang="zh-CN" sz="2000" baseline="0" dirty="0">
                          <a:ln>
                            <a:solidFill>
                              <a:srgbClr val="00000C"/>
                            </a:solidFill>
                          </a:ln>
                          <a:solidFill>
                            <a:srgbClr val="060606"/>
                          </a:solidFill>
                        </a:rPr>
                        <a:t>0         1       0       </a:t>
                      </a:r>
                      <a:r>
                        <a:rPr lang="en-US" altLang="zh-CN" sz="2000" baseline="0" dirty="0" err="1">
                          <a:ln>
                            <a:solidFill>
                              <a:srgbClr val="00000C"/>
                            </a:solidFill>
                          </a:ln>
                          <a:solidFill>
                            <a:srgbClr val="060606"/>
                          </a:solidFill>
                        </a:rPr>
                        <a:t>0</a:t>
                      </a:r>
                      <a:r>
                        <a:rPr lang="en-US" altLang="zh-CN" sz="2000" baseline="0" dirty="0">
                          <a:ln>
                            <a:solidFill>
                              <a:srgbClr val="00000C"/>
                            </a:solidFill>
                          </a:ln>
                          <a:solidFill>
                            <a:srgbClr val="060606"/>
                          </a:solidFill>
                        </a:rPr>
                        <a:t>     -1/3      1/3</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000" dirty="0">
                          <a:ln>
                            <a:solidFill>
                              <a:srgbClr val="00000C"/>
                            </a:solidFill>
                          </a:ln>
                          <a:solidFill>
                            <a:srgbClr val="060606"/>
                          </a:solidFill>
                        </a:rPr>
                        <a:t>36</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2</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6</a:t>
                      </a:r>
                      <a:endParaRPr lang="en-US" altLang="zh-CN" sz="2000" dirty="0">
                        <a:ln>
                          <a:solidFill>
                            <a:srgbClr val="00000C"/>
                          </a:solidFill>
                        </a:ln>
                        <a:solidFill>
                          <a:srgbClr val="060606"/>
                        </a:solidFill>
                      </a:endParaRPr>
                    </a:p>
                    <a:p>
                      <a:r>
                        <a:rPr lang="en-US" altLang="zh-CN" sz="2000" dirty="0">
                          <a:ln>
                            <a:solidFill>
                              <a:srgbClr val="00000C"/>
                            </a:solidFill>
                          </a:ln>
                          <a:solidFill>
                            <a:srgbClr val="060606"/>
                          </a:solidFill>
                        </a:rPr>
                        <a:t>2</a:t>
                      </a:r>
                      <a:endParaRPr lang="zh-CN" altLang="en-US" sz="20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sp>
        <p:nvSpPr>
          <p:cNvPr id="21" name="内容占位符 2"/>
          <p:cNvSpPr txBox="1"/>
          <p:nvPr/>
        </p:nvSpPr>
        <p:spPr bwMode="auto">
          <a:xfrm>
            <a:off x="2596600" y="6021287"/>
            <a:ext cx="7552536"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indent="-342900" algn="ctr" fontAlgn="base">
              <a:lnSpc>
                <a:spcPct val="110000"/>
              </a:lnSpc>
              <a:spcBef>
                <a:spcPts val="1800"/>
              </a:spcBef>
              <a:spcAft>
                <a:spcPct val="0"/>
              </a:spcAft>
            </a:pPr>
            <a:r>
              <a:rPr lang="zh-CN" altLang="en-US" sz="2400" dirty="0">
                <a:solidFill>
                  <a:srgbClr val="060606"/>
                </a:solidFill>
              </a:rPr>
              <a:t>可知，</a:t>
            </a:r>
            <a:r>
              <a:rPr lang="en-US" altLang="zh-CN" sz="2400" b="1" dirty="0">
                <a:solidFill>
                  <a:srgbClr val="060606"/>
                </a:solidFill>
              </a:rPr>
              <a:t> x</a:t>
            </a:r>
            <a:r>
              <a:rPr lang="en-US" altLang="zh-CN" sz="2400" dirty="0">
                <a:solidFill>
                  <a:srgbClr val="060606"/>
                </a:solidFill>
              </a:rPr>
              <a:t> = (2,6,2,0,0)</a:t>
            </a:r>
            <a:r>
              <a:rPr lang="zh-CN" altLang="en-US" sz="2400" dirty="0">
                <a:solidFill>
                  <a:srgbClr val="060606"/>
                </a:solidFill>
              </a:rPr>
              <a:t>是最优解，最优值为</a:t>
            </a:r>
            <a:r>
              <a:rPr lang="en-US" altLang="zh-CN" sz="2400" dirty="0" err="1">
                <a:solidFill>
                  <a:srgbClr val="060606"/>
                </a:solidFill>
              </a:rPr>
              <a:t>z</a:t>
            </a:r>
            <a:r>
              <a:rPr lang="en-US" altLang="zh-CN" sz="2400" baseline="-25000" dirty="0" err="1">
                <a:solidFill>
                  <a:srgbClr val="060606"/>
                </a:solidFill>
              </a:rPr>
              <a:t>max</a:t>
            </a:r>
            <a:r>
              <a:rPr lang="en-US" altLang="zh-CN" sz="2400" dirty="0">
                <a:solidFill>
                  <a:srgbClr val="060606"/>
                </a:solidFill>
              </a:rPr>
              <a:t> = 36 </a:t>
            </a:r>
            <a:endParaRPr lang="en-US" altLang="zh-CN" sz="2400" dirty="0">
              <a:solidFill>
                <a:srgbClr val="060606"/>
              </a:solidFill>
            </a:endParaRPr>
          </a:p>
          <a:p>
            <a:pPr marL="342900" indent="-342900" algn="ctr" fontAlgn="base">
              <a:lnSpc>
                <a:spcPct val="110000"/>
              </a:lnSpc>
              <a:spcBef>
                <a:spcPts val="1800"/>
              </a:spcBef>
              <a:spcAft>
                <a:spcPct val="0"/>
              </a:spcAft>
            </a:pPr>
            <a:endParaRPr lang="en-US" altLang="zh-CN" sz="2400" dirty="0">
              <a:solidFill>
                <a:srgbClr val="060606"/>
              </a:solidFill>
            </a:endParaRPr>
          </a:p>
        </p:txBody>
      </p:sp>
      <p:sp>
        <p:nvSpPr>
          <p:cNvPr id="10" name="矩形 9"/>
          <p:cNvSpPr/>
          <p:nvPr/>
        </p:nvSpPr>
        <p:spPr>
          <a:xfrm>
            <a:off x="5405120" y="4287520"/>
            <a:ext cx="3434080" cy="304800"/>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042400" y="4297680"/>
            <a:ext cx="508000" cy="1393132"/>
          </a:xfrm>
          <a:prstGeom prst="rect">
            <a:avLst/>
          </a:prstGeom>
          <a:noFill/>
          <a:ln w="38100">
            <a:solidFill>
              <a:srgbClr val="00F0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 calcmode="lin" valueType="num">
                                      <p:cBhvr additive="base">
                                        <p:cTn id="7"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8320" y="114970"/>
            <a:ext cx="9693593" cy="793750"/>
          </a:xfrm>
        </p:spPr>
        <p:txBody>
          <a:bodyPr>
            <a:normAutofit/>
          </a:bodyPr>
          <a:lstStyle/>
          <a:p>
            <a:r>
              <a:rPr lang="zh-CN" altLang="en-US" sz="3200" dirty="0">
                <a:solidFill>
                  <a:srgbClr val="060606"/>
                </a:solidFill>
              </a:rPr>
              <a:t>练习</a:t>
            </a:r>
            <a:r>
              <a:rPr lang="en-US" altLang="zh-CN" sz="3200" dirty="0">
                <a:solidFill>
                  <a:srgbClr val="060606"/>
                </a:solidFill>
              </a:rPr>
              <a:t>28-1</a:t>
            </a:r>
            <a:r>
              <a:rPr lang="zh-CN" altLang="en-US" sz="3200" dirty="0">
                <a:solidFill>
                  <a:srgbClr val="060606"/>
                </a:solidFill>
              </a:rPr>
              <a:t>，</a:t>
            </a:r>
            <a:r>
              <a:rPr lang="en-US" altLang="zh-CN" sz="3200" dirty="0" err="1">
                <a:solidFill>
                  <a:srgbClr val="060606"/>
                </a:solidFill>
              </a:rPr>
              <a:t>Giapetto’s</a:t>
            </a:r>
            <a:r>
              <a:rPr lang="en-US" altLang="zh-CN" sz="3200" dirty="0">
                <a:solidFill>
                  <a:srgbClr val="060606"/>
                </a:solidFill>
              </a:rPr>
              <a:t> </a:t>
            </a:r>
            <a:r>
              <a:rPr lang="en-US" altLang="zh-CN" sz="3200" dirty="0" err="1">
                <a:solidFill>
                  <a:srgbClr val="060606"/>
                </a:solidFill>
              </a:rPr>
              <a:t>Woodcaring</a:t>
            </a:r>
            <a:r>
              <a:rPr lang="zh-CN" altLang="en-US" sz="3200" dirty="0">
                <a:solidFill>
                  <a:srgbClr val="060606"/>
                </a:solidFill>
              </a:rPr>
              <a:t>公司</a:t>
            </a:r>
            <a:endParaRPr lang="zh-CN" altLang="en-US" sz="3200" dirty="0">
              <a:solidFill>
                <a:srgbClr val="060606"/>
              </a:solidFill>
            </a:endParaRPr>
          </a:p>
        </p:txBody>
      </p:sp>
      <p:sp>
        <p:nvSpPr>
          <p:cNvPr id="5" name="矩形: 折角 4"/>
          <p:cNvSpPr/>
          <p:nvPr/>
        </p:nvSpPr>
        <p:spPr>
          <a:xfrm flipV="1">
            <a:off x="-598" y="1158240"/>
            <a:ext cx="9693593" cy="5475642"/>
          </a:xfrm>
          <a:prstGeom prst="foldedCorner">
            <a:avLst>
              <a:gd name="adj" fmla="val 799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 name="文本框 5"/>
          <p:cNvSpPr txBox="1"/>
          <p:nvPr/>
        </p:nvSpPr>
        <p:spPr>
          <a:xfrm>
            <a:off x="121322" y="1234941"/>
            <a:ext cx="9208046" cy="5293757"/>
          </a:xfrm>
          <a:prstGeom prst="rect">
            <a:avLst/>
          </a:prstGeom>
          <a:noFill/>
        </p:spPr>
        <p:txBody>
          <a:bodyPr wrap="square" rtlCol="0">
            <a:spAutoFit/>
          </a:bodyPr>
          <a:lstStyle/>
          <a:p>
            <a:r>
              <a:rPr lang="en-US" altLang="zh-CN" sz="2600" dirty="0" err="1">
                <a:solidFill>
                  <a:srgbClr val="060606"/>
                </a:solidFill>
              </a:rPr>
              <a:t>Giapetto’s</a:t>
            </a:r>
            <a:r>
              <a:rPr lang="en-US" altLang="zh-CN" sz="2600" dirty="0">
                <a:solidFill>
                  <a:srgbClr val="060606"/>
                </a:solidFill>
              </a:rPr>
              <a:t> </a:t>
            </a:r>
            <a:r>
              <a:rPr lang="en-US" altLang="zh-CN" sz="2600" dirty="0" err="1">
                <a:solidFill>
                  <a:srgbClr val="060606"/>
                </a:solidFill>
              </a:rPr>
              <a:t>Woodcaring</a:t>
            </a:r>
            <a:r>
              <a:rPr lang="zh-CN" altLang="en-US" sz="2600" dirty="0">
                <a:solidFill>
                  <a:srgbClr val="060606"/>
                </a:solidFill>
              </a:rPr>
              <a:t>公司生产两种木制玩具：士兵和火车。士兵玩具的售价为</a:t>
            </a:r>
            <a:r>
              <a:rPr lang="en-US" altLang="zh-CN" sz="2600" dirty="0">
                <a:solidFill>
                  <a:srgbClr val="060606"/>
                </a:solidFill>
              </a:rPr>
              <a:t>27</a:t>
            </a:r>
            <a:r>
              <a:rPr lang="zh-CN" altLang="en-US" sz="2600" dirty="0">
                <a:solidFill>
                  <a:srgbClr val="060606"/>
                </a:solidFill>
              </a:rPr>
              <a:t>美元，使用的原材料价值</a:t>
            </a:r>
            <a:r>
              <a:rPr lang="en-US" altLang="zh-CN" sz="2600" dirty="0">
                <a:solidFill>
                  <a:srgbClr val="060606"/>
                </a:solidFill>
              </a:rPr>
              <a:t>10</a:t>
            </a:r>
            <a:r>
              <a:rPr lang="zh-CN" altLang="en-US" sz="2600" dirty="0">
                <a:solidFill>
                  <a:srgbClr val="060606"/>
                </a:solidFill>
              </a:rPr>
              <a:t>美元。生产一个士兵玩具为</a:t>
            </a:r>
            <a:r>
              <a:rPr lang="en-US" altLang="zh-CN" sz="2600" dirty="0" err="1">
                <a:solidFill>
                  <a:srgbClr val="060606"/>
                </a:solidFill>
              </a:rPr>
              <a:t>Giapetto</a:t>
            </a:r>
            <a:r>
              <a:rPr lang="zh-CN" altLang="en-US" sz="2600" dirty="0">
                <a:solidFill>
                  <a:srgbClr val="060606"/>
                </a:solidFill>
              </a:rPr>
              <a:t>公司增加的可变劳动成本和间接成本为</a:t>
            </a:r>
            <a:r>
              <a:rPr lang="en-US" altLang="zh-CN" sz="2600" dirty="0">
                <a:solidFill>
                  <a:srgbClr val="060606"/>
                </a:solidFill>
              </a:rPr>
              <a:t>14</a:t>
            </a:r>
            <a:r>
              <a:rPr lang="zh-CN" altLang="en-US" sz="2600" dirty="0">
                <a:solidFill>
                  <a:srgbClr val="060606"/>
                </a:solidFill>
              </a:rPr>
              <a:t>美元。火车玩具的售价为</a:t>
            </a:r>
            <a:r>
              <a:rPr lang="en-US" altLang="zh-CN" sz="2600" dirty="0">
                <a:solidFill>
                  <a:srgbClr val="060606"/>
                </a:solidFill>
              </a:rPr>
              <a:t>21</a:t>
            </a:r>
            <a:r>
              <a:rPr lang="zh-CN" altLang="en-US" sz="2600" dirty="0">
                <a:solidFill>
                  <a:srgbClr val="060606"/>
                </a:solidFill>
              </a:rPr>
              <a:t>美元，使用的原材料价值</a:t>
            </a:r>
            <a:r>
              <a:rPr lang="en-US" altLang="zh-CN" sz="2600" dirty="0">
                <a:solidFill>
                  <a:srgbClr val="060606"/>
                </a:solidFill>
              </a:rPr>
              <a:t>9</a:t>
            </a:r>
            <a:r>
              <a:rPr lang="zh-CN" altLang="en-US" sz="2600" dirty="0">
                <a:solidFill>
                  <a:srgbClr val="060606"/>
                </a:solidFill>
              </a:rPr>
              <a:t>美元。生产一个火车玩具为该公司增加的可变劳动成本和间接成本为</a:t>
            </a:r>
            <a:r>
              <a:rPr lang="en-US" altLang="zh-CN" sz="2600" dirty="0">
                <a:solidFill>
                  <a:srgbClr val="060606"/>
                </a:solidFill>
              </a:rPr>
              <a:t>10</a:t>
            </a:r>
            <a:r>
              <a:rPr lang="zh-CN" altLang="en-US" sz="2600" dirty="0">
                <a:solidFill>
                  <a:srgbClr val="060606"/>
                </a:solidFill>
              </a:rPr>
              <a:t>美元。生产木制士兵和火车玩具需要两种熟练劳动：木工和抛光。士兵玩具需要抛光时间 为</a:t>
            </a:r>
            <a:r>
              <a:rPr lang="en-US" altLang="zh-CN" sz="2600" dirty="0">
                <a:solidFill>
                  <a:srgbClr val="060606"/>
                </a:solidFill>
              </a:rPr>
              <a:t>2</a:t>
            </a:r>
            <a:r>
              <a:rPr lang="zh-CN" altLang="en-US" sz="2600" dirty="0">
                <a:solidFill>
                  <a:srgbClr val="060606"/>
                </a:solidFill>
              </a:rPr>
              <a:t>小时，木工劳动时间为</a:t>
            </a:r>
            <a:r>
              <a:rPr lang="en-US" altLang="zh-CN" sz="2600" dirty="0">
                <a:solidFill>
                  <a:srgbClr val="060606"/>
                </a:solidFill>
              </a:rPr>
              <a:t>1</a:t>
            </a:r>
            <a:r>
              <a:rPr lang="zh-CN" altLang="en-US" sz="2600" dirty="0">
                <a:solidFill>
                  <a:srgbClr val="060606"/>
                </a:solidFill>
              </a:rPr>
              <a:t>小时。火车玩具需要抛光时间 为</a:t>
            </a:r>
            <a:r>
              <a:rPr lang="en-US" altLang="zh-CN" sz="2600" dirty="0">
                <a:solidFill>
                  <a:srgbClr val="060606"/>
                </a:solidFill>
              </a:rPr>
              <a:t>1</a:t>
            </a:r>
            <a:r>
              <a:rPr lang="zh-CN" altLang="en-US" sz="2600" dirty="0">
                <a:solidFill>
                  <a:srgbClr val="060606"/>
                </a:solidFill>
              </a:rPr>
              <a:t>小时，木工劳动时间为</a:t>
            </a:r>
            <a:r>
              <a:rPr lang="en-US" altLang="zh-CN" sz="2600" dirty="0">
                <a:solidFill>
                  <a:srgbClr val="060606"/>
                </a:solidFill>
              </a:rPr>
              <a:t>1</a:t>
            </a:r>
            <a:r>
              <a:rPr lang="zh-CN" altLang="en-US" sz="2600" dirty="0">
                <a:solidFill>
                  <a:srgbClr val="060606"/>
                </a:solidFill>
              </a:rPr>
              <a:t>小时。</a:t>
            </a:r>
            <a:r>
              <a:rPr lang="en-US" altLang="zh-CN" sz="2600" dirty="0">
                <a:solidFill>
                  <a:srgbClr val="060606"/>
                </a:solidFill>
              </a:rPr>
              <a:t> </a:t>
            </a:r>
            <a:r>
              <a:rPr lang="en-US" altLang="zh-CN" sz="2600" dirty="0" err="1">
                <a:solidFill>
                  <a:srgbClr val="060606"/>
                </a:solidFill>
              </a:rPr>
              <a:t>Giapetto</a:t>
            </a:r>
            <a:r>
              <a:rPr lang="zh-CN" altLang="en-US" sz="2600" dirty="0">
                <a:solidFill>
                  <a:srgbClr val="060606"/>
                </a:solidFill>
              </a:rPr>
              <a:t>公司每周都可以获得所有需要的原材料，但是抛光时间只有</a:t>
            </a:r>
            <a:r>
              <a:rPr lang="en-US" altLang="zh-CN" sz="2600" dirty="0">
                <a:solidFill>
                  <a:srgbClr val="060606"/>
                </a:solidFill>
              </a:rPr>
              <a:t>100</a:t>
            </a:r>
            <a:r>
              <a:rPr lang="zh-CN" altLang="en-US" sz="2600" dirty="0">
                <a:solidFill>
                  <a:srgbClr val="060606"/>
                </a:solidFill>
              </a:rPr>
              <a:t>小时，木工时间只有</a:t>
            </a:r>
            <a:r>
              <a:rPr lang="en-US" altLang="zh-CN" sz="2600" dirty="0">
                <a:solidFill>
                  <a:srgbClr val="060606"/>
                </a:solidFill>
              </a:rPr>
              <a:t>60</a:t>
            </a:r>
            <a:r>
              <a:rPr lang="zh-CN" altLang="en-US" sz="2600" dirty="0">
                <a:solidFill>
                  <a:srgbClr val="060606"/>
                </a:solidFill>
              </a:rPr>
              <a:t>小时。士兵玩具的需求量非常大，但是火车玩具每周最多只能卖</a:t>
            </a:r>
            <a:r>
              <a:rPr lang="en-US" altLang="zh-CN" sz="2600" dirty="0">
                <a:solidFill>
                  <a:srgbClr val="060606"/>
                </a:solidFill>
              </a:rPr>
              <a:t>40</a:t>
            </a:r>
            <a:r>
              <a:rPr lang="zh-CN" altLang="en-US" sz="2600" dirty="0">
                <a:solidFill>
                  <a:srgbClr val="060606"/>
                </a:solidFill>
              </a:rPr>
              <a:t>个。</a:t>
            </a:r>
            <a:r>
              <a:rPr lang="en-US" altLang="zh-CN" sz="2600" dirty="0" err="1">
                <a:solidFill>
                  <a:srgbClr val="060606"/>
                </a:solidFill>
              </a:rPr>
              <a:t>Giapetto</a:t>
            </a:r>
            <a:r>
              <a:rPr lang="zh-CN" altLang="zh-CN" sz="2600" dirty="0">
                <a:solidFill>
                  <a:srgbClr val="060606"/>
                </a:solidFill>
              </a:rPr>
              <a:t>公司</a:t>
            </a:r>
            <a:r>
              <a:rPr lang="zh-CN" altLang="en-US" sz="2600" dirty="0">
                <a:solidFill>
                  <a:srgbClr val="060606"/>
                </a:solidFill>
              </a:rPr>
              <a:t>希望使每周的利润达到最大。</a:t>
            </a:r>
            <a:endParaRPr lang="en-US" altLang="zh-CN" sz="2600" dirty="0">
              <a:solidFill>
                <a:srgbClr val="060606"/>
              </a:solidFill>
            </a:endParaRPr>
          </a:p>
          <a:p>
            <a:r>
              <a:rPr lang="zh-CN" altLang="en-US" sz="2600" dirty="0">
                <a:solidFill>
                  <a:srgbClr val="060606"/>
                </a:solidFill>
              </a:rPr>
              <a:t>请表述可以使该公司每周利润最大化的数学模型并求解。</a:t>
            </a:r>
            <a:endParaRPr lang="zh-CN" altLang="en-US" sz="2600" dirty="0">
              <a:solidFill>
                <a:srgbClr val="060606"/>
              </a:solidFill>
            </a:endParaRPr>
          </a:p>
        </p:txBody>
      </p:sp>
      <p:sp>
        <p:nvSpPr>
          <p:cNvPr id="3" name="文本框 2"/>
          <p:cNvSpPr txBox="1"/>
          <p:nvPr/>
        </p:nvSpPr>
        <p:spPr>
          <a:xfrm>
            <a:off x="9692995" y="986119"/>
            <a:ext cx="2377683" cy="5632311"/>
          </a:xfrm>
          <a:prstGeom prst="rect">
            <a:avLst/>
          </a:prstGeom>
          <a:noFill/>
        </p:spPr>
        <p:txBody>
          <a:bodyPr wrap="square" rtlCol="0">
            <a:spAutoFit/>
          </a:bodyPr>
          <a:lstStyle/>
          <a:p>
            <a:r>
              <a:rPr lang="zh-CN" altLang="en-US" sz="2400" dirty="0">
                <a:solidFill>
                  <a:srgbClr val="0322BD"/>
                </a:solidFill>
              </a:rPr>
              <a:t>该练习的作用：掌握求解</a:t>
            </a:r>
            <a:r>
              <a:rPr lang="en-US" altLang="zh-CN" sz="2400" dirty="0">
                <a:solidFill>
                  <a:srgbClr val="0322BD"/>
                </a:solidFill>
              </a:rPr>
              <a:t>LPQ</a:t>
            </a:r>
            <a:r>
              <a:rPr lang="zh-CN" altLang="en-US" sz="2400" dirty="0">
                <a:solidFill>
                  <a:srgbClr val="0322BD"/>
                </a:solidFill>
              </a:rPr>
              <a:t>的流程</a:t>
            </a:r>
            <a:r>
              <a:rPr lang="en-US" altLang="zh-CN" sz="2400" dirty="0">
                <a:solidFill>
                  <a:srgbClr val="0322BD"/>
                </a:solidFill>
              </a:rPr>
              <a:t>——</a:t>
            </a:r>
            <a:r>
              <a:rPr lang="zh-CN" altLang="en-US" sz="2400" dirty="0">
                <a:solidFill>
                  <a:srgbClr val="0322BD"/>
                </a:solidFill>
              </a:rPr>
              <a:t>从构造初始基可行解（因为基解在顶点达成））开始，然后是最优性判断，然后，换基的两个原则：</a:t>
            </a:r>
            <a:r>
              <a:rPr lang="en-US" altLang="zh-CN" sz="2400" dirty="0">
                <a:solidFill>
                  <a:srgbClr val="0322BD"/>
                </a:solidFill>
              </a:rPr>
              <a:t>1</a:t>
            </a:r>
            <a:r>
              <a:rPr lang="zh-CN" altLang="en-US" sz="2400" dirty="0">
                <a:solidFill>
                  <a:srgbClr val="0322BD"/>
                </a:solidFill>
              </a:rPr>
              <a:t>，对目标的贡献大的优先安排；</a:t>
            </a:r>
            <a:r>
              <a:rPr lang="en-US" altLang="zh-CN" sz="2400" dirty="0">
                <a:solidFill>
                  <a:srgbClr val="0322BD"/>
                </a:solidFill>
              </a:rPr>
              <a:t>2</a:t>
            </a:r>
            <a:r>
              <a:rPr lang="zh-CN" altLang="en-US" sz="2400" dirty="0">
                <a:solidFill>
                  <a:srgbClr val="0322BD"/>
                </a:solidFill>
              </a:rPr>
              <a:t>，资源限制最严格的那个起作用（称最小比值原则）</a:t>
            </a:r>
            <a:endParaRPr lang="zh-CN" altLang="en-US" sz="2400" dirty="0">
              <a:solidFill>
                <a:srgbClr val="0322BD"/>
              </a:solidFil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2047" y="69290"/>
            <a:ext cx="11672047" cy="845109"/>
          </a:xfrm>
        </p:spPr>
        <p:txBody>
          <a:bodyPr>
            <a:noAutofit/>
          </a:bodyPr>
          <a:lstStyle/>
          <a:p>
            <a:r>
              <a:rPr lang="zh-CN" altLang="en-US" sz="2800" dirty="0"/>
              <a:t>新增练习</a:t>
            </a:r>
            <a:r>
              <a:rPr lang="en-US" altLang="zh-CN" sz="2800" dirty="0"/>
              <a:t>28-2</a:t>
            </a:r>
            <a:r>
              <a:rPr lang="zh-CN" altLang="en-US" sz="2800" dirty="0"/>
              <a:t>：怎么理解约束条件中的“负数”？</a:t>
            </a:r>
            <a:r>
              <a:rPr lang="en-US" altLang="zh-CN" sz="2800" dirty="0"/>
              <a:t>【</a:t>
            </a:r>
            <a:r>
              <a:rPr lang="zh-CN" altLang="en-US" sz="2800" dirty="0"/>
              <a:t>理解最小比值换出原则</a:t>
            </a:r>
            <a:r>
              <a:rPr lang="en-US" altLang="zh-CN" sz="2800" dirty="0"/>
              <a:t>】</a:t>
            </a:r>
            <a:endParaRPr lang="zh-CN" altLang="en-US" sz="2800" dirty="0"/>
          </a:p>
        </p:txBody>
      </p:sp>
      <p:pic>
        <p:nvPicPr>
          <p:cNvPr id="4" name="图片 3"/>
          <p:cNvPicPr>
            <a:picLocks noChangeAspect="1"/>
          </p:cNvPicPr>
          <p:nvPr/>
        </p:nvPicPr>
        <p:blipFill>
          <a:blip r:embed="rId1"/>
          <a:stretch>
            <a:fillRect/>
          </a:stretch>
        </p:blipFill>
        <p:spPr>
          <a:xfrm>
            <a:off x="107576" y="1055134"/>
            <a:ext cx="8310282" cy="4198923"/>
          </a:xfrm>
          <a:prstGeom prst="rect">
            <a:avLst/>
          </a:prstGeom>
        </p:spPr>
      </p:pic>
      <p:grpSp>
        <p:nvGrpSpPr>
          <p:cNvPr id="10" name="组合 9"/>
          <p:cNvGrpSpPr/>
          <p:nvPr/>
        </p:nvGrpSpPr>
        <p:grpSpPr>
          <a:xfrm>
            <a:off x="8575610" y="1753487"/>
            <a:ext cx="3419166" cy="1938992"/>
            <a:chOff x="8494928" y="1287321"/>
            <a:chExt cx="3419166" cy="1938992"/>
          </a:xfrm>
        </p:grpSpPr>
        <mc:AlternateContent xmlns:mc="http://schemas.openxmlformats.org/markup-compatibility/2006">
          <mc:Choice xmlns:a14="http://schemas.microsoft.com/office/drawing/2010/main" Requires="a14">
            <p:sp>
              <p:nvSpPr>
                <p:cNvPr id="6" name="文本框 5"/>
                <p:cNvSpPr txBox="1"/>
                <p:nvPr/>
              </p:nvSpPr>
              <p:spPr>
                <a:xfrm>
                  <a:off x="8829450" y="1287321"/>
                  <a:ext cx="3084644" cy="19389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max</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3</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5</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e>
                        </m:func>
                      </m:oMath>
                    </m:oMathPara>
                  </a14:m>
                  <a:endParaRPr lang="en-US" altLang="zh-CN" sz="2400" dirty="0"/>
                </a:p>
                <a:p>
                  <a:r>
                    <a:rPr lang="en-US" altLang="zh-CN" sz="2400" dirty="0"/>
                    <a:t>        </a:t>
                  </a:r>
                  <a:endParaRPr lang="en-US" altLang="zh-CN" sz="2400" dirty="0"/>
                </a:p>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3000</m:t>
                        </m:r>
                      </m:oMath>
                    </m:oMathPara>
                  </a14:m>
                  <a:endParaRPr lang="en-US" altLang="zh-CN" sz="2400" b="0" dirty="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1000</m:t>
                        </m:r>
                      </m:oMath>
                    </m:oMathPara>
                  </a14:m>
                  <a:endParaRPr lang="en-US" altLang="zh-CN" sz="2400" b="0" dirty="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oMath>
                    </m:oMathPara>
                  </a14:m>
                  <a:endParaRPr lang="en-US" altLang="zh-CN" sz="2400" dirty="0"/>
                </a:p>
              </p:txBody>
            </p:sp>
          </mc:Choice>
          <mc:Fallback>
            <p:sp>
              <p:nvSpPr>
                <p:cNvPr id="6" name="文本框 5"/>
                <p:cNvSpPr txBox="1">
                  <a:spLocks noRot="1" noChangeAspect="1" noMove="1" noResize="1" noEditPoints="1" noAdjustHandles="1" noChangeArrowheads="1" noChangeShapeType="1" noTextEdit="1"/>
                </p:cNvSpPr>
                <p:nvPr/>
              </p:nvSpPr>
              <p:spPr>
                <a:xfrm>
                  <a:off x="8829450" y="1287321"/>
                  <a:ext cx="3084644" cy="1938992"/>
                </a:xfrm>
                <a:prstGeom prst="rect">
                  <a:avLst/>
                </a:prstGeom>
                <a:blipFill rotWithShape="1">
                  <a:blip r:embed="rId2"/>
                </a:blipFill>
              </p:spPr>
              <p:txBody>
                <a:bodyPr/>
                <a:lstStyle/>
                <a:p>
                  <a:r>
                    <a:rPr lang="zh-CN" altLang="en-US">
                      <a:noFill/>
                    </a:rPr>
                    <a:t> </a:t>
                  </a:r>
                </a:p>
              </p:txBody>
            </p:sp>
          </mc:Fallback>
        </mc:AlternateContent>
        <p:sp>
          <p:nvSpPr>
            <p:cNvPr id="8" name="左大括号 7"/>
            <p:cNvSpPr/>
            <p:nvPr/>
          </p:nvSpPr>
          <p:spPr>
            <a:xfrm>
              <a:off x="8979850" y="2194414"/>
              <a:ext cx="257452" cy="850426"/>
            </a:xfrm>
            <a:prstGeom prst="leftBrace">
              <a:avLst>
                <a:gd name="adj1" fmla="val 7033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p:cNvSpPr txBox="1"/>
            <p:nvPr/>
          </p:nvSpPr>
          <p:spPr>
            <a:xfrm>
              <a:off x="8494928" y="2456329"/>
              <a:ext cx="442884" cy="369332"/>
            </a:xfrm>
            <a:prstGeom prst="rect">
              <a:avLst/>
            </a:prstGeom>
            <a:noFill/>
          </p:spPr>
          <p:txBody>
            <a:bodyPr wrap="square" rtlCol="0">
              <a:spAutoFit/>
            </a:bodyPr>
            <a:lstStyle/>
            <a:p>
              <a:r>
                <a:rPr lang="en-US" altLang="zh-CN" dirty="0" err="1"/>
                <a:t>S.t.</a:t>
              </a:r>
              <a:endParaRPr lang="zh-CN" altLang="en-US" dirty="0"/>
            </a:p>
          </p:txBody>
        </p:sp>
      </p:gr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新增练习</a:t>
            </a:r>
            <a:r>
              <a:rPr lang="en-US" altLang="zh-CN" dirty="0"/>
              <a:t>28-3</a:t>
            </a:r>
            <a:r>
              <a:rPr lang="zh-CN" altLang="en-US" dirty="0"/>
              <a:t>，缺陷往往发生在边界处，理解上的偏差也往往发生在边界处</a:t>
            </a:r>
            <a:endParaRPr lang="zh-CN" alt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08924" y="2094065"/>
            <a:ext cx="5058386" cy="4047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4624"/>
            <a:ext cx="10221913" cy="576064"/>
          </a:xfrm>
        </p:spPr>
        <p:txBody>
          <a:bodyPr>
            <a:noAutofit/>
          </a:bodyPr>
          <a:lstStyle/>
          <a:p>
            <a:r>
              <a:rPr lang="zh-CN" altLang="en-US" sz="3200" dirty="0"/>
              <a:t>总结</a:t>
            </a:r>
            <a:endParaRPr lang="zh-CN" altLang="en-US" sz="3200" dirty="0"/>
          </a:p>
        </p:txBody>
      </p:sp>
      <p:sp>
        <p:nvSpPr>
          <p:cNvPr id="3" name="灯片编号占位符 2"/>
          <p:cNvSpPr>
            <a:spLocks noGrp="1"/>
          </p:cNvSpPr>
          <p:nvPr>
            <p:ph type="sldNum" sz="quarter" idx="12"/>
          </p:nvPr>
        </p:nvSpPr>
        <p:spPr>
          <a:xfrm>
            <a:off x="7893500" y="6245225"/>
            <a:ext cx="2133600" cy="476250"/>
          </a:xfrm>
        </p:spPr>
        <p:txBody>
          <a:bodyPr/>
          <a:lstStyle/>
          <a:p>
            <a:fld id="{0C913308-F349-4B6D-A68A-DD1791B4A57B}" type="slidenum">
              <a:rPr lang="zh-CN" altLang="en-US" smtClean="0"/>
            </a:fld>
            <a:endParaRPr lang="zh-CN" altLang="en-US"/>
          </a:p>
        </p:txBody>
      </p:sp>
      <p:graphicFrame>
        <p:nvGraphicFramePr>
          <p:cNvPr id="4" name="表格 3"/>
          <p:cNvGraphicFramePr>
            <a:graphicFrameLocks noGrp="1"/>
          </p:cNvGraphicFramePr>
          <p:nvPr/>
        </p:nvGraphicFramePr>
        <p:xfrm>
          <a:off x="142240" y="620687"/>
          <a:ext cx="11708004" cy="4361717"/>
        </p:xfrm>
        <a:graphic>
          <a:graphicData uri="http://schemas.openxmlformats.org/drawingml/2006/table">
            <a:tbl>
              <a:tblPr firstRow="1" bandRow="1">
                <a:tableStyleId>{5C22544A-7EE6-4342-B048-85BDC9FD1C3A}</a:tableStyleId>
              </a:tblPr>
              <a:tblGrid>
                <a:gridCol w="6705600"/>
                <a:gridCol w="5002404"/>
              </a:tblGrid>
              <a:tr h="734430">
                <a:tc>
                  <a:txBody>
                    <a:bodyPr/>
                    <a:lstStyle/>
                    <a:p>
                      <a:pPr algn="ctr"/>
                      <a:r>
                        <a:rPr lang="en-US" altLang="zh-CN" sz="2800" dirty="0">
                          <a:solidFill>
                            <a:schemeClr val="tx1"/>
                          </a:solidFill>
                          <a:latin typeface="+mn-ea"/>
                          <a:ea typeface="+mn-ea"/>
                        </a:rPr>
                        <a:t>LPQ</a:t>
                      </a:r>
                      <a:r>
                        <a:rPr lang="zh-CN" altLang="en-US" sz="2800" dirty="0">
                          <a:solidFill>
                            <a:schemeClr val="tx1"/>
                          </a:solidFill>
                          <a:latin typeface="+mn-ea"/>
                          <a:ea typeface="+mn-ea"/>
                        </a:rPr>
                        <a:t>问题的数学形式</a:t>
                      </a:r>
                      <a:endParaRPr lang="zh-CN" altLang="en-US" sz="2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800" dirty="0">
                          <a:solidFill>
                            <a:schemeClr val="tx1"/>
                          </a:solidFill>
                          <a:latin typeface="+mn-ea"/>
                          <a:ea typeface="+mn-ea"/>
                        </a:rPr>
                        <a:t>求解算法</a:t>
                      </a:r>
                      <a:endParaRPr lang="zh-CN" altLang="en-US" sz="2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27287">
                <a:tc>
                  <a:txBody>
                    <a:bodyPr/>
                    <a:lstStyle/>
                    <a:p>
                      <a:pPr algn="ctr"/>
                      <a:endParaRPr lang="zh-CN" altLang="en-US" sz="20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20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pSp>
        <p:nvGrpSpPr>
          <p:cNvPr id="27" name="组合 26"/>
          <p:cNvGrpSpPr/>
          <p:nvPr/>
        </p:nvGrpSpPr>
        <p:grpSpPr>
          <a:xfrm>
            <a:off x="197257" y="1414396"/>
            <a:ext cx="7001918" cy="2928527"/>
            <a:chOff x="-51469" y="1763521"/>
            <a:chExt cx="5700418" cy="2928527"/>
          </a:xfrm>
        </p:grpSpPr>
        <p:sp>
          <p:nvSpPr>
            <p:cNvPr id="5" name="TextBox 4"/>
            <p:cNvSpPr txBox="1"/>
            <p:nvPr/>
          </p:nvSpPr>
          <p:spPr>
            <a:xfrm>
              <a:off x="-51469" y="1763521"/>
              <a:ext cx="3744416" cy="461665"/>
            </a:xfrm>
            <a:prstGeom prst="rect">
              <a:avLst/>
            </a:prstGeom>
            <a:noFill/>
          </p:spPr>
          <p:txBody>
            <a:bodyPr wrap="square" rtlCol="0">
              <a:spAutoFit/>
            </a:bodyPr>
            <a:lstStyle/>
            <a:p>
              <a:r>
                <a:rPr lang="en-US" altLang="zh-CN" sz="2400" dirty="0"/>
                <a:t>LPQ</a:t>
              </a:r>
              <a:r>
                <a:rPr lang="zh-CN" altLang="en-US" sz="2400" dirty="0"/>
                <a:t>可化为简单标准形：</a:t>
              </a:r>
              <a:endParaRPr lang="zh-CN" altLang="en-US" sz="2400" dirty="0"/>
            </a:p>
          </p:txBody>
        </p:sp>
        <p:grpSp>
          <p:nvGrpSpPr>
            <p:cNvPr id="6" name="组合 22"/>
            <p:cNvGrpSpPr/>
            <p:nvPr/>
          </p:nvGrpSpPr>
          <p:grpSpPr>
            <a:xfrm>
              <a:off x="0" y="2234483"/>
              <a:ext cx="5648949" cy="2457565"/>
              <a:chOff x="3562575" y="3215694"/>
              <a:chExt cx="5499554" cy="1807033"/>
            </a:xfrm>
          </p:grpSpPr>
          <p:grpSp>
            <p:nvGrpSpPr>
              <p:cNvPr id="7" name="组合 37"/>
              <p:cNvGrpSpPr/>
              <p:nvPr/>
            </p:nvGrpSpPr>
            <p:grpSpPr>
              <a:xfrm>
                <a:off x="3562575" y="3215694"/>
                <a:ext cx="3731274" cy="628889"/>
                <a:chOff x="7641672" y="598640"/>
                <a:chExt cx="3169576" cy="420456"/>
              </a:xfrm>
            </p:grpSpPr>
            <p:sp>
              <p:nvSpPr>
                <p:cNvPr id="19" name="矩形 18"/>
                <p:cNvSpPr/>
                <p:nvPr/>
              </p:nvSpPr>
              <p:spPr>
                <a:xfrm>
                  <a:off x="7641672" y="669094"/>
                  <a:ext cx="3169576" cy="235589"/>
                </a:xfrm>
                <a:prstGeom prst="rect">
                  <a:avLst/>
                </a:prstGeom>
              </p:spPr>
              <p:txBody>
                <a:bodyPr wrap="square">
                  <a:spAutoFit/>
                </a:bodyPr>
                <a:lstStyle/>
                <a:p>
                  <a:pPr marL="342900" indent="-342900" algn="ctr" fontAlgn="base">
                    <a:lnSpc>
                      <a:spcPct val="110000"/>
                    </a:lnSpc>
                    <a:spcAft>
                      <a:spcPct val="0"/>
                    </a:spcAft>
                  </a:pPr>
                  <a:r>
                    <a:rPr lang="en-US" altLang="zh-CN" sz="2400" dirty="0">
                      <a:solidFill>
                        <a:srgbClr val="FF0000"/>
                      </a:solidFill>
                    </a:rPr>
                    <a:t>max </a:t>
                  </a:r>
                  <a:r>
                    <a:rPr lang="en-US" altLang="zh-CN" sz="2400" dirty="0">
                      <a:solidFill>
                        <a:srgbClr val="060606"/>
                      </a:solidFill>
                    </a:rPr>
                    <a:t>z =     </a:t>
                  </a:r>
                  <a:r>
                    <a:rPr lang="en-US" altLang="zh-CN" sz="2400" dirty="0" err="1">
                      <a:solidFill>
                        <a:srgbClr val="060606"/>
                      </a:solidFill>
                    </a:rPr>
                    <a:t>c</a:t>
                  </a:r>
                  <a:r>
                    <a:rPr lang="en-US" altLang="zh-CN" sz="2400" baseline="-25000" dirty="0" err="1">
                      <a:solidFill>
                        <a:srgbClr val="060606"/>
                      </a:solidFill>
                    </a:rPr>
                    <a:t>j</a:t>
                  </a:r>
                  <a:r>
                    <a:rPr lang="en-US" altLang="zh-CN" sz="2400" dirty="0" err="1">
                      <a:solidFill>
                        <a:srgbClr val="060606"/>
                      </a:solidFill>
                    </a:rPr>
                    <a:t>x</a:t>
                  </a:r>
                  <a:r>
                    <a:rPr lang="en-US" altLang="zh-CN" sz="2400" baseline="-25000" dirty="0" err="1">
                      <a:solidFill>
                        <a:srgbClr val="060606"/>
                      </a:solidFill>
                    </a:rPr>
                    <a:t>j</a:t>
                  </a:r>
                  <a:r>
                    <a:rPr lang="en-US" altLang="zh-CN" sz="2400" baseline="-25000" dirty="0">
                      <a:solidFill>
                        <a:srgbClr val="060606"/>
                      </a:solidFill>
                    </a:rPr>
                    <a:t> </a:t>
                  </a:r>
                  <a:r>
                    <a:rPr lang="en-US" altLang="zh-CN" sz="2400" dirty="0">
                      <a:solidFill>
                        <a:srgbClr val="060606"/>
                      </a:solidFill>
                    </a:rPr>
                    <a:t>+   0</a:t>
                  </a:r>
                  <a:r>
                    <a:rPr lang="en-US" altLang="zh-CN" sz="2400" dirty="0">
                      <a:solidFill>
                        <a:srgbClr val="FF0000"/>
                      </a:solidFill>
                    </a:rPr>
                    <a:t> </a:t>
                  </a:r>
                  <a:r>
                    <a:rPr lang="en-US" altLang="zh-CN" sz="2400" dirty="0" err="1">
                      <a:solidFill>
                        <a:srgbClr val="FF0000"/>
                      </a:solidFill>
                    </a:rPr>
                    <a:t>x</a:t>
                  </a:r>
                  <a:r>
                    <a:rPr lang="en-US" altLang="zh-CN" sz="2400" baseline="-25000" dirty="0" err="1">
                      <a:solidFill>
                        <a:srgbClr val="FF0000"/>
                      </a:solidFill>
                    </a:rPr>
                    <a:t>si</a:t>
                  </a:r>
                  <a:r>
                    <a:rPr lang="en-US" altLang="zh-CN" sz="2400" dirty="0">
                      <a:solidFill>
                        <a:srgbClr val="FF0000"/>
                      </a:solidFill>
                    </a:rPr>
                    <a:t> </a:t>
                  </a:r>
                  <a:r>
                    <a:rPr lang="en-US" altLang="zh-CN" sz="2400" dirty="0">
                      <a:solidFill>
                        <a:srgbClr val="060606"/>
                      </a:solidFill>
                    </a:rPr>
                    <a:t>    </a:t>
                  </a:r>
                  <a:endParaRPr lang="en-US" altLang="zh-CN" sz="2400" dirty="0">
                    <a:solidFill>
                      <a:srgbClr val="060606"/>
                    </a:solidFill>
                  </a:endParaRPr>
                </a:p>
              </p:txBody>
            </p:sp>
            <p:grpSp>
              <p:nvGrpSpPr>
                <p:cNvPr id="20" name="组合 31"/>
                <p:cNvGrpSpPr/>
                <p:nvPr/>
              </p:nvGrpSpPr>
              <p:grpSpPr>
                <a:xfrm>
                  <a:off x="8957901" y="598640"/>
                  <a:ext cx="1216717" cy="420456"/>
                  <a:chOff x="6293605" y="526632"/>
                  <a:chExt cx="1216717" cy="420456"/>
                </a:xfrm>
              </p:grpSpPr>
              <p:sp>
                <p:nvSpPr>
                  <p:cNvPr id="21" name="矩形 20"/>
                  <p:cNvSpPr/>
                  <p:nvPr/>
                </p:nvSpPr>
                <p:spPr>
                  <a:xfrm>
                    <a:off x="6300192" y="765526"/>
                    <a:ext cx="567784" cy="181562"/>
                  </a:xfrm>
                  <a:prstGeom prst="rect">
                    <a:avLst/>
                  </a:prstGeom>
                </p:spPr>
                <p:txBody>
                  <a:bodyPr wrap="square">
                    <a:spAutoFit/>
                  </a:bodyPr>
                  <a:lstStyle/>
                  <a:p>
                    <a:r>
                      <a:rPr lang="en-US" altLang="zh-CN" dirty="0">
                        <a:solidFill>
                          <a:srgbClr val="060606"/>
                        </a:solidFill>
                      </a:rPr>
                      <a:t>j=1</a:t>
                    </a:r>
                    <a:endParaRPr lang="zh-CN" altLang="en-US" dirty="0"/>
                  </a:p>
                </p:txBody>
              </p:sp>
              <p:sp>
                <p:nvSpPr>
                  <p:cNvPr id="22" name="矩形 21"/>
                  <p:cNvSpPr/>
                  <p:nvPr/>
                </p:nvSpPr>
                <p:spPr>
                  <a:xfrm>
                    <a:off x="6353738" y="526632"/>
                    <a:ext cx="257447" cy="181562"/>
                  </a:xfrm>
                  <a:prstGeom prst="rect">
                    <a:avLst/>
                  </a:prstGeom>
                </p:spPr>
                <p:txBody>
                  <a:bodyPr wrap="none">
                    <a:spAutoFit/>
                  </a:bodyPr>
                  <a:lstStyle/>
                  <a:p>
                    <a:r>
                      <a:rPr lang="en-US" altLang="zh-CN" dirty="0">
                        <a:solidFill>
                          <a:srgbClr val="060606"/>
                        </a:solidFill>
                      </a:rPr>
                      <a:t>n</a:t>
                    </a:r>
                    <a:endParaRPr lang="zh-CN" altLang="en-US" dirty="0"/>
                  </a:p>
                </p:txBody>
              </p:sp>
              <p:sp>
                <p:nvSpPr>
                  <p:cNvPr id="23" name="矩形 22"/>
                  <p:cNvSpPr/>
                  <p:nvPr/>
                </p:nvSpPr>
                <p:spPr>
                  <a:xfrm>
                    <a:off x="6293605" y="621099"/>
                    <a:ext cx="351378" cy="226952"/>
                  </a:xfrm>
                  <a:prstGeom prst="rect">
                    <a:avLst/>
                  </a:prstGeom>
                </p:spPr>
                <p:txBody>
                  <a:bodyPr wrap="square">
                    <a:spAutoFit/>
                  </a:bodyPr>
                  <a:lstStyle/>
                  <a:p>
                    <a:r>
                      <a:rPr lang="en-US" altLang="zh-CN" sz="2400" dirty="0">
                        <a:solidFill>
                          <a:srgbClr val="060606"/>
                        </a:solidFill>
                      </a:rPr>
                      <a:t>∑ </a:t>
                    </a:r>
                    <a:endParaRPr lang="zh-CN" altLang="en-US" sz="2400" dirty="0"/>
                  </a:p>
                </p:txBody>
              </p:sp>
              <p:sp>
                <p:nvSpPr>
                  <p:cNvPr id="24" name="矩形 23"/>
                  <p:cNvSpPr/>
                  <p:nvPr/>
                </p:nvSpPr>
                <p:spPr>
                  <a:xfrm>
                    <a:off x="6906581" y="613129"/>
                    <a:ext cx="351378" cy="226952"/>
                  </a:xfrm>
                  <a:prstGeom prst="rect">
                    <a:avLst/>
                  </a:prstGeom>
                </p:spPr>
                <p:txBody>
                  <a:bodyPr wrap="square">
                    <a:spAutoFit/>
                  </a:bodyPr>
                  <a:lstStyle/>
                  <a:p>
                    <a:r>
                      <a:rPr lang="en-US" altLang="zh-CN" sz="2400" dirty="0">
                        <a:solidFill>
                          <a:srgbClr val="060606"/>
                        </a:solidFill>
                      </a:rPr>
                      <a:t>∑ </a:t>
                    </a:r>
                    <a:endParaRPr lang="zh-CN" altLang="en-US" sz="2400" dirty="0"/>
                  </a:p>
                </p:txBody>
              </p:sp>
              <p:sp>
                <p:nvSpPr>
                  <p:cNvPr id="25" name="矩形 24"/>
                  <p:cNvSpPr/>
                  <p:nvPr/>
                </p:nvSpPr>
                <p:spPr>
                  <a:xfrm>
                    <a:off x="6906770" y="739024"/>
                    <a:ext cx="567784" cy="181561"/>
                  </a:xfrm>
                  <a:prstGeom prst="rect">
                    <a:avLst/>
                  </a:prstGeom>
                </p:spPr>
                <p:txBody>
                  <a:bodyPr wrap="square">
                    <a:spAutoFit/>
                  </a:bodyPr>
                  <a:lstStyle/>
                  <a:p>
                    <a:r>
                      <a:rPr lang="en-US" altLang="zh-CN" dirty="0">
                        <a:solidFill>
                          <a:srgbClr val="060606"/>
                        </a:solidFill>
                      </a:rPr>
                      <a:t>i=1</a:t>
                    </a:r>
                    <a:endParaRPr lang="zh-CN" altLang="en-US" dirty="0"/>
                  </a:p>
                </p:txBody>
              </p:sp>
              <p:sp>
                <p:nvSpPr>
                  <p:cNvPr id="26" name="矩形 25"/>
                  <p:cNvSpPr/>
                  <p:nvPr/>
                </p:nvSpPr>
                <p:spPr>
                  <a:xfrm>
                    <a:off x="6942538" y="526632"/>
                    <a:ext cx="567784" cy="181562"/>
                  </a:xfrm>
                  <a:prstGeom prst="rect">
                    <a:avLst/>
                  </a:prstGeom>
                </p:spPr>
                <p:txBody>
                  <a:bodyPr wrap="square">
                    <a:spAutoFit/>
                  </a:bodyPr>
                  <a:lstStyle/>
                  <a:p>
                    <a:r>
                      <a:rPr lang="en-US" altLang="zh-CN" dirty="0"/>
                      <a:t>m</a:t>
                    </a:r>
                    <a:endParaRPr lang="zh-CN" altLang="en-US" dirty="0"/>
                  </a:p>
                </p:txBody>
              </p:sp>
            </p:grpSp>
          </p:grpSp>
          <p:grpSp>
            <p:nvGrpSpPr>
              <p:cNvPr id="8" name="组合 21"/>
              <p:cNvGrpSpPr/>
              <p:nvPr/>
            </p:nvGrpSpPr>
            <p:grpSpPr>
              <a:xfrm>
                <a:off x="3629391" y="3745166"/>
                <a:ext cx="5432738" cy="1277561"/>
                <a:chOff x="3069734" y="4217287"/>
                <a:chExt cx="5432738" cy="1277561"/>
              </a:xfrm>
            </p:grpSpPr>
            <p:grpSp>
              <p:nvGrpSpPr>
                <p:cNvPr id="9" name="组合 15"/>
                <p:cNvGrpSpPr/>
                <p:nvPr/>
              </p:nvGrpSpPr>
              <p:grpSpPr>
                <a:xfrm>
                  <a:off x="3069734" y="4340255"/>
                  <a:ext cx="5432738" cy="1154593"/>
                  <a:chOff x="3190579" y="3222695"/>
                  <a:chExt cx="4614906" cy="771924"/>
                </a:xfrm>
              </p:grpSpPr>
              <p:grpSp>
                <p:nvGrpSpPr>
                  <p:cNvPr id="14" name="组合 12"/>
                  <p:cNvGrpSpPr/>
                  <p:nvPr/>
                </p:nvGrpSpPr>
                <p:grpSpPr>
                  <a:xfrm>
                    <a:off x="3190579" y="3383714"/>
                    <a:ext cx="542103" cy="343977"/>
                    <a:chOff x="1678411" y="3803609"/>
                    <a:chExt cx="542103" cy="235223"/>
                  </a:xfrm>
                </p:grpSpPr>
                <p:sp>
                  <p:nvSpPr>
                    <p:cNvPr id="17" name="矩形 16"/>
                    <p:cNvSpPr/>
                    <p:nvPr/>
                  </p:nvSpPr>
                  <p:spPr>
                    <a:xfrm>
                      <a:off x="1678411" y="3820976"/>
                      <a:ext cx="489345" cy="161103"/>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18" name="左大括号 17"/>
                    <p:cNvSpPr/>
                    <p:nvPr/>
                  </p:nvSpPr>
                  <p:spPr bwMode="auto">
                    <a:xfrm>
                      <a:off x="2037010" y="3803609"/>
                      <a:ext cx="183504" cy="235223"/>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sp>
                <p:nvSpPr>
                  <p:cNvPr id="15" name="矩形 14"/>
                  <p:cNvSpPr/>
                  <p:nvPr/>
                </p:nvSpPr>
                <p:spPr>
                  <a:xfrm>
                    <a:off x="4013821" y="3222695"/>
                    <a:ext cx="3791664" cy="408513"/>
                  </a:xfrm>
                  <a:prstGeom prst="rect">
                    <a:avLst/>
                  </a:prstGeom>
                </p:spPr>
                <p:txBody>
                  <a:bodyPr wrap="square">
                    <a:spAutoFit/>
                  </a:bodyPr>
                  <a:lstStyle/>
                  <a:p>
                    <a:r>
                      <a:rPr lang="en-US" altLang="zh-CN" sz="2400" dirty="0">
                        <a:solidFill>
                          <a:srgbClr val="060606"/>
                        </a:solidFill>
                      </a:rPr>
                      <a:t>a</a:t>
                    </a:r>
                    <a:r>
                      <a:rPr lang="en-US" altLang="zh-CN" sz="2400" baseline="-25000" dirty="0">
                        <a:solidFill>
                          <a:srgbClr val="060606"/>
                        </a:solidFill>
                      </a:rPr>
                      <a:t>ij</a:t>
                    </a:r>
                    <a:r>
                      <a:rPr lang="en-US" altLang="zh-CN" sz="2400" dirty="0">
                        <a:solidFill>
                          <a:srgbClr val="060606"/>
                        </a:solidFill>
                      </a:rPr>
                      <a:t>x</a:t>
                    </a:r>
                    <a:r>
                      <a:rPr lang="en-US" altLang="zh-CN" sz="2400" baseline="-25000" dirty="0">
                        <a:solidFill>
                          <a:srgbClr val="060606"/>
                        </a:solidFill>
                      </a:rPr>
                      <a:t>j</a:t>
                    </a:r>
                    <a:r>
                      <a:rPr lang="en-US" altLang="zh-CN" sz="2400" dirty="0">
                        <a:solidFill>
                          <a:srgbClr val="060606"/>
                        </a:solidFill>
                      </a:rPr>
                      <a:t> </a:t>
                    </a:r>
                    <a:r>
                      <a:rPr lang="en-US" altLang="zh-CN" sz="2400" dirty="0">
                        <a:solidFill>
                          <a:srgbClr val="FF0000"/>
                        </a:solidFill>
                      </a:rPr>
                      <a:t>+ </a:t>
                    </a:r>
                    <a:r>
                      <a:rPr lang="en-US" altLang="zh-CN" sz="2400" dirty="0" err="1">
                        <a:solidFill>
                          <a:srgbClr val="FF0000"/>
                        </a:solidFill>
                      </a:rPr>
                      <a:t>x</a:t>
                    </a:r>
                    <a:r>
                      <a:rPr lang="en-US" altLang="zh-CN" sz="2400" baseline="-25000" dirty="0" err="1">
                        <a:solidFill>
                          <a:srgbClr val="FF0000"/>
                        </a:solidFill>
                      </a:rPr>
                      <a:t>si</a:t>
                    </a:r>
                    <a:r>
                      <a:rPr lang="en-US" altLang="zh-CN" sz="2400" dirty="0">
                        <a:solidFill>
                          <a:srgbClr val="FF0000"/>
                        </a:solidFill>
                      </a:rPr>
                      <a:t> = </a:t>
                    </a:r>
                    <a:r>
                      <a:rPr lang="en-US" altLang="zh-CN" sz="2400" dirty="0">
                        <a:solidFill>
                          <a:srgbClr val="060606"/>
                        </a:solidFill>
                      </a:rPr>
                      <a:t> b</a:t>
                    </a:r>
                    <a:r>
                      <a:rPr lang="en-US" altLang="zh-CN" sz="2400" baseline="-25000" dirty="0">
                        <a:solidFill>
                          <a:srgbClr val="060606"/>
                        </a:solidFill>
                      </a:rPr>
                      <a:t>i</a:t>
                    </a:r>
                    <a:r>
                      <a:rPr lang="en-US" altLang="zh-CN" sz="2400" dirty="0">
                        <a:solidFill>
                          <a:srgbClr val="060606"/>
                        </a:solidFill>
                      </a:rPr>
                      <a:t>     (i = 1,2,…,m) </a:t>
                    </a:r>
                    <a:r>
                      <a:rPr lang="en-US" altLang="zh-CN" sz="2400" dirty="0">
                        <a:solidFill>
                          <a:srgbClr val="FF0000"/>
                        </a:solidFill>
                      </a:rPr>
                      <a:t>  b</a:t>
                    </a:r>
                    <a:r>
                      <a:rPr lang="en-US" altLang="zh-CN" sz="2400" baseline="-25000" dirty="0">
                        <a:solidFill>
                          <a:srgbClr val="FF0000"/>
                        </a:solidFill>
                      </a:rPr>
                      <a:t>i</a:t>
                    </a:r>
                    <a:r>
                      <a:rPr lang="en-US" altLang="zh-CN" sz="2400" dirty="0">
                        <a:solidFill>
                          <a:srgbClr val="FF0000"/>
                        </a:solidFill>
                      </a:rPr>
                      <a:t> ≥  0</a:t>
                    </a:r>
                    <a:endParaRPr lang="zh-CN" altLang="en-US" sz="2400" dirty="0">
                      <a:solidFill>
                        <a:srgbClr val="FF0000"/>
                      </a:solidFill>
                    </a:endParaRPr>
                  </a:p>
                </p:txBody>
              </p:sp>
              <p:sp>
                <p:nvSpPr>
                  <p:cNvPr id="16" name="矩形 15"/>
                  <p:cNvSpPr/>
                  <p:nvPr/>
                </p:nvSpPr>
                <p:spPr>
                  <a:xfrm>
                    <a:off x="3793849" y="3586106"/>
                    <a:ext cx="3654333" cy="408513"/>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j</a:t>
                    </a:r>
                    <a:r>
                      <a:rPr lang="en-US" altLang="zh-CN" sz="2400" dirty="0">
                        <a:solidFill>
                          <a:srgbClr val="060606"/>
                        </a:solidFill>
                      </a:rPr>
                      <a:t>  </a:t>
                    </a:r>
                    <a:r>
                      <a:rPr lang="zh-CN" altLang="en-US" sz="2400" dirty="0">
                        <a:solidFill>
                          <a:srgbClr val="060606"/>
                        </a:solidFill>
                      </a:rPr>
                      <a:t>≥ </a:t>
                    </a:r>
                    <a:r>
                      <a:rPr lang="en-US" altLang="zh-CN" sz="2400" dirty="0">
                        <a:solidFill>
                          <a:srgbClr val="060606"/>
                        </a:solidFill>
                      </a:rPr>
                      <a:t>0        (j = 1,2,…,n</a:t>
                    </a:r>
                    <a:r>
                      <a:rPr lang="zh-CN" altLang="en-US" sz="2400" dirty="0">
                        <a:solidFill>
                          <a:srgbClr val="060606"/>
                        </a:solidFill>
                      </a:rPr>
                      <a:t>，非负约束</a:t>
                    </a:r>
                    <a:r>
                      <a:rPr lang="en-US" altLang="zh-CN" sz="2400" dirty="0">
                        <a:solidFill>
                          <a:srgbClr val="060606"/>
                        </a:solidFill>
                      </a:rPr>
                      <a:t>)</a:t>
                    </a:r>
                    <a:endParaRPr lang="zh-CN" altLang="en-US" sz="2400" dirty="0">
                      <a:solidFill>
                        <a:srgbClr val="060606"/>
                      </a:solidFill>
                    </a:endParaRPr>
                  </a:p>
                </p:txBody>
              </p:sp>
            </p:grpSp>
            <p:grpSp>
              <p:nvGrpSpPr>
                <p:cNvPr id="10" name="组合 32"/>
                <p:cNvGrpSpPr/>
                <p:nvPr/>
              </p:nvGrpSpPr>
              <p:grpSpPr>
                <a:xfrm>
                  <a:off x="3731589" y="4217287"/>
                  <a:ext cx="696387" cy="589250"/>
                  <a:chOff x="6273087" y="548193"/>
                  <a:chExt cx="591555" cy="393954"/>
                </a:xfrm>
              </p:grpSpPr>
              <p:sp>
                <p:nvSpPr>
                  <p:cNvPr id="11" name="矩形 10"/>
                  <p:cNvSpPr/>
                  <p:nvPr/>
                </p:nvSpPr>
                <p:spPr>
                  <a:xfrm>
                    <a:off x="6296858" y="760585"/>
                    <a:ext cx="567784" cy="181562"/>
                  </a:xfrm>
                  <a:prstGeom prst="rect">
                    <a:avLst/>
                  </a:prstGeom>
                </p:spPr>
                <p:txBody>
                  <a:bodyPr wrap="square">
                    <a:spAutoFit/>
                  </a:bodyPr>
                  <a:lstStyle/>
                  <a:p>
                    <a:r>
                      <a:rPr lang="en-US" altLang="zh-CN" dirty="0">
                        <a:solidFill>
                          <a:srgbClr val="060606"/>
                        </a:solidFill>
                      </a:rPr>
                      <a:t>j=1</a:t>
                    </a:r>
                    <a:endParaRPr lang="zh-CN" altLang="en-US" dirty="0"/>
                  </a:p>
                </p:txBody>
              </p:sp>
              <p:sp>
                <p:nvSpPr>
                  <p:cNvPr id="12" name="矩形 11"/>
                  <p:cNvSpPr/>
                  <p:nvPr/>
                </p:nvSpPr>
                <p:spPr>
                  <a:xfrm>
                    <a:off x="6353439" y="548193"/>
                    <a:ext cx="257448" cy="181562"/>
                  </a:xfrm>
                  <a:prstGeom prst="rect">
                    <a:avLst/>
                  </a:prstGeom>
                </p:spPr>
                <p:txBody>
                  <a:bodyPr wrap="none">
                    <a:spAutoFit/>
                  </a:bodyPr>
                  <a:lstStyle/>
                  <a:p>
                    <a:r>
                      <a:rPr lang="en-US" altLang="zh-CN" dirty="0">
                        <a:solidFill>
                          <a:srgbClr val="060606"/>
                        </a:solidFill>
                      </a:rPr>
                      <a:t>n</a:t>
                    </a:r>
                    <a:endParaRPr lang="zh-CN" altLang="en-US" dirty="0"/>
                  </a:p>
                </p:txBody>
              </p:sp>
              <p:sp>
                <p:nvSpPr>
                  <p:cNvPr id="13" name="矩形 12"/>
                  <p:cNvSpPr/>
                  <p:nvPr/>
                </p:nvSpPr>
                <p:spPr>
                  <a:xfrm>
                    <a:off x="6273087" y="632036"/>
                    <a:ext cx="346489"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grpSp>
        </p:grpSp>
      </p:grpSp>
      <p:sp>
        <p:nvSpPr>
          <p:cNvPr id="28" name="TextBox 27"/>
          <p:cNvSpPr txBox="1"/>
          <p:nvPr/>
        </p:nvSpPr>
        <p:spPr>
          <a:xfrm>
            <a:off x="6932643" y="1369473"/>
            <a:ext cx="4873939" cy="3416320"/>
          </a:xfrm>
          <a:prstGeom prst="rect">
            <a:avLst/>
          </a:prstGeom>
          <a:noFill/>
        </p:spPr>
        <p:txBody>
          <a:bodyPr wrap="square" rtlCol="0">
            <a:spAutoFit/>
          </a:bodyPr>
          <a:lstStyle/>
          <a:p>
            <a:r>
              <a:rPr lang="zh-CN" altLang="en-US" sz="2400" dirty="0"/>
              <a:t>单纯形法：</a:t>
            </a:r>
            <a:endParaRPr lang="en-US" altLang="zh-CN" sz="2400" dirty="0"/>
          </a:p>
          <a:p>
            <a:r>
              <a:rPr lang="en-US" altLang="zh-CN" sz="2400" dirty="0"/>
              <a:t>1</a:t>
            </a:r>
            <a:r>
              <a:rPr lang="zh-CN" altLang="en-US" sz="2400" dirty="0"/>
              <a:t>，通过引入松弛变量</a:t>
            </a:r>
            <a:r>
              <a:rPr lang="en-US" altLang="zh-CN" sz="2400" dirty="0" err="1">
                <a:solidFill>
                  <a:srgbClr val="FF0000"/>
                </a:solidFill>
              </a:rPr>
              <a:t>x</a:t>
            </a:r>
            <a:r>
              <a:rPr lang="en-US" altLang="zh-CN" sz="2400" baseline="-25000" dirty="0" err="1">
                <a:solidFill>
                  <a:srgbClr val="FF0000"/>
                </a:solidFill>
              </a:rPr>
              <a:t>si</a:t>
            </a:r>
            <a:r>
              <a:rPr lang="en-US" altLang="zh-CN" sz="2400" baseline="-25000" dirty="0">
                <a:solidFill>
                  <a:srgbClr val="FF0000"/>
                </a:solidFill>
              </a:rPr>
              <a:t> </a:t>
            </a:r>
            <a:r>
              <a:rPr lang="en-US" altLang="zh-CN" sz="2400" dirty="0">
                <a:solidFill>
                  <a:srgbClr val="FF0000"/>
                </a:solidFill>
              </a:rPr>
              <a:t>≥  0 </a:t>
            </a:r>
            <a:r>
              <a:rPr lang="zh-CN" altLang="en-US" sz="2400" dirty="0"/>
              <a:t>，构造一个初始基可行解</a:t>
            </a:r>
            <a:endParaRPr lang="en-US" altLang="zh-CN" sz="2400" dirty="0"/>
          </a:p>
          <a:p>
            <a:r>
              <a:rPr lang="en-US" altLang="zh-CN" sz="2400" dirty="0"/>
              <a:t>2</a:t>
            </a:r>
            <a:r>
              <a:rPr lang="zh-CN" altLang="en-US" sz="2400" dirty="0"/>
              <a:t>，最优判定</a:t>
            </a:r>
            <a:endParaRPr lang="en-US" altLang="zh-CN" sz="2400" dirty="0"/>
          </a:p>
          <a:p>
            <a:r>
              <a:rPr lang="en-US" altLang="zh-CN" sz="2400" dirty="0"/>
              <a:t>3</a:t>
            </a:r>
            <a:r>
              <a:rPr lang="zh-CN" altLang="en-US" sz="2400" dirty="0"/>
              <a:t>，换基</a:t>
            </a:r>
            <a:endParaRPr lang="en-US" altLang="zh-CN" sz="2400" dirty="0"/>
          </a:p>
          <a:p>
            <a:r>
              <a:rPr lang="en-US" altLang="zh-CN" sz="2400" dirty="0"/>
              <a:t>4</a:t>
            </a:r>
            <a:r>
              <a:rPr lang="zh-CN" altLang="en-US" sz="2400" dirty="0"/>
              <a:t>，通过初等行运算，得到一个新的基可行解</a:t>
            </a:r>
            <a:endParaRPr lang="en-US" altLang="zh-CN" sz="2400" dirty="0"/>
          </a:p>
          <a:p>
            <a:r>
              <a:rPr lang="en-US" altLang="zh-CN" sz="2400" dirty="0"/>
              <a:t>5</a:t>
            </a:r>
            <a:r>
              <a:rPr lang="zh-CN" altLang="en-US" sz="2400" dirty="0"/>
              <a:t>，然后重复“最优判定”、“换基”、“初等行运算”，直至找到最优解。</a:t>
            </a:r>
            <a:endParaRPr lang="zh-CN" altLang="en-US" sz="2400" dirty="0"/>
          </a:p>
        </p:txBody>
      </p:sp>
      <p:sp>
        <p:nvSpPr>
          <p:cNvPr id="29" name="TextBox 28"/>
          <p:cNvSpPr txBox="1"/>
          <p:nvPr/>
        </p:nvSpPr>
        <p:spPr>
          <a:xfrm>
            <a:off x="375760" y="5203638"/>
            <a:ext cx="11508487" cy="1569660"/>
          </a:xfrm>
          <a:prstGeom prst="rect">
            <a:avLst/>
          </a:prstGeom>
          <a:noFill/>
        </p:spPr>
        <p:txBody>
          <a:bodyPr wrap="square" rtlCol="0">
            <a:spAutoFit/>
          </a:bodyPr>
          <a:lstStyle/>
          <a:p>
            <a:r>
              <a:rPr lang="zh-CN" altLang="en-US" sz="3200" dirty="0"/>
              <a:t>简而言之，那些能够通过引入松弛变量</a:t>
            </a:r>
            <a:r>
              <a:rPr lang="en-US" altLang="zh-CN" sz="3200" dirty="0" err="1">
                <a:solidFill>
                  <a:srgbClr val="FF0000"/>
                </a:solidFill>
              </a:rPr>
              <a:t>x</a:t>
            </a:r>
            <a:r>
              <a:rPr lang="en-US" altLang="zh-CN" sz="3200" baseline="-25000" dirty="0" err="1">
                <a:solidFill>
                  <a:srgbClr val="FF0000"/>
                </a:solidFill>
              </a:rPr>
              <a:t>si</a:t>
            </a:r>
            <a:r>
              <a:rPr lang="en-US" altLang="zh-CN" sz="3200" baseline="-25000" dirty="0">
                <a:solidFill>
                  <a:srgbClr val="FF0000"/>
                </a:solidFill>
              </a:rPr>
              <a:t> </a:t>
            </a:r>
            <a:r>
              <a:rPr lang="en-US" altLang="zh-CN" sz="3200" dirty="0">
                <a:solidFill>
                  <a:srgbClr val="FF0000"/>
                </a:solidFill>
              </a:rPr>
              <a:t>≥  0 </a:t>
            </a:r>
            <a:r>
              <a:rPr lang="zh-CN" altLang="en-US" sz="3200" dirty="0"/>
              <a:t>，构造一个</a:t>
            </a:r>
            <a:r>
              <a:rPr lang="zh-CN" altLang="en-US" sz="3200" dirty="0">
                <a:solidFill>
                  <a:srgbClr val="FF0000"/>
                </a:solidFill>
              </a:rPr>
              <a:t>初始基可行解</a:t>
            </a:r>
            <a:r>
              <a:rPr lang="zh-CN" altLang="en-US" sz="3200" dirty="0"/>
              <a:t>的（即</a:t>
            </a:r>
            <a:r>
              <a:rPr lang="en-US" altLang="zh-CN" sz="3200" dirty="0" err="1"/>
              <a:t>s.t</a:t>
            </a:r>
            <a:r>
              <a:rPr lang="en-US" altLang="zh-CN" sz="3200" dirty="0"/>
              <a:t>.</a:t>
            </a:r>
            <a:r>
              <a:rPr lang="zh-CN" altLang="en-US" sz="3200" dirty="0"/>
              <a:t>中全是</a:t>
            </a:r>
            <a:r>
              <a:rPr lang="en-US" altLang="zh-CN" sz="3200" dirty="0">
                <a:solidFill>
                  <a:srgbClr val="FF0000"/>
                </a:solidFill>
              </a:rPr>
              <a:t>≤ </a:t>
            </a:r>
            <a:r>
              <a:rPr lang="zh-CN" altLang="en-US" sz="3200" dirty="0">
                <a:solidFill>
                  <a:srgbClr val="000018"/>
                </a:solidFill>
              </a:rPr>
              <a:t>关系</a:t>
            </a:r>
            <a:r>
              <a:rPr lang="zh-CN" altLang="en-US" sz="3200" dirty="0"/>
              <a:t>），且</a:t>
            </a:r>
            <a:r>
              <a:rPr lang="en-US" altLang="zh-CN" sz="3200" dirty="0">
                <a:solidFill>
                  <a:srgbClr val="FF0000"/>
                </a:solidFill>
              </a:rPr>
              <a:t>b</a:t>
            </a:r>
            <a:r>
              <a:rPr lang="en-US" altLang="zh-CN" sz="3200" baseline="-25000" dirty="0">
                <a:solidFill>
                  <a:srgbClr val="FF0000"/>
                </a:solidFill>
              </a:rPr>
              <a:t>i</a:t>
            </a:r>
            <a:r>
              <a:rPr lang="en-US" altLang="zh-CN" sz="3200" dirty="0">
                <a:solidFill>
                  <a:srgbClr val="FF0000"/>
                </a:solidFill>
              </a:rPr>
              <a:t> ≥  0</a:t>
            </a:r>
            <a:r>
              <a:rPr lang="zh-CN" altLang="en-US" sz="3200" dirty="0">
                <a:solidFill>
                  <a:srgbClr val="FF0000"/>
                </a:solidFill>
              </a:rPr>
              <a:t>，目标求</a:t>
            </a:r>
            <a:r>
              <a:rPr lang="en-US" altLang="zh-CN" sz="3200" dirty="0">
                <a:solidFill>
                  <a:srgbClr val="FF0000"/>
                </a:solidFill>
              </a:rPr>
              <a:t>max</a:t>
            </a:r>
            <a:r>
              <a:rPr lang="zh-CN" altLang="en-US" sz="3200" dirty="0"/>
              <a:t>的</a:t>
            </a:r>
            <a:r>
              <a:rPr lang="en-US" altLang="zh-CN" sz="3200" dirty="0"/>
              <a:t>LPQ</a:t>
            </a:r>
            <a:r>
              <a:rPr lang="zh-CN" altLang="en-US" sz="3200" dirty="0"/>
              <a:t>，用单纯形法求解</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0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xEl>
                                              <p:pRg st="0" end="0"/>
                                            </p:txEl>
                                          </p:spTgt>
                                        </p:tgtEl>
                                        <p:attrNameLst>
                                          <p:attrName>style.visibility</p:attrName>
                                        </p:attrNameLst>
                                      </p:cBhvr>
                                      <p:to>
                                        <p:strVal val="visible"/>
                                      </p:to>
                                    </p:set>
                                    <p:animEffect transition="in" filter="fade">
                                      <p:cBhvr>
                                        <p:cTn id="12" dur="2000"/>
                                        <p:tgtEl>
                                          <p:spTgt spid="2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8">
                                            <p:txEl>
                                              <p:pRg st="1" end="1"/>
                                            </p:txEl>
                                          </p:spTgt>
                                        </p:tgtEl>
                                        <p:attrNameLst>
                                          <p:attrName>style.visibility</p:attrName>
                                        </p:attrNameLst>
                                      </p:cBhvr>
                                      <p:to>
                                        <p:strVal val="visible"/>
                                      </p:to>
                                    </p:set>
                                    <p:animEffect transition="in" filter="fade">
                                      <p:cBhvr>
                                        <p:cTn id="15" dur="2000"/>
                                        <p:tgtEl>
                                          <p:spTgt spid="28">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8">
                                            <p:txEl>
                                              <p:pRg st="2" end="2"/>
                                            </p:txEl>
                                          </p:spTgt>
                                        </p:tgtEl>
                                        <p:attrNameLst>
                                          <p:attrName>style.visibility</p:attrName>
                                        </p:attrNameLst>
                                      </p:cBhvr>
                                      <p:to>
                                        <p:strVal val="visible"/>
                                      </p:to>
                                    </p:set>
                                    <p:animEffect transition="in" filter="fade">
                                      <p:cBhvr>
                                        <p:cTn id="18" dur="2000"/>
                                        <p:tgtEl>
                                          <p:spTgt spid="28">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8">
                                            <p:txEl>
                                              <p:pRg st="3" end="3"/>
                                            </p:txEl>
                                          </p:spTgt>
                                        </p:tgtEl>
                                        <p:attrNameLst>
                                          <p:attrName>style.visibility</p:attrName>
                                        </p:attrNameLst>
                                      </p:cBhvr>
                                      <p:to>
                                        <p:strVal val="visible"/>
                                      </p:to>
                                    </p:set>
                                    <p:animEffect transition="in" filter="fade">
                                      <p:cBhvr>
                                        <p:cTn id="21" dur="2000"/>
                                        <p:tgtEl>
                                          <p:spTgt spid="28">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xEl>
                                              <p:pRg st="4" end="4"/>
                                            </p:txEl>
                                          </p:spTgt>
                                        </p:tgtEl>
                                        <p:attrNameLst>
                                          <p:attrName>style.visibility</p:attrName>
                                        </p:attrNameLst>
                                      </p:cBhvr>
                                      <p:to>
                                        <p:strVal val="visible"/>
                                      </p:to>
                                    </p:set>
                                    <p:animEffect transition="in" filter="fade">
                                      <p:cBhvr>
                                        <p:cTn id="24" dur="2000"/>
                                        <p:tgtEl>
                                          <p:spTgt spid="28">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animEffect transition="in" filter="fade">
                                      <p:cBhvr>
                                        <p:cTn id="27" dur="2000"/>
                                        <p:tgtEl>
                                          <p:spTgt spid="2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
                                            <p:txEl>
                                              <p:pRg st="0" end="0"/>
                                            </p:txEl>
                                          </p:spTgt>
                                        </p:tgtEl>
                                        <p:attrNameLst>
                                          <p:attrName>style.visibility</p:attrName>
                                        </p:attrNameLst>
                                      </p:cBhvr>
                                      <p:to>
                                        <p:strVal val="visible"/>
                                      </p:to>
                                    </p:set>
                                    <p:animEffect transition="in" filter="fade">
                                      <p:cBhvr>
                                        <p:cTn id="32" dur="20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bldP spid="29" grpId="0" build="allAtOnce"/>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四，其它标准形的大</a:t>
            </a:r>
            <a:r>
              <a:rPr lang="en-US" altLang="zh-CN" dirty="0"/>
              <a:t>M</a:t>
            </a:r>
            <a:r>
              <a:rPr lang="zh-CN" altLang="en-US" dirty="0"/>
              <a:t>法和两阶段法</a:t>
            </a:r>
            <a:endParaRPr lang="zh-CN" altLang="en-US" dirty="0"/>
          </a:p>
        </p:txBody>
      </p:sp>
      <p:sp>
        <p:nvSpPr>
          <p:cNvPr id="3" name="文本占位符 2"/>
          <p:cNvSpPr>
            <a:spLocks noGrp="1"/>
          </p:cNvSpPr>
          <p:nvPr>
            <p:ph type="body" idx="1"/>
          </p:nvPr>
        </p:nvSpPr>
        <p:spPr/>
        <p:txBody>
          <a:bodyPr/>
          <a:lstStyle/>
          <a:p>
            <a:r>
              <a:rPr lang="en-US" altLang="zh-CN" dirty="0"/>
              <a:t>1.</a:t>
            </a:r>
            <a:r>
              <a:rPr lang="zh-CN" altLang="en-US" dirty="0"/>
              <a:t>研究对象：其它非</a:t>
            </a:r>
            <a:r>
              <a:rPr lang="zh-CN" altLang="en-US" dirty="0">
                <a:solidFill>
                  <a:srgbClr val="00000C"/>
                </a:solidFill>
              </a:rPr>
              <a:t>简单标准形的</a:t>
            </a:r>
            <a:r>
              <a:rPr lang="en-US" altLang="zh-CN" dirty="0">
                <a:solidFill>
                  <a:srgbClr val="00000C"/>
                </a:solidFill>
              </a:rPr>
              <a:t>LPQ</a:t>
            </a:r>
            <a:r>
              <a:rPr lang="zh-CN" altLang="en-US" dirty="0"/>
              <a:t>，如约束条件中含</a:t>
            </a:r>
            <a:r>
              <a:rPr lang="en-US" altLang="zh-CN" dirty="0"/>
              <a:t>=</a:t>
            </a:r>
            <a:r>
              <a:rPr lang="zh-CN" altLang="en-US" dirty="0"/>
              <a:t>或≥号，在转换为标准形式时需要引入</a:t>
            </a:r>
            <a:r>
              <a:rPr lang="zh-CN" altLang="en-US" b="1" u="sng" dirty="0">
                <a:solidFill>
                  <a:srgbClr val="0000AC"/>
                </a:solidFill>
              </a:rPr>
              <a:t>人工变量</a:t>
            </a:r>
            <a:r>
              <a:rPr lang="zh-CN" altLang="en-US" dirty="0"/>
              <a:t>。</a:t>
            </a:r>
            <a:endParaRPr lang="en-US" altLang="zh-CN" dirty="0"/>
          </a:p>
          <a:p>
            <a:r>
              <a:rPr lang="en-US" altLang="zh-CN" dirty="0"/>
              <a:t>2.</a:t>
            </a:r>
            <a:r>
              <a:rPr lang="zh-CN" altLang="en-US" dirty="0"/>
              <a:t> 单纯形方法：大</a:t>
            </a:r>
            <a:r>
              <a:rPr lang="en-US" altLang="zh-CN" dirty="0"/>
              <a:t>M</a:t>
            </a:r>
            <a:r>
              <a:rPr lang="zh-CN" altLang="en-US" dirty="0"/>
              <a:t>法，两阶段法</a:t>
            </a:r>
            <a:endParaRPr lang="en-US" altLang="zh-CN" dirty="0"/>
          </a:p>
          <a:p>
            <a:endParaRPr lang="zh-CN" alt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a:t>
            </a:r>
            <a:r>
              <a:rPr lang="zh-CN" altLang="en-US" dirty="0"/>
              <a:t>其它标准形的大</a:t>
            </a:r>
            <a:r>
              <a:rPr lang="en-US" altLang="zh-CN" dirty="0"/>
              <a:t>M</a:t>
            </a:r>
            <a:r>
              <a:rPr lang="zh-CN" altLang="en-US" dirty="0"/>
              <a:t>法</a:t>
            </a:r>
            <a:endParaRPr lang="zh-CN" altLang="en-US" dirty="0"/>
          </a:p>
        </p:txBody>
      </p:sp>
      <p:sp>
        <p:nvSpPr>
          <p:cNvPr id="3" name="文本占位符 2"/>
          <p:cNvSpPr>
            <a:spLocks noGrp="1"/>
          </p:cNvSpPr>
          <p:nvPr>
            <p:ph type="body" idx="1"/>
          </p:nvPr>
        </p:nvSpPr>
        <p:spPr/>
        <p:txBody>
          <a:bodyPr/>
          <a:lstStyle/>
          <a:p>
            <a:r>
              <a:rPr lang="zh-CN" altLang="en-US" dirty="0">
                <a:solidFill>
                  <a:schemeClr val="tx1"/>
                </a:solidFill>
              </a:rPr>
              <a:t>需要首先</a:t>
            </a:r>
            <a:r>
              <a:rPr lang="zh-CN" altLang="en-US" sz="2400" dirty="0">
                <a:solidFill>
                  <a:schemeClr val="tx1"/>
                </a:solidFill>
              </a:rPr>
              <a:t>将其它非简单标准形的</a:t>
            </a:r>
            <a:r>
              <a:rPr lang="en-US" altLang="zh-CN" sz="2400" dirty="0">
                <a:solidFill>
                  <a:schemeClr val="tx1"/>
                </a:solidFill>
              </a:rPr>
              <a:t>LPQ</a:t>
            </a:r>
            <a:r>
              <a:rPr lang="zh-CN" altLang="en-US" sz="2400" dirty="0">
                <a:solidFill>
                  <a:schemeClr val="tx1"/>
                </a:solidFill>
              </a:rPr>
              <a:t>转换为简单标准形</a:t>
            </a:r>
            <a:endParaRPr lang="zh-CN" altLang="en-US" dirty="0">
              <a:solidFill>
                <a:schemeClr val="tx1"/>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4320" y="209887"/>
            <a:ext cx="11765280" cy="793750"/>
          </a:xfrm>
        </p:spPr>
        <p:txBody>
          <a:bodyPr>
            <a:normAutofit/>
          </a:bodyPr>
          <a:lstStyle/>
          <a:p>
            <a:r>
              <a:rPr lang="zh-CN" altLang="en-US" sz="3200" dirty="0"/>
              <a:t>将其它非</a:t>
            </a:r>
            <a:r>
              <a:rPr lang="zh-CN" altLang="en-US" sz="3200" dirty="0">
                <a:solidFill>
                  <a:srgbClr val="00000C"/>
                </a:solidFill>
              </a:rPr>
              <a:t>简单标准形的</a:t>
            </a:r>
            <a:r>
              <a:rPr lang="en-US" altLang="zh-CN" sz="3200" dirty="0">
                <a:solidFill>
                  <a:srgbClr val="00000C"/>
                </a:solidFill>
              </a:rPr>
              <a:t>LPQ</a:t>
            </a:r>
            <a:r>
              <a:rPr lang="zh-CN" altLang="en-US" sz="3200" dirty="0">
                <a:solidFill>
                  <a:srgbClr val="00000C"/>
                </a:solidFill>
              </a:rPr>
              <a:t>转换为简单标准形</a:t>
            </a:r>
            <a:endParaRPr lang="zh-CN" altLang="en-US" sz="3200" dirty="0"/>
          </a:p>
        </p:txBody>
      </p:sp>
      <p:sp>
        <p:nvSpPr>
          <p:cNvPr id="3" name="内容占位符 2"/>
          <p:cNvSpPr>
            <a:spLocks noGrp="1"/>
          </p:cNvSpPr>
          <p:nvPr>
            <p:ph idx="1"/>
          </p:nvPr>
        </p:nvSpPr>
        <p:spPr>
          <a:xfrm>
            <a:off x="274320" y="1127760"/>
            <a:ext cx="11369039" cy="5469592"/>
          </a:xfrm>
          <a:ln>
            <a:noFill/>
          </a:ln>
        </p:spPr>
        <p:style>
          <a:lnRef idx="2">
            <a:schemeClr val="accent2"/>
          </a:lnRef>
          <a:fillRef idx="1">
            <a:schemeClr val="lt1"/>
          </a:fillRef>
          <a:effectRef idx="0">
            <a:schemeClr val="accent2"/>
          </a:effectRef>
          <a:fontRef idx="minor">
            <a:schemeClr val="dk1"/>
          </a:fontRef>
        </p:style>
        <p:txBody>
          <a:bodyPr/>
          <a:lstStyle/>
          <a:p>
            <a:pPr>
              <a:spcBef>
                <a:spcPts val="600"/>
              </a:spcBef>
              <a:buNone/>
            </a:pPr>
            <a:r>
              <a:rPr lang="en-US" altLang="zh-CN" sz="2400" dirty="0">
                <a:solidFill>
                  <a:srgbClr val="060606"/>
                </a:solidFill>
                <a:latin typeface="+mn-ea"/>
              </a:rPr>
              <a:t>1.</a:t>
            </a:r>
            <a:r>
              <a:rPr lang="zh-CN" altLang="en-US" sz="2400" dirty="0">
                <a:solidFill>
                  <a:srgbClr val="060606"/>
                </a:solidFill>
                <a:latin typeface="+mn-ea"/>
              </a:rPr>
              <a:t>将线性规划问题转换为标准形式的线性规划问题。此时的</a:t>
            </a:r>
            <a:r>
              <a:rPr lang="zh-CN" altLang="en-US" sz="2400" dirty="0">
                <a:solidFill>
                  <a:srgbClr val="FF0000"/>
                </a:solidFill>
                <a:latin typeface="+mn-ea"/>
              </a:rPr>
              <a:t>标准形</a:t>
            </a:r>
            <a:r>
              <a:rPr lang="zh-CN" altLang="en-US" sz="2400" dirty="0">
                <a:solidFill>
                  <a:srgbClr val="060606"/>
                </a:solidFill>
                <a:latin typeface="+mn-ea"/>
              </a:rPr>
              <a:t>并非</a:t>
            </a:r>
            <a:r>
              <a:rPr lang="zh-CN" altLang="en-US" sz="2400" dirty="0">
                <a:solidFill>
                  <a:srgbClr val="FF0000"/>
                </a:solidFill>
                <a:latin typeface="+mn-ea"/>
              </a:rPr>
              <a:t>简单标准形式</a:t>
            </a:r>
            <a:r>
              <a:rPr lang="zh-CN" altLang="en-US" sz="2400" dirty="0">
                <a:solidFill>
                  <a:srgbClr val="060606"/>
                </a:solidFill>
                <a:latin typeface="+mn-ea"/>
              </a:rPr>
              <a:t>，即</a:t>
            </a:r>
            <a:r>
              <a:rPr lang="zh-CN" altLang="en-US" sz="2400" u="sng" dirty="0">
                <a:solidFill>
                  <a:srgbClr val="060606"/>
                </a:solidFill>
                <a:latin typeface="+mn-ea"/>
              </a:rPr>
              <a:t>约束条件均为等式，而系数矩阵中又不含单位矩阵</a:t>
            </a:r>
            <a:r>
              <a:rPr lang="zh-CN" altLang="en-US" sz="2400" dirty="0"/>
              <a:t>（即</a:t>
            </a:r>
            <a:r>
              <a:rPr lang="en-US" altLang="zh-CN" sz="2400" dirty="0" err="1"/>
              <a:t>s.t</a:t>
            </a:r>
            <a:r>
              <a:rPr lang="en-US" altLang="zh-CN" sz="2400" dirty="0"/>
              <a:t>.</a:t>
            </a:r>
            <a:r>
              <a:rPr lang="zh-CN" altLang="en-US" sz="2400" dirty="0"/>
              <a:t>中</a:t>
            </a:r>
            <a:r>
              <a:rPr lang="zh-CN" altLang="en-US" sz="2400" b="1" dirty="0"/>
              <a:t>不</a:t>
            </a:r>
            <a:r>
              <a:rPr lang="zh-CN" altLang="en-US" sz="2400" dirty="0"/>
              <a:t>全是</a:t>
            </a:r>
            <a:r>
              <a:rPr lang="en-US" altLang="zh-CN" sz="2400" dirty="0">
                <a:solidFill>
                  <a:srgbClr val="FF0000"/>
                </a:solidFill>
              </a:rPr>
              <a:t>≤ </a:t>
            </a:r>
            <a:r>
              <a:rPr lang="zh-CN" altLang="en-US" sz="2400" dirty="0">
                <a:solidFill>
                  <a:srgbClr val="000018"/>
                </a:solidFill>
              </a:rPr>
              <a:t>关系</a:t>
            </a:r>
            <a:r>
              <a:rPr lang="zh-CN" altLang="en-US" sz="2400" dirty="0"/>
              <a:t>）</a:t>
            </a:r>
            <a:r>
              <a:rPr lang="zh-CN" altLang="en-US" sz="2400" dirty="0">
                <a:solidFill>
                  <a:srgbClr val="060606"/>
                </a:solidFill>
                <a:latin typeface="+mn-ea"/>
              </a:rPr>
              <a:t>。</a:t>
            </a:r>
            <a:endParaRPr lang="en-US" altLang="zh-CN" sz="2400" dirty="0">
              <a:solidFill>
                <a:srgbClr val="060606"/>
              </a:solidFill>
              <a:latin typeface="+mn-ea"/>
            </a:endParaRPr>
          </a:p>
          <a:p>
            <a:pPr>
              <a:spcBef>
                <a:spcPts val="600"/>
              </a:spcBef>
              <a:buNone/>
            </a:pPr>
            <a:r>
              <a:rPr lang="en-US" altLang="zh-CN" sz="2400" dirty="0">
                <a:solidFill>
                  <a:srgbClr val="060606"/>
                </a:solidFill>
                <a:latin typeface="+mn-ea"/>
              </a:rPr>
              <a:t>2.</a:t>
            </a:r>
            <a:r>
              <a:rPr lang="zh-CN" altLang="en-US" sz="2400" dirty="0">
                <a:solidFill>
                  <a:srgbClr val="060606"/>
                </a:solidFill>
                <a:latin typeface="+mn-ea"/>
              </a:rPr>
              <a:t>为获得一个明显的</a:t>
            </a:r>
            <a:r>
              <a:rPr lang="zh-CN" altLang="en-US" sz="2400" u="sng" dirty="0">
                <a:solidFill>
                  <a:srgbClr val="060606"/>
                </a:solidFill>
                <a:latin typeface="+mn-ea"/>
              </a:rPr>
              <a:t>初始基可行解</a:t>
            </a:r>
            <a:r>
              <a:rPr lang="zh-CN" altLang="en-US" sz="2400" dirty="0">
                <a:solidFill>
                  <a:srgbClr val="060606"/>
                </a:solidFill>
                <a:latin typeface="+mn-ea"/>
              </a:rPr>
              <a:t>，需在“</a:t>
            </a:r>
            <a:r>
              <a:rPr lang="en-US" altLang="zh-CN" sz="2400" dirty="0">
                <a:solidFill>
                  <a:srgbClr val="060606"/>
                </a:solidFill>
                <a:latin typeface="+mn-ea"/>
              </a:rPr>
              <a:t>=</a:t>
            </a:r>
            <a:r>
              <a:rPr lang="zh-CN" altLang="en-US" sz="2400" dirty="0">
                <a:solidFill>
                  <a:srgbClr val="060606"/>
                </a:solidFill>
                <a:latin typeface="+mn-ea"/>
              </a:rPr>
              <a:t>”中通过添加</a:t>
            </a:r>
            <a:r>
              <a:rPr lang="zh-CN" altLang="en-US" sz="2400" dirty="0">
                <a:solidFill>
                  <a:srgbClr val="FF0000"/>
                </a:solidFill>
                <a:latin typeface="+mn-ea"/>
              </a:rPr>
              <a:t>人工变量</a:t>
            </a:r>
            <a:r>
              <a:rPr lang="zh-CN" altLang="en-US" sz="2400" dirty="0">
                <a:solidFill>
                  <a:srgbClr val="060606"/>
                </a:solidFill>
                <a:latin typeface="+mn-ea"/>
              </a:rPr>
              <a:t>的方法来构造一个单位矩阵。</a:t>
            </a:r>
            <a:r>
              <a:rPr lang="en-US" altLang="zh-CN" sz="2400" dirty="0">
                <a:solidFill>
                  <a:srgbClr val="060606"/>
                </a:solidFill>
                <a:latin typeface="+mn-ea"/>
              </a:rPr>
              <a:t>[</a:t>
            </a:r>
            <a:r>
              <a:rPr lang="zh-CN" altLang="en-US" sz="2400" dirty="0">
                <a:solidFill>
                  <a:srgbClr val="060606"/>
                </a:solidFill>
                <a:latin typeface="+mn-ea"/>
              </a:rPr>
              <a:t>约束条件中引入</a:t>
            </a:r>
            <a:r>
              <a:rPr lang="en-US" altLang="zh-CN" sz="2400" dirty="0">
                <a:solidFill>
                  <a:srgbClr val="060606"/>
                </a:solidFill>
                <a:latin typeface="+mn-ea"/>
              </a:rPr>
              <a:t>]</a:t>
            </a:r>
            <a:endParaRPr lang="en-US" altLang="zh-CN" sz="2400" dirty="0">
              <a:solidFill>
                <a:srgbClr val="060606"/>
              </a:solidFill>
              <a:latin typeface="+mn-ea"/>
            </a:endParaRPr>
          </a:p>
          <a:p>
            <a:pPr>
              <a:spcBef>
                <a:spcPts val="600"/>
              </a:spcBef>
              <a:buNone/>
            </a:pPr>
            <a:r>
              <a:rPr lang="en-US" altLang="zh-CN" sz="2400" dirty="0">
                <a:solidFill>
                  <a:srgbClr val="060606"/>
                </a:solidFill>
                <a:latin typeface="+mn-ea"/>
              </a:rPr>
              <a:t>3.</a:t>
            </a:r>
            <a:r>
              <a:rPr lang="zh-CN" altLang="en-US" sz="2400" dirty="0">
                <a:solidFill>
                  <a:srgbClr val="060606"/>
                </a:solidFill>
                <a:latin typeface="+mn-ea"/>
              </a:rPr>
              <a:t>基于</a:t>
            </a:r>
            <a:r>
              <a:rPr lang="en-US" altLang="zh-CN" sz="2400" dirty="0">
                <a:solidFill>
                  <a:srgbClr val="060606"/>
                </a:solidFill>
                <a:latin typeface="+mn-ea"/>
              </a:rPr>
              <a:t>2</a:t>
            </a:r>
            <a:r>
              <a:rPr lang="zh-CN" altLang="en-US" sz="2400" dirty="0">
                <a:solidFill>
                  <a:srgbClr val="060606"/>
                </a:solidFill>
                <a:latin typeface="+mn-ea"/>
              </a:rPr>
              <a:t>引入的人工变量，推理可知在问题的最优可行解中，</a:t>
            </a:r>
            <a:r>
              <a:rPr lang="zh-CN" altLang="en-US" sz="2400" u="sng" dirty="0">
                <a:solidFill>
                  <a:srgbClr val="060606"/>
                </a:solidFill>
                <a:latin typeface="+mn-ea"/>
              </a:rPr>
              <a:t>人工变量取值必须为</a:t>
            </a:r>
            <a:r>
              <a:rPr lang="en-US" altLang="zh-CN" sz="2400" u="sng" dirty="0">
                <a:solidFill>
                  <a:srgbClr val="060606"/>
                </a:solidFill>
                <a:latin typeface="+mn-ea"/>
              </a:rPr>
              <a:t>0</a:t>
            </a:r>
            <a:r>
              <a:rPr lang="en-US" altLang="zh-CN" sz="2400" dirty="0">
                <a:solidFill>
                  <a:srgbClr val="060606"/>
                </a:solidFill>
                <a:latin typeface="+mn-ea"/>
              </a:rPr>
              <a:t>[</a:t>
            </a:r>
            <a:r>
              <a:rPr lang="zh-CN" altLang="en-US" sz="2400" dirty="0">
                <a:solidFill>
                  <a:srgbClr val="060606"/>
                </a:solidFill>
                <a:latin typeface="+mn-ea"/>
              </a:rPr>
              <a:t>，否则无解</a:t>
            </a:r>
            <a:r>
              <a:rPr lang="en-US" altLang="zh-CN" sz="2400" dirty="0">
                <a:solidFill>
                  <a:srgbClr val="060606"/>
                </a:solidFill>
                <a:latin typeface="+mn-ea"/>
              </a:rPr>
              <a:t>]</a:t>
            </a:r>
            <a:r>
              <a:rPr lang="zh-CN" altLang="en-US" sz="2400" dirty="0">
                <a:solidFill>
                  <a:srgbClr val="060606"/>
                </a:solidFill>
                <a:latin typeface="+mn-ea"/>
              </a:rPr>
              <a:t>。</a:t>
            </a:r>
            <a:endParaRPr lang="en-US" altLang="zh-CN" sz="2400" dirty="0">
              <a:solidFill>
                <a:srgbClr val="060606"/>
              </a:solidFill>
              <a:latin typeface="+mn-ea"/>
            </a:endParaRPr>
          </a:p>
          <a:p>
            <a:pPr>
              <a:spcBef>
                <a:spcPts val="600"/>
              </a:spcBef>
              <a:buNone/>
            </a:pPr>
            <a:r>
              <a:rPr lang="en-US" altLang="zh-CN" sz="2400" dirty="0">
                <a:solidFill>
                  <a:srgbClr val="060606"/>
                </a:solidFill>
                <a:latin typeface="+mn-ea"/>
              </a:rPr>
              <a:t>4.</a:t>
            </a:r>
            <a:r>
              <a:rPr lang="zh-CN" altLang="en-US" sz="2400" dirty="0">
                <a:solidFill>
                  <a:srgbClr val="060606"/>
                </a:solidFill>
                <a:latin typeface="+mn-ea"/>
              </a:rPr>
              <a:t>如何使得</a:t>
            </a:r>
            <a:r>
              <a:rPr lang="zh-CN" altLang="en-US" sz="2400" u="sng" dirty="0">
                <a:solidFill>
                  <a:srgbClr val="060606"/>
                </a:solidFill>
                <a:latin typeface="+mn-ea"/>
              </a:rPr>
              <a:t>最优解中的人工变量取值为</a:t>
            </a:r>
            <a:r>
              <a:rPr lang="en-US" altLang="zh-CN" sz="2400" u="sng" dirty="0">
                <a:solidFill>
                  <a:srgbClr val="060606"/>
                </a:solidFill>
                <a:latin typeface="+mn-ea"/>
              </a:rPr>
              <a:t>0</a:t>
            </a:r>
            <a:r>
              <a:rPr lang="zh-CN" altLang="en-US" sz="2400" dirty="0">
                <a:solidFill>
                  <a:srgbClr val="060606"/>
                </a:solidFill>
                <a:latin typeface="+mn-ea"/>
              </a:rPr>
              <a:t>。为此，令目标函数</a:t>
            </a:r>
            <a:r>
              <a:rPr lang="en-US" altLang="zh-CN" sz="2400" dirty="0">
                <a:solidFill>
                  <a:srgbClr val="060606"/>
                </a:solidFill>
                <a:latin typeface="+mn-ea"/>
              </a:rPr>
              <a:t>(max</a:t>
            </a:r>
            <a:r>
              <a:rPr lang="zh-CN" altLang="en-US" sz="2400" dirty="0">
                <a:solidFill>
                  <a:srgbClr val="060606"/>
                </a:solidFill>
                <a:latin typeface="+mn-ea"/>
              </a:rPr>
              <a:t>形式</a:t>
            </a:r>
            <a:r>
              <a:rPr lang="en-US" altLang="zh-CN" sz="2400" dirty="0">
                <a:solidFill>
                  <a:srgbClr val="060606"/>
                </a:solidFill>
                <a:latin typeface="+mn-ea"/>
              </a:rPr>
              <a:t>)</a:t>
            </a:r>
            <a:r>
              <a:rPr lang="zh-CN" altLang="en-US" sz="2400" dirty="0">
                <a:solidFill>
                  <a:srgbClr val="060606"/>
                </a:solidFill>
                <a:latin typeface="+mn-ea"/>
              </a:rPr>
              <a:t>中人工变量的系数为任意大的一个负数，用“</a:t>
            </a:r>
            <a:r>
              <a:rPr lang="en-US" altLang="zh-CN" sz="2400" dirty="0">
                <a:solidFill>
                  <a:srgbClr val="060606"/>
                </a:solidFill>
                <a:latin typeface="+mn-ea"/>
              </a:rPr>
              <a:t>-M</a:t>
            </a:r>
            <a:r>
              <a:rPr lang="zh-CN" altLang="en-US" sz="2400" dirty="0">
                <a:solidFill>
                  <a:srgbClr val="060606"/>
                </a:solidFill>
                <a:latin typeface="+mn-ea"/>
              </a:rPr>
              <a:t>”来表示，</a:t>
            </a:r>
            <a:r>
              <a:rPr lang="en-US" altLang="zh-CN" sz="2400" dirty="0">
                <a:solidFill>
                  <a:srgbClr val="060606"/>
                </a:solidFill>
                <a:latin typeface="+mn-ea"/>
              </a:rPr>
              <a:t>M = +∞</a:t>
            </a:r>
            <a:r>
              <a:rPr lang="zh-CN" altLang="en-US" sz="2400" dirty="0">
                <a:solidFill>
                  <a:srgbClr val="060606"/>
                </a:solidFill>
                <a:latin typeface="+mn-ea"/>
              </a:rPr>
              <a:t>。</a:t>
            </a:r>
            <a:endParaRPr lang="en-US" altLang="zh-CN" sz="2400" dirty="0">
              <a:solidFill>
                <a:srgbClr val="060606"/>
              </a:solidFill>
              <a:latin typeface="+mn-ea"/>
            </a:endParaRPr>
          </a:p>
          <a:p>
            <a:pPr>
              <a:spcBef>
                <a:spcPts val="600"/>
              </a:spcBef>
              <a:buNone/>
            </a:pPr>
            <a:r>
              <a:rPr lang="en-US" altLang="zh-CN" sz="2400" dirty="0">
                <a:solidFill>
                  <a:srgbClr val="060606"/>
                </a:solidFill>
                <a:latin typeface="+mn-ea"/>
              </a:rPr>
              <a:t>5.</a:t>
            </a:r>
            <a:r>
              <a:rPr lang="zh-CN" altLang="en-US" sz="2400" dirty="0">
                <a:solidFill>
                  <a:srgbClr val="000018"/>
                </a:solidFill>
                <a:latin typeface="+mn-ea"/>
              </a:rPr>
              <a:t>人工变量是为构造一个单位矩阵而引入，是一个基变量，所以需要变换目标函数，使目标函数中只包含非基变量。</a:t>
            </a:r>
            <a:endParaRPr lang="en-US" altLang="zh-CN" sz="2400" dirty="0">
              <a:solidFill>
                <a:srgbClr val="060606"/>
              </a:solidFill>
              <a:latin typeface="+mn-ea"/>
            </a:endParaRPr>
          </a:p>
          <a:p>
            <a:pPr>
              <a:spcBef>
                <a:spcPts val="600"/>
              </a:spcBef>
              <a:buNone/>
            </a:pPr>
            <a:r>
              <a:rPr lang="en-US" altLang="zh-CN" sz="2400" dirty="0">
                <a:solidFill>
                  <a:srgbClr val="060606"/>
                </a:solidFill>
                <a:latin typeface="+mn-ea"/>
              </a:rPr>
              <a:t>6.</a:t>
            </a:r>
            <a:r>
              <a:rPr lang="zh-CN" altLang="en-US" sz="2400" dirty="0">
                <a:solidFill>
                  <a:srgbClr val="060606"/>
                </a:solidFill>
                <a:latin typeface="+mn-ea"/>
              </a:rPr>
              <a:t>接下来</a:t>
            </a:r>
            <a:r>
              <a:rPr lang="en-US" altLang="zh-CN" sz="2400" dirty="0">
                <a:solidFill>
                  <a:srgbClr val="060606"/>
                </a:solidFill>
                <a:latin typeface="+mn-ea"/>
              </a:rPr>
              <a:t>,</a:t>
            </a:r>
            <a:r>
              <a:rPr lang="zh-CN" altLang="en-US" sz="2400" dirty="0">
                <a:solidFill>
                  <a:srgbClr val="060606"/>
                </a:solidFill>
                <a:latin typeface="+mn-ea"/>
              </a:rPr>
              <a:t>就可以使用单纯形法进行求解了。</a:t>
            </a:r>
            <a:endParaRPr lang="zh-CN" altLang="en-US" sz="2400" dirty="0">
              <a:solidFill>
                <a:srgbClr val="060606"/>
              </a:solidFill>
              <a:latin typeface="+mn-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160" y="21640"/>
            <a:ext cx="9742736" cy="496520"/>
          </a:xfrm>
          <a:noFill/>
        </p:spPr>
        <p:txBody>
          <a:bodyPr>
            <a:normAutofit/>
          </a:bodyPr>
          <a:lstStyle/>
          <a:p>
            <a:r>
              <a:rPr lang="zh-CN" altLang="en-US" sz="2800" dirty="0"/>
              <a:t>举例说明如何将</a:t>
            </a:r>
            <a:r>
              <a:rPr lang="zh-CN" altLang="zh-CN" sz="2800" dirty="0"/>
              <a:t>其它非简单标准形的</a:t>
            </a:r>
            <a:r>
              <a:rPr lang="en-US" altLang="zh-CN" sz="2800" dirty="0"/>
              <a:t>LPQ</a:t>
            </a:r>
            <a:r>
              <a:rPr lang="zh-CN" altLang="zh-CN" sz="2800" dirty="0"/>
              <a:t>转换为简单标准形</a:t>
            </a:r>
            <a:r>
              <a:rPr lang="zh-CN" altLang="en-US" sz="2800" dirty="0"/>
              <a:t>：</a:t>
            </a:r>
            <a:endParaRPr lang="zh-CN" altLang="en-US" sz="2800" dirty="0"/>
          </a:p>
        </p:txBody>
      </p:sp>
      <p:sp>
        <p:nvSpPr>
          <p:cNvPr id="3" name="内容占位符 2"/>
          <p:cNvSpPr txBox="1"/>
          <p:nvPr/>
        </p:nvSpPr>
        <p:spPr>
          <a:xfrm>
            <a:off x="227857" y="3063091"/>
            <a:ext cx="5256584" cy="520088"/>
          </a:xfrm>
          <a:prstGeom prst="rect">
            <a:avLst/>
          </a:prstGeom>
        </p:spPr>
        <p:txBody>
          <a:bodyPr/>
          <a:lstStyle/>
          <a:p>
            <a:pPr marL="342900" indent="-342900" fontAlgn="base">
              <a:lnSpc>
                <a:spcPct val="110000"/>
              </a:lnSpc>
              <a:spcBef>
                <a:spcPts val="1800"/>
              </a:spcBef>
              <a:spcAft>
                <a:spcPct val="0"/>
              </a:spcAft>
              <a:defRPr/>
            </a:pPr>
            <a:r>
              <a:rPr lang="en-US" altLang="zh-CN" sz="2400" dirty="0">
                <a:solidFill>
                  <a:srgbClr val="060606"/>
                </a:solidFill>
              </a:rPr>
              <a:t>LPQ</a:t>
            </a:r>
            <a:r>
              <a:rPr lang="zh-CN" altLang="en-US" sz="2400" dirty="0">
                <a:solidFill>
                  <a:srgbClr val="060606"/>
                </a:solidFill>
              </a:rPr>
              <a:t>标准形</a:t>
            </a:r>
            <a:r>
              <a:rPr lang="en-US" altLang="zh-CN" sz="2400" dirty="0">
                <a:solidFill>
                  <a:srgbClr val="060606"/>
                </a:solidFill>
              </a:rPr>
              <a:t>:</a:t>
            </a:r>
            <a:endParaRPr lang="en-US" altLang="zh-CN" sz="2400" dirty="0">
              <a:solidFill>
                <a:srgbClr val="060606"/>
              </a:solidFill>
            </a:endParaRPr>
          </a:p>
        </p:txBody>
      </p:sp>
      <p:grpSp>
        <p:nvGrpSpPr>
          <p:cNvPr id="4" name="组合 3"/>
          <p:cNvGrpSpPr/>
          <p:nvPr/>
        </p:nvGrpSpPr>
        <p:grpSpPr>
          <a:xfrm>
            <a:off x="227857" y="3553562"/>
            <a:ext cx="6094068" cy="2631197"/>
            <a:chOff x="3059832" y="4106689"/>
            <a:chExt cx="6173896" cy="2631197"/>
          </a:xfrm>
        </p:grpSpPr>
        <p:sp>
          <p:nvSpPr>
            <p:cNvPr id="5" name="矩形 4"/>
            <p:cNvSpPr/>
            <p:nvPr/>
          </p:nvSpPr>
          <p:spPr>
            <a:xfrm>
              <a:off x="3275856" y="4106689"/>
              <a:ext cx="4392488" cy="478272"/>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2400" dirty="0">
                  <a:solidFill>
                    <a:srgbClr val="060606"/>
                  </a:solidFill>
                </a:rPr>
                <a:t>max  -z  = -0.4x</a:t>
              </a:r>
              <a:r>
                <a:rPr lang="en-US" altLang="zh-CN" sz="2400" baseline="-25000" dirty="0">
                  <a:solidFill>
                    <a:srgbClr val="060606"/>
                  </a:solidFill>
                </a:rPr>
                <a:t>1</a:t>
              </a:r>
              <a:r>
                <a:rPr lang="en-US" altLang="zh-CN" sz="2400" dirty="0">
                  <a:solidFill>
                    <a:srgbClr val="060606"/>
                  </a:solidFill>
                </a:rPr>
                <a:t>-0.5x</a:t>
              </a:r>
              <a:r>
                <a:rPr lang="en-US" altLang="zh-CN" sz="2400" baseline="-25000" dirty="0">
                  <a:solidFill>
                    <a:srgbClr val="060606"/>
                  </a:solidFill>
                </a:rPr>
                <a:t>2</a:t>
              </a:r>
              <a:endParaRPr lang="en-US" altLang="zh-CN" sz="2400" dirty="0">
                <a:solidFill>
                  <a:srgbClr val="060606"/>
                </a:solidFill>
              </a:endParaRPr>
            </a:p>
          </p:txBody>
        </p:sp>
        <p:sp>
          <p:nvSpPr>
            <p:cNvPr id="6" name="矩形 5"/>
            <p:cNvSpPr/>
            <p:nvPr/>
          </p:nvSpPr>
          <p:spPr>
            <a:xfrm>
              <a:off x="3059832" y="5186809"/>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7" name="左大括号 6"/>
            <p:cNvSpPr/>
            <p:nvPr/>
          </p:nvSpPr>
          <p:spPr bwMode="auto">
            <a:xfrm>
              <a:off x="3635896" y="4682753"/>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8" name="矩形 7"/>
            <p:cNvSpPr/>
            <p:nvPr/>
          </p:nvSpPr>
          <p:spPr>
            <a:xfrm>
              <a:off x="4427984" y="4538737"/>
              <a:ext cx="4805744" cy="461665"/>
            </a:xfrm>
            <a:prstGeom prst="rect">
              <a:avLst/>
            </a:prstGeom>
          </p:spPr>
          <p:txBody>
            <a:bodyPr wrap="none">
              <a:spAutoFit/>
            </a:bodyPr>
            <a:lstStyle/>
            <a:p>
              <a:r>
                <a:rPr lang="en-US" altLang="zh-CN" sz="2400" dirty="0">
                  <a:solidFill>
                    <a:srgbClr val="060606"/>
                  </a:solidFill>
                </a:rPr>
                <a:t>0.3x</a:t>
              </a:r>
              <a:r>
                <a:rPr lang="en-US" altLang="zh-CN" sz="2400" baseline="-25000" dirty="0">
                  <a:solidFill>
                    <a:srgbClr val="060606"/>
                  </a:solidFill>
                </a:rPr>
                <a:t>1</a:t>
              </a:r>
              <a:r>
                <a:rPr lang="en-US" altLang="zh-CN" sz="2400" dirty="0">
                  <a:solidFill>
                    <a:srgbClr val="060606"/>
                  </a:solidFill>
                </a:rPr>
                <a:t> +0.1x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+x</a:t>
              </a:r>
              <a:r>
                <a:rPr lang="en-US" altLang="zh-CN" sz="2400" baseline="-25000" dirty="0">
                  <a:solidFill>
                    <a:srgbClr val="FF0000"/>
                  </a:solidFill>
                </a:rPr>
                <a:t>3</a:t>
              </a:r>
              <a:r>
                <a:rPr lang="en-US" altLang="zh-CN" sz="2400" dirty="0">
                  <a:solidFill>
                    <a:srgbClr val="FF0000"/>
                  </a:solidFill>
                </a:rPr>
                <a:t>                     </a:t>
              </a:r>
              <a:r>
                <a:rPr lang="en-US" altLang="zh-CN" sz="2400" dirty="0">
                  <a:solidFill>
                    <a:srgbClr val="060606"/>
                  </a:solidFill>
                </a:rPr>
                <a:t>= 2.7</a:t>
              </a:r>
              <a:endParaRPr lang="zh-CN" altLang="en-US" dirty="0"/>
            </a:p>
          </p:txBody>
        </p:sp>
        <p:sp>
          <p:nvSpPr>
            <p:cNvPr id="9" name="矩形 8"/>
            <p:cNvSpPr/>
            <p:nvPr/>
          </p:nvSpPr>
          <p:spPr>
            <a:xfrm>
              <a:off x="4499992" y="5402833"/>
              <a:ext cx="4492312" cy="461665"/>
            </a:xfrm>
            <a:prstGeom prst="rect">
              <a:avLst/>
            </a:prstGeom>
          </p:spPr>
          <p:txBody>
            <a:bodyPr wrap="none">
              <a:spAutoFit/>
            </a:bodyPr>
            <a:lstStyle/>
            <a:p>
              <a:r>
                <a:rPr lang="en-US" altLang="zh-CN" sz="2400" dirty="0">
                  <a:solidFill>
                    <a:srgbClr val="060606"/>
                  </a:solidFill>
                </a:rPr>
                <a:t>0.6x</a:t>
              </a:r>
              <a:r>
                <a:rPr lang="en-US" altLang="zh-CN" sz="2400" baseline="-25000" dirty="0">
                  <a:solidFill>
                    <a:srgbClr val="060606"/>
                  </a:solidFill>
                </a:rPr>
                <a:t>1</a:t>
              </a:r>
              <a:r>
                <a:rPr lang="en-US" altLang="zh-CN" sz="2400" dirty="0">
                  <a:solidFill>
                    <a:srgbClr val="060606"/>
                  </a:solidFill>
                </a:rPr>
                <a:t>+0.4x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 x</a:t>
              </a:r>
              <a:r>
                <a:rPr lang="en-US" altLang="zh-CN" sz="2400" baseline="-25000" dirty="0">
                  <a:solidFill>
                    <a:srgbClr val="FF0000"/>
                  </a:solidFill>
                </a:rPr>
                <a:t>5 </a:t>
              </a:r>
              <a:r>
                <a:rPr lang="en-US" altLang="zh-CN" sz="2400" dirty="0">
                  <a:solidFill>
                    <a:srgbClr val="FF0000"/>
                  </a:solidFill>
                </a:rPr>
                <a:t> </a:t>
              </a:r>
              <a:r>
                <a:rPr lang="en-US" altLang="zh-CN" sz="2400" dirty="0">
                  <a:solidFill>
                    <a:srgbClr val="060606"/>
                  </a:solidFill>
                </a:rPr>
                <a:t>                  = 6</a:t>
              </a:r>
              <a:endParaRPr lang="zh-CN" altLang="en-US" dirty="0"/>
            </a:p>
          </p:txBody>
        </p:sp>
        <p:sp>
          <p:nvSpPr>
            <p:cNvPr id="10" name="矩形 9"/>
            <p:cNvSpPr/>
            <p:nvPr/>
          </p:nvSpPr>
          <p:spPr>
            <a:xfrm>
              <a:off x="4572000" y="5906889"/>
              <a:ext cx="3744416" cy="830997"/>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a:t>
              </a:r>
              <a:endParaRPr lang="zh-CN" altLang="en-US" sz="2400" dirty="0">
                <a:solidFill>
                  <a:srgbClr val="060606"/>
                </a:solidFill>
              </a:endParaRPr>
            </a:p>
          </p:txBody>
        </p:sp>
        <p:sp>
          <p:nvSpPr>
            <p:cNvPr id="11" name="矩形 10"/>
            <p:cNvSpPr/>
            <p:nvPr/>
          </p:nvSpPr>
          <p:spPr>
            <a:xfrm>
              <a:off x="4427984" y="4970785"/>
              <a:ext cx="4549152" cy="461665"/>
            </a:xfrm>
            <a:prstGeom prst="rect">
              <a:avLst/>
            </a:prstGeom>
          </p:spPr>
          <p:txBody>
            <a:bodyPr wrap="none">
              <a:spAutoFit/>
            </a:bodyPr>
            <a:lstStyle/>
            <a:p>
              <a:r>
                <a:rPr lang="en-US" altLang="zh-CN" sz="2400" dirty="0">
                  <a:solidFill>
                    <a:srgbClr val="060606"/>
                  </a:solidFill>
                </a:rPr>
                <a:t>0.5x</a:t>
              </a:r>
              <a:r>
                <a:rPr lang="en-US" altLang="zh-CN" sz="2400" baseline="-25000" dirty="0">
                  <a:solidFill>
                    <a:srgbClr val="060606"/>
                  </a:solidFill>
                </a:rPr>
                <a:t>1</a:t>
              </a:r>
              <a:r>
                <a:rPr lang="en-US" altLang="zh-CN" sz="2400" dirty="0">
                  <a:solidFill>
                    <a:srgbClr val="060606"/>
                  </a:solidFill>
                </a:rPr>
                <a:t> + 0.5x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a:t>
              </a:r>
              <a:r>
                <a:rPr lang="en-US" altLang="zh-CN" sz="2400" dirty="0">
                  <a:solidFill>
                    <a:srgbClr val="060606"/>
                  </a:solidFill>
                </a:rPr>
                <a:t>6</a:t>
              </a:r>
              <a:endParaRPr lang="zh-CN" altLang="en-US" sz="2400" dirty="0">
                <a:solidFill>
                  <a:srgbClr val="060606"/>
                </a:solidFill>
              </a:endParaRPr>
            </a:p>
          </p:txBody>
        </p:sp>
      </p:grpSp>
      <p:grpSp>
        <p:nvGrpSpPr>
          <p:cNvPr id="12" name="组合 12"/>
          <p:cNvGrpSpPr/>
          <p:nvPr/>
        </p:nvGrpSpPr>
        <p:grpSpPr>
          <a:xfrm>
            <a:off x="362296" y="590139"/>
            <a:ext cx="5733704" cy="2189857"/>
            <a:chOff x="899592" y="3429000"/>
            <a:chExt cx="5733704" cy="2189857"/>
          </a:xfrm>
        </p:grpSpPr>
        <p:sp>
          <p:nvSpPr>
            <p:cNvPr id="13" name="矩形 12"/>
            <p:cNvSpPr/>
            <p:nvPr/>
          </p:nvSpPr>
          <p:spPr>
            <a:xfrm>
              <a:off x="899592" y="3429000"/>
              <a:ext cx="4392488" cy="479234"/>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原</a:t>
              </a:r>
              <a:r>
                <a:rPr lang="en-US" altLang="zh-CN" sz="2400" dirty="0">
                  <a:solidFill>
                    <a:srgbClr val="060606"/>
                  </a:solidFill>
                </a:rPr>
                <a:t>LPQ</a:t>
              </a:r>
              <a:r>
                <a:rPr lang="zh-CN" altLang="en-US" sz="2400" dirty="0">
                  <a:solidFill>
                    <a:srgbClr val="060606"/>
                  </a:solidFill>
                </a:rPr>
                <a:t>：     </a:t>
              </a:r>
              <a:r>
                <a:rPr lang="en-US" altLang="zh-CN" sz="2400" dirty="0">
                  <a:solidFill>
                    <a:srgbClr val="FF0000"/>
                  </a:solidFill>
                </a:rPr>
                <a:t>min</a:t>
              </a:r>
              <a:r>
                <a:rPr lang="en-US" altLang="zh-CN" sz="2400" dirty="0">
                  <a:solidFill>
                    <a:srgbClr val="060606"/>
                  </a:solidFill>
                </a:rPr>
                <a:t> z  = 0.4x</a:t>
              </a:r>
              <a:r>
                <a:rPr lang="en-US" altLang="zh-CN" sz="2400" baseline="-25000" dirty="0">
                  <a:solidFill>
                    <a:srgbClr val="060606"/>
                  </a:solidFill>
                </a:rPr>
                <a:t>1</a:t>
              </a:r>
              <a:r>
                <a:rPr lang="en-US" altLang="zh-CN" sz="2400" dirty="0">
                  <a:solidFill>
                    <a:srgbClr val="060606"/>
                  </a:solidFill>
                </a:rPr>
                <a:t>+0.5x</a:t>
              </a:r>
              <a:r>
                <a:rPr lang="en-US" altLang="zh-CN" sz="2400" baseline="-25000" dirty="0">
                  <a:solidFill>
                    <a:srgbClr val="060606"/>
                  </a:solidFill>
                </a:rPr>
                <a:t>2</a:t>
              </a:r>
              <a:endParaRPr lang="en-US" altLang="zh-CN" sz="2400" dirty="0">
                <a:solidFill>
                  <a:srgbClr val="060606"/>
                </a:solidFill>
              </a:endParaRPr>
            </a:p>
          </p:txBody>
        </p:sp>
        <p:sp>
          <p:nvSpPr>
            <p:cNvPr id="14" name="矩形 13"/>
            <p:cNvSpPr/>
            <p:nvPr/>
          </p:nvSpPr>
          <p:spPr>
            <a:xfrm>
              <a:off x="899592" y="4437112"/>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15" name="左大括号 14"/>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6" name="矩形 15"/>
            <p:cNvSpPr/>
            <p:nvPr/>
          </p:nvSpPr>
          <p:spPr>
            <a:xfrm>
              <a:off x="2123728" y="3861048"/>
              <a:ext cx="4314001" cy="461665"/>
            </a:xfrm>
            <a:prstGeom prst="rect">
              <a:avLst/>
            </a:prstGeom>
          </p:spPr>
          <p:txBody>
            <a:bodyPr wrap="none">
              <a:spAutoFit/>
            </a:bodyPr>
            <a:lstStyle/>
            <a:p>
              <a:r>
                <a:rPr lang="en-US" altLang="zh-CN" sz="2400" dirty="0">
                  <a:solidFill>
                    <a:srgbClr val="060606"/>
                  </a:solidFill>
                </a:rPr>
                <a:t> 0.3x</a:t>
              </a:r>
              <a:r>
                <a:rPr lang="en-US" altLang="zh-CN" sz="2400" baseline="-25000" dirty="0">
                  <a:solidFill>
                    <a:srgbClr val="060606"/>
                  </a:solidFill>
                </a:rPr>
                <a:t>1</a:t>
              </a:r>
              <a:r>
                <a:rPr lang="en-US" altLang="zh-CN" sz="2400" dirty="0">
                  <a:solidFill>
                    <a:srgbClr val="060606"/>
                  </a:solidFill>
                </a:rPr>
                <a:t> +0.1x</a:t>
              </a:r>
              <a:r>
                <a:rPr lang="en-US" altLang="zh-CN" sz="2400" baseline="-25000" dirty="0">
                  <a:solidFill>
                    <a:srgbClr val="060606"/>
                  </a:solidFill>
                </a:rPr>
                <a:t>2</a:t>
              </a:r>
              <a:r>
                <a:rPr lang="en-US" altLang="zh-CN" sz="2400" dirty="0">
                  <a:solidFill>
                    <a:srgbClr val="060606"/>
                  </a:solidFill>
                </a:rPr>
                <a:t> ≤2.7                (1)</a:t>
              </a:r>
              <a:endParaRPr lang="zh-CN" altLang="en-US" dirty="0"/>
            </a:p>
          </p:txBody>
        </p:sp>
        <p:sp>
          <p:nvSpPr>
            <p:cNvPr id="17" name="矩形 16"/>
            <p:cNvSpPr/>
            <p:nvPr/>
          </p:nvSpPr>
          <p:spPr>
            <a:xfrm>
              <a:off x="2123728" y="4725144"/>
              <a:ext cx="4509568" cy="461665"/>
            </a:xfrm>
            <a:prstGeom prst="rect">
              <a:avLst/>
            </a:prstGeom>
          </p:spPr>
          <p:txBody>
            <a:bodyPr wrap="none">
              <a:spAutoFit/>
            </a:bodyPr>
            <a:lstStyle/>
            <a:p>
              <a:r>
                <a:rPr lang="en-US" altLang="zh-CN" sz="2400" dirty="0">
                  <a:solidFill>
                    <a:srgbClr val="060606"/>
                  </a:solidFill>
                </a:rPr>
                <a:t>0.6x</a:t>
              </a:r>
              <a:r>
                <a:rPr lang="en-US" altLang="zh-CN" sz="2400" baseline="-25000" dirty="0">
                  <a:solidFill>
                    <a:srgbClr val="060606"/>
                  </a:solidFill>
                </a:rPr>
                <a:t>1</a:t>
              </a:r>
              <a:r>
                <a:rPr lang="en-US" altLang="zh-CN" sz="2400" dirty="0">
                  <a:solidFill>
                    <a:srgbClr val="060606"/>
                  </a:solidFill>
                </a:rPr>
                <a:t>+0.4x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 </a:t>
              </a:r>
              <a:r>
                <a:rPr lang="en-US" altLang="zh-CN" sz="2400" b="1" dirty="0">
                  <a:solidFill>
                    <a:srgbClr val="FF0000"/>
                  </a:solidFill>
                  <a:latin typeface="+mn-ea"/>
                </a:rPr>
                <a:t>≧</a:t>
              </a:r>
              <a:r>
                <a:rPr lang="en-US" altLang="zh-CN" sz="2400" dirty="0">
                  <a:solidFill>
                    <a:srgbClr val="FF0000"/>
                  </a:solidFill>
                </a:rPr>
                <a:t> </a:t>
              </a:r>
              <a:r>
                <a:rPr lang="en-US" altLang="zh-CN" sz="2400" dirty="0">
                  <a:solidFill>
                    <a:srgbClr val="060606"/>
                  </a:solidFill>
                </a:rPr>
                <a:t>6                     (3)</a:t>
              </a:r>
              <a:endParaRPr lang="zh-CN" altLang="en-US" dirty="0"/>
            </a:p>
          </p:txBody>
        </p:sp>
        <p:sp>
          <p:nvSpPr>
            <p:cNvPr id="18" name="矩形 17"/>
            <p:cNvSpPr/>
            <p:nvPr/>
          </p:nvSpPr>
          <p:spPr>
            <a:xfrm>
              <a:off x="2123728" y="5157192"/>
              <a:ext cx="3704860" cy="461665"/>
            </a:xfrm>
            <a:prstGeom prst="rect">
              <a:avLst/>
            </a:prstGeom>
          </p:spPr>
          <p:txBody>
            <a:bodyPr wrap="non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(4)</a:t>
              </a:r>
              <a:endParaRPr lang="zh-CN" altLang="en-US" dirty="0"/>
            </a:p>
          </p:txBody>
        </p:sp>
        <p:sp>
          <p:nvSpPr>
            <p:cNvPr id="19" name="矩形 18"/>
            <p:cNvSpPr/>
            <p:nvPr/>
          </p:nvSpPr>
          <p:spPr>
            <a:xfrm>
              <a:off x="2123728" y="4293096"/>
              <a:ext cx="4322017" cy="461665"/>
            </a:xfrm>
            <a:prstGeom prst="rect">
              <a:avLst/>
            </a:prstGeom>
          </p:spPr>
          <p:txBody>
            <a:bodyPr wrap="none">
              <a:spAutoFit/>
            </a:bodyPr>
            <a:lstStyle/>
            <a:p>
              <a:r>
                <a:rPr lang="en-US" altLang="zh-CN" sz="2400" dirty="0">
                  <a:solidFill>
                    <a:srgbClr val="060606"/>
                  </a:solidFill>
                </a:rPr>
                <a:t>0.5x</a:t>
              </a:r>
              <a:r>
                <a:rPr lang="en-US" altLang="zh-CN" sz="2400" baseline="-25000" dirty="0">
                  <a:solidFill>
                    <a:srgbClr val="060606"/>
                  </a:solidFill>
                </a:rPr>
                <a:t>1</a:t>
              </a:r>
              <a:r>
                <a:rPr lang="en-US" altLang="zh-CN" sz="2400" dirty="0">
                  <a:solidFill>
                    <a:srgbClr val="060606"/>
                  </a:solidFill>
                </a:rPr>
                <a:t> + 0.5x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a:t>
              </a:r>
              <a:r>
                <a:rPr lang="en-US" altLang="zh-CN" sz="2400" dirty="0">
                  <a:solidFill>
                    <a:srgbClr val="060606"/>
                  </a:solidFill>
                </a:rPr>
                <a:t>6                    (2)</a:t>
              </a:r>
              <a:endParaRPr lang="zh-CN" altLang="en-US" sz="2400" dirty="0">
                <a:solidFill>
                  <a:srgbClr val="060606"/>
                </a:solidFill>
              </a:endParaRPr>
            </a:p>
          </p:txBody>
        </p:sp>
      </p:grpSp>
      <p:sp>
        <p:nvSpPr>
          <p:cNvPr id="21" name="矩形 20"/>
          <p:cNvSpPr/>
          <p:nvPr/>
        </p:nvSpPr>
        <p:spPr>
          <a:xfrm>
            <a:off x="6285088" y="2606363"/>
            <a:ext cx="4320480" cy="461665"/>
          </a:xfrm>
          <a:prstGeom prst="rect">
            <a:avLst/>
          </a:prstGeom>
        </p:spPr>
        <p:txBody>
          <a:bodyPr wrap="square">
            <a:spAutoFit/>
          </a:bodyPr>
          <a:lstStyle/>
          <a:p>
            <a:r>
              <a:rPr lang="zh-CN" altLang="en-US" sz="2400" dirty="0">
                <a:solidFill>
                  <a:srgbClr val="060606"/>
                </a:solidFill>
              </a:rPr>
              <a:t>添加松弛变量，转换为</a:t>
            </a:r>
            <a:r>
              <a:rPr lang="zh-CN" altLang="en-US" sz="2400" dirty="0">
                <a:solidFill>
                  <a:srgbClr val="FF0000"/>
                </a:solidFill>
              </a:rPr>
              <a:t>标准形</a:t>
            </a:r>
            <a:endParaRPr lang="zh-CN" altLang="en-US" dirty="0">
              <a:solidFill>
                <a:srgbClr val="FF0000"/>
              </a:solidFill>
            </a:endParaRPr>
          </a:p>
        </p:txBody>
      </p:sp>
      <p:grpSp>
        <p:nvGrpSpPr>
          <p:cNvPr id="22" name="组合 21"/>
          <p:cNvGrpSpPr/>
          <p:nvPr/>
        </p:nvGrpSpPr>
        <p:grpSpPr>
          <a:xfrm>
            <a:off x="6655036" y="3538242"/>
            <a:ext cx="4541284" cy="2886362"/>
            <a:chOff x="5049128" y="4697760"/>
            <a:chExt cx="4541284" cy="2886362"/>
          </a:xfrm>
        </p:grpSpPr>
        <p:sp>
          <p:nvSpPr>
            <p:cNvPr id="23" name="矩形 22"/>
            <p:cNvSpPr/>
            <p:nvPr/>
          </p:nvSpPr>
          <p:spPr>
            <a:xfrm>
              <a:off x="5292080" y="5129808"/>
              <a:ext cx="1144865" cy="461665"/>
            </a:xfrm>
            <a:prstGeom prst="rect">
              <a:avLst/>
            </a:prstGeom>
          </p:spPr>
          <p:txBody>
            <a:bodyPr wrap="none">
              <a:spAutoFit/>
            </a:bodyPr>
            <a:lstStyle/>
            <a:p>
              <a:r>
                <a:rPr lang="en-US" altLang="zh-CN" sz="2400" b="1" dirty="0">
                  <a:solidFill>
                    <a:srgbClr val="060606"/>
                  </a:solidFill>
                </a:rPr>
                <a:t>A</a:t>
              </a:r>
              <a:r>
                <a:rPr lang="en-US" altLang="zh-CN" sz="2400" baseline="-25000" dirty="0">
                  <a:solidFill>
                    <a:srgbClr val="060606"/>
                  </a:solidFill>
                </a:rPr>
                <a:t>3 × 6</a:t>
              </a:r>
              <a:r>
                <a:rPr lang="en-US" altLang="zh-CN" sz="2400" dirty="0">
                  <a:solidFill>
                    <a:srgbClr val="060606"/>
                  </a:solidFill>
                </a:rPr>
                <a:t> =</a:t>
              </a:r>
              <a:endParaRPr lang="zh-CN" altLang="en-US" sz="2400" dirty="0"/>
            </a:p>
          </p:txBody>
        </p:sp>
        <p:sp>
          <p:nvSpPr>
            <p:cNvPr id="24" name="双括号 23"/>
            <p:cNvSpPr/>
            <p:nvPr/>
          </p:nvSpPr>
          <p:spPr bwMode="auto">
            <a:xfrm>
              <a:off x="6300192" y="4697760"/>
              <a:ext cx="2554846" cy="1584176"/>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25" name="矩形 24"/>
            <p:cNvSpPr/>
            <p:nvPr/>
          </p:nvSpPr>
          <p:spPr>
            <a:xfrm>
              <a:off x="6372200" y="5777880"/>
              <a:ext cx="3024336" cy="461665"/>
            </a:xfrm>
            <a:prstGeom prst="rect">
              <a:avLst/>
            </a:prstGeom>
          </p:spPr>
          <p:txBody>
            <a:bodyPr wrap="square">
              <a:spAutoFit/>
            </a:bodyPr>
            <a:lstStyle/>
            <a:p>
              <a:pPr algn="just"/>
              <a:r>
                <a:rPr lang="en-US" altLang="zh-CN" sz="2400" dirty="0">
                  <a:solidFill>
                    <a:srgbClr val="060606"/>
                  </a:solidFill>
                </a:rPr>
                <a:t>0.6    0.4    0   -1 </a:t>
              </a:r>
              <a:endParaRPr lang="zh-CN" altLang="en-US" sz="2400" dirty="0"/>
            </a:p>
          </p:txBody>
        </p:sp>
        <p:sp>
          <p:nvSpPr>
            <p:cNvPr id="26" name="矩形 25"/>
            <p:cNvSpPr/>
            <p:nvPr/>
          </p:nvSpPr>
          <p:spPr>
            <a:xfrm>
              <a:off x="6372200" y="5273824"/>
              <a:ext cx="2952328" cy="461665"/>
            </a:xfrm>
            <a:prstGeom prst="rect">
              <a:avLst/>
            </a:prstGeom>
          </p:spPr>
          <p:txBody>
            <a:bodyPr wrap="square">
              <a:spAutoFit/>
            </a:bodyPr>
            <a:lstStyle/>
            <a:p>
              <a:pPr algn="just"/>
              <a:r>
                <a:rPr lang="en-US" altLang="zh-CN" sz="2400" dirty="0">
                  <a:solidFill>
                    <a:srgbClr val="060606"/>
                  </a:solidFill>
                </a:rPr>
                <a:t>0.5    </a:t>
              </a:r>
              <a:r>
                <a:rPr lang="en-US" altLang="zh-CN" sz="2400" dirty="0" err="1">
                  <a:solidFill>
                    <a:srgbClr val="060606"/>
                  </a:solidFill>
                </a:rPr>
                <a:t>0.5</a:t>
              </a:r>
              <a:r>
                <a:rPr lang="en-US" altLang="zh-CN" sz="2400" dirty="0">
                  <a:solidFill>
                    <a:srgbClr val="060606"/>
                  </a:solidFill>
                </a:rPr>
                <a:t>    0    </a:t>
              </a:r>
              <a:r>
                <a:rPr lang="en-US" altLang="zh-CN" sz="2400" dirty="0" err="1">
                  <a:solidFill>
                    <a:srgbClr val="060606"/>
                  </a:solidFill>
                </a:rPr>
                <a:t>0</a:t>
              </a:r>
              <a:endParaRPr lang="zh-CN" altLang="en-US" sz="2400" dirty="0"/>
            </a:p>
          </p:txBody>
        </p:sp>
        <p:sp>
          <p:nvSpPr>
            <p:cNvPr id="27" name="矩形 26"/>
            <p:cNvSpPr/>
            <p:nvPr/>
          </p:nvSpPr>
          <p:spPr>
            <a:xfrm>
              <a:off x="6372200" y="4769768"/>
              <a:ext cx="2952328" cy="461665"/>
            </a:xfrm>
            <a:prstGeom prst="rect">
              <a:avLst/>
            </a:prstGeom>
          </p:spPr>
          <p:txBody>
            <a:bodyPr wrap="square">
              <a:spAutoFit/>
            </a:bodyPr>
            <a:lstStyle/>
            <a:p>
              <a:pPr algn="just"/>
              <a:r>
                <a:rPr lang="en-US" altLang="zh-CN" sz="2400" dirty="0">
                  <a:solidFill>
                    <a:srgbClr val="060606"/>
                  </a:solidFill>
                </a:rPr>
                <a:t>0.3    0.1    1    0</a:t>
              </a:r>
              <a:endParaRPr lang="zh-CN" altLang="en-US" sz="2400" dirty="0"/>
            </a:p>
          </p:txBody>
        </p:sp>
        <p:sp>
          <p:nvSpPr>
            <p:cNvPr id="28" name="矩形 27"/>
            <p:cNvSpPr/>
            <p:nvPr/>
          </p:nvSpPr>
          <p:spPr>
            <a:xfrm>
              <a:off x="5049128" y="6630015"/>
              <a:ext cx="4541284" cy="954107"/>
            </a:xfrm>
            <a:prstGeom prst="rect">
              <a:avLst/>
            </a:prstGeom>
            <a:ln>
              <a:solidFill>
                <a:srgbClr val="FF0000"/>
              </a:solidFill>
            </a:ln>
          </p:spPr>
          <p:txBody>
            <a:bodyPr wrap="square">
              <a:spAutoFit/>
            </a:bodyPr>
            <a:lstStyle/>
            <a:p>
              <a:pPr algn="ctr"/>
              <a:r>
                <a:rPr lang="zh-CN" altLang="en-US" sz="2800" b="1" dirty="0">
                  <a:solidFill>
                    <a:srgbClr val="FF0000"/>
                  </a:solidFill>
                </a:rPr>
                <a:t>无单位矩阵</a:t>
              </a:r>
              <a:endParaRPr lang="en-US" altLang="zh-CN" sz="2800" b="1" dirty="0">
                <a:solidFill>
                  <a:srgbClr val="FF0000"/>
                </a:solidFill>
              </a:endParaRPr>
            </a:p>
            <a:p>
              <a:pPr algn="ctr"/>
              <a:r>
                <a:rPr lang="zh-CN" altLang="en-US" sz="2800" b="1" dirty="0">
                  <a:solidFill>
                    <a:srgbClr val="FF0000"/>
                  </a:solidFill>
                </a:rPr>
                <a:t>不能得到</a:t>
              </a:r>
              <a:r>
                <a:rPr lang="zh-CN" altLang="en-US" sz="2800" b="1" u="sng" dirty="0">
                  <a:solidFill>
                    <a:srgbClr val="FF0000"/>
                  </a:solidFill>
                  <a:latin typeface="+mn-ea"/>
                </a:rPr>
                <a:t>初始基可行解</a:t>
              </a:r>
              <a:r>
                <a:rPr lang="en-US" altLang="zh-CN" sz="2800" b="1" dirty="0">
                  <a:solidFill>
                    <a:srgbClr val="FF0000"/>
                  </a:solidFill>
                  <a:latin typeface="+mn-ea"/>
                </a:rPr>
                <a:t>B</a:t>
              </a:r>
              <a:r>
                <a:rPr lang="en-US" altLang="zh-CN" sz="2800" b="1" baseline="-25000" dirty="0">
                  <a:solidFill>
                    <a:srgbClr val="FF0000"/>
                  </a:solidFill>
                  <a:latin typeface="+mn-ea"/>
                </a:rPr>
                <a:t>3 ×3</a:t>
              </a:r>
              <a:endParaRPr lang="zh-CN" altLang="en-US" sz="2800" b="1" baseline="-25000" dirty="0">
                <a:solidFill>
                  <a:srgbClr val="FF0000"/>
                </a:solidFill>
              </a:endParaRPr>
            </a:p>
          </p:txBody>
        </p:sp>
        <p:sp>
          <p:nvSpPr>
            <p:cNvPr id="30" name="任意多边形 29"/>
            <p:cNvSpPr/>
            <p:nvPr/>
          </p:nvSpPr>
          <p:spPr bwMode="auto">
            <a:xfrm>
              <a:off x="7668343" y="4800600"/>
              <a:ext cx="973463" cy="1422400"/>
            </a:xfrm>
            <a:custGeom>
              <a:avLst/>
              <a:gdLst>
                <a:gd name="connsiteX0" fmla="*/ 0 w 749300"/>
                <a:gd name="connsiteY0" fmla="*/ 38100 h 1422400"/>
                <a:gd name="connsiteX1" fmla="*/ 723900 w 749300"/>
                <a:gd name="connsiteY1" fmla="*/ 0 h 1422400"/>
                <a:gd name="connsiteX2" fmla="*/ 749300 w 749300"/>
                <a:gd name="connsiteY2" fmla="*/ 1358900 h 1422400"/>
                <a:gd name="connsiteX3" fmla="*/ 76200 w 749300"/>
                <a:gd name="connsiteY3" fmla="*/ 1422400 h 1422400"/>
                <a:gd name="connsiteX4" fmla="*/ 0 w 749300"/>
                <a:gd name="connsiteY4" fmla="*/ 38100 h 142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300" h="1422400">
                  <a:moveTo>
                    <a:pt x="0" y="38100"/>
                  </a:moveTo>
                  <a:lnTo>
                    <a:pt x="723900" y="0"/>
                  </a:lnTo>
                  <a:lnTo>
                    <a:pt x="749300" y="1358900"/>
                  </a:lnTo>
                  <a:lnTo>
                    <a:pt x="76200" y="1422400"/>
                  </a:lnTo>
                  <a:lnTo>
                    <a:pt x="0" y="38100"/>
                  </a:lnTo>
                  <a:close/>
                </a:path>
              </a:pathLst>
            </a:custGeom>
            <a:no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29" name="箭头: 下 28"/>
          <p:cNvSpPr/>
          <p:nvPr/>
        </p:nvSpPr>
        <p:spPr>
          <a:xfrm>
            <a:off x="5556448" y="2606363"/>
            <a:ext cx="728640" cy="51764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tretch>
            <a:fillRect/>
          </a:stretch>
        </p:blipFill>
        <p:spPr>
          <a:xfrm>
            <a:off x="82562" y="1401813"/>
            <a:ext cx="4759735" cy="4266348"/>
          </a:xfrm>
          <a:prstGeom prst="rect">
            <a:avLst/>
          </a:prstGeom>
        </p:spPr>
      </p:pic>
      <p:grpSp>
        <p:nvGrpSpPr>
          <p:cNvPr id="19" name="组合 18"/>
          <p:cNvGrpSpPr/>
          <p:nvPr/>
        </p:nvGrpSpPr>
        <p:grpSpPr>
          <a:xfrm>
            <a:off x="5566900" y="1191385"/>
            <a:ext cx="6706473" cy="2137541"/>
            <a:chOff x="4723620" y="994160"/>
            <a:chExt cx="6706473" cy="2137541"/>
          </a:xfrm>
        </p:grpSpPr>
        <p:sp>
          <p:nvSpPr>
            <p:cNvPr id="2" name="内容占位符 2"/>
            <p:cNvSpPr txBox="1"/>
            <p:nvPr/>
          </p:nvSpPr>
          <p:spPr>
            <a:xfrm>
              <a:off x="4992809" y="994160"/>
              <a:ext cx="3491880" cy="520088"/>
            </a:xfrm>
            <a:prstGeom prst="rect">
              <a:avLst/>
            </a:prstGeom>
          </p:spPr>
          <p:txBody>
            <a:bodyPr/>
            <a:lstStyle/>
            <a:p>
              <a:pPr marL="342900" indent="-342900" algn="ctr" fontAlgn="base">
                <a:lnSpc>
                  <a:spcPct val="110000"/>
                </a:lnSpc>
                <a:spcBef>
                  <a:spcPts val="1800"/>
                </a:spcBef>
                <a:spcAft>
                  <a:spcPct val="0"/>
                </a:spcAft>
                <a:defRPr/>
              </a:pPr>
              <a:r>
                <a:rPr lang="en-US" altLang="zh-CN" sz="2400" dirty="0">
                  <a:solidFill>
                    <a:srgbClr val="060606"/>
                  </a:solidFill>
                </a:rPr>
                <a:t>LPQ-s.t.</a:t>
              </a:r>
              <a:r>
                <a:rPr lang="zh-CN" altLang="en-US" sz="2400" dirty="0">
                  <a:solidFill>
                    <a:srgbClr val="060606"/>
                  </a:solidFill>
                </a:rPr>
                <a:t>简单标准形</a:t>
              </a:r>
              <a:r>
                <a:rPr lang="en-US" altLang="zh-CN" sz="2400" dirty="0">
                  <a:solidFill>
                    <a:srgbClr val="060606"/>
                  </a:solidFill>
                </a:rPr>
                <a:t>:</a:t>
              </a:r>
              <a:endParaRPr lang="en-US" altLang="zh-CN" sz="2400" dirty="0">
                <a:solidFill>
                  <a:srgbClr val="060606"/>
                </a:solidFill>
              </a:endParaRPr>
            </a:p>
          </p:txBody>
        </p:sp>
        <p:grpSp>
          <p:nvGrpSpPr>
            <p:cNvPr id="3" name="组合 2"/>
            <p:cNvGrpSpPr/>
            <p:nvPr/>
          </p:nvGrpSpPr>
          <p:grpSpPr>
            <a:xfrm>
              <a:off x="4723620" y="1363439"/>
              <a:ext cx="6706473" cy="1768262"/>
              <a:chOff x="3059832" y="4538737"/>
              <a:chExt cx="6706473" cy="1768262"/>
            </a:xfrm>
          </p:grpSpPr>
          <p:sp>
            <p:nvSpPr>
              <p:cNvPr id="5" name="矩形 4"/>
              <p:cNvSpPr/>
              <p:nvPr/>
            </p:nvSpPr>
            <p:spPr>
              <a:xfrm>
                <a:off x="3059832" y="5186809"/>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6" name="左大括号 5"/>
              <p:cNvSpPr/>
              <p:nvPr/>
            </p:nvSpPr>
            <p:spPr bwMode="auto">
              <a:xfrm>
                <a:off x="3635896" y="4682753"/>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7" name="矩形 6"/>
              <p:cNvSpPr/>
              <p:nvPr/>
            </p:nvSpPr>
            <p:spPr>
              <a:xfrm>
                <a:off x="4427984" y="4538737"/>
                <a:ext cx="5338321" cy="461665"/>
              </a:xfrm>
              <a:prstGeom prst="rect">
                <a:avLst/>
              </a:prstGeom>
            </p:spPr>
            <p:txBody>
              <a:bodyPr wrap="none">
                <a:spAutoFit/>
              </a:bodyPr>
              <a:lstStyle/>
              <a:p>
                <a:r>
                  <a:rPr lang="en-US" altLang="zh-CN" sz="2400" dirty="0">
                    <a:solidFill>
                      <a:srgbClr val="060606"/>
                    </a:solidFill>
                  </a:rPr>
                  <a:t>0.3x</a:t>
                </a:r>
                <a:r>
                  <a:rPr lang="en-US" altLang="zh-CN" sz="2400" baseline="-25000" dirty="0">
                    <a:solidFill>
                      <a:srgbClr val="060606"/>
                    </a:solidFill>
                  </a:rPr>
                  <a:t>1</a:t>
                </a:r>
                <a:r>
                  <a:rPr lang="en-US" altLang="zh-CN" sz="2400" dirty="0">
                    <a:solidFill>
                      <a:srgbClr val="060606"/>
                    </a:solidFill>
                  </a:rPr>
                  <a:t> +0.1x</a:t>
                </a:r>
                <a:r>
                  <a:rPr lang="en-US" altLang="zh-CN" sz="2400" baseline="-25000" dirty="0">
                    <a:solidFill>
                      <a:srgbClr val="060606"/>
                    </a:solidFill>
                  </a:rPr>
                  <a:t>2</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 2.7</a:t>
                </a:r>
                <a:endParaRPr lang="zh-CN" altLang="en-US" dirty="0"/>
              </a:p>
            </p:txBody>
          </p:sp>
          <p:sp>
            <p:nvSpPr>
              <p:cNvPr id="8" name="矩形 7"/>
              <p:cNvSpPr/>
              <p:nvPr/>
            </p:nvSpPr>
            <p:spPr>
              <a:xfrm>
                <a:off x="4499992" y="5402833"/>
                <a:ext cx="5052986" cy="461665"/>
              </a:xfrm>
              <a:prstGeom prst="rect">
                <a:avLst/>
              </a:prstGeom>
            </p:spPr>
            <p:txBody>
              <a:bodyPr wrap="none">
                <a:spAutoFit/>
              </a:bodyPr>
              <a:lstStyle/>
              <a:p>
                <a:r>
                  <a:rPr lang="en-US" altLang="zh-CN" sz="2400" dirty="0">
                    <a:solidFill>
                      <a:srgbClr val="060606"/>
                    </a:solidFill>
                  </a:rPr>
                  <a:t>0.6x</a:t>
                </a:r>
                <a:r>
                  <a:rPr lang="en-US" altLang="zh-CN" sz="2400" baseline="-25000" dirty="0">
                    <a:solidFill>
                      <a:srgbClr val="060606"/>
                    </a:solidFill>
                  </a:rPr>
                  <a:t>1</a:t>
                </a:r>
                <a:r>
                  <a:rPr lang="en-US" altLang="zh-CN" sz="2400" dirty="0">
                    <a:solidFill>
                      <a:srgbClr val="060606"/>
                    </a:solidFill>
                  </a:rPr>
                  <a:t>+0.4x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a:t>
                </a:r>
                <a:r>
                  <a:rPr lang="en-US" altLang="zh-CN" sz="2400" dirty="0">
                    <a:solidFill>
                      <a:srgbClr val="060606"/>
                    </a:solidFill>
                  </a:rPr>
                  <a:t> x</a:t>
                </a:r>
                <a:r>
                  <a:rPr lang="en-US" altLang="zh-CN" sz="2400" baseline="-25000" dirty="0">
                    <a:solidFill>
                      <a:srgbClr val="060606"/>
                    </a:solidFill>
                  </a:rPr>
                  <a:t>5 </a:t>
                </a:r>
                <a:r>
                  <a:rPr lang="en-US" altLang="zh-CN" sz="2400" dirty="0">
                    <a:solidFill>
                      <a:srgbClr val="060606"/>
                    </a:solidFill>
                  </a:rPr>
                  <a:t> </a:t>
                </a:r>
                <a:r>
                  <a:rPr lang="en-US" altLang="zh-CN" sz="2400" dirty="0">
                    <a:solidFill>
                      <a:srgbClr val="FF0000"/>
                    </a:solidFill>
                  </a:rPr>
                  <a:t> </a:t>
                </a:r>
                <a:r>
                  <a:rPr lang="en-US" altLang="zh-CN" sz="2400" b="1" dirty="0">
                    <a:solidFill>
                      <a:srgbClr val="0322BD"/>
                    </a:solidFill>
                  </a:rPr>
                  <a:t>+ x</a:t>
                </a:r>
                <a:r>
                  <a:rPr lang="en-US" altLang="zh-CN" sz="2400" b="1" baseline="-25000" dirty="0">
                    <a:solidFill>
                      <a:srgbClr val="0322BD"/>
                    </a:solidFill>
                  </a:rPr>
                  <a:t>6</a:t>
                </a:r>
                <a:r>
                  <a:rPr lang="en-US" altLang="zh-CN" sz="2400" b="1" dirty="0">
                    <a:solidFill>
                      <a:srgbClr val="0322BD"/>
                    </a:solidFill>
                  </a:rPr>
                  <a:t>    </a:t>
                </a:r>
                <a:r>
                  <a:rPr lang="en-US" altLang="zh-CN" sz="2400" dirty="0">
                    <a:solidFill>
                      <a:srgbClr val="060606"/>
                    </a:solidFill>
                  </a:rPr>
                  <a:t>= 6</a:t>
                </a:r>
                <a:endParaRPr lang="zh-CN" altLang="en-US" dirty="0"/>
              </a:p>
            </p:txBody>
          </p:sp>
          <p:sp>
            <p:nvSpPr>
              <p:cNvPr id="9" name="矩形 8"/>
              <p:cNvSpPr/>
              <p:nvPr/>
            </p:nvSpPr>
            <p:spPr>
              <a:xfrm>
                <a:off x="4067944" y="5906889"/>
                <a:ext cx="5534426" cy="400110"/>
              </a:xfrm>
              <a:prstGeom prst="rect">
                <a:avLst/>
              </a:prstGeom>
            </p:spPr>
            <p:txBody>
              <a:bodyPr wrap="square">
                <a:spAutoFit/>
              </a:bodyPr>
              <a:lstStyle/>
              <a:p>
                <a:r>
                  <a:rPr lang="en-US" altLang="zh-CN" sz="2000" dirty="0">
                    <a:solidFill>
                      <a:srgbClr val="060606"/>
                    </a:solidFill>
                  </a:rPr>
                  <a:t>x</a:t>
                </a:r>
                <a:r>
                  <a:rPr lang="en-US" altLang="zh-CN" sz="2000" baseline="-25000" dirty="0">
                    <a:solidFill>
                      <a:srgbClr val="060606"/>
                    </a:solidFill>
                  </a:rPr>
                  <a:t>1</a:t>
                </a:r>
                <a:r>
                  <a:rPr lang="en-US" altLang="zh-CN" sz="2000" dirty="0">
                    <a:solidFill>
                      <a:srgbClr val="060606"/>
                    </a:solidFill>
                  </a:rPr>
                  <a:t> ≥0</a:t>
                </a:r>
                <a:r>
                  <a:rPr lang="zh-CN" altLang="en-US" sz="2000" dirty="0">
                    <a:solidFill>
                      <a:srgbClr val="060606"/>
                    </a:solidFill>
                  </a:rPr>
                  <a:t>，</a:t>
                </a:r>
                <a:r>
                  <a:rPr lang="en-US" altLang="zh-CN" sz="2000" dirty="0">
                    <a:solidFill>
                      <a:srgbClr val="060606"/>
                    </a:solidFill>
                  </a:rPr>
                  <a:t>x</a:t>
                </a:r>
                <a:r>
                  <a:rPr lang="en-US" altLang="zh-CN" sz="2000" baseline="-25000" dirty="0">
                    <a:solidFill>
                      <a:srgbClr val="060606"/>
                    </a:solidFill>
                  </a:rPr>
                  <a:t>2</a:t>
                </a:r>
                <a:r>
                  <a:rPr lang="en-US" altLang="zh-CN" sz="2000" dirty="0">
                    <a:solidFill>
                      <a:srgbClr val="060606"/>
                    </a:solidFill>
                  </a:rPr>
                  <a:t> ≥0 ,</a:t>
                </a:r>
                <a:r>
                  <a:rPr lang="en-US" altLang="zh-CN" sz="1600" dirty="0">
                    <a:solidFill>
                      <a:srgbClr val="060606"/>
                    </a:solidFill>
                  </a:rPr>
                  <a:t> </a:t>
                </a:r>
                <a:r>
                  <a:rPr lang="en-US" altLang="zh-CN" sz="2000" dirty="0">
                    <a:solidFill>
                      <a:srgbClr val="060606"/>
                    </a:solidFill>
                  </a:rPr>
                  <a:t>x</a:t>
                </a:r>
                <a:r>
                  <a:rPr lang="en-US" altLang="zh-CN" sz="2000" baseline="-25000" dirty="0">
                    <a:solidFill>
                      <a:srgbClr val="060606"/>
                    </a:solidFill>
                  </a:rPr>
                  <a:t>3</a:t>
                </a:r>
                <a:r>
                  <a:rPr lang="en-US" altLang="zh-CN" sz="2000" dirty="0">
                    <a:solidFill>
                      <a:srgbClr val="060606"/>
                    </a:solidFill>
                  </a:rPr>
                  <a:t> ≥0 ,x</a:t>
                </a:r>
                <a:r>
                  <a:rPr lang="en-US" altLang="zh-CN" sz="2000" baseline="-25000" dirty="0">
                    <a:solidFill>
                      <a:srgbClr val="060606"/>
                    </a:solidFill>
                  </a:rPr>
                  <a:t>4</a:t>
                </a:r>
                <a:r>
                  <a:rPr lang="en-US" altLang="zh-CN" sz="2000" dirty="0">
                    <a:solidFill>
                      <a:srgbClr val="060606"/>
                    </a:solidFill>
                  </a:rPr>
                  <a:t> ≥0,x</a:t>
                </a:r>
                <a:r>
                  <a:rPr lang="en-US" altLang="zh-CN" sz="2000" baseline="-25000" dirty="0">
                    <a:solidFill>
                      <a:srgbClr val="060606"/>
                    </a:solidFill>
                  </a:rPr>
                  <a:t>5</a:t>
                </a:r>
                <a:r>
                  <a:rPr lang="en-US" altLang="zh-CN" sz="2000" dirty="0">
                    <a:solidFill>
                      <a:srgbClr val="060606"/>
                    </a:solidFill>
                  </a:rPr>
                  <a:t> ≥0 </a:t>
                </a:r>
                <a:r>
                  <a:rPr lang="zh-CN" altLang="en-US" sz="2000" dirty="0">
                    <a:solidFill>
                      <a:srgbClr val="060606"/>
                    </a:solidFill>
                  </a:rPr>
                  <a:t>，</a:t>
                </a:r>
                <a:r>
                  <a:rPr lang="en-US" altLang="zh-CN" sz="2000" dirty="0">
                    <a:solidFill>
                      <a:srgbClr val="060606"/>
                    </a:solidFill>
                  </a:rPr>
                  <a:t>x</a:t>
                </a:r>
                <a:r>
                  <a:rPr lang="en-US" altLang="zh-CN" sz="2000" baseline="-25000" dirty="0">
                    <a:solidFill>
                      <a:srgbClr val="060606"/>
                    </a:solidFill>
                  </a:rPr>
                  <a:t>6</a:t>
                </a:r>
                <a:r>
                  <a:rPr lang="en-US" altLang="zh-CN" sz="2000" dirty="0">
                    <a:solidFill>
                      <a:srgbClr val="060606"/>
                    </a:solidFill>
                  </a:rPr>
                  <a:t> ≥0 </a:t>
                </a:r>
                <a:endParaRPr lang="zh-CN" altLang="en-US" sz="2000" dirty="0">
                  <a:solidFill>
                    <a:srgbClr val="060606"/>
                  </a:solidFill>
                </a:endParaRPr>
              </a:p>
            </p:txBody>
          </p:sp>
          <p:sp>
            <p:nvSpPr>
              <p:cNvPr id="10" name="矩形 9"/>
              <p:cNvSpPr/>
              <p:nvPr/>
            </p:nvSpPr>
            <p:spPr>
              <a:xfrm>
                <a:off x="4427984" y="4970785"/>
                <a:ext cx="5109091" cy="461665"/>
              </a:xfrm>
              <a:prstGeom prst="rect">
                <a:avLst/>
              </a:prstGeom>
            </p:spPr>
            <p:txBody>
              <a:bodyPr wrap="none">
                <a:spAutoFit/>
              </a:bodyPr>
              <a:lstStyle/>
              <a:p>
                <a:r>
                  <a:rPr lang="en-US" altLang="zh-CN" sz="2400" dirty="0">
                    <a:solidFill>
                      <a:srgbClr val="060606"/>
                    </a:solidFill>
                  </a:rPr>
                  <a:t>0.5x</a:t>
                </a:r>
                <a:r>
                  <a:rPr lang="en-US" altLang="zh-CN" sz="2400" baseline="-25000" dirty="0">
                    <a:solidFill>
                      <a:srgbClr val="060606"/>
                    </a:solidFill>
                  </a:rPr>
                  <a:t>1</a:t>
                </a:r>
                <a:r>
                  <a:rPr lang="en-US" altLang="zh-CN" sz="2400" dirty="0">
                    <a:solidFill>
                      <a:srgbClr val="060606"/>
                    </a:solidFill>
                  </a:rPr>
                  <a:t> + 0.5x</a:t>
                </a:r>
                <a:r>
                  <a:rPr lang="en-US" altLang="zh-CN" sz="2400" baseline="-25000" dirty="0">
                    <a:solidFill>
                      <a:srgbClr val="060606"/>
                    </a:solidFill>
                  </a:rPr>
                  <a:t>2</a:t>
                </a:r>
                <a:r>
                  <a:rPr lang="en-US" altLang="zh-CN" sz="2400" dirty="0">
                    <a:solidFill>
                      <a:srgbClr val="060606"/>
                    </a:solidFill>
                  </a:rPr>
                  <a:t>       </a:t>
                </a:r>
                <a:r>
                  <a:rPr lang="en-US" altLang="zh-CN" sz="2400" b="1" dirty="0">
                    <a:solidFill>
                      <a:srgbClr val="0322BD"/>
                    </a:solidFill>
                  </a:rPr>
                  <a:t>+ x</a:t>
                </a:r>
                <a:r>
                  <a:rPr lang="en-US" altLang="zh-CN" sz="2400" b="1" baseline="-25000" dirty="0">
                    <a:solidFill>
                      <a:srgbClr val="0322BD"/>
                    </a:solidFill>
                  </a:rPr>
                  <a:t>4</a:t>
                </a:r>
                <a:r>
                  <a:rPr lang="en-US" altLang="zh-CN" sz="2400" b="1" dirty="0">
                    <a:solidFill>
                      <a:srgbClr val="0322BD"/>
                    </a:solidFill>
                  </a:rPr>
                  <a:t>                    </a:t>
                </a:r>
                <a:r>
                  <a:rPr lang="en-US" altLang="zh-CN" sz="2400" dirty="0">
                    <a:solidFill>
                      <a:srgbClr val="FF0000"/>
                    </a:solidFill>
                  </a:rPr>
                  <a:t>= </a:t>
                </a:r>
                <a:r>
                  <a:rPr lang="en-US" altLang="zh-CN" sz="2400" dirty="0">
                    <a:solidFill>
                      <a:srgbClr val="060606"/>
                    </a:solidFill>
                  </a:rPr>
                  <a:t>6</a:t>
                </a:r>
                <a:endParaRPr lang="zh-CN" altLang="en-US" sz="2400" dirty="0">
                  <a:solidFill>
                    <a:srgbClr val="060606"/>
                  </a:solidFill>
                </a:endParaRPr>
              </a:p>
            </p:txBody>
          </p:sp>
        </p:grpSp>
      </p:grpSp>
      <p:sp>
        <p:nvSpPr>
          <p:cNvPr id="12" name="矩形 11"/>
          <p:cNvSpPr/>
          <p:nvPr/>
        </p:nvSpPr>
        <p:spPr>
          <a:xfrm>
            <a:off x="162560" y="90547"/>
            <a:ext cx="12029440" cy="1015663"/>
          </a:xfrm>
          <a:prstGeom prst="rect">
            <a:avLst/>
          </a:prstGeom>
        </p:spPr>
        <p:txBody>
          <a:bodyPr wrap="square">
            <a:spAutoFit/>
          </a:bodyPr>
          <a:lstStyle/>
          <a:p>
            <a:r>
              <a:rPr lang="zh-CN" altLang="en-US" sz="2000" dirty="0">
                <a:solidFill>
                  <a:srgbClr val="060606"/>
                </a:solidFill>
              </a:rPr>
              <a:t>现在需要想办法：构造简单</a:t>
            </a:r>
            <a:r>
              <a:rPr lang="zh-CN" altLang="en-US" sz="2000" dirty="0">
                <a:solidFill>
                  <a:srgbClr val="FF0000"/>
                </a:solidFill>
              </a:rPr>
              <a:t>标准形</a:t>
            </a:r>
            <a:r>
              <a:rPr lang="zh-CN" altLang="en-US" sz="2000" dirty="0">
                <a:solidFill>
                  <a:srgbClr val="00000C"/>
                </a:solidFill>
              </a:rPr>
              <a:t>，得到一个单位矩阵，获得一个初始基可行解。</a:t>
            </a:r>
            <a:endParaRPr lang="en-US" altLang="zh-CN" sz="2000" dirty="0">
              <a:solidFill>
                <a:srgbClr val="00000C"/>
              </a:solidFill>
            </a:endParaRPr>
          </a:p>
          <a:p>
            <a:r>
              <a:rPr lang="zh-CN" altLang="en-US" sz="2000" dirty="0">
                <a:solidFill>
                  <a:srgbClr val="00000C"/>
                </a:solidFill>
              </a:rPr>
              <a:t>方法是：增加人工变量</a:t>
            </a:r>
            <a:r>
              <a:rPr lang="en-US" altLang="zh-CN" sz="2000" dirty="0">
                <a:solidFill>
                  <a:srgbClr val="FF0000"/>
                </a:solidFill>
              </a:rPr>
              <a:t>(!!!</a:t>
            </a:r>
            <a:r>
              <a:rPr lang="zh-CN" altLang="en-US" sz="2000" dirty="0">
                <a:solidFill>
                  <a:srgbClr val="FF0000"/>
                </a:solidFill>
              </a:rPr>
              <a:t>计算结果必须为</a:t>
            </a:r>
            <a:r>
              <a:rPr lang="en-US" altLang="zh-CN" sz="2000" dirty="0">
                <a:solidFill>
                  <a:srgbClr val="FF0000"/>
                </a:solidFill>
              </a:rPr>
              <a:t>0</a:t>
            </a:r>
            <a:r>
              <a:rPr lang="zh-CN" altLang="en-US" sz="2000" dirty="0">
                <a:solidFill>
                  <a:srgbClr val="FF0000"/>
                </a:solidFill>
              </a:rPr>
              <a:t>，因为人工变量对应的是不存在的竞争性活动，意味着对目标没有贡献，因而希望其不要占去资源，否则无法保证其他竞争性活动的资源。</a:t>
            </a:r>
            <a:r>
              <a:rPr lang="en-US" altLang="zh-CN" sz="2000" dirty="0">
                <a:solidFill>
                  <a:srgbClr val="FF0000"/>
                </a:solidFill>
              </a:rPr>
              <a:t>)</a:t>
            </a:r>
            <a:endParaRPr lang="zh-CN" altLang="en-US" sz="1600" dirty="0">
              <a:solidFill>
                <a:srgbClr val="FF0000"/>
              </a:solidFill>
            </a:endParaRPr>
          </a:p>
        </p:txBody>
      </p:sp>
      <p:grpSp>
        <p:nvGrpSpPr>
          <p:cNvPr id="4" name="组合 29"/>
          <p:cNvGrpSpPr/>
          <p:nvPr/>
        </p:nvGrpSpPr>
        <p:grpSpPr>
          <a:xfrm>
            <a:off x="6244564" y="3712220"/>
            <a:ext cx="4726372" cy="2744725"/>
            <a:chOff x="5292080" y="4200091"/>
            <a:chExt cx="4104456" cy="2744725"/>
          </a:xfrm>
        </p:grpSpPr>
        <p:sp>
          <p:nvSpPr>
            <p:cNvPr id="20" name="矩形 19"/>
            <p:cNvSpPr/>
            <p:nvPr/>
          </p:nvSpPr>
          <p:spPr>
            <a:xfrm>
              <a:off x="5292080" y="5129808"/>
              <a:ext cx="1144865" cy="461665"/>
            </a:xfrm>
            <a:prstGeom prst="rect">
              <a:avLst/>
            </a:prstGeom>
          </p:spPr>
          <p:txBody>
            <a:bodyPr wrap="none">
              <a:spAutoFit/>
            </a:bodyPr>
            <a:lstStyle/>
            <a:p>
              <a:r>
                <a:rPr lang="en-US" altLang="zh-CN" sz="2400" b="1" dirty="0">
                  <a:solidFill>
                    <a:srgbClr val="060606"/>
                  </a:solidFill>
                </a:rPr>
                <a:t>A</a:t>
              </a:r>
              <a:r>
                <a:rPr lang="en-US" altLang="zh-CN" sz="2400" baseline="-25000" dirty="0">
                  <a:solidFill>
                    <a:srgbClr val="060606"/>
                  </a:solidFill>
                </a:rPr>
                <a:t>3 × 6</a:t>
              </a:r>
              <a:r>
                <a:rPr lang="en-US" altLang="zh-CN" sz="2400" dirty="0">
                  <a:solidFill>
                    <a:srgbClr val="060606"/>
                  </a:solidFill>
                </a:rPr>
                <a:t> =</a:t>
              </a:r>
              <a:endParaRPr lang="zh-CN" altLang="en-US" sz="2400" dirty="0"/>
            </a:p>
          </p:txBody>
        </p:sp>
        <p:sp>
          <p:nvSpPr>
            <p:cNvPr id="21" name="双括号 20"/>
            <p:cNvSpPr/>
            <p:nvPr/>
          </p:nvSpPr>
          <p:spPr bwMode="auto">
            <a:xfrm>
              <a:off x="6300192" y="4697760"/>
              <a:ext cx="3024336" cy="1584176"/>
            </a:xfrm>
            <a:prstGeom prst="bracketPair">
              <a:avLst/>
            </a:prstGeom>
            <a:noFill/>
            <a:ln w="38100"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22" name="矩形 21"/>
            <p:cNvSpPr/>
            <p:nvPr/>
          </p:nvSpPr>
          <p:spPr>
            <a:xfrm>
              <a:off x="6372200" y="5777880"/>
              <a:ext cx="3024336" cy="830997"/>
            </a:xfrm>
            <a:prstGeom prst="rect">
              <a:avLst/>
            </a:prstGeom>
          </p:spPr>
          <p:txBody>
            <a:bodyPr wrap="square">
              <a:spAutoFit/>
            </a:bodyPr>
            <a:lstStyle/>
            <a:p>
              <a:pPr algn="just"/>
              <a:r>
                <a:rPr lang="en-US" altLang="zh-CN" sz="2400" dirty="0">
                  <a:solidFill>
                    <a:srgbClr val="060606"/>
                  </a:solidFill>
                </a:rPr>
                <a:t>0.6    0.4    0    </a:t>
              </a:r>
              <a:r>
                <a:rPr lang="en-US" altLang="zh-CN" sz="2400" dirty="0" err="1">
                  <a:solidFill>
                    <a:srgbClr val="060606"/>
                  </a:solidFill>
                </a:rPr>
                <a:t>0</a:t>
              </a:r>
              <a:r>
                <a:rPr lang="en-US" altLang="zh-CN" sz="2400" dirty="0">
                  <a:solidFill>
                    <a:srgbClr val="060606"/>
                  </a:solidFill>
                </a:rPr>
                <a:t>   -1  1</a:t>
              </a:r>
              <a:endParaRPr lang="zh-CN" altLang="en-US" sz="2400" dirty="0"/>
            </a:p>
          </p:txBody>
        </p:sp>
        <p:sp>
          <p:nvSpPr>
            <p:cNvPr id="23" name="矩形 22"/>
            <p:cNvSpPr/>
            <p:nvPr/>
          </p:nvSpPr>
          <p:spPr>
            <a:xfrm>
              <a:off x="6372200" y="5273824"/>
              <a:ext cx="2952328" cy="830997"/>
            </a:xfrm>
            <a:prstGeom prst="rect">
              <a:avLst/>
            </a:prstGeom>
          </p:spPr>
          <p:txBody>
            <a:bodyPr wrap="square">
              <a:spAutoFit/>
            </a:bodyPr>
            <a:lstStyle/>
            <a:p>
              <a:pPr algn="just"/>
              <a:r>
                <a:rPr lang="en-US" altLang="zh-CN" sz="2400" dirty="0">
                  <a:solidFill>
                    <a:srgbClr val="060606"/>
                  </a:solidFill>
                </a:rPr>
                <a:t>0.5    </a:t>
              </a:r>
              <a:r>
                <a:rPr lang="en-US" altLang="zh-CN" sz="2400" dirty="0" err="1">
                  <a:solidFill>
                    <a:srgbClr val="060606"/>
                  </a:solidFill>
                </a:rPr>
                <a:t>0.5</a:t>
              </a:r>
              <a:r>
                <a:rPr lang="en-US" altLang="zh-CN" sz="2400" dirty="0">
                  <a:solidFill>
                    <a:srgbClr val="060606"/>
                  </a:solidFill>
                </a:rPr>
                <a:t>    0    1   0   </a:t>
              </a:r>
              <a:r>
                <a:rPr lang="en-US" altLang="zh-CN" sz="2400" dirty="0" err="1">
                  <a:solidFill>
                    <a:srgbClr val="060606"/>
                  </a:solidFill>
                </a:rPr>
                <a:t>0</a:t>
              </a:r>
              <a:endParaRPr lang="zh-CN" altLang="en-US" sz="2400" dirty="0"/>
            </a:p>
          </p:txBody>
        </p:sp>
        <p:sp>
          <p:nvSpPr>
            <p:cNvPr id="24" name="矩形 23"/>
            <p:cNvSpPr/>
            <p:nvPr/>
          </p:nvSpPr>
          <p:spPr>
            <a:xfrm>
              <a:off x="6372200" y="4769768"/>
              <a:ext cx="2952328" cy="830997"/>
            </a:xfrm>
            <a:prstGeom prst="rect">
              <a:avLst/>
            </a:prstGeom>
          </p:spPr>
          <p:txBody>
            <a:bodyPr wrap="square">
              <a:spAutoFit/>
            </a:bodyPr>
            <a:lstStyle/>
            <a:p>
              <a:pPr algn="just"/>
              <a:r>
                <a:rPr lang="en-US" altLang="zh-CN" sz="2400" dirty="0">
                  <a:solidFill>
                    <a:srgbClr val="060606"/>
                  </a:solidFill>
                </a:rPr>
                <a:t>0.3    0.1    1    0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endParaRPr lang="zh-CN" altLang="en-US" sz="2400" dirty="0"/>
            </a:p>
          </p:txBody>
        </p:sp>
        <p:sp>
          <p:nvSpPr>
            <p:cNvPr id="25" name="矩形 24"/>
            <p:cNvSpPr/>
            <p:nvPr/>
          </p:nvSpPr>
          <p:spPr>
            <a:xfrm>
              <a:off x="5671427" y="6483151"/>
              <a:ext cx="2952328" cy="461665"/>
            </a:xfrm>
            <a:prstGeom prst="rect">
              <a:avLst/>
            </a:prstGeom>
          </p:spPr>
          <p:txBody>
            <a:bodyPr wrap="square">
              <a:spAutoFit/>
            </a:bodyPr>
            <a:lstStyle/>
            <a:p>
              <a:pPr algn="ctr"/>
              <a:r>
                <a:rPr lang="zh-CN" altLang="en-US" sz="2400" dirty="0">
                  <a:solidFill>
                    <a:srgbClr val="060606"/>
                  </a:solidFill>
                </a:rPr>
                <a:t>单位矩阵：基</a:t>
              </a:r>
              <a:r>
                <a:rPr lang="en-US" altLang="zh-CN" sz="2400" dirty="0">
                  <a:solidFill>
                    <a:srgbClr val="060606"/>
                  </a:solidFill>
                </a:rPr>
                <a:t>B</a:t>
              </a:r>
              <a:r>
                <a:rPr lang="en-US" altLang="zh-CN" sz="2400" baseline="-25000" dirty="0">
                  <a:solidFill>
                    <a:srgbClr val="060606"/>
                  </a:solidFill>
                </a:rPr>
                <a:t>3×3</a:t>
              </a:r>
              <a:endParaRPr lang="zh-CN" altLang="en-US" sz="2400" baseline="-25000" dirty="0"/>
            </a:p>
          </p:txBody>
        </p:sp>
        <p:sp>
          <p:nvSpPr>
            <p:cNvPr id="26" name="矩形 25"/>
            <p:cNvSpPr/>
            <p:nvPr/>
          </p:nvSpPr>
          <p:spPr>
            <a:xfrm>
              <a:off x="6162784" y="4200091"/>
              <a:ext cx="2351926" cy="461665"/>
            </a:xfrm>
            <a:prstGeom prst="rect">
              <a:avLst/>
            </a:prstGeom>
          </p:spPr>
          <p:txBody>
            <a:bodyPr wrap="none">
              <a:spAutoFit/>
            </a:bodyPr>
            <a:lstStyle/>
            <a:p>
              <a:r>
                <a:rPr lang="en-US" altLang="zh-CN" sz="2400" dirty="0">
                  <a:solidFill>
                    <a:srgbClr val="060606"/>
                  </a:solidFill>
                </a:rPr>
                <a:t>b = (2.7</a:t>
              </a:r>
              <a:r>
                <a:rPr lang="zh-CN" altLang="en-US" sz="2400" dirty="0">
                  <a:solidFill>
                    <a:srgbClr val="060606"/>
                  </a:solidFill>
                </a:rPr>
                <a:t>，</a:t>
              </a:r>
              <a:r>
                <a:rPr lang="en-US" altLang="zh-CN" sz="2400" dirty="0">
                  <a:solidFill>
                    <a:srgbClr val="060606"/>
                  </a:solidFill>
                </a:rPr>
                <a:t>6</a:t>
              </a:r>
              <a:r>
                <a:rPr lang="zh-CN" altLang="en-US" sz="2400" dirty="0">
                  <a:solidFill>
                    <a:srgbClr val="060606"/>
                  </a:solidFill>
                </a:rPr>
                <a:t>，</a:t>
              </a:r>
              <a:r>
                <a:rPr lang="en-US" altLang="zh-CN" sz="2400" dirty="0">
                  <a:solidFill>
                    <a:srgbClr val="060606"/>
                  </a:solidFill>
                </a:rPr>
                <a:t>6)</a:t>
              </a:r>
              <a:r>
                <a:rPr lang="en-US" altLang="zh-CN" sz="2400" baseline="30000" dirty="0">
                  <a:solidFill>
                    <a:srgbClr val="060606"/>
                  </a:solidFill>
                </a:rPr>
                <a:t>T</a:t>
              </a:r>
              <a:endParaRPr lang="zh-CN" altLang="en-US" sz="2400" baseline="30000" dirty="0">
                <a:solidFill>
                  <a:srgbClr val="060606"/>
                </a:solidFill>
              </a:endParaRPr>
            </a:p>
          </p:txBody>
        </p:sp>
        <p:sp>
          <p:nvSpPr>
            <p:cNvPr id="28" name="任意多边形 27"/>
            <p:cNvSpPr/>
            <p:nvPr/>
          </p:nvSpPr>
          <p:spPr bwMode="auto">
            <a:xfrm>
              <a:off x="7668344" y="4800600"/>
              <a:ext cx="749300" cy="1422400"/>
            </a:xfrm>
            <a:custGeom>
              <a:avLst/>
              <a:gdLst>
                <a:gd name="connsiteX0" fmla="*/ 0 w 749300"/>
                <a:gd name="connsiteY0" fmla="*/ 38100 h 1422400"/>
                <a:gd name="connsiteX1" fmla="*/ 723900 w 749300"/>
                <a:gd name="connsiteY1" fmla="*/ 0 h 1422400"/>
                <a:gd name="connsiteX2" fmla="*/ 749300 w 749300"/>
                <a:gd name="connsiteY2" fmla="*/ 1358900 h 1422400"/>
                <a:gd name="connsiteX3" fmla="*/ 76200 w 749300"/>
                <a:gd name="connsiteY3" fmla="*/ 1422400 h 1422400"/>
                <a:gd name="connsiteX4" fmla="*/ 0 w 749300"/>
                <a:gd name="connsiteY4" fmla="*/ 38100 h 142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300" h="1422400">
                  <a:moveTo>
                    <a:pt x="0" y="38100"/>
                  </a:moveTo>
                  <a:lnTo>
                    <a:pt x="723900" y="0"/>
                  </a:lnTo>
                  <a:lnTo>
                    <a:pt x="749300" y="1358900"/>
                  </a:lnTo>
                  <a:lnTo>
                    <a:pt x="76200" y="1422400"/>
                  </a:lnTo>
                  <a:lnTo>
                    <a:pt x="0" y="38100"/>
                  </a:lnTo>
                  <a:close/>
                </a:path>
              </a:pathLst>
            </a:custGeom>
            <a:no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9" name="任意多边形 28"/>
            <p:cNvSpPr/>
            <p:nvPr/>
          </p:nvSpPr>
          <p:spPr bwMode="auto">
            <a:xfrm>
              <a:off x="8769350" y="4814912"/>
              <a:ext cx="374650" cy="1422400"/>
            </a:xfrm>
            <a:custGeom>
              <a:avLst/>
              <a:gdLst>
                <a:gd name="connsiteX0" fmla="*/ 0 w 749300"/>
                <a:gd name="connsiteY0" fmla="*/ 38100 h 1422400"/>
                <a:gd name="connsiteX1" fmla="*/ 723900 w 749300"/>
                <a:gd name="connsiteY1" fmla="*/ 0 h 1422400"/>
                <a:gd name="connsiteX2" fmla="*/ 749300 w 749300"/>
                <a:gd name="connsiteY2" fmla="*/ 1358900 h 1422400"/>
                <a:gd name="connsiteX3" fmla="*/ 76200 w 749300"/>
                <a:gd name="connsiteY3" fmla="*/ 1422400 h 1422400"/>
                <a:gd name="connsiteX4" fmla="*/ 0 w 749300"/>
                <a:gd name="connsiteY4" fmla="*/ 38100 h 142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300" h="1422400">
                  <a:moveTo>
                    <a:pt x="0" y="38100"/>
                  </a:moveTo>
                  <a:lnTo>
                    <a:pt x="723900" y="0"/>
                  </a:lnTo>
                  <a:lnTo>
                    <a:pt x="749300" y="1358900"/>
                  </a:lnTo>
                  <a:lnTo>
                    <a:pt x="76200" y="1422400"/>
                  </a:lnTo>
                  <a:lnTo>
                    <a:pt x="0" y="38100"/>
                  </a:lnTo>
                  <a:close/>
                </a:path>
              </a:pathLst>
            </a:custGeom>
            <a:no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18" name="箭头: 右 17"/>
          <p:cNvSpPr/>
          <p:nvPr/>
        </p:nvSpPr>
        <p:spPr>
          <a:xfrm>
            <a:off x="4744454" y="3147089"/>
            <a:ext cx="1189478" cy="520088"/>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5001659" y="2577348"/>
            <a:ext cx="7038152" cy="1126778"/>
          </a:xfrm>
          <a:prstGeom prst="rect">
            <a:avLst/>
          </a:prstGeom>
        </p:spPr>
        <p:txBody>
          <a:bodyPr/>
          <a:lstStyle/>
          <a:p>
            <a:pPr marL="342900" indent="-342900" fontAlgn="base">
              <a:lnSpc>
                <a:spcPct val="110000"/>
              </a:lnSpc>
              <a:spcBef>
                <a:spcPts val="1800"/>
              </a:spcBef>
              <a:spcAft>
                <a:spcPct val="0"/>
              </a:spcAft>
              <a:defRPr/>
            </a:pPr>
            <a:r>
              <a:rPr lang="en-US" altLang="zh-CN" sz="2000" dirty="0">
                <a:solidFill>
                  <a:srgbClr val="060606"/>
                </a:solidFill>
              </a:rPr>
              <a:t>LPQ</a:t>
            </a:r>
            <a:r>
              <a:rPr lang="zh-CN" altLang="en-US" sz="2000" dirty="0">
                <a:solidFill>
                  <a:srgbClr val="060606"/>
                </a:solidFill>
              </a:rPr>
              <a:t>标准形（</a:t>
            </a:r>
            <a:r>
              <a:rPr lang="zh-CN" altLang="en-US" sz="2000" dirty="0">
                <a:solidFill>
                  <a:srgbClr val="FF0000"/>
                </a:solidFill>
              </a:rPr>
              <a:t>加入人工变量</a:t>
            </a:r>
            <a:r>
              <a:rPr lang="en-US" altLang="zh-CN" sz="2000" dirty="0">
                <a:solidFill>
                  <a:srgbClr val="FF0000"/>
                </a:solidFill>
              </a:rPr>
              <a:t>——</a:t>
            </a:r>
            <a:r>
              <a:rPr lang="zh-CN" altLang="en-US" sz="2000" dirty="0">
                <a:solidFill>
                  <a:srgbClr val="FF0000"/>
                </a:solidFill>
              </a:rPr>
              <a:t>它在目标函数中系数为</a:t>
            </a:r>
            <a:r>
              <a:rPr lang="en-US" altLang="zh-CN" sz="2000" dirty="0">
                <a:solidFill>
                  <a:srgbClr val="FF0000"/>
                </a:solidFill>
              </a:rPr>
              <a:t>-M</a:t>
            </a:r>
            <a:r>
              <a:rPr lang="zh-CN" altLang="en-US" sz="2000" dirty="0">
                <a:solidFill>
                  <a:srgbClr val="060606"/>
                </a:solidFill>
              </a:rPr>
              <a:t>）：</a:t>
            </a:r>
            <a:endParaRPr lang="en-US" altLang="zh-CN" sz="2000" dirty="0">
              <a:solidFill>
                <a:srgbClr val="060606"/>
              </a:solidFill>
            </a:endParaRPr>
          </a:p>
          <a:p>
            <a:pPr marL="342900" indent="-342900" fontAlgn="base">
              <a:lnSpc>
                <a:spcPct val="110000"/>
              </a:lnSpc>
              <a:spcBef>
                <a:spcPts val="1800"/>
              </a:spcBef>
              <a:spcAft>
                <a:spcPct val="0"/>
              </a:spcAft>
              <a:defRPr/>
            </a:pPr>
            <a:r>
              <a:rPr lang="en-US" altLang="zh-CN" sz="2400" dirty="0">
                <a:solidFill>
                  <a:srgbClr val="060606"/>
                </a:solidFill>
              </a:rPr>
              <a:t>Max -z = 0.4x</a:t>
            </a:r>
            <a:r>
              <a:rPr lang="en-US" altLang="zh-CN" sz="2400" baseline="-25000" dirty="0">
                <a:solidFill>
                  <a:srgbClr val="060606"/>
                </a:solidFill>
              </a:rPr>
              <a:t>1</a:t>
            </a:r>
            <a:r>
              <a:rPr lang="en-US" altLang="zh-CN" sz="2400" dirty="0">
                <a:solidFill>
                  <a:srgbClr val="060606"/>
                </a:solidFill>
              </a:rPr>
              <a:t> + 0.5x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+ 0x</a:t>
            </a:r>
            <a:r>
              <a:rPr lang="en-US" altLang="zh-CN" sz="2400" baseline="-25000" dirty="0">
                <a:solidFill>
                  <a:srgbClr val="FF0000"/>
                </a:solidFill>
              </a:rPr>
              <a:t>3 </a:t>
            </a:r>
            <a:r>
              <a:rPr lang="en-US" altLang="zh-CN" sz="2400" dirty="0">
                <a:solidFill>
                  <a:srgbClr val="060606"/>
                </a:solidFill>
                <a:highlight>
                  <a:srgbClr val="FFFF00"/>
                </a:highlight>
              </a:rPr>
              <a:t>- Mx</a:t>
            </a:r>
            <a:r>
              <a:rPr lang="en-US" altLang="zh-CN" sz="2400" baseline="-25000" dirty="0">
                <a:solidFill>
                  <a:srgbClr val="060606"/>
                </a:solidFill>
                <a:highlight>
                  <a:srgbClr val="FFFF00"/>
                </a:highlight>
              </a:rPr>
              <a:t>4</a:t>
            </a:r>
            <a:r>
              <a:rPr lang="en-US" altLang="zh-CN" sz="2400" dirty="0">
                <a:solidFill>
                  <a:srgbClr val="060606"/>
                </a:solidFill>
              </a:rPr>
              <a:t> </a:t>
            </a:r>
            <a:r>
              <a:rPr lang="en-US" altLang="zh-CN" sz="2400" dirty="0">
                <a:solidFill>
                  <a:srgbClr val="FF0000"/>
                </a:solidFill>
              </a:rPr>
              <a:t>+ 0x</a:t>
            </a:r>
            <a:r>
              <a:rPr lang="en-US" altLang="zh-CN" sz="2400" baseline="-25000" dirty="0">
                <a:solidFill>
                  <a:srgbClr val="FF0000"/>
                </a:solidFill>
              </a:rPr>
              <a:t>5</a:t>
            </a:r>
            <a:r>
              <a:rPr lang="en-US" altLang="zh-CN" sz="2400" dirty="0">
                <a:solidFill>
                  <a:srgbClr val="060606"/>
                </a:solidFill>
                <a:highlight>
                  <a:srgbClr val="00FFFF"/>
                </a:highlight>
              </a:rPr>
              <a:t>– Mx</a:t>
            </a:r>
            <a:r>
              <a:rPr lang="en-US" altLang="zh-CN" sz="2400" baseline="-25000" dirty="0">
                <a:solidFill>
                  <a:srgbClr val="060606"/>
                </a:solidFill>
                <a:highlight>
                  <a:srgbClr val="00FFFF"/>
                </a:highlight>
              </a:rPr>
              <a:t>6</a:t>
            </a:r>
            <a:endParaRPr lang="en-US" altLang="zh-CN" sz="2400" dirty="0">
              <a:solidFill>
                <a:srgbClr val="060606"/>
              </a:solidFill>
            </a:endParaRPr>
          </a:p>
        </p:txBody>
      </p:sp>
      <p:sp>
        <p:nvSpPr>
          <p:cNvPr id="12" name="矩形 11"/>
          <p:cNvSpPr/>
          <p:nvPr/>
        </p:nvSpPr>
        <p:spPr>
          <a:xfrm>
            <a:off x="86360" y="132013"/>
            <a:ext cx="12019280" cy="2677656"/>
          </a:xfrm>
          <a:prstGeom prst="rect">
            <a:avLst/>
          </a:prstGeom>
        </p:spPr>
        <p:txBody>
          <a:bodyPr wrap="square">
            <a:spAutoFit/>
          </a:bodyPr>
          <a:lstStyle/>
          <a:p>
            <a:r>
              <a:rPr lang="zh-CN" altLang="en-US" sz="2400" dirty="0"/>
              <a:t>增加</a:t>
            </a:r>
            <a:r>
              <a:rPr lang="zh-CN" altLang="en-US" sz="2400" b="1" i="1" dirty="0">
                <a:solidFill>
                  <a:srgbClr val="FF0000"/>
                </a:solidFill>
              </a:rPr>
              <a:t>人工变量</a:t>
            </a:r>
            <a:r>
              <a:rPr lang="zh-CN" altLang="en-US" sz="2400" dirty="0"/>
              <a:t>使得问题有了一个初始的基可行解，但是考虑到因为人工变量对应的</a:t>
            </a:r>
            <a:r>
              <a:rPr lang="zh-CN" altLang="en-US" sz="2400" b="1" i="1" dirty="0">
                <a:solidFill>
                  <a:srgbClr val="FF0000"/>
                </a:solidFill>
              </a:rPr>
              <a:t>是不存在的竞争性活动</a:t>
            </a:r>
            <a:r>
              <a:rPr lang="zh-CN" altLang="en-US" sz="2400" dirty="0"/>
              <a:t>，意味着对目标没有贡献，因而希望其不要占去资源，否则无法保证其他竞争性活动的资源，所以</a:t>
            </a:r>
            <a:r>
              <a:rPr lang="zh-CN" altLang="en-US" sz="2400" b="1" i="1" dirty="0">
                <a:solidFill>
                  <a:srgbClr val="FF0000"/>
                </a:solidFill>
              </a:rPr>
              <a:t>计算结果必须为</a:t>
            </a:r>
            <a:r>
              <a:rPr lang="en-US" altLang="zh-CN" sz="2400" b="1" i="1" dirty="0">
                <a:solidFill>
                  <a:srgbClr val="FF0000"/>
                </a:solidFill>
              </a:rPr>
              <a:t>0</a:t>
            </a:r>
            <a:r>
              <a:rPr lang="zh-CN" altLang="en-US" sz="2400" dirty="0"/>
              <a:t>，那么如何保证人工变量的在最优解中取值为</a:t>
            </a:r>
            <a:r>
              <a:rPr lang="en-US" altLang="zh-CN" sz="2400" dirty="0"/>
              <a:t>0</a:t>
            </a:r>
            <a:r>
              <a:rPr lang="zh-CN" altLang="en-US" sz="2400" dirty="0"/>
              <a:t>呢？</a:t>
            </a:r>
            <a:endParaRPr lang="en-US" altLang="zh-CN" sz="2400" dirty="0"/>
          </a:p>
          <a:p>
            <a:r>
              <a:rPr lang="zh-CN" altLang="en-US" sz="2400" dirty="0"/>
              <a:t>思路是：令该虚拟的竞争性活动对目标的贡献为</a:t>
            </a:r>
            <a:r>
              <a:rPr lang="en-US" altLang="zh-CN" sz="2400" dirty="0"/>
              <a:t>-</a:t>
            </a:r>
            <a:r>
              <a:rPr lang="zh-CN" altLang="en-US" sz="2400" dirty="0"/>
              <a:t>∞，那么自然不会为其分配资源了</a:t>
            </a:r>
            <a:endParaRPr lang="en-US" altLang="zh-CN" sz="2400" dirty="0"/>
          </a:p>
          <a:p>
            <a:r>
              <a:rPr lang="zh-CN" altLang="en-US" sz="2400" dirty="0">
                <a:solidFill>
                  <a:srgbClr val="060606"/>
                </a:solidFill>
                <a:latin typeface="+mn-ea"/>
              </a:rPr>
              <a:t>方法：令目标函数</a:t>
            </a:r>
            <a:r>
              <a:rPr lang="en-US" altLang="zh-CN" sz="2400" dirty="0">
                <a:solidFill>
                  <a:srgbClr val="060606"/>
                </a:solidFill>
                <a:latin typeface="+mn-ea"/>
              </a:rPr>
              <a:t>(max</a:t>
            </a:r>
            <a:r>
              <a:rPr lang="zh-CN" altLang="en-US" sz="2400" dirty="0">
                <a:solidFill>
                  <a:srgbClr val="060606"/>
                </a:solidFill>
                <a:latin typeface="+mn-ea"/>
              </a:rPr>
              <a:t>形式</a:t>
            </a:r>
            <a:r>
              <a:rPr lang="en-US" altLang="zh-CN" sz="2400" dirty="0">
                <a:solidFill>
                  <a:srgbClr val="060606"/>
                </a:solidFill>
                <a:latin typeface="+mn-ea"/>
              </a:rPr>
              <a:t>)</a:t>
            </a:r>
            <a:r>
              <a:rPr lang="zh-CN" altLang="en-US" sz="2400" dirty="0">
                <a:solidFill>
                  <a:srgbClr val="060606"/>
                </a:solidFill>
                <a:latin typeface="+mn-ea"/>
              </a:rPr>
              <a:t>中人工变量的系数为任意大的一个负数，用“</a:t>
            </a:r>
            <a:r>
              <a:rPr lang="en-US" altLang="zh-CN" sz="2400" dirty="0">
                <a:solidFill>
                  <a:srgbClr val="060606"/>
                </a:solidFill>
                <a:latin typeface="+mn-ea"/>
              </a:rPr>
              <a:t>-M</a:t>
            </a:r>
            <a:r>
              <a:rPr lang="zh-CN" altLang="en-US" sz="2400" dirty="0">
                <a:solidFill>
                  <a:srgbClr val="060606"/>
                </a:solidFill>
                <a:latin typeface="+mn-ea"/>
              </a:rPr>
              <a:t>”来表示，</a:t>
            </a:r>
            <a:r>
              <a:rPr lang="en-US" altLang="zh-CN" sz="2400" dirty="0">
                <a:solidFill>
                  <a:srgbClr val="060606"/>
                </a:solidFill>
                <a:latin typeface="+mn-ea"/>
              </a:rPr>
              <a:t>M = +∞</a:t>
            </a:r>
            <a:r>
              <a:rPr lang="zh-CN" altLang="en-US" sz="2400" dirty="0">
                <a:solidFill>
                  <a:srgbClr val="060606"/>
                </a:solidFill>
                <a:latin typeface="+mn-ea"/>
              </a:rPr>
              <a:t>。</a:t>
            </a:r>
            <a:endParaRPr lang="zh-CN" altLang="en-US" dirty="0">
              <a:solidFill>
                <a:srgbClr val="00000C"/>
              </a:solidFill>
            </a:endParaRPr>
          </a:p>
        </p:txBody>
      </p:sp>
      <p:pic>
        <p:nvPicPr>
          <p:cNvPr id="13" name="图片 12"/>
          <p:cNvPicPr>
            <a:picLocks noChangeAspect="1"/>
          </p:cNvPicPr>
          <p:nvPr/>
        </p:nvPicPr>
        <p:blipFill>
          <a:blip r:embed="rId1"/>
          <a:stretch>
            <a:fillRect/>
          </a:stretch>
        </p:blipFill>
        <p:spPr>
          <a:xfrm>
            <a:off x="0" y="2979596"/>
            <a:ext cx="3357455" cy="3009426"/>
          </a:xfrm>
          <a:prstGeom prst="rect">
            <a:avLst/>
          </a:prstGeom>
        </p:spPr>
      </p:pic>
      <p:grpSp>
        <p:nvGrpSpPr>
          <p:cNvPr id="5" name="组合 4"/>
          <p:cNvGrpSpPr/>
          <p:nvPr/>
        </p:nvGrpSpPr>
        <p:grpSpPr>
          <a:xfrm>
            <a:off x="5011193" y="3593536"/>
            <a:ext cx="7028618" cy="2199149"/>
            <a:chOff x="3059832" y="4538737"/>
            <a:chExt cx="7120691" cy="2199149"/>
          </a:xfrm>
        </p:grpSpPr>
        <p:sp>
          <p:nvSpPr>
            <p:cNvPr id="8" name="矩形 7"/>
            <p:cNvSpPr/>
            <p:nvPr/>
          </p:nvSpPr>
          <p:spPr>
            <a:xfrm>
              <a:off x="3059832" y="5186809"/>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9" name="左大括号 8"/>
            <p:cNvSpPr/>
            <p:nvPr/>
          </p:nvSpPr>
          <p:spPr bwMode="auto">
            <a:xfrm>
              <a:off x="3635896" y="4682753"/>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0" name="矩形 9"/>
            <p:cNvSpPr/>
            <p:nvPr/>
          </p:nvSpPr>
          <p:spPr>
            <a:xfrm>
              <a:off x="4427984" y="4538737"/>
              <a:ext cx="5752539" cy="461665"/>
            </a:xfrm>
            <a:prstGeom prst="rect">
              <a:avLst/>
            </a:prstGeom>
          </p:spPr>
          <p:txBody>
            <a:bodyPr wrap="none">
              <a:spAutoFit/>
            </a:bodyPr>
            <a:lstStyle/>
            <a:p>
              <a:r>
                <a:rPr lang="en-US" altLang="zh-CN" sz="2400" dirty="0">
                  <a:solidFill>
                    <a:srgbClr val="060606"/>
                  </a:solidFill>
                </a:rPr>
                <a:t>0.3x</a:t>
              </a:r>
              <a:r>
                <a:rPr lang="en-US" altLang="zh-CN" sz="2400" baseline="-25000" dirty="0">
                  <a:solidFill>
                    <a:srgbClr val="060606"/>
                  </a:solidFill>
                </a:rPr>
                <a:t>1</a:t>
              </a:r>
              <a:r>
                <a:rPr lang="en-US" altLang="zh-CN" sz="2400" dirty="0">
                  <a:solidFill>
                    <a:srgbClr val="060606"/>
                  </a:solidFill>
                </a:rPr>
                <a:t> +0.1x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+x</a:t>
              </a:r>
              <a:r>
                <a:rPr lang="en-US" altLang="zh-CN" sz="2400" baseline="-25000" dirty="0">
                  <a:solidFill>
                    <a:srgbClr val="FF0000"/>
                  </a:solidFill>
                </a:rPr>
                <a:t>3</a:t>
              </a:r>
              <a:r>
                <a:rPr lang="en-US" altLang="zh-CN" sz="2400" dirty="0">
                  <a:solidFill>
                    <a:srgbClr val="FF0000"/>
                  </a:solidFill>
                </a:rPr>
                <a:t>                             </a:t>
              </a:r>
              <a:r>
                <a:rPr lang="en-US" altLang="zh-CN" sz="2400" dirty="0">
                  <a:solidFill>
                    <a:srgbClr val="060606"/>
                  </a:solidFill>
                </a:rPr>
                <a:t>= 2.7</a:t>
              </a:r>
              <a:endParaRPr lang="zh-CN" altLang="en-US" dirty="0"/>
            </a:p>
          </p:txBody>
        </p:sp>
        <p:sp>
          <p:nvSpPr>
            <p:cNvPr id="11" name="矩形 10"/>
            <p:cNvSpPr/>
            <p:nvPr/>
          </p:nvSpPr>
          <p:spPr>
            <a:xfrm>
              <a:off x="4499993" y="5402833"/>
              <a:ext cx="5320556" cy="461665"/>
            </a:xfrm>
            <a:prstGeom prst="rect">
              <a:avLst/>
            </a:prstGeom>
          </p:spPr>
          <p:txBody>
            <a:bodyPr wrap="none">
              <a:spAutoFit/>
            </a:bodyPr>
            <a:lstStyle/>
            <a:p>
              <a:r>
                <a:rPr lang="en-US" altLang="zh-CN" sz="2400" dirty="0">
                  <a:solidFill>
                    <a:srgbClr val="060606"/>
                  </a:solidFill>
                </a:rPr>
                <a:t>0.6x</a:t>
              </a:r>
              <a:r>
                <a:rPr lang="en-US" altLang="zh-CN" sz="2400" baseline="-25000" dirty="0">
                  <a:solidFill>
                    <a:srgbClr val="060606"/>
                  </a:solidFill>
                </a:rPr>
                <a:t>1</a:t>
              </a:r>
              <a:r>
                <a:rPr lang="en-US" altLang="zh-CN" sz="2400" dirty="0">
                  <a:solidFill>
                    <a:srgbClr val="060606"/>
                  </a:solidFill>
                </a:rPr>
                <a:t>+0.4x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 x</a:t>
              </a:r>
              <a:r>
                <a:rPr lang="en-US" altLang="zh-CN" sz="2400" baseline="-25000" dirty="0">
                  <a:solidFill>
                    <a:srgbClr val="FF0000"/>
                  </a:solidFill>
                </a:rPr>
                <a:t>5</a:t>
              </a:r>
              <a:r>
                <a:rPr lang="en-US" altLang="zh-CN" sz="2400" dirty="0">
                  <a:solidFill>
                    <a:srgbClr val="060606"/>
                  </a:solidFill>
                  <a:highlight>
                    <a:srgbClr val="00FFFF"/>
                  </a:highlight>
                </a:rPr>
                <a:t>+x</a:t>
              </a:r>
              <a:r>
                <a:rPr lang="en-US" altLang="zh-CN" sz="2400" baseline="-25000" dirty="0">
                  <a:solidFill>
                    <a:srgbClr val="060606"/>
                  </a:solidFill>
                  <a:highlight>
                    <a:srgbClr val="00FFFF"/>
                  </a:highlight>
                </a:rPr>
                <a:t>6</a:t>
              </a:r>
              <a:r>
                <a:rPr lang="en-US" altLang="zh-CN" sz="2400" dirty="0">
                  <a:solidFill>
                    <a:srgbClr val="060606"/>
                  </a:solidFill>
                </a:rPr>
                <a:t>    =6</a:t>
              </a:r>
              <a:endParaRPr lang="zh-CN" altLang="en-US" dirty="0"/>
            </a:p>
          </p:txBody>
        </p:sp>
        <p:sp>
          <p:nvSpPr>
            <p:cNvPr id="14" name="矩形 13"/>
            <p:cNvSpPr/>
            <p:nvPr/>
          </p:nvSpPr>
          <p:spPr>
            <a:xfrm>
              <a:off x="4572000" y="5906889"/>
              <a:ext cx="3744416" cy="830997"/>
            </a:xfrm>
            <a:prstGeom prst="rect">
              <a:avLst/>
            </a:prstGeom>
          </p:spPr>
          <p:txBody>
            <a:bodyPr wrap="squar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a:t>
              </a:r>
              <a:r>
                <a:rPr lang="en-US" altLang="zh-CN" dirty="0">
                  <a:solidFill>
                    <a:srgbClr val="060606"/>
                  </a:solidFill>
                </a:rPr>
                <a:t> </a:t>
              </a:r>
              <a:r>
                <a:rPr lang="en-US" altLang="zh-CN" sz="2400" dirty="0">
                  <a:solidFill>
                    <a:srgbClr val="060606"/>
                  </a:solidFill>
                </a:rPr>
                <a:t>x</a:t>
              </a:r>
              <a:r>
                <a:rPr lang="en-US" altLang="zh-CN" sz="2400" baseline="-25000" dirty="0">
                  <a:solidFill>
                    <a:srgbClr val="060606"/>
                  </a:solidFill>
                </a:rPr>
                <a:t>3</a:t>
              </a:r>
              <a:r>
                <a:rPr lang="en-US" altLang="zh-CN" sz="2400" dirty="0">
                  <a:solidFill>
                    <a:srgbClr val="060606"/>
                  </a:solidFill>
                </a:rPr>
                <a:t> ≥0 </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5</a:t>
              </a:r>
              <a:r>
                <a:rPr lang="en-US" altLang="zh-CN" sz="2400" dirty="0">
                  <a:solidFill>
                    <a:srgbClr val="060606"/>
                  </a:solidFill>
                </a:rPr>
                <a:t> ≥0</a:t>
              </a:r>
              <a:endParaRPr lang="zh-CN" altLang="en-US" sz="2400" dirty="0">
                <a:solidFill>
                  <a:srgbClr val="060606"/>
                </a:solidFill>
              </a:endParaRPr>
            </a:p>
          </p:txBody>
        </p:sp>
        <p:sp>
          <p:nvSpPr>
            <p:cNvPr id="16" name="矩形 15"/>
            <p:cNvSpPr/>
            <p:nvPr/>
          </p:nvSpPr>
          <p:spPr>
            <a:xfrm>
              <a:off x="4427984" y="4970785"/>
              <a:ext cx="5434236" cy="461665"/>
            </a:xfrm>
            <a:prstGeom prst="rect">
              <a:avLst/>
            </a:prstGeom>
          </p:spPr>
          <p:txBody>
            <a:bodyPr wrap="none">
              <a:spAutoFit/>
            </a:bodyPr>
            <a:lstStyle/>
            <a:p>
              <a:r>
                <a:rPr lang="en-US" altLang="zh-CN" sz="2400" dirty="0">
                  <a:solidFill>
                    <a:srgbClr val="060606"/>
                  </a:solidFill>
                </a:rPr>
                <a:t>0.5x</a:t>
              </a:r>
              <a:r>
                <a:rPr lang="en-US" altLang="zh-CN" sz="2400" baseline="-25000" dirty="0">
                  <a:solidFill>
                    <a:srgbClr val="060606"/>
                  </a:solidFill>
                </a:rPr>
                <a:t>1</a:t>
              </a:r>
              <a:r>
                <a:rPr lang="en-US" altLang="zh-CN" sz="2400" dirty="0">
                  <a:solidFill>
                    <a:srgbClr val="060606"/>
                  </a:solidFill>
                </a:rPr>
                <a:t> + 0.5x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060606"/>
                  </a:solidFill>
                  <a:highlight>
                    <a:srgbClr val="FFFF00"/>
                  </a:highlight>
                </a:rPr>
                <a:t>+x</a:t>
              </a:r>
              <a:r>
                <a:rPr lang="en-US" altLang="zh-CN" sz="2400" baseline="-25000" dirty="0">
                  <a:solidFill>
                    <a:srgbClr val="060606"/>
                  </a:solidFill>
                  <a:highlight>
                    <a:srgbClr val="FFFF00"/>
                  </a:highlight>
                </a:rPr>
                <a:t>4</a:t>
              </a:r>
              <a:r>
                <a:rPr lang="en-US" altLang="zh-CN" sz="2400" dirty="0">
                  <a:solidFill>
                    <a:srgbClr val="060606"/>
                  </a:solidFill>
                </a:rPr>
                <a:t>           </a:t>
              </a:r>
              <a:r>
                <a:rPr lang="en-US" altLang="zh-CN" sz="2400" dirty="0"/>
                <a:t>          =</a:t>
              </a:r>
              <a:r>
                <a:rPr lang="en-US" altLang="zh-CN" sz="2400" dirty="0">
                  <a:solidFill>
                    <a:srgbClr val="060606"/>
                  </a:solidFill>
                </a:rPr>
                <a:t>6</a:t>
              </a:r>
              <a:endParaRPr lang="zh-CN" altLang="en-US" sz="2400" dirty="0">
                <a:solidFill>
                  <a:srgbClr val="060606"/>
                </a:solidFill>
              </a:endParaRPr>
            </a:p>
          </p:txBody>
        </p:sp>
      </p:grpSp>
      <p:sp>
        <p:nvSpPr>
          <p:cNvPr id="17" name="箭头: 下 16"/>
          <p:cNvSpPr/>
          <p:nvPr/>
        </p:nvSpPr>
        <p:spPr>
          <a:xfrm>
            <a:off x="1634154" y="4073182"/>
            <a:ext cx="1310515" cy="1182488"/>
          </a:xfrm>
          <a:prstGeom prst="downArrow">
            <a:avLst>
              <a:gd name="adj1" fmla="val 86939"/>
              <a:gd name="adj2"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00B050"/>
                </a:solidFill>
              </a:rPr>
              <a:t>1</a:t>
            </a:r>
            <a:r>
              <a:rPr lang="zh-CN" altLang="en-US" b="1" i="1" dirty="0">
                <a:solidFill>
                  <a:srgbClr val="00B050"/>
                </a:solidFill>
              </a:rPr>
              <a:t>，引入松弛变量</a:t>
            </a:r>
            <a:endParaRPr lang="zh-CN" altLang="en-US" b="1" i="1" dirty="0">
              <a:solidFill>
                <a:srgbClr val="00B050"/>
              </a:solidFill>
            </a:endParaRPr>
          </a:p>
        </p:txBody>
      </p:sp>
      <p:sp>
        <p:nvSpPr>
          <p:cNvPr id="18" name="箭头: 下 17"/>
          <p:cNvSpPr/>
          <p:nvPr/>
        </p:nvSpPr>
        <p:spPr>
          <a:xfrm rot="16200000">
            <a:off x="2909735" y="3763552"/>
            <a:ext cx="2458215" cy="1586324"/>
          </a:xfrm>
          <a:prstGeom prst="downArrow">
            <a:avLst>
              <a:gd name="adj1" fmla="val 69578"/>
              <a:gd name="adj2" fmla="val 2801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00B050"/>
                </a:solidFill>
              </a:rPr>
              <a:t>2</a:t>
            </a:r>
            <a:r>
              <a:rPr lang="zh-CN" altLang="en-US" b="1" i="1" dirty="0">
                <a:solidFill>
                  <a:srgbClr val="00B050"/>
                </a:solidFill>
              </a:rPr>
              <a:t>，引入</a:t>
            </a:r>
            <a:endParaRPr lang="en-US" altLang="zh-CN" b="1" i="1" dirty="0">
              <a:solidFill>
                <a:srgbClr val="00B050"/>
              </a:solidFill>
            </a:endParaRPr>
          </a:p>
          <a:p>
            <a:pPr algn="ctr"/>
            <a:r>
              <a:rPr lang="zh-CN" altLang="en-US" b="1" i="1" dirty="0">
                <a:solidFill>
                  <a:srgbClr val="00B050"/>
                </a:solidFill>
              </a:rPr>
              <a:t>人工变量</a:t>
            </a:r>
            <a:endParaRPr lang="zh-CN" altLang="en-US" b="1" i="1" dirty="0">
              <a:solidFill>
                <a:srgbClr val="00B050"/>
              </a:solidFill>
            </a:endParaRPr>
          </a:p>
        </p:txBody>
      </p:sp>
      <p:sp>
        <p:nvSpPr>
          <p:cNvPr id="20" name="文本框 19"/>
          <p:cNvSpPr txBox="1"/>
          <p:nvPr/>
        </p:nvSpPr>
        <p:spPr>
          <a:xfrm>
            <a:off x="0" y="6079656"/>
            <a:ext cx="4069976" cy="646331"/>
          </a:xfrm>
          <a:prstGeom prst="rect">
            <a:avLst/>
          </a:prstGeom>
          <a:noFill/>
        </p:spPr>
        <p:txBody>
          <a:bodyPr wrap="square" rtlCol="0">
            <a:spAutoFit/>
          </a:bodyPr>
          <a:lstStyle/>
          <a:p>
            <a:r>
              <a:rPr lang="zh-CN" altLang="en-US" b="1" i="1" dirty="0">
                <a:solidFill>
                  <a:srgbClr val="0322BD"/>
                </a:solidFill>
              </a:rPr>
              <a:t>松弛变量指代仅生产</a:t>
            </a:r>
            <a:r>
              <a:rPr lang="en-US" altLang="zh-CN" b="1" i="1" dirty="0">
                <a:solidFill>
                  <a:srgbClr val="0322BD"/>
                </a:solidFill>
              </a:rPr>
              <a:t>/</a:t>
            </a:r>
            <a:r>
              <a:rPr lang="zh-CN" altLang="en-US" b="1" i="1" dirty="0">
                <a:solidFill>
                  <a:srgbClr val="0322BD"/>
                </a:solidFill>
              </a:rPr>
              <a:t>消耗资源的一类竞争性活动在目标函数中系数为</a:t>
            </a:r>
            <a:r>
              <a:rPr lang="en-US" altLang="zh-CN" b="1" i="1" dirty="0">
                <a:solidFill>
                  <a:srgbClr val="0322BD"/>
                </a:solidFill>
              </a:rPr>
              <a:t>0</a:t>
            </a:r>
            <a:endParaRPr lang="zh-CN" altLang="en-US" b="1" i="1" dirty="0">
              <a:solidFill>
                <a:srgbClr val="0322BD"/>
              </a:solidFill>
            </a:endParaRPr>
          </a:p>
        </p:txBody>
      </p:sp>
      <p:sp>
        <p:nvSpPr>
          <p:cNvPr id="21" name="矩形: 折角 20"/>
          <p:cNvSpPr/>
          <p:nvPr/>
        </p:nvSpPr>
        <p:spPr>
          <a:xfrm flipV="1">
            <a:off x="4932005" y="3012140"/>
            <a:ext cx="7107806" cy="2780545"/>
          </a:xfrm>
          <a:prstGeom prst="foldedCorne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5231120" y="206188"/>
            <a:ext cx="6793856" cy="2731256"/>
          </a:xfrm>
          <a:prstGeom prst="rect">
            <a:avLst/>
          </a:prstGeom>
        </p:spPr>
      </p:pic>
      <p:pic>
        <p:nvPicPr>
          <p:cNvPr id="8" name="图片 7"/>
          <p:cNvPicPr>
            <a:picLocks noChangeAspect="1"/>
          </p:cNvPicPr>
          <p:nvPr/>
        </p:nvPicPr>
        <p:blipFill>
          <a:blip r:embed="rId2"/>
          <a:stretch>
            <a:fillRect/>
          </a:stretch>
        </p:blipFill>
        <p:spPr>
          <a:xfrm>
            <a:off x="167024" y="75032"/>
            <a:ext cx="3357455" cy="3009426"/>
          </a:xfrm>
          <a:prstGeom prst="rect">
            <a:avLst/>
          </a:prstGeom>
        </p:spPr>
      </p:pic>
      <p:sp>
        <p:nvSpPr>
          <p:cNvPr id="9" name="箭头: 下 8"/>
          <p:cNvSpPr/>
          <p:nvPr/>
        </p:nvSpPr>
        <p:spPr>
          <a:xfrm>
            <a:off x="1801178" y="1168618"/>
            <a:ext cx="1310515" cy="1182488"/>
          </a:xfrm>
          <a:prstGeom prst="downArrow">
            <a:avLst>
              <a:gd name="adj1" fmla="val 86939"/>
              <a:gd name="adj2"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00B050"/>
                </a:solidFill>
              </a:rPr>
              <a:t>1</a:t>
            </a:r>
            <a:r>
              <a:rPr lang="zh-CN" altLang="en-US" b="1" i="1" dirty="0">
                <a:solidFill>
                  <a:srgbClr val="00B050"/>
                </a:solidFill>
              </a:rPr>
              <a:t>，引入松弛变量</a:t>
            </a:r>
            <a:endParaRPr lang="zh-CN" altLang="en-US" b="1" i="1" dirty="0">
              <a:solidFill>
                <a:srgbClr val="00B050"/>
              </a:solidFill>
            </a:endParaRPr>
          </a:p>
        </p:txBody>
      </p:sp>
      <p:sp>
        <p:nvSpPr>
          <p:cNvPr id="10" name="箭头: 下 9"/>
          <p:cNvSpPr/>
          <p:nvPr/>
        </p:nvSpPr>
        <p:spPr>
          <a:xfrm rot="16200000">
            <a:off x="3148479" y="858988"/>
            <a:ext cx="2458215" cy="1586324"/>
          </a:xfrm>
          <a:prstGeom prst="downArrow">
            <a:avLst>
              <a:gd name="adj1" fmla="val 69578"/>
              <a:gd name="adj2" fmla="val 2801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00B050"/>
                </a:solidFill>
              </a:rPr>
              <a:t>2</a:t>
            </a:r>
            <a:r>
              <a:rPr lang="zh-CN" altLang="en-US" b="1" i="1" dirty="0">
                <a:solidFill>
                  <a:srgbClr val="00B050"/>
                </a:solidFill>
              </a:rPr>
              <a:t>，引入</a:t>
            </a:r>
            <a:endParaRPr lang="en-US" altLang="zh-CN" b="1" i="1" dirty="0">
              <a:solidFill>
                <a:srgbClr val="00B050"/>
              </a:solidFill>
            </a:endParaRPr>
          </a:p>
          <a:p>
            <a:pPr algn="ctr"/>
            <a:r>
              <a:rPr lang="zh-CN" altLang="en-US" b="1" i="1" dirty="0">
                <a:solidFill>
                  <a:srgbClr val="00B050"/>
                </a:solidFill>
              </a:rPr>
              <a:t>人工变量</a:t>
            </a:r>
            <a:endParaRPr lang="zh-CN" altLang="en-US" b="1" i="1" dirty="0">
              <a:solidFill>
                <a:srgbClr val="00B050"/>
              </a:solidFill>
            </a:endParaRPr>
          </a:p>
        </p:txBody>
      </p:sp>
      <p:sp>
        <p:nvSpPr>
          <p:cNvPr id="11" name="文本框 10"/>
          <p:cNvSpPr txBox="1"/>
          <p:nvPr/>
        </p:nvSpPr>
        <p:spPr>
          <a:xfrm>
            <a:off x="167024" y="3154267"/>
            <a:ext cx="4069976" cy="646331"/>
          </a:xfrm>
          <a:prstGeom prst="rect">
            <a:avLst/>
          </a:prstGeom>
          <a:noFill/>
        </p:spPr>
        <p:txBody>
          <a:bodyPr wrap="square" rtlCol="0">
            <a:spAutoFit/>
          </a:bodyPr>
          <a:lstStyle/>
          <a:p>
            <a:r>
              <a:rPr lang="zh-CN" altLang="en-US" b="1" i="1" dirty="0">
                <a:solidFill>
                  <a:srgbClr val="0322BD"/>
                </a:solidFill>
              </a:rPr>
              <a:t>松弛变量指代仅生产</a:t>
            </a:r>
            <a:r>
              <a:rPr lang="en-US" altLang="zh-CN" b="1" i="1" dirty="0">
                <a:solidFill>
                  <a:srgbClr val="0322BD"/>
                </a:solidFill>
              </a:rPr>
              <a:t>/</a:t>
            </a:r>
            <a:r>
              <a:rPr lang="zh-CN" altLang="en-US" b="1" i="1" dirty="0">
                <a:solidFill>
                  <a:srgbClr val="0322BD"/>
                </a:solidFill>
              </a:rPr>
              <a:t>消耗资源的一类竞争性活动在目标函数中系数为</a:t>
            </a:r>
            <a:r>
              <a:rPr lang="en-US" altLang="zh-CN" b="1" i="1" dirty="0">
                <a:solidFill>
                  <a:srgbClr val="0322BD"/>
                </a:solidFill>
              </a:rPr>
              <a:t>0</a:t>
            </a:r>
            <a:endParaRPr lang="zh-CN" altLang="en-US" b="1" i="1" dirty="0">
              <a:solidFill>
                <a:srgbClr val="0322BD"/>
              </a:solidFill>
            </a:endParaRPr>
          </a:p>
        </p:txBody>
      </p:sp>
      <p:sp>
        <p:nvSpPr>
          <p:cNvPr id="14" name="文本框 13"/>
          <p:cNvSpPr txBox="1"/>
          <p:nvPr/>
        </p:nvSpPr>
        <p:spPr>
          <a:xfrm>
            <a:off x="5231119" y="3254787"/>
            <a:ext cx="6793855" cy="646331"/>
          </a:xfrm>
          <a:prstGeom prst="rect">
            <a:avLst/>
          </a:prstGeom>
          <a:noFill/>
        </p:spPr>
        <p:txBody>
          <a:bodyPr wrap="square" rtlCol="0">
            <a:spAutoFit/>
          </a:bodyPr>
          <a:lstStyle/>
          <a:p>
            <a:r>
              <a:rPr lang="zh-CN" altLang="en-US" b="1" i="1" dirty="0">
                <a:solidFill>
                  <a:srgbClr val="0322BD"/>
                </a:solidFill>
              </a:rPr>
              <a:t>人工变量指代不存在的一种竞争性活动，所以，在目标函数中其系数为</a:t>
            </a:r>
            <a:r>
              <a:rPr lang="en-US" altLang="zh-CN" b="1" i="1" dirty="0">
                <a:solidFill>
                  <a:srgbClr val="0322BD"/>
                </a:solidFill>
              </a:rPr>
              <a:t>-M</a:t>
            </a:r>
            <a:r>
              <a:rPr lang="zh-CN" altLang="en-US" b="1" i="1" dirty="0">
                <a:solidFill>
                  <a:srgbClr val="0322BD"/>
                </a:solidFill>
              </a:rPr>
              <a:t>，</a:t>
            </a:r>
            <a:r>
              <a:rPr lang="en-US" altLang="zh-CN" b="1" i="1" dirty="0">
                <a:solidFill>
                  <a:srgbClr val="0322BD"/>
                </a:solidFill>
              </a:rPr>
              <a:t>M=+</a:t>
            </a:r>
            <a:r>
              <a:rPr lang="zh-CN" altLang="en-US" b="1" i="1" dirty="0">
                <a:solidFill>
                  <a:srgbClr val="0322BD"/>
                </a:solidFill>
              </a:rPr>
              <a:t>∞</a:t>
            </a:r>
            <a:endParaRPr lang="zh-CN" altLang="en-US" b="1" i="1" dirty="0">
              <a:solidFill>
                <a:srgbClr val="0322BD"/>
              </a:solidFill>
            </a:endParaRPr>
          </a:p>
        </p:txBody>
      </p:sp>
      <p:sp>
        <p:nvSpPr>
          <p:cNvPr id="16" name="文本框 15"/>
          <p:cNvSpPr txBox="1"/>
          <p:nvPr/>
        </p:nvSpPr>
        <p:spPr>
          <a:xfrm>
            <a:off x="167024" y="4304387"/>
            <a:ext cx="11833412" cy="1384995"/>
          </a:xfrm>
          <a:prstGeom prst="rect">
            <a:avLst/>
          </a:prstGeom>
          <a:noFill/>
        </p:spPr>
        <p:txBody>
          <a:bodyPr wrap="square" rtlCol="0">
            <a:spAutoFit/>
          </a:bodyPr>
          <a:lstStyle/>
          <a:p>
            <a:r>
              <a:rPr lang="zh-CN" altLang="en-US" sz="2800" dirty="0"/>
              <a:t>我们这样做的目的，是为了构造一个“简单标准形</a:t>
            </a:r>
            <a:r>
              <a:rPr lang="en-US" altLang="zh-CN" sz="2800" dirty="0"/>
              <a:t>LPQ</a:t>
            </a:r>
            <a:r>
              <a:rPr lang="zh-CN" altLang="en-US" sz="2800" dirty="0"/>
              <a:t>”，也就是构造一个初始基可行解，以便我们可以应用单纯形法求解（最优判定</a:t>
            </a:r>
            <a:r>
              <a:rPr lang="en-US" altLang="zh-CN" sz="2800" dirty="0"/>
              <a:t>-&gt;</a:t>
            </a:r>
            <a:r>
              <a:rPr lang="zh-CN" altLang="en-US" sz="2800" dirty="0"/>
              <a:t>换基</a:t>
            </a:r>
            <a:r>
              <a:rPr lang="en-US" altLang="zh-CN" sz="2800" dirty="0"/>
              <a:t>-&gt;</a:t>
            </a:r>
            <a:r>
              <a:rPr lang="zh-CN" altLang="en-US" sz="2800" dirty="0"/>
              <a:t>高斯运算得出另一基可行解，迭代直至最优，最优解必是一个基可行解）。</a:t>
            </a:r>
            <a:endParaRPr lang="zh-CN" altLang="en-US" sz="28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5231120" y="206188"/>
            <a:ext cx="6793856" cy="2731256"/>
          </a:xfrm>
          <a:prstGeom prst="rect">
            <a:avLst/>
          </a:prstGeom>
        </p:spPr>
      </p:pic>
      <p:pic>
        <p:nvPicPr>
          <p:cNvPr id="8" name="图片 7"/>
          <p:cNvPicPr>
            <a:picLocks noChangeAspect="1"/>
          </p:cNvPicPr>
          <p:nvPr/>
        </p:nvPicPr>
        <p:blipFill>
          <a:blip r:embed="rId2"/>
          <a:stretch>
            <a:fillRect/>
          </a:stretch>
        </p:blipFill>
        <p:spPr>
          <a:xfrm>
            <a:off x="167024" y="75032"/>
            <a:ext cx="3357455" cy="3009426"/>
          </a:xfrm>
          <a:prstGeom prst="rect">
            <a:avLst/>
          </a:prstGeom>
        </p:spPr>
      </p:pic>
      <p:sp>
        <p:nvSpPr>
          <p:cNvPr id="9" name="箭头: 下 8"/>
          <p:cNvSpPr/>
          <p:nvPr/>
        </p:nvSpPr>
        <p:spPr>
          <a:xfrm>
            <a:off x="1801178" y="1168618"/>
            <a:ext cx="1310515" cy="1182488"/>
          </a:xfrm>
          <a:prstGeom prst="downArrow">
            <a:avLst>
              <a:gd name="adj1" fmla="val 86939"/>
              <a:gd name="adj2"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00B050"/>
                </a:solidFill>
              </a:rPr>
              <a:t>1</a:t>
            </a:r>
            <a:r>
              <a:rPr lang="zh-CN" altLang="en-US" b="1" i="1" dirty="0">
                <a:solidFill>
                  <a:srgbClr val="00B050"/>
                </a:solidFill>
              </a:rPr>
              <a:t>，引入松弛变量</a:t>
            </a:r>
            <a:endParaRPr lang="zh-CN" altLang="en-US" b="1" i="1" dirty="0">
              <a:solidFill>
                <a:srgbClr val="00B050"/>
              </a:solidFill>
            </a:endParaRPr>
          </a:p>
        </p:txBody>
      </p:sp>
      <p:sp>
        <p:nvSpPr>
          <p:cNvPr id="10" name="箭头: 下 9"/>
          <p:cNvSpPr/>
          <p:nvPr/>
        </p:nvSpPr>
        <p:spPr>
          <a:xfrm rot="16200000">
            <a:off x="3148479" y="858988"/>
            <a:ext cx="2458215" cy="1586324"/>
          </a:xfrm>
          <a:prstGeom prst="downArrow">
            <a:avLst>
              <a:gd name="adj1" fmla="val 69578"/>
              <a:gd name="adj2" fmla="val 2801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00B050"/>
                </a:solidFill>
              </a:rPr>
              <a:t>2</a:t>
            </a:r>
            <a:r>
              <a:rPr lang="zh-CN" altLang="en-US" b="1" i="1" dirty="0">
                <a:solidFill>
                  <a:srgbClr val="00B050"/>
                </a:solidFill>
              </a:rPr>
              <a:t>，引入</a:t>
            </a:r>
            <a:endParaRPr lang="en-US" altLang="zh-CN" b="1" i="1" dirty="0">
              <a:solidFill>
                <a:srgbClr val="00B050"/>
              </a:solidFill>
            </a:endParaRPr>
          </a:p>
          <a:p>
            <a:pPr algn="ctr"/>
            <a:r>
              <a:rPr lang="zh-CN" altLang="en-US" b="1" i="1" dirty="0">
                <a:solidFill>
                  <a:srgbClr val="00B050"/>
                </a:solidFill>
              </a:rPr>
              <a:t>人工变量</a:t>
            </a:r>
            <a:endParaRPr lang="zh-CN" altLang="en-US" b="1" i="1" dirty="0">
              <a:solidFill>
                <a:srgbClr val="00B050"/>
              </a:solidFill>
            </a:endParaRPr>
          </a:p>
        </p:txBody>
      </p:sp>
      <p:sp>
        <p:nvSpPr>
          <p:cNvPr id="11" name="文本框 10"/>
          <p:cNvSpPr txBox="1"/>
          <p:nvPr/>
        </p:nvSpPr>
        <p:spPr>
          <a:xfrm>
            <a:off x="167024" y="2983938"/>
            <a:ext cx="4069976" cy="646331"/>
          </a:xfrm>
          <a:prstGeom prst="rect">
            <a:avLst/>
          </a:prstGeom>
          <a:noFill/>
        </p:spPr>
        <p:txBody>
          <a:bodyPr wrap="square" rtlCol="0">
            <a:spAutoFit/>
          </a:bodyPr>
          <a:lstStyle/>
          <a:p>
            <a:r>
              <a:rPr lang="zh-CN" altLang="en-US" b="1" i="1" dirty="0">
                <a:solidFill>
                  <a:srgbClr val="0322BD"/>
                </a:solidFill>
              </a:rPr>
              <a:t>松弛变量指代仅生产</a:t>
            </a:r>
            <a:r>
              <a:rPr lang="en-US" altLang="zh-CN" b="1" i="1" dirty="0">
                <a:solidFill>
                  <a:srgbClr val="0322BD"/>
                </a:solidFill>
              </a:rPr>
              <a:t>/</a:t>
            </a:r>
            <a:r>
              <a:rPr lang="zh-CN" altLang="en-US" b="1" i="1" dirty="0">
                <a:solidFill>
                  <a:srgbClr val="0322BD"/>
                </a:solidFill>
              </a:rPr>
              <a:t>消耗资源的一类竞争性活动在目标函数中系数为</a:t>
            </a:r>
            <a:r>
              <a:rPr lang="en-US" altLang="zh-CN" b="1" i="1" dirty="0">
                <a:solidFill>
                  <a:srgbClr val="0322BD"/>
                </a:solidFill>
              </a:rPr>
              <a:t>0</a:t>
            </a:r>
            <a:endParaRPr lang="zh-CN" altLang="en-US" b="1" i="1" dirty="0">
              <a:solidFill>
                <a:srgbClr val="0322BD"/>
              </a:solidFill>
            </a:endParaRPr>
          </a:p>
        </p:txBody>
      </p:sp>
      <p:sp>
        <p:nvSpPr>
          <p:cNvPr id="22" name="文本框 21"/>
          <p:cNvSpPr txBox="1"/>
          <p:nvPr/>
        </p:nvSpPr>
        <p:spPr>
          <a:xfrm>
            <a:off x="154755" y="3752723"/>
            <a:ext cx="11857950" cy="2862322"/>
          </a:xfrm>
          <a:prstGeom prst="rect">
            <a:avLst/>
          </a:prstGeom>
          <a:noFill/>
        </p:spPr>
        <p:txBody>
          <a:bodyPr wrap="square" rtlCol="0">
            <a:spAutoFit/>
          </a:bodyPr>
          <a:lstStyle/>
          <a:p>
            <a:r>
              <a:rPr lang="zh-CN" altLang="en-US" sz="2000" dirty="0">
                <a:solidFill>
                  <a:srgbClr val="FF0000"/>
                </a:solidFill>
              </a:rPr>
              <a:t>但是，目前所得</a:t>
            </a:r>
            <a:r>
              <a:rPr lang="en-US" altLang="zh-CN" sz="2000" dirty="0">
                <a:solidFill>
                  <a:srgbClr val="FF0000"/>
                </a:solidFill>
              </a:rPr>
              <a:t>LPQ</a:t>
            </a:r>
            <a:r>
              <a:rPr lang="zh-CN" altLang="en-US" sz="2000" dirty="0">
                <a:solidFill>
                  <a:srgbClr val="FF0000"/>
                </a:solidFill>
              </a:rPr>
              <a:t>仍然不是“简单标准形”。</a:t>
            </a:r>
            <a:endParaRPr lang="en-US" altLang="zh-CN" sz="2000" dirty="0">
              <a:solidFill>
                <a:srgbClr val="FF0000"/>
              </a:solidFill>
            </a:endParaRPr>
          </a:p>
          <a:p>
            <a:r>
              <a:rPr lang="zh-CN" altLang="en-US" sz="2000" dirty="0">
                <a:solidFill>
                  <a:srgbClr val="0322BD"/>
                </a:solidFill>
              </a:rPr>
              <a:t>因为，简单标准形的</a:t>
            </a:r>
            <a:r>
              <a:rPr lang="en-US" altLang="zh-CN" sz="2000" dirty="0">
                <a:solidFill>
                  <a:srgbClr val="0322BD"/>
                </a:solidFill>
              </a:rPr>
              <a:t>2</a:t>
            </a:r>
            <a:r>
              <a:rPr lang="zh-CN" altLang="en-US" sz="2000" dirty="0">
                <a:solidFill>
                  <a:srgbClr val="0322BD"/>
                </a:solidFill>
              </a:rPr>
              <a:t>个特征：</a:t>
            </a:r>
            <a:endParaRPr lang="en-US" altLang="zh-CN" sz="2000" dirty="0">
              <a:solidFill>
                <a:srgbClr val="0322BD"/>
              </a:solidFill>
            </a:endParaRPr>
          </a:p>
          <a:p>
            <a:r>
              <a:rPr lang="en-US" altLang="zh-CN" sz="2000" dirty="0">
                <a:solidFill>
                  <a:srgbClr val="0322BD"/>
                </a:solidFill>
              </a:rPr>
              <a:t>1</a:t>
            </a:r>
            <a:r>
              <a:rPr lang="zh-CN" altLang="en-US" sz="2000" dirty="0">
                <a:solidFill>
                  <a:srgbClr val="0322BD"/>
                </a:solidFill>
              </a:rPr>
              <a:t>，就约束条件所构成的方程组而言，有一个单位矩阵</a:t>
            </a:r>
            <a:r>
              <a:rPr lang="en-US" altLang="zh-CN" sz="2000" dirty="0">
                <a:solidFill>
                  <a:srgbClr val="0322BD"/>
                </a:solidFill>
              </a:rPr>
              <a:t>【</a:t>
            </a:r>
            <a:r>
              <a:rPr lang="zh-CN" altLang="en-US" sz="2000" dirty="0">
                <a:solidFill>
                  <a:srgbClr val="0322BD"/>
                </a:solidFill>
              </a:rPr>
              <a:t>这说明是一个基可行解，一般地，解可以由基可行解线性表出</a:t>
            </a:r>
            <a:r>
              <a:rPr lang="en-US" altLang="zh-CN" sz="2000" dirty="0">
                <a:solidFill>
                  <a:srgbClr val="0322BD"/>
                </a:solidFill>
              </a:rPr>
              <a:t>】</a:t>
            </a:r>
            <a:endParaRPr lang="en-US" altLang="zh-CN" sz="2000" dirty="0">
              <a:solidFill>
                <a:srgbClr val="0322BD"/>
              </a:solidFill>
            </a:endParaRPr>
          </a:p>
          <a:p>
            <a:r>
              <a:rPr lang="en-US" altLang="zh-CN" sz="2000" dirty="0">
                <a:solidFill>
                  <a:srgbClr val="0322BD"/>
                </a:solidFill>
              </a:rPr>
              <a:t>2</a:t>
            </a:r>
            <a:r>
              <a:rPr lang="zh-CN" altLang="en-US" sz="2000" dirty="0">
                <a:solidFill>
                  <a:srgbClr val="0322BD"/>
                </a:solidFill>
              </a:rPr>
              <a:t>，就目标函数而言，基变量在目标函数中的系数应该为</a:t>
            </a:r>
            <a:r>
              <a:rPr lang="en-US" altLang="zh-CN" sz="2000" dirty="0">
                <a:solidFill>
                  <a:srgbClr val="0322BD"/>
                </a:solidFill>
              </a:rPr>
              <a:t>0【</a:t>
            </a:r>
            <a:r>
              <a:rPr lang="zh-CN" altLang="en-US" sz="2000" dirty="0">
                <a:solidFill>
                  <a:srgbClr val="0322BD"/>
                </a:solidFill>
              </a:rPr>
              <a:t>因为，只有当基变量在目标函数中的系数为</a:t>
            </a:r>
            <a:r>
              <a:rPr lang="en-US" altLang="zh-CN" sz="2000" dirty="0">
                <a:solidFill>
                  <a:srgbClr val="0322BD"/>
                </a:solidFill>
              </a:rPr>
              <a:t>0</a:t>
            </a:r>
            <a:r>
              <a:rPr lang="zh-CN" altLang="en-US" sz="2000" dirty="0">
                <a:solidFill>
                  <a:srgbClr val="0322BD"/>
                </a:solidFill>
              </a:rPr>
              <a:t>，在进行换入变量的选择时，才能明确在当前基可行解状态下，各个变量所指代竞争性活动对于接下来的资源分配，其对目标将产生怎样的单位贡献</a:t>
            </a:r>
            <a:r>
              <a:rPr lang="en-US" altLang="zh-CN" sz="2000" dirty="0">
                <a:solidFill>
                  <a:srgbClr val="0322BD"/>
                </a:solidFill>
              </a:rPr>
              <a:t>——</a:t>
            </a:r>
            <a:r>
              <a:rPr lang="zh-CN" altLang="en-US" sz="2000" dirty="0">
                <a:solidFill>
                  <a:srgbClr val="0322BD"/>
                </a:solidFill>
              </a:rPr>
              <a:t>在单纯形法中我们的原则是“贡献最大者优先安排”。若基变量在目标函数中的系数为不是</a:t>
            </a:r>
            <a:r>
              <a:rPr lang="en-US" altLang="zh-CN" sz="2000" dirty="0">
                <a:solidFill>
                  <a:srgbClr val="0322BD"/>
                </a:solidFill>
              </a:rPr>
              <a:t>0</a:t>
            </a:r>
            <a:r>
              <a:rPr lang="zh-CN" altLang="en-US" sz="2000" dirty="0">
                <a:solidFill>
                  <a:srgbClr val="0322BD"/>
                </a:solidFill>
              </a:rPr>
              <a:t>，那么由于基变量和非基变量之间存在线性关系，因此目标函数中各个变量的情况纠缠在一起，其系数并不独立反应各个变量对于目标的单位贡献</a:t>
            </a:r>
            <a:r>
              <a:rPr lang="en-US" altLang="zh-CN" sz="2000" dirty="0">
                <a:solidFill>
                  <a:srgbClr val="0322BD"/>
                </a:solidFill>
              </a:rPr>
              <a:t> 】</a:t>
            </a:r>
            <a:endParaRPr lang="zh-CN" altLang="en-US" sz="2000" dirty="0">
              <a:solidFill>
                <a:srgbClr val="0322BD"/>
              </a:solidFill>
            </a:endParaRPr>
          </a:p>
        </p:txBody>
      </p:sp>
      <p:sp>
        <p:nvSpPr>
          <p:cNvPr id="14" name="文本框 13"/>
          <p:cNvSpPr txBox="1"/>
          <p:nvPr/>
        </p:nvSpPr>
        <p:spPr>
          <a:xfrm>
            <a:off x="5231119" y="3084458"/>
            <a:ext cx="6793855" cy="646331"/>
          </a:xfrm>
          <a:prstGeom prst="rect">
            <a:avLst/>
          </a:prstGeom>
          <a:noFill/>
        </p:spPr>
        <p:txBody>
          <a:bodyPr wrap="square" rtlCol="0">
            <a:spAutoFit/>
          </a:bodyPr>
          <a:lstStyle/>
          <a:p>
            <a:r>
              <a:rPr lang="zh-CN" altLang="en-US" b="1" i="1" dirty="0">
                <a:solidFill>
                  <a:srgbClr val="0322BD"/>
                </a:solidFill>
              </a:rPr>
              <a:t>人工变量指代不存在的一种竞争性活动，所以，在目标函数中其系数为</a:t>
            </a:r>
            <a:r>
              <a:rPr lang="en-US" altLang="zh-CN" b="1" i="1" dirty="0">
                <a:solidFill>
                  <a:srgbClr val="0322BD"/>
                </a:solidFill>
              </a:rPr>
              <a:t>-M</a:t>
            </a:r>
            <a:r>
              <a:rPr lang="zh-CN" altLang="en-US" b="1" i="1" dirty="0">
                <a:solidFill>
                  <a:srgbClr val="0322BD"/>
                </a:solidFill>
              </a:rPr>
              <a:t>，</a:t>
            </a:r>
            <a:r>
              <a:rPr lang="en-US" altLang="zh-CN" b="1" i="1" dirty="0">
                <a:solidFill>
                  <a:srgbClr val="0322BD"/>
                </a:solidFill>
              </a:rPr>
              <a:t>M=+</a:t>
            </a:r>
            <a:r>
              <a:rPr lang="zh-CN" altLang="en-US" b="1" i="1" dirty="0">
                <a:solidFill>
                  <a:srgbClr val="0322BD"/>
                </a:solidFill>
              </a:rPr>
              <a:t>∞</a:t>
            </a:r>
            <a:endParaRPr lang="zh-CN" altLang="en-US" b="1" i="1" dirty="0">
              <a:solidFill>
                <a:srgbClr val="0322BD"/>
              </a:solidFil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5231120" y="206188"/>
            <a:ext cx="6793856" cy="2731256"/>
          </a:xfrm>
          <a:prstGeom prst="rect">
            <a:avLst/>
          </a:prstGeom>
        </p:spPr>
      </p:pic>
      <p:pic>
        <p:nvPicPr>
          <p:cNvPr id="8" name="图片 7"/>
          <p:cNvPicPr>
            <a:picLocks noChangeAspect="1"/>
          </p:cNvPicPr>
          <p:nvPr/>
        </p:nvPicPr>
        <p:blipFill>
          <a:blip r:embed="rId2"/>
          <a:stretch>
            <a:fillRect/>
          </a:stretch>
        </p:blipFill>
        <p:spPr>
          <a:xfrm>
            <a:off x="167024" y="75032"/>
            <a:ext cx="3357455" cy="3009426"/>
          </a:xfrm>
          <a:prstGeom prst="rect">
            <a:avLst/>
          </a:prstGeom>
        </p:spPr>
      </p:pic>
      <p:sp>
        <p:nvSpPr>
          <p:cNvPr id="9" name="箭头: 下 8"/>
          <p:cNvSpPr/>
          <p:nvPr/>
        </p:nvSpPr>
        <p:spPr>
          <a:xfrm>
            <a:off x="7108283" y="3463585"/>
            <a:ext cx="4814775" cy="646331"/>
          </a:xfrm>
          <a:prstGeom prst="downArrow">
            <a:avLst>
              <a:gd name="adj1" fmla="val 86939"/>
              <a:gd name="adj2" fmla="val 4306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00B050"/>
                </a:solidFill>
              </a:rPr>
              <a:t>3</a:t>
            </a:r>
            <a:r>
              <a:rPr lang="zh-CN" altLang="en-US" b="1" i="1" dirty="0">
                <a:solidFill>
                  <a:srgbClr val="00B050"/>
                </a:solidFill>
              </a:rPr>
              <a:t>，使得基变量在目标函数中的系数为</a:t>
            </a:r>
            <a:r>
              <a:rPr lang="en-US" altLang="zh-CN" b="1" i="1" dirty="0">
                <a:solidFill>
                  <a:srgbClr val="00B050"/>
                </a:solidFill>
              </a:rPr>
              <a:t>0</a:t>
            </a:r>
            <a:endParaRPr lang="zh-CN" altLang="en-US" b="1" i="1" dirty="0">
              <a:solidFill>
                <a:srgbClr val="00B050"/>
              </a:solidFill>
            </a:endParaRPr>
          </a:p>
        </p:txBody>
      </p:sp>
      <p:sp>
        <p:nvSpPr>
          <p:cNvPr id="10" name="箭头: 下 9"/>
          <p:cNvSpPr/>
          <p:nvPr/>
        </p:nvSpPr>
        <p:spPr>
          <a:xfrm rot="16200000">
            <a:off x="3148479" y="858988"/>
            <a:ext cx="2458215" cy="1586324"/>
          </a:xfrm>
          <a:prstGeom prst="downArrow">
            <a:avLst>
              <a:gd name="adj1" fmla="val 69578"/>
              <a:gd name="adj2" fmla="val 2801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00B050"/>
                </a:solidFill>
              </a:rPr>
              <a:t>2</a:t>
            </a:r>
            <a:r>
              <a:rPr lang="zh-CN" altLang="en-US" b="1" i="1" dirty="0">
                <a:solidFill>
                  <a:srgbClr val="00B050"/>
                </a:solidFill>
              </a:rPr>
              <a:t>，引入</a:t>
            </a:r>
            <a:endParaRPr lang="en-US" altLang="zh-CN" b="1" i="1" dirty="0">
              <a:solidFill>
                <a:srgbClr val="00B050"/>
              </a:solidFill>
            </a:endParaRPr>
          </a:p>
          <a:p>
            <a:pPr algn="ctr"/>
            <a:r>
              <a:rPr lang="zh-CN" altLang="en-US" b="1" i="1" dirty="0">
                <a:solidFill>
                  <a:srgbClr val="00B050"/>
                </a:solidFill>
              </a:rPr>
              <a:t>人工变量</a:t>
            </a:r>
            <a:endParaRPr lang="zh-CN" altLang="en-US" b="1" i="1" dirty="0">
              <a:solidFill>
                <a:srgbClr val="00B050"/>
              </a:solidFill>
            </a:endParaRPr>
          </a:p>
        </p:txBody>
      </p:sp>
      <p:sp>
        <p:nvSpPr>
          <p:cNvPr id="11" name="文本框 10"/>
          <p:cNvSpPr txBox="1"/>
          <p:nvPr/>
        </p:nvSpPr>
        <p:spPr>
          <a:xfrm>
            <a:off x="167024" y="2983938"/>
            <a:ext cx="4069976" cy="646331"/>
          </a:xfrm>
          <a:prstGeom prst="rect">
            <a:avLst/>
          </a:prstGeom>
          <a:noFill/>
        </p:spPr>
        <p:txBody>
          <a:bodyPr wrap="square" rtlCol="0">
            <a:spAutoFit/>
          </a:bodyPr>
          <a:lstStyle/>
          <a:p>
            <a:r>
              <a:rPr lang="zh-CN" altLang="en-US" b="1" i="1" dirty="0">
                <a:solidFill>
                  <a:srgbClr val="0322BD"/>
                </a:solidFill>
              </a:rPr>
              <a:t>松弛变量指代仅生产</a:t>
            </a:r>
            <a:r>
              <a:rPr lang="en-US" altLang="zh-CN" b="1" i="1" dirty="0">
                <a:solidFill>
                  <a:srgbClr val="0322BD"/>
                </a:solidFill>
              </a:rPr>
              <a:t>/</a:t>
            </a:r>
            <a:r>
              <a:rPr lang="zh-CN" altLang="en-US" b="1" i="1" dirty="0">
                <a:solidFill>
                  <a:srgbClr val="0322BD"/>
                </a:solidFill>
              </a:rPr>
              <a:t>消耗资源的一类竞争性活动在目标函数中系数为</a:t>
            </a:r>
            <a:r>
              <a:rPr lang="en-US" altLang="zh-CN" b="1" i="1" dirty="0">
                <a:solidFill>
                  <a:srgbClr val="0322BD"/>
                </a:solidFill>
              </a:rPr>
              <a:t>0</a:t>
            </a:r>
            <a:endParaRPr lang="zh-CN" altLang="en-US" b="1" i="1" dirty="0">
              <a:solidFill>
                <a:srgbClr val="0322BD"/>
              </a:solidFill>
            </a:endParaRPr>
          </a:p>
        </p:txBody>
      </p:sp>
      <p:sp>
        <p:nvSpPr>
          <p:cNvPr id="14" name="文本框 13"/>
          <p:cNvSpPr txBox="1"/>
          <p:nvPr/>
        </p:nvSpPr>
        <p:spPr>
          <a:xfrm>
            <a:off x="5231119" y="3084458"/>
            <a:ext cx="6793855" cy="646331"/>
          </a:xfrm>
          <a:prstGeom prst="rect">
            <a:avLst/>
          </a:prstGeom>
          <a:noFill/>
        </p:spPr>
        <p:txBody>
          <a:bodyPr wrap="square" rtlCol="0">
            <a:spAutoFit/>
          </a:bodyPr>
          <a:lstStyle/>
          <a:p>
            <a:r>
              <a:rPr lang="zh-CN" altLang="en-US" b="1" i="1" dirty="0">
                <a:solidFill>
                  <a:srgbClr val="0322BD"/>
                </a:solidFill>
              </a:rPr>
              <a:t>人工变量指代不存在的一种竞争性活动，所以，在目标函数中其系数为</a:t>
            </a:r>
            <a:r>
              <a:rPr lang="en-US" altLang="zh-CN" b="1" i="1" dirty="0">
                <a:solidFill>
                  <a:srgbClr val="0322BD"/>
                </a:solidFill>
              </a:rPr>
              <a:t>-M</a:t>
            </a:r>
            <a:r>
              <a:rPr lang="zh-CN" altLang="en-US" b="1" i="1" dirty="0">
                <a:solidFill>
                  <a:srgbClr val="0322BD"/>
                </a:solidFill>
              </a:rPr>
              <a:t>，</a:t>
            </a:r>
            <a:r>
              <a:rPr lang="en-US" altLang="zh-CN" b="1" i="1" dirty="0">
                <a:solidFill>
                  <a:srgbClr val="0322BD"/>
                </a:solidFill>
              </a:rPr>
              <a:t>M=+</a:t>
            </a:r>
            <a:r>
              <a:rPr lang="zh-CN" altLang="en-US" b="1" i="1" dirty="0">
                <a:solidFill>
                  <a:srgbClr val="0322BD"/>
                </a:solidFill>
              </a:rPr>
              <a:t>∞</a:t>
            </a:r>
            <a:endParaRPr lang="zh-CN" altLang="en-US" b="1" i="1" dirty="0">
              <a:solidFill>
                <a:srgbClr val="0322BD"/>
              </a:solidFill>
            </a:endParaRPr>
          </a:p>
        </p:txBody>
      </p:sp>
      <p:sp>
        <p:nvSpPr>
          <p:cNvPr id="2" name="箭头: 下 1"/>
          <p:cNvSpPr/>
          <p:nvPr/>
        </p:nvSpPr>
        <p:spPr>
          <a:xfrm>
            <a:off x="1953578" y="1321018"/>
            <a:ext cx="1310515" cy="1182488"/>
          </a:xfrm>
          <a:prstGeom prst="downArrow">
            <a:avLst>
              <a:gd name="adj1" fmla="val 86939"/>
              <a:gd name="adj2"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00B050"/>
                </a:solidFill>
              </a:rPr>
              <a:t>1</a:t>
            </a:r>
            <a:r>
              <a:rPr lang="zh-CN" altLang="en-US" b="1" i="1" dirty="0">
                <a:solidFill>
                  <a:srgbClr val="00B050"/>
                </a:solidFill>
              </a:rPr>
              <a:t>，引入松弛变量</a:t>
            </a:r>
            <a:endParaRPr lang="zh-CN" altLang="en-US" b="1" i="1" dirty="0">
              <a:solidFill>
                <a:srgbClr val="00B050"/>
              </a:solidFill>
            </a:endParaRPr>
          </a:p>
        </p:txBody>
      </p:sp>
      <p:sp>
        <p:nvSpPr>
          <p:cNvPr id="3" name="矩形 2"/>
          <p:cNvSpPr/>
          <p:nvPr/>
        </p:nvSpPr>
        <p:spPr>
          <a:xfrm>
            <a:off x="4925418" y="4096756"/>
            <a:ext cx="6997640" cy="414794"/>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2000" b="1" dirty="0">
                <a:solidFill>
                  <a:srgbClr val="060606"/>
                </a:solidFill>
              </a:rPr>
              <a:t>max-z  + (0.4-1.1M)x</a:t>
            </a:r>
            <a:r>
              <a:rPr lang="en-US" altLang="zh-CN" sz="2000" b="1" baseline="-25000" dirty="0">
                <a:solidFill>
                  <a:srgbClr val="060606"/>
                </a:solidFill>
              </a:rPr>
              <a:t>1</a:t>
            </a:r>
            <a:r>
              <a:rPr lang="en-US" altLang="zh-CN" sz="2000" b="1" dirty="0">
                <a:solidFill>
                  <a:srgbClr val="060606"/>
                </a:solidFill>
              </a:rPr>
              <a:t> + (0.5-0.9M)x</a:t>
            </a:r>
            <a:r>
              <a:rPr lang="en-US" altLang="zh-CN" sz="2000" b="1" baseline="-25000" dirty="0">
                <a:solidFill>
                  <a:srgbClr val="060606"/>
                </a:solidFill>
              </a:rPr>
              <a:t>2</a:t>
            </a:r>
            <a:r>
              <a:rPr lang="en-US" altLang="zh-CN" sz="2000" b="1" dirty="0">
                <a:solidFill>
                  <a:srgbClr val="060606"/>
                </a:solidFill>
              </a:rPr>
              <a:t> + Mx</a:t>
            </a:r>
            <a:r>
              <a:rPr lang="en-US" altLang="zh-CN" sz="2000" b="1" baseline="-25000" dirty="0">
                <a:solidFill>
                  <a:srgbClr val="060606"/>
                </a:solidFill>
              </a:rPr>
              <a:t>5</a:t>
            </a:r>
            <a:r>
              <a:rPr lang="en-US" altLang="zh-CN" sz="2000" b="1" dirty="0">
                <a:solidFill>
                  <a:srgbClr val="060606"/>
                </a:solidFill>
              </a:rPr>
              <a:t> =-12M </a:t>
            </a:r>
            <a:endParaRPr lang="en-US" altLang="zh-CN" sz="2000" b="1" dirty="0">
              <a:solidFill>
                <a:srgbClr val="060606"/>
              </a:solidFill>
            </a:endParaRPr>
          </a:p>
        </p:txBody>
      </p:sp>
      <p:pic>
        <p:nvPicPr>
          <p:cNvPr id="4" name="图片 3"/>
          <p:cNvPicPr>
            <a:picLocks noChangeAspect="1"/>
          </p:cNvPicPr>
          <p:nvPr/>
        </p:nvPicPr>
        <p:blipFill>
          <a:blip r:embed="rId3"/>
          <a:stretch>
            <a:fillRect/>
          </a:stretch>
        </p:blipFill>
        <p:spPr>
          <a:xfrm>
            <a:off x="4790112" y="4547850"/>
            <a:ext cx="7019925" cy="2124075"/>
          </a:xfrm>
          <a:prstGeom prst="rect">
            <a:avLst/>
          </a:prstGeom>
        </p:spPr>
      </p:pic>
      <p:sp>
        <p:nvSpPr>
          <p:cNvPr id="5" name="文本框 4"/>
          <p:cNvSpPr txBox="1"/>
          <p:nvPr/>
        </p:nvSpPr>
        <p:spPr>
          <a:xfrm>
            <a:off x="265635" y="4812247"/>
            <a:ext cx="3872753" cy="1200329"/>
          </a:xfrm>
          <a:prstGeom prst="rect">
            <a:avLst/>
          </a:prstGeom>
          <a:noFill/>
        </p:spPr>
        <p:txBody>
          <a:bodyPr wrap="square" rtlCol="0">
            <a:spAutoFit/>
          </a:bodyPr>
          <a:lstStyle/>
          <a:p>
            <a:r>
              <a:rPr lang="zh-CN" altLang="en-US" sz="2400" dirty="0">
                <a:solidFill>
                  <a:srgbClr val="FF0000"/>
                </a:solidFill>
              </a:rPr>
              <a:t>请思考：如何将目标函数中的基变量的系数变为</a:t>
            </a:r>
            <a:r>
              <a:rPr lang="en-US" altLang="zh-CN" sz="2400" dirty="0">
                <a:solidFill>
                  <a:srgbClr val="FF0000"/>
                </a:solidFill>
              </a:rPr>
              <a:t>0</a:t>
            </a:r>
            <a:r>
              <a:rPr lang="zh-CN" altLang="en-US" sz="2400" dirty="0">
                <a:solidFill>
                  <a:srgbClr val="FF0000"/>
                </a:solidFill>
              </a:rPr>
              <a:t>？方法是什么？</a:t>
            </a:r>
            <a:endParaRPr lang="zh-CN" altLang="en-US" sz="2400" dirty="0">
              <a:solidFill>
                <a:srgbClr val="FF0000"/>
              </a:solidFill>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27576" y="52261"/>
            <a:ext cx="7851224" cy="646331"/>
          </a:xfrm>
          <a:prstGeom prst="rect">
            <a:avLst/>
          </a:prstGeom>
        </p:spPr>
        <p:txBody>
          <a:bodyPr wrap="square">
            <a:spAutoFit/>
          </a:bodyPr>
          <a:lstStyle/>
          <a:p>
            <a:r>
              <a:rPr lang="zh-CN" altLang="en-US" sz="3600" dirty="0">
                <a:solidFill>
                  <a:srgbClr val="060606"/>
                </a:solidFill>
                <a:latin typeface="+mn-ea"/>
              </a:rPr>
              <a:t>得可用“单纯形法”计算的方程组如下</a:t>
            </a:r>
            <a:endParaRPr lang="zh-CN" altLang="en-US" sz="2800" dirty="0">
              <a:solidFill>
                <a:srgbClr val="00000C"/>
              </a:solidFill>
            </a:endParaRPr>
          </a:p>
        </p:txBody>
      </p:sp>
      <p:sp>
        <p:nvSpPr>
          <p:cNvPr id="32" name="矩形 31"/>
          <p:cNvSpPr/>
          <p:nvPr/>
        </p:nvSpPr>
        <p:spPr>
          <a:xfrm>
            <a:off x="983040" y="1266096"/>
            <a:ext cx="8892480" cy="608180"/>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(-z)  + (0.4-1.1M)x</a:t>
            </a:r>
            <a:r>
              <a:rPr lang="en-US" altLang="zh-CN" sz="3200" baseline="-25000" dirty="0">
                <a:solidFill>
                  <a:srgbClr val="060606"/>
                </a:solidFill>
              </a:rPr>
              <a:t>1</a:t>
            </a:r>
            <a:r>
              <a:rPr lang="en-US" altLang="zh-CN" sz="3200" dirty="0">
                <a:solidFill>
                  <a:srgbClr val="060606"/>
                </a:solidFill>
              </a:rPr>
              <a:t> + (0.5-0.9M)x</a:t>
            </a:r>
            <a:r>
              <a:rPr lang="en-US" altLang="zh-CN" sz="3200" baseline="-25000" dirty="0">
                <a:solidFill>
                  <a:srgbClr val="060606"/>
                </a:solidFill>
              </a:rPr>
              <a:t>2</a:t>
            </a:r>
            <a:r>
              <a:rPr lang="en-US" altLang="zh-CN" sz="3200" dirty="0">
                <a:solidFill>
                  <a:srgbClr val="060606"/>
                </a:solidFill>
              </a:rPr>
              <a:t> + Mx</a:t>
            </a:r>
            <a:r>
              <a:rPr lang="en-US" altLang="zh-CN" sz="3200" baseline="-25000" dirty="0">
                <a:solidFill>
                  <a:srgbClr val="060606"/>
                </a:solidFill>
              </a:rPr>
              <a:t>5</a:t>
            </a:r>
            <a:r>
              <a:rPr lang="en-US" altLang="zh-CN" sz="3200" dirty="0">
                <a:solidFill>
                  <a:srgbClr val="060606"/>
                </a:solidFill>
              </a:rPr>
              <a:t> =-12M </a:t>
            </a:r>
            <a:endParaRPr lang="en-US" altLang="zh-CN" sz="3200" dirty="0">
              <a:solidFill>
                <a:srgbClr val="060606"/>
              </a:solidFill>
            </a:endParaRPr>
          </a:p>
        </p:txBody>
      </p:sp>
      <p:grpSp>
        <p:nvGrpSpPr>
          <p:cNvPr id="7" name="组合 6"/>
          <p:cNvGrpSpPr/>
          <p:nvPr/>
        </p:nvGrpSpPr>
        <p:grpSpPr>
          <a:xfrm>
            <a:off x="1127056" y="2133094"/>
            <a:ext cx="10272464" cy="2550666"/>
            <a:chOff x="3059832" y="4538737"/>
            <a:chExt cx="10272464" cy="1952927"/>
          </a:xfrm>
        </p:grpSpPr>
        <p:sp>
          <p:nvSpPr>
            <p:cNvPr id="8" name="矩形 7"/>
            <p:cNvSpPr/>
            <p:nvPr/>
          </p:nvSpPr>
          <p:spPr>
            <a:xfrm>
              <a:off x="3059832" y="5399931"/>
              <a:ext cx="792088" cy="608180"/>
            </a:xfrm>
            <a:prstGeom prst="rect">
              <a:avLst/>
            </a:prstGeom>
          </p:spPr>
          <p:txBody>
            <a:bodyPr wrap="square">
              <a:spAutoFit/>
            </a:bodyPr>
            <a:lstStyle/>
            <a:p>
              <a:pPr marL="342900" indent="-342900" fontAlgn="base">
                <a:lnSpc>
                  <a:spcPct val="110000"/>
                </a:lnSpc>
                <a:spcBef>
                  <a:spcPts val="1800"/>
                </a:spcBef>
                <a:spcAft>
                  <a:spcPct val="0"/>
                </a:spcAft>
              </a:pPr>
              <a:r>
                <a:rPr lang="en-US" altLang="zh-CN" sz="3200" dirty="0">
                  <a:solidFill>
                    <a:srgbClr val="060606"/>
                  </a:solidFill>
                </a:rPr>
                <a:t>s. t</a:t>
              </a:r>
              <a:endParaRPr lang="en-US" altLang="zh-CN" sz="3200" dirty="0">
                <a:solidFill>
                  <a:srgbClr val="060606"/>
                </a:solidFill>
              </a:endParaRPr>
            </a:p>
          </p:txBody>
        </p:sp>
        <p:sp>
          <p:nvSpPr>
            <p:cNvPr id="9" name="左大括号 8"/>
            <p:cNvSpPr/>
            <p:nvPr/>
          </p:nvSpPr>
          <p:spPr bwMode="auto">
            <a:xfrm>
              <a:off x="3923928" y="4895875"/>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3200">
                <a:latin typeface="Arial" panose="020B0604020202090204" pitchFamily="34" charset="0"/>
                <a:ea typeface="宋体" panose="02010600030101010101" pitchFamily="2" charset="-122"/>
              </a:endParaRPr>
            </a:p>
          </p:txBody>
        </p:sp>
        <p:sp>
          <p:nvSpPr>
            <p:cNvPr id="10" name="矩形 9"/>
            <p:cNvSpPr/>
            <p:nvPr/>
          </p:nvSpPr>
          <p:spPr>
            <a:xfrm>
              <a:off x="4427984" y="4538737"/>
              <a:ext cx="7029488" cy="584775"/>
            </a:xfrm>
            <a:prstGeom prst="rect">
              <a:avLst/>
            </a:prstGeom>
          </p:spPr>
          <p:txBody>
            <a:bodyPr wrap="none">
              <a:spAutoFit/>
            </a:bodyPr>
            <a:lstStyle/>
            <a:p>
              <a:r>
                <a:rPr lang="en-US" altLang="zh-CN" sz="3200" dirty="0">
                  <a:solidFill>
                    <a:srgbClr val="060606"/>
                  </a:solidFill>
                </a:rPr>
                <a:t>0.3x</a:t>
              </a:r>
              <a:r>
                <a:rPr lang="en-US" altLang="zh-CN" sz="3200" baseline="-25000" dirty="0">
                  <a:solidFill>
                    <a:srgbClr val="060606"/>
                  </a:solidFill>
                </a:rPr>
                <a:t>1</a:t>
              </a:r>
              <a:r>
                <a:rPr lang="en-US" altLang="zh-CN" sz="3200" dirty="0">
                  <a:solidFill>
                    <a:srgbClr val="060606"/>
                  </a:solidFill>
                </a:rPr>
                <a:t> +0.1x</a:t>
              </a:r>
              <a:r>
                <a:rPr lang="en-US" altLang="zh-CN" sz="3200" baseline="-25000" dirty="0">
                  <a:solidFill>
                    <a:srgbClr val="060606"/>
                  </a:solidFill>
                </a:rPr>
                <a:t>2</a:t>
              </a:r>
              <a:r>
                <a:rPr lang="en-US" altLang="zh-CN" sz="3200" dirty="0">
                  <a:solidFill>
                    <a:srgbClr val="060606"/>
                  </a:solidFill>
                </a:rPr>
                <a:t> +x</a:t>
              </a:r>
              <a:r>
                <a:rPr lang="en-US" altLang="zh-CN" sz="3200" baseline="-25000" dirty="0">
                  <a:solidFill>
                    <a:srgbClr val="060606"/>
                  </a:solidFill>
                </a:rPr>
                <a:t>3</a:t>
              </a:r>
              <a:r>
                <a:rPr lang="en-US" altLang="zh-CN" sz="3200" dirty="0">
                  <a:solidFill>
                    <a:srgbClr val="060606"/>
                  </a:solidFill>
                </a:rPr>
                <a:t>                            = 2.7</a:t>
              </a:r>
              <a:endParaRPr lang="zh-CN" altLang="en-US" sz="3200" dirty="0"/>
            </a:p>
          </p:txBody>
        </p:sp>
        <p:sp>
          <p:nvSpPr>
            <p:cNvPr id="13" name="矩形 12"/>
            <p:cNvSpPr/>
            <p:nvPr/>
          </p:nvSpPr>
          <p:spPr>
            <a:xfrm>
              <a:off x="4499992" y="5402833"/>
              <a:ext cx="6655989" cy="584775"/>
            </a:xfrm>
            <a:prstGeom prst="rect">
              <a:avLst/>
            </a:prstGeom>
          </p:spPr>
          <p:txBody>
            <a:bodyPr wrap="none">
              <a:spAutoFit/>
            </a:bodyPr>
            <a:lstStyle/>
            <a:p>
              <a:r>
                <a:rPr lang="en-US" altLang="zh-CN" sz="3200" dirty="0">
                  <a:solidFill>
                    <a:srgbClr val="060606"/>
                  </a:solidFill>
                </a:rPr>
                <a:t>0.6x</a:t>
              </a:r>
              <a:r>
                <a:rPr lang="en-US" altLang="zh-CN" sz="3200" baseline="-25000" dirty="0">
                  <a:solidFill>
                    <a:srgbClr val="060606"/>
                  </a:solidFill>
                </a:rPr>
                <a:t>1</a:t>
              </a:r>
              <a:r>
                <a:rPr lang="en-US" altLang="zh-CN" sz="3200" dirty="0">
                  <a:solidFill>
                    <a:srgbClr val="060606"/>
                  </a:solidFill>
                </a:rPr>
                <a:t>+0.4x</a:t>
              </a:r>
              <a:r>
                <a:rPr lang="en-US" altLang="zh-CN" sz="3200" baseline="-25000" dirty="0">
                  <a:solidFill>
                    <a:srgbClr val="060606"/>
                  </a:solidFill>
                </a:rPr>
                <a:t>2</a:t>
              </a:r>
              <a:r>
                <a:rPr lang="en-US" altLang="zh-CN" sz="3200" dirty="0">
                  <a:solidFill>
                    <a:srgbClr val="060606"/>
                  </a:solidFill>
                </a:rPr>
                <a:t>                </a:t>
              </a:r>
              <a:r>
                <a:rPr lang="en-US" altLang="zh-CN" sz="3200" dirty="0">
                  <a:solidFill>
                    <a:srgbClr val="FF0000"/>
                  </a:solidFill>
                </a:rPr>
                <a:t>-</a:t>
              </a:r>
              <a:r>
                <a:rPr lang="en-US" altLang="zh-CN" sz="3200" dirty="0">
                  <a:solidFill>
                    <a:srgbClr val="060606"/>
                  </a:solidFill>
                </a:rPr>
                <a:t> x</a:t>
              </a:r>
              <a:r>
                <a:rPr lang="en-US" altLang="zh-CN" sz="3200" baseline="-25000" dirty="0">
                  <a:solidFill>
                    <a:srgbClr val="060606"/>
                  </a:solidFill>
                </a:rPr>
                <a:t>5 </a:t>
              </a:r>
              <a:r>
                <a:rPr lang="en-US" altLang="zh-CN" sz="3200" dirty="0">
                  <a:solidFill>
                    <a:srgbClr val="060606"/>
                  </a:solidFill>
                </a:rPr>
                <a:t> </a:t>
              </a:r>
              <a:r>
                <a:rPr lang="en-US" altLang="zh-CN" sz="3200" dirty="0">
                  <a:solidFill>
                    <a:srgbClr val="FF0000"/>
                  </a:solidFill>
                </a:rPr>
                <a:t> + x</a:t>
              </a:r>
              <a:r>
                <a:rPr lang="en-US" altLang="zh-CN" sz="3200" baseline="-25000" dirty="0">
                  <a:solidFill>
                    <a:srgbClr val="FF0000"/>
                  </a:solidFill>
                </a:rPr>
                <a:t>6</a:t>
              </a:r>
              <a:r>
                <a:rPr lang="en-US" altLang="zh-CN" sz="3200" dirty="0">
                  <a:solidFill>
                    <a:srgbClr val="060606"/>
                  </a:solidFill>
                </a:rPr>
                <a:t>    = 6</a:t>
              </a:r>
              <a:endParaRPr lang="zh-CN" altLang="en-US" sz="3200" dirty="0"/>
            </a:p>
          </p:txBody>
        </p:sp>
        <p:sp>
          <p:nvSpPr>
            <p:cNvPr id="14" name="矩形 13"/>
            <p:cNvSpPr/>
            <p:nvPr/>
          </p:nvSpPr>
          <p:spPr>
            <a:xfrm>
              <a:off x="4572000" y="5906889"/>
              <a:ext cx="8760296" cy="584775"/>
            </a:xfrm>
            <a:prstGeom prst="rect">
              <a:avLst/>
            </a:prstGeom>
          </p:spPr>
          <p:txBody>
            <a:bodyPr wrap="square">
              <a:spAutoFit/>
            </a:bodyPr>
            <a:lstStyle/>
            <a:p>
              <a:r>
                <a:rPr lang="en-US" altLang="zh-CN" sz="3200" dirty="0">
                  <a:solidFill>
                    <a:srgbClr val="060606"/>
                  </a:solidFill>
                </a:rPr>
                <a:t>x</a:t>
              </a:r>
              <a:r>
                <a:rPr lang="en-US" altLang="zh-CN" sz="3200" baseline="-25000" dirty="0">
                  <a:solidFill>
                    <a:srgbClr val="060606"/>
                  </a:solidFill>
                </a:rPr>
                <a:t>1</a:t>
              </a:r>
              <a:r>
                <a:rPr lang="en-US" altLang="zh-CN" sz="3200" dirty="0">
                  <a:solidFill>
                    <a:srgbClr val="060606"/>
                  </a:solidFill>
                </a:rPr>
                <a:t> ≥0</a:t>
              </a:r>
              <a:r>
                <a:rPr lang="zh-CN" altLang="en-US" sz="3200" dirty="0">
                  <a:solidFill>
                    <a:srgbClr val="060606"/>
                  </a:solidFill>
                </a:rPr>
                <a:t>，</a:t>
              </a:r>
              <a:r>
                <a:rPr lang="en-US" altLang="zh-CN" sz="3200" dirty="0">
                  <a:solidFill>
                    <a:srgbClr val="060606"/>
                  </a:solidFill>
                </a:rPr>
                <a:t>x</a:t>
              </a:r>
              <a:r>
                <a:rPr lang="en-US" altLang="zh-CN" sz="3200" baseline="-25000" dirty="0">
                  <a:solidFill>
                    <a:srgbClr val="060606"/>
                  </a:solidFill>
                </a:rPr>
                <a:t>2</a:t>
              </a:r>
              <a:r>
                <a:rPr lang="en-US" altLang="zh-CN" sz="3200" dirty="0">
                  <a:solidFill>
                    <a:srgbClr val="060606"/>
                  </a:solidFill>
                </a:rPr>
                <a:t> ≥0 , x</a:t>
              </a:r>
              <a:r>
                <a:rPr lang="en-US" altLang="zh-CN" sz="3200" baseline="-25000" dirty="0">
                  <a:solidFill>
                    <a:srgbClr val="060606"/>
                  </a:solidFill>
                </a:rPr>
                <a:t>3</a:t>
              </a:r>
              <a:r>
                <a:rPr lang="en-US" altLang="zh-CN" sz="3200" dirty="0">
                  <a:solidFill>
                    <a:srgbClr val="060606"/>
                  </a:solidFill>
                </a:rPr>
                <a:t> ≥0 </a:t>
              </a:r>
              <a:r>
                <a:rPr lang="zh-CN" altLang="en-US" sz="3200" dirty="0">
                  <a:solidFill>
                    <a:srgbClr val="060606"/>
                  </a:solidFill>
                </a:rPr>
                <a:t>，</a:t>
              </a:r>
              <a:r>
                <a:rPr lang="en-US" altLang="zh-CN" sz="3200" dirty="0">
                  <a:solidFill>
                    <a:srgbClr val="060606"/>
                  </a:solidFill>
                </a:rPr>
                <a:t> x</a:t>
              </a:r>
              <a:r>
                <a:rPr lang="en-US" altLang="zh-CN" sz="3200" baseline="-25000" dirty="0">
                  <a:solidFill>
                    <a:srgbClr val="060606"/>
                  </a:solidFill>
                </a:rPr>
                <a:t>4</a:t>
              </a:r>
              <a:r>
                <a:rPr lang="en-US" altLang="zh-CN" sz="3200" dirty="0">
                  <a:solidFill>
                    <a:srgbClr val="060606"/>
                  </a:solidFill>
                </a:rPr>
                <a:t> ≥0,x</a:t>
              </a:r>
              <a:r>
                <a:rPr lang="en-US" altLang="zh-CN" sz="3200" baseline="-25000" dirty="0">
                  <a:solidFill>
                    <a:srgbClr val="060606"/>
                  </a:solidFill>
                </a:rPr>
                <a:t>5</a:t>
              </a:r>
              <a:r>
                <a:rPr lang="en-US" altLang="zh-CN" sz="3200" dirty="0">
                  <a:solidFill>
                    <a:srgbClr val="060606"/>
                  </a:solidFill>
                </a:rPr>
                <a:t> ≥0 </a:t>
              </a:r>
              <a:r>
                <a:rPr lang="zh-CN" altLang="en-US" sz="3200" dirty="0">
                  <a:solidFill>
                    <a:srgbClr val="060606"/>
                  </a:solidFill>
                </a:rPr>
                <a:t>，</a:t>
              </a:r>
              <a:r>
                <a:rPr lang="en-US" altLang="zh-CN" sz="3200" dirty="0">
                  <a:solidFill>
                    <a:srgbClr val="060606"/>
                  </a:solidFill>
                </a:rPr>
                <a:t>x</a:t>
              </a:r>
              <a:r>
                <a:rPr lang="en-US" altLang="zh-CN" sz="3200" baseline="-25000" dirty="0">
                  <a:solidFill>
                    <a:srgbClr val="060606"/>
                  </a:solidFill>
                </a:rPr>
                <a:t>6</a:t>
              </a:r>
              <a:r>
                <a:rPr lang="en-US" altLang="zh-CN" sz="3200" dirty="0">
                  <a:solidFill>
                    <a:srgbClr val="060606"/>
                  </a:solidFill>
                </a:rPr>
                <a:t> ≥0 </a:t>
              </a:r>
              <a:endParaRPr lang="zh-CN" altLang="en-US" sz="3200" dirty="0">
                <a:solidFill>
                  <a:srgbClr val="060606"/>
                </a:solidFill>
              </a:endParaRPr>
            </a:p>
          </p:txBody>
        </p:sp>
        <p:sp>
          <p:nvSpPr>
            <p:cNvPr id="15" name="矩形 14"/>
            <p:cNvSpPr/>
            <p:nvPr/>
          </p:nvSpPr>
          <p:spPr>
            <a:xfrm>
              <a:off x="4427984" y="4970785"/>
              <a:ext cx="6723315" cy="584775"/>
            </a:xfrm>
            <a:prstGeom prst="rect">
              <a:avLst/>
            </a:prstGeom>
          </p:spPr>
          <p:txBody>
            <a:bodyPr wrap="none">
              <a:spAutoFit/>
            </a:bodyPr>
            <a:lstStyle/>
            <a:p>
              <a:r>
                <a:rPr lang="en-US" altLang="zh-CN" sz="3200" dirty="0">
                  <a:solidFill>
                    <a:srgbClr val="060606"/>
                  </a:solidFill>
                </a:rPr>
                <a:t>0.5x</a:t>
              </a:r>
              <a:r>
                <a:rPr lang="en-US" altLang="zh-CN" sz="3200" baseline="-25000" dirty="0">
                  <a:solidFill>
                    <a:srgbClr val="060606"/>
                  </a:solidFill>
                </a:rPr>
                <a:t>1</a:t>
              </a:r>
              <a:r>
                <a:rPr lang="en-US" altLang="zh-CN" sz="3200" dirty="0">
                  <a:solidFill>
                    <a:srgbClr val="060606"/>
                  </a:solidFill>
                </a:rPr>
                <a:t> + 0.5x</a:t>
              </a:r>
              <a:r>
                <a:rPr lang="en-US" altLang="zh-CN" sz="3200" baseline="-25000" dirty="0">
                  <a:solidFill>
                    <a:srgbClr val="060606"/>
                  </a:solidFill>
                </a:rPr>
                <a:t>2</a:t>
              </a:r>
              <a:r>
                <a:rPr lang="en-US" altLang="zh-CN" sz="3200" dirty="0">
                  <a:solidFill>
                    <a:srgbClr val="060606"/>
                  </a:solidFill>
                </a:rPr>
                <a:t>       </a:t>
              </a:r>
              <a:r>
                <a:rPr lang="en-US" altLang="zh-CN" sz="3200" dirty="0">
                  <a:solidFill>
                    <a:srgbClr val="FF0000"/>
                  </a:solidFill>
                </a:rPr>
                <a:t>+ x</a:t>
              </a:r>
              <a:r>
                <a:rPr lang="en-US" altLang="zh-CN" sz="3200" baseline="-25000" dirty="0">
                  <a:solidFill>
                    <a:srgbClr val="FF0000"/>
                  </a:solidFill>
                </a:rPr>
                <a:t>4</a:t>
              </a:r>
              <a:r>
                <a:rPr lang="en-US" altLang="zh-CN" sz="3200" dirty="0">
                  <a:solidFill>
                    <a:srgbClr val="FF0000"/>
                  </a:solidFill>
                </a:rPr>
                <a:t>                    = </a:t>
              </a:r>
              <a:r>
                <a:rPr lang="en-US" altLang="zh-CN" sz="3200" dirty="0">
                  <a:solidFill>
                    <a:srgbClr val="060606"/>
                  </a:solidFill>
                </a:rPr>
                <a:t>6</a:t>
              </a:r>
              <a:endParaRPr lang="zh-CN" altLang="en-US" sz="3200" dirty="0">
                <a:solidFill>
                  <a:srgbClr val="060606"/>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9851" y="91440"/>
            <a:ext cx="4288353" cy="584775"/>
          </a:xfrm>
          <a:prstGeom prst="rect">
            <a:avLst/>
          </a:prstGeom>
        </p:spPr>
        <p:txBody>
          <a:bodyPr wrap="none">
            <a:spAutoFit/>
          </a:bodyPr>
          <a:lstStyle/>
          <a:p>
            <a:r>
              <a:rPr lang="zh-CN" altLang="en-US" sz="3200" dirty="0">
                <a:solidFill>
                  <a:srgbClr val="060606"/>
                </a:solidFill>
                <a:latin typeface="+mn-ea"/>
              </a:rPr>
              <a:t>使用单纯形法进行求解</a:t>
            </a:r>
            <a:endParaRPr lang="zh-CN" altLang="en-US" sz="3200" dirty="0"/>
          </a:p>
        </p:txBody>
      </p:sp>
      <p:graphicFrame>
        <p:nvGraphicFramePr>
          <p:cNvPr id="4" name="表格 3"/>
          <p:cNvGraphicFramePr>
            <a:graphicFrameLocks noGrp="1"/>
          </p:cNvGraphicFramePr>
          <p:nvPr/>
        </p:nvGraphicFramePr>
        <p:xfrm>
          <a:off x="751840" y="925096"/>
          <a:ext cx="11176000" cy="2468880"/>
        </p:xfrm>
        <a:graphic>
          <a:graphicData uri="http://schemas.openxmlformats.org/drawingml/2006/table">
            <a:tbl>
              <a:tblPr firstRow="1" bandRow="1">
                <a:tableStyleId>{5C22544A-7EE6-4342-B048-85BDC9FD1C3A}</a:tableStyleId>
              </a:tblPr>
              <a:tblGrid>
                <a:gridCol w="931333"/>
                <a:gridCol w="8475134"/>
                <a:gridCol w="1769533"/>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zh-CN" altLang="en-US" sz="2400" baseline="0" dirty="0">
                          <a:solidFill>
                            <a:srgbClr val="060606"/>
                          </a:solidFill>
                        </a:rPr>
                        <a:t>比值</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r>
                        <a:rPr lang="en-US" altLang="zh-CN" sz="2400" dirty="0">
                          <a:solidFill>
                            <a:srgbClr val="060606"/>
                          </a:solidFill>
                        </a:rPr>
                        <a:t>-z</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3</a:t>
                      </a:r>
                      <a:endParaRPr lang="en-US" altLang="zh-CN" sz="2400" baseline="-25000" dirty="0">
                        <a:solidFill>
                          <a:srgbClr val="060606"/>
                        </a:solidFill>
                      </a:endParaRPr>
                    </a:p>
                    <a:p>
                      <a:r>
                        <a:rPr lang="en-US" altLang="zh-CN" sz="2400" dirty="0">
                          <a:solidFill>
                            <a:srgbClr val="060606"/>
                          </a:solidFill>
                        </a:rPr>
                        <a:t>x</a:t>
                      </a:r>
                      <a:r>
                        <a:rPr lang="en-US" altLang="zh-CN" sz="2400" baseline="-25000" dirty="0">
                          <a:solidFill>
                            <a:srgbClr val="060606"/>
                          </a:solidFill>
                        </a:rPr>
                        <a:t>4</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6</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0.4-1.1M    0.5-0.9M      0         </a:t>
                      </a:r>
                      <a:r>
                        <a:rPr lang="en-US" altLang="zh-CN" sz="2400" dirty="0" err="1">
                          <a:solidFill>
                            <a:srgbClr val="060606"/>
                          </a:solidFill>
                        </a:rPr>
                        <a:t>0</a:t>
                      </a:r>
                      <a:r>
                        <a:rPr lang="en-US" altLang="zh-CN" sz="2400" dirty="0">
                          <a:solidFill>
                            <a:srgbClr val="060606"/>
                          </a:solidFill>
                        </a:rPr>
                        <a:t>            M          0</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0.3            0.1               1         0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0          0.5            </a:t>
                      </a:r>
                      <a:r>
                        <a:rPr lang="en-US" altLang="zh-CN" sz="2400" baseline="0" dirty="0" err="1">
                          <a:solidFill>
                            <a:srgbClr val="060606"/>
                          </a:solidFill>
                        </a:rPr>
                        <a:t>0.5</a:t>
                      </a:r>
                      <a:r>
                        <a:rPr lang="en-US" altLang="zh-CN" sz="2400" baseline="0" dirty="0">
                          <a:solidFill>
                            <a:srgbClr val="060606"/>
                          </a:solidFill>
                        </a:rPr>
                        <a:t>               0          1            0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0          0.6            0.4               0          </a:t>
                      </a:r>
                      <a:r>
                        <a:rPr lang="en-US" altLang="zh-CN" sz="2400" baseline="0" dirty="0" err="1">
                          <a:solidFill>
                            <a:srgbClr val="060606"/>
                          </a:solidFill>
                        </a:rPr>
                        <a:t>0</a:t>
                      </a:r>
                      <a:r>
                        <a:rPr lang="en-US" altLang="zh-CN" sz="2400" baseline="0" dirty="0">
                          <a:solidFill>
                            <a:srgbClr val="060606"/>
                          </a:solidFill>
                        </a:rPr>
                        <a:t>            -1         1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-12M</a:t>
                      </a:r>
                      <a:endParaRPr lang="en-US" altLang="zh-CN" sz="2400" dirty="0">
                        <a:solidFill>
                          <a:srgbClr val="060606"/>
                        </a:solidFill>
                      </a:endParaRPr>
                    </a:p>
                    <a:p>
                      <a:r>
                        <a:rPr lang="en-US" altLang="zh-CN" sz="2400" dirty="0">
                          <a:solidFill>
                            <a:srgbClr val="060606"/>
                          </a:solidFill>
                        </a:rPr>
                        <a:t>2.7</a:t>
                      </a:r>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r>
                        <a:rPr lang="en-US" altLang="zh-CN" sz="2400" dirty="0">
                          <a:solidFill>
                            <a:srgbClr val="060606"/>
                          </a:solidFill>
                        </a:rPr>
                        <a:t>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13" name="表格 12"/>
          <p:cNvGraphicFramePr>
            <a:graphicFrameLocks noGrp="1"/>
          </p:cNvGraphicFramePr>
          <p:nvPr/>
        </p:nvGraphicFramePr>
        <p:xfrm>
          <a:off x="751840" y="3454936"/>
          <a:ext cx="11176000" cy="2967072"/>
        </p:xfrm>
        <a:graphic>
          <a:graphicData uri="http://schemas.openxmlformats.org/drawingml/2006/table">
            <a:tbl>
              <a:tblPr firstRow="1" bandRow="1">
                <a:tableStyleId>{5C22544A-7EE6-4342-B048-85BDC9FD1C3A}</a:tableStyleId>
              </a:tblPr>
              <a:tblGrid>
                <a:gridCol w="931333"/>
                <a:gridCol w="8475134"/>
                <a:gridCol w="1769533"/>
              </a:tblGrid>
              <a:tr h="2967072">
                <a:tc>
                  <a:txBody>
                    <a:bodyPr/>
                    <a:lstStyle/>
                    <a:p>
                      <a:r>
                        <a:rPr lang="en-US" altLang="zh-CN" sz="2400" dirty="0">
                          <a:solidFill>
                            <a:srgbClr val="060606"/>
                          </a:solidFill>
                        </a:rPr>
                        <a:t>-z</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r>
                        <a:rPr lang="en-US" altLang="zh-CN" sz="2400" dirty="0">
                          <a:solidFill>
                            <a:srgbClr val="060606"/>
                          </a:solidFill>
                        </a:rPr>
                        <a:t>x</a:t>
                      </a:r>
                      <a:r>
                        <a:rPr lang="en-US" altLang="zh-CN" sz="2400" baseline="-25000" dirty="0">
                          <a:solidFill>
                            <a:srgbClr val="060606"/>
                          </a:solidFill>
                        </a:rPr>
                        <a:t>4</a:t>
                      </a:r>
                      <a:endParaRPr lang="en-US" altLang="zh-CN" sz="2400" dirty="0">
                        <a:solidFill>
                          <a:srgbClr val="060606"/>
                        </a:solidFill>
                      </a:endParaRPr>
                    </a:p>
                    <a:p>
                      <a:r>
                        <a:rPr lang="en-US" altLang="zh-CN" sz="2400" baseline="0" dirty="0">
                          <a:solidFill>
                            <a:srgbClr val="060606"/>
                          </a:solidFill>
                        </a:rPr>
                        <a:t>x</a:t>
                      </a:r>
                      <a:r>
                        <a:rPr lang="en-US" altLang="zh-CN" sz="2400" baseline="-25000" dirty="0">
                          <a:solidFill>
                            <a:srgbClr val="060606"/>
                          </a:solidFill>
                        </a:rPr>
                        <a:t>6</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0   1/30-16M/30  11M/3-4/3     0           M       0</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1/3           10/3            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1/3            -5/3            1            0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0.2              -2               0           -1       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solidFill>
                            <a:srgbClr val="060606"/>
                          </a:solidFill>
                        </a:rPr>
                        <a:t>-2.1M-4.7</a:t>
                      </a:r>
                      <a:endParaRPr lang="en-US" altLang="zh-CN" sz="2000" dirty="0">
                        <a:solidFill>
                          <a:srgbClr val="060606"/>
                        </a:solidFill>
                      </a:endParaRPr>
                    </a:p>
                    <a:p>
                      <a:r>
                        <a:rPr lang="en-US" altLang="zh-CN" sz="2400" dirty="0">
                          <a:solidFill>
                            <a:srgbClr val="060606"/>
                          </a:solidFill>
                        </a:rPr>
                        <a:t>9</a:t>
                      </a:r>
                      <a:endParaRPr lang="en-US" altLang="zh-CN" sz="2400" dirty="0">
                        <a:solidFill>
                          <a:srgbClr val="060606"/>
                        </a:solidFill>
                      </a:endParaRPr>
                    </a:p>
                    <a:p>
                      <a:r>
                        <a:rPr lang="en-US" altLang="zh-CN" sz="2400" dirty="0">
                          <a:solidFill>
                            <a:srgbClr val="060606"/>
                          </a:solidFill>
                        </a:rPr>
                        <a:t>1.5</a:t>
                      </a:r>
                      <a:endParaRPr lang="en-US" altLang="zh-CN" sz="2400" dirty="0">
                        <a:solidFill>
                          <a:srgbClr val="060606"/>
                        </a:solidFill>
                      </a:endParaRPr>
                    </a:p>
                    <a:p>
                      <a:r>
                        <a:rPr lang="en-US" altLang="zh-CN" sz="2400" dirty="0">
                          <a:solidFill>
                            <a:srgbClr val="060606"/>
                          </a:solidFill>
                        </a:rPr>
                        <a:t>0.6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69857" y="5163801"/>
            <a:ext cx="5756704" cy="954107"/>
          </a:xfrm>
          <a:prstGeom prst="rect">
            <a:avLst/>
          </a:prstGeom>
        </p:spPr>
        <p:txBody>
          <a:bodyPr wrap="none">
            <a:spAutoFit/>
          </a:bodyPr>
          <a:lstStyle/>
          <a:p>
            <a:r>
              <a:rPr lang="en-US" altLang="zh-CN" sz="2800" b="1" dirty="0">
                <a:solidFill>
                  <a:srgbClr val="060606"/>
                </a:solidFill>
                <a:latin typeface="+mn-ea"/>
              </a:rPr>
              <a:t>x</a:t>
            </a:r>
            <a:r>
              <a:rPr lang="en-US" altLang="zh-CN" sz="2800" dirty="0">
                <a:solidFill>
                  <a:srgbClr val="060606"/>
                </a:solidFill>
                <a:latin typeface="+mn-ea"/>
              </a:rPr>
              <a:t> = (7.5,4.5,0,0,0.3,0)</a:t>
            </a:r>
            <a:r>
              <a:rPr lang="zh-CN" altLang="en-US" sz="2800" dirty="0">
                <a:solidFill>
                  <a:srgbClr val="060606"/>
                </a:solidFill>
                <a:latin typeface="+mn-ea"/>
              </a:rPr>
              <a:t>，人工变量 </a:t>
            </a:r>
            <a:r>
              <a:rPr lang="en-US" altLang="zh-CN" sz="2800" dirty="0">
                <a:solidFill>
                  <a:srgbClr val="060606"/>
                </a:solidFill>
                <a:latin typeface="+mn-ea"/>
              </a:rPr>
              <a:t>= 0</a:t>
            </a:r>
            <a:endParaRPr lang="en-US" altLang="zh-CN" sz="2800" dirty="0"/>
          </a:p>
          <a:p>
            <a:r>
              <a:rPr lang="en-US" altLang="zh-CN" sz="2800" dirty="0">
                <a:solidFill>
                  <a:srgbClr val="060606"/>
                </a:solidFill>
                <a:latin typeface="+mn-ea"/>
              </a:rPr>
              <a:t>max-z = -5.25=&gt;</a:t>
            </a:r>
            <a:r>
              <a:rPr lang="en-US" altLang="zh-CN" sz="2800" dirty="0" err="1">
                <a:solidFill>
                  <a:srgbClr val="060606"/>
                </a:solidFill>
                <a:latin typeface="+mn-ea"/>
              </a:rPr>
              <a:t>minz</a:t>
            </a:r>
            <a:r>
              <a:rPr lang="en-US" altLang="zh-CN" sz="2800" dirty="0">
                <a:solidFill>
                  <a:srgbClr val="060606"/>
                </a:solidFill>
                <a:latin typeface="+mn-ea"/>
              </a:rPr>
              <a:t> = 5.25</a:t>
            </a:r>
            <a:endParaRPr lang="en-US" altLang="zh-CN" sz="2800" dirty="0">
              <a:solidFill>
                <a:srgbClr val="060606"/>
              </a:solidFill>
              <a:latin typeface="+mn-ea"/>
            </a:endParaRPr>
          </a:p>
        </p:txBody>
      </p:sp>
      <p:graphicFrame>
        <p:nvGraphicFramePr>
          <p:cNvPr id="4" name="表格 3"/>
          <p:cNvGraphicFramePr>
            <a:graphicFrameLocks noGrp="1"/>
          </p:cNvGraphicFramePr>
          <p:nvPr/>
        </p:nvGraphicFramePr>
        <p:xfrm>
          <a:off x="296552" y="628184"/>
          <a:ext cx="11732887" cy="2468880"/>
        </p:xfrm>
        <a:graphic>
          <a:graphicData uri="http://schemas.openxmlformats.org/drawingml/2006/table">
            <a:tbl>
              <a:tblPr firstRow="1" bandRow="1">
                <a:tableStyleId>{5C22544A-7EE6-4342-B048-85BDC9FD1C3A}</a:tableStyleId>
              </a:tblPr>
              <a:tblGrid>
                <a:gridCol w="977741"/>
                <a:gridCol w="8897439"/>
                <a:gridCol w="1857707"/>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zh-CN" altLang="en-US" sz="2400" baseline="0" dirty="0">
                          <a:solidFill>
                            <a:srgbClr val="060606"/>
                          </a:solidFill>
                        </a:rPr>
                        <a:t>比值</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r>
                        <a:rPr lang="en-US" altLang="zh-CN" sz="2400" dirty="0">
                          <a:solidFill>
                            <a:srgbClr val="060606"/>
                          </a:solidFill>
                        </a:rPr>
                        <a:t>-z</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r>
                        <a:rPr lang="en-US" altLang="zh-CN" sz="2400" dirty="0">
                          <a:solidFill>
                            <a:srgbClr val="060606"/>
                          </a:solidFill>
                        </a:rPr>
                        <a:t>x</a:t>
                      </a:r>
                      <a:r>
                        <a:rPr lang="en-US" altLang="zh-CN" sz="2400" baseline="-25000" dirty="0">
                          <a:solidFill>
                            <a:srgbClr val="060606"/>
                          </a:solidFill>
                        </a:rPr>
                        <a:t>4</a:t>
                      </a:r>
                      <a:endParaRPr lang="en-US" altLang="zh-CN" sz="2400" dirty="0">
                        <a:solidFill>
                          <a:srgbClr val="060606"/>
                        </a:solidFill>
                      </a:endParaRPr>
                    </a:p>
                    <a:p>
                      <a:r>
                        <a:rPr lang="en-US" altLang="zh-CN" sz="2400" baseline="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1      0</a:t>
                      </a:r>
                      <a:r>
                        <a:rPr lang="en-US" altLang="zh-CN" sz="2400" baseline="0" dirty="0">
                          <a:solidFill>
                            <a:srgbClr val="060606"/>
                          </a:solidFill>
                        </a:rPr>
                        <a:t>    </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7/3-5M/3    0     11/6-5M/3  8M/3-11/6</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20/3       0          5/3                 -5/3</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5/3      1          5/3                 -5/3</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-10        0            -5                     5</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-M/2-4.7</a:t>
                      </a:r>
                      <a:endParaRPr lang="en-US" altLang="zh-CN" sz="2400" dirty="0">
                        <a:solidFill>
                          <a:srgbClr val="060606"/>
                        </a:solidFill>
                      </a:endParaRPr>
                    </a:p>
                    <a:p>
                      <a:r>
                        <a:rPr lang="en-US" altLang="zh-CN" sz="2400" dirty="0">
                          <a:solidFill>
                            <a:srgbClr val="060606"/>
                          </a:solidFill>
                        </a:rPr>
                        <a:t>8</a:t>
                      </a:r>
                      <a:endParaRPr lang="en-US" altLang="zh-CN" sz="2400" dirty="0">
                        <a:solidFill>
                          <a:srgbClr val="060606"/>
                        </a:solidFill>
                      </a:endParaRPr>
                    </a:p>
                    <a:p>
                      <a:r>
                        <a:rPr lang="en-US" altLang="zh-CN" sz="2400" dirty="0">
                          <a:solidFill>
                            <a:srgbClr val="060606"/>
                          </a:solidFill>
                        </a:rPr>
                        <a:t>0.5</a:t>
                      </a:r>
                      <a:endParaRPr lang="en-US" altLang="zh-CN" sz="2400" dirty="0">
                        <a:solidFill>
                          <a:srgbClr val="060606"/>
                        </a:solidFill>
                      </a:endParaRPr>
                    </a:p>
                    <a:p>
                      <a:r>
                        <a:rPr lang="en-US" altLang="zh-CN" sz="2400" dirty="0">
                          <a:solidFill>
                            <a:srgbClr val="060606"/>
                          </a:solidFill>
                        </a:rPr>
                        <a:t>3</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13" name="表格 12"/>
          <p:cNvGraphicFramePr>
            <a:graphicFrameLocks noGrp="1"/>
          </p:cNvGraphicFramePr>
          <p:nvPr/>
        </p:nvGraphicFramePr>
        <p:xfrm>
          <a:off x="290384" y="3178160"/>
          <a:ext cx="11739056" cy="1554480"/>
        </p:xfrm>
        <a:graphic>
          <a:graphicData uri="http://schemas.openxmlformats.org/drawingml/2006/table">
            <a:tbl>
              <a:tblPr firstRow="1" bandRow="1">
                <a:tableStyleId>{5C22544A-7EE6-4342-B048-85BDC9FD1C3A}</a:tableStyleId>
              </a:tblPr>
              <a:tblGrid>
                <a:gridCol w="978255"/>
                <a:gridCol w="8902117"/>
                <a:gridCol w="1858684"/>
              </a:tblGrid>
              <a:tr h="370840">
                <a:tc>
                  <a:txBody>
                    <a:bodyPr/>
                    <a:lstStyle/>
                    <a:p>
                      <a:r>
                        <a:rPr lang="en-US" altLang="zh-CN" sz="2400" dirty="0">
                          <a:solidFill>
                            <a:srgbClr val="060606"/>
                          </a:solidFill>
                        </a:rPr>
                        <a:t>-z</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a:p>
                      <a:r>
                        <a:rPr lang="en-US" altLang="zh-CN" sz="2400" baseline="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1      0       </a:t>
                      </a:r>
                      <a:r>
                        <a:rPr lang="en-US" altLang="zh-CN" sz="2400" dirty="0" err="1">
                          <a:solidFill>
                            <a:srgbClr val="060606"/>
                          </a:solidFill>
                        </a:rPr>
                        <a:t>0</a:t>
                      </a:r>
                      <a:r>
                        <a:rPr lang="en-US" altLang="zh-CN" sz="2400" dirty="0">
                          <a:solidFill>
                            <a:srgbClr val="060606"/>
                          </a:solidFill>
                        </a:rPr>
                        <a:t>        0.5     M-11/10           0             M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5           -1                    0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3/5                  1            -1</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-5              3                  0              </a:t>
                      </a:r>
                      <a:r>
                        <a:rPr lang="en-US" altLang="zh-CN" sz="2400" baseline="0" dirty="0" err="1">
                          <a:solidFill>
                            <a:srgbClr val="060606"/>
                          </a:solidFill>
                        </a:rPr>
                        <a:t>0</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-5.25</a:t>
                      </a:r>
                      <a:endParaRPr lang="en-US" altLang="zh-CN" sz="2400" dirty="0">
                        <a:solidFill>
                          <a:srgbClr val="060606"/>
                        </a:solidFill>
                      </a:endParaRPr>
                    </a:p>
                    <a:p>
                      <a:r>
                        <a:rPr lang="en-US" altLang="zh-CN" sz="2400" dirty="0">
                          <a:solidFill>
                            <a:srgbClr val="060606"/>
                          </a:solidFill>
                        </a:rPr>
                        <a:t>7.5</a:t>
                      </a:r>
                      <a:endParaRPr lang="en-US" altLang="zh-CN" sz="2400" dirty="0">
                        <a:solidFill>
                          <a:srgbClr val="060606"/>
                        </a:solidFill>
                      </a:endParaRPr>
                    </a:p>
                    <a:p>
                      <a:r>
                        <a:rPr lang="en-US" altLang="zh-CN" sz="2400" dirty="0">
                          <a:solidFill>
                            <a:srgbClr val="060606"/>
                          </a:solidFill>
                        </a:rPr>
                        <a:t>0.3</a:t>
                      </a:r>
                      <a:endParaRPr lang="en-US" altLang="zh-CN" sz="2400" dirty="0">
                        <a:solidFill>
                          <a:srgbClr val="060606"/>
                        </a:solidFill>
                      </a:endParaRPr>
                    </a:p>
                    <a:p>
                      <a:r>
                        <a:rPr lang="en-US" altLang="zh-CN" sz="2400" dirty="0">
                          <a:solidFill>
                            <a:srgbClr val="060606"/>
                          </a:solidFill>
                        </a:rPr>
                        <a:t>4.5</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2000"/>
                                        <p:tgtEl>
                                          <p:spTgt spid="2">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animEffect transition="in" filter="fade">
                                      <p:cBhvr>
                                        <p:cTn id="16" dur="20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a:t>
            </a:r>
            <a:r>
              <a:rPr lang="zh-CN" altLang="en-US" dirty="0"/>
              <a:t>其它标准形的两阶段法</a:t>
            </a:r>
            <a:endParaRPr lang="zh-CN" altLang="en-US" dirty="0"/>
          </a:p>
        </p:txBody>
      </p:sp>
      <p:sp>
        <p:nvSpPr>
          <p:cNvPr id="3" name="文本占位符 2"/>
          <p:cNvSpPr>
            <a:spLocks noGrp="1"/>
          </p:cNvSpPr>
          <p:nvPr>
            <p:ph type="body" idx="1"/>
          </p:nvPr>
        </p:nvSpPr>
        <p:spPr/>
        <p:txBody>
          <a:bodyPr/>
          <a:lstStyle/>
          <a:p>
            <a:r>
              <a:rPr lang="zh-CN" altLang="en-US" dirty="0">
                <a:solidFill>
                  <a:srgbClr val="0322BD"/>
                </a:solidFill>
              </a:rPr>
              <a:t>为了克服计算机不能处理</a:t>
            </a:r>
            <a:r>
              <a:rPr lang="en-US" altLang="zh-CN" dirty="0">
                <a:solidFill>
                  <a:srgbClr val="0322BD"/>
                </a:solidFill>
              </a:rPr>
              <a:t>M(=+∞)</a:t>
            </a:r>
            <a:r>
              <a:rPr lang="zh-CN" altLang="en-US" dirty="0">
                <a:solidFill>
                  <a:srgbClr val="0322BD"/>
                </a:solidFill>
              </a:rPr>
              <a:t>的困难，可以对添加人工变量后的线性规划问题分两个阶段来计算，称为两阶段法。</a:t>
            </a:r>
            <a:endParaRPr lang="zh-CN" altLang="en-US" dirty="0">
              <a:solidFill>
                <a:srgbClr val="0322BD"/>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7384"/>
            <a:ext cx="8229600" cy="793750"/>
          </a:xfrm>
        </p:spPr>
        <p:txBody>
          <a:bodyPr>
            <a:normAutofit/>
          </a:bodyPr>
          <a:lstStyle/>
          <a:p>
            <a:r>
              <a:rPr lang="zh-CN" altLang="en-US" sz="3200" dirty="0"/>
              <a:t>两阶段法步骤</a:t>
            </a:r>
            <a:endParaRPr lang="zh-CN" altLang="en-US" sz="3200" dirty="0"/>
          </a:p>
        </p:txBody>
      </p:sp>
      <p:sp>
        <p:nvSpPr>
          <p:cNvPr id="3" name="内容占位符 2"/>
          <p:cNvSpPr>
            <a:spLocks noGrp="1"/>
          </p:cNvSpPr>
          <p:nvPr>
            <p:ph idx="1"/>
          </p:nvPr>
        </p:nvSpPr>
        <p:spPr>
          <a:xfrm>
            <a:off x="0" y="766366"/>
            <a:ext cx="11938000" cy="5758978"/>
          </a:xfrm>
        </p:spPr>
        <p:txBody>
          <a:bodyPr>
            <a:normAutofit/>
          </a:bodyPr>
          <a:lstStyle/>
          <a:p>
            <a:pPr>
              <a:spcBef>
                <a:spcPts val="600"/>
              </a:spcBef>
              <a:buNone/>
            </a:pPr>
            <a:r>
              <a:rPr lang="en-US" altLang="zh-CN" dirty="0">
                <a:solidFill>
                  <a:srgbClr val="060606"/>
                </a:solidFill>
                <a:latin typeface="+mn-ea"/>
              </a:rPr>
              <a:t>1.</a:t>
            </a:r>
            <a:r>
              <a:rPr lang="zh-CN" altLang="en-US" dirty="0">
                <a:solidFill>
                  <a:srgbClr val="060606"/>
                </a:solidFill>
                <a:latin typeface="+mn-ea"/>
              </a:rPr>
              <a:t>将线性规划问题转换为</a:t>
            </a:r>
            <a:r>
              <a:rPr lang="zh-CN" altLang="en-US" dirty="0">
                <a:solidFill>
                  <a:srgbClr val="0000AC"/>
                </a:solidFill>
                <a:latin typeface="+mn-ea"/>
              </a:rPr>
              <a:t>标准形式</a:t>
            </a:r>
            <a:r>
              <a:rPr lang="zh-CN" altLang="en-US" dirty="0">
                <a:solidFill>
                  <a:srgbClr val="060606"/>
                </a:solidFill>
                <a:latin typeface="+mn-ea"/>
              </a:rPr>
              <a:t>的线性规划问题。</a:t>
            </a:r>
            <a:endParaRPr lang="en-US" altLang="zh-CN" dirty="0">
              <a:solidFill>
                <a:srgbClr val="060606"/>
              </a:solidFill>
              <a:latin typeface="+mn-ea"/>
            </a:endParaRPr>
          </a:p>
          <a:p>
            <a:pPr>
              <a:spcBef>
                <a:spcPts val="600"/>
              </a:spcBef>
              <a:buNone/>
            </a:pPr>
            <a:r>
              <a:rPr lang="en-US" altLang="zh-CN" dirty="0">
                <a:solidFill>
                  <a:srgbClr val="060606"/>
                </a:solidFill>
                <a:latin typeface="+mn-ea"/>
              </a:rPr>
              <a:t>2.</a:t>
            </a:r>
            <a:r>
              <a:rPr lang="zh-CN" altLang="en-US" dirty="0">
                <a:solidFill>
                  <a:srgbClr val="060606"/>
                </a:solidFill>
                <a:latin typeface="+mn-ea"/>
              </a:rPr>
              <a:t>添加</a:t>
            </a:r>
            <a:r>
              <a:rPr lang="zh-CN" altLang="en-US" dirty="0">
                <a:solidFill>
                  <a:srgbClr val="FF0000"/>
                </a:solidFill>
                <a:latin typeface="+mn-ea"/>
              </a:rPr>
              <a:t>人工变量</a:t>
            </a:r>
            <a:r>
              <a:rPr lang="zh-CN" altLang="en-US" dirty="0">
                <a:solidFill>
                  <a:srgbClr val="060606"/>
                </a:solidFill>
                <a:latin typeface="+mn-ea"/>
              </a:rPr>
              <a:t>，转化为</a:t>
            </a:r>
            <a:r>
              <a:rPr lang="zh-CN" altLang="en-US" dirty="0">
                <a:solidFill>
                  <a:srgbClr val="0000AC"/>
                </a:solidFill>
                <a:latin typeface="+mn-ea"/>
              </a:rPr>
              <a:t>简单标准形</a:t>
            </a:r>
            <a:r>
              <a:rPr lang="en-US" altLang="zh-CN" dirty="0">
                <a:solidFill>
                  <a:srgbClr val="0000AC"/>
                </a:solidFill>
                <a:latin typeface="+mn-ea"/>
              </a:rPr>
              <a:t>LPQ</a:t>
            </a:r>
            <a:r>
              <a:rPr lang="zh-CN" altLang="en-US" dirty="0">
                <a:solidFill>
                  <a:srgbClr val="060606"/>
                </a:solidFill>
                <a:latin typeface="+mn-ea"/>
              </a:rPr>
              <a:t>。</a:t>
            </a:r>
            <a:endParaRPr lang="en-US" altLang="zh-CN" dirty="0">
              <a:solidFill>
                <a:srgbClr val="060606"/>
              </a:solidFill>
              <a:latin typeface="+mn-ea"/>
            </a:endParaRPr>
          </a:p>
          <a:p>
            <a:pPr>
              <a:spcBef>
                <a:spcPts val="600"/>
              </a:spcBef>
              <a:buNone/>
            </a:pPr>
            <a:r>
              <a:rPr lang="en-US" altLang="zh-CN" dirty="0">
                <a:solidFill>
                  <a:srgbClr val="060606"/>
                </a:solidFill>
                <a:latin typeface="+mn-ea"/>
              </a:rPr>
              <a:t>3.</a:t>
            </a:r>
            <a:r>
              <a:rPr lang="zh-CN" altLang="en-US" dirty="0">
                <a:solidFill>
                  <a:srgbClr val="060606"/>
                </a:solidFill>
                <a:latin typeface="+mn-ea"/>
              </a:rPr>
              <a:t> 在目标函数中考虑人工变量，令目标函数</a:t>
            </a:r>
            <a:r>
              <a:rPr lang="en-US" altLang="zh-CN" dirty="0">
                <a:solidFill>
                  <a:srgbClr val="060606"/>
                </a:solidFill>
                <a:latin typeface="+mn-ea"/>
              </a:rPr>
              <a:t>(max</a:t>
            </a:r>
            <a:r>
              <a:rPr lang="zh-CN" altLang="en-US" dirty="0">
                <a:solidFill>
                  <a:srgbClr val="060606"/>
                </a:solidFill>
                <a:latin typeface="+mn-ea"/>
              </a:rPr>
              <a:t>形</a:t>
            </a:r>
            <a:r>
              <a:rPr lang="zh-CN" altLang="en-US" dirty="0">
                <a:solidFill>
                  <a:srgbClr val="00000C"/>
                </a:solidFill>
                <a:latin typeface="+mn-ea"/>
              </a:rPr>
              <a:t>式</a:t>
            </a:r>
            <a:r>
              <a:rPr lang="en-US" altLang="zh-CN" dirty="0">
                <a:solidFill>
                  <a:srgbClr val="00000C"/>
                </a:solidFill>
                <a:latin typeface="+mn-ea"/>
              </a:rPr>
              <a:t>)</a:t>
            </a:r>
            <a:r>
              <a:rPr lang="zh-CN" altLang="en-US" dirty="0">
                <a:solidFill>
                  <a:srgbClr val="00000C"/>
                </a:solidFill>
                <a:latin typeface="+mn-ea"/>
              </a:rPr>
              <a:t>中人工变量的系数为任意大的一个负数，用“</a:t>
            </a:r>
            <a:r>
              <a:rPr lang="en-US" altLang="zh-CN" dirty="0">
                <a:solidFill>
                  <a:srgbClr val="00000C"/>
                </a:solidFill>
                <a:latin typeface="+mn-ea"/>
              </a:rPr>
              <a:t>-M</a:t>
            </a:r>
            <a:r>
              <a:rPr lang="zh-CN" altLang="en-US" dirty="0">
                <a:solidFill>
                  <a:srgbClr val="00000C"/>
                </a:solidFill>
                <a:latin typeface="+mn-ea"/>
              </a:rPr>
              <a:t>”来表示，</a:t>
            </a:r>
            <a:r>
              <a:rPr lang="en-US" altLang="zh-CN" dirty="0">
                <a:solidFill>
                  <a:srgbClr val="00000C"/>
                </a:solidFill>
                <a:latin typeface="+mn-ea"/>
              </a:rPr>
              <a:t>M = +∞</a:t>
            </a:r>
            <a:r>
              <a:rPr lang="zh-CN" altLang="en-US" dirty="0">
                <a:solidFill>
                  <a:srgbClr val="00000C"/>
                </a:solidFill>
                <a:latin typeface="+mn-ea"/>
              </a:rPr>
              <a:t>。</a:t>
            </a:r>
            <a:endParaRPr lang="en-US" altLang="zh-CN" dirty="0">
              <a:solidFill>
                <a:srgbClr val="00000C"/>
              </a:solidFill>
              <a:latin typeface="+mn-ea"/>
            </a:endParaRPr>
          </a:p>
          <a:p>
            <a:pPr>
              <a:spcBef>
                <a:spcPts val="600"/>
              </a:spcBef>
              <a:buNone/>
            </a:pPr>
            <a:endParaRPr lang="en-US" altLang="zh-CN" dirty="0">
              <a:solidFill>
                <a:srgbClr val="00000C"/>
              </a:solidFill>
              <a:latin typeface="+mn-ea"/>
            </a:endParaRPr>
          </a:p>
          <a:p>
            <a:pPr>
              <a:spcBef>
                <a:spcPts val="600"/>
              </a:spcBef>
              <a:buNone/>
            </a:pPr>
            <a:endParaRPr lang="en-US" altLang="zh-CN" dirty="0">
              <a:solidFill>
                <a:srgbClr val="00000C"/>
              </a:solidFill>
              <a:latin typeface="+mn-ea"/>
            </a:endParaRPr>
          </a:p>
          <a:p>
            <a:pPr>
              <a:spcBef>
                <a:spcPts val="600"/>
              </a:spcBef>
              <a:buNone/>
            </a:pPr>
            <a:r>
              <a:rPr lang="en-US" altLang="zh-CN" dirty="0">
                <a:solidFill>
                  <a:srgbClr val="00000C"/>
                </a:solidFill>
              </a:rPr>
              <a:t>4.</a:t>
            </a:r>
            <a:r>
              <a:rPr lang="zh-CN" altLang="en-US" dirty="0">
                <a:solidFill>
                  <a:srgbClr val="00000C"/>
                </a:solidFill>
              </a:rPr>
              <a:t>第</a:t>
            </a:r>
            <a:r>
              <a:rPr lang="en-US" altLang="zh-CN" dirty="0">
                <a:solidFill>
                  <a:srgbClr val="00000C"/>
                </a:solidFill>
              </a:rPr>
              <a:t>1</a:t>
            </a:r>
            <a:r>
              <a:rPr lang="zh-CN" altLang="en-US" dirty="0">
                <a:solidFill>
                  <a:srgbClr val="00000C"/>
                </a:solidFill>
              </a:rPr>
              <a:t>阶段，用单纯形法求解</a:t>
            </a:r>
            <a:r>
              <a:rPr lang="en-US" altLang="zh-CN" dirty="0" err="1">
                <a:solidFill>
                  <a:srgbClr val="00000C"/>
                </a:solidFill>
              </a:rPr>
              <a:t>maxz</a:t>
            </a:r>
            <a:r>
              <a:rPr lang="en-US" altLang="zh-CN" dirty="0">
                <a:solidFill>
                  <a:srgbClr val="00000C"/>
                </a:solidFill>
              </a:rPr>
              <a:t> = ∑</a:t>
            </a:r>
            <a:r>
              <a:rPr lang="zh-CN" altLang="en-US" dirty="0">
                <a:solidFill>
                  <a:srgbClr val="00000C"/>
                </a:solidFill>
              </a:rPr>
              <a:t>人工变量 和 约束条件组成的方程组。此时，需要</a:t>
            </a:r>
            <a:r>
              <a:rPr lang="zh-CN" altLang="zh-CN" dirty="0">
                <a:solidFill>
                  <a:srgbClr val="00000C"/>
                </a:solidFill>
              </a:rPr>
              <a:t>使目标函数中只包含</a:t>
            </a:r>
            <a:r>
              <a:rPr lang="zh-CN" altLang="zh-CN" u="sng" dirty="0">
                <a:solidFill>
                  <a:srgbClr val="0000AC"/>
                </a:solidFill>
              </a:rPr>
              <a:t>非基变量</a:t>
            </a:r>
            <a:r>
              <a:rPr lang="zh-CN" altLang="zh-CN" dirty="0">
                <a:solidFill>
                  <a:srgbClr val="00000C"/>
                </a:solidFill>
              </a:rPr>
              <a:t>。</a:t>
            </a:r>
            <a:r>
              <a:rPr lang="zh-CN" altLang="en-US" dirty="0">
                <a:solidFill>
                  <a:srgbClr val="00000C"/>
                </a:solidFill>
              </a:rPr>
              <a:t>然后求解得到最优解。</a:t>
            </a:r>
            <a:r>
              <a:rPr lang="zh-CN" altLang="en-US" dirty="0">
                <a:solidFill>
                  <a:srgbClr val="0000AC"/>
                </a:solidFill>
              </a:rPr>
              <a:t>该阶段的目的是获得一个基可行解</a:t>
            </a:r>
            <a:r>
              <a:rPr lang="en-US" altLang="zh-CN" dirty="0">
                <a:solidFill>
                  <a:srgbClr val="FF0000"/>
                </a:solidFill>
              </a:rPr>
              <a:t>[</a:t>
            </a:r>
            <a:r>
              <a:rPr lang="zh-CN" altLang="en-US" dirty="0">
                <a:solidFill>
                  <a:srgbClr val="FF0000"/>
                </a:solidFill>
              </a:rPr>
              <a:t>这个解是满足约束条件</a:t>
            </a:r>
            <a:r>
              <a:rPr lang="en-US" altLang="zh-CN" dirty="0">
                <a:solidFill>
                  <a:srgbClr val="FF0000"/>
                </a:solidFill>
              </a:rPr>
              <a:t>]</a:t>
            </a:r>
            <a:r>
              <a:rPr lang="zh-CN" altLang="en-US" dirty="0">
                <a:solidFill>
                  <a:srgbClr val="00000C"/>
                </a:solidFill>
              </a:rPr>
              <a:t>。</a:t>
            </a:r>
            <a:endParaRPr lang="en-US" altLang="zh-CN" dirty="0">
              <a:solidFill>
                <a:srgbClr val="00000C"/>
              </a:solidFill>
            </a:endParaRPr>
          </a:p>
          <a:p>
            <a:pPr>
              <a:spcBef>
                <a:spcPts val="600"/>
              </a:spcBef>
              <a:buNone/>
            </a:pPr>
            <a:r>
              <a:rPr lang="en-US" altLang="zh-CN" dirty="0">
                <a:solidFill>
                  <a:srgbClr val="00000C"/>
                </a:solidFill>
              </a:rPr>
              <a:t>5.</a:t>
            </a:r>
            <a:r>
              <a:rPr lang="zh-CN" altLang="en-US" dirty="0">
                <a:solidFill>
                  <a:srgbClr val="00000C"/>
                </a:solidFill>
              </a:rPr>
              <a:t>第</a:t>
            </a:r>
            <a:r>
              <a:rPr lang="en-US" altLang="zh-CN" dirty="0">
                <a:solidFill>
                  <a:srgbClr val="00000C"/>
                </a:solidFill>
              </a:rPr>
              <a:t>2</a:t>
            </a:r>
            <a:r>
              <a:rPr lang="zh-CN" altLang="en-US" dirty="0">
                <a:solidFill>
                  <a:srgbClr val="00000C"/>
                </a:solidFill>
              </a:rPr>
              <a:t>阶段，去掉人工变量，把从第一阶段得到的解作为初始基可行解</a:t>
            </a:r>
            <a:r>
              <a:rPr lang="en-US" altLang="zh-CN" dirty="0">
                <a:solidFill>
                  <a:srgbClr val="00000C"/>
                </a:solidFill>
              </a:rPr>
              <a:t>【</a:t>
            </a:r>
            <a:r>
              <a:rPr lang="zh-CN" altLang="en-US" dirty="0">
                <a:solidFill>
                  <a:srgbClr val="00000C"/>
                </a:solidFill>
              </a:rPr>
              <a:t>其实质还是在于构造一个单位矩阵，即初始的基可行解</a:t>
            </a:r>
            <a:r>
              <a:rPr lang="en-US" altLang="zh-CN" dirty="0">
                <a:solidFill>
                  <a:srgbClr val="00000C"/>
                </a:solidFill>
              </a:rPr>
              <a:t>】</a:t>
            </a:r>
            <a:r>
              <a:rPr lang="zh-CN" altLang="en-US" dirty="0">
                <a:solidFill>
                  <a:srgbClr val="00000C"/>
                </a:solidFill>
              </a:rPr>
              <a:t>，用单纯形法解原问题</a:t>
            </a:r>
            <a:r>
              <a:rPr lang="en-US" altLang="zh-CN" dirty="0">
                <a:solidFill>
                  <a:srgbClr val="00000C"/>
                </a:solidFill>
              </a:rPr>
              <a:t>【</a:t>
            </a:r>
            <a:r>
              <a:rPr lang="zh-CN" altLang="en-US" dirty="0">
                <a:solidFill>
                  <a:srgbClr val="00000C"/>
                </a:solidFill>
              </a:rPr>
              <a:t>单纯形法的实际就是从这个基可行解</a:t>
            </a:r>
            <a:r>
              <a:rPr lang="en-US" altLang="zh-CN" dirty="0">
                <a:solidFill>
                  <a:srgbClr val="00000C"/>
                </a:solidFill>
              </a:rPr>
              <a:t>(</a:t>
            </a:r>
            <a:r>
              <a:rPr lang="zh-CN" altLang="en-US" dirty="0">
                <a:solidFill>
                  <a:srgbClr val="00000C"/>
                </a:solidFill>
              </a:rPr>
              <a:t>顶点</a:t>
            </a:r>
            <a:r>
              <a:rPr lang="en-US" altLang="zh-CN" dirty="0">
                <a:solidFill>
                  <a:srgbClr val="00000C"/>
                </a:solidFill>
              </a:rPr>
              <a:t>)</a:t>
            </a:r>
            <a:r>
              <a:rPr lang="zh-CN" altLang="en-US" dirty="0">
                <a:solidFill>
                  <a:srgbClr val="00000C"/>
                </a:solidFill>
              </a:rPr>
              <a:t>出发沿着目标值增大的方向移动</a:t>
            </a:r>
            <a:r>
              <a:rPr lang="en-US" altLang="zh-CN" dirty="0">
                <a:solidFill>
                  <a:srgbClr val="00000C"/>
                </a:solidFill>
              </a:rPr>
              <a:t>!】</a:t>
            </a:r>
            <a:r>
              <a:rPr lang="zh-CN" altLang="en-US" dirty="0">
                <a:solidFill>
                  <a:srgbClr val="00000C"/>
                </a:solidFill>
              </a:rPr>
              <a:t>。</a:t>
            </a:r>
            <a:endParaRPr lang="zh-CN" altLang="en-US" dirty="0">
              <a:solidFill>
                <a:srgbClr val="00000C"/>
              </a:solidFill>
            </a:endParaRPr>
          </a:p>
        </p:txBody>
      </p:sp>
      <p:grpSp>
        <p:nvGrpSpPr>
          <p:cNvPr id="14" name="组合 13"/>
          <p:cNvGrpSpPr/>
          <p:nvPr/>
        </p:nvGrpSpPr>
        <p:grpSpPr>
          <a:xfrm>
            <a:off x="3411737" y="2507387"/>
            <a:ext cx="5772904" cy="923331"/>
            <a:chOff x="899592" y="3212976"/>
            <a:chExt cx="5184576" cy="923331"/>
          </a:xfrm>
        </p:grpSpPr>
        <p:grpSp>
          <p:nvGrpSpPr>
            <p:cNvPr id="13" name="组合 12"/>
            <p:cNvGrpSpPr/>
            <p:nvPr/>
          </p:nvGrpSpPr>
          <p:grpSpPr>
            <a:xfrm>
              <a:off x="899592" y="3212976"/>
              <a:ext cx="5184576" cy="923331"/>
              <a:chOff x="899592" y="3356992"/>
              <a:chExt cx="5184576" cy="923331"/>
            </a:xfrm>
          </p:grpSpPr>
          <p:sp>
            <p:nvSpPr>
              <p:cNvPr id="4" name="矩形 3"/>
              <p:cNvSpPr/>
              <p:nvPr/>
            </p:nvSpPr>
            <p:spPr>
              <a:xfrm>
                <a:off x="899592" y="3501008"/>
                <a:ext cx="5184576" cy="543739"/>
              </a:xfrm>
              <a:prstGeom prst="rect">
                <a:avLst/>
              </a:prstGeom>
            </p:spPr>
            <p:txBody>
              <a:bodyPr wrap="square">
                <a:spAutoFit/>
              </a:bodyPr>
              <a:lstStyle/>
              <a:p>
                <a:pPr marL="342900" indent="-342900" algn="just" fontAlgn="base">
                  <a:lnSpc>
                    <a:spcPct val="110000"/>
                  </a:lnSpc>
                  <a:spcAft>
                    <a:spcPct val="0"/>
                  </a:spcAft>
                </a:pPr>
                <a:r>
                  <a:rPr lang="en-US" altLang="zh-CN" sz="2800" dirty="0" err="1">
                    <a:solidFill>
                      <a:srgbClr val="060606"/>
                    </a:solidFill>
                  </a:rPr>
                  <a:t>maxz</a:t>
                </a:r>
                <a:r>
                  <a:rPr lang="en-US" altLang="zh-CN" sz="2800" dirty="0">
                    <a:solidFill>
                      <a:srgbClr val="060606"/>
                    </a:solidFill>
                  </a:rPr>
                  <a:t> =   c</a:t>
                </a:r>
                <a:r>
                  <a:rPr lang="en-US" altLang="zh-CN" sz="2800" baseline="-25000" dirty="0">
                    <a:solidFill>
                      <a:srgbClr val="060606"/>
                    </a:solidFill>
                  </a:rPr>
                  <a:t>j</a:t>
                </a:r>
                <a:r>
                  <a:rPr lang="en-US" altLang="zh-CN" sz="2800" dirty="0">
                    <a:solidFill>
                      <a:srgbClr val="060606"/>
                    </a:solidFill>
                  </a:rPr>
                  <a:t>x</a:t>
                </a:r>
                <a:r>
                  <a:rPr lang="en-US" altLang="zh-CN" sz="2800" baseline="-25000" dirty="0">
                    <a:solidFill>
                      <a:srgbClr val="060606"/>
                    </a:solidFill>
                  </a:rPr>
                  <a:t>j </a:t>
                </a:r>
                <a:r>
                  <a:rPr lang="en-US" altLang="zh-CN" sz="2800" dirty="0">
                    <a:solidFill>
                      <a:srgbClr val="060606"/>
                    </a:solidFill>
                  </a:rPr>
                  <a:t> -M   </a:t>
                </a:r>
                <a:r>
                  <a:rPr lang="zh-CN" altLang="en-US" sz="2800" dirty="0">
                    <a:solidFill>
                      <a:srgbClr val="060606"/>
                    </a:solidFill>
                  </a:rPr>
                  <a:t>人工变量</a:t>
                </a:r>
                <a:r>
                  <a:rPr lang="en-US" altLang="zh-CN" sz="2800" dirty="0">
                    <a:solidFill>
                      <a:srgbClr val="060606"/>
                    </a:solidFill>
                  </a:rPr>
                  <a:t>    </a:t>
                </a:r>
                <a:endParaRPr lang="en-US" altLang="zh-CN" sz="2800" dirty="0">
                  <a:solidFill>
                    <a:srgbClr val="060606"/>
                  </a:solidFill>
                </a:endParaRPr>
              </a:p>
            </p:txBody>
          </p:sp>
          <p:grpSp>
            <p:nvGrpSpPr>
              <p:cNvPr id="5" name="组合 31"/>
              <p:cNvGrpSpPr/>
              <p:nvPr/>
            </p:nvGrpSpPr>
            <p:grpSpPr>
              <a:xfrm>
                <a:off x="1841643" y="3356992"/>
                <a:ext cx="858144" cy="923331"/>
                <a:chOff x="6299526" y="517735"/>
                <a:chExt cx="568450" cy="453905"/>
              </a:xfrm>
            </p:grpSpPr>
            <p:sp>
              <p:nvSpPr>
                <p:cNvPr id="6" name="矩形 5"/>
                <p:cNvSpPr/>
                <p:nvPr/>
              </p:nvSpPr>
              <p:spPr>
                <a:xfrm>
                  <a:off x="6300192" y="744688"/>
                  <a:ext cx="567784" cy="226952"/>
                </a:xfrm>
                <a:prstGeom prst="rect">
                  <a:avLst/>
                </a:prstGeom>
              </p:spPr>
              <p:txBody>
                <a:bodyPr wrap="square">
                  <a:spAutoFit/>
                </a:bodyPr>
                <a:lstStyle/>
                <a:p>
                  <a:r>
                    <a:rPr lang="en-US" altLang="zh-CN" sz="2400" dirty="0">
                      <a:solidFill>
                        <a:srgbClr val="060606"/>
                      </a:solidFill>
                    </a:rPr>
                    <a:t>j=1</a:t>
                  </a:r>
                  <a:endParaRPr lang="zh-CN" altLang="en-US" sz="2400" dirty="0"/>
                </a:p>
              </p:txBody>
            </p:sp>
            <p:sp>
              <p:nvSpPr>
                <p:cNvPr id="7" name="矩形 6"/>
                <p:cNvSpPr/>
                <p:nvPr/>
              </p:nvSpPr>
              <p:spPr>
                <a:xfrm>
                  <a:off x="6353738" y="517735"/>
                  <a:ext cx="234883" cy="226952"/>
                </a:xfrm>
                <a:prstGeom prst="rect">
                  <a:avLst/>
                </a:prstGeom>
              </p:spPr>
              <p:txBody>
                <a:bodyPr wrap="none">
                  <a:spAutoFit/>
                </a:bodyPr>
                <a:lstStyle/>
                <a:p>
                  <a:r>
                    <a:rPr lang="en-US" altLang="zh-CN" sz="2400" dirty="0">
                      <a:solidFill>
                        <a:srgbClr val="060606"/>
                      </a:solidFill>
                    </a:rPr>
                    <a:t>n</a:t>
                  </a:r>
                  <a:endParaRPr lang="zh-CN" altLang="en-US" sz="2400" dirty="0"/>
                </a:p>
              </p:txBody>
            </p:sp>
            <p:sp>
              <p:nvSpPr>
                <p:cNvPr id="8" name="矩形 7"/>
                <p:cNvSpPr/>
                <p:nvPr/>
              </p:nvSpPr>
              <p:spPr>
                <a:xfrm>
                  <a:off x="6299526" y="621100"/>
                  <a:ext cx="351377" cy="226952"/>
                </a:xfrm>
                <a:prstGeom prst="rect">
                  <a:avLst/>
                </a:prstGeom>
              </p:spPr>
              <p:txBody>
                <a:bodyPr wrap="square">
                  <a:spAutoFit/>
                </a:bodyPr>
                <a:lstStyle/>
                <a:p>
                  <a:r>
                    <a:rPr lang="en-US" altLang="zh-CN" sz="2400" dirty="0">
                      <a:solidFill>
                        <a:srgbClr val="060606"/>
                      </a:solidFill>
                    </a:rPr>
                    <a:t>∑ </a:t>
                  </a:r>
                  <a:endParaRPr lang="zh-CN" altLang="en-US" sz="2400" dirty="0"/>
                </a:p>
              </p:txBody>
            </p:sp>
          </p:grpSp>
        </p:grpSp>
        <p:sp>
          <p:nvSpPr>
            <p:cNvPr id="12" name="矩形 11"/>
            <p:cNvSpPr/>
            <p:nvPr/>
          </p:nvSpPr>
          <p:spPr>
            <a:xfrm>
              <a:off x="3177458" y="3399384"/>
              <a:ext cx="530446" cy="461664"/>
            </a:xfrm>
            <a:prstGeom prst="rect">
              <a:avLst/>
            </a:prstGeom>
          </p:spPr>
          <p:txBody>
            <a:bodyPr wrap="square">
              <a:spAutoFit/>
            </a:bodyPr>
            <a:lstStyle/>
            <a:p>
              <a:r>
                <a:rPr lang="en-US" altLang="zh-CN" sz="2400" dirty="0">
                  <a:solidFill>
                    <a:srgbClr val="060606"/>
                  </a:solidFill>
                </a:rPr>
                <a:t>∑ </a:t>
              </a:r>
              <a:endParaRPr lang="zh-CN" altLang="en-US" sz="2400" dirty="0"/>
            </a:p>
          </p:txBody>
        </p:sp>
      </p:grpSp>
      <p:sp>
        <p:nvSpPr>
          <p:cNvPr id="15" name="灯片编号占位符 14"/>
          <p:cNvSpPr>
            <a:spLocks noGrp="1"/>
          </p:cNvSpPr>
          <p:nvPr>
            <p:ph type="sldNum" sz="quarter" idx="12"/>
          </p:nvPr>
        </p:nvSpPr>
        <p:spPr>
          <a:xfrm>
            <a:off x="8426896" y="6265118"/>
            <a:ext cx="2133600" cy="476250"/>
          </a:xfrm>
        </p:spPr>
        <p:txBody>
          <a:bodyPr/>
          <a:lstStyle/>
          <a:p>
            <a:fld id="{0C913308-F349-4B6D-A68A-DD1791B4A57B}" type="slidenum">
              <a:rPr lang="zh-CN" altLang="en-US" smtClean="0"/>
            </a:fld>
            <a:endParaRPr lang="zh-CN" altLang="en-US"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8375"/>
            <a:ext cx="10515600" cy="732402"/>
          </a:xfrm>
        </p:spPr>
        <p:txBody>
          <a:bodyPr>
            <a:normAutofit/>
          </a:bodyPr>
          <a:lstStyle/>
          <a:p>
            <a:r>
              <a:rPr lang="zh-CN" altLang="en-US" sz="3200" dirty="0"/>
              <a:t>以例说明</a:t>
            </a:r>
            <a:r>
              <a:rPr lang="en-US" altLang="zh-CN" sz="3200" dirty="0"/>
              <a:t>2</a:t>
            </a:r>
            <a:r>
              <a:rPr lang="zh-CN" altLang="en-US" sz="3200" dirty="0"/>
              <a:t>阶段法</a:t>
            </a:r>
            <a:endParaRPr lang="zh-CN" altLang="en-US" sz="3200" dirty="0"/>
          </a:p>
        </p:txBody>
      </p:sp>
      <p:grpSp>
        <p:nvGrpSpPr>
          <p:cNvPr id="3" name="组合 2"/>
          <p:cNvGrpSpPr/>
          <p:nvPr/>
        </p:nvGrpSpPr>
        <p:grpSpPr>
          <a:xfrm>
            <a:off x="1991544" y="4339998"/>
            <a:ext cx="7992888" cy="2322259"/>
            <a:chOff x="3059832" y="4538737"/>
            <a:chExt cx="7200800" cy="2322259"/>
          </a:xfrm>
        </p:grpSpPr>
        <p:sp>
          <p:nvSpPr>
            <p:cNvPr id="4" name="矩形 3"/>
            <p:cNvSpPr/>
            <p:nvPr/>
          </p:nvSpPr>
          <p:spPr>
            <a:xfrm>
              <a:off x="3059832" y="5186809"/>
              <a:ext cx="648072" cy="543739"/>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800" dirty="0">
                  <a:solidFill>
                    <a:srgbClr val="060606"/>
                  </a:solidFill>
                </a:rPr>
                <a:t>s. t</a:t>
              </a:r>
              <a:endParaRPr lang="en-US" altLang="zh-CN" sz="2800" dirty="0">
                <a:solidFill>
                  <a:srgbClr val="060606"/>
                </a:solidFill>
              </a:endParaRPr>
            </a:p>
          </p:txBody>
        </p:sp>
        <p:sp>
          <p:nvSpPr>
            <p:cNvPr id="5" name="左大括号 4"/>
            <p:cNvSpPr/>
            <p:nvPr/>
          </p:nvSpPr>
          <p:spPr bwMode="auto">
            <a:xfrm>
              <a:off x="3635896" y="4682753"/>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800">
                <a:latin typeface="Arial" panose="020B0604020202090204" pitchFamily="34" charset="0"/>
                <a:ea typeface="宋体" panose="02010600030101010101" pitchFamily="2" charset="-122"/>
              </a:endParaRPr>
            </a:p>
          </p:txBody>
        </p:sp>
        <p:sp>
          <p:nvSpPr>
            <p:cNvPr id="6" name="矩形 5"/>
            <p:cNvSpPr/>
            <p:nvPr/>
          </p:nvSpPr>
          <p:spPr>
            <a:xfrm>
              <a:off x="4427984" y="4538737"/>
              <a:ext cx="5548701" cy="523220"/>
            </a:xfrm>
            <a:prstGeom prst="rect">
              <a:avLst/>
            </a:prstGeom>
          </p:spPr>
          <p:txBody>
            <a:bodyPr wrap="none">
              <a:spAutoFit/>
            </a:bodyPr>
            <a:lstStyle/>
            <a:p>
              <a:r>
                <a:rPr lang="en-US" altLang="zh-CN" sz="2800" dirty="0">
                  <a:solidFill>
                    <a:srgbClr val="060606"/>
                  </a:solidFill>
                </a:rPr>
                <a:t>0.3x</a:t>
              </a:r>
              <a:r>
                <a:rPr lang="en-US" altLang="zh-CN" sz="2800" baseline="-25000" dirty="0">
                  <a:solidFill>
                    <a:srgbClr val="060606"/>
                  </a:solidFill>
                </a:rPr>
                <a:t>1</a:t>
              </a:r>
              <a:r>
                <a:rPr lang="en-US" altLang="zh-CN" sz="2800" dirty="0">
                  <a:solidFill>
                    <a:srgbClr val="060606"/>
                  </a:solidFill>
                </a:rPr>
                <a:t> +0.1x</a:t>
              </a:r>
              <a:r>
                <a:rPr lang="en-US" altLang="zh-CN" sz="2800" baseline="-25000" dirty="0">
                  <a:solidFill>
                    <a:srgbClr val="060606"/>
                  </a:solidFill>
                </a:rPr>
                <a:t>2</a:t>
              </a:r>
              <a:r>
                <a:rPr lang="en-US" altLang="zh-CN" sz="2800" dirty="0">
                  <a:solidFill>
                    <a:srgbClr val="060606"/>
                  </a:solidFill>
                </a:rPr>
                <a:t> +x</a:t>
              </a:r>
              <a:r>
                <a:rPr lang="en-US" altLang="zh-CN" sz="2800" baseline="-25000" dirty="0">
                  <a:solidFill>
                    <a:srgbClr val="060606"/>
                  </a:solidFill>
                </a:rPr>
                <a:t>3</a:t>
              </a:r>
              <a:r>
                <a:rPr lang="en-US" altLang="zh-CN" sz="2800" dirty="0">
                  <a:solidFill>
                    <a:srgbClr val="060606"/>
                  </a:solidFill>
                </a:rPr>
                <a:t>                            = 2.7</a:t>
              </a:r>
              <a:endParaRPr lang="zh-CN" altLang="en-US" sz="2800" dirty="0"/>
            </a:p>
          </p:txBody>
        </p:sp>
        <p:sp>
          <p:nvSpPr>
            <p:cNvPr id="7" name="矩形 6"/>
            <p:cNvSpPr/>
            <p:nvPr/>
          </p:nvSpPr>
          <p:spPr>
            <a:xfrm>
              <a:off x="4499992" y="5402833"/>
              <a:ext cx="5256984" cy="523220"/>
            </a:xfrm>
            <a:prstGeom prst="rect">
              <a:avLst/>
            </a:prstGeom>
          </p:spPr>
          <p:txBody>
            <a:bodyPr wrap="none">
              <a:spAutoFit/>
            </a:bodyPr>
            <a:lstStyle/>
            <a:p>
              <a:r>
                <a:rPr lang="en-US" altLang="zh-CN" sz="2800" dirty="0">
                  <a:solidFill>
                    <a:srgbClr val="060606"/>
                  </a:solidFill>
                </a:rPr>
                <a:t>0.6x</a:t>
              </a:r>
              <a:r>
                <a:rPr lang="en-US" altLang="zh-CN" sz="2800" baseline="-25000" dirty="0">
                  <a:solidFill>
                    <a:srgbClr val="060606"/>
                  </a:solidFill>
                </a:rPr>
                <a:t>1</a:t>
              </a:r>
              <a:r>
                <a:rPr lang="en-US" altLang="zh-CN" sz="2800" dirty="0">
                  <a:solidFill>
                    <a:srgbClr val="060606"/>
                  </a:solidFill>
                </a:rPr>
                <a:t>+0.4x</a:t>
              </a:r>
              <a:r>
                <a:rPr lang="en-US" altLang="zh-CN" sz="2800" baseline="-25000" dirty="0">
                  <a:solidFill>
                    <a:srgbClr val="060606"/>
                  </a:solidFill>
                </a:rPr>
                <a:t>2</a:t>
              </a:r>
              <a:r>
                <a:rPr lang="en-US" altLang="zh-CN" sz="2800" dirty="0">
                  <a:solidFill>
                    <a:srgbClr val="060606"/>
                  </a:solidFill>
                </a:rPr>
                <a:t>                </a:t>
              </a:r>
              <a:r>
                <a:rPr lang="en-US" altLang="zh-CN" sz="2800" dirty="0">
                  <a:solidFill>
                    <a:srgbClr val="FF0000"/>
                  </a:solidFill>
                </a:rPr>
                <a:t>-</a:t>
              </a:r>
              <a:r>
                <a:rPr lang="en-US" altLang="zh-CN" sz="2800" dirty="0">
                  <a:solidFill>
                    <a:srgbClr val="060606"/>
                  </a:solidFill>
                </a:rPr>
                <a:t> x</a:t>
              </a:r>
              <a:r>
                <a:rPr lang="en-US" altLang="zh-CN" sz="2800" baseline="-25000" dirty="0">
                  <a:solidFill>
                    <a:srgbClr val="060606"/>
                  </a:solidFill>
                </a:rPr>
                <a:t>5 </a:t>
              </a:r>
              <a:r>
                <a:rPr lang="en-US" altLang="zh-CN" sz="2800" dirty="0">
                  <a:solidFill>
                    <a:srgbClr val="060606"/>
                  </a:solidFill>
                </a:rPr>
                <a:t> </a:t>
              </a:r>
              <a:r>
                <a:rPr lang="en-US" altLang="zh-CN" sz="2800" dirty="0">
                  <a:solidFill>
                    <a:srgbClr val="FF0000"/>
                  </a:solidFill>
                </a:rPr>
                <a:t> + x</a:t>
              </a:r>
              <a:r>
                <a:rPr lang="en-US" altLang="zh-CN" sz="2800" baseline="-25000" dirty="0">
                  <a:solidFill>
                    <a:srgbClr val="FF0000"/>
                  </a:solidFill>
                </a:rPr>
                <a:t>6</a:t>
              </a:r>
              <a:r>
                <a:rPr lang="en-US" altLang="zh-CN" sz="2800" dirty="0">
                  <a:solidFill>
                    <a:srgbClr val="060606"/>
                  </a:solidFill>
                </a:rPr>
                <a:t>    = 6</a:t>
              </a:r>
              <a:endParaRPr lang="zh-CN" altLang="en-US" sz="2800" dirty="0"/>
            </a:p>
          </p:txBody>
        </p:sp>
        <p:sp>
          <p:nvSpPr>
            <p:cNvPr id="8" name="矩形 7"/>
            <p:cNvSpPr/>
            <p:nvPr/>
          </p:nvSpPr>
          <p:spPr>
            <a:xfrm>
              <a:off x="4572000" y="5906889"/>
              <a:ext cx="5688632" cy="954107"/>
            </a:xfrm>
            <a:prstGeom prst="rect">
              <a:avLst/>
            </a:prstGeom>
          </p:spPr>
          <p:txBody>
            <a:bodyPr wrap="square">
              <a:spAutoFit/>
            </a:bodyPr>
            <a:lstStyle/>
            <a:p>
              <a:r>
                <a:rPr lang="en-US" altLang="zh-CN" sz="2800" dirty="0">
                  <a:solidFill>
                    <a:srgbClr val="060606"/>
                  </a:solidFill>
                </a:rPr>
                <a:t>x</a:t>
              </a:r>
              <a:r>
                <a:rPr lang="en-US" altLang="zh-CN" sz="2800" baseline="-25000" dirty="0">
                  <a:solidFill>
                    <a:srgbClr val="060606"/>
                  </a:solidFill>
                </a:rPr>
                <a:t>1</a:t>
              </a:r>
              <a:r>
                <a:rPr lang="en-US" altLang="zh-CN" sz="2800" dirty="0">
                  <a:solidFill>
                    <a:srgbClr val="060606"/>
                  </a:solidFill>
                </a:rPr>
                <a:t> ≥0</a:t>
              </a:r>
              <a:r>
                <a:rPr lang="zh-CN" altLang="en-US" sz="2800" dirty="0">
                  <a:solidFill>
                    <a:srgbClr val="060606"/>
                  </a:solidFill>
                </a:rPr>
                <a:t>，</a:t>
              </a:r>
              <a:r>
                <a:rPr lang="en-US" altLang="zh-CN" sz="2800" dirty="0">
                  <a:solidFill>
                    <a:srgbClr val="060606"/>
                  </a:solidFill>
                </a:rPr>
                <a:t>x</a:t>
              </a:r>
              <a:r>
                <a:rPr lang="en-US" altLang="zh-CN" sz="2800" baseline="-25000" dirty="0">
                  <a:solidFill>
                    <a:srgbClr val="060606"/>
                  </a:solidFill>
                </a:rPr>
                <a:t>2</a:t>
              </a:r>
              <a:r>
                <a:rPr lang="en-US" altLang="zh-CN" sz="2800" dirty="0">
                  <a:solidFill>
                    <a:srgbClr val="060606"/>
                  </a:solidFill>
                </a:rPr>
                <a:t> ≥0 , x</a:t>
              </a:r>
              <a:r>
                <a:rPr lang="en-US" altLang="zh-CN" sz="2800" baseline="-25000" dirty="0">
                  <a:solidFill>
                    <a:srgbClr val="060606"/>
                  </a:solidFill>
                </a:rPr>
                <a:t>3</a:t>
              </a:r>
              <a:r>
                <a:rPr lang="en-US" altLang="zh-CN" sz="2800" dirty="0">
                  <a:solidFill>
                    <a:srgbClr val="060606"/>
                  </a:solidFill>
                </a:rPr>
                <a:t> ≥0 </a:t>
              </a:r>
              <a:r>
                <a:rPr lang="zh-CN" altLang="en-US" sz="2800" dirty="0">
                  <a:solidFill>
                    <a:srgbClr val="060606"/>
                  </a:solidFill>
                </a:rPr>
                <a:t>，</a:t>
              </a:r>
              <a:r>
                <a:rPr lang="en-US" altLang="zh-CN" sz="2800" dirty="0">
                  <a:solidFill>
                    <a:srgbClr val="060606"/>
                  </a:solidFill>
                </a:rPr>
                <a:t> x</a:t>
              </a:r>
              <a:r>
                <a:rPr lang="en-US" altLang="zh-CN" sz="2800" baseline="-25000" dirty="0">
                  <a:solidFill>
                    <a:srgbClr val="060606"/>
                  </a:solidFill>
                </a:rPr>
                <a:t>4</a:t>
              </a:r>
              <a:r>
                <a:rPr lang="en-US" altLang="zh-CN" sz="2800" dirty="0">
                  <a:solidFill>
                    <a:srgbClr val="060606"/>
                  </a:solidFill>
                </a:rPr>
                <a:t> ≥0,x</a:t>
              </a:r>
              <a:r>
                <a:rPr lang="en-US" altLang="zh-CN" sz="2800" baseline="-25000" dirty="0">
                  <a:solidFill>
                    <a:srgbClr val="060606"/>
                  </a:solidFill>
                </a:rPr>
                <a:t>5</a:t>
              </a:r>
              <a:r>
                <a:rPr lang="en-US" altLang="zh-CN" sz="2800" dirty="0">
                  <a:solidFill>
                    <a:srgbClr val="060606"/>
                  </a:solidFill>
                </a:rPr>
                <a:t> ≥0 </a:t>
              </a:r>
              <a:r>
                <a:rPr lang="zh-CN" altLang="en-US" sz="2800" dirty="0">
                  <a:solidFill>
                    <a:srgbClr val="060606"/>
                  </a:solidFill>
                </a:rPr>
                <a:t>，</a:t>
              </a:r>
              <a:r>
                <a:rPr lang="en-US" altLang="zh-CN" sz="2800" dirty="0">
                  <a:solidFill>
                    <a:srgbClr val="060606"/>
                  </a:solidFill>
                </a:rPr>
                <a:t>x</a:t>
              </a:r>
              <a:r>
                <a:rPr lang="en-US" altLang="zh-CN" sz="2800" baseline="-25000" dirty="0">
                  <a:solidFill>
                    <a:srgbClr val="060606"/>
                  </a:solidFill>
                </a:rPr>
                <a:t>6</a:t>
              </a:r>
              <a:r>
                <a:rPr lang="en-US" altLang="zh-CN" sz="2800" dirty="0">
                  <a:solidFill>
                    <a:srgbClr val="060606"/>
                  </a:solidFill>
                </a:rPr>
                <a:t> ≥0 </a:t>
              </a:r>
              <a:endParaRPr lang="zh-CN" altLang="en-US" sz="2800" dirty="0">
                <a:solidFill>
                  <a:srgbClr val="060606"/>
                </a:solidFill>
              </a:endParaRPr>
            </a:p>
          </p:txBody>
        </p:sp>
        <p:sp>
          <p:nvSpPr>
            <p:cNvPr id="9" name="矩形 8"/>
            <p:cNvSpPr/>
            <p:nvPr/>
          </p:nvSpPr>
          <p:spPr>
            <a:xfrm>
              <a:off x="4427984" y="4970785"/>
              <a:ext cx="5307528" cy="523220"/>
            </a:xfrm>
            <a:prstGeom prst="rect">
              <a:avLst/>
            </a:prstGeom>
          </p:spPr>
          <p:txBody>
            <a:bodyPr wrap="none">
              <a:spAutoFit/>
            </a:bodyPr>
            <a:lstStyle/>
            <a:p>
              <a:r>
                <a:rPr lang="en-US" altLang="zh-CN" sz="2800" dirty="0">
                  <a:solidFill>
                    <a:srgbClr val="060606"/>
                  </a:solidFill>
                </a:rPr>
                <a:t>0.5x</a:t>
              </a:r>
              <a:r>
                <a:rPr lang="en-US" altLang="zh-CN" sz="2800" baseline="-25000" dirty="0">
                  <a:solidFill>
                    <a:srgbClr val="060606"/>
                  </a:solidFill>
                </a:rPr>
                <a:t>1</a:t>
              </a:r>
              <a:r>
                <a:rPr lang="en-US" altLang="zh-CN" sz="2800" dirty="0">
                  <a:solidFill>
                    <a:srgbClr val="060606"/>
                  </a:solidFill>
                </a:rPr>
                <a:t> + 0.5x</a:t>
              </a:r>
              <a:r>
                <a:rPr lang="en-US" altLang="zh-CN" sz="2800" baseline="-25000" dirty="0">
                  <a:solidFill>
                    <a:srgbClr val="060606"/>
                  </a:solidFill>
                </a:rPr>
                <a:t>2</a:t>
              </a:r>
              <a:r>
                <a:rPr lang="en-US" altLang="zh-CN" sz="2800" dirty="0">
                  <a:solidFill>
                    <a:srgbClr val="060606"/>
                  </a:solidFill>
                </a:rPr>
                <a:t>       </a:t>
              </a:r>
              <a:r>
                <a:rPr lang="en-US" altLang="zh-CN" sz="2800" dirty="0">
                  <a:solidFill>
                    <a:srgbClr val="FF0000"/>
                  </a:solidFill>
                </a:rPr>
                <a:t>+ x</a:t>
              </a:r>
              <a:r>
                <a:rPr lang="en-US" altLang="zh-CN" sz="2800" baseline="-25000" dirty="0">
                  <a:solidFill>
                    <a:srgbClr val="FF0000"/>
                  </a:solidFill>
                </a:rPr>
                <a:t>4</a:t>
              </a:r>
              <a:r>
                <a:rPr lang="en-US" altLang="zh-CN" sz="2800" dirty="0">
                  <a:solidFill>
                    <a:srgbClr val="FF0000"/>
                  </a:solidFill>
                </a:rPr>
                <a:t>                    = </a:t>
              </a:r>
              <a:r>
                <a:rPr lang="en-US" altLang="zh-CN" sz="2800" dirty="0">
                  <a:solidFill>
                    <a:srgbClr val="060606"/>
                  </a:solidFill>
                </a:rPr>
                <a:t>6</a:t>
              </a:r>
              <a:endParaRPr lang="zh-CN" altLang="en-US" sz="2800" dirty="0">
                <a:solidFill>
                  <a:srgbClr val="060606"/>
                </a:solidFill>
              </a:endParaRPr>
            </a:p>
          </p:txBody>
        </p:sp>
      </p:grpSp>
      <p:sp>
        <p:nvSpPr>
          <p:cNvPr id="10" name="矩形 9"/>
          <p:cNvSpPr/>
          <p:nvPr/>
        </p:nvSpPr>
        <p:spPr>
          <a:xfrm>
            <a:off x="1775520" y="2978520"/>
            <a:ext cx="9624000" cy="1380699"/>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3200" dirty="0">
                <a:solidFill>
                  <a:srgbClr val="060606"/>
                </a:solidFill>
              </a:rPr>
              <a:t>转化为简单标准形</a:t>
            </a:r>
            <a:r>
              <a:rPr lang="en-US" altLang="zh-CN" sz="3200" dirty="0">
                <a:solidFill>
                  <a:srgbClr val="060606"/>
                </a:solidFill>
              </a:rPr>
              <a:t>LPQ</a:t>
            </a:r>
            <a:r>
              <a:rPr lang="zh-CN" altLang="en-US" sz="3200" dirty="0">
                <a:solidFill>
                  <a:srgbClr val="060606"/>
                </a:solidFill>
              </a:rPr>
              <a:t>：</a:t>
            </a:r>
            <a:endParaRPr lang="en-US" altLang="zh-CN" sz="3200" dirty="0">
              <a:solidFill>
                <a:srgbClr val="060606"/>
              </a:solidFill>
            </a:endParaRPr>
          </a:p>
          <a:p>
            <a:pPr marL="342900" indent="-342900" algn="just" fontAlgn="base">
              <a:lnSpc>
                <a:spcPct val="110000"/>
              </a:lnSpc>
              <a:spcBef>
                <a:spcPts val="1800"/>
              </a:spcBef>
              <a:spcAft>
                <a:spcPct val="0"/>
              </a:spcAft>
            </a:pPr>
            <a:r>
              <a:rPr lang="en-US" altLang="zh-CN" sz="3200" dirty="0">
                <a:solidFill>
                  <a:srgbClr val="060606"/>
                </a:solidFill>
              </a:rPr>
              <a:t>max-z  + (0.4-1.1M)x</a:t>
            </a:r>
            <a:r>
              <a:rPr lang="en-US" altLang="zh-CN" sz="3200" baseline="-25000" dirty="0">
                <a:solidFill>
                  <a:srgbClr val="060606"/>
                </a:solidFill>
              </a:rPr>
              <a:t>1</a:t>
            </a:r>
            <a:r>
              <a:rPr lang="en-US" altLang="zh-CN" sz="3200" dirty="0">
                <a:solidFill>
                  <a:srgbClr val="060606"/>
                </a:solidFill>
              </a:rPr>
              <a:t> + (0.5-0.9M)x</a:t>
            </a:r>
            <a:r>
              <a:rPr lang="en-US" altLang="zh-CN" sz="3200" baseline="-25000" dirty="0">
                <a:solidFill>
                  <a:srgbClr val="060606"/>
                </a:solidFill>
              </a:rPr>
              <a:t>2</a:t>
            </a:r>
            <a:r>
              <a:rPr lang="en-US" altLang="zh-CN" sz="3200" dirty="0">
                <a:solidFill>
                  <a:srgbClr val="060606"/>
                </a:solidFill>
              </a:rPr>
              <a:t> + Mx</a:t>
            </a:r>
            <a:r>
              <a:rPr lang="en-US" altLang="zh-CN" sz="3200" baseline="-25000" dirty="0">
                <a:solidFill>
                  <a:srgbClr val="060606"/>
                </a:solidFill>
              </a:rPr>
              <a:t>5</a:t>
            </a:r>
            <a:r>
              <a:rPr lang="en-US" altLang="zh-CN" sz="3200" dirty="0">
                <a:solidFill>
                  <a:srgbClr val="060606"/>
                </a:solidFill>
              </a:rPr>
              <a:t> =-12M </a:t>
            </a:r>
            <a:endParaRPr lang="en-US" altLang="zh-CN" sz="3200" dirty="0">
              <a:solidFill>
                <a:srgbClr val="060606"/>
              </a:solidFill>
            </a:endParaRPr>
          </a:p>
        </p:txBody>
      </p:sp>
      <p:grpSp>
        <p:nvGrpSpPr>
          <p:cNvPr id="12" name="组合 12"/>
          <p:cNvGrpSpPr/>
          <p:nvPr/>
        </p:nvGrpSpPr>
        <p:grpSpPr>
          <a:xfrm>
            <a:off x="1632654" y="655813"/>
            <a:ext cx="5733704" cy="2189857"/>
            <a:chOff x="899592" y="3429000"/>
            <a:chExt cx="5733704" cy="2189857"/>
          </a:xfrm>
        </p:grpSpPr>
        <p:sp>
          <p:nvSpPr>
            <p:cNvPr id="13" name="矩形 12"/>
            <p:cNvSpPr/>
            <p:nvPr/>
          </p:nvSpPr>
          <p:spPr>
            <a:xfrm>
              <a:off x="899592" y="3429000"/>
              <a:ext cx="4392488" cy="479234"/>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原</a:t>
              </a:r>
              <a:r>
                <a:rPr lang="en-US" altLang="zh-CN" sz="2400" dirty="0">
                  <a:solidFill>
                    <a:srgbClr val="060606"/>
                  </a:solidFill>
                </a:rPr>
                <a:t>LPQ</a:t>
              </a:r>
              <a:r>
                <a:rPr lang="zh-CN" altLang="en-US" sz="2400" dirty="0">
                  <a:solidFill>
                    <a:srgbClr val="060606"/>
                  </a:solidFill>
                </a:rPr>
                <a:t>：     </a:t>
              </a:r>
              <a:r>
                <a:rPr lang="en-US" altLang="zh-CN" sz="2400" dirty="0">
                  <a:solidFill>
                    <a:srgbClr val="FF0000"/>
                  </a:solidFill>
                </a:rPr>
                <a:t>min</a:t>
              </a:r>
              <a:r>
                <a:rPr lang="en-US" altLang="zh-CN" sz="2400" dirty="0">
                  <a:solidFill>
                    <a:srgbClr val="060606"/>
                  </a:solidFill>
                </a:rPr>
                <a:t> z  = 0.4x</a:t>
              </a:r>
              <a:r>
                <a:rPr lang="en-US" altLang="zh-CN" sz="2400" baseline="-25000" dirty="0">
                  <a:solidFill>
                    <a:srgbClr val="060606"/>
                  </a:solidFill>
                </a:rPr>
                <a:t>1</a:t>
              </a:r>
              <a:r>
                <a:rPr lang="en-US" altLang="zh-CN" sz="2400" dirty="0">
                  <a:solidFill>
                    <a:srgbClr val="060606"/>
                  </a:solidFill>
                </a:rPr>
                <a:t>+0.5x</a:t>
              </a:r>
              <a:r>
                <a:rPr lang="en-US" altLang="zh-CN" sz="2400" baseline="-25000" dirty="0">
                  <a:solidFill>
                    <a:srgbClr val="060606"/>
                  </a:solidFill>
                </a:rPr>
                <a:t>2</a:t>
              </a:r>
              <a:endParaRPr lang="en-US" altLang="zh-CN" sz="2400" dirty="0">
                <a:solidFill>
                  <a:srgbClr val="060606"/>
                </a:solidFill>
              </a:endParaRPr>
            </a:p>
          </p:txBody>
        </p:sp>
        <p:sp>
          <p:nvSpPr>
            <p:cNvPr id="14" name="矩形 13"/>
            <p:cNvSpPr/>
            <p:nvPr/>
          </p:nvSpPr>
          <p:spPr>
            <a:xfrm>
              <a:off x="899592" y="4437112"/>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15" name="左大括号 14"/>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6" name="矩形 15"/>
            <p:cNvSpPr/>
            <p:nvPr/>
          </p:nvSpPr>
          <p:spPr>
            <a:xfrm>
              <a:off x="2123728" y="3861048"/>
              <a:ext cx="4314001" cy="461665"/>
            </a:xfrm>
            <a:prstGeom prst="rect">
              <a:avLst/>
            </a:prstGeom>
          </p:spPr>
          <p:txBody>
            <a:bodyPr wrap="none">
              <a:spAutoFit/>
            </a:bodyPr>
            <a:lstStyle/>
            <a:p>
              <a:r>
                <a:rPr lang="en-US" altLang="zh-CN" sz="2400" dirty="0">
                  <a:solidFill>
                    <a:srgbClr val="060606"/>
                  </a:solidFill>
                </a:rPr>
                <a:t> 0.3x</a:t>
              </a:r>
              <a:r>
                <a:rPr lang="en-US" altLang="zh-CN" sz="2400" baseline="-25000" dirty="0">
                  <a:solidFill>
                    <a:srgbClr val="060606"/>
                  </a:solidFill>
                </a:rPr>
                <a:t>1</a:t>
              </a:r>
              <a:r>
                <a:rPr lang="en-US" altLang="zh-CN" sz="2400" dirty="0">
                  <a:solidFill>
                    <a:srgbClr val="060606"/>
                  </a:solidFill>
                </a:rPr>
                <a:t> +0.1x</a:t>
              </a:r>
              <a:r>
                <a:rPr lang="en-US" altLang="zh-CN" sz="2400" baseline="-25000" dirty="0">
                  <a:solidFill>
                    <a:srgbClr val="060606"/>
                  </a:solidFill>
                </a:rPr>
                <a:t>2</a:t>
              </a:r>
              <a:r>
                <a:rPr lang="en-US" altLang="zh-CN" sz="2400" dirty="0">
                  <a:solidFill>
                    <a:srgbClr val="060606"/>
                  </a:solidFill>
                </a:rPr>
                <a:t> ≤2.7                (1)</a:t>
              </a:r>
              <a:endParaRPr lang="zh-CN" altLang="en-US" dirty="0"/>
            </a:p>
          </p:txBody>
        </p:sp>
        <p:sp>
          <p:nvSpPr>
            <p:cNvPr id="17" name="矩形 16"/>
            <p:cNvSpPr/>
            <p:nvPr/>
          </p:nvSpPr>
          <p:spPr>
            <a:xfrm>
              <a:off x="2123728" y="4725144"/>
              <a:ext cx="4509568" cy="461665"/>
            </a:xfrm>
            <a:prstGeom prst="rect">
              <a:avLst/>
            </a:prstGeom>
          </p:spPr>
          <p:txBody>
            <a:bodyPr wrap="none">
              <a:spAutoFit/>
            </a:bodyPr>
            <a:lstStyle/>
            <a:p>
              <a:r>
                <a:rPr lang="en-US" altLang="zh-CN" sz="2400" dirty="0">
                  <a:solidFill>
                    <a:srgbClr val="060606"/>
                  </a:solidFill>
                </a:rPr>
                <a:t>0.6x</a:t>
              </a:r>
              <a:r>
                <a:rPr lang="en-US" altLang="zh-CN" sz="2400" baseline="-25000" dirty="0">
                  <a:solidFill>
                    <a:srgbClr val="060606"/>
                  </a:solidFill>
                </a:rPr>
                <a:t>1</a:t>
              </a:r>
              <a:r>
                <a:rPr lang="en-US" altLang="zh-CN" sz="2400" dirty="0">
                  <a:solidFill>
                    <a:srgbClr val="060606"/>
                  </a:solidFill>
                </a:rPr>
                <a:t>+0.4x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 </a:t>
              </a:r>
              <a:r>
                <a:rPr lang="en-US" altLang="zh-CN" sz="2400" b="1" dirty="0">
                  <a:solidFill>
                    <a:srgbClr val="FF0000"/>
                  </a:solidFill>
                  <a:latin typeface="+mn-ea"/>
                </a:rPr>
                <a:t>≧</a:t>
              </a:r>
              <a:r>
                <a:rPr lang="en-US" altLang="zh-CN" sz="2400" dirty="0">
                  <a:solidFill>
                    <a:srgbClr val="FF0000"/>
                  </a:solidFill>
                </a:rPr>
                <a:t> </a:t>
              </a:r>
              <a:r>
                <a:rPr lang="en-US" altLang="zh-CN" sz="2400" dirty="0">
                  <a:solidFill>
                    <a:srgbClr val="060606"/>
                  </a:solidFill>
                </a:rPr>
                <a:t>6                     (3)</a:t>
              </a:r>
              <a:endParaRPr lang="zh-CN" altLang="en-US" dirty="0"/>
            </a:p>
          </p:txBody>
        </p:sp>
        <p:sp>
          <p:nvSpPr>
            <p:cNvPr id="18" name="矩形 17"/>
            <p:cNvSpPr/>
            <p:nvPr/>
          </p:nvSpPr>
          <p:spPr>
            <a:xfrm>
              <a:off x="2123728" y="5157192"/>
              <a:ext cx="3704860" cy="461665"/>
            </a:xfrm>
            <a:prstGeom prst="rect">
              <a:avLst/>
            </a:prstGeom>
          </p:spPr>
          <p:txBody>
            <a:bodyPr wrap="non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(4)</a:t>
              </a:r>
              <a:endParaRPr lang="zh-CN" altLang="en-US" dirty="0"/>
            </a:p>
          </p:txBody>
        </p:sp>
        <p:sp>
          <p:nvSpPr>
            <p:cNvPr id="19" name="矩形 18"/>
            <p:cNvSpPr/>
            <p:nvPr/>
          </p:nvSpPr>
          <p:spPr>
            <a:xfrm>
              <a:off x="2123728" y="4293096"/>
              <a:ext cx="4322017" cy="461665"/>
            </a:xfrm>
            <a:prstGeom prst="rect">
              <a:avLst/>
            </a:prstGeom>
          </p:spPr>
          <p:txBody>
            <a:bodyPr wrap="none">
              <a:spAutoFit/>
            </a:bodyPr>
            <a:lstStyle/>
            <a:p>
              <a:r>
                <a:rPr lang="en-US" altLang="zh-CN" sz="2400" dirty="0">
                  <a:solidFill>
                    <a:srgbClr val="060606"/>
                  </a:solidFill>
                </a:rPr>
                <a:t>0.5x</a:t>
              </a:r>
              <a:r>
                <a:rPr lang="en-US" altLang="zh-CN" sz="2400" baseline="-25000" dirty="0">
                  <a:solidFill>
                    <a:srgbClr val="060606"/>
                  </a:solidFill>
                </a:rPr>
                <a:t>1</a:t>
              </a:r>
              <a:r>
                <a:rPr lang="en-US" altLang="zh-CN" sz="2400" dirty="0">
                  <a:solidFill>
                    <a:srgbClr val="060606"/>
                  </a:solidFill>
                </a:rPr>
                <a:t> + 0.5x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a:t>
              </a:r>
              <a:r>
                <a:rPr lang="en-US" altLang="zh-CN" sz="2400" dirty="0">
                  <a:solidFill>
                    <a:srgbClr val="060606"/>
                  </a:solidFill>
                </a:rPr>
                <a:t>6                    (2)</a:t>
              </a:r>
              <a:endParaRPr lang="zh-CN" altLang="en-US" sz="2400" dirty="0">
                <a:solidFill>
                  <a:srgbClr val="060606"/>
                </a:solidFill>
              </a:endParaRPr>
            </a:p>
          </p:txBody>
        </p:sp>
      </p:gr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64160" y="116633"/>
            <a:ext cx="10403840" cy="604653"/>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3200" dirty="0">
                <a:solidFill>
                  <a:srgbClr val="060606"/>
                </a:solidFill>
              </a:rPr>
              <a:t>第一阶段的简单标准形</a:t>
            </a:r>
            <a:r>
              <a:rPr lang="en-US" altLang="zh-CN" sz="3200" dirty="0">
                <a:solidFill>
                  <a:srgbClr val="060606"/>
                </a:solidFill>
              </a:rPr>
              <a:t>LPQ</a:t>
            </a:r>
            <a:r>
              <a:rPr lang="zh-CN" altLang="en-US" sz="3200" dirty="0">
                <a:solidFill>
                  <a:srgbClr val="060606"/>
                </a:solidFill>
              </a:rPr>
              <a:t>：构造并获取基可行解</a:t>
            </a:r>
            <a:endParaRPr lang="en-US" altLang="zh-CN" sz="3200" dirty="0">
              <a:solidFill>
                <a:srgbClr val="060606"/>
              </a:solidFill>
            </a:endParaRPr>
          </a:p>
        </p:txBody>
      </p:sp>
      <p:sp>
        <p:nvSpPr>
          <p:cNvPr id="10" name="灯片编号占位符 9"/>
          <p:cNvSpPr>
            <a:spLocks noGrp="1"/>
          </p:cNvSpPr>
          <p:nvPr>
            <p:ph type="sldNum" sz="quarter" idx="12"/>
          </p:nvPr>
        </p:nvSpPr>
        <p:spPr>
          <a:xfrm>
            <a:off x="8077200" y="5933386"/>
            <a:ext cx="2133600" cy="476250"/>
          </a:xfrm>
        </p:spPr>
        <p:txBody>
          <a:bodyPr/>
          <a:lstStyle/>
          <a:p>
            <a:fld id="{0C913308-F349-4B6D-A68A-DD1791B4A57B}" type="slidenum">
              <a:rPr lang="zh-CN" altLang="en-US" smtClean="0"/>
            </a:fld>
            <a:endParaRPr lang="zh-CN" altLang="en-US"/>
          </a:p>
        </p:txBody>
      </p:sp>
      <p:grpSp>
        <p:nvGrpSpPr>
          <p:cNvPr id="28" name="组合 27"/>
          <p:cNvGrpSpPr/>
          <p:nvPr/>
        </p:nvGrpSpPr>
        <p:grpSpPr>
          <a:xfrm>
            <a:off x="1185352" y="2954958"/>
            <a:ext cx="9655369" cy="3216553"/>
            <a:chOff x="179512" y="3212976"/>
            <a:chExt cx="9655369" cy="3216553"/>
          </a:xfrm>
        </p:grpSpPr>
        <p:grpSp>
          <p:nvGrpSpPr>
            <p:cNvPr id="2" name="组合 1"/>
            <p:cNvGrpSpPr/>
            <p:nvPr/>
          </p:nvGrpSpPr>
          <p:grpSpPr>
            <a:xfrm>
              <a:off x="467544" y="3212976"/>
              <a:ext cx="9367337" cy="1891372"/>
              <a:chOff x="3059832" y="4538737"/>
              <a:chExt cx="8439042" cy="1891372"/>
            </a:xfrm>
          </p:grpSpPr>
          <p:sp>
            <p:nvSpPr>
              <p:cNvPr id="3" name="矩形 2"/>
              <p:cNvSpPr/>
              <p:nvPr/>
            </p:nvSpPr>
            <p:spPr>
              <a:xfrm>
                <a:off x="3059832" y="5186809"/>
                <a:ext cx="648072" cy="543739"/>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800" dirty="0">
                    <a:solidFill>
                      <a:srgbClr val="060606"/>
                    </a:solidFill>
                  </a:rPr>
                  <a:t>s. t</a:t>
                </a:r>
                <a:endParaRPr lang="en-US" altLang="zh-CN" sz="2800" dirty="0">
                  <a:solidFill>
                    <a:srgbClr val="060606"/>
                  </a:solidFill>
                </a:endParaRPr>
              </a:p>
            </p:txBody>
          </p:sp>
          <p:sp>
            <p:nvSpPr>
              <p:cNvPr id="4" name="左大括号 3"/>
              <p:cNvSpPr/>
              <p:nvPr/>
            </p:nvSpPr>
            <p:spPr bwMode="auto">
              <a:xfrm>
                <a:off x="3635896" y="4682753"/>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800">
                  <a:latin typeface="Arial" panose="020B0604020202090204" pitchFamily="34" charset="0"/>
                  <a:ea typeface="宋体" panose="02010600030101010101" pitchFamily="2" charset="-122"/>
                </a:endParaRPr>
              </a:p>
            </p:txBody>
          </p:sp>
          <p:sp>
            <p:nvSpPr>
              <p:cNvPr id="5" name="矩形 4"/>
              <p:cNvSpPr/>
              <p:nvPr/>
            </p:nvSpPr>
            <p:spPr>
              <a:xfrm>
                <a:off x="4427984" y="4538737"/>
                <a:ext cx="5548701" cy="523220"/>
              </a:xfrm>
              <a:prstGeom prst="rect">
                <a:avLst/>
              </a:prstGeom>
            </p:spPr>
            <p:txBody>
              <a:bodyPr wrap="none">
                <a:spAutoFit/>
              </a:bodyPr>
              <a:lstStyle/>
              <a:p>
                <a:r>
                  <a:rPr lang="en-US" altLang="zh-CN" sz="2800" dirty="0">
                    <a:solidFill>
                      <a:srgbClr val="060606"/>
                    </a:solidFill>
                  </a:rPr>
                  <a:t>0.3x</a:t>
                </a:r>
                <a:r>
                  <a:rPr lang="en-US" altLang="zh-CN" sz="2800" baseline="-25000" dirty="0">
                    <a:solidFill>
                      <a:srgbClr val="060606"/>
                    </a:solidFill>
                  </a:rPr>
                  <a:t>1</a:t>
                </a:r>
                <a:r>
                  <a:rPr lang="en-US" altLang="zh-CN" sz="2800" dirty="0">
                    <a:solidFill>
                      <a:srgbClr val="060606"/>
                    </a:solidFill>
                  </a:rPr>
                  <a:t> +0.1x</a:t>
                </a:r>
                <a:r>
                  <a:rPr lang="en-US" altLang="zh-CN" sz="2800" baseline="-25000" dirty="0">
                    <a:solidFill>
                      <a:srgbClr val="060606"/>
                    </a:solidFill>
                  </a:rPr>
                  <a:t>2</a:t>
                </a:r>
                <a:r>
                  <a:rPr lang="en-US" altLang="zh-CN" sz="2800" dirty="0">
                    <a:solidFill>
                      <a:srgbClr val="060606"/>
                    </a:solidFill>
                  </a:rPr>
                  <a:t> +x</a:t>
                </a:r>
                <a:r>
                  <a:rPr lang="en-US" altLang="zh-CN" sz="2800" baseline="-25000" dirty="0">
                    <a:solidFill>
                      <a:srgbClr val="060606"/>
                    </a:solidFill>
                  </a:rPr>
                  <a:t>3</a:t>
                </a:r>
                <a:r>
                  <a:rPr lang="en-US" altLang="zh-CN" sz="2800" dirty="0">
                    <a:solidFill>
                      <a:srgbClr val="060606"/>
                    </a:solidFill>
                  </a:rPr>
                  <a:t>                            = 2.7</a:t>
                </a:r>
                <a:endParaRPr lang="zh-CN" altLang="en-US" sz="2800" dirty="0"/>
              </a:p>
            </p:txBody>
          </p:sp>
          <p:sp>
            <p:nvSpPr>
              <p:cNvPr id="6" name="矩形 5"/>
              <p:cNvSpPr/>
              <p:nvPr/>
            </p:nvSpPr>
            <p:spPr>
              <a:xfrm>
                <a:off x="4499992" y="5402833"/>
                <a:ext cx="5256984" cy="523220"/>
              </a:xfrm>
              <a:prstGeom prst="rect">
                <a:avLst/>
              </a:prstGeom>
            </p:spPr>
            <p:txBody>
              <a:bodyPr wrap="none">
                <a:spAutoFit/>
              </a:bodyPr>
              <a:lstStyle/>
              <a:p>
                <a:r>
                  <a:rPr lang="en-US" altLang="zh-CN" sz="2800" dirty="0">
                    <a:solidFill>
                      <a:srgbClr val="060606"/>
                    </a:solidFill>
                  </a:rPr>
                  <a:t>0.6x</a:t>
                </a:r>
                <a:r>
                  <a:rPr lang="en-US" altLang="zh-CN" sz="2800" baseline="-25000" dirty="0">
                    <a:solidFill>
                      <a:srgbClr val="060606"/>
                    </a:solidFill>
                  </a:rPr>
                  <a:t>1</a:t>
                </a:r>
                <a:r>
                  <a:rPr lang="en-US" altLang="zh-CN" sz="2800" dirty="0">
                    <a:solidFill>
                      <a:srgbClr val="060606"/>
                    </a:solidFill>
                  </a:rPr>
                  <a:t>+0.4x</a:t>
                </a:r>
                <a:r>
                  <a:rPr lang="en-US" altLang="zh-CN" sz="2800" baseline="-25000" dirty="0">
                    <a:solidFill>
                      <a:srgbClr val="060606"/>
                    </a:solidFill>
                  </a:rPr>
                  <a:t>2</a:t>
                </a:r>
                <a:r>
                  <a:rPr lang="en-US" altLang="zh-CN" sz="2800" dirty="0">
                    <a:solidFill>
                      <a:srgbClr val="060606"/>
                    </a:solidFill>
                  </a:rPr>
                  <a:t>                </a:t>
                </a:r>
                <a:r>
                  <a:rPr lang="en-US" altLang="zh-CN" sz="2800" dirty="0">
                    <a:solidFill>
                      <a:srgbClr val="FF0000"/>
                    </a:solidFill>
                  </a:rPr>
                  <a:t>-</a:t>
                </a:r>
                <a:r>
                  <a:rPr lang="en-US" altLang="zh-CN" sz="2800" dirty="0">
                    <a:solidFill>
                      <a:srgbClr val="060606"/>
                    </a:solidFill>
                  </a:rPr>
                  <a:t> x</a:t>
                </a:r>
                <a:r>
                  <a:rPr lang="en-US" altLang="zh-CN" sz="2800" baseline="-25000" dirty="0">
                    <a:solidFill>
                      <a:srgbClr val="060606"/>
                    </a:solidFill>
                  </a:rPr>
                  <a:t>5 </a:t>
                </a:r>
                <a:r>
                  <a:rPr lang="en-US" altLang="zh-CN" sz="2800" dirty="0">
                    <a:solidFill>
                      <a:srgbClr val="060606"/>
                    </a:solidFill>
                  </a:rPr>
                  <a:t> </a:t>
                </a:r>
                <a:r>
                  <a:rPr lang="en-US" altLang="zh-CN" sz="2800" dirty="0">
                    <a:solidFill>
                      <a:srgbClr val="FF0000"/>
                    </a:solidFill>
                  </a:rPr>
                  <a:t> + x</a:t>
                </a:r>
                <a:r>
                  <a:rPr lang="en-US" altLang="zh-CN" sz="2800" baseline="-25000" dirty="0">
                    <a:solidFill>
                      <a:srgbClr val="FF0000"/>
                    </a:solidFill>
                  </a:rPr>
                  <a:t>6</a:t>
                </a:r>
                <a:r>
                  <a:rPr lang="en-US" altLang="zh-CN" sz="2800" dirty="0">
                    <a:solidFill>
                      <a:srgbClr val="060606"/>
                    </a:solidFill>
                  </a:rPr>
                  <a:t>    = 6</a:t>
                </a:r>
                <a:endParaRPr lang="zh-CN" altLang="en-US" sz="2800" dirty="0"/>
              </a:p>
            </p:txBody>
          </p:sp>
          <p:sp>
            <p:nvSpPr>
              <p:cNvPr id="7" name="矩形 6"/>
              <p:cNvSpPr/>
              <p:nvPr/>
            </p:nvSpPr>
            <p:spPr>
              <a:xfrm>
                <a:off x="4572000" y="5906889"/>
                <a:ext cx="6926874" cy="523220"/>
              </a:xfrm>
              <a:prstGeom prst="rect">
                <a:avLst/>
              </a:prstGeom>
            </p:spPr>
            <p:txBody>
              <a:bodyPr wrap="square">
                <a:spAutoFit/>
              </a:bodyPr>
              <a:lstStyle/>
              <a:p>
                <a:r>
                  <a:rPr lang="en-US" altLang="zh-CN" sz="2800" dirty="0">
                    <a:solidFill>
                      <a:srgbClr val="060606"/>
                    </a:solidFill>
                  </a:rPr>
                  <a:t>x</a:t>
                </a:r>
                <a:r>
                  <a:rPr lang="en-US" altLang="zh-CN" sz="2800" baseline="-25000" dirty="0">
                    <a:solidFill>
                      <a:srgbClr val="060606"/>
                    </a:solidFill>
                  </a:rPr>
                  <a:t>1</a:t>
                </a:r>
                <a:r>
                  <a:rPr lang="en-US" altLang="zh-CN" sz="2800" dirty="0">
                    <a:solidFill>
                      <a:srgbClr val="060606"/>
                    </a:solidFill>
                  </a:rPr>
                  <a:t> ≥0</a:t>
                </a:r>
                <a:r>
                  <a:rPr lang="zh-CN" altLang="en-US" sz="2800" dirty="0">
                    <a:solidFill>
                      <a:srgbClr val="060606"/>
                    </a:solidFill>
                  </a:rPr>
                  <a:t>，</a:t>
                </a:r>
                <a:r>
                  <a:rPr lang="en-US" altLang="zh-CN" sz="2800" dirty="0">
                    <a:solidFill>
                      <a:srgbClr val="060606"/>
                    </a:solidFill>
                  </a:rPr>
                  <a:t>x</a:t>
                </a:r>
                <a:r>
                  <a:rPr lang="en-US" altLang="zh-CN" sz="2800" baseline="-25000" dirty="0">
                    <a:solidFill>
                      <a:srgbClr val="060606"/>
                    </a:solidFill>
                  </a:rPr>
                  <a:t>2</a:t>
                </a:r>
                <a:r>
                  <a:rPr lang="en-US" altLang="zh-CN" sz="2800" dirty="0">
                    <a:solidFill>
                      <a:srgbClr val="060606"/>
                    </a:solidFill>
                  </a:rPr>
                  <a:t> ≥0 , x</a:t>
                </a:r>
                <a:r>
                  <a:rPr lang="en-US" altLang="zh-CN" sz="2800" baseline="-25000" dirty="0">
                    <a:solidFill>
                      <a:srgbClr val="060606"/>
                    </a:solidFill>
                  </a:rPr>
                  <a:t>3</a:t>
                </a:r>
                <a:r>
                  <a:rPr lang="en-US" altLang="zh-CN" sz="2800" dirty="0">
                    <a:solidFill>
                      <a:srgbClr val="060606"/>
                    </a:solidFill>
                  </a:rPr>
                  <a:t> ≥0 </a:t>
                </a:r>
                <a:r>
                  <a:rPr lang="zh-CN" altLang="en-US" sz="2800" dirty="0">
                    <a:solidFill>
                      <a:srgbClr val="060606"/>
                    </a:solidFill>
                  </a:rPr>
                  <a:t>，</a:t>
                </a:r>
                <a:r>
                  <a:rPr lang="en-US" altLang="zh-CN" sz="2800" dirty="0">
                    <a:solidFill>
                      <a:srgbClr val="060606"/>
                    </a:solidFill>
                  </a:rPr>
                  <a:t> x</a:t>
                </a:r>
                <a:r>
                  <a:rPr lang="en-US" altLang="zh-CN" sz="2800" baseline="-25000" dirty="0">
                    <a:solidFill>
                      <a:srgbClr val="060606"/>
                    </a:solidFill>
                  </a:rPr>
                  <a:t>4</a:t>
                </a:r>
                <a:r>
                  <a:rPr lang="en-US" altLang="zh-CN" sz="2800" dirty="0">
                    <a:solidFill>
                      <a:srgbClr val="060606"/>
                    </a:solidFill>
                  </a:rPr>
                  <a:t> ≥0,x</a:t>
                </a:r>
                <a:r>
                  <a:rPr lang="en-US" altLang="zh-CN" sz="2800" baseline="-25000" dirty="0">
                    <a:solidFill>
                      <a:srgbClr val="060606"/>
                    </a:solidFill>
                  </a:rPr>
                  <a:t>5</a:t>
                </a:r>
                <a:r>
                  <a:rPr lang="en-US" altLang="zh-CN" sz="2800" dirty="0">
                    <a:solidFill>
                      <a:srgbClr val="060606"/>
                    </a:solidFill>
                  </a:rPr>
                  <a:t> ≥0 </a:t>
                </a:r>
                <a:r>
                  <a:rPr lang="zh-CN" altLang="en-US" sz="2800" dirty="0">
                    <a:solidFill>
                      <a:srgbClr val="060606"/>
                    </a:solidFill>
                  </a:rPr>
                  <a:t>，</a:t>
                </a:r>
                <a:r>
                  <a:rPr lang="en-US" altLang="zh-CN" sz="2800" dirty="0">
                    <a:solidFill>
                      <a:srgbClr val="060606"/>
                    </a:solidFill>
                  </a:rPr>
                  <a:t>x</a:t>
                </a:r>
                <a:r>
                  <a:rPr lang="en-US" altLang="zh-CN" sz="2800" baseline="-25000" dirty="0">
                    <a:solidFill>
                      <a:srgbClr val="060606"/>
                    </a:solidFill>
                  </a:rPr>
                  <a:t>6</a:t>
                </a:r>
                <a:r>
                  <a:rPr lang="en-US" altLang="zh-CN" sz="2800" dirty="0">
                    <a:solidFill>
                      <a:srgbClr val="060606"/>
                    </a:solidFill>
                  </a:rPr>
                  <a:t> ≥0 </a:t>
                </a:r>
                <a:endParaRPr lang="zh-CN" altLang="en-US" sz="2800" dirty="0">
                  <a:solidFill>
                    <a:srgbClr val="060606"/>
                  </a:solidFill>
                </a:endParaRPr>
              </a:p>
            </p:txBody>
          </p:sp>
          <p:sp>
            <p:nvSpPr>
              <p:cNvPr id="8" name="矩形 7"/>
              <p:cNvSpPr/>
              <p:nvPr/>
            </p:nvSpPr>
            <p:spPr>
              <a:xfrm>
                <a:off x="4427984" y="4970785"/>
                <a:ext cx="5307528" cy="523220"/>
              </a:xfrm>
              <a:prstGeom prst="rect">
                <a:avLst/>
              </a:prstGeom>
            </p:spPr>
            <p:txBody>
              <a:bodyPr wrap="none">
                <a:spAutoFit/>
              </a:bodyPr>
              <a:lstStyle/>
              <a:p>
                <a:r>
                  <a:rPr lang="en-US" altLang="zh-CN" sz="2800" dirty="0">
                    <a:solidFill>
                      <a:srgbClr val="060606"/>
                    </a:solidFill>
                  </a:rPr>
                  <a:t>0.5x</a:t>
                </a:r>
                <a:r>
                  <a:rPr lang="en-US" altLang="zh-CN" sz="2800" baseline="-25000" dirty="0">
                    <a:solidFill>
                      <a:srgbClr val="060606"/>
                    </a:solidFill>
                  </a:rPr>
                  <a:t>1</a:t>
                </a:r>
                <a:r>
                  <a:rPr lang="en-US" altLang="zh-CN" sz="2800" dirty="0">
                    <a:solidFill>
                      <a:srgbClr val="060606"/>
                    </a:solidFill>
                  </a:rPr>
                  <a:t> + 0.5x</a:t>
                </a:r>
                <a:r>
                  <a:rPr lang="en-US" altLang="zh-CN" sz="2800" baseline="-25000" dirty="0">
                    <a:solidFill>
                      <a:srgbClr val="060606"/>
                    </a:solidFill>
                  </a:rPr>
                  <a:t>2</a:t>
                </a:r>
                <a:r>
                  <a:rPr lang="en-US" altLang="zh-CN" sz="2800" dirty="0">
                    <a:solidFill>
                      <a:srgbClr val="060606"/>
                    </a:solidFill>
                  </a:rPr>
                  <a:t>       </a:t>
                </a:r>
                <a:r>
                  <a:rPr lang="en-US" altLang="zh-CN" sz="2800" dirty="0">
                    <a:solidFill>
                      <a:srgbClr val="FF0000"/>
                    </a:solidFill>
                  </a:rPr>
                  <a:t>+ x</a:t>
                </a:r>
                <a:r>
                  <a:rPr lang="en-US" altLang="zh-CN" sz="2800" baseline="-25000" dirty="0">
                    <a:solidFill>
                      <a:srgbClr val="FF0000"/>
                    </a:solidFill>
                  </a:rPr>
                  <a:t>4</a:t>
                </a:r>
                <a:r>
                  <a:rPr lang="en-US" altLang="zh-CN" sz="2800" dirty="0">
                    <a:solidFill>
                      <a:srgbClr val="FF0000"/>
                    </a:solidFill>
                  </a:rPr>
                  <a:t>                    = </a:t>
                </a:r>
                <a:r>
                  <a:rPr lang="en-US" altLang="zh-CN" sz="2800" dirty="0">
                    <a:solidFill>
                      <a:srgbClr val="060606"/>
                    </a:solidFill>
                  </a:rPr>
                  <a:t>6</a:t>
                </a:r>
                <a:endParaRPr lang="zh-CN" altLang="en-US" sz="2800" dirty="0">
                  <a:solidFill>
                    <a:srgbClr val="060606"/>
                  </a:solidFill>
                </a:endParaRPr>
              </a:p>
            </p:txBody>
          </p:sp>
        </p:grpSp>
        <p:sp>
          <p:nvSpPr>
            <p:cNvPr id="11" name="TextBox 10"/>
            <p:cNvSpPr txBox="1"/>
            <p:nvPr/>
          </p:nvSpPr>
          <p:spPr>
            <a:xfrm>
              <a:off x="179512" y="5229200"/>
              <a:ext cx="8568952" cy="1200329"/>
            </a:xfrm>
            <a:prstGeom prst="rect">
              <a:avLst/>
            </a:prstGeom>
            <a:noFill/>
          </p:spPr>
          <p:txBody>
            <a:bodyPr wrap="square" rtlCol="0">
              <a:spAutoFit/>
            </a:bodyPr>
            <a:lstStyle/>
            <a:p>
              <a:r>
                <a:rPr lang="zh-CN" altLang="en-US" sz="2400" dirty="0"/>
                <a:t>然后，约束条件保持原样，则凸集不变，这样无论目标函数是怎样的，计算得到的基可行解才会成为原问题中基可行解</a:t>
              </a:r>
              <a:r>
                <a:rPr lang="en-US" altLang="zh-CN" sz="2400" dirty="0"/>
                <a:t>(</a:t>
              </a:r>
              <a:r>
                <a:rPr lang="zh-CN" altLang="en-US" sz="2400" dirty="0"/>
                <a:t>凸集上的顶点</a:t>
              </a:r>
              <a:r>
                <a:rPr lang="en-US" altLang="zh-CN" sz="2400" dirty="0"/>
                <a:t>)</a:t>
              </a:r>
              <a:r>
                <a:rPr lang="zh-CN" altLang="en-US" sz="2400" dirty="0"/>
                <a:t>，才能说找到一个原问题的初始基可行解。</a:t>
              </a:r>
              <a:endParaRPr lang="zh-CN" altLang="en-US" sz="2400" dirty="0"/>
            </a:p>
          </p:txBody>
        </p:sp>
        <p:cxnSp>
          <p:nvCxnSpPr>
            <p:cNvPr id="13" name="直接箭头连接符 12"/>
            <p:cNvCxnSpPr>
              <a:endCxn id="11" idx="0"/>
            </p:cNvCxnSpPr>
            <p:nvPr/>
          </p:nvCxnSpPr>
          <p:spPr bwMode="auto">
            <a:xfrm>
              <a:off x="4374024" y="5105642"/>
              <a:ext cx="89964" cy="123558"/>
            </a:xfrm>
            <a:prstGeom prst="straightConnector1">
              <a:avLst/>
            </a:prstGeom>
            <a:solidFill>
              <a:schemeClr val="accent1"/>
            </a:solidFill>
            <a:ln w="952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2" name="矩形 21"/>
          <p:cNvSpPr/>
          <p:nvPr/>
        </p:nvSpPr>
        <p:spPr>
          <a:xfrm>
            <a:off x="264160" y="864178"/>
            <a:ext cx="9936296" cy="1826975"/>
          </a:xfrm>
          <a:prstGeom prst="rect">
            <a:avLst/>
          </a:prstGeom>
        </p:spPr>
        <p:txBody>
          <a:bodyPr wrap="square">
            <a:spAutoFit/>
          </a:bodyPr>
          <a:lstStyle/>
          <a:p>
            <a:pPr marL="342900" indent="-342900" algn="just" fontAlgn="base">
              <a:lnSpc>
                <a:spcPct val="110000"/>
              </a:lnSpc>
              <a:spcAft>
                <a:spcPct val="0"/>
              </a:spcAft>
            </a:pPr>
            <a:r>
              <a:rPr lang="zh-CN" altLang="en-US" sz="2400" dirty="0">
                <a:solidFill>
                  <a:srgbClr val="060606"/>
                </a:solidFill>
              </a:rPr>
              <a:t>首先，对于目标函数，同除以</a:t>
            </a:r>
            <a:r>
              <a:rPr lang="en-US" altLang="zh-CN" sz="2400" dirty="0">
                <a:solidFill>
                  <a:srgbClr val="060606"/>
                </a:solidFill>
              </a:rPr>
              <a:t>M</a:t>
            </a:r>
            <a:r>
              <a:rPr lang="zh-CN" altLang="en-US" sz="2400" dirty="0">
                <a:solidFill>
                  <a:srgbClr val="060606"/>
                </a:solidFill>
              </a:rPr>
              <a:t>，忽略原问题中的目标函数约束，因为</a:t>
            </a:r>
            <a:r>
              <a:rPr lang="en-US" altLang="zh-CN" sz="2400" dirty="0">
                <a:solidFill>
                  <a:srgbClr val="060606"/>
                </a:solidFill>
              </a:rPr>
              <a:t>M=+∞</a:t>
            </a:r>
            <a:r>
              <a:rPr lang="zh-CN" altLang="en-US" sz="2400" dirty="0">
                <a:solidFill>
                  <a:srgbClr val="060606"/>
                </a:solidFill>
              </a:rPr>
              <a:t>，得到第一阶段</a:t>
            </a:r>
            <a:r>
              <a:rPr lang="en-US" altLang="zh-CN" sz="2400" dirty="0">
                <a:solidFill>
                  <a:srgbClr val="060606"/>
                </a:solidFill>
              </a:rPr>
              <a:t>LPQ</a:t>
            </a:r>
            <a:r>
              <a:rPr lang="zh-CN" altLang="en-US" sz="2400" dirty="0">
                <a:solidFill>
                  <a:srgbClr val="060606"/>
                </a:solidFill>
              </a:rPr>
              <a:t>问题的目标函数。而第一阶段的</a:t>
            </a:r>
            <a:r>
              <a:rPr lang="en-US" altLang="zh-CN" sz="2400" dirty="0">
                <a:solidFill>
                  <a:srgbClr val="060606"/>
                </a:solidFill>
              </a:rPr>
              <a:t>LPQ</a:t>
            </a:r>
            <a:r>
              <a:rPr lang="zh-CN" altLang="en-US" sz="2400" dirty="0">
                <a:solidFill>
                  <a:srgbClr val="060606"/>
                </a:solidFill>
              </a:rPr>
              <a:t>问题的目标函数是与原问题息息相关的</a:t>
            </a:r>
            <a:r>
              <a:rPr lang="en-US" altLang="zh-CN" sz="2400" dirty="0">
                <a:solidFill>
                  <a:srgbClr val="060606"/>
                </a:solidFill>
              </a:rPr>
              <a:t>——</a:t>
            </a:r>
            <a:r>
              <a:rPr lang="zh-CN" altLang="en-US" sz="2400" dirty="0">
                <a:solidFill>
                  <a:srgbClr val="060606"/>
                </a:solidFill>
              </a:rPr>
              <a:t>决策的还是同样的内容。</a:t>
            </a:r>
            <a:endParaRPr lang="en-US" altLang="zh-CN" sz="2400" dirty="0">
              <a:solidFill>
                <a:srgbClr val="060606"/>
              </a:solidFill>
            </a:endParaRPr>
          </a:p>
          <a:p>
            <a:pPr marL="342900" indent="-342900" algn="ctr" fontAlgn="base">
              <a:lnSpc>
                <a:spcPct val="110000"/>
              </a:lnSpc>
              <a:spcAft>
                <a:spcPct val="0"/>
              </a:spcAft>
            </a:pPr>
            <a:r>
              <a:rPr lang="en-US" altLang="zh-CN" sz="3200" dirty="0">
                <a:solidFill>
                  <a:srgbClr val="060606"/>
                </a:solidFill>
              </a:rPr>
              <a:t>max-z  -1.1x</a:t>
            </a:r>
            <a:r>
              <a:rPr lang="en-US" altLang="zh-CN" sz="3200" baseline="-25000" dirty="0">
                <a:solidFill>
                  <a:srgbClr val="060606"/>
                </a:solidFill>
              </a:rPr>
              <a:t>1</a:t>
            </a:r>
            <a:r>
              <a:rPr lang="en-US" altLang="zh-CN" sz="3200" dirty="0">
                <a:solidFill>
                  <a:srgbClr val="060606"/>
                </a:solidFill>
              </a:rPr>
              <a:t> -0.9x</a:t>
            </a:r>
            <a:r>
              <a:rPr lang="en-US" altLang="zh-CN" sz="3200" baseline="-25000" dirty="0">
                <a:solidFill>
                  <a:srgbClr val="060606"/>
                </a:solidFill>
              </a:rPr>
              <a:t>2</a:t>
            </a:r>
            <a:r>
              <a:rPr lang="en-US" altLang="zh-CN" sz="3200" dirty="0">
                <a:solidFill>
                  <a:srgbClr val="060606"/>
                </a:solidFill>
              </a:rPr>
              <a:t> + x</a:t>
            </a:r>
            <a:r>
              <a:rPr lang="en-US" altLang="zh-CN" sz="3200" baseline="-25000" dirty="0">
                <a:solidFill>
                  <a:srgbClr val="060606"/>
                </a:solidFill>
              </a:rPr>
              <a:t>5</a:t>
            </a:r>
            <a:r>
              <a:rPr lang="en-US" altLang="zh-CN" sz="3200" dirty="0">
                <a:solidFill>
                  <a:srgbClr val="060606"/>
                </a:solidFill>
              </a:rPr>
              <a:t> =-12</a:t>
            </a:r>
            <a:endParaRPr lang="en-US" altLang="zh-CN" sz="3200" dirty="0">
              <a:solidFill>
                <a:srgbClr val="06060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2000"/>
                                        <p:tgtEl>
                                          <p:spTgt spid="2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xEl>
                                              <p:pRg st="1" end="1"/>
                                            </p:txEl>
                                          </p:spTgt>
                                        </p:tgtEl>
                                        <p:attrNameLst>
                                          <p:attrName>style.visibility</p:attrName>
                                        </p:attrNameLst>
                                      </p:cBhvr>
                                      <p:to>
                                        <p:strVal val="visible"/>
                                      </p:to>
                                    </p:set>
                                    <p:animEffect transition="in" filter="fade">
                                      <p:cBhvr>
                                        <p:cTn id="10" dur="2000"/>
                                        <p:tgtEl>
                                          <p:spTgt spid="2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allAtOnce"/>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7384"/>
            <a:ext cx="10221913" cy="793750"/>
          </a:xfrm>
        </p:spPr>
        <p:txBody>
          <a:bodyPr>
            <a:normAutofit/>
          </a:bodyPr>
          <a:lstStyle/>
          <a:p>
            <a:pPr lvl="0"/>
            <a:r>
              <a:rPr lang="zh-CN" altLang="en-US" sz="3200" dirty="0">
                <a:solidFill>
                  <a:srgbClr val="060606"/>
                </a:solidFill>
              </a:rPr>
              <a:t>用单纯形法求解第一阶段的简单标准形</a:t>
            </a:r>
            <a:r>
              <a:rPr lang="en-US" altLang="zh-CN" sz="3200" dirty="0">
                <a:solidFill>
                  <a:srgbClr val="060606"/>
                </a:solidFill>
              </a:rPr>
              <a:t>LPQ</a:t>
            </a:r>
            <a:r>
              <a:rPr lang="zh-CN" altLang="en-US" sz="3200" dirty="0">
                <a:solidFill>
                  <a:srgbClr val="060606"/>
                </a:solidFill>
              </a:rPr>
              <a:t>：</a:t>
            </a:r>
            <a:endParaRPr lang="zh-CN" altLang="en-US" sz="3200" dirty="0">
              <a:solidFill>
                <a:srgbClr val="060606"/>
              </a:solidFill>
            </a:endParaRPr>
          </a:p>
        </p:txBody>
      </p:sp>
      <p:graphicFrame>
        <p:nvGraphicFramePr>
          <p:cNvPr id="3" name="表格 2"/>
          <p:cNvGraphicFramePr>
            <a:graphicFrameLocks noGrp="1"/>
          </p:cNvGraphicFramePr>
          <p:nvPr/>
        </p:nvGraphicFramePr>
        <p:xfrm>
          <a:off x="239584" y="844208"/>
          <a:ext cx="11617136" cy="5577840"/>
        </p:xfrm>
        <a:graphic>
          <a:graphicData uri="http://schemas.openxmlformats.org/drawingml/2006/table">
            <a:tbl>
              <a:tblPr firstRow="1" bandRow="1">
                <a:tableStyleId>{5C22544A-7EE6-4342-B048-85BDC9FD1C3A}</a:tableStyleId>
              </a:tblPr>
              <a:tblGrid>
                <a:gridCol w="968095"/>
                <a:gridCol w="8809661"/>
                <a:gridCol w="1839380"/>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zh-CN" altLang="en-US" sz="2400" baseline="0" dirty="0">
                          <a:solidFill>
                            <a:srgbClr val="060606"/>
                          </a:solidFill>
                        </a:rPr>
                        <a:t>比值</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r>
                        <a:rPr lang="en-US" altLang="zh-CN" sz="2400" dirty="0">
                          <a:solidFill>
                            <a:srgbClr val="060606"/>
                          </a:solidFill>
                        </a:rPr>
                        <a:t>-z</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3</a:t>
                      </a:r>
                      <a:endParaRPr lang="en-US" altLang="zh-CN" sz="2400" baseline="-25000" dirty="0">
                        <a:solidFill>
                          <a:srgbClr val="060606"/>
                        </a:solidFill>
                      </a:endParaRPr>
                    </a:p>
                    <a:p>
                      <a:r>
                        <a:rPr lang="en-US" altLang="zh-CN" sz="2400" dirty="0">
                          <a:solidFill>
                            <a:srgbClr val="060606"/>
                          </a:solidFill>
                        </a:rPr>
                        <a:t>x</a:t>
                      </a:r>
                      <a:r>
                        <a:rPr lang="en-US" altLang="zh-CN" sz="2400" baseline="-25000" dirty="0">
                          <a:solidFill>
                            <a:srgbClr val="060606"/>
                          </a:solidFill>
                        </a:rPr>
                        <a:t>4</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6</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a:t>
                      </a:r>
                      <a:r>
                        <a:rPr lang="en-US" altLang="zh-CN" sz="2400" dirty="0">
                          <a:solidFill>
                            <a:srgbClr val="060606"/>
                          </a:solidFill>
                        </a:rPr>
                        <a:t>-1.1            -0.9              0         </a:t>
                      </a:r>
                      <a:r>
                        <a:rPr lang="en-US" altLang="zh-CN" sz="2400" dirty="0" err="1">
                          <a:solidFill>
                            <a:srgbClr val="060606"/>
                          </a:solidFill>
                        </a:rPr>
                        <a:t>0</a:t>
                      </a:r>
                      <a:r>
                        <a:rPr lang="en-US" altLang="zh-CN" sz="2400" dirty="0">
                          <a:solidFill>
                            <a:srgbClr val="060606"/>
                          </a:solidFill>
                        </a:rPr>
                        <a:t>            1          0</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0.3            0.1               1         0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0          0.5            </a:t>
                      </a:r>
                      <a:r>
                        <a:rPr lang="en-US" altLang="zh-CN" sz="2400" baseline="0" dirty="0" err="1">
                          <a:solidFill>
                            <a:srgbClr val="060606"/>
                          </a:solidFill>
                        </a:rPr>
                        <a:t>0.5</a:t>
                      </a:r>
                      <a:r>
                        <a:rPr lang="en-US" altLang="zh-CN" sz="2400" baseline="0" dirty="0">
                          <a:solidFill>
                            <a:srgbClr val="060606"/>
                          </a:solidFill>
                        </a:rPr>
                        <a:t>               0          1            0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0          0.6            0.4               0          </a:t>
                      </a:r>
                      <a:r>
                        <a:rPr lang="en-US" altLang="zh-CN" sz="2400" baseline="0" dirty="0" err="1">
                          <a:solidFill>
                            <a:srgbClr val="060606"/>
                          </a:solidFill>
                        </a:rPr>
                        <a:t>0</a:t>
                      </a:r>
                      <a:r>
                        <a:rPr lang="en-US" altLang="zh-CN" sz="2400" baseline="0" dirty="0">
                          <a:solidFill>
                            <a:srgbClr val="060606"/>
                          </a:solidFill>
                        </a:rPr>
                        <a:t>            -1         1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-12</a:t>
                      </a:r>
                      <a:endParaRPr lang="en-US" altLang="zh-CN" sz="2400" dirty="0">
                        <a:solidFill>
                          <a:srgbClr val="060606"/>
                        </a:solidFill>
                      </a:endParaRPr>
                    </a:p>
                    <a:p>
                      <a:r>
                        <a:rPr lang="en-US" altLang="zh-CN" sz="2400" dirty="0">
                          <a:solidFill>
                            <a:srgbClr val="060606"/>
                          </a:solidFill>
                        </a:rPr>
                        <a:t>2.7</a:t>
                      </a:r>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r>
                        <a:rPr lang="en-US" altLang="zh-CN" sz="2400" dirty="0">
                          <a:solidFill>
                            <a:srgbClr val="060606"/>
                          </a:solidFill>
                        </a:rPr>
                        <a:t>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altLang="zh-CN" sz="2400" dirty="0">
                          <a:solidFill>
                            <a:srgbClr val="060606"/>
                          </a:solidFill>
                        </a:rPr>
                        <a:t>-z</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r>
                        <a:rPr lang="en-US" altLang="zh-CN" sz="2400" dirty="0">
                          <a:solidFill>
                            <a:srgbClr val="060606"/>
                          </a:solidFill>
                        </a:rPr>
                        <a:t>x</a:t>
                      </a:r>
                      <a:r>
                        <a:rPr lang="en-US" altLang="zh-CN" sz="2400" baseline="-25000" dirty="0">
                          <a:solidFill>
                            <a:srgbClr val="060606"/>
                          </a:solidFill>
                        </a:rPr>
                        <a:t>4</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6</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-30/16         11/3     0           1            0         </a:t>
                      </a:r>
                      <a:r>
                        <a:rPr lang="en-US" altLang="zh-CN" sz="2400" dirty="0" err="1">
                          <a:solidFill>
                            <a:srgbClr val="060606"/>
                          </a:solidFill>
                        </a:rPr>
                        <a:t>0</a:t>
                      </a:r>
                      <a:r>
                        <a:rPr lang="en-US" altLang="zh-CN" sz="2400" baseline="0" dirty="0">
                          <a:solidFill>
                            <a:srgbClr val="060606"/>
                          </a:solidFill>
                        </a:rPr>
                        <a:t>           1            1/3               10/3     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1/3              -5/3       1           0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0.2               -2           0         -1            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-2.1</a:t>
                      </a:r>
                      <a:endParaRPr lang="en-US" altLang="zh-CN" sz="2400" dirty="0">
                        <a:solidFill>
                          <a:srgbClr val="060606"/>
                        </a:solidFill>
                      </a:endParaRPr>
                    </a:p>
                    <a:p>
                      <a:r>
                        <a:rPr lang="en-US" altLang="zh-CN" sz="2400" dirty="0">
                          <a:solidFill>
                            <a:srgbClr val="060606"/>
                          </a:solidFill>
                        </a:rPr>
                        <a:t>9</a:t>
                      </a:r>
                      <a:endParaRPr lang="en-US" altLang="zh-CN" sz="2400" dirty="0">
                        <a:solidFill>
                          <a:srgbClr val="060606"/>
                        </a:solidFill>
                      </a:endParaRPr>
                    </a:p>
                    <a:p>
                      <a:r>
                        <a:rPr lang="en-US" altLang="zh-CN" sz="2400" dirty="0">
                          <a:solidFill>
                            <a:srgbClr val="060606"/>
                          </a:solidFill>
                        </a:rPr>
                        <a:t>1.5</a:t>
                      </a:r>
                      <a:endParaRPr lang="en-US" altLang="zh-CN" sz="2400" dirty="0">
                        <a:solidFill>
                          <a:srgbClr val="060606"/>
                        </a:solidFill>
                      </a:endParaRPr>
                    </a:p>
                    <a:p>
                      <a:r>
                        <a:rPr lang="en-US" altLang="zh-CN" sz="2400" dirty="0">
                          <a:solidFill>
                            <a:srgbClr val="060606"/>
                          </a:solidFill>
                        </a:rPr>
                        <a:t>0.6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altLang="zh-CN" sz="2400" dirty="0">
                          <a:solidFill>
                            <a:srgbClr val="060606"/>
                          </a:solidFill>
                        </a:rPr>
                        <a:t>-z</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r>
                        <a:rPr lang="en-US" altLang="zh-CN" sz="2400" dirty="0">
                          <a:solidFill>
                            <a:srgbClr val="060606"/>
                          </a:solidFill>
                        </a:rPr>
                        <a:t>x</a:t>
                      </a:r>
                      <a:r>
                        <a:rPr lang="en-US" altLang="zh-CN" sz="2400" baseline="-25000" dirty="0">
                          <a:solidFill>
                            <a:srgbClr val="060606"/>
                          </a:solidFill>
                        </a:rPr>
                        <a:t>4</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-5/3        0       -5/3        8/3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20/3        0        5/3        -5/3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5/3           1        5/3       -5/3        0              1               -10           0         -5           1           5</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-0.5</a:t>
                      </a:r>
                      <a:endParaRPr lang="en-US" altLang="zh-CN" sz="2400" dirty="0">
                        <a:solidFill>
                          <a:srgbClr val="060606"/>
                        </a:solidFill>
                      </a:endParaRPr>
                    </a:p>
                    <a:p>
                      <a:r>
                        <a:rPr lang="en-US" altLang="zh-CN" sz="2400" dirty="0">
                          <a:solidFill>
                            <a:srgbClr val="060606"/>
                          </a:solidFill>
                        </a:rPr>
                        <a:t>8</a:t>
                      </a:r>
                      <a:endParaRPr lang="en-US" altLang="zh-CN" sz="2400" dirty="0">
                        <a:solidFill>
                          <a:srgbClr val="060606"/>
                        </a:solidFill>
                      </a:endParaRPr>
                    </a:p>
                    <a:p>
                      <a:r>
                        <a:rPr lang="en-US" altLang="zh-CN" sz="2400" dirty="0">
                          <a:solidFill>
                            <a:srgbClr val="060606"/>
                          </a:solidFill>
                        </a:rPr>
                        <a:t>0.5</a:t>
                      </a:r>
                      <a:endParaRPr lang="en-US" altLang="zh-CN" sz="2400" dirty="0">
                        <a:solidFill>
                          <a:srgbClr val="060606"/>
                        </a:solidFill>
                      </a:endParaRPr>
                    </a:p>
                    <a:p>
                      <a:r>
                        <a:rPr lang="en-US" altLang="zh-CN" sz="2400" dirty="0">
                          <a:solidFill>
                            <a:srgbClr val="060606"/>
                          </a:solidFill>
                        </a:rPr>
                        <a:t>3</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702952" y="337904"/>
          <a:ext cx="10554327" cy="5303520"/>
        </p:xfrm>
        <a:graphic>
          <a:graphicData uri="http://schemas.openxmlformats.org/drawingml/2006/table">
            <a:tbl>
              <a:tblPr firstRow="1" bandRow="1">
                <a:tableStyleId>{5C22544A-7EE6-4342-B048-85BDC9FD1C3A}</a:tableStyleId>
              </a:tblPr>
              <a:tblGrid>
                <a:gridCol w="879527"/>
                <a:gridCol w="8003698"/>
                <a:gridCol w="1671102"/>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zh-CN" altLang="en-US" sz="2400" baseline="0" dirty="0">
                          <a:solidFill>
                            <a:srgbClr val="060606"/>
                          </a:solidFill>
                        </a:rPr>
                        <a:t>比值</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altLang="zh-CN" sz="2400" dirty="0">
                          <a:solidFill>
                            <a:srgbClr val="060606"/>
                          </a:solidFill>
                        </a:rPr>
                        <a:t>-z</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r>
                        <a:rPr lang="en-US" altLang="zh-CN" sz="2400" dirty="0">
                          <a:solidFill>
                            <a:srgbClr val="060606"/>
                          </a:solidFill>
                        </a:rPr>
                        <a:t>x</a:t>
                      </a:r>
                      <a:r>
                        <a:rPr lang="en-US" altLang="zh-CN" sz="2400" baseline="-25000" dirty="0">
                          <a:solidFill>
                            <a:srgbClr val="060606"/>
                          </a:solidFill>
                        </a:rPr>
                        <a:t>4</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-5/3        0       -5/3        8/3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20/3        0        5/3        -5/3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5/3           1        5/3       -5/3        0           </a:t>
                      </a:r>
                      <a:r>
                        <a:rPr lang="en-US" altLang="zh-CN" sz="2400" baseline="0" dirty="0" err="1">
                          <a:solidFill>
                            <a:srgbClr val="060606"/>
                          </a:solidFill>
                        </a:rPr>
                        <a:t>0</a:t>
                      </a:r>
                      <a:r>
                        <a:rPr lang="en-US" altLang="zh-CN" sz="2400" baseline="0" dirty="0">
                          <a:solidFill>
                            <a:srgbClr val="060606"/>
                          </a:solidFill>
                        </a:rPr>
                        <a:t>              1               -10           0         -5          5</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-0.5</a:t>
                      </a:r>
                      <a:endParaRPr lang="en-US" altLang="zh-CN" sz="2400" dirty="0">
                        <a:solidFill>
                          <a:srgbClr val="060606"/>
                        </a:solidFill>
                      </a:endParaRPr>
                    </a:p>
                    <a:p>
                      <a:r>
                        <a:rPr lang="en-US" altLang="zh-CN" sz="2400" dirty="0">
                          <a:solidFill>
                            <a:srgbClr val="060606"/>
                          </a:solidFill>
                        </a:rPr>
                        <a:t>8</a:t>
                      </a:r>
                      <a:endParaRPr lang="en-US" altLang="zh-CN" sz="2400" dirty="0">
                        <a:solidFill>
                          <a:srgbClr val="060606"/>
                        </a:solidFill>
                      </a:endParaRPr>
                    </a:p>
                    <a:p>
                      <a:r>
                        <a:rPr lang="en-US" altLang="zh-CN" sz="2400" dirty="0">
                          <a:solidFill>
                            <a:srgbClr val="060606"/>
                          </a:solidFill>
                        </a:rPr>
                        <a:t>0.5</a:t>
                      </a:r>
                      <a:endParaRPr lang="en-US" altLang="zh-CN" sz="2400" dirty="0">
                        <a:solidFill>
                          <a:srgbClr val="060606"/>
                        </a:solidFill>
                      </a:endParaRPr>
                    </a:p>
                    <a:p>
                      <a:r>
                        <a:rPr lang="en-US" altLang="zh-CN" sz="2400" dirty="0">
                          <a:solidFill>
                            <a:srgbClr val="060606"/>
                          </a:solidFill>
                        </a:rPr>
                        <a:t>3</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US" altLang="zh-CN" sz="2400" dirty="0">
                          <a:solidFill>
                            <a:srgbClr val="060606"/>
                          </a:solidFill>
                        </a:rPr>
                        <a:t>-z</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p>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1          0             1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-4         -5            5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3/5         1            -1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6            5            -5</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r>
                        <a:rPr lang="en-US" altLang="zh-CN" sz="2400" dirty="0">
                          <a:solidFill>
                            <a:srgbClr val="060606"/>
                          </a:solidFill>
                        </a:rPr>
                        <a:t>0.3</a:t>
                      </a:r>
                      <a:endParaRPr lang="en-US" altLang="zh-CN" sz="2400" dirty="0">
                        <a:solidFill>
                          <a:srgbClr val="060606"/>
                        </a:solidFill>
                      </a:endParaRPr>
                    </a:p>
                    <a:p>
                      <a:r>
                        <a:rPr lang="en-US" altLang="zh-CN" sz="2400" dirty="0">
                          <a:solidFill>
                            <a:srgbClr val="060606"/>
                          </a:solidFill>
                        </a:rPr>
                        <a:t>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矩形 4"/>
          <p:cNvSpPr/>
          <p:nvPr/>
        </p:nvSpPr>
        <p:spPr>
          <a:xfrm>
            <a:off x="2369992" y="6094740"/>
            <a:ext cx="7220246" cy="523220"/>
          </a:xfrm>
          <a:prstGeom prst="rect">
            <a:avLst/>
          </a:prstGeom>
        </p:spPr>
        <p:txBody>
          <a:bodyPr wrap="none">
            <a:spAutoFit/>
          </a:bodyPr>
          <a:lstStyle/>
          <a:p>
            <a:r>
              <a:rPr lang="zh-CN" altLang="en-US" sz="2800" dirty="0">
                <a:solidFill>
                  <a:srgbClr val="0000AC"/>
                </a:solidFill>
              </a:rPr>
              <a:t>获得一个基可行解，</a:t>
            </a:r>
            <a:r>
              <a:rPr lang="en-US" altLang="zh-CN" sz="2800" dirty="0">
                <a:solidFill>
                  <a:srgbClr val="0000AC"/>
                </a:solidFill>
              </a:rPr>
              <a:t>x=(6</a:t>
            </a:r>
            <a:r>
              <a:rPr lang="zh-CN" altLang="en-US" sz="2800" dirty="0">
                <a:solidFill>
                  <a:srgbClr val="0000AC"/>
                </a:solidFill>
              </a:rPr>
              <a:t>，</a:t>
            </a:r>
            <a:r>
              <a:rPr lang="en-US" altLang="zh-CN" sz="2800" dirty="0">
                <a:solidFill>
                  <a:srgbClr val="0000AC"/>
                </a:solidFill>
              </a:rPr>
              <a:t>6</a:t>
            </a:r>
            <a:r>
              <a:rPr lang="zh-CN" altLang="en-US" sz="2800" dirty="0">
                <a:solidFill>
                  <a:srgbClr val="0000AC"/>
                </a:solidFill>
              </a:rPr>
              <a:t>，</a:t>
            </a:r>
            <a:r>
              <a:rPr lang="en-US" altLang="zh-CN" sz="2800" dirty="0">
                <a:solidFill>
                  <a:srgbClr val="0000AC"/>
                </a:solidFill>
              </a:rPr>
              <a:t>0.3</a:t>
            </a:r>
            <a:r>
              <a:rPr lang="zh-CN" altLang="en-US" sz="2800" dirty="0">
                <a:solidFill>
                  <a:srgbClr val="0000AC"/>
                </a:solidFill>
              </a:rPr>
              <a:t>，</a:t>
            </a:r>
            <a:r>
              <a:rPr lang="en-US" altLang="zh-CN" sz="2800" dirty="0">
                <a:solidFill>
                  <a:srgbClr val="0000AC"/>
                </a:solidFill>
              </a:rPr>
              <a:t>0</a:t>
            </a:r>
            <a:r>
              <a:rPr lang="zh-CN" altLang="en-US" sz="2800" dirty="0">
                <a:solidFill>
                  <a:srgbClr val="0000AC"/>
                </a:solidFill>
              </a:rPr>
              <a:t>，</a:t>
            </a:r>
            <a:r>
              <a:rPr lang="en-US" altLang="zh-CN" sz="2800" dirty="0">
                <a:solidFill>
                  <a:srgbClr val="0000AC"/>
                </a:solidFill>
              </a:rPr>
              <a:t>0</a:t>
            </a:r>
            <a:r>
              <a:rPr lang="zh-CN" altLang="en-US" sz="2800" dirty="0">
                <a:solidFill>
                  <a:srgbClr val="0000AC"/>
                </a:solidFill>
              </a:rPr>
              <a:t>，</a:t>
            </a:r>
            <a:r>
              <a:rPr lang="en-US" altLang="zh-CN" sz="2800" dirty="0">
                <a:solidFill>
                  <a:srgbClr val="0000AC"/>
                </a:solidFill>
              </a:rPr>
              <a:t>0)</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0485"/>
            <a:ext cx="11673840" cy="793750"/>
          </a:xfrm>
        </p:spPr>
        <p:txBody>
          <a:bodyPr>
            <a:normAutofit/>
          </a:bodyPr>
          <a:lstStyle/>
          <a:p>
            <a:r>
              <a:rPr lang="zh-CN" altLang="en-US" sz="3200" dirty="0">
                <a:solidFill>
                  <a:srgbClr val="060606"/>
                </a:solidFill>
              </a:rPr>
              <a:t>第二阶段</a:t>
            </a:r>
            <a:r>
              <a:rPr lang="en-US" altLang="zh-CN" sz="3200" dirty="0">
                <a:solidFill>
                  <a:srgbClr val="060606"/>
                </a:solidFill>
              </a:rPr>
              <a:t>,</a:t>
            </a:r>
            <a:r>
              <a:rPr lang="zh-CN" altLang="en-US" sz="3200" dirty="0">
                <a:solidFill>
                  <a:srgbClr val="060606"/>
                </a:solidFill>
              </a:rPr>
              <a:t>从初始基可行解开始求解原问题</a:t>
            </a:r>
            <a:endParaRPr lang="zh-CN" altLang="en-US" sz="3200" dirty="0">
              <a:solidFill>
                <a:srgbClr val="060606"/>
              </a:solidFill>
            </a:endParaRPr>
          </a:p>
        </p:txBody>
      </p:sp>
      <p:graphicFrame>
        <p:nvGraphicFramePr>
          <p:cNvPr id="3" name="表格 2"/>
          <p:cNvGraphicFramePr>
            <a:graphicFrameLocks noGrp="1"/>
          </p:cNvGraphicFramePr>
          <p:nvPr/>
        </p:nvGraphicFramePr>
        <p:xfrm>
          <a:off x="154313" y="713824"/>
          <a:ext cx="11854808" cy="5577840"/>
        </p:xfrm>
        <a:graphic>
          <a:graphicData uri="http://schemas.openxmlformats.org/drawingml/2006/table">
            <a:tbl>
              <a:tblPr firstRow="1" bandRow="1">
                <a:tableStyleId>{5C22544A-7EE6-4342-B048-85BDC9FD1C3A}</a:tableStyleId>
              </a:tblPr>
              <a:tblGrid>
                <a:gridCol w="1815697"/>
                <a:gridCol w="8162100"/>
                <a:gridCol w="1877011"/>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zh-CN" altLang="en-US" sz="2400" baseline="0" dirty="0">
                          <a:solidFill>
                            <a:srgbClr val="060606"/>
                          </a:solidFill>
                        </a:rPr>
                        <a:t>比值</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1          0             1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-4         -5            5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3/5         1            -1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6            5            -5</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r>
                        <a:rPr lang="en-US" altLang="zh-CN" sz="2400" dirty="0">
                          <a:solidFill>
                            <a:srgbClr val="060606"/>
                          </a:solidFill>
                        </a:rPr>
                        <a:t>0.3</a:t>
                      </a:r>
                      <a:endParaRPr lang="en-US" altLang="zh-CN" sz="2400" dirty="0">
                        <a:solidFill>
                          <a:srgbClr val="060606"/>
                        </a:solidFill>
                      </a:endParaRPr>
                    </a:p>
                    <a:p>
                      <a:r>
                        <a:rPr lang="en-US" altLang="zh-CN" sz="2400" dirty="0">
                          <a:solidFill>
                            <a:srgbClr val="060606"/>
                          </a:solidFill>
                        </a:rPr>
                        <a:t>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-5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1            0                      5           </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r>
                        <a:rPr lang="en-US" altLang="zh-CN" sz="2400" dirty="0">
                          <a:solidFill>
                            <a:srgbClr val="060606"/>
                          </a:solidFill>
                        </a:rPr>
                        <a:t>0.3</a:t>
                      </a:r>
                      <a:endParaRPr lang="en-US" altLang="zh-CN" sz="2400" dirty="0">
                        <a:solidFill>
                          <a:srgbClr val="060606"/>
                        </a:solidFill>
                      </a:endParaRPr>
                    </a:p>
                    <a:p>
                      <a:r>
                        <a:rPr lang="en-US" altLang="zh-CN" sz="2400" dirty="0">
                          <a:solidFill>
                            <a:srgbClr val="060606"/>
                          </a:solidFill>
                        </a:rPr>
                        <a:t>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0.4</a:t>
                      </a:r>
                      <a:r>
                        <a:rPr lang="en-US" altLang="zh-CN" sz="2400" dirty="0">
                          <a:solidFill>
                            <a:srgbClr val="060606"/>
                          </a:solidFill>
                        </a:rPr>
                        <a:t>         0.5         0                      </a:t>
                      </a:r>
                      <a:r>
                        <a:rPr lang="en-US" altLang="zh-CN" sz="2400" dirty="0" err="1">
                          <a:solidFill>
                            <a:srgbClr val="060606"/>
                          </a:solidFill>
                        </a:rPr>
                        <a:t>0</a:t>
                      </a:r>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-5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1            0                      5           </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r>
                        <a:rPr lang="en-US" altLang="zh-CN" sz="2400" dirty="0">
                          <a:solidFill>
                            <a:srgbClr val="060606"/>
                          </a:solidFill>
                        </a:rPr>
                        <a:t>0.3</a:t>
                      </a:r>
                      <a:endParaRPr lang="en-US" altLang="zh-CN" sz="2400" dirty="0">
                        <a:solidFill>
                          <a:srgbClr val="060606"/>
                        </a:solidFill>
                      </a:endParaRPr>
                    </a:p>
                    <a:p>
                      <a:r>
                        <a:rPr lang="en-US" altLang="zh-CN" sz="2400" dirty="0">
                          <a:solidFill>
                            <a:srgbClr val="060606"/>
                          </a:solidFill>
                        </a:rPr>
                        <a:t>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extBox 3"/>
          <p:cNvSpPr txBox="1"/>
          <p:nvPr/>
        </p:nvSpPr>
        <p:spPr>
          <a:xfrm>
            <a:off x="220152" y="1755161"/>
            <a:ext cx="936104" cy="1200329"/>
          </a:xfrm>
          <a:prstGeom prst="rect">
            <a:avLst/>
          </a:prstGeom>
          <a:noFill/>
        </p:spPr>
        <p:txBody>
          <a:bodyPr wrap="square" rtlCol="0">
            <a:spAutoFit/>
          </a:bodyPr>
          <a:lstStyle/>
          <a:p>
            <a:r>
              <a:rPr lang="en-US" altLang="zh-CN" sz="2400" dirty="0">
                <a:solidFill>
                  <a:srgbClr val="0000AC"/>
                </a:solidFill>
                <a:latin typeface="+mn-ea"/>
              </a:rPr>
              <a:t>1</a:t>
            </a:r>
            <a:r>
              <a:rPr lang="zh-CN" altLang="en-US" sz="2400" dirty="0">
                <a:solidFill>
                  <a:srgbClr val="0000AC"/>
                </a:solidFill>
                <a:latin typeface="+mn-ea"/>
              </a:rPr>
              <a:t>阶段的解</a:t>
            </a:r>
            <a:endParaRPr lang="zh-CN" altLang="en-US" sz="2400" dirty="0">
              <a:solidFill>
                <a:srgbClr val="0000AC"/>
              </a:solidFill>
              <a:latin typeface="+mn-ea"/>
            </a:endParaRPr>
          </a:p>
        </p:txBody>
      </p:sp>
      <p:sp>
        <p:nvSpPr>
          <p:cNvPr id="5" name="TextBox 4"/>
          <p:cNvSpPr txBox="1"/>
          <p:nvPr/>
        </p:nvSpPr>
        <p:spPr>
          <a:xfrm>
            <a:off x="148144" y="3339337"/>
            <a:ext cx="936104" cy="1200329"/>
          </a:xfrm>
          <a:prstGeom prst="rect">
            <a:avLst/>
          </a:prstGeom>
          <a:noFill/>
        </p:spPr>
        <p:txBody>
          <a:bodyPr wrap="square" rtlCol="0">
            <a:spAutoFit/>
          </a:bodyPr>
          <a:lstStyle/>
          <a:p>
            <a:r>
              <a:rPr lang="zh-CN" altLang="en-US" sz="2400" dirty="0">
                <a:solidFill>
                  <a:srgbClr val="0000AC"/>
                </a:solidFill>
                <a:latin typeface="+mn-ea"/>
              </a:rPr>
              <a:t>去掉人工变量</a:t>
            </a:r>
            <a:endParaRPr lang="zh-CN" altLang="en-US" sz="2400" dirty="0">
              <a:solidFill>
                <a:srgbClr val="0000AC"/>
              </a:solidFill>
              <a:latin typeface="+mn-ea"/>
            </a:endParaRPr>
          </a:p>
        </p:txBody>
      </p:sp>
      <p:sp>
        <p:nvSpPr>
          <p:cNvPr id="6" name="TextBox 5"/>
          <p:cNvSpPr txBox="1"/>
          <p:nvPr/>
        </p:nvSpPr>
        <p:spPr>
          <a:xfrm>
            <a:off x="40640" y="4779496"/>
            <a:ext cx="936104" cy="1569660"/>
          </a:xfrm>
          <a:prstGeom prst="rect">
            <a:avLst/>
          </a:prstGeom>
          <a:noFill/>
        </p:spPr>
        <p:txBody>
          <a:bodyPr wrap="square" rtlCol="0">
            <a:spAutoFit/>
          </a:bodyPr>
          <a:lstStyle/>
          <a:p>
            <a:r>
              <a:rPr lang="zh-CN" altLang="en-US" sz="2400" dirty="0">
                <a:solidFill>
                  <a:srgbClr val="0000AC"/>
                </a:solidFill>
                <a:latin typeface="+mn-ea"/>
              </a:rPr>
              <a:t>原目标函数替代</a:t>
            </a:r>
            <a:endParaRPr lang="zh-CN" altLang="en-US" sz="2400" dirty="0">
              <a:solidFill>
                <a:srgbClr val="0000AC"/>
              </a:solidFill>
              <a:latin typeface="+mn-ea"/>
            </a:endParaRPr>
          </a:p>
        </p:txBody>
      </p:sp>
      <p:sp>
        <p:nvSpPr>
          <p:cNvPr id="8" name="TextBox 7"/>
          <p:cNvSpPr txBox="1"/>
          <p:nvPr/>
        </p:nvSpPr>
        <p:spPr>
          <a:xfrm>
            <a:off x="7538720" y="4783067"/>
            <a:ext cx="4226560" cy="1569660"/>
          </a:xfrm>
          <a:prstGeom prst="rect">
            <a:avLst/>
          </a:prstGeom>
          <a:noFill/>
        </p:spPr>
        <p:txBody>
          <a:bodyPr wrap="square" rtlCol="0">
            <a:spAutoFit/>
          </a:bodyPr>
          <a:lstStyle/>
          <a:p>
            <a:r>
              <a:rPr lang="zh-CN" altLang="en-US" sz="2400" dirty="0">
                <a:solidFill>
                  <a:srgbClr val="FF0000"/>
                </a:solidFill>
              </a:rPr>
              <a:t>这时，替换以原问题的目标函数，并且有一个满足约束条件的基可行解。</a:t>
            </a:r>
            <a:r>
              <a:rPr lang="en-US" altLang="zh-CN" sz="2400" dirty="0">
                <a:solidFill>
                  <a:srgbClr val="FF0000"/>
                </a:solidFill>
              </a:rPr>
              <a:t>【</a:t>
            </a:r>
            <a:r>
              <a:rPr lang="zh-CN" altLang="en-US" sz="2400" dirty="0">
                <a:solidFill>
                  <a:srgbClr val="FF0000"/>
                </a:solidFill>
              </a:rPr>
              <a:t>对原问题来说就是一个初始基可行解</a:t>
            </a:r>
            <a:r>
              <a:rPr lang="en-US" altLang="zh-CN" sz="2400" dirty="0">
                <a:solidFill>
                  <a:srgbClr val="FF0000"/>
                </a:solidFill>
              </a:rPr>
              <a:t>】</a:t>
            </a:r>
            <a:endParaRPr lang="zh-CN" altLang="en-US" sz="2400" dirty="0">
              <a:solidFill>
                <a:srgbClr val="FF0000"/>
              </a:solidFill>
            </a:endParaRPr>
          </a:p>
        </p:txBody>
      </p:sp>
      <p:sp>
        <p:nvSpPr>
          <p:cNvPr id="10" name="TextBox 9"/>
          <p:cNvSpPr txBox="1"/>
          <p:nvPr/>
        </p:nvSpPr>
        <p:spPr>
          <a:xfrm>
            <a:off x="7538720" y="3339337"/>
            <a:ext cx="3352800" cy="1200329"/>
          </a:xfrm>
          <a:prstGeom prst="rect">
            <a:avLst/>
          </a:prstGeom>
          <a:noFill/>
        </p:spPr>
        <p:txBody>
          <a:bodyPr wrap="square" rtlCol="0">
            <a:spAutoFit/>
          </a:bodyPr>
          <a:lstStyle/>
          <a:p>
            <a:r>
              <a:rPr lang="zh-CN" altLang="en-US" sz="2400" dirty="0">
                <a:solidFill>
                  <a:srgbClr val="FF0000"/>
                </a:solidFill>
              </a:rPr>
              <a:t>此时获得了一个单位矩阵，这时的解是满足约束条件的</a:t>
            </a:r>
            <a:r>
              <a:rPr lang="en-US" altLang="zh-CN" sz="2400" dirty="0">
                <a:solidFill>
                  <a:srgbClr val="FF0000"/>
                </a:solidFill>
              </a:rPr>
              <a:t>!</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365760" y="44624"/>
          <a:ext cx="10988040" cy="3098800"/>
        </p:xfrm>
        <a:graphic>
          <a:graphicData uri="http://schemas.openxmlformats.org/drawingml/2006/table">
            <a:tbl>
              <a:tblPr firstRow="1" bandRow="1">
                <a:tableStyleId>{5C22544A-7EE6-4342-B048-85BDC9FD1C3A}</a:tableStyleId>
              </a:tblPr>
              <a:tblGrid>
                <a:gridCol w="1682942"/>
                <a:gridCol w="7565325"/>
                <a:gridCol w="1739773"/>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zh-CN" altLang="en-US" sz="2400" baseline="0" dirty="0">
                          <a:solidFill>
                            <a:srgbClr val="060606"/>
                          </a:solidFill>
                        </a:rPr>
                        <a:t>比值</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237728">
                <a:tc>
                  <a:txBody>
                    <a:bodyPr/>
                    <a:lstStyle/>
                    <a:p>
                      <a:pPr algn="r"/>
                      <a:endParaRPr lang="en-US" altLang="zh-CN" sz="11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1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1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endParaRPr lang="en-US" altLang="zh-CN" sz="11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1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1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0.4</a:t>
                      </a:r>
                      <a:r>
                        <a:rPr lang="en-US" altLang="zh-CN" sz="2400" dirty="0">
                          <a:solidFill>
                            <a:srgbClr val="060606"/>
                          </a:solidFill>
                        </a:rPr>
                        <a:t>         0.5         0                      </a:t>
                      </a:r>
                      <a:r>
                        <a:rPr lang="en-US" altLang="zh-CN" sz="2400" dirty="0" err="1">
                          <a:solidFill>
                            <a:srgbClr val="060606"/>
                          </a:solidFill>
                        </a:rPr>
                        <a:t>0</a:t>
                      </a:r>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-5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1            0                      5           </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r>
                        <a:rPr lang="en-US" altLang="zh-CN" sz="2400" dirty="0">
                          <a:solidFill>
                            <a:srgbClr val="060606"/>
                          </a:solidFill>
                        </a:rPr>
                        <a:t>0.3</a:t>
                      </a:r>
                      <a:endParaRPr lang="en-US" altLang="zh-CN" sz="2400" dirty="0">
                        <a:solidFill>
                          <a:srgbClr val="060606"/>
                        </a:solidFill>
                      </a:endParaRPr>
                    </a:p>
                    <a:p>
                      <a:r>
                        <a:rPr lang="en-US" altLang="zh-CN" sz="2400" dirty="0">
                          <a:solidFill>
                            <a:srgbClr val="060606"/>
                          </a:solidFill>
                        </a:rPr>
                        <a:t>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下箭头 3"/>
          <p:cNvSpPr/>
          <p:nvPr/>
        </p:nvSpPr>
        <p:spPr bwMode="auto">
          <a:xfrm>
            <a:off x="3287688" y="3212976"/>
            <a:ext cx="288032" cy="1656184"/>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6" name="TextBox 5"/>
          <p:cNvSpPr txBox="1"/>
          <p:nvPr/>
        </p:nvSpPr>
        <p:spPr>
          <a:xfrm>
            <a:off x="3647728" y="3284984"/>
            <a:ext cx="6984776" cy="1569660"/>
          </a:xfrm>
          <a:prstGeom prst="rect">
            <a:avLst/>
          </a:prstGeom>
          <a:noFill/>
        </p:spPr>
        <p:txBody>
          <a:bodyPr wrap="square" rtlCol="0">
            <a:spAutoFit/>
          </a:bodyPr>
          <a:lstStyle/>
          <a:p>
            <a:r>
              <a:rPr lang="zh-CN" altLang="en-US" sz="2400" dirty="0">
                <a:solidFill>
                  <a:srgbClr val="060606"/>
                </a:solidFill>
                <a:latin typeface="+mn-ea"/>
              </a:rPr>
              <a:t>设法变换为单位矩阵</a:t>
            </a:r>
            <a:r>
              <a:rPr lang="en-US" altLang="zh-CN" sz="2400" dirty="0">
                <a:solidFill>
                  <a:srgbClr val="060606"/>
                </a:solidFill>
                <a:latin typeface="+mn-ea"/>
              </a:rPr>
              <a:t>(</a:t>
            </a:r>
            <a:r>
              <a:rPr lang="zh-CN" altLang="en-US" sz="2400" dirty="0">
                <a:solidFill>
                  <a:srgbClr val="0000AC"/>
                </a:solidFill>
                <a:latin typeface="+mn-ea"/>
              </a:rPr>
              <a:t>初始化</a:t>
            </a:r>
            <a:r>
              <a:rPr lang="zh-CN" altLang="en-US" sz="2400" dirty="0">
                <a:solidFill>
                  <a:srgbClr val="060606"/>
                </a:solidFill>
                <a:latin typeface="+mn-ea"/>
              </a:rPr>
              <a:t>，即，使目标函数中只包括非基变量，以便用第一阶段得到的顶点</a:t>
            </a:r>
            <a:r>
              <a:rPr lang="en-US" altLang="zh-CN" sz="2400" dirty="0">
                <a:solidFill>
                  <a:srgbClr val="060606"/>
                </a:solidFill>
                <a:latin typeface="+mn-ea"/>
              </a:rPr>
              <a:t>(</a:t>
            </a:r>
            <a:r>
              <a:rPr lang="zh-CN" altLang="en-US" sz="2400" dirty="0">
                <a:solidFill>
                  <a:srgbClr val="060606"/>
                </a:solidFill>
                <a:latin typeface="+mn-ea"/>
              </a:rPr>
              <a:t>基可行解</a:t>
            </a:r>
            <a:r>
              <a:rPr lang="en-US" altLang="zh-CN" sz="2400" dirty="0">
                <a:solidFill>
                  <a:srgbClr val="060606"/>
                </a:solidFill>
                <a:latin typeface="+mn-ea"/>
              </a:rPr>
              <a:t>)</a:t>
            </a:r>
            <a:r>
              <a:rPr lang="zh-CN" altLang="en-US" sz="2400" dirty="0">
                <a:solidFill>
                  <a:srgbClr val="060606"/>
                </a:solidFill>
                <a:latin typeface="+mn-ea"/>
              </a:rPr>
              <a:t>确立一条初始目标等值线，从而可以开始向目标值增大的方向逼近。</a:t>
            </a:r>
            <a:r>
              <a:rPr lang="en-US" altLang="zh-CN" sz="2400" dirty="0">
                <a:solidFill>
                  <a:srgbClr val="060606"/>
                </a:solidFill>
                <a:latin typeface="+mn-ea"/>
              </a:rPr>
              <a:t>)</a:t>
            </a:r>
            <a:endParaRPr lang="zh-CN" altLang="en-US" sz="2400" dirty="0">
              <a:solidFill>
                <a:srgbClr val="060606"/>
              </a:solidFill>
              <a:latin typeface="+mn-ea"/>
            </a:endParaRPr>
          </a:p>
        </p:txBody>
      </p:sp>
      <p:grpSp>
        <p:nvGrpSpPr>
          <p:cNvPr id="9" name="组合 8"/>
          <p:cNvGrpSpPr/>
          <p:nvPr/>
        </p:nvGrpSpPr>
        <p:grpSpPr>
          <a:xfrm>
            <a:off x="2135560" y="4869160"/>
            <a:ext cx="4072200" cy="1728192"/>
            <a:chOff x="611560" y="4581128"/>
            <a:chExt cx="4072200" cy="1728192"/>
          </a:xfrm>
        </p:grpSpPr>
        <p:sp>
          <p:nvSpPr>
            <p:cNvPr id="5" name="矩形 4"/>
            <p:cNvSpPr/>
            <p:nvPr/>
          </p:nvSpPr>
          <p:spPr>
            <a:xfrm>
              <a:off x="683568" y="4653136"/>
              <a:ext cx="3816424" cy="1569660"/>
            </a:xfrm>
            <a:prstGeom prst="rect">
              <a:avLst/>
            </a:prstGeom>
          </p:spPr>
          <p:txBody>
            <a:bodyPr wrap="square">
              <a:spAutoFit/>
            </a:bodyPr>
            <a:lstStyle/>
            <a:p>
              <a:r>
                <a:rPr lang="en-US" altLang="zh-CN" sz="2400" dirty="0">
                  <a:solidFill>
                    <a:srgbClr val="060606"/>
                  </a:solidFill>
                </a:rPr>
                <a:t>1         0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endParaRPr lang="en-US" altLang="zh-CN" sz="2400" dirty="0">
                <a:solidFill>
                  <a:srgbClr val="060606"/>
                </a:solidFill>
              </a:endParaRPr>
            </a:p>
            <a:p>
              <a:r>
                <a:rPr lang="en-US" altLang="zh-CN" sz="2400" dirty="0">
                  <a:solidFill>
                    <a:srgbClr val="060606"/>
                  </a:solidFill>
                </a:rPr>
                <a:t>0         1           0            </a:t>
              </a:r>
              <a:r>
                <a:rPr lang="en-US" altLang="zh-CN" sz="2400" dirty="0" err="1">
                  <a:solidFill>
                    <a:srgbClr val="060606"/>
                  </a:solidFill>
                </a:rPr>
                <a:t>0</a:t>
              </a:r>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1                     </a:t>
              </a:r>
              <a:endParaRPr lang="en-US" altLang="zh-CN" sz="2400" dirty="0">
                <a:solidFill>
                  <a:srgbClr val="060606"/>
                </a:solidFill>
              </a:endParaRPr>
            </a:p>
            <a:p>
              <a:r>
                <a:rPr lang="en-US" altLang="zh-CN" sz="2400" dirty="0">
                  <a:solidFill>
                    <a:srgbClr val="060606"/>
                  </a:solidFill>
                </a:rPr>
                <a:t>0         </a:t>
              </a:r>
              <a:r>
                <a:rPr lang="en-US" altLang="zh-CN" sz="2400" dirty="0" err="1">
                  <a:solidFill>
                    <a:srgbClr val="060606"/>
                  </a:solidFill>
                </a:rPr>
                <a:t>0</a:t>
              </a:r>
              <a:r>
                <a:rPr lang="en-US" altLang="zh-CN" sz="2400" dirty="0">
                  <a:solidFill>
                    <a:srgbClr val="060606"/>
                  </a:solidFill>
                </a:rPr>
                <a:t>           1            0 </a:t>
              </a:r>
              <a:endParaRPr lang="zh-CN" altLang="en-US" sz="2400" dirty="0"/>
            </a:p>
          </p:txBody>
        </p:sp>
        <p:sp>
          <p:nvSpPr>
            <p:cNvPr id="7" name="双括号 6"/>
            <p:cNvSpPr/>
            <p:nvPr/>
          </p:nvSpPr>
          <p:spPr bwMode="auto">
            <a:xfrm>
              <a:off x="611560" y="4581128"/>
              <a:ext cx="4072200" cy="1728192"/>
            </a:xfrm>
            <a:prstGeom prst="bracketPair">
              <a:avLst>
                <a:gd name="adj" fmla="val 7849"/>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8" name="灯片编号占位符 7"/>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172720" y="939512"/>
          <a:ext cx="11714479" cy="4937760"/>
        </p:xfrm>
        <a:graphic>
          <a:graphicData uri="http://schemas.openxmlformats.org/drawingml/2006/table">
            <a:tbl>
              <a:tblPr firstRow="1" bandRow="1">
                <a:tableStyleId>{5C22544A-7EE6-4342-B048-85BDC9FD1C3A}</a:tableStyleId>
              </a:tblPr>
              <a:tblGrid>
                <a:gridCol w="1794204"/>
                <a:gridCol w="8065483"/>
                <a:gridCol w="1854792"/>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zh-CN" altLang="en-US" sz="2400" baseline="0" dirty="0">
                          <a:solidFill>
                            <a:srgbClr val="060606"/>
                          </a:solidFill>
                        </a:rPr>
                        <a:t>比值</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0.4</a:t>
                      </a:r>
                      <a:r>
                        <a:rPr lang="en-US" altLang="zh-CN" sz="2400" dirty="0">
                          <a:solidFill>
                            <a:srgbClr val="060606"/>
                          </a:solidFill>
                        </a:rPr>
                        <a:t>         0.5         0                      </a:t>
                      </a:r>
                      <a:r>
                        <a:rPr lang="en-US" altLang="zh-CN" sz="2400" dirty="0" err="1">
                          <a:solidFill>
                            <a:srgbClr val="060606"/>
                          </a:solidFill>
                        </a:rPr>
                        <a:t>0</a:t>
                      </a:r>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-5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1            0                      5           </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r>
                        <a:rPr lang="en-US" altLang="zh-CN" sz="2400" dirty="0">
                          <a:solidFill>
                            <a:srgbClr val="060606"/>
                          </a:solidFill>
                        </a:rPr>
                        <a:t>0.3</a:t>
                      </a:r>
                      <a:endParaRPr lang="en-US" altLang="zh-CN" sz="2400" dirty="0">
                        <a:solidFill>
                          <a:srgbClr val="060606"/>
                        </a:solidFill>
                      </a:endParaRPr>
                    </a:p>
                    <a:p>
                      <a:r>
                        <a:rPr lang="en-US" altLang="zh-CN" sz="2400" dirty="0">
                          <a:solidFill>
                            <a:srgbClr val="060606"/>
                          </a:solidFill>
                        </a:rPr>
                        <a:t>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-0.5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-5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1            0                      5           </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-5.4</a:t>
                      </a:r>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r>
                        <a:rPr lang="en-US" altLang="zh-CN" sz="2400" dirty="0">
                          <a:solidFill>
                            <a:srgbClr val="060606"/>
                          </a:solidFill>
                        </a:rPr>
                        <a:t>0.3</a:t>
                      </a:r>
                      <a:endParaRPr lang="en-US" altLang="zh-CN" sz="2400" dirty="0">
                        <a:solidFill>
                          <a:srgbClr val="060606"/>
                        </a:solidFill>
                      </a:endParaRPr>
                    </a:p>
                    <a:p>
                      <a:r>
                        <a:rPr lang="en-US" altLang="zh-CN" sz="2400" dirty="0">
                          <a:solidFill>
                            <a:srgbClr val="060606"/>
                          </a:solidFill>
                        </a:rPr>
                        <a:t>6</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extBox 3"/>
          <p:cNvSpPr txBox="1"/>
          <p:nvPr/>
        </p:nvSpPr>
        <p:spPr>
          <a:xfrm>
            <a:off x="3863752" y="1877924"/>
            <a:ext cx="4608512" cy="461665"/>
          </a:xfrm>
          <a:prstGeom prst="rect">
            <a:avLst/>
          </a:prstGeom>
          <a:noFill/>
        </p:spPr>
        <p:txBody>
          <a:bodyPr wrap="square" rtlCol="0">
            <a:spAutoFit/>
          </a:bodyPr>
          <a:lstStyle/>
          <a:p>
            <a:r>
              <a:rPr lang="en-US" altLang="zh-CN" sz="2400" dirty="0">
                <a:solidFill>
                  <a:srgbClr val="0000AC"/>
                </a:solidFill>
                <a:latin typeface="+mn-ea"/>
              </a:rPr>
              <a:t>1</a:t>
            </a:r>
            <a:r>
              <a:rPr lang="zh-CN" altLang="en-US" sz="2400" dirty="0">
                <a:solidFill>
                  <a:srgbClr val="0000AC"/>
                </a:solidFill>
                <a:latin typeface="+mn-ea"/>
              </a:rPr>
              <a:t>阶段的解</a:t>
            </a:r>
            <a:endParaRPr lang="zh-CN" altLang="en-US" sz="2400" dirty="0">
              <a:solidFill>
                <a:srgbClr val="0000AC"/>
              </a:solidFill>
              <a:latin typeface="+mn-ea"/>
            </a:endParaRPr>
          </a:p>
        </p:txBody>
      </p:sp>
      <p:sp>
        <p:nvSpPr>
          <p:cNvPr id="5" name="TextBox 4"/>
          <p:cNvSpPr txBox="1"/>
          <p:nvPr/>
        </p:nvSpPr>
        <p:spPr>
          <a:xfrm>
            <a:off x="3863752" y="2309972"/>
            <a:ext cx="5616624" cy="461665"/>
          </a:xfrm>
          <a:prstGeom prst="rect">
            <a:avLst/>
          </a:prstGeom>
          <a:noFill/>
        </p:spPr>
        <p:txBody>
          <a:bodyPr wrap="square" rtlCol="0">
            <a:spAutoFit/>
          </a:bodyPr>
          <a:lstStyle/>
          <a:p>
            <a:r>
              <a:rPr lang="zh-CN" altLang="en-US" sz="2400" dirty="0">
                <a:solidFill>
                  <a:srgbClr val="0000AC"/>
                </a:solidFill>
                <a:latin typeface="+mn-ea"/>
              </a:rPr>
              <a:t>去掉人工变量</a:t>
            </a:r>
            <a:endParaRPr lang="zh-CN" altLang="en-US" sz="2400" dirty="0">
              <a:solidFill>
                <a:srgbClr val="0000AC"/>
              </a:solidFill>
              <a:latin typeface="+mn-ea"/>
            </a:endParaRPr>
          </a:p>
        </p:txBody>
      </p:sp>
      <p:sp>
        <p:nvSpPr>
          <p:cNvPr id="6" name="TextBox 5"/>
          <p:cNvSpPr txBox="1"/>
          <p:nvPr/>
        </p:nvSpPr>
        <p:spPr>
          <a:xfrm>
            <a:off x="304801" y="2771637"/>
            <a:ext cx="936104" cy="1569660"/>
          </a:xfrm>
          <a:prstGeom prst="rect">
            <a:avLst/>
          </a:prstGeom>
          <a:noFill/>
        </p:spPr>
        <p:txBody>
          <a:bodyPr wrap="square" rtlCol="0">
            <a:spAutoFit/>
          </a:bodyPr>
          <a:lstStyle/>
          <a:p>
            <a:r>
              <a:rPr lang="zh-CN" altLang="en-US" sz="2400" dirty="0">
                <a:solidFill>
                  <a:srgbClr val="0000AC"/>
                </a:solidFill>
                <a:latin typeface="+mn-ea"/>
              </a:rPr>
              <a:t>原目标函数替代</a:t>
            </a:r>
            <a:endParaRPr lang="zh-CN" altLang="en-US" sz="2400" dirty="0">
              <a:solidFill>
                <a:srgbClr val="0000AC"/>
              </a:solidFill>
              <a:latin typeface="+mn-ea"/>
            </a:endParaRPr>
          </a:p>
        </p:txBody>
      </p:sp>
      <p:sp>
        <p:nvSpPr>
          <p:cNvPr id="7" name="TextBox 6"/>
          <p:cNvSpPr txBox="1"/>
          <p:nvPr/>
        </p:nvSpPr>
        <p:spPr>
          <a:xfrm>
            <a:off x="304801" y="4341297"/>
            <a:ext cx="936104" cy="830997"/>
          </a:xfrm>
          <a:prstGeom prst="rect">
            <a:avLst/>
          </a:prstGeom>
          <a:noFill/>
        </p:spPr>
        <p:txBody>
          <a:bodyPr wrap="square" rtlCol="0">
            <a:spAutoFit/>
          </a:bodyPr>
          <a:lstStyle/>
          <a:p>
            <a:r>
              <a:rPr lang="zh-CN" altLang="en-US" sz="2400" dirty="0">
                <a:solidFill>
                  <a:srgbClr val="0000AC"/>
                </a:solidFill>
                <a:latin typeface="+mn-ea"/>
              </a:rPr>
              <a:t>初始化</a:t>
            </a:r>
            <a:endParaRPr lang="zh-CN" altLang="en-US" sz="2400" dirty="0">
              <a:solidFill>
                <a:srgbClr val="0000AC"/>
              </a:solidFill>
              <a:latin typeface="+mn-ea"/>
            </a:endParaRPr>
          </a:p>
        </p:txBody>
      </p:sp>
      <p:sp>
        <p:nvSpPr>
          <p:cNvPr id="8" name="灯片编号占位符 7"/>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9" name="矩形 8"/>
          <p:cNvSpPr/>
          <p:nvPr/>
        </p:nvSpPr>
        <p:spPr>
          <a:xfrm>
            <a:off x="172720" y="208696"/>
            <a:ext cx="8208912" cy="523220"/>
          </a:xfrm>
          <a:prstGeom prst="rect">
            <a:avLst/>
          </a:prstGeom>
        </p:spPr>
        <p:txBody>
          <a:bodyPr wrap="square">
            <a:spAutoFit/>
          </a:bodyPr>
          <a:lstStyle/>
          <a:p>
            <a:r>
              <a:rPr lang="zh-CN" altLang="en-US" sz="2800" dirty="0"/>
              <a:t>初始化确立得到一个</a:t>
            </a:r>
            <a:r>
              <a:rPr lang="zh-CN" altLang="en-US" sz="2800" dirty="0">
                <a:solidFill>
                  <a:srgbClr val="FF0000"/>
                </a:solidFill>
              </a:rPr>
              <a:t>原问题的初始基可行解</a:t>
            </a:r>
            <a:r>
              <a:rPr lang="zh-CN" altLang="en-US" sz="2800" dirty="0"/>
              <a:t>如下</a:t>
            </a:r>
            <a:r>
              <a:rPr lang="en-US" altLang="zh-CN" sz="2800" dirty="0"/>
              <a:t>:</a:t>
            </a:r>
            <a:endParaRPr lang="zh-CN" altLang="en-US" sz="28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284480" y="1033239"/>
          <a:ext cx="11623038" cy="5212080"/>
        </p:xfrm>
        <a:graphic>
          <a:graphicData uri="http://schemas.openxmlformats.org/drawingml/2006/table">
            <a:tbl>
              <a:tblPr firstRow="1" bandRow="1">
                <a:tableStyleId>{5C22544A-7EE6-4342-B048-85BDC9FD1C3A}</a:tableStyleId>
              </a:tblPr>
              <a:tblGrid>
                <a:gridCol w="1780198"/>
                <a:gridCol w="8002526"/>
                <a:gridCol w="1840314"/>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zh-CN" altLang="en-US" sz="2400" baseline="0" dirty="0">
                          <a:solidFill>
                            <a:srgbClr val="060606"/>
                          </a:solidFill>
                        </a:rPr>
                        <a:t>比值</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endParaRPr lang="en-US" altLang="zh-CN" sz="20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0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0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endParaRPr lang="en-US" altLang="zh-CN" sz="20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0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0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endParaRPr lang="en-US" altLang="zh-CN" sz="20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0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20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-0.5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-5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1            0                      5           </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-5.4</a:t>
                      </a:r>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r>
                        <a:rPr lang="en-US" altLang="zh-CN" sz="2400" dirty="0">
                          <a:solidFill>
                            <a:srgbClr val="060606"/>
                          </a:solidFill>
                        </a:rPr>
                        <a:t>0.3  0.3/1</a:t>
                      </a:r>
                      <a:endParaRPr lang="en-US" altLang="zh-CN" sz="2400" dirty="0">
                        <a:solidFill>
                          <a:srgbClr val="060606"/>
                        </a:solidFill>
                      </a:endParaRPr>
                    </a:p>
                    <a:p>
                      <a:r>
                        <a:rPr lang="en-US" altLang="zh-CN" sz="2400" dirty="0">
                          <a:solidFill>
                            <a:srgbClr val="060606"/>
                          </a:solidFill>
                        </a:rPr>
                        <a:t>6   6/5</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0.5                   0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1           0            5                      0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-5                     0           </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-5.25</a:t>
                      </a:r>
                      <a:endParaRPr lang="en-US" altLang="zh-CN" sz="2400" dirty="0">
                        <a:solidFill>
                          <a:srgbClr val="060606"/>
                        </a:solidFill>
                      </a:endParaRPr>
                    </a:p>
                    <a:p>
                      <a:r>
                        <a:rPr lang="en-US" altLang="zh-CN" sz="2400" dirty="0">
                          <a:solidFill>
                            <a:srgbClr val="060606"/>
                          </a:solidFill>
                        </a:rPr>
                        <a:t>7.5</a:t>
                      </a:r>
                      <a:endParaRPr lang="en-US" altLang="zh-CN" sz="2400" dirty="0">
                        <a:solidFill>
                          <a:srgbClr val="060606"/>
                        </a:solidFill>
                      </a:endParaRPr>
                    </a:p>
                    <a:p>
                      <a:r>
                        <a:rPr lang="en-US" altLang="zh-CN" sz="2400" dirty="0">
                          <a:solidFill>
                            <a:srgbClr val="060606"/>
                          </a:solidFill>
                        </a:rPr>
                        <a:t>0.3</a:t>
                      </a:r>
                      <a:endParaRPr lang="en-US" altLang="zh-CN" sz="2400" dirty="0">
                        <a:solidFill>
                          <a:srgbClr val="060606"/>
                        </a:solidFill>
                      </a:endParaRPr>
                    </a:p>
                    <a:p>
                      <a:r>
                        <a:rPr lang="en-US" altLang="zh-CN" sz="2400" dirty="0">
                          <a:solidFill>
                            <a:srgbClr val="060606"/>
                          </a:solidFill>
                        </a:rPr>
                        <a:t>4.5</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extBox 3"/>
          <p:cNvSpPr txBox="1"/>
          <p:nvPr/>
        </p:nvSpPr>
        <p:spPr>
          <a:xfrm>
            <a:off x="433512" y="1889920"/>
            <a:ext cx="4608512" cy="461665"/>
          </a:xfrm>
          <a:prstGeom prst="rect">
            <a:avLst/>
          </a:prstGeom>
          <a:noFill/>
        </p:spPr>
        <p:txBody>
          <a:bodyPr wrap="square" rtlCol="0">
            <a:spAutoFit/>
          </a:bodyPr>
          <a:lstStyle/>
          <a:p>
            <a:r>
              <a:rPr lang="en-US" altLang="zh-CN" sz="2400" dirty="0">
                <a:solidFill>
                  <a:srgbClr val="0000AC"/>
                </a:solidFill>
                <a:latin typeface="+mn-ea"/>
              </a:rPr>
              <a:t>1</a:t>
            </a:r>
            <a:r>
              <a:rPr lang="zh-CN" altLang="en-US" sz="2400" dirty="0">
                <a:solidFill>
                  <a:srgbClr val="0000AC"/>
                </a:solidFill>
                <a:latin typeface="+mn-ea"/>
              </a:rPr>
              <a:t>阶段的解</a:t>
            </a:r>
            <a:endParaRPr lang="zh-CN" altLang="en-US" sz="2400" dirty="0">
              <a:solidFill>
                <a:srgbClr val="0000AC"/>
              </a:solidFill>
              <a:latin typeface="+mn-ea"/>
            </a:endParaRPr>
          </a:p>
        </p:txBody>
      </p:sp>
      <p:sp>
        <p:nvSpPr>
          <p:cNvPr id="5" name="TextBox 4"/>
          <p:cNvSpPr txBox="1"/>
          <p:nvPr/>
        </p:nvSpPr>
        <p:spPr>
          <a:xfrm>
            <a:off x="433512" y="2288744"/>
            <a:ext cx="5616624" cy="461665"/>
          </a:xfrm>
          <a:prstGeom prst="rect">
            <a:avLst/>
          </a:prstGeom>
          <a:noFill/>
        </p:spPr>
        <p:txBody>
          <a:bodyPr wrap="square" rtlCol="0">
            <a:spAutoFit/>
          </a:bodyPr>
          <a:lstStyle/>
          <a:p>
            <a:r>
              <a:rPr lang="zh-CN" altLang="en-US" sz="2400" dirty="0">
                <a:solidFill>
                  <a:srgbClr val="0000AC"/>
                </a:solidFill>
                <a:latin typeface="+mn-ea"/>
              </a:rPr>
              <a:t>去掉人工变量</a:t>
            </a:r>
            <a:endParaRPr lang="zh-CN" altLang="en-US" sz="2400" dirty="0">
              <a:solidFill>
                <a:srgbClr val="0000AC"/>
              </a:solidFill>
              <a:latin typeface="+mn-ea"/>
            </a:endParaRPr>
          </a:p>
        </p:txBody>
      </p:sp>
      <p:sp>
        <p:nvSpPr>
          <p:cNvPr id="6" name="TextBox 5"/>
          <p:cNvSpPr txBox="1"/>
          <p:nvPr/>
        </p:nvSpPr>
        <p:spPr>
          <a:xfrm>
            <a:off x="433512" y="2720792"/>
            <a:ext cx="4896544" cy="461665"/>
          </a:xfrm>
          <a:prstGeom prst="rect">
            <a:avLst/>
          </a:prstGeom>
          <a:noFill/>
        </p:spPr>
        <p:txBody>
          <a:bodyPr wrap="square" rtlCol="0">
            <a:spAutoFit/>
          </a:bodyPr>
          <a:lstStyle/>
          <a:p>
            <a:r>
              <a:rPr lang="zh-CN" altLang="en-US" sz="2400" dirty="0">
                <a:solidFill>
                  <a:srgbClr val="0000AC"/>
                </a:solidFill>
                <a:latin typeface="+mn-ea"/>
              </a:rPr>
              <a:t>原目标函数替代</a:t>
            </a:r>
            <a:endParaRPr lang="zh-CN" altLang="en-US" sz="2400" dirty="0">
              <a:solidFill>
                <a:srgbClr val="0000AC"/>
              </a:solidFill>
              <a:latin typeface="+mn-ea"/>
            </a:endParaRPr>
          </a:p>
        </p:txBody>
      </p:sp>
      <p:sp>
        <p:nvSpPr>
          <p:cNvPr id="7" name="TextBox 6"/>
          <p:cNvSpPr txBox="1"/>
          <p:nvPr/>
        </p:nvSpPr>
        <p:spPr>
          <a:xfrm>
            <a:off x="505520" y="3690120"/>
            <a:ext cx="936104" cy="830997"/>
          </a:xfrm>
          <a:prstGeom prst="rect">
            <a:avLst/>
          </a:prstGeom>
          <a:noFill/>
        </p:spPr>
        <p:txBody>
          <a:bodyPr wrap="square" rtlCol="0">
            <a:spAutoFit/>
          </a:bodyPr>
          <a:lstStyle/>
          <a:p>
            <a:r>
              <a:rPr lang="zh-CN" altLang="en-US" sz="2400" dirty="0">
                <a:solidFill>
                  <a:srgbClr val="0000AC"/>
                </a:solidFill>
                <a:latin typeface="+mn-ea"/>
              </a:rPr>
              <a:t>初始化</a:t>
            </a:r>
            <a:endParaRPr lang="zh-CN" altLang="en-US" sz="2400" dirty="0">
              <a:solidFill>
                <a:srgbClr val="0000AC"/>
              </a:solidFill>
              <a:latin typeface="+mn-ea"/>
            </a:endParaRPr>
          </a:p>
        </p:txBody>
      </p:sp>
      <p:sp>
        <p:nvSpPr>
          <p:cNvPr id="8" name="TextBox 7"/>
          <p:cNvSpPr txBox="1"/>
          <p:nvPr/>
        </p:nvSpPr>
        <p:spPr>
          <a:xfrm>
            <a:off x="433512" y="4851219"/>
            <a:ext cx="936104" cy="1200329"/>
          </a:xfrm>
          <a:prstGeom prst="rect">
            <a:avLst/>
          </a:prstGeom>
          <a:noFill/>
        </p:spPr>
        <p:txBody>
          <a:bodyPr wrap="square" rtlCol="0">
            <a:spAutoFit/>
          </a:bodyPr>
          <a:lstStyle/>
          <a:p>
            <a:r>
              <a:rPr lang="zh-CN" altLang="en-US" sz="2400" dirty="0">
                <a:solidFill>
                  <a:srgbClr val="0000AC"/>
                </a:solidFill>
                <a:latin typeface="+mn-ea"/>
              </a:rPr>
              <a:t>单纯形法解得</a:t>
            </a:r>
            <a:endParaRPr lang="zh-CN" altLang="en-US" sz="2400" dirty="0">
              <a:solidFill>
                <a:srgbClr val="0000AC"/>
              </a:solidFill>
              <a:latin typeface="+mn-ea"/>
            </a:endParaRPr>
          </a:p>
        </p:txBody>
      </p:sp>
      <p:sp>
        <p:nvSpPr>
          <p:cNvPr id="9" name="矩形 8"/>
          <p:cNvSpPr/>
          <p:nvPr/>
        </p:nvSpPr>
        <p:spPr>
          <a:xfrm>
            <a:off x="1741201" y="6396335"/>
            <a:ext cx="9177512" cy="461665"/>
          </a:xfrm>
          <a:prstGeom prst="rect">
            <a:avLst/>
          </a:prstGeom>
        </p:spPr>
        <p:txBody>
          <a:bodyPr wrap="none">
            <a:spAutoFit/>
          </a:bodyPr>
          <a:lstStyle/>
          <a:p>
            <a:r>
              <a:rPr lang="en-US" altLang="zh-CN" sz="2400" b="1" dirty="0">
                <a:solidFill>
                  <a:srgbClr val="060606"/>
                </a:solidFill>
                <a:latin typeface="+mn-ea"/>
              </a:rPr>
              <a:t>x</a:t>
            </a:r>
            <a:r>
              <a:rPr lang="en-US" altLang="zh-CN" sz="2400" dirty="0">
                <a:solidFill>
                  <a:srgbClr val="060606"/>
                </a:solidFill>
                <a:latin typeface="+mn-ea"/>
              </a:rPr>
              <a:t> = (7.5,4.5,0,0,0.3,0)</a:t>
            </a:r>
            <a:r>
              <a:rPr lang="zh-CN" altLang="en-US" sz="2400" dirty="0">
                <a:solidFill>
                  <a:srgbClr val="060606"/>
                </a:solidFill>
                <a:latin typeface="+mn-ea"/>
              </a:rPr>
              <a:t>，人工变量 </a:t>
            </a:r>
            <a:r>
              <a:rPr lang="en-US" altLang="zh-CN" sz="2400" dirty="0">
                <a:solidFill>
                  <a:srgbClr val="060606"/>
                </a:solidFill>
                <a:latin typeface="+mn-ea"/>
              </a:rPr>
              <a:t>= 0</a:t>
            </a:r>
            <a:r>
              <a:rPr lang="zh-CN" altLang="en-US" sz="2400" dirty="0">
                <a:solidFill>
                  <a:srgbClr val="060606"/>
                </a:solidFill>
                <a:latin typeface="+mn-ea"/>
              </a:rPr>
              <a:t>；</a:t>
            </a:r>
            <a:r>
              <a:rPr lang="en-US" altLang="zh-CN" sz="2400" dirty="0">
                <a:solidFill>
                  <a:srgbClr val="060606"/>
                </a:solidFill>
                <a:latin typeface="+mn-ea"/>
              </a:rPr>
              <a:t>max-z = -5.25=&gt;</a:t>
            </a:r>
            <a:r>
              <a:rPr lang="en-US" altLang="zh-CN" sz="2400" dirty="0" err="1">
                <a:solidFill>
                  <a:srgbClr val="060606"/>
                </a:solidFill>
                <a:latin typeface="+mn-ea"/>
              </a:rPr>
              <a:t>minz</a:t>
            </a:r>
            <a:r>
              <a:rPr lang="en-US" altLang="zh-CN" sz="2400" dirty="0">
                <a:solidFill>
                  <a:srgbClr val="060606"/>
                </a:solidFill>
                <a:latin typeface="+mn-ea"/>
              </a:rPr>
              <a:t> = 5.25</a:t>
            </a:r>
            <a:endParaRPr lang="en-US" altLang="zh-CN" sz="2400" dirty="0">
              <a:solidFill>
                <a:srgbClr val="060606"/>
              </a:solidFill>
              <a:latin typeface="+mn-ea"/>
            </a:endParaRPr>
          </a:p>
        </p:txBody>
      </p:sp>
      <p:sp>
        <p:nvSpPr>
          <p:cNvPr id="13" name="矩形 12"/>
          <p:cNvSpPr/>
          <p:nvPr/>
        </p:nvSpPr>
        <p:spPr>
          <a:xfrm>
            <a:off x="91440" y="44625"/>
            <a:ext cx="11816080" cy="830997"/>
          </a:xfrm>
          <a:prstGeom prst="rect">
            <a:avLst/>
          </a:prstGeom>
        </p:spPr>
        <p:txBody>
          <a:bodyPr wrap="square">
            <a:spAutoFit/>
          </a:bodyPr>
          <a:lstStyle/>
          <a:p>
            <a:r>
              <a:rPr lang="zh-CN" altLang="en-US" sz="2400" dirty="0"/>
              <a:t>这样就可以应用单纯形法求解了</a:t>
            </a:r>
            <a:r>
              <a:rPr lang="en-US" altLang="zh-CN" sz="2400" dirty="0"/>
              <a:t>,</a:t>
            </a:r>
            <a:r>
              <a:rPr lang="zh-CN" altLang="en-US" sz="2400" dirty="0"/>
              <a:t>求解过程好比图解法中</a:t>
            </a:r>
            <a:r>
              <a:rPr lang="en-US" altLang="zh-CN" sz="2400" dirty="0"/>
              <a:t>”</a:t>
            </a:r>
            <a:r>
              <a:rPr lang="zh-CN" altLang="en-US" sz="2400" dirty="0"/>
              <a:t>目标等值线</a:t>
            </a:r>
            <a:r>
              <a:rPr lang="en-US" altLang="zh-CN" sz="2400" dirty="0"/>
              <a:t>”</a:t>
            </a:r>
            <a:r>
              <a:rPr lang="zh-CN" altLang="en-US" sz="2400" dirty="0"/>
              <a:t>从某个顶点出发沿着目标值增大的方向移动</a:t>
            </a:r>
            <a:r>
              <a:rPr lang="en-US" altLang="zh-CN" sz="2400" dirty="0"/>
              <a:t>:</a:t>
            </a:r>
            <a:endParaRPr lang="zh-CN" altLang="en-US" sz="24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35560" y="620689"/>
            <a:ext cx="7886700" cy="2852737"/>
          </a:xfrm>
        </p:spPr>
        <p:txBody>
          <a:bodyPr/>
          <a:lstStyle/>
          <a:p>
            <a:r>
              <a:rPr lang="zh-CN" altLang="en-US" dirty="0">
                <a:solidFill>
                  <a:srgbClr val="00000C"/>
                </a:solidFill>
              </a:rPr>
              <a:t>五，线性规划解的讨论</a:t>
            </a:r>
            <a:endParaRPr lang="zh-CN" altLang="en-US" dirty="0"/>
          </a:p>
        </p:txBody>
      </p:sp>
      <p:sp>
        <p:nvSpPr>
          <p:cNvPr id="3" name="文本占位符 2"/>
          <p:cNvSpPr>
            <a:spLocks noGrp="1"/>
          </p:cNvSpPr>
          <p:nvPr>
            <p:ph type="body" idx="1"/>
          </p:nvPr>
        </p:nvSpPr>
        <p:spPr>
          <a:xfrm>
            <a:off x="2207568" y="3501008"/>
            <a:ext cx="7886700" cy="2736304"/>
          </a:xfrm>
        </p:spPr>
        <p:txBody>
          <a:bodyPr/>
          <a:lstStyle/>
          <a:p>
            <a:r>
              <a:rPr lang="en-US" altLang="zh-CN" sz="2800" dirty="0">
                <a:solidFill>
                  <a:srgbClr val="060606"/>
                </a:solidFill>
              </a:rPr>
              <a:t>1.</a:t>
            </a:r>
            <a:r>
              <a:rPr lang="zh-CN" altLang="en-US" sz="2800" dirty="0">
                <a:solidFill>
                  <a:srgbClr val="060606"/>
                </a:solidFill>
              </a:rPr>
              <a:t>退化现象</a:t>
            </a:r>
            <a:endParaRPr lang="en-US" altLang="zh-CN" sz="2800" dirty="0">
              <a:solidFill>
                <a:srgbClr val="060606"/>
              </a:solidFill>
            </a:endParaRPr>
          </a:p>
          <a:p>
            <a:r>
              <a:rPr lang="en-US" altLang="zh-CN" sz="2800" dirty="0">
                <a:solidFill>
                  <a:srgbClr val="060606"/>
                </a:solidFill>
              </a:rPr>
              <a:t>2.</a:t>
            </a:r>
            <a:r>
              <a:rPr lang="zh-CN" altLang="en-US" sz="2800" dirty="0">
                <a:solidFill>
                  <a:srgbClr val="060606"/>
                </a:solidFill>
              </a:rPr>
              <a:t>无穷多最优解</a:t>
            </a:r>
            <a:endParaRPr lang="en-US" altLang="zh-CN" sz="2800" dirty="0">
              <a:solidFill>
                <a:srgbClr val="060606"/>
              </a:solidFill>
            </a:endParaRPr>
          </a:p>
          <a:p>
            <a:r>
              <a:rPr lang="en-US" altLang="zh-CN" sz="2800" dirty="0">
                <a:solidFill>
                  <a:srgbClr val="060606"/>
                </a:solidFill>
              </a:rPr>
              <a:t>3.</a:t>
            </a:r>
            <a:r>
              <a:rPr lang="zh-CN" altLang="en-US" sz="2800" dirty="0">
                <a:solidFill>
                  <a:srgbClr val="060606"/>
                </a:solidFill>
              </a:rPr>
              <a:t>无界解</a:t>
            </a:r>
            <a:endParaRPr lang="en-US" altLang="zh-CN" sz="2800" dirty="0">
              <a:solidFill>
                <a:srgbClr val="060606"/>
              </a:solidFill>
            </a:endParaRPr>
          </a:p>
          <a:p>
            <a:r>
              <a:rPr lang="en-US" altLang="zh-CN" sz="2800" dirty="0">
                <a:solidFill>
                  <a:srgbClr val="060606"/>
                </a:solidFill>
              </a:rPr>
              <a:t>4.</a:t>
            </a:r>
            <a:r>
              <a:rPr lang="zh-CN" altLang="en-US" sz="2800" dirty="0">
                <a:solidFill>
                  <a:srgbClr val="060606"/>
                </a:solidFill>
              </a:rPr>
              <a:t>无可行解</a:t>
            </a:r>
            <a:endParaRPr lang="zh-CN" altLang="en-US" sz="2800" dirty="0">
              <a:solidFill>
                <a:srgbClr val="060606"/>
              </a:solidFil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退化现象</a:t>
            </a:r>
            <a:endParaRPr lang="zh-CN" altLang="en-US" dirty="0"/>
          </a:p>
        </p:txBody>
      </p:sp>
      <p:sp>
        <p:nvSpPr>
          <p:cNvPr id="3" name="文本占位符 2"/>
          <p:cNvSpPr>
            <a:spLocks noGrp="1"/>
          </p:cNvSpPr>
          <p:nvPr>
            <p:ph type="body" idx="1"/>
          </p:nvPr>
        </p:nvSpPr>
        <p:spPr/>
        <p:txBody>
          <a:bodyPr/>
          <a:lstStyle/>
          <a:p>
            <a:r>
              <a:rPr lang="en-US" altLang="zh-CN" dirty="0">
                <a:solidFill>
                  <a:srgbClr val="0322BD"/>
                </a:solidFill>
              </a:rPr>
              <a:t>1.</a:t>
            </a:r>
            <a:r>
              <a:rPr lang="zh-CN" altLang="en-US" dirty="0">
                <a:solidFill>
                  <a:srgbClr val="0322BD"/>
                </a:solidFill>
              </a:rPr>
              <a:t>一个应用单纯形法出现退化现象的例子</a:t>
            </a:r>
            <a:r>
              <a:rPr lang="en-US" altLang="zh-CN" dirty="0">
                <a:solidFill>
                  <a:srgbClr val="0322BD"/>
                </a:solidFill>
              </a:rPr>
              <a:t>.</a:t>
            </a:r>
            <a:endParaRPr lang="en-US" altLang="zh-CN" dirty="0">
              <a:solidFill>
                <a:srgbClr val="0322BD"/>
              </a:solidFill>
            </a:endParaRPr>
          </a:p>
          <a:p>
            <a:r>
              <a:rPr lang="en-US" altLang="zh-CN" dirty="0">
                <a:solidFill>
                  <a:srgbClr val="0322BD"/>
                </a:solidFill>
              </a:rPr>
              <a:t>2.</a:t>
            </a:r>
            <a:r>
              <a:rPr lang="zh-CN" altLang="en-US" dirty="0">
                <a:solidFill>
                  <a:srgbClr val="0322BD"/>
                </a:solidFill>
              </a:rPr>
              <a:t>在退化出现循环现象时</a:t>
            </a:r>
            <a:r>
              <a:rPr lang="en-US" altLang="zh-CN" dirty="0">
                <a:solidFill>
                  <a:srgbClr val="0322BD"/>
                </a:solidFill>
              </a:rPr>
              <a:t>,</a:t>
            </a:r>
            <a:r>
              <a:rPr lang="zh-CN" altLang="en-US" dirty="0">
                <a:solidFill>
                  <a:srgbClr val="0322BD"/>
                </a:solidFill>
              </a:rPr>
              <a:t>如何处理</a:t>
            </a:r>
            <a:r>
              <a:rPr lang="en-US" altLang="zh-CN" dirty="0">
                <a:solidFill>
                  <a:srgbClr val="0322BD"/>
                </a:solidFill>
              </a:rPr>
              <a:t>?</a:t>
            </a:r>
            <a:endParaRPr lang="zh-CN" altLang="en-US" dirty="0">
              <a:solidFill>
                <a:srgbClr val="0322BD"/>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1960" y="52261"/>
            <a:ext cx="10515600" cy="1325563"/>
          </a:xfrm>
        </p:spPr>
        <p:txBody>
          <a:bodyPr>
            <a:normAutofit/>
          </a:bodyPr>
          <a:lstStyle/>
          <a:p>
            <a:r>
              <a:rPr lang="en-US" altLang="zh-CN" sz="4000" dirty="0"/>
              <a:t>Beale</a:t>
            </a:r>
            <a:r>
              <a:rPr lang="zh-CN" altLang="en-US" sz="4000" dirty="0"/>
              <a:t>曾给出一个应用单纯形法出现退化的例子</a:t>
            </a:r>
            <a:endParaRPr lang="zh-CN" altLang="en-US" sz="4000" dirty="0"/>
          </a:p>
        </p:txBody>
      </p:sp>
      <p:grpSp>
        <p:nvGrpSpPr>
          <p:cNvPr id="4" name="组合 3"/>
          <p:cNvGrpSpPr/>
          <p:nvPr/>
        </p:nvGrpSpPr>
        <p:grpSpPr>
          <a:xfrm>
            <a:off x="2662600" y="1690688"/>
            <a:ext cx="8107000" cy="3669504"/>
            <a:chOff x="3059832" y="3984952"/>
            <a:chExt cx="4961103" cy="3101845"/>
          </a:xfrm>
        </p:grpSpPr>
        <p:sp>
          <p:nvSpPr>
            <p:cNvPr id="5" name="矩形 4"/>
            <p:cNvSpPr/>
            <p:nvPr/>
          </p:nvSpPr>
          <p:spPr>
            <a:xfrm>
              <a:off x="3283305" y="3984952"/>
              <a:ext cx="3974097" cy="971987"/>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min z  = -3x</a:t>
              </a:r>
              <a:r>
                <a:rPr lang="en-US" altLang="zh-CN" sz="3200" baseline="-25000" dirty="0">
                  <a:solidFill>
                    <a:srgbClr val="060606"/>
                  </a:solidFill>
                </a:rPr>
                <a:t>4</a:t>
              </a:r>
              <a:r>
                <a:rPr lang="en-US" altLang="zh-CN" sz="3200" dirty="0">
                  <a:solidFill>
                    <a:srgbClr val="060606"/>
                  </a:solidFill>
                </a:rPr>
                <a:t>/4+20x</a:t>
              </a:r>
              <a:r>
                <a:rPr lang="en-US" altLang="zh-CN" sz="3200" baseline="-25000" dirty="0">
                  <a:solidFill>
                    <a:srgbClr val="060606"/>
                  </a:solidFill>
                </a:rPr>
                <a:t>5</a:t>
              </a:r>
              <a:r>
                <a:rPr lang="en-US" altLang="zh-CN" sz="3200" dirty="0">
                  <a:solidFill>
                    <a:srgbClr val="060606"/>
                  </a:solidFill>
                </a:rPr>
                <a:t>-x</a:t>
              </a:r>
              <a:r>
                <a:rPr lang="en-US" altLang="zh-CN" sz="3200" baseline="-25000" dirty="0">
                  <a:solidFill>
                    <a:srgbClr val="060606"/>
                  </a:solidFill>
                </a:rPr>
                <a:t>6</a:t>
              </a:r>
              <a:r>
                <a:rPr lang="en-US" altLang="zh-CN" sz="3200" dirty="0">
                  <a:solidFill>
                    <a:srgbClr val="060606"/>
                  </a:solidFill>
                </a:rPr>
                <a:t>/2+6x</a:t>
              </a:r>
              <a:r>
                <a:rPr lang="en-US" altLang="zh-CN" sz="3200" baseline="-25000" dirty="0">
                  <a:solidFill>
                    <a:srgbClr val="060606"/>
                  </a:solidFill>
                </a:rPr>
                <a:t>7</a:t>
              </a:r>
              <a:endParaRPr lang="en-US" altLang="zh-CN" sz="3200" dirty="0">
                <a:solidFill>
                  <a:srgbClr val="060606"/>
                </a:solidFill>
              </a:endParaRPr>
            </a:p>
          </p:txBody>
        </p:sp>
        <p:sp>
          <p:nvSpPr>
            <p:cNvPr id="6" name="矩形 5"/>
            <p:cNvSpPr/>
            <p:nvPr/>
          </p:nvSpPr>
          <p:spPr>
            <a:xfrm>
              <a:off x="3059832" y="5186809"/>
              <a:ext cx="648072" cy="514097"/>
            </a:xfrm>
            <a:prstGeom prst="rect">
              <a:avLst/>
            </a:prstGeom>
          </p:spPr>
          <p:txBody>
            <a:bodyPr wrap="square">
              <a:spAutoFit/>
            </a:bodyPr>
            <a:lstStyle/>
            <a:p>
              <a:pPr marL="342900" indent="-342900" fontAlgn="base">
                <a:lnSpc>
                  <a:spcPct val="110000"/>
                </a:lnSpc>
                <a:spcBef>
                  <a:spcPts val="1800"/>
                </a:spcBef>
                <a:spcAft>
                  <a:spcPct val="0"/>
                </a:spcAft>
              </a:pPr>
              <a:r>
                <a:rPr lang="en-US" altLang="zh-CN" sz="3200" dirty="0">
                  <a:solidFill>
                    <a:srgbClr val="060606"/>
                  </a:solidFill>
                </a:rPr>
                <a:t>s. t</a:t>
              </a:r>
              <a:endParaRPr lang="en-US" altLang="zh-CN" sz="3200" dirty="0">
                <a:solidFill>
                  <a:srgbClr val="060606"/>
                </a:solidFill>
              </a:endParaRPr>
            </a:p>
          </p:txBody>
        </p:sp>
        <p:sp>
          <p:nvSpPr>
            <p:cNvPr id="7" name="左大括号 6"/>
            <p:cNvSpPr/>
            <p:nvPr/>
          </p:nvSpPr>
          <p:spPr bwMode="auto">
            <a:xfrm>
              <a:off x="3635896" y="4682753"/>
              <a:ext cx="432048" cy="1980419"/>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3200">
                <a:latin typeface="Arial" panose="020B0604020202090204" pitchFamily="34" charset="0"/>
                <a:ea typeface="宋体" panose="02010600030101010101" pitchFamily="2" charset="-122"/>
              </a:endParaRPr>
            </a:p>
          </p:txBody>
        </p:sp>
        <p:sp>
          <p:nvSpPr>
            <p:cNvPr id="8" name="矩形 7"/>
            <p:cNvSpPr/>
            <p:nvPr/>
          </p:nvSpPr>
          <p:spPr>
            <a:xfrm>
              <a:off x="4177198" y="4593637"/>
              <a:ext cx="3589594" cy="494312"/>
            </a:xfrm>
            <a:prstGeom prst="rect">
              <a:avLst/>
            </a:prstGeom>
          </p:spPr>
          <p:txBody>
            <a:bodyPr wrap="none">
              <a:spAutoFit/>
            </a:bodyPr>
            <a:lstStyle/>
            <a:p>
              <a:r>
                <a:rPr lang="en-US" altLang="zh-CN" sz="3200" dirty="0">
                  <a:solidFill>
                    <a:srgbClr val="060606"/>
                  </a:solidFill>
                </a:rPr>
                <a:t>x</a:t>
              </a:r>
              <a:r>
                <a:rPr lang="en-US" altLang="zh-CN" sz="3200" baseline="-25000" dirty="0">
                  <a:solidFill>
                    <a:srgbClr val="060606"/>
                  </a:solidFill>
                </a:rPr>
                <a:t>1</a:t>
              </a:r>
              <a:r>
                <a:rPr lang="en-US" altLang="zh-CN" sz="3200" dirty="0">
                  <a:solidFill>
                    <a:srgbClr val="060606"/>
                  </a:solidFill>
                </a:rPr>
                <a:t> +x</a:t>
              </a:r>
              <a:r>
                <a:rPr lang="en-US" altLang="zh-CN" sz="3200" baseline="-25000" dirty="0">
                  <a:solidFill>
                    <a:srgbClr val="060606"/>
                  </a:solidFill>
                </a:rPr>
                <a:t>4</a:t>
              </a:r>
              <a:r>
                <a:rPr lang="en-US" altLang="zh-CN" sz="3200" dirty="0">
                  <a:solidFill>
                    <a:srgbClr val="060606"/>
                  </a:solidFill>
                </a:rPr>
                <a:t>/4 -8x</a:t>
              </a:r>
              <a:r>
                <a:rPr lang="en-US" altLang="zh-CN" sz="3200" baseline="-25000" dirty="0">
                  <a:solidFill>
                    <a:srgbClr val="060606"/>
                  </a:solidFill>
                </a:rPr>
                <a:t>5</a:t>
              </a:r>
              <a:r>
                <a:rPr lang="en-US" altLang="zh-CN" sz="3200" dirty="0">
                  <a:solidFill>
                    <a:srgbClr val="060606"/>
                  </a:solidFill>
                </a:rPr>
                <a:t>-x</a:t>
              </a:r>
              <a:r>
                <a:rPr lang="en-US" altLang="zh-CN" sz="3200" baseline="-25000" dirty="0">
                  <a:solidFill>
                    <a:srgbClr val="060606"/>
                  </a:solidFill>
                </a:rPr>
                <a:t>6</a:t>
              </a:r>
              <a:r>
                <a:rPr lang="en-US" altLang="zh-CN" sz="3200" dirty="0">
                  <a:solidFill>
                    <a:srgbClr val="060606"/>
                  </a:solidFill>
                </a:rPr>
                <a:t>+9x</a:t>
              </a:r>
              <a:r>
                <a:rPr lang="en-US" altLang="zh-CN" sz="3200" baseline="-25000" dirty="0">
                  <a:solidFill>
                    <a:srgbClr val="060606"/>
                  </a:solidFill>
                </a:rPr>
                <a:t>7</a:t>
              </a:r>
              <a:r>
                <a:rPr lang="en-US" altLang="zh-CN" sz="3200" dirty="0">
                  <a:solidFill>
                    <a:srgbClr val="060606"/>
                  </a:solidFill>
                </a:rPr>
                <a:t>  = 0</a:t>
              </a:r>
              <a:endParaRPr lang="zh-CN" altLang="en-US" sz="3200" dirty="0"/>
            </a:p>
          </p:txBody>
        </p:sp>
        <p:sp>
          <p:nvSpPr>
            <p:cNvPr id="9" name="矩形 8"/>
            <p:cNvSpPr/>
            <p:nvPr/>
          </p:nvSpPr>
          <p:spPr>
            <a:xfrm>
              <a:off x="4177198" y="5648692"/>
              <a:ext cx="1707862" cy="494312"/>
            </a:xfrm>
            <a:prstGeom prst="rect">
              <a:avLst/>
            </a:prstGeom>
          </p:spPr>
          <p:txBody>
            <a:bodyPr wrap="none">
              <a:spAutoFit/>
            </a:bodyPr>
            <a:lstStyle/>
            <a:p>
              <a:r>
                <a:rPr lang="en-US" altLang="zh-CN" sz="3200" dirty="0">
                  <a:solidFill>
                    <a:srgbClr val="060606"/>
                  </a:solidFill>
                </a:rPr>
                <a:t>x</a:t>
              </a:r>
              <a:r>
                <a:rPr lang="en-US" altLang="zh-CN" sz="3200" baseline="-25000" dirty="0">
                  <a:solidFill>
                    <a:srgbClr val="060606"/>
                  </a:solidFill>
                </a:rPr>
                <a:t>3     </a:t>
              </a:r>
              <a:r>
                <a:rPr lang="en-US" altLang="zh-CN" sz="3200" dirty="0">
                  <a:solidFill>
                    <a:srgbClr val="060606"/>
                  </a:solidFill>
                </a:rPr>
                <a:t>+x</a:t>
              </a:r>
              <a:r>
                <a:rPr lang="en-US" altLang="zh-CN" sz="3200" baseline="-25000" dirty="0">
                  <a:solidFill>
                    <a:srgbClr val="060606"/>
                  </a:solidFill>
                </a:rPr>
                <a:t>6</a:t>
              </a:r>
              <a:r>
                <a:rPr lang="en-US" altLang="zh-CN" sz="3200" dirty="0">
                  <a:solidFill>
                    <a:srgbClr val="060606"/>
                  </a:solidFill>
                </a:rPr>
                <a:t> = 1</a:t>
              </a:r>
              <a:endParaRPr lang="zh-CN" altLang="en-US" sz="3200" dirty="0"/>
            </a:p>
          </p:txBody>
        </p:sp>
        <p:sp>
          <p:nvSpPr>
            <p:cNvPr id="10" name="矩形 9"/>
            <p:cNvSpPr/>
            <p:nvPr/>
          </p:nvSpPr>
          <p:spPr>
            <a:xfrm>
              <a:off x="4177198" y="6176221"/>
              <a:ext cx="2901426" cy="910576"/>
            </a:xfrm>
            <a:prstGeom prst="rect">
              <a:avLst/>
            </a:prstGeom>
          </p:spPr>
          <p:txBody>
            <a:bodyPr wrap="square">
              <a:spAutoFit/>
            </a:bodyPr>
            <a:lstStyle/>
            <a:p>
              <a:r>
                <a:rPr lang="en-US" altLang="zh-CN" sz="3200" dirty="0">
                  <a:solidFill>
                    <a:srgbClr val="060606"/>
                  </a:solidFill>
                </a:rPr>
                <a:t>x</a:t>
              </a:r>
              <a:r>
                <a:rPr lang="en-US" altLang="zh-CN" sz="3200" baseline="-25000" dirty="0">
                  <a:solidFill>
                    <a:srgbClr val="060606"/>
                  </a:solidFill>
                </a:rPr>
                <a:t>j</a:t>
              </a:r>
              <a:r>
                <a:rPr lang="en-US" altLang="zh-CN" sz="3200" dirty="0">
                  <a:solidFill>
                    <a:srgbClr val="060606"/>
                  </a:solidFill>
                </a:rPr>
                <a:t> ≥0       (j = 1,2,…,7)</a:t>
              </a:r>
              <a:endParaRPr lang="zh-CN" altLang="en-US" sz="3200" dirty="0">
                <a:solidFill>
                  <a:srgbClr val="060606"/>
                </a:solidFill>
              </a:endParaRPr>
            </a:p>
          </p:txBody>
        </p:sp>
        <p:sp>
          <p:nvSpPr>
            <p:cNvPr id="11" name="矩形 10"/>
            <p:cNvSpPr/>
            <p:nvPr/>
          </p:nvSpPr>
          <p:spPr>
            <a:xfrm>
              <a:off x="4177198" y="5121164"/>
              <a:ext cx="3843737" cy="910576"/>
            </a:xfrm>
            <a:prstGeom prst="rect">
              <a:avLst/>
            </a:prstGeom>
          </p:spPr>
          <p:txBody>
            <a:bodyPr wrap="square">
              <a:spAutoFit/>
            </a:bodyPr>
            <a:lstStyle/>
            <a:p>
              <a:r>
                <a:rPr lang="en-US" altLang="zh-CN" sz="3200" dirty="0">
                  <a:solidFill>
                    <a:srgbClr val="060606"/>
                  </a:solidFill>
                </a:rPr>
                <a:t>x</a:t>
              </a:r>
              <a:r>
                <a:rPr lang="en-US" altLang="zh-CN" sz="3200" baseline="-25000" dirty="0">
                  <a:solidFill>
                    <a:srgbClr val="060606"/>
                  </a:solidFill>
                </a:rPr>
                <a:t>2</a:t>
              </a:r>
              <a:r>
                <a:rPr lang="en-US" altLang="zh-CN" sz="3200" dirty="0">
                  <a:solidFill>
                    <a:srgbClr val="060606"/>
                  </a:solidFill>
                </a:rPr>
                <a:t> +x</a:t>
              </a:r>
              <a:r>
                <a:rPr lang="en-US" altLang="zh-CN" sz="3200" baseline="-25000" dirty="0">
                  <a:solidFill>
                    <a:srgbClr val="060606"/>
                  </a:solidFill>
                </a:rPr>
                <a:t>4</a:t>
              </a:r>
              <a:r>
                <a:rPr lang="en-US" altLang="zh-CN" sz="3200" dirty="0">
                  <a:solidFill>
                    <a:srgbClr val="060606"/>
                  </a:solidFill>
                </a:rPr>
                <a:t>/2 - 12x</a:t>
              </a:r>
              <a:r>
                <a:rPr lang="en-US" altLang="zh-CN" sz="3200" baseline="-25000" dirty="0">
                  <a:solidFill>
                    <a:srgbClr val="060606"/>
                  </a:solidFill>
                </a:rPr>
                <a:t>5</a:t>
              </a:r>
              <a:r>
                <a:rPr lang="en-US" altLang="zh-CN" sz="3200" dirty="0">
                  <a:solidFill>
                    <a:srgbClr val="060606"/>
                  </a:solidFill>
                </a:rPr>
                <a:t>-x</a:t>
              </a:r>
              <a:r>
                <a:rPr lang="en-US" altLang="zh-CN" sz="3200" baseline="-25000" dirty="0">
                  <a:solidFill>
                    <a:srgbClr val="060606"/>
                  </a:solidFill>
                </a:rPr>
                <a:t>6</a:t>
              </a:r>
              <a:r>
                <a:rPr lang="en-US" altLang="zh-CN" sz="3200" dirty="0">
                  <a:solidFill>
                    <a:srgbClr val="060606"/>
                  </a:solidFill>
                </a:rPr>
                <a:t>/2+3x</a:t>
              </a:r>
              <a:r>
                <a:rPr lang="en-US" altLang="zh-CN" sz="3200" baseline="-25000" dirty="0">
                  <a:solidFill>
                    <a:srgbClr val="060606"/>
                  </a:solidFill>
                </a:rPr>
                <a:t>7</a:t>
              </a:r>
              <a:r>
                <a:rPr lang="en-US" altLang="zh-CN" sz="3200" dirty="0">
                  <a:solidFill>
                    <a:srgbClr val="060606"/>
                  </a:solidFill>
                </a:rPr>
                <a:t>  = 0</a:t>
              </a:r>
              <a:endParaRPr lang="zh-CN" altLang="en-US" sz="3200" dirty="0">
                <a:solidFill>
                  <a:srgbClr val="060606"/>
                </a:solidFill>
              </a:endParaRPr>
            </a:p>
          </p:txBody>
        </p:sp>
      </p:grpSp>
      <p:sp>
        <p:nvSpPr>
          <p:cNvPr id="12" name="灯片编号占位符 1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599440" y="533192"/>
          <a:ext cx="10794312" cy="2468880"/>
        </p:xfrm>
        <a:graphic>
          <a:graphicData uri="http://schemas.openxmlformats.org/drawingml/2006/table">
            <a:tbl>
              <a:tblPr firstRow="1" bandRow="1">
                <a:tableStyleId>{5C22544A-7EE6-4342-B048-85BDC9FD1C3A}</a:tableStyleId>
              </a:tblPr>
              <a:tblGrid>
                <a:gridCol w="691778"/>
                <a:gridCol w="8393435"/>
                <a:gridCol w="1709099"/>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7</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-3/4       20       -1/2        6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1/4        -8          -1          9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1/2       -12     -1/2         3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1          0</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6" name="矩形 5"/>
          <p:cNvSpPr/>
          <p:nvPr/>
        </p:nvSpPr>
        <p:spPr>
          <a:xfrm>
            <a:off x="10237298" y="1829336"/>
            <a:ext cx="1452642" cy="369332"/>
          </a:xfrm>
          <a:prstGeom prst="rect">
            <a:avLst/>
          </a:prstGeom>
        </p:spPr>
        <p:txBody>
          <a:bodyPr wrap="none">
            <a:spAutoFit/>
          </a:bodyPr>
          <a:lstStyle/>
          <a:p>
            <a:r>
              <a:rPr lang="en-US" altLang="zh-CN" dirty="0">
                <a:solidFill>
                  <a:srgbClr val="060606"/>
                </a:solidFill>
              </a:rPr>
              <a:t> (0)(</a:t>
            </a:r>
            <a:r>
              <a:rPr lang="zh-CN" altLang="en-US" dirty="0">
                <a:solidFill>
                  <a:srgbClr val="060606"/>
                </a:solidFill>
              </a:rPr>
              <a:t>下标</a:t>
            </a:r>
            <a:r>
              <a:rPr lang="en-US" altLang="zh-CN" dirty="0">
                <a:solidFill>
                  <a:srgbClr val="060606"/>
                </a:solidFill>
              </a:rPr>
              <a:t>1</a:t>
            </a:r>
            <a:r>
              <a:rPr lang="en-US" altLang="zh-CN" dirty="0">
                <a:solidFill>
                  <a:srgbClr val="FF0000"/>
                </a:solidFill>
              </a:rPr>
              <a:t>√</a:t>
            </a:r>
            <a:r>
              <a:rPr lang="en-US" altLang="zh-CN" dirty="0">
                <a:solidFill>
                  <a:srgbClr val="060606"/>
                </a:solidFill>
              </a:rPr>
              <a:t>)</a:t>
            </a:r>
            <a:endParaRPr lang="zh-CN" altLang="en-US" dirty="0"/>
          </a:p>
        </p:txBody>
      </p:sp>
      <p:sp>
        <p:nvSpPr>
          <p:cNvPr id="7" name="矩形 6"/>
          <p:cNvSpPr/>
          <p:nvPr/>
        </p:nvSpPr>
        <p:spPr>
          <a:xfrm>
            <a:off x="10237298" y="2189376"/>
            <a:ext cx="1338828" cy="369332"/>
          </a:xfrm>
          <a:prstGeom prst="rect">
            <a:avLst/>
          </a:prstGeom>
        </p:spPr>
        <p:txBody>
          <a:bodyPr wrap="none">
            <a:spAutoFit/>
          </a:bodyPr>
          <a:lstStyle/>
          <a:p>
            <a:r>
              <a:rPr lang="en-US" altLang="zh-CN" dirty="0">
                <a:solidFill>
                  <a:srgbClr val="060606"/>
                </a:solidFill>
              </a:rPr>
              <a:t> (0) )(</a:t>
            </a:r>
            <a:r>
              <a:rPr lang="zh-CN" altLang="en-US" dirty="0">
                <a:solidFill>
                  <a:srgbClr val="060606"/>
                </a:solidFill>
              </a:rPr>
              <a:t>下标</a:t>
            </a:r>
            <a:r>
              <a:rPr lang="en-US" altLang="zh-CN" dirty="0">
                <a:solidFill>
                  <a:srgbClr val="060606"/>
                </a:solidFill>
              </a:rPr>
              <a:t>2)</a:t>
            </a:r>
            <a:endParaRPr lang="zh-CN" altLang="en-US" dirty="0"/>
          </a:p>
        </p:txBody>
      </p:sp>
      <p:sp>
        <p:nvSpPr>
          <p:cNvPr id="8" name="矩形 7"/>
          <p:cNvSpPr/>
          <p:nvPr/>
        </p:nvSpPr>
        <p:spPr>
          <a:xfrm>
            <a:off x="10237299" y="2549416"/>
            <a:ext cx="704039" cy="369332"/>
          </a:xfrm>
          <a:prstGeom prst="rect">
            <a:avLst/>
          </a:prstGeom>
        </p:spPr>
        <p:txBody>
          <a:bodyPr wrap="none">
            <a:spAutoFit/>
          </a:bodyPr>
          <a:lstStyle/>
          <a:p>
            <a:r>
              <a:rPr lang="en-US" altLang="zh-CN" dirty="0">
                <a:solidFill>
                  <a:srgbClr val="060606"/>
                </a:solidFill>
              </a:rPr>
              <a:t>(+∞)</a:t>
            </a:r>
            <a:endParaRPr lang="zh-CN" altLang="en-US" dirty="0"/>
          </a:p>
        </p:txBody>
      </p:sp>
      <p:graphicFrame>
        <p:nvGraphicFramePr>
          <p:cNvPr id="18" name="表格 17"/>
          <p:cNvGraphicFramePr>
            <a:graphicFrameLocks noGrp="1"/>
          </p:cNvGraphicFramePr>
          <p:nvPr/>
        </p:nvGraphicFramePr>
        <p:xfrm>
          <a:off x="593272" y="3053472"/>
          <a:ext cx="10794312" cy="1554480"/>
        </p:xfrm>
        <a:graphic>
          <a:graphicData uri="http://schemas.openxmlformats.org/drawingml/2006/table">
            <a:tbl>
              <a:tblPr firstRow="1" bandRow="1">
                <a:tableStyleId>{5C22544A-7EE6-4342-B048-85BDC9FD1C3A}</a:tableStyleId>
              </a:tblPr>
              <a:tblGrid>
                <a:gridCol w="691779"/>
                <a:gridCol w="8393434"/>
                <a:gridCol w="1709099"/>
              </a:tblGrid>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4</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3</a:t>
                      </a:r>
                      <a:r>
                        <a:rPr lang="en-US" altLang="zh-CN" sz="2400" dirty="0">
                          <a:solidFill>
                            <a:srgbClr val="060606"/>
                          </a:solidFill>
                        </a:rPr>
                        <a:t>           0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-4       -7/2        33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4           0            </a:t>
                      </a:r>
                      <a:r>
                        <a:rPr lang="en-US" altLang="zh-CN" sz="2400" baseline="0" dirty="0" err="1">
                          <a:solidFill>
                            <a:srgbClr val="060606"/>
                          </a:solidFill>
                        </a:rPr>
                        <a:t>0</a:t>
                      </a:r>
                      <a:r>
                        <a:rPr lang="en-US" altLang="zh-CN" sz="2400" baseline="0" dirty="0">
                          <a:solidFill>
                            <a:srgbClr val="060606"/>
                          </a:solidFill>
                        </a:rPr>
                        <a:t>            1         -32        -4          36           </a:t>
                      </a:r>
                      <a:endParaRPr lang="en-US" altLang="zh-CN" sz="2400" baseline="0" dirty="0">
                        <a:solidFill>
                          <a:srgbClr val="060606"/>
                        </a:solidFill>
                      </a:endParaRPr>
                    </a:p>
                    <a:p>
                      <a:r>
                        <a:rPr lang="en-US" altLang="zh-CN" sz="2400" baseline="0" dirty="0">
                          <a:solidFill>
                            <a:srgbClr val="060606"/>
                          </a:solidFill>
                        </a:rPr>
                        <a:t>0        -2           1            0            </a:t>
                      </a:r>
                      <a:r>
                        <a:rPr lang="en-US" altLang="zh-CN" sz="2400" baseline="0" dirty="0" err="1">
                          <a:solidFill>
                            <a:srgbClr val="060606"/>
                          </a:solidFill>
                        </a:rPr>
                        <a:t>0</a:t>
                      </a:r>
                      <a:r>
                        <a:rPr lang="en-US" altLang="zh-CN" sz="2400" baseline="0" dirty="0">
                          <a:solidFill>
                            <a:srgbClr val="060606"/>
                          </a:solidFill>
                        </a:rPr>
                        <a:t>          -4        3/2       -15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1           0</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pSp>
        <p:nvGrpSpPr>
          <p:cNvPr id="31" name="组合 30"/>
          <p:cNvGrpSpPr/>
          <p:nvPr/>
        </p:nvGrpSpPr>
        <p:grpSpPr>
          <a:xfrm>
            <a:off x="10193792" y="3446924"/>
            <a:ext cx="1697901" cy="1089412"/>
            <a:chOff x="7698687" y="4542532"/>
            <a:chExt cx="1697901" cy="1089412"/>
          </a:xfrm>
        </p:grpSpPr>
        <p:sp>
          <p:nvSpPr>
            <p:cNvPr id="27" name="矩形 26"/>
            <p:cNvSpPr/>
            <p:nvPr/>
          </p:nvSpPr>
          <p:spPr>
            <a:xfrm>
              <a:off x="7698687" y="4542532"/>
              <a:ext cx="1337226" cy="369332"/>
            </a:xfrm>
            <a:prstGeom prst="rect">
              <a:avLst/>
            </a:prstGeom>
          </p:spPr>
          <p:txBody>
            <a:bodyPr wrap="none">
              <a:spAutoFit/>
            </a:bodyPr>
            <a:lstStyle/>
            <a:p>
              <a:r>
                <a:rPr lang="en-US" altLang="zh-CN" dirty="0">
                  <a:solidFill>
                    <a:srgbClr val="060606"/>
                  </a:solidFill>
                </a:rPr>
                <a:t> (-0)(</a:t>
              </a:r>
              <a:r>
                <a:rPr lang="zh-CN" altLang="en-US" dirty="0">
                  <a:solidFill>
                    <a:srgbClr val="060606"/>
                  </a:solidFill>
                </a:rPr>
                <a:t>下标</a:t>
              </a:r>
              <a:r>
                <a:rPr lang="en-US" altLang="zh-CN" dirty="0">
                  <a:solidFill>
                    <a:srgbClr val="060606"/>
                  </a:solidFill>
                </a:rPr>
                <a:t>4)</a:t>
              </a:r>
              <a:endParaRPr lang="zh-CN" altLang="en-US" dirty="0"/>
            </a:p>
          </p:txBody>
        </p:sp>
        <p:sp>
          <p:nvSpPr>
            <p:cNvPr id="28" name="矩形 27"/>
            <p:cNvSpPr/>
            <p:nvPr/>
          </p:nvSpPr>
          <p:spPr>
            <a:xfrm>
              <a:off x="7698687" y="4902572"/>
              <a:ext cx="1697901" cy="369332"/>
            </a:xfrm>
            <a:prstGeom prst="rect">
              <a:avLst/>
            </a:prstGeom>
          </p:spPr>
          <p:txBody>
            <a:bodyPr wrap="none">
              <a:spAutoFit/>
            </a:bodyPr>
            <a:lstStyle/>
            <a:p>
              <a:r>
                <a:rPr lang="en-US" altLang="zh-CN" dirty="0">
                  <a:solidFill>
                    <a:srgbClr val="060606"/>
                  </a:solidFill>
                </a:rPr>
                <a:t> (-0) )(</a:t>
              </a:r>
              <a:r>
                <a:rPr lang="zh-CN" altLang="en-US" dirty="0">
                  <a:solidFill>
                    <a:srgbClr val="060606"/>
                  </a:solidFill>
                </a:rPr>
                <a:t>下标</a:t>
              </a:r>
              <a:r>
                <a:rPr lang="en-US" altLang="zh-CN" dirty="0">
                  <a:solidFill>
                    <a:srgbClr val="060606"/>
                  </a:solidFill>
                </a:rPr>
                <a:t>2</a:t>
              </a:r>
              <a:r>
                <a:rPr lang="en-US" altLang="zh-CN" dirty="0">
                  <a:solidFill>
                    <a:srgbClr val="FF0000"/>
                  </a:solidFill>
                </a:rPr>
                <a:t>√</a:t>
              </a:r>
              <a:r>
                <a:rPr lang="en-US" altLang="zh-CN" dirty="0">
                  <a:solidFill>
                    <a:srgbClr val="060606"/>
                  </a:solidFill>
                </a:rPr>
                <a:t>)</a:t>
              </a:r>
              <a:endParaRPr lang="zh-CN" altLang="en-US" dirty="0"/>
            </a:p>
          </p:txBody>
        </p:sp>
        <p:sp>
          <p:nvSpPr>
            <p:cNvPr id="29" name="矩形 28"/>
            <p:cNvSpPr/>
            <p:nvPr/>
          </p:nvSpPr>
          <p:spPr>
            <a:xfrm>
              <a:off x="7698687" y="5262612"/>
              <a:ext cx="704039" cy="369332"/>
            </a:xfrm>
            <a:prstGeom prst="rect">
              <a:avLst/>
            </a:prstGeom>
          </p:spPr>
          <p:txBody>
            <a:bodyPr wrap="none">
              <a:spAutoFit/>
            </a:bodyPr>
            <a:lstStyle/>
            <a:p>
              <a:r>
                <a:rPr lang="en-US" altLang="zh-CN" dirty="0">
                  <a:solidFill>
                    <a:srgbClr val="060606"/>
                  </a:solidFill>
                </a:rPr>
                <a:t>(+∞)</a:t>
              </a:r>
              <a:endParaRPr lang="zh-CN" altLang="en-US" dirty="0"/>
            </a:p>
          </p:txBody>
        </p:sp>
      </p:grpSp>
      <p:graphicFrame>
        <p:nvGraphicFramePr>
          <p:cNvPr id="32" name="表格 31"/>
          <p:cNvGraphicFramePr>
            <a:graphicFrameLocks noGrp="1"/>
          </p:cNvGraphicFramePr>
          <p:nvPr/>
        </p:nvGraphicFramePr>
        <p:xfrm>
          <a:off x="585356" y="4657968"/>
          <a:ext cx="10794312" cy="1554480"/>
        </p:xfrm>
        <a:graphic>
          <a:graphicData uri="http://schemas.openxmlformats.org/drawingml/2006/table">
            <a:tbl>
              <a:tblPr firstRow="1" bandRow="1">
                <a:tableStyleId>{5C22544A-7EE6-4342-B048-85BDC9FD1C3A}</a:tableStyleId>
              </a:tblPr>
              <a:tblGrid>
                <a:gridCol w="691778"/>
                <a:gridCol w="8393435"/>
                <a:gridCol w="1709099"/>
              </a:tblGrid>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4</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altLang="zh-CN" sz="2400" dirty="0">
                          <a:solidFill>
                            <a:srgbClr val="060606"/>
                          </a:solidFill>
                        </a:rPr>
                        <a:t>1     </a:t>
                      </a:r>
                      <a:r>
                        <a:rPr lang="en-US" altLang="zh-CN" sz="2400" baseline="0" dirty="0">
                          <a:solidFill>
                            <a:srgbClr val="060606"/>
                          </a:solidFill>
                        </a:rPr>
                        <a:t>    </a:t>
                      </a:r>
                      <a:r>
                        <a:rPr lang="en-US" altLang="zh-CN" sz="2400" baseline="0" dirty="0" err="1">
                          <a:solidFill>
                            <a:srgbClr val="060606"/>
                          </a:solidFill>
                        </a:rPr>
                        <a:t>1</a:t>
                      </a:r>
                      <a:r>
                        <a:rPr lang="en-US" altLang="zh-CN" sz="2400" dirty="0">
                          <a:solidFill>
                            <a:srgbClr val="060606"/>
                          </a:solidFill>
                        </a:rPr>
                        <a:t>           1            0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-2        18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-12         8            0            1            0        8          -84           </a:t>
                      </a:r>
                      <a:endParaRPr lang="en-US" altLang="zh-CN" sz="2400" baseline="0" dirty="0">
                        <a:solidFill>
                          <a:srgbClr val="060606"/>
                        </a:solidFill>
                      </a:endParaRPr>
                    </a:p>
                    <a:p>
                      <a:r>
                        <a:rPr lang="en-US" altLang="zh-CN" sz="2400" baseline="0" dirty="0">
                          <a:solidFill>
                            <a:srgbClr val="060606"/>
                          </a:solidFill>
                        </a:rPr>
                        <a:t>0      -1/2      1/4          0            </a:t>
                      </a:r>
                      <a:r>
                        <a:rPr lang="en-US" altLang="zh-CN" sz="2400" baseline="0" dirty="0" err="1">
                          <a:solidFill>
                            <a:srgbClr val="060606"/>
                          </a:solidFill>
                        </a:rPr>
                        <a:t>0</a:t>
                      </a:r>
                      <a:r>
                        <a:rPr lang="en-US" altLang="zh-CN" sz="2400" baseline="0" dirty="0">
                          <a:solidFill>
                            <a:srgbClr val="060606"/>
                          </a:solidFill>
                        </a:rPr>
                        <a:t>            1       3/8     -15/4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1        0</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r>
            </a:tbl>
          </a:graphicData>
        </a:graphic>
      </p:graphicFrame>
      <p:sp>
        <p:nvSpPr>
          <p:cNvPr id="42" name="矩形 41"/>
          <p:cNvSpPr/>
          <p:nvPr/>
        </p:nvSpPr>
        <p:spPr>
          <a:xfrm>
            <a:off x="10199960" y="5069696"/>
            <a:ext cx="1452642" cy="369332"/>
          </a:xfrm>
          <a:prstGeom prst="rect">
            <a:avLst/>
          </a:prstGeom>
        </p:spPr>
        <p:txBody>
          <a:bodyPr wrap="none">
            <a:spAutoFit/>
          </a:bodyPr>
          <a:lstStyle/>
          <a:p>
            <a:r>
              <a:rPr lang="en-US" altLang="zh-CN" dirty="0">
                <a:solidFill>
                  <a:srgbClr val="060606"/>
                </a:solidFill>
              </a:rPr>
              <a:t> (0)(</a:t>
            </a:r>
            <a:r>
              <a:rPr lang="zh-CN" altLang="en-US" dirty="0">
                <a:solidFill>
                  <a:srgbClr val="060606"/>
                </a:solidFill>
              </a:rPr>
              <a:t>下标</a:t>
            </a:r>
            <a:r>
              <a:rPr lang="en-US" altLang="zh-CN" dirty="0">
                <a:solidFill>
                  <a:srgbClr val="060606"/>
                </a:solidFill>
              </a:rPr>
              <a:t>4</a:t>
            </a:r>
            <a:r>
              <a:rPr lang="en-US" altLang="zh-CN" dirty="0">
                <a:solidFill>
                  <a:srgbClr val="FF0000"/>
                </a:solidFill>
              </a:rPr>
              <a:t>√</a:t>
            </a:r>
            <a:r>
              <a:rPr lang="en-US" altLang="zh-CN" dirty="0">
                <a:solidFill>
                  <a:srgbClr val="060606"/>
                </a:solidFill>
              </a:rPr>
              <a:t>)</a:t>
            </a:r>
            <a:endParaRPr lang="zh-CN" altLang="en-US" dirty="0"/>
          </a:p>
        </p:txBody>
      </p:sp>
      <p:sp>
        <p:nvSpPr>
          <p:cNvPr id="43" name="矩形 42"/>
          <p:cNvSpPr/>
          <p:nvPr/>
        </p:nvSpPr>
        <p:spPr>
          <a:xfrm>
            <a:off x="10199960" y="5429736"/>
            <a:ext cx="1338828" cy="369332"/>
          </a:xfrm>
          <a:prstGeom prst="rect">
            <a:avLst/>
          </a:prstGeom>
        </p:spPr>
        <p:txBody>
          <a:bodyPr wrap="none">
            <a:spAutoFit/>
          </a:bodyPr>
          <a:lstStyle/>
          <a:p>
            <a:r>
              <a:rPr lang="en-US" altLang="zh-CN" dirty="0">
                <a:solidFill>
                  <a:srgbClr val="060606"/>
                </a:solidFill>
              </a:rPr>
              <a:t> (0) )(</a:t>
            </a:r>
            <a:r>
              <a:rPr lang="zh-CN" altLang="en-US" dirty="0">
                <a:solidFill>
                  <a:srgbClr val="060606"/>
                </a:solidFill>
              </a:rPr>
              <a:t>下标</a:t>
            </a:r>
            <a:r>
              <a:rPr lang="en-US" altLang="zh-CN" dirty="0">
                <a:solidFill>
                  <a:srgbClr val="060606"/>
                </a:solidFill>
              </a:rPr>
              <a:t>5)</a:t>
            </a:r>
            <a:endParaRPr lang="zh-CN" altLang="en-US" dirty="0"/>
          </a:p>
        </p:txBody>
      </p:sp>
      <p:sp>
        <p:nvSpPr>
          <p:cNvPr id="44" name="矩形 43"/>
          <p:cNvSpPr/>
          <p:nvPr/>
        </p:nvSpPr>
        <p:spPr>
          <a:xfrm>
            <a:off x="10199960" y="5789776"/>
            <a:ext cx="442750" cy="369332"/>
          </a:xfrm>
          <a:prstGeom prst="rect">
            <a:avLst/>
          </a:prstGeom>
        </p:spPr>
        <p:txBody>
          <a:bodyPr wrap="none">
            <a:spAutoFit/>
          </a:bodyPr>
          <a:lstStyle/>
          <a:p>
            <a:r>
              <a:rPr lang="en-US" altLang="zh-CN" dirty="0">
                <a:solidFill>
                  <a:srgbClr val="060606"/>
                </a:solidFill>
              </a:rPr>
              <a:t>(1)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ppt_x"/>
                                          </p:val>
                                        </p:tav>
                                        <p:tav tm="100000">
                                          <p:val>
                                            <p:strVal val="#ppt_x"/>
                                          </p:val>
                                        </p:tav>
                                      </p:tavLst>
                                    </p:anim>
                                    <p:anim calcmode="lin" valueType="num">
                                      <p:cBhvr additive="base">
                                        <p:cTn id="2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anim calcmode="lin" valueType="num">
                                      <p:cBhvr additive="base">
                                        <p:cTn id="35" dur="500" fill="hold"/>
                                        <p:tgtEl>
                                          <p:spTgt spid="42"/>
                                        </p:tgtEl>
                                        <p:attrNameLst>
                                          <p:attrName>ppt_x</p:attrName>
                                        </p:attrNameLst>
                                      </p:cBhvr>
                                      <p:tavLst>
                                        <p:tav tm="0">
                                          <p:val>
                                            <p:strVal val="#ppt_x"/>
                                          </p:val>
                                        </p:tav>
                                        <p:tav tm="100000">
                                          <p:val>
                                            <p:strVal val="#ppt_x"/>
                                          </p:val>
                                        </p:tav>
                                      </p:tavLst>
                                    </p:anim>
                                    <p:anim calcmode="lin" valueType="num">
                                      <p:cBhvr additive="base">
                                        <p:cTn id="36" dur="500" fill="hold"/>
                                        <p:tgtEl>
                                          <p:spTgt spid="4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anim calcmode="lin" valueType="num">
                                      <p:cBhvr additive="base">
                                        <p:cTn id="39" dur="500" fill="hold"/>
                                        <p:tgtEl>
                                          <p:spTgt spid="43"/>
                                        </p:tgtEl>
                                        <p:attrNameLst>
                                          <p:attrName>ppt_x</p:attrName>
                                        </p:attrNameLst>
                                      </p:cBhvr>
                                      <p:tavLst>
                                        <p:tav tm="0">
                                          <p:val>
                                            <p:strVal val="#ppt_x"/>
                                          </p:val>
                                        </p:tav>
                                        <p:tav tm="100000">
                                          <p:val>
                                            <p:strVal val="#ppt_x"/>
                                          </p:val>
                                        </p:tav>
                                      </p:tavLst>
                                    </p:anim>
                                    <p:anim calcmode="lin" valueType="num">
                                      <p:cBhvr additive="base">
                                        <p:cTn id="40" dur="500" fill="hold"/>
                                        <p:tgtEl>
                                          <p:spTgt spid="4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additive="base">
                                        <p:cTn id="43" dur="500" fill="hold"/>
                                        <p:tgtEl>
                                          <p:spTgt spid="44"/>
                                        </p:tgtEl>
                                        <p:attrNameLst>
                                          <p:attrName>ppt_x</p:attrName>
                                        </p:attrNameLst>
                                      </p:cBhvr>
                                      <p:tavLst>
                                        <p:tav tm="0">
                                          <p:val>
                                            <p:strVal val="#ppt_x"/>
                                          </p:val>
                                        </p:tav>
                                        <p:tav tm="100000">
                                          <p:val>
                                            <p:strVal val="#ppt_x"/>
                                          </p:val>
                                        </p:tav>
                                      </p:tavLst>
                                    </p:anim>
                                    <p:anim calcmode="lin" valueType="num">
                                      <p:cBhvr additive="base">
                                        <p:cTn id="4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42" grpId="0"/>
      <p:bldP spid="43" grpId="0"/>
      <p:bldP spid="44"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595449" y="655112"/>
          <a:ext cx="11011664" cy="2468880"/>
        </p:xfrm>
        <a:graphic>
          <a:graphicData uri="http://schemas.openxmlformats.org/drawingml/2006/table">
            <a:tbl>
              <a:tblPr firstRow="1" bandRow="1">
                <a:tableStyleId>{5C22544A-7EE6-4342-B048-85BDC9FD1C3A}</a:tableStyleId>
              </a:tblPr>
              <a:tblGrid>
                <a:gridCol w="705708"/>
                <a:gridCol w="8562443"/>
                <a:gridCol w="1743513"/>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7</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6</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-2</a:t>
                      </a:r>
                      <a:r>
                        <a:rPr lang="en-US" altLang="zh-CN" sz="2400" dirty="0">
                          <a:solidFill>
                            <a:srgbClr val="060606"/>
                          </a:solidFill>
                        </a:rPr>
                        <a:t>           3            0         1/4           0        </a:t>
                      </a:r>
                      <a:r>
                        <a:rPr lang="en-US" altLang="zh-CN" sz="2400" dirty="0" err="1">
                          <a:solidFill>
                            <a:srgbClr val="060606"/>
                          </a:solidFill>
                        </a:rPr>
                        <a:t>0</a:t>
                      </a:r>
                      <a:r>
                        <a:rPr lang="en-US" altLang="zh-CN" sz="2400" dirty="0">
                          <a:solidFill>
                            <a:srgbClr val="060606"/>
                          </a:solidFill>
                        </a:rPr>
                        <a:t>        -3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-3/2         1            0         1/8           0        1      -21/2           </a:t>
                      </a:r>
                      <a:endParaRPr lang="en-US" altLang="zh-CN" sz="2400" baseline="0" dirty="0">
                        <a:solidFill>
                          <a:srgbClr val="060606"/>
                        </a:solidFill>
                      </a:endParaRPr>
                    </a:p>
                    <a:p>
                      <a:r>
                        <a:rPr lang="en-US" altLang="zh-CN" sz="2400" baseline="0" dirty="0">
                          <a:solidFill>
                            <a:srgbClr val="060606"/>
                          </a:solidFill>
                        </a:rPr>
                        <a:t>0      1/16       -1/8         0       -3/64         1        0       3/16                </a:t>
                      </a:r>
                      <a:endParaRPr lang="en-US" altLang="zh-CN" sz="2400" baseline="0" dirty="0">
                        <a:solidFill>
                          <a:srgbClr val="060606"/>
                        </a:solidFill>
                      </a:endParaRPr>
                    </a:p>
                    <a:p>
                      <a:r>
                        <a:rPr lang="en-US" altLang="zh-CN" sz="2400" baseline="0" dirty="0">
                          <a:solidFill>
                            <a:srgbClr val="060606"/>
                          </a:solidFill>
                        </a:rPr>
                        <a:t>0        3/2         -1            1        -1/8          0        </a:t>
                      </a:r>
                      <a:r>
                        <a:rPr lang="en-US" altLang="zh-CN" sz="2400" baseline="0" dirty="0" err="1">
                          <a:solidFill>
                            <a:srgbClr val="060606"/>
                          </a:solidFill>
                        </a:rPr>
                        <a:t>0</a:t>
                      </a:r>
                      <a:r>
                        <a:rPr lang="en-US" altLang="zh-CN" sz="2400" baseline="0" dirty="0">
                          <a:solidFill>
                            <a:srgbClr val="060606"/>
                          </a:solidFill>
                        </a:rPr>
                        <a:t>          2</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2" name="表格 31"/>
          <p:cNvGraphicFramePr>
            <a:graphicFrameLocks noGrp="1"/>
          </p:cNvGraphicFramePr>
          <p:nvPr/>
        </p:nvGraphicFramePr>
        <p:xfrm>
          <a:off x="589280" y="3103384"/>
          <a:ext cx="11011664" cy="1554480"/>
        </p:xfrm>
        <a:graphic>
          <a:graphicData uri="http://schemas.openxmlformats.org/drawingml/2006/table">
            <a:tbl>
              <a:tblPr firstRow="1" bandRow="1">
                <a:tableStyleId>{5C22544A-7EE6-4342-B048-85BDC9FD1C3A}</a:tableStyleId>
              </a:tblPr>
              <a:tblGrid>
                <a:gridCol w="705708"/>
                <a:gridCol w="8562443"/>
                <a:gridCol w="1743513"/>
              </a:tblGrid>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6</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7</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altLang="zh-CN" sz="2400" dirty="0">
                          <a:solidFill>
                            <a:srgbClr val="060606"/>
                          </a:solidFill>
                        </a:rPr>
                        <a:t>1     </a:t>
                      </a:r>
                      <a:r>
                        <a:rPr lang="en-US" altLang="zh-CN" sz="2400" baseline="0" dirty="0">
                          <a:solidFill>
                            <a:srgbClr val="060606"/>
                          </a:solidFill>
                        </a:rPr>
                        <a:t>    -1</a:t>
                      </a:r>
                      <a:r>
                        <a:rPr lang="en-US" altLang="zh-CN" sz="2400" dirty="0">
                          <a:solidFill>
                            <a:srgbClr val="060606"/>
                          </a:solidFill>
                        </a:rPr>
                        <a:t>           1            0        -1/2           16        0        </a:t>
                      </a:r>
                      <a:r>
                        <a:rPr lang="en-US" altLang="zh-CN" sz="2400" dirty="0" err="1">
                          <a:solidFill>
                            <a:srgbClr val="060606"/>
                          </a:solidFill>
                        </a:rPr>
                        <a:t>0</a:t>
                      </a:r>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2          -6            0        -5/2           56        1        0           </a:t>
                      </a:r>
                      <a:endParaRPr lang="en-US" altLang="zh-CN" sz="2400" baseline="0" dirty="0">
                        <a:solidFill>
                          <a:srgbClr val="060606"/>
                        </a:solidFill>
                      </a:endParaRPr>
                    </a:p>
                    <a:p>
                      <a:r>
                        <a:rPr lang="en-US" altLang="zh-CN" sz="2400" baseline="0" dirty="0">
                          <a:solidFill>
                            <a:srgbClr val="060606"/>
                          </a:solidFill>
                        </a:rPr>
                        <a:t>0       1/3        -2/3         0       -1/4          16/3      0        1                </a:t>
                      </a:r>
                      <a:endParaRPr lang="en-US" altLang="zh-CN" sz="2400" baseline="0" dirty="0">
                        <a:solidFill>
                          <a:srgbClr val="060606"/>
                        </a:solidFill>
                      </a:endParaRPr>
                    </a:p>
                    <a:p>
                      <a:r>
                        <a:rPr lang="en-US" altLang="zh-CN" sz="2400" baseline="0" dirty="0">
                          <a:solidFill>
                            <a:srgbClr val="060606"/>
                          </a:solidFill>
                        </a:rPr>
                        <a:t>0        -2            6           1         2/5           -56         0       </a:t>
                      </a:r>
                      <a:r>
                        <a:rPr lang="en-US" altLang="zh-CN" sz="2400" baseline="0" dirty="0" err="1">
                          <a:solidFill>
                            <a:srgbClr val="060606"/>
                          </a:solidFill>
                        </a:rPr>
                        <a:t>0</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r>
            </a:tbl>
          </a:graphicData>
        </a:graphic>
      </p:graphicFrame>
      <p:sp>
        <p:nvSpPr>
          <p:cNvPr id="21" name="矩形 20"/>
          <p:cNvSpPr/>
          <p:nvPr/>
        </p:nvSpPr>
        <p:spPr>
          <a:xfrm>
            <a:off x="10403986" y="2023264"/>
            <a:ext cx="619080" cy="369332"/>
          </a:xfrm>
          <a:prstGeom prst="rect">
            <a:avLst/>
          </a:prstGeom>
        </p:spPr>
        <p:txBody>
          <a:bodyPr wrap="none">
            <a:spAutoFit/>
          </a:bodyPr>
          <a:lstStyle/>
          <a:p>
            <a:r>
              <a:rPr lang="en-US" altLang="zh-CN" dirty="0">
                <a:solidFill>
                  <a:srgbClr val="060606"/>
                </a:solidFill>
              </a:rPr>
              <a:t> (-0)</a:t>
            </a:r>
            <a:endParaRPr lang="zh-CN" altLang="en-US" dirty="0"/>
          </a:p>
        </p:txBody>
      </p:sp>
      <p:sp>
        <p:nvSpPr>
          <p:cNvPr id="22" name="矩形 21"/>
          <p:cNvSpPr/>
          <p:nvPr/>
        </p:nvSpPr>
        <p:spPr>
          <a:xfrm>
            <a:off x="10403987" y="2383304"/>
            <a:ext cx="998991" cy="369332"/>
          </a:xfrm>
          <a:prstGeom prst="rect">
            <a:avLst/>
          </a:prstGeom>
        </p:spPr>
        <p:txBody>
          <a:bodyPr wrap="none">
            <a:spAutoFit/>
          </a:bodyPr>
          <a:lstStyle/>
          <a:p>
            <a:r>
              <a:rPr lang="en-US" altLang="zh-CN" dirty="0">
                <a:solidFill>
                  <a:srgbClr val="060606"/>
                </a:solidFill>
              </a:rPr>
              <a:t> (0) )(</a:t>
            </a:r>
            <a:r>
              <a:rPr lang="en-US" altLang="zh-CN" dirty="0">
                <a:solidFill>
                  <a:srgbClr val="FF0000"/>
                </a:solidFill>
              </a:rPr>
              <a:t>√</a:t>
            </a:r>
            <a:r>
              <a:rPr lang="en-US" altLang="zh-CN" dirty="0">
                <a:solidFill>
                  <a:srgbClr val="060606"/>
                </a:solidFill>
              </a:rPr>
              <a:t>)</a:t>
            </a:r>
            <a:endParaRPr lang="zh-CN" altLang="en-US" dirty="0"/>
          </a:p>
        </p:txBody>
      </p:sp>
      <p:sp>
        <p:nvSpPr>
          <p:cNvPr id="23" name="矩形 22"/>
          <p:cNvSpPr/>
          <p:nvPr/>
        </p:nvSpPr>
        <p:spPr>
          <a:xfrm>
            <a:off x="10403987" y="2743344"/>
            <a:ext cx="649537" cy="369332"/>
          </a:xfrm>
          <a:prstGeom prst="rect">
            <a:avLst/>
          </a:prstGeom>
        </p:spPr>
        <p:txBody>
          <a:bodyPr wrap="none">
            <a:spAutoFit/>
          </a:bodyPr>
          <a:lstStyle/>
          <a:p>
            <a:r>
              <a:rPr lang="en-US" altLang="zh-CN" dirty="0">
                <a:solidFill>
                  <a:srgbClr val="060606"/>
                </a:solidFill>
              </a:rPr>
              <a:t>(1/2)</a:t>
            </a:r>
            <a:endParaRPr lang="zh-CN" altLang="en-US" dirty="0"/>
          </a:p>
        </p:txBody>
      </p:sp>
      <p:sp>
        <p:nvSpPr>
          <p:cNvPr id="35" name="矩形 34"/>
          <p:cNvSpPr/>
          <p:nvPr/>
        </p:nvSpPr>
        <p:spPr>
          <a:xfrm>
            <a:off x="10403160" y="3526140"/>
            <a:ext cx="1452642" cy="369332"/>
          </a:xfrm>
          <a:prstGeom prst="rect">
            <a:avLst/>
          </a:prstGeom>
        </p:spPr>
        <p:txBody>
          <a:bodyPr wrap="none">
            <a:spAutoFit/>
          </a:bodyPr>
          <a:lstStyle/>
          <a:p>
            <a:r>
              <a:rPr lang="en-US" altLang="zh-CN" dirty="0">
                <a:solidFill>
                  <a:srgbClr val="060606"/>
                </a:solidFill>
              </a:rPr>
              <a:t> (0)(</a:t>
            </a:r>
            <a:r>
              <a:rPr lang="zh-CN" altLang="en-US" dirty="0">
                <a:solidFill>
                  <a:srgbClr val="060606"/>
                </a:solidFill>
              </a:rPr>
              <a:t>下标</a:t>
            </a:r>
            <a:r>
              <a:rPr lang="en-US" altLang="zh-CN" dirty="0">
                <a:solidFill>
                  <a:srgbClr val="060606"/>
                </a:solidFill>
              </a:rPr>
              <a:t>6</a:t>
            </a:r>
            <a:r>
              <a:rPr lang="en-US" altLang="zh-CN" dirty="0">
                <a:solidFill>
                  <a:srgbClr val="FF0000"/>
                </a:solidFill>
              </a:rPr>
              <a:t>√</a:t>
            </a:r>
            <a:r>
              <a:rPr lang="en-US" altLang="zh-CN" dirty="0">
                <a:solidFill>
                  <a:srgbClr val="060606"/>
                </a:solidFill>
              </a:rPr>
              <a:t>)</a:t>
            </a:r>
            <a:endParaRPr lang="zh-CN" altLang="en-US" dirty="0"/>
          </a:p>
        </p:txBody>
      </p:sp>
      <p:sp>
        <p:nvSpPr>
          <p:cNvPr id="36" name="矩形 35"/>
          <p:cNvSpPr/>
          <p:nvPr/>
        </p:nvSpPr>
        <p:spPr>
          <a:xfrm>
            <a:off x="10403160" y="3886180"/>
            <a:ext cx="1338828" cy="369332"/>
          </a:xfrm>
          <a:prstGeom prst="rect">
            <a:avLst/>
          </a:prstGeom>
        </p:spPr>
        <p:txBody>
          <a:bodyPr wrap="none">
            <a:spAutoFit/>
          </a:bodyPr>
          <a:lstStyle/>
          <a:p>
            <a:r>
              <a:rPr lang="en-US" altLang="zh-CN" dirty="0">
                <a:solidFill>
                  <a:srgbClr val="060606"/>
                </a:solidFill>
              </a:rPr>
              <a:t> (0) )(</a:t>
            </a:r>
            <a:r>
              <a:rPr lang="zh-CN" altLang="en-US" dirty="0">
                <a:solidFill>
                  <a:srgbClr val="060606"/>
                </a:solidFill>
              </a:rPr>
              <a:t>下标</a:t>
            </a:r>
            <a:r>
              <a:rPr lang="en-US" altLang="zh-CN" dirty="0">
                <a:solidFill>
                  <a:srgbClr val="060606"/>
                </a:solidFill>
              </a:rPr>
              <a:t>7)</a:t>
            </a:r>
            <a:endParaRPr lang="zh-CN" altLang="en-US" dirty="0"/>
          </a:p>
        </p:txBody>
      </p:sp>
      <p:sp>
        <p:nvSpPr>
          <p:cNvPr id="37" name="矩形 36"/>
          <p:cNvSpPr/>
          <p:nvPr/>
        </p:nvSpPr>
        <p:spPr>
          <a:xfrm>
            <a:off x="10457801" y="4246220"/>
            <a:ext cx="764953" cy="369332"/>
          </a:xfrm>
          <a:prstGeom prst="rect">
            <a:avLst/>
          </a:prstGeom>
        </p:spPr>
        <p:txBody>
          <a:bodyPr wrap="none">
            <a:spAutoFit/>
          </a:bodyPr>
          <a:lstStyle/>
          <a:p>
            <a:r>
              <a:rPr lang="en-US" altLang="zh-CN" dirty="0">
                <a:solidFill>
                  <a:srgbClr val="060606"/>
                </a:solidFill>
              </a:rPr>
              <a:t>(-1/2)</a:t>
            </a:r>
            <a:endParaRPr lang="zh-CN" altLang="en-US" dirty="0"/>
          </a:p>
        </p:txBody>
      </p:sp>
      <p:graphicFrame>
        <p:nvGraphicFramePr>
          <p:cNvPr id="38" name="表格 37"/>
          <p:cNvGraphicFramePr>
            <a:graphicFrameLocks noGrp="1"/>
          </p:cNvGraphicFramePr>
          <p:nvPr/>
        </p:nvGraphicFramePr>
        <p:xfrm>
          <a:off x="589280" y="4687560"/>
          <a:ext cx="11011664" cy="1554480"/>
        </p:xfrm>
        <a:graphic>
          <a:graphicData uri="http://schemas.openxmlformats.org/drawingml/2006/table">
            <a:tbl>
              <a:tblPr firstRow="1" bandRow="1">
                <a:tableStyleId>{5C22544A-7EE6-4342-B048-85BDC9FD1C3A}</a:tableStyleId>
              </a:tblPr>
              <a:tblGrid>
                <a:gridCol w="705708"/>
                <a:gridCol w="8562443"/>
                <a:gridCol w="1743513"/>
              </a:tblGrid>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7</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-2            0        -7/4          44        1/2        0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-3            0         -5/4         28        1/2        0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1/3          0          1/6         -4         -1/6       1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1           0</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39" name="矩形 38"/>
          <p:cNvSpPr/>
          <p:nvPr/>
        </p:nvSpPr>
        <p:spPr>
          <a:xfrm>
            <a:off x="10403986" y="5119608"/>
            <a:ext cx="619080" cy="369332"/>
          </a:xfrm>
          <a:prstGeom prst="rect">
            <a:avLst/>
          </a:prstGeom>
        </p:spPr>
        <p:txBody>
          <a:bodyPr wrap="none">
            <a:spAutoFit/>
          </a:bodyPr>
          <a:lstStyle/>
          <a:p>
            <a:r>
              <a:rPr lang="en-US" altLang="zh-CN" dirty="0">
                <a:solidFill>
                  <a:srgbClr val="060606"/>
                </a:solidFill>
              </a:rPr>
              <a:t> (-0)</a:t>
            </a:r>
            <a:endParaRPr lang="zh-CN" altLang="en-US" dirty="0"/>
          </a:p>
        </p:txBody>
      </p:sp>
      <p:sp>
        <p:nvSpPr>
          <p:cNvPr id="40" name="矩形 39"/>
          <p:cNvSpPr/>
          <p:nvPr/>
        </p:nvSpPr>
        <p:spPr>
          <a:xfrm>
            <a:off x="10403987" y="5479648"/>
            <a:ext cx="998991" cy="369332"/>
          </a:xfrm>
          <a:prstGeom prst="rect">
            <a:avLst/>
          </a:prstGeom>
        </p:spPr>
        <p:txBody>
          <a:bodyPr wrap="none">
            <a:spAutoFit/>
          </a:bodyPr>
          <a:lstStyle/>
          <a:p>
            <a:r>
              <a:rPr lang="en-US" altLang="zh-CN" dirty="0">
                <a:solidFill>
                  <a:srgbClr val="060606"/>
                </a:solidFill>
              </a:rPr>
              <a:t> (0) )(</a:t>
            </a:r>
            <a:r>
              <a:rPr lang="en-US" altLang="zh-CN" dirty="0">
                <a:solidFill>
                  <a:srgbClr val="FF0000"/>
                </a:solidFill>
              </a:rPr>
              <a:t>√</a:t>
            </a:r>
            <a:r>
              <a:rPr lang="en-US" altLang="zh-CN" dirty="0">
                <a:solidFill>
                  <a:srgbClr val="060606"/>
                </a:solidFill>
              </a:rPr>
              <a:t>)</a:t>
            </a:r>
            <a:endParaRPr lang="zh-CN" altLang="en-US" dirty="0"/>
          </a:p>
        </p:txBody>
      </p:sp>
      <p:sp>
        <p:nvSpPr>
          <p:cNvPr id="41" name="矩形 40"/>
          <p:cNvSpPr/>
          <p:nvPr/>
        </p:nvSpPr>
        <p:spPr>
          <a:xfrm>
            <a:off x="10403987" y="5839688"/>
            <a:ext cx="704039" cy="369332"/>
          </a:xfrm>
          <a:prstGeom prst="rect">
            <a:avLst/>
          </a:prstGeom>
        </p:spPr>
        <p:txBody>
          <a:bodyPr wrap="none">
            <a:spAutoFit/>
          </a:bodyPr>
          <a:lstStyle/>
          <a:p>
            <a:r>
              <a:rPr lang="en-US" altLang="zh-CN" dirty="0">
                <a:solidFill>
                  <a:srgbClr val="060606"/>
                </a:solidFill>
              </a:rPr>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anim calcmode="lin" valueType="num">
                                      <p:cBhvr additive="base">
                                        <p:cTn id="21" dur="500" fill="hold"/>
                                        <p:tgtEl>
                                          <p:spTgt spid="32"/>
                                        </p:tgtEl>
                                        <p:attrNameLst>
                                          <p:attrName>ppt_x</p:attrName>
                                        </p:attrNameLst>
                                      </p:cBhvr>
                                      <p:tavLst>
                                        <p:tav tm="0">
                                          <p:val>
                                            <p:strVal val="#ppt_x"/>
                                          </p:val>
                                        </p:tav>
                                        <p:tav tm="100000">
                                          <p:val>
                                            <p:strVal val="#ppt_x"/>
                                          </p:val>
                                        </p:tav>
                                      </p:tavLst>
                                    </p:anim>
                                    <p:anim calcmode="lin" valueType="num">
                                      <p:cBhvr additive="base">
                                        <p:cTn id="22" dur="500" fill="hold"/>
                                        <p:tgtEl>
                                          <p:spTgt spid="3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additive="base">
                                        <p:cTn id="25" dur="500" fill="hold"/>
                                        <p:tgtEl>
                                          <p:spTgt spid="35"/>
                                        </p:tgtEl>
                                        <p:attrNameLst>
                                          <p:attrName>ppt_x</p:attrName>
                                        </p:attrNameLst>
                                      </p:cBhvr>
                                      <p:tavLst>
                                        <p:tav tm="0">
                                          <p:val>
                                            <p:strVal val="#ppt_x"/>
                                          </p:val>
                                        </p:tav>
                                        <p:tav tm="100000">
                                          <p:val>
                                            <p:strVal val="#ppt_x"/>
                                          </p:val>
                                        </p:tav>
                                      </p:tavLst>
                                    </p:anim>
                                    <p:anim calcmode="lin" valueType="num">
                                      <p:cBhvr additive="base">
                                        <p:cTn id="26" dur="500" fill="hold"/>
                                        <p:tgtEl>
                                          <p:spTgt spid="3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 calcmode="lin" valueType="num">
                                      <p:cBhvr additive="base">
                                        <p:cTn id="29" dur="500" fill="hold"/>
                                        <p:tgtEl>
                                          <p:spTgt spid="36"/>
                                        </p:tgtEl>
                                        <p:attrNameLst>
                                          <p:attrName>ppt_x</p:attrName>
                                        </p:attrNameLst>
                                      </p:cBhvr>
                                      <p:tavLst>
                                        <p:tav tm="0">
                                          <p:val>
                                            <p:strVal val="#ppt_x"/>
                                          </p:val>
                                        </p:tav>
                                        <p:tav tm="100000">
                                          <p:val>
                                            <p:strVal val="#ppt_x"/>
                                          </p:val>
                                        </p:tav>
                                      </p:tavLst>
                                    </p:anim>
                                    <p:anim calcmode="lin" valueType="num">
                                      <p:cBhvr additive="base">
                                        <p:cTn id="30" dur="500" fill="hold"/>
                                        <p:tgtEl>
                                          <p:spTgt spid="3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anim calcmode="lin" valueType="num">
                                      <p:cBhvr additive="base">
                                        <p:cTn id="33" dur="500" fill="hold"/>
                                        <p:tgtEl>
                                          <p:spTgt spid="37"/>
                                        </p:tgtEl>
                                        <p:attrNameLst>
                                          <p:attrName>ppt_x</p:attrName>
                                        </p:attrNameLst>
                                      </p:cBhvr>
                                      <p:tavLst>
                                        <p:tav tm="0">
                                          <p:val>
                                            <p:strVal val="#ppt_x"/>
                                          </p:val>
                                        </p:tav>
                                        <p:tav tm="100000">
                                          <p:val>
                                            <p:strVal val="#ppt_x"/>
                                          </p:val>
                                        </p:tav>
                                      </p:tavLst>
                                    </p:anim>
                                    <p:anim calcmode="lin" valueType="num">
                                      <p:cBhvr additive="base">
                                        <p:cTn id="3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8"/>
                                        </p:tgtEl>
                                        <p:attrNameLst>
                                          <p:attrName>style.visibility</p:attrName>
                                        </p:attrNameLst>
                                      </p:cBhvr>
                                      <p:to>
                                        <p:strVal val="visible"/>
                                      </p:to>
                                    </p:set>
                                    <p:anim calcmode="lin" valueType="num">
                                      <p:cBhvr additive="base">
                                        <p:cTn id="39" dur="500" fill="hold"/>
                                        <p:tgtEl>
                                          <p:spTgt spid="38"/>
                                        </p:tgtEl>
                                        <p:attrNameLst>
                                          <p:attrName>ppt_x</p:attrName>
                                        </p:attrNameLst>
                                      </p:cBhvr>
                                      <p:tavLst>
                                        <p:tav tm="0">
                                          <p:val>
                                            <p:strVal val="#ppt_x"/>
                                          </p:val>
                                        </p:tav>
                                        <p:tav tm="100000">
                                          <p:val>
                                            <p:strVal val="#ppt_x"/>
                                          </p:val>
                                        </p:tav>
                                      </p:tavLst>
                                    </p:anim>
                                    <p:anim calcmode="lin" valueType="num">
                                      <p:cBhvr additive="base">
                                        <p:cTn id="40" dur="500" fill="hold"/>
                                        <p:tgtEl>
                                          <p:spTgt spid="3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500" fill="hold"/>
                                        <p:tgtEl>
                                          <p:spTgt spid="39"/>
                                        </p:tgtEl>
                                        <p:attrNameLst>
                                          <p:attrName>ppt_x</p:attrName>
                                        </p:attrNameLst>
                                      </p:cBhvr>
                                      <p:tavLst>
                                        <p:tav tm="0">
                                          <p:val>
                                            <p:strVal val="#ppt_x"/>
                                          </p:val>
                                        </p:tav>
                                        <p:tav tm="100000">
                                          <p:val>
                                            <p:strVal val="#ppt_x"/>
                                          </p:val>
                                        </p:tav>
                                      </p:tavLst>
                                    </p:anim>
                                    <p:anim calcmode="lin" valueType="num">
                                      <p:cBhvr additive="base">
                                        <p:cTn id="44" dur="500" fill="hold"/>
                                        <p:tgtEl>
                                          <p:spTgt spid="3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anim calcmode="lin" valueType="num">
                                      <p:cBhvr additive="base">
                                        <p:cTn id="47" dur="500" fill="hold"/>
                                        <p:tgtEl>
                                          <p:spTgt spid="40"/>
                                        </p:tgtEl>
                                        <p:attrNameLst>
                                          <p:attrName>ppt_x</p:attrName>
                                        </p:attrNameLst>
                                      </p:cBhvr>
                                      <p:tavLst>
                                        <p:tav tm="0">
                                          <p:val>
                                            <p:strVal val="#ppt_x"/>
                                          </p:val>
                                        </p:tav>
                                        <p:tav tm="100000">
                                          <p:val>
                                            <p:strVal val="#ppt_x"/>
                                          </p:val>
                                        </p:tav>
                                      </p:tavLst>
                                    </p:anim>
                                    <p:anim calcmode="lin" valueType="num">
                                      <p:cBhvr additive="base">
                                        <p:cTn id="48" dur="500" fill="hold"/>
                                        <p:tgtEl>
                                          <p:spTgt spid="4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anim calcmode="lin" valueType="num">
                                      <p:cBhvr additive="base">
                                        <p:cTn id="51" dur="500" fill="hold"/>
                                        <p:tgtEl>
                                          <p:spTgt spid="41"/>
                                        </p:tgtEl>
                                        <p:attrNameLst>
                                          <p:attrName>ppt_x</p:attrName>
                                        </p:attrNameLst>
                                      </p:cBhvr>
                                      <p:tavLst>
                                        <p:tav tm="0">
                                          <p:val>
                                            <p:strVal val="#ppt_x"/>
                                          </p:val>
                                        </p:tav>
                                        <p:tav tm="100000">
                                          <p:val>
                                            <p:strVal val="#ppt_x"/>
                                          </p:val>
                                        </p:tav>
                                      </p:tavLst>
                                    </p:anim>
                                    <p:anim calcmode="lin" valueType="num">
                                      <p:cBhvr additive="base">
                                        <p:cTn id="5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35" grpId="0"/>
      <p:bldP spid="36" grpId="0"/>
      <p:bldP spid="37" grpId="0"/>
      <p:bldP spid="39" grpId="0"/>
      <p:bldP spid="40" grpId="0"/>
      <p:bldP spid="41"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386080" y="219120"/>
          <a:ext cx="11342954" cy="6431280"/>
        </p:xfrm>
        <a:graphic>
          <a:graphicData uri="http://schemas.openxmlformats.org/drawingml/2006/table">
            <a:tbl>
              <a:tblPr firstRow="1" bandRow="1">
                <a:tableStyleId>{5C22544A-7EE6-4342-B048-85BDC9FD1C3A}</a:tableStyleId>
              </a:tblPr>
              <a:tblGrid>
                <a:gridCol w="726939"/>
                <a:gridCol w="8820047"/>
                <a:gridCol w="1795968"/>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7</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-3/4       20       -1/2        6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1/4        -8          -1          9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1/2       -12     -1/2         3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1          0</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r>
              <a:tr h="195416">
                <a:tc>
                  <a:txBody>
                    <a:bodyPr/>
                    <a:lstStyle/>
                    <a:p>
                      <a:pPr algn="r"/>
                      <a:endParaRPr lang="en-US" altLang="zh-CN" sz="8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8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8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r"/>
                      <a:endParaRPr lang="en-US" altLang="zh-CN" sz="8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8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8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00744">
                <a:tc>
                  <a:txBody>
                    <a:bodyPr/>
                    <a:lstStyle/>
                    <a:p>
                      <a:pPr algn="r"/>
                      <a:endParaRPr lang="en-US" altLang="zh-CN" sz="8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8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8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03408">
                <a:tc>
                  <a:txBody>
                    <a:bodyPr/>
                    <a:lstStyle/>
                    <a:p>
                      <a:pPr algn="r"/>
                      <a:endParaRPr lang="en-US" altLang="zh-CN" sz="8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8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8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7</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-2            0        -7/4          44        1/2        0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-3            0         -5/4         28        1/2        0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1/3          0          1/6         -4         -1/6       1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1           0</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altLang="zh-CN" sz="2400" dirty="0">
                          <a:solidFill>
                            <a:srgbClr val="060606"/>
                          </a:solidFill>
                        </a:rPr>
                        <a:t>1     </a:t>
                      </a:r>
                      <a:r>
                        <a:rPr lang="en-US" altLang="zh-CN" sz="2400" baseline="0" dirty="0">
                          <a:solidFill>
                            <a:srgbClr val="060606"/>
                          </a:solidFill>
                        </a:rPr>
                        <a:t>    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-3/4       20       -1/2        6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1/4        -8          -1          9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1            0          1/2       -12     -1/2         3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1            0           </a:t>
                      </a:r>
                      <a:r>
                        <a:rPr lang="en-US" altLang="zh-CN" sz="2400" baseline="0" dirty="0" err="1">
                          <a:solidFill>
                            <a:srgbClr val="060606"/>
                          </a:solidFill>
                        </a:rPr>
                        <a:t>0</a:t>
                      </a:r>
                      <a:r>
                        <a:rPr lang="en-US" altLang="zh-CN" sz="2400" baseline="0" dirty="0">
                          <a:solidFill>
                            <a:srgbClr val="060606"/>
                          </a:solidFill>
                        </a:rPr>
                        <a:t>           1          0</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r>
            </a:tbl>
          </a:graphicData>
        </a:graphic>
      </p:graphicFrame>
      <p:sp>
        <p:nvSpPr>
          <p:cNvPr id="39" name="矩形 38"/>
          <p:cNvSpPr/>
          <p:nvPr/>
        </p:nvSpPr>
        <p:spPr>
          <a:xfrm>
            <a:off x="10536066" y="3947016"/>
            <a:ext cx="619080" cy="369332"/>
          </a:xfrm>
          <a:prstGeom prst="rect">
            <a:avLst/>
          </a:prstGeom>
        </p:spPr>
        <p:txBody>
          <a:bodyPr wrap="none">
            <a:spAutoFit/>
          </a:bodyPr>
          <a:lstStyle/>
          <a:p>
            <a:r>
              <a:rPr lang="en-US" altLang="zh-CN" dirty="0">
                <a:solidFill>
                  <a:srgbClr val="060606"/>
                </a:solidFill>
              </a:rPr>
              <a:t> (-0)</a:t>
            </a:r>
            <a:endParaRPr lang="zh-CN" altLang="en-US" dirty="0"/>
          </a:p>
        </p:txBody>
      </p:sp>
      <p:sp>
        <p:nvSpPr>
          <p:cNvPr id="46" name="矩形 45"/>
          <p:cNvSpPr/>
          <p:nvPr/>
        </p:nvSpPr>
        <p:spPr>
          <a:xfrm>
            <a:off x="10536067" y="4307056"/>
            <a:ext cx="998991" cy="369332"/>
          </a:xfrm>
          <a:prstGeom prst="rect">
            <a:avLst/>
          </a:prstGeom>
        </p:spPr>
        <p:txBody>
          <a:bodyPr wrap="none">
            <a:spAutoFit/>
          </a:bodyPr>
          <a:lstStyle/>
          <a:p>
            <a:r>
              <a:rPr lang="en-US" altLang="zh-CN" dirty="0">
                <a:solidFill>
                  <a:srgbClr val="060606"/>
                </a:solidFill>
              </a:rPr>
              <a:t> (0) )(</a:t>
            </a:r>
            <a:r>
              <a:rPr lang="en-US" altLang="zh-CN" dirty="0">
                <a:solidFill>
                  <a:srgbClr val="FF0000"/>
                </a:solidFill>
              </a:rPr>
              <a:t>√</a:t>
            </a:r>
            <a:r>
              <a:rPr lang="en-US" altLang="zh-CN" dirty="0">
                <a:solidFill>
                  <a:srgbClr val="060606"/>
                </a:solidFill>
              </a:rPr>
              <a:t>)</a:t>
            </a:r>
            <a:endParaRPr lang="zh-CN" altLang="en-US" dirty="0"/>
          </a:p>
        </p:txBody>
      </p:sp>
      <p:sp>
        <p:nvSpPr>
          <p:cNvPr id="47" name="矩形 46"/>
          <p:cNvSpPr/>
          <p:nvPr/>
        </p:nvSpPr>
        <p:spPr>
          <a:xfrm>
            <a:off x="10536067" y="4667096"/>
            <a:ext cx="704039" cy="369332"/>
          </a:xfrm>
          <a:prstGeom prst="rect">
            <a:avLst/>
          </a:prstGeom>
        </p:spPr>
        <p:txBody>
          <a:bodyPr wrap="none">
            <a:spAutoFit/>
          </a:bodyPr>
          <a:lstStyle/>
          <a:p>
            <a:r>
              <a:rPr lang="en-US" altLang="zh-CN" dirty="0">
                <a:solidFill>
                  <a:srgbClr val="060606"/>
                </a:solidFill>
              </a:rPr>
              <a:t>(+∞)</a:t>
            </a:r>
            <a:endParaRPr lang="zh-CN" altLang="en-US" dirty="0"/>
          </a:p>
        </p:txBody>
      </p:sp>
      <p:sp>
        <p:nvSpPr>
          <p:cNvPr id="52" name="TextBox 51"/>
          <p:cNvSpPr txBox="1"/>
          <p:nvPr/>
        </p:nvSpPr>
        <p:spPr>
          <a:xfrm>
            <a:off x="5206648" y="2955425"/>
            <a:ext cx="3960440" cy="830997"/>
          </a:xfrm>
          <a:prstGeom prst="rect">
            <a:avLst/>
          </a:prstGeom>
          <a:noFill/>
        </p:spPr>
        <p:txBody>
          <a:bodyPr wrap="square" rtlCol="0">
            <a:spAutoFit/>
          </a:bodyPr>
          <a:lstStyle/>
          <a:p>
            <a:pPr algn="ctr"/>
            <a:r>
              <a:rPr lang="zh-CN" altLang="en-US" sz="4800" dirty="0">
                <a:solidFill>
                  <a:srgbClr val="0000AC"/>
                </a:solidFill>
                <a:latin typeface="+mn-ea"/>
              </a:rPr>
              <a:t>迭代出现循环</a:t>
            </a:r>
            <a:endParaRPr lang="zh-CN" altLang="en-US" sz="4800" dirty="0">
              <a:solidFill>
                <a:srgbClr val="0000AC"/>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
                                            <p:txEl>
                                              <p:pRg st="0" end="0"/>
                                            </p:txEl>
                                          </p:spTgt>
                                        </p:tgtEl>
                                        <p:attrNameLst>
                                          <p:attrName>style.visibility</p:attrName>
                                        </p:attrNameLst>
                                      </p:cBhvr>
                                      <p:to>
                                        <p:strVal val="visible"/>
                                      </p:to>
                                    </p:set>
                                    <p:anim calcmode="lin" valueType="num">
                                      <p:cBhvr additive="base">
                                        <p:cTn id="7"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uild="p"/>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0840" y="303237"/>
            <a:ext cx="10515600" cy="1325563"/>
          </a:xfrm>
        </p:spPr>
        <p:txBody>
          <a:bodyPr/>
          <a:lstStyle/>
          <a:p>
            <a:r>
              <a:rPr lang="zh-CN" altLang="en-US" sz="3600" dirty="0"/>
              <a:t>在退化出现循环现象时</a:t>
            </a:r>
            <a:r>
              <a:rPr lang="en-US" altLang="zh-CN" sz="3600" dirty="0"/>
              <a:t>,</a:t>
            </a:r>
            <a:r>
              <a:rPr lang="zh-CN" altLang="en-US" sz="3600" dirty="0"/>
              <a:t>如何处理</a:t>
            </a:r>
            <a:r>
              <a:rPr lang="en-US" altLang="zh-CN" sz="3600" dirty="0"/>
              <a:t>?</a:t>
            </a:r>
            <a:endParaRPr lang="zh-CN" altLang="en-US" sz="3600" dirty="0"/>
          </a:p>
        </p:txBody>
      </p:sp>
      <p:sp>
        <p:nvSpPr>
          <p:cNvPr id="3" name="内容占位符 2"/>
          <p:cNvSpPr>
            <a:spLocks noGrp="1"/>
          </p:cNvSpPr>
          <p:nvPr>
            <p:ph idx="1"/>
          </p:nvPr>
        </p:nvSpPr>
        <p:spPr>
          <a:xfrm>
            <a:off x="1056640" y="2285999"/>
            <a:ext cx="9165273" cy="2943201"/>
          </a:xfrm>
        </p:spPr>
        <p:txBody>
          <a:bodyPr/>
          <a:lstStyle/>
          <a:p>
            <a:pPr>
              <a:buNone/>
            </a:pPr>
            <a:r>
              <a:rPr lang="zh-CN" altLang="en-US" dirty="0">
                <a:solidFill>
                  <a:srgbClr val="00000C"/>
                </a:solidFill>
              </a:rPr>
              <a:t>在退化出现循环现象时</a:t>
            </a:r>
            <a:r>
              <a:rPr lang="en-US" altLang="zh-CN" dirty="0">
                <a:solidFill>
                  <a:srgbClr val="00000C"/>
                </a:solidFill>
              </a:rPr>
              <a:t>,</a:t>
            </a:r>
            <a:endParaRPr lang="en-US" altLang="zh-CN" dirty="0">
              <a:solidFill>
                <a:srgbClr val="00000C"/>
              </a:solidFill>
            </a:endParaRPr>
          </a:p>
          <a:p>
            <a:pPr>
              <a:buNone/>
            </a:pPr>
            <a:r>
              <a:rPr lang="en-US" altLang="zh-CN" dirty="0">
                <a:solidFill>
                  <a:srgbClr val="00000C"/>
                </a:solidFill>
              </a:rPr>
              <a:t>(</a:t>
            </a:r>
            <a:r>
              <a:rPr lang="zh-CN" altLang="en-US" dirty="0">
                <a:solidFill>
                  <a:srgbClr val="00000C"/>
                </a:solidFill>
              </a:rPr>
              <a:t>方法一：</a:t>
            </a:r>
            <a:r>
              <a:rPr lang="en-US" altLang="zh-CN" dirty="0">
                <a:solidFill>
                  <a:srgbClr val="00000C"/>
                </a:solidFill>
              </a:rPr>
              <a:t>)</a:t>
            </a:r>
            <a:r>
              <a:rPr lang="zh-CN" altLang="en-US" dirty="0">
                <a:solidFill>
                  <a:srgbClr val="00000C"/>
                </a:solidFill>
              </a:rPr>
              <a:t>可以采用改变换出变量的方法来避免此现象。</a:t>
            </a:r>
            <a:endParaRPr lang="en-US" altLang="zh-CN" dirty="0">
              <a:solidFill>
                <a:srgbClr val="00000C"/>
              </a:solidFill>
            </a:endParaRPr>
          </a:p>
          <a:p>
            <a:pPr>
              <a:buNone/>
            </a:pPr>
            <a:r>
              <a:rPr lang="en-US" altLang="zh-CN" dirty="0">
                <a:solidFill>
                  <a:srgbClr val="00000C"/>
                </a:solidFill>
              </a:rPr>
              <a:t>(</a:t>
            </a:r>
            <a:r>
              <a:rPr lang="zh-CN" altLang="en-US" dirty="0">
                <a:solidFill>
                  <a:srgbClr val="00000C"/>
                </a:solidFill>
              </a:rPr>
              <a:t>方法二：</a:t>
            </a:r>
            <a:r>
              <a:rPr lang="en-US" altLang="zh-CN" dirty="0">
                <a:solidFill>
                  <a:srgbClr val="00000C"/>
                </a:solidFill>
              </a:rPr>
              <a:t>)</a:t>
            </a:r>
            <a:r>
              <a:rPr lang="zh-CN" altLang="en-US" dirty="0">
                <a:solidFill>
                  <a:srgbClr val="00000C"/>
                </a:solidFill>
              </a:rPr>
              <a:t>另外，可使用</a:t>
            </a:r>
            <a:r>
              <a:rPr lang="en-US" altLang="zh-CN" dirty="0" err="1">
                <a:solidFill>
                  <a:srgbClr val="00000C"/>
                </a:solidFill>
              </a:rPr>
              <a:t>A.Charnes</a:t>
            </a:r>
            <a:r>
              <a:rPr lang="zh-CN" altLang="en-US" dirty="0">
                <a:solidFill>
                  <a:srgbClr val="00000C"/>
                </a:solidFill>
              </a:rPr>
              <a:t>于</a:t>
            </a:r>
            <a:r>
              <a:rPr lang="en-US" altLang="zh-CN" dirty="0">
                <a:solidFill>
                  <a:srgbClr val="00000C"/>
                </a:solidFill>
              </a:rPr>
              <a:t>1952</a:t>
            </a:r>
            <a:r>
              <a:rPr lang="zh-CN" altLang="en-US" dirty="0">
                <a:solidFill>
                  <a:srgbClr val="00000C"/>
                </a:solidFill>
              </a:rPr>
              <a:t>年提出的摄动法。</a:t>
            </a:r>
            <a:endParaRPr lang="zh-CN" altLang="en-US" dirty="0">
              <a:solidFill>
                <a:srgbClr val="00000C"/>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退化情形下的单纯形法</a:t>
            </a:r>
            <a:r>
              <a:rPr lang="en-US" altLang="zh-CN" dirty="0"/>
              <a:t>(</a:t>
            </a:r>
            <a:r>
              <a:rPr lang="zh-CN" altLang="en-US" dirty="0"/>
              <a:t>以例说明</a:t>
            </a:r>
            <a:r>
              <a:rPr lang="en-US" altLang="zh-CN" dirty="0"/>
              <a:t>)</a:t>
            </a:r>
            <a:endParaRPr lang="zh-CN" altLang="en-US" dirty="0"/>
          </a:p>
        </p:txBody>
      </p:sp>
      <p:grpSp>
        <p:nvGrpSpPr>
          <p:cNvPr id="3" name="组合 2"/>
          <p:cNvGrpSpPr/>
          <p:nvPr/>
        </p:nvGrpSpPr>
        <p:grpSpPr>
          <a:xfrm>
            <a:off x="2855640" y="1484784"/>
            <a:ext cx="7182440" cy="3897141"/>
            <a:chOff x="3059832" y="3376266"/>
            <a:chExt cx="5572583" cy="3294267"/>
          </a:xfrm>
        </p:grpSpPr>
        <p:sp>
          <p:nvSpPr>
            <p:cNvPr id="4" name="矩形 3"/>
            <p:cNvSpPr/>
            <p:nvPr/>
          </p:nvSpPr>
          <p:spPr>
            <a:xfrm>
              <a:off x="3283305" y="3984952"/>
              <a:ext cx="3974097" cy="514097"/>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min z  = 3x</a:t>
              </a:r>
              <a:r>
                <a:rPr lang="en-US" altLang="zh-CN" sz="3200" baseline="-25000" dirty="0">
                  <a:solidFill>
                    <a:srgbClr val="060606"/>
                  </a:solidFill>
                </a:rPr>
                <a:t>1</a:t>
              </a:r>
              <a:r>
                <a:rPr lang="en-US" altLang="zh-CN" sz="3200" dirty="0">
                  <a:solidFill>
                    <a:srgbClr val="060606"/>
                  </a:solidFill>
                </a:rPr>
                <a:t>+x</a:t>
              </a:r>
              <a:r>
                <a:rPr lang="en-US" altLang="zh-CN" sz="3200" baseline="-25000" dirty="0">
                  <a:solidFill>
                    <a:srgbClr val="060606"/>
                  </a:solidFill>
                </a:rPr>
                <a:t>2</a:t>
              </a:r>
              <a:endParaRPr lang="en-US" altLang="zh-CN" sz="3200" dirty="0">
                <a:solidFill>
                  <a:srgbClr val="060606"/>
                </a:solidFill>
              </a:endParaRPr>
            </a:p>
          </p:txBody>
        </p:sp>
        <p:sp>
          <p:nvSpPr>
            <p:cNvPr id="5" name="矩形 4"/>
            <p:cNvSpPr/>
            <p:nvPr/>
          </p:nvSpPr>
          <p:spPr>
            <a:xfrm>
              <a:off x="3059832" y="5186809"/>
              <a:ext cx="648072" cy="514097"/>
            </a:xfrm>
            <a:prstGeom prst="rect">
              <a:avLst/>
            </a:prstGeom>
          </p:spPr>
          <p:txBody>
            <a:bodyPr wrap="square">
              <a:spAutoFit/>
            </a:bodyPr>
            <a:lstStyle/>
            <a:p>
              <a:pPr marL="342900" indent="-342900" fontAlgn="base">
                <a:lnSpc>
                  <a:spcPct val="110000"/>
                </a:lnSpc>
                <a:spcBef>
                  <a:spcPts val="1800"/>
                </a:spcBef>
                <a:spcAft>
                  <a:spcPct val="0"/>
                </a:spcAft>
              </a:pPr>
              <a:r>
                <a:rPr lang="en-US" altLang="zh-CN" sz="3200" dirty="0">
                  <a:solidFill>
                    <a:srgbClr val="060606"/>
                  </a:solidFill>
                </a:rPr>
                <a:t>s. t</a:t>
              </a:r>
              <a:endParaRPr lang="en-US" altLang="zh-CN" sz="3200" dirty="0">
                <a:solidFill>
                  <a:srgbClr val="060606"/>
                </a:solidFill>
              </a:endParaRPr>
            </a:p>
          </p:txBody>
        </p:sp>
        <p:sp>
          <p:nvSpPr>
            <p:cNvPr id="6" name="左大括号 5"/>
            <p:cNvSpPr/>
            <p:nvPr/>
          </p:nvSpPr>
          <p:spPr bwMode="auto">
            <a:xfrm>
              <a:off x="3635896" y="4682753"/>
              <a:ext cx="432048" cy="1980419"/>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3200">
                <a:latin typeface="Arial" panose="020B0604020202090204" pitchFamily="34" charset="0"/>
                <a:ea typeface="宋体" panose="02010600030101010101" pitchFamily="2" charset="-122"/>
              </a:endParaRPr>
            </a:p>
          </p:txBody>
        </p:sp>
        <p:sp>
          <p:nvSpPr>
            <p:cNvPr id="7" name="矩形 6"/>
            <p:cNvSpPr/>
            <p:nvPr/>
          </p:nvSpPr>
          <p:spPr>
            <a:xfrm>
              <a:off x="4177198" y="4593637"/>
              <a:ext cx="1608365" cy="494312"/>
            </a:xfrm>
            <a:prstGeom prst="rect">
              <a:avLst/>
            </a:prstGeom>
          </p:spPr>
          <p:txBody>
            <a:bodyPr wrap="none">
              <a:spAutoFit/>
            </a:bodyPr>
            <a:lstStyle/>
            <a:p>
              <a:r>
                <a:rPr lang="en-US" altLang="zh-CN" sz="3200" dirty="0">
                  <a:solidFill>
                    <a:srgbClr val="060606"/>
                  </a:solidFill>
                </a:rPr>
                <a:t>x</a:t>
              </a:r>
              <a:r>
                <a:rPr lang="en-US" altLang="zh-CN" sz="3200" baseline="-25000" dirty="0">
                  <a:solidFill>
                    <a:srgbClr val="060606"/>
                  </a:solidFill>
                </a:rPr>
                <a:t>1</a:t>
              </a:r>
              <a:r>
                <a:rPr lang="en-US" altLang="zh-CN" sz="3200" dirty="0">
                  <a:solidFill>
                    <a:srgbClr val="060606"/>
                  </a:solidFill>
                </a:rPr>
                <a:t> +x</a:t>
              </a:r>
              <a:r>
                <a:rPr lang="en-US" altLang="zh-CN" sz="3200" baseline="-25000" dirty="0">
                  <a:solidFill>
                    <a:srgbClr val="060606"/>
                  </a:solidFill>
                </a:rPr>
                <a:t>2</a:t>
              </a:r>
              <a:r>
                <a:rPr lang="en-US" altLang="zh-CN" sz="3200" dirty="0">
                  <a:solidFill>
                    <a:srgbClr val="060606"/>
                  </a:solidFill>
                </a:rPr>
                <a:t> ≥ 3</a:t>
              </a:r>
              <a:endParaRPr lang="zh-CN" altLang="en-US" sz="3200" dirty="0"/>
            </a:p>
          </p:txBody>
        </p:sp>
        <p:sp>
          <p:nvSpPr>
            <p:cNvPr id="8" name="矩形 7"/>
            <p:cNvSpPr/>
            <p:nvPr/>
          </p:nvSpPr>
          <p:spPr>
            <a:xfrm>
              <a:off x="4177198" y="5648692"/>
              <a:ext cx="1707862" cy="494312"/>
            </a:xfrm>
            <a:prstGeom prst="rect">
              <a:avLst/>
            </a:prstGeom>
          </p:spPr>
          <p:txBody>
            <a:bodyPr wrap="none">
              <a:spAutoFit/>
            </a:bodyPr>
            <a:lstStyle/>
            <a:p>
              <a:r>
                <a:rPr lang="en-US" altLang="zh-CN" sz="3200" dirty="0">
                  <a:solidFill>
                    <a:srgbClr val="060606"/>
                  </a:solidFill>
                </a:rPr>
                <a:t>x</a:t>
              </a:r>
              <a:r>
                <a:rPr lang="en-US" altLang="zh-CN" sz="3200" baseline="-25000" dirty="0">
                  <a:solidFill>
                    <a:srgbClr val="060606"/>
                  </a:solidFill>
                </a:rPr>
                <a:t>1     </a:t>
              </a:r>
              <a:r>
                <a:rPr lang="en-US" altLang="zh-CN" sz="3200" dirty="0">
                  <a:solidFill>
                    <a:srgbClr val="060606"/>
                  </a:solidFill>
                </a:rPr>
                <a:t>+x</a:t>
              </a:r>
              <a:r>
                <a:rPr lang="en-US" altLang="zh-CN" sz="3200" baseline="-25000" dirty="0">
                  <a:solidFill>
                    <a:srgbClr val="060606"/>
                  </a:solidFill>
                </a:rPr>
                <a:t>2</a:t>
              </a:r>
              <a:r>
                <a:rPr lang="en-US" altLang="zh-CN" sz="3200" dirty="0">
                  <a:solidFill>
                    <a:srgbClr val="060606"/>
                  </a:solidFill>
                </a:rPr>
                <a:t> = 3</a:t>
              </a:r>
              <a:endParaRPr lang="zh-CN" altLang="en-US" sz="3200" dirty="0"/>
            </a:p>
          </p:txBody>
        </p:sp>
        <p:sp>
          <p:nvSpPr>
            <p:cNvPr id="9" name="矩形 8"/>
            <p:cNvSpPr/>
            <p:nvPr/>
          </p:nvSpPr>
          <p:spPr>
            <a:xfrm>
              <a:off x="4177198" y="6176221"/>
              <a:ext cx="4455217" cy="494312"/>
            </a:xfrm>
            <a:prstGeom prst="rect">
              <a:avLst/>
            </a:prstGeom>
          </p:spPr>
          <p:txBody>
            <a:bodyPr wrap="square">
              <a:spAutoFit/>
            </a:bodyPr>
            <a:lstStyle/>
            <a:p>
              <a:r>
                <a:rPr lang="en-US" altLang="zh-CN" sz="3200" dirty="0">
                  <a:solidFill>
                    <a:srgbClr val="060606"/>
                  </a:solidFill>
                </a:rPr>
                <a:t>x</a:t>
              </a:r>
              <a:r>
                <a:rPr lang="en-US" altLang="zh-CN" sz="3200" baseline="-25000" dirty="0">
                  <a:solidFill>
                    <a:srgbClr val="060606"/>
                  </a:solidFill>
                </a:rPr>
                <a:t>j</a:t>
              </a:r>
              <a:r>
                <a:rPr lang="en-US" altLang="zh-CN" sz="3200" dirty="0">
                  <a:solidFill>
                    <a:srgbClr val="060606"/>
                  </a:solidFill>
                </a:rPr>
                <a:t> ≥0       (j = 1,2,…,7)</a:t>
              </a:r>
              <a:endParaRPr lang="zh-CN" altLang="en-US" sz="3200" dirty="0">
                <a:solidFill>
                  <a:srgbClr val="060606"/>
                </a:solidFill>
              </a:endParaRPr>
            </a:p>
          </p:txBody>
        </p:sp>
        <p:sp>
          <p:nvSpPr>
            <p:cNvPr id="10" name="矩形 9"/>
            <p:cNvSpPr/>
            <p:nvPr/>
          </p:nvSpPr>
          <p:spPr>
            <a:xfrm>
              <a:off x="4177198" y="5121164"/>
              <a:ext cx="3843737" cy="494312"/>
            </a:xfrm>
            <a:prstGeom prst="rect">
              <a:avLst/>
            </a:prstGeom>
          </p:spPr>
          <p:txBody>
            <a:bodyPr wrap="square">
              <a:spAutoFit/>
            </a:bodyPr>
            <a:lstStyle/>
            <a:p>
              <a:r>
                <a:rPr lang="en-US" altLang="zh-CN" sz="3200" dirty="0">
                  <a:solidFill>
                    <a:srgbClr val="060606"/>
                  </a:solidFill>
                </a:rPr>
                <a:t>2x</a:t>
              </a:r>
              <a:r>
                <a:rPr lang="en-US" altLang="zh-CN" sz="3200" baseline="-25000" dirty="0">
                  <a:solidFill>
                    <a:srgbClr val="060606"/>
                  </a:solidFill>
                </a:rPr>
                <a:t>1</a:t>
              </a:r>
              <a:r>
                <a:rPr lang="en-US" altLang="zh-CN" sz="3200" dirty="0">
                  <a:solidFill>
                    <a:srgbClr val="060606"/>
                  </a:solidFill>
                </a:rPr>
                <a:t> + x</a:t>
              </a:r>
              <a:r>
                <a:rPr lang="en-US" altLang="zh-CN" sz="3200" baseline="-25000" dirty="0">
                  <a:solidFill>
                    <a:srgbClr val="060606"/>
                  </a:solidFill>
                </a:rPr>
                <a:t>2</a:t>
              </a:r>
              <a:r>
                <a:rPr lang="en-US" altLang="zh-CN" sz="3200" dirty="0">
                  <a:solidFill>
                    <a:srgbClr val="060606"/>
                  </a:solidFill>
                </a:rPr>
                <a:t>  ≤ 4</a:t>
              </a:r>
              <a:endParaRPr lang="zh-CN" altLang="en-US" sz="3200" dirty="0">
                <a:solidFill>
                  <a:srgbClr val="060606"/>
                </a:solidFill>
              </a:endParaRPr>
            </a:p>
          </p:txBody>
        </p:sp>
        <p:sp>
          <p:nvSpPr>
            <p:cNvPr id="11" name="矩形 10"/>
            <p:cNvSpPr/>
            <p:nvPr/>
          </p:nvSpPr>
          <p:spPr>
            <a:xfrm>
              <a:off x="3283305" y="3376266"/>
              <a:ext cx="3974097" cy="513066"/>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3200" dirty="0">
                  <a:solidFill>
                    <a:srgbClr val="060606"/>
                  </a:solidFill>
                </a:rPr>
                <a:t>求解</a:t>
              </a:r>
              <a:r>
                <a:rPr lang="en-US" altLang="zh-CN" sz="3200" dirty="0">
                  <a:solidFill>
                    <a:srgbClr val="060606"/>
                  </a:solidFill>
                </a:rPr>
                <a:t>LPQ</a:t>
              </a:r>
              <a:r>
                <a:rPr lang="zh-CN" altLang="en-US" sz="3200" dirty="0">
                  <a:solidFill>
                    <a:srgbClr val="060606"/>
                  </a:solidFill>
                </a:rPr>
                <a:t>：</a:t>
              </a:r>
              <a:endParaRPr lang="en-US" altLang="zh-CN" sz="3200" dirty="0">
                <a:solidFill>
                  <a:srgbClr val="060606"/>
                </a:solidFill>
              </a:endParaRPr>
            </a:p>
          </p:txBody>
        </p:sp>
      </p:grpSp>
      <p:sp>
        <p:nvSpPr>
          <p:cNvPr id="12" name="灯片编号占位符 1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670" y="-24095"/>
            <a:ext cx="10515600" cy="1325563"/>
          </a:xfrm>
        </p:spPr>
        <p:txBody>
          <a:bodyPr/>
          <a:lstStyle/>
          <a:p>
            <a:r>
              <a:rPr lang="zh-CN" altLang="en-US" dirty="0"/>
              <a:t>转换为简单标准形</a:t>
            </a:r>
            <a:r>
              <a:rPr lang="en-US" altLang="zh-CN" dirty="0"/>
              <a:t>LPQ</a:t>
            </a:r>
            <a:endParaRPr lang="zh-CN" altLang="en-US" dirty="0"/>
          </a:p>
        </p:txBody>
      </p:sp>
      <p:grpSp>
        <p:nvGrpSpPr>
          <p:cNvPr id="3" name="组合 2"/>
          <p:cNvGrpSpPr/>
          <p:nvPr/>
        </p:nvGrpSpPr>
        <p:grpSpPr>
          <a:xfrm>
            <a:off x="316960" y="1014189"/>
            <a:ext cx="9690639" cy="5251708"/>
            <a:chOff x="1648847" y="3282814"/>
            <a:chExt cx="7518599" cy="4439288"/>
          </a:xfrm>
        </p:grpSpPr>
        <p:sp>
          <p:nvSpPr>
            <p:cNvPr id="4" name="矩形 3"/>
            <p:cNvSpPr/>
            <p:nvPr/>
          </p:nvSpPr>
          <p:spPr>
            <a:xfrm>
              <a:off x="3283305" y="3984952"/>
              <a:ext cx="5345970" cy="514097"/>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max -z  = -3x</a:t>
              </a:r>
              <a:r>
                <a:rPr lang="en-US" altLang="zh-CN" sz="3200" baseline="-25000" dirty="0">
                  <a:solidFill>
                    <a:srgbClr val="060606"/>
                  </a:solidFill>
                </a:rPr>
                <a:t>1</a:t>
              </a:r>
              <a:r>
                <a:rPr lang="en-US" altLang="zh-CN" sz="3200" dirty="0">
                  <a:solidFill>
                    <a:srgbClr val="060606"/>
                  </a:solidFill>
                </a:rPr>
                <a:t>-x</a:t>
              </a:r>
              <a:r>
                <a:rPr lang="en-US" altLang="zh-CN" sz="3200" baseline="-25000" dirty="0">
                  <a:solidFill>
                    <a:srgbClr val="060606"/>
                  </a:solidFill>
                </a:rPr>
                <a:t>2</a:t>
              </a:r>
              <a:r>
                <a:rPr lang="en-US" altLang="zh-CN" sz="3200" dirty="0">
                  <a:solidFill>
                    <a:srgbClr val="060606"/>
                  </a:solidFill>
                </a:rPr>
                <a:t> –Mx</a:t>
              </a:r>
              <a:r>
                <a:rPr lang="en-US" altLang="zh-CN" sz="3200" baseline="-25000" dirty="0">
                  <a:solidFill>
                    <a:srgbClr val="060606"/>
                  </a:solidFill>
                </a:rPr>
                <a:t>4</a:t>
              </a:r>
              <a:r>
                <a:rPr lang="en-US" altLang="zh-CN" sz="3200" dirty="0">
                  <a:solidFill>
                    <a:srgbClr val="060606"/>
                  </a:solidFill>
                </a:rPr>
                <a:t> –Mx</a:t>
              </a:r>
              <a:r>
                <a:rPr lang="en-US" altLang="zh-CN" sz="3200" baseline="-25000" dirty="0">
                  <a:solidFill>
                    <a:srgbClr val="060606"/>
                  </a:solidFill>
                </a:rPr>
                <a:t>6</a:t>
              </a:r>
              <a:r>
                <a:rPr lang="en-US" altLang="zh-CN" sz="3200" dirty="0">
                  <a:solidFill>
                    <a:srgbClr val="060606"/>
                  </a:solidFill>
                </a:rPr>
                <a:t> </a:t>
              </a:r>
              <a:endParaRPr lang="en-US" altLang="zh-CN" sz="3200" dirty="0">
                <a:solidFill>
                  <a:srgbClr val="060606"/>
                </a:solidFill>
              </a:endParaRPr>
            </a:p>
          </p:txBody>
        </p:sp>
        <p:sp>
          <p:nvSpPr>
            <p:cNvPr id="5" name="矩形 4"/>
            <p:cNvSpPr/>
            <p:nvPr/>
          </p:nvSpPr>
          <p:spPr>
            <a:xfrm>
              <a:off x="3059832" y="5186809"/>
              <a:ext cx="648072" cy="514097"/>
            </a:xfrm>
            <a:prstGeom prst="rect">
              <a:avLst/>
            </a:prstGeom>
          </p:spPr>
          <p:txBody>
            <a:bodyPr wrap="square">
              <a:spAutoFit/>
            </a:bodyPr>
            <a:lstStyle/>
            <a:p>
              <a:pPr marL="342900" indent="-342900" fontAlgn="base">
                <a:lnSpc>
                  <a:spcPct val="110000"/>
                </a:lnSpc>
                <a:spcBef>
                  <a:spcPts val="1800"/>
                </a:spcBef>
                <a:spcAft>
                  <a:spcPct val="0"/>
                </a:spcAft>
              </a:pPr>
              <a:r>
                <a:rPr lang="en-US" altLang="zh-CN" sz="3200" dirty="0">
                  <a:solidFill>
                    <a:srgbClr val="060606"/>
                  </a:solidFill>
                </a:rPr>
                <a:t>s. t</a:t>
              </a:r>
              <a:endParaRPr lang="en-US" altLang="zh-CN" sz="3200" dirty="0">
                <a:solidFill>
                  <a:srgbClr val="060606"/>
                </a:solidFill>
              </a:endParaRPr>
            </a:p>
          </p:txBody>
        </p:sp>
        <p:sp>
          <p:nvSpPr>
            <p:cNvPr id="6" name="左大括号 5"/>
            <p:cNvSpPr/>
            <p:nvPr/>
          </p:nvSpPr>
          <p:spPr bwMode="auto">
            <a:xfrm>
              <a:off x="3635896" y="4682753"/>
              <a:ext cx="432048" cy="1980419"/>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3200">
                <a:latin typeface="Arial" panose="020B0604020202090204" pitchFamily="34" charset="0"/>
                <a:ea typeface="宋体" panose="02010600030101010101" pitchFamily="2" charset="-122"/>
              </a:endParaRPr>
            </a:p>
          </p:txBody>
        </p:sp>
        <p:sp>
          <p:nvSpPr>
            <p:cNvPr id="7" name="矩形 6"/>
            <p:cNvSpPr/>
            <p:nvPr/>
          </p:nvSpPr>
          <p:spPr>
            <a:xfrm>
              <a:off x="4177198" y="4593637"/>
              <a:ext cx="2640643" cy="494313"/>
            </a:xfrm>
            <a:prstGeom prst="rect">
              <a:avLst/>
            </a:prstGeom>
          </p:spPr>
          <p:txBody>
            <a:bodyPr wrap="none">
              <a:spAutoFit/>
            </a:bodyPr>
            <a:lstStyle/>
            <a:p>
              <a:r>
                <a:rPr lang="en-US" altLang="zh-CN" sz="3200" dirty="0">
                  <a:solidFill>
                    <a:srgbClr val="060606"/>
                  </a:solidFill>
                </a:rPr>
                <a:t>x</a:t>
              </a:r>
              <a:r>
                <a:rPr lang="en-US" altLang="zh-CN" sz="3200" baseline="-25000" dirty="0">
                  <a:solidFill>
                    <a:srgbClr val="060606"/>
                  </a:solidFill>
                </a:rPr>
                <a:t>1</a:t>
              </a:r>
              <a:r>
                <a:rPr lang="en-US" altLang="zh-CN" sz="3200" dirty="0">
                  <a:solidFill>
                    <a:srgbClr val="060606"/>
                  </a:solidFill>
                </a:rPr>
                <a:t> +x</a:t>
              </a:r>
              <a:r>
                <a:rPr lang="en-US" altLang="zh-CN" sz="3200" baseline="-25000" dirty="0">
                  <a:solidFill>
                    <a:srgbClr val="060606"/>
                  </a:solidFill>
                </a:rPr>
                <a:t>2</a:t>
              </a:r>
              <a:r>
                <a:rPr lang="en-US" altLang="zh-CN" sz="3200" dirty="0">
                  <a:solidFill>
                    <a:srgbClr val="060606"/>
                  </a:solidFill>
                </a:rPr>
                <a:t> </a:t>
              </a:r>
              <a:r>
                <a:rPr lang="en-US" altLang="zh-CN" sz="3200" dirty="0">
                  <a:solidFill>
                    <a:srgbClr val="0000AC"/>
                  </a:solidFill>
                </a:rPr>
                <a:t>– x</a:t>
              </a:r>
              <a:r>
                <a:rPr lang="en-US" altLang="zh-CN" sz="3200" baseline="-25000" dirty="0">
                  <a:solidFill>
                    <a:srgbClr val="0000AC"/>
                  </a:solidFill>
                </a:rPr>
                <a:t>3</a:t>
              </a:r>
              <a:r>
                <a:rPr lang="en-US" altLang="zh-CN" sz="3200" dirty="0">
                  <a:solidFill>
                    <a:srgbClr val="0000AC"/>
                  </a:solidFill>
                </a:rPr>
                <a:t> </a:t>
              </a:r>
              <a:r>
                <a:rPr lang="en-US" altLang="zh-CN" sz="3200" dirty="0">
                  <a:solidFill>
                    <a:srgbClr val="FF0000"/>
                  </a:solidFill>
                </a:rPr>
                <a:t>+x</a:t>
              </a:r>
              <a:r>
                <a:rPr lang="en-US" altLang="zh-CN" sz="3200" baseline="-25000" dirty="0">
                  <a:solidFill>
                    <a:srgbClr val="FF0000"/>
                  </a:solidFill>
                </a:rPr>
                <a:t>4</a:t>
              </a:r>
              <a:r>
                <a:rPr lang="en-US" altLang="zh-CN" sz="3200" dirty="0">
                  <a:solidFill>
                    <a:srgbClr val="FF0000"/>
                  </a:solidFill>
                </a:rPr>
                <a:t> </a:t>
              </a:r>
              <a:r>
                <a:rPr lang="en-US" altLang="zh-CN" sz="3200" dirty="0">
                  <a:solidFill>
                    <a:srgbClr val="060606"/>
                  </a:solidFill>
                </a:rPr>
                <a:t>= 3</a:t>
              </a:r>
              <a:endParaRPr lang="zh-CN" altLang="en-US" sz="3200" dirty="0"/>
            </a:p>
          </p:txBody>
        </p:sp>
        <p:sp>
          <p:nvSpPr>
            <p:cNvPr id="8" name="矩形 7"/>
            <p:cNvSpPr/>
            <p:nvPr/>
          </p:nvSpPr>
          <p:spPr>
            <a:xfrm>
              <a:off x="4177198" y="5648692"/>
              <a:ext cx="4001261" cy="494313"/>
            </a:xfrm>
            <a:prstGeom prst="rect">
              <a:avLst/>
            </a:prstGeom>
          </p:spPr>
          <p:txBody>
            <a:bodyPr wrap="none">
              <a:spAutoFit/>
            </a:bodyPr>
            <a:lstStyle/>
            <a:p>
              <a:r>
                <a:rPr lang="en-US" altLang="zh-CN" sz="3200" dirty="0">
                  <a:solidFill>
                    <a:srgbClr val="060606"/>
                  </a:solidFill>
                </a:rPr>
                <a:t>x</a:t>
              </a:r>
              <a:r>
                <a:rPr lang="en-US" altLang="zh-CN" sz="3200" baseline="-25000" dirty="0">
                  <a:solidFill>
                    <a:srgbClr val="060606"/>
                  </a:solidFill>
                </a:rPr>
                <a:t>1     </a:t>
              </a:r>
              <a:r>
                <a:rPr lang="en-US" altLang="zh-CN" sz="3200" dirty="0">
                  <a:solidFill>
                    <a:srgbClr val="060606"/>
                  </a:solidFill>
                </a:rPr>
                <a:t>+x</a:t>
              </a:r>
              <a:r>
                <a:rPr lang="en-US" altLang="zh-CN" sz="3200" baseline="-25000" dirty="0">
                  <a:solidFill>
                    <a:srgbClr val="060606"/>
                  </a:solidFill>
                </a:rPr>
                <a:t>2</a:t>
              </a:r>
              <a:r>
                <a:rPr lang="en-US" altLang="zh-CN" sz="3200" dirty="0">
                  <a:solidFill>
                    <a:srgbClr val="060606"/>
                  </a:solidFill>
                </a:rPr>
                <a:t>                    </a:t>
              </a:r>
              <a:r>
                <a:rPr lang="en-US" altLang="zh-CN" sz="3200" dirty="0">
                  <a:solidFill>
                    <a:srgbClr val="FF0000"/>
                  </a:solidFill>
                </a:rPr>
                <a:t>+ x</a:t>
              </a:r>
              <a:r>
                <a:rPr lang="en-US" altLang="zh-CN" sz="3200" baseline="-25000" dirty="0">
                  <a:solidFill>
                    <a:srgbClr val="FF0000"/>
                  </a:solidFill>
                </a:rPr>
                <a:t>6</a:t>
              </a:r>
              <a:r>
                <a:rPr lang="en-US" altLang="zh-CN" sz="3200" dirty="0">
                  <a:solidFill>
                    <a:srgbClr val="FF0000"/>
                  </a:solidFill>
                </a:rPr>
                <a:t> </a:t>
              </a:r>
              <a:r>
                <a:rPr lang="en-US" altLang="zh-CN" sz="3200" dirty="0">
                  <a:solidFill>
                    <a:srgbClr val="060606"/>
                  </a:solidFill>
                </a:rPr>
                <a:t>= 3</a:t>
              </a:r>
              <a:endParaRPr lang="zh-CN" altLang="en-US" sz="3200" dirty="0"/>
            </a:p>
          </p:txBody>
        </p:sp>
        <p:sp>
          <p:nvSpPr>
            <p:cNvPr id="9" name="矩形 8"/>
            <p:cNvSpPr/>
            <p:nvPr/>
          </p:nvSpPr>
          <p:spPr>
            <a:xfrm>
              <a:off x="4177197" y="6176221"/>
              <a:ext cx="4990249" cy="494312"/>
            </a:xfrm>
            <a:prstGeom prst="rect">
              <a:avLst/>
            </a:prstGeom>
          </p:spPr>
          <p:txBody>
            <a:bodyPr wrap="square">
              <a:spAutoFit/>
            </a:bodyPr>
            <a:lstStyle/>
            <a:p>
              <a:r>
                <a:rPr lang="en-US" altLang="zh-CN" sz="3200" dirty="0">
                  <a:solidFill>
                    <a:srgbClr val="060606"/>
                  </a:solidFill>
                </a:rPr>
                <a:t>x</a:t>
              </a:r>
              <a:r>
                <a:rPr lang="en-US" altLang="zh-CN" sz="3200" baseline="-25000" dirty="0">
                  <a:solidFill>
                    <a:srgbClr val="060606"/>
                  </a:solidFill>
                </a:rPr>
                <a:t>j</a:t>
              </a:r>
              <a:r>
                <a:rPr lang="en-US" altLang="zh-CN" sz="3200" dirty="0">
                  <a:solidFill>
                    <a:srgbClr val="060606"/>
                  </a:solidFill>
                </a:rPr>
                <a:t> ≥0       (j = 1,2,…,6)</a:t>
              </a:r>
              <a:endParaRPr lang="zh-CN" altLang="en-US" sz="3200" dirty="0">
                <a:solidFill>
                  <a:srgbClr val="060606"/>
                </a:solidFill>
              </a:endParaRPr>
            </a:p>
          </p:txBody>
        </p:sp>
        <p:sp>
          <p:nvSpPr>
            <p:cNvPr id="10" name="矩形 9"/>
            <p:cNvSpPr/>
            <p:nvPr/>
          </p:nvSpPr>
          <p:spPr>
            <a:xfrm>
              <a:off x="4177198" y="5121164"/>
              <a:ext cx="3843737" cy="494312"/>
            </a:xfrm>
            <a:prstGeom prst="rect">
              <a:avLst/>
            </a:prstGeom>
          </p:spPr>
          <p:txBody>
            <a:bodyPr wrap="square">
              <a:spAutoFit/>
            </a:bodyPr>
            <a:lstStyle/>
            <a:p>
              <a:r>
                <a:rPr lang="en-US" altLang="zh-CN" sz="3200" dirty="0">
                  <a:solidFill>
                    <a:srgbClr val="060606"/>
                  </a:solidFill>
                </a:rPr>
                <a:t>2x</a:t>
              </a:r>
              <a:r>
                <a:rPr lang="en-US" altLang="zh-CN" sz="3200" baseline="-25000" dirty="0">
                  <a:solidFill>
                    <a:srgbClr val="060606"/>
                  </a:solidFill>
                </a:rPr>
                <a:t>1</a:t>
              </a:r>
              <a:r>
                <a:rPr lang="en-US" altLang="zh-CN" sz="3200" dirty="0">
                  <a:solidFill>
                    <a:srgbClr val="060606"/>
                  </a:solidFill>
                </a:rPr>
                <a:t> + x</a:t>
              </a:r>
              <a:r>
                <a:rPr lang="en-US" altLang="zh-CN" sz="3200" baseline="-25000" dirty="0">
                  <a:solidFill>
                    <a:srgbClr val="060606"/>
                  </a:solidFill>
                </a:rPr>
                <a:t>2</a:t>
              </a:r>
              <a:r>
                <a:rPr lang="en-US" altLang="zh-CN" sz="3200" dirty="0">
                  <a:solidFill>
                    <a:srgbClr val="060606"/>
                  </a:solidFill>
                </a:rPr>
                <a:t>            </a:t>
              </a:r>
              <a:r>
                <a:rPr lang="en-US" altLang="zh-CN" sz="3200" dirty="0">
                  <a:solidFill>
                    <a:srgbClr val="0000AC"/>
                  </a:solidFill>
                </a:rPr>
                <a:t>+ x</a:t>
              </a:r>
              <a:r>
                <a:rPr lang="en-US" altLang="zh-CN" sz="3200" baseline="-25000" dirty="0">
                  <a:solidFill>
                    <a:srgbClr val="0000AC"/>
                  </a:solidFill>
                </a:rPr>
                <a:t>5</a:t>
              </a:r>
              <a:r>
                <a:rPr lang="en-US" altLang="zh-CN" sz="3200" dirty="0">
                  <a:solidFill>
                    <a:srgbClr val="0000AC"/>
                  </a:solidFill>
                </a:rPr>
                <a:t> </a:t>
              </a:r>
              <a:r>
                <a:rPr lang="en-US" altLang="zh-CN" sz="3200" dirty="0">
                  <a:solidFill>
                    <a:srgbClr val="060606"/>
                  </a:solidFill>
                </a:rPr>
                <a:t>=4</a:t>
              </a:r>
              <a:endParaRPr lang="zh-CN" altLang="en-US" sz="3200" dirty="0">
                <a:solidFill>
                  <a:srgbClr val="060606"/>
                </a:solidFill>
              </a:endParaRPr>
            </a:p>
          </p:txBody>
        </p:sp>
        <p:sp>
          <p:nvSpPr>
            <p:cNvPr id="13" name="矩形 12"/>
            <p:cNvSpPr/>
            <p:nvPr/>
          </p:nvSpPr>
          <p:spPr>
            <a:xfrm>
              <a:off x="3707904" y="7210987"/>
              <a:ext cx="4552871" cy="511115"/>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3200" dirty="0">
                  <a:solidFill>
                    <a:srgbClr val="060606"/>
                  </a:solidFill>
                </a:rPr>
                <a:t>目标函数只含非基变量</a:t>
              </a:r>
              <a:r>
                <a:rPr lang="en-US" altLang="zh-CN" sz="3200" dirty="0">
                  <a:solidFill>
                    <a:srgbClr val="060606"/>
                  </a:solidFill>
                </a:rPr>
                <a:t>x</a:t>
              </a:r>
              <a:r>
                <a:rPr lang="en-US" altLang="zh-CN" sz="3200" baseline="-25000" dirty="0">
                  <a:solidFill>
                    <a:srgbClr val="060606"/>
                  </a:solidFill>
                </a:rPr>
                <a:t>1</a:t>
              </a:r>
              <a:r>
                <a:rPr lang="en-US" altLang="zh-CN" sz="3200" dirty="0">
                  <a:solidFill>
                    <a:srgbClr val="060606"/>
                  </a:solidFill>
                </a:rPr>
                <a:t> ,x</a:t>
              </a:r>
              <a:r>
                <a:rPr lang="en-US" altLang="zh-CN" sz="3200" baseline="-25000" dirty="0">
                  <a:solidFill>
                    <a:srgbClr val="060606"/>
                  </a:solidFill>
                </a:rPr>
                <a:t>2</a:t>
              </a:r>
              <a:r>
                <a:rPr lang="en-US" altLang="zh-CN" sz="3200" dirty="0">
                  <a:solidFill>
                    <a:srgbClr val="060606"/>
                  </a:solidFill>
                </a:rPr>
                <a:t> </a:t>
              </a:r>
              <a:r>
                <a:rPr lang="en-US" altLang="zh-CN" sz="3200" dirty="0">
                  <a:solidFill>
                    <a:srgbClr val="0000AC"/>
                  </a:solidFill>
                </a:rPr>
                <a:t>, x</a:t>
              </a:r>
              <a:r>
                <a:rPr lang="en-US" altLang="zh-CN" sz="3200" baseline="-25000" dirty="0">
                  <a:solidFill>
                    <a:srgbClr val="0000AC"/>
                  </a:solidFill>
                </a:rPr>
                <a:t>3</a:t>
              </a:r>
              <a:r>
                <a:rPr lang="en-US" altLang="zh-CN" sz="3200" dirty="0">
                  <a:solidFill>
                    <a:srgbClr val="0000AC"/>
                  </a:solidFill>
                </a:rPr>
                <a:t> </a:t>
              </a:r>
              <a:endParaRPr lang="en-US" altLang="zh-CN" sz="3200" dirty="0">
                <a:solidFill>
                  <a:srgbClr val="060606"/>
                </a:solidFill>
              </a:endParaRPr>
            </a:p>
          </p:txBody>
        </p:sp>
        <p:sp>
          <p:nvSpPr>
            <p:cNvPr id="14" name="矩形 13"/>
            <p:cNvSpPr/>
            <p:nvPr/>
          </p:nvSpPr>
          <p:spPr>
            <a:xfrm>
              <a:off x="1648847" y="3282814"/>
              <a:ext cx="3974097" cy="513066"/>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1.</a:t>
              </a:r>
              <a:r>
                <a:rPr lang="zh-CN" altLang="en-US" sz="3200" dirty="0">
                  <a:solidFill>
                    <a:srgbClr val="060606"/>
                  </a:solidFill>
                </a:rPr>
                <a:t>引入松弛变量和人工变量</a:t>
              </a:r>
              <a:r>
                <a:rPr lang="en-US" altLang="zh-CN" sz="3200" dirty="0">
                  <a:solidFill>
                    <a:srgbClr val="060606"/>
                  </a:solidFill>
                </a:rPr>
                <a:t>:</a:t>
              </a:r>
              <a:endParaRPr lang="en-US" altLang="zh-CN" sz="3200" dirty="0">
                <a:solidFill>
                  <a:srgbClr val="060606"/>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59357" y="708589"/>
            <a:ext cx="10282962" cy="4457314"/>
            <a:chOff x="1523423" y="2902750"/>
            <a:chExt cx="7978160" cy="3767783"/>
          </a:xfrm>
        </p:grpSpPr>
        <p:sp>
          <p:nvSpPr>
            <p:cNvPr id="3" name="矩形 2"/>
            <p:cNvSpPr/>
            <p:nvPr/>
          </p:nvSpPr>
          <p:spPr>
            <a:xfrm>
              <a:off x="3003963" y="3984952"/>
              <a:ext cx="6497620" cy="514097"/>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max -z  = (-3+2M)x</a:t>
              </a:r>
              <a:r>
                <a:rPr lang="en-US" altLang="zh-CN" sz="3200" baseline="-25000" dirty="0">
                  <a:solidFill>
                    <a:srgbClr val="060606"/>
                  </a:solidFill>
                </a:rPr>
                <a:t>1</a:t>
              </a:r>
              <a:r>
                <a:rPr lang="en-US" altLang="zh-CN" sz="3200" dirty="0">
                  <a:solidFill>
                    <a:srgbClr val="060606"/>
                  </a:solidFill>
                </a:rPr>
                <a:t>+(-1+2M)x</a:t>
              </a:r>
              <a:r>
                <a:rPr lang="en-US" altLang="zh-CN" sz="3200" baseline="-25000" dirty="0">
                  <a:solidFill>
                    <a:srgbClr val="060606"/>
                  </a:solidFill>
                </a:rPr>
                <a:t>2</a:t>
              </a:r>
              <a:r>
                <a:rPr lang="en-US" altLang="zh-CN" sz="3200" dirty="0">
                  <a:solidFill>
                    <a:srgbClr val="060606"/>
                  </a:solidFill>
                </a:rPr>
                <a:t> –Mx</a:t>
              </a:r>
              <a:r>
                <a:rPr lang="en-US" altLang="zh-CN" sz="3200" baseline="-25000" dirty="0">
                  <a:solidFill>
                    <a:srgbClr val="060606"/>
                  </a:solidFill>
                </a:rPr>
                <a:t>3</a:t>
              </a:r>
              <a:r>
                <a:rPr lang="en-US" altLang="zh-CN" sz="3200" dirty="0">
                  <a:solidFill>
                    <a:srgbClr val="060606"/>
                  </a:solidFill>
                </a:rPr>
                <a:t>-6M </a:t>
              </a:r>
              <a:endParaRPr lang="en-US" altLang="zh-CN" sz="3200" dirty="0">
                <a:solidFill>
                  <a:srgbClr val="060606"/>
                </a:solidFill>
              </a:endParaRPr>
            </a:p>
          </p:txBody>
        </p:sp>
        <p:sp>
          <p:nvSpPr>
            <p:cNvPr id="4" name="矩形 3"/>
            <p:cNvSpPr/>
            <p:nvPr/>
          </p:nvSpPr>
          <p:spPr>
            <a:xfrm>
              <a:off x="3059832" y="5186809"/>
              <a:ext cx="648072" cy="514097"/>
            </a:xfrm>
            <a:prstGeom prst="rect">
              <a:avLst/>
            </a:prstGeom>
          </p:spPr>
          <p:txBody>
            <a:bodyPr wrap="square">
              <a:spAutoFit/>
            </a:bodyPr>
            <a:lstStyle/>
            <a:p>
              <a:pPr marL="342900" indent="-342900" fontAlgn="base">
                <a:lnSpc>
                  <a:spcPct val="110000"/>
                </a:lnSpc>
                <a:spcBef>
                  <a:spcPts val="1800"/>
                </a:spcBef>
                <a:spcAft>
                  <a:spcPct val="0"/>
                </a:spcAft>
              </a:pPr>
              <a:r>
                <a:rPr lang="en-US" altLang="zh-CN" sz="3200" dirty="0">
                  <a:solidFill>
                    <a:srgbClr val="060606"/>
                  </a:solidFill>
                </a:rPr>
                <a:t>s. t</a:t>
              </a:r>
              <a:endParaRPr lang="en-US" altLang="zh-CN" sz="3200" dirty="0">
                <a:solidFill>
                  <a:srgbClr val="060606"/>
                </a:solidFill>
              </a:endParaRPr>
            </a:p>
          </p:txBody>
        </p:sp>
        <p:sp>
          <p:nvSpPr>
            <p:cNvPr id="5" name="左大括号 4"/>
            <p:cNvSpPr/>
            <p:nvPr/>
          </p:nvSpPr>
          <p:spPr bwMode="auto">
            <a:xfrm>
              <a:off x="3635896" y="4682753"/>
              <a:ext cx="432048" cy="1980419"/>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3200">
                <a:solidFill>
                  <a:srgbClr val="060606"/>
                </a:solidFill>
                <a:latin typeface="Arial" panose="020B0604020202090204" pitchFamily="34" charset="0"/>
                <a:ea typeface="宋体" panose="02010600030101010101" pitchFamily="2" charset="-122"/>
              </a:endParaRPr>
            </a:p>
          </p:txBody>
        </p:sp>
        <p:sp>
          <p:nvSpPr>
            <p:cNvPr id="6" name="矩形 5"/>
            <p:cNvSpPr/>
            <p:nvPr/>
          </p:nvSpPr>
          <p:spPr>
            <a:xfrm>
              <a:off x="4177198" y="4593637"/>
              <a:ext cx="2640643" cy="494312"/>
            </a:xfrm>
            <a:prstGeom prst="rect">
              <a:avLst/>
            </a:prstGeom>
          </p:spPr>
          <p:txBody>
            <a:bodyPr wrap="none">
              <a:spAutoFit/>
            </a:bodyPr>
            <a:lstStyle/>
            <a:p>
              <a:r>
                <a:rPr lang="en-US" altLang="zh-CN" sz="3200" dirty="0">
                  <a:solidFill>
                    <a:srgbClr val="060606"/>
                  </a:solidFill>
                </a:rPr>
                <a:t>x</a:t>
              </a:r>
              <a:r>
                <a:rPr lang="en-US" altLang="zh-CN" sz="3200" baseline="-25000" dirty="0">
                  <a:solidFill>
                    <a:srgbClr val="060606"/>
                  </a:solidFill>
                </a:rPr>
                <a:t>1</a:t>
              </a:r>
              <a:r>
                <a:rPr lang="en-US" altLang="zh-CN" sz="3200" dirty="0">
                  <a:solidFill>
                    <a:srgbClr val="060606"/>
                  </a:solidFill>
                </a:rPr>
                <a:t> +x</a:t>
              </a:r>
              <a:r>
                <a:rPr lang="en-US" altLang="zh-CN" sz="3200" baseline="-25000" dirty="0">
                  <a:solidFill>
                    <a:srgbClr val="060606"/>
                  </a:solidFill>
                </a:rPr>
                <a:t>2</a:t>
              </a:r>
              <a:r>
                <a:rPr lang="en-US" altLang="zh-CN" sz="3200" dirty="0">
                  <a:solidFill>
                    <a:srgbClr val="060606"/>
                  </a:solidFill>
                </a:rPr>
                <a:t> – x</a:t>
              </a:r>
              <a:r>
                <a:rPr lang="en-US" altLang="zh-CN" sz="3200" baseline="-25000" dirty="0">
                  <a:solidFill>
                    <a:srgbClr val="060606"/>
                  </a:solidFill>
                </a:rPr>
                <a:t>3</a:t>
              </a:r>
              <a:r>
                <a:rPr lang="en-US" altLang="zh-CN" sz="3200" dirty="0">
                  <a:solidFill>
                    <a:srgbClr val="060606"/>
                  </a:solidFill>
                </a:rPr>
                <a:t> +x</a:t>
              </a:r>
              <a:r>
                <a:rPr lang="en-US" altLang="zh-CN" sz="3200" baseline="-25000" dirty="0">
                  <a:solidFill>
                    <a:srgbClr val="060606"/>
                  </a:solidFill>
                </a:rPr>
                <a:t>4</a:t>
              </a:r>
              <a:r>
                <a:rPr lang="en-US" altLang="zh-CN" sz="3200" dirty="0">
                  <a:solidFill>
                    <a:srgbClr val="060606"/>
                  </a:solidFill>
                </a:rPr>
                <a:t> = 3</a:t>
              </a:r>
              <a:endParaRPr lang="zh-CN" altLang="en-US" sz="3200" dirty="0">
                <a:solidFill>
                  <a:srgbClr val="060606"/>
                </a:solidFill>
              </a:endParaRPr>
            </a:p>
          </p:txBody>
        </p:sp>
        <p:sp>
          <p:nvSpPr>
            <p:cNvPr id="7" name="矩形 6"/>
            <p:cNvSpPr/>
            <p:nvPr/>
          </p:nvSpPr>
          <p:spPr>
            <a:xfrm>
              <a:off x="4177198" y="5648692"/>
              <a:ext cx="4001261" cy="494312"/>
            </a:xfrm>
            <a:prstGeom prst="rect">
              <a:avLst/>
            </a:prstGeom>
          </p:spPr>
          <p:txBody>
            <a:bodyPr wrap="none">
              <a:spAutoFit/>
            </a:bodyPr>
            <a:lstStyle/>
            <a:p>
              <a:r>
                <a:rPr lang="en-US" altLang="zh-CN" sz="3200" dirty="0">
                  <a:solidFill>
                    <a:srgbClr val="060606"/>
                  </a:solidFill>
                </a:rPr>
                <a:t>x</a:t>
              </a:r>
              <a:r>
                <a:rPr lang="en-US" altLang="zh-CN" sz="3200" baseline="-25000" dirty="0">
                  <a:solidFill>
                    <a:srgbClr val="060606"/>
                  </a:solidFill>
                </a:rPr>
                <a:t>1     </a:t>
              </a:r>
              <a:r>
                <a:rPr lang="en-US" altLang="zh-CN" sz="3200" dirty="0">
                  <a:solidFill>
                    <a:srgbClr val="060606"/>
                  </a:solidFill>
                </a:rPr>
                <a:t>+x</a:t>
              </a:r>
              <a:r>
                <a:rPr lang="en-US" altLang="zh-CN" sz="3200" baseline="-25000" dirty="0">
                  <a:solidFill>
                    <a:srgbClr val="060606"/>
                  </a:solidFill>
                </a:rPr>
                <a:t>2</a:t>
              </a:r>
              <a:r>
                <a:rPr lang="en-US" altLang="zh-CN" sz="3200" dirty="0">
                  <a:solidFill>
                    <a:srgbClr val="060606"/>
                  </a:solidFill>
                </a:rPr>
                <a:t>                    + x</a:t>
              </a:r>
              <a:r>
                <a:rPr lang="en-US" altLang="zh-CN" sz="3200" baseline="-25000" dirty="0">
                  <a:solidFill>
                    <a:srgbClr val="060606"/>
                  </a:solidFill>
                </a:rPr>
                <a:t>6</a:t>
              </a:r>
              <a:r>
                <a:rPr lang="en-US" altLang="zh-CN" sz="3200" dirty="0">
                  <a:solidFill>
                    <a:srgbClr val="060606"/>
                  </a:solidFill>
                </a:rPr>
                <a:t> = 3</a:t>
              </a:r>
              <a:endParaRPr lang="zh-CN" altLang="en-US" sz="3200" dirty="0">
                <a:solidFill>
                  <a:srgbClr val="060606"/>
                </a:solidFill>
              </a:endParaRPr>
            </a:p>
          </p:txBody>
        </p:sp>
        <p:sp>
          <p:nvSpPr>
            <p:cNvPr id="8" name="矩形 7"/>
            <p:cNvSpPr/>
            <p:nvPr/>
          </p:nvSpPr>
          <p:spPr>
            <a:xfrm>
              <a:off x="4177197" y="6176221"/>
              <a:ext cx="5324385" cy="494312"/>
            </a:xfrm>
            <a:prstGeom prst="rect">
              <a:avLst/>
            </a:prstGeom>
          </p:spPr>
          <p:txBody>
            <a:bodyPr wrap="square">
              <a:spAutoFit/>
            </a:bodyPr>
            <a:lstStyle/>
            <a:p>
              <a:r>
                <a:rPr lang="en-US" altLang="zh-CN" sz="3200" dirty="0">
                  <a:solidFill>
                    <a:srgbClr val="060606"/>
                  </a:solidFill>
                </a:rPr>
                <a:t>x</a:t>
              </a:r>
              <a:r>
                <a:rPr lang="en-US" altLang="zh-CN" sz="3200" baseline="-25000" dirty="0">
                  <a:solidFill>
                    <a:srgbClr val="060606"/>
                  </a:solidFill>
                </a:rPr>
                <a:t>j</a:t>
              </a:r>
              <a:r>
                <a:rPr lang="en-US" altLang="zh-CN" sz="3200" dirty="0">
                  <a:solidFill>
                    <a:srgbClr val="060606"/>
                  </a:solidFill>
                </a:rPr>
                <a:t> ≥0       (j = 1,2,…,6)</a:t>
              </a:r>
              <a:endParaRPr lang="zh-CN" altLang="en-US" sz="3200" dirty="0">
                <a:solidFill>
                  <a:srgbClr val="060606"/>
                </a:solidFill>
              </a:endParaRPr>
            </a:p>
          </p:txBody>
        </p:sp>
        <p:sp>
          <p:nvSpPr>
            <p:cNvPr id="9" name="矩形 8"/>
            <p:cNvSpPr/>
            <p:nvPr/>
          </p:nvSpPr>
          <p:spPr>
            <a:xfrm>
              <a:off x="4177198" y="5121164"/>
              <a:ext cx="3843737" cy="494312"/>
            </a:xfrm>
            <a:prstGeom prst="rect">
              <a:avLst/>
            </a:prstGeom>
          </p:spPr>
          <p:txBody>
            <a:bodyPr wrap="square">
              <a:spAutoFit/>
            </a:bodyPr>
            <a:lstStyle/>
            <a:p>
              <a:r>
                <a:rPr lang="en-US" altLang="zh-CN" sz="3200" dirty="0">
                  <a:solidFill>
                    <a:srgbClr val="060606"/>
                  </a:solidFill>
                </a:rPr>
                <a:t>2x</a:t>
              </a:r>
              <a:r>
                <a:rPr lang="en-US" altLang="zh-CN" sz="3200" baseline="-25000" dirty="0">
                  <a:solidFill>
                    <a:srgbClr val="060606"/>
                  </a:solidFill>
                </a:rPr>
                <a:t>1</a:t>
              </a:r>
              <a:r>
                <a:rPr lang="en-US" altLang="zh-CN" sz="3200" dirty="0">
                  <a:solidFill>
                    <a:srgbClr val="060606"/>
                  </a:solidFill>
                </a:rPr>
                <a:t> + x</a:t>
              </a:r>
              <a:r>
                <a:rPr lang="en-US" altLang="zh-CN" sz="3200" baseline="-25000" dirty="0">
                  <a:solidFill>
                    <a:srgbClr val="060606"/>
                  </a:solidFill>
                </a:rPr>
                <a:t>2</a:t>
              </a:r>
              <a:r>
                <a:rPr lang="en-US" altLang="zh-CN" sz="3200" dirty="0">
                  <a:solidFill>
                    <a:srgbClr val="060606"/>
                  </a:solidFill>
                </a:rPr>
                <a:t>            + x</a:t>
              </a:r>
              <a:r>
                <a:rPr lang="en-US" altLang="zh-CN" sz="3200" baseline="-25000" dirty="0">
                  <a:solidFill>
                    <a:srgbClr val="060606"/>
                  </a:solidFill>
                </a:rPr>
                <a:t>5</a:t>
              </a:r>
              <a:r>
                <a:rPr lang="en-US" altLang="zh-CN" sz="3200" dirty="0">
                  <a:solidFill>
                    <a:srgbClr val="060606"/>
                  </a:solidFill>
                </a:rPr>
                <a:t> =4</a:t>
              </a:r>
              <a:endParaRPr lang="zh-CN" altLang="en-US" sz="3200" dirty="0">
                <a:solidFill>
                  <a:srgbClr val="060606"/>
                </a:solidFill>
              </a:endParaRPr>
            </a:p>
          </p:txBody>
        </p:sp>
        <p:sp>
          <p:nvSpPr>
            <p:cNvPr id="11" name="矩形 10"/>
            <p:cNvSpPr/>
            <p:nvPr/>
          </p:nvSpPr>
          <p:spPr>
            <a:xfrm>
              <a:off x="1523423" y="2902750"/>
              <a:ext cx="3974097" cy="514097"/>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2.</a:t>
              </a:r>
              <a:r>
                <a:rPr lang="zh-CN" altLang="en-US" sz="3200" dirty="0">
                  <a:solidFill>
                    <a:srgbClr val="060606"/>
                  </a:solidFill>
                </a:rPr>
                <a:t>转换为简单标准形</a:t>
              </a:r>
              <a:r>
                <a:rPr lang="en-US" altLang="zh-CN" sz="3200" dirty="0">
                  <a:solidFill>
                    <a:srgbClr val="060606"/>
                  </a:solidFill>
                </a:rPr>
                <a:t>LPQ</a:t>
              </a:r>
              <a:endParaRPr lang="en-US" altLang="zh-CN" sz="3200" dirty="0">
                <a:solidFill>
                  <a:srgbClr val="060606"/>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01721" y="611066"/>
            <a:ext cx="8458865" cy="4315760"/>
            <a:chOff x="2139616" y="3438670"/>
            <a:chExt cx="6562912" cy="3648127"/>
          </a:xfrm>
        </p:grpSpPr>
        <p:sp>
          <p:nvSpPr>
            <p:cNvPr id="3" name="矩形 2"/>
            <p:cNvSpPr/>
            <p:nvPr/>
          </p:nvSpPr>
          <p:spPr>
            <a:xfrm>
              <a:off x="3003964" y="3984952"/>
              <a:ext cx="5698564" cy="514097"/>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(0)  -z  +(3-2M)x</a:t>
              </a:r>
              <a:r>
                <a:rPr lang="en-US" altLang="zh-CN" sz="3200" baseline="-25000" dirty="0">
                  <a:solidFill>
                    <a:srgbClr val="060606"/>
                  </a:solidFill>
                </a:rPr>
                <a:t>1</a:t>
              </a:r>
              <a:r>
                <a:rPr lang="en-US" altLang="zh-CN" sz="3200" dirty="0">
                  <a:solidFill>
                    <a:srgbClr val="060606"/>
                  </a:solidFill>
                </a:rPr>
                <a:t>+(1-2M)x</a:t>
              </a:r>
              <a:r>
                <a:rPr lang="en-US" altLang="zh-CN" sz="3200" baseline="-25000" dirty="0">
                  <a:solidFill>
                    <a:srgbClr val="060606"/>
                  </a:solidFill>
                </a:rPr>
                <a:t>2</a:t>
              </a:r>
              <a:r>
                <a:rPr lang="en-US" altLang="zh-CN" sz="3200" dirty="0">
                  <a:solidFill>
                    <a:srgbClr val="060606"/>
                  </a:solidFill>
                </a:rPr>
                <a:t> +Mx</a:t>
              </a:r>
              <a:r>
                <a:rPr lang="en-US" altLang="zh-CN" sz="3200" baseline="-25000" dirty="0">
                  <a:solidFill>
                    <a:srgbClr val="060606"/>
                  </a:solidFill>
                </a:rPr>
                <a:t>3 </a:t>
              </a:r>
              <a:r>
                <a:rPr lang="en-US" altLang="zh-CN" sz="3200" dirty="0">
                  <a:solidFill>
                    <a:srgbClr val="060606"/>
                  </a:solidFill>
                </a:rPr>
                <a:t>=-6M </a:t>
              </a:r>
              <a:endParaRPr lang="en-US" altLang="zh-CN" sz="3200" dirty="0">
                <a:solidFill>
                  <a:srgbClr val="060606"/>
                </a:solidFill>
              </a:endParaRPr>
            </a:p>
          </p:txBody>
        </p:sp>
        <p:sp>
          <p:nvSpPr>
            <p:cNvPr id="6" name="矩形 5"/>
            <p:cNvSpPr/>
            <p:nvPr/>
          </p:nvSpPr>
          <p:spPr>
            <a:xfrm>
              <a:off x="3003964" y="4593637"/>
              <a:ext cx="3169220" cy="494312"/>
            </a:xfrm>
            <a:prstGeom prst="rect">
              <a:avLst/>
            </a:prstGeom>
          </p:spPr>
          <p:txBody>
            <a:bodyPr wrap="none">
              <a:spAutoFit/>
            </a:bodyPr>
            <a:lstStyle/>
            <a:p>
              <a:r>
                <a:rPr lang="en-US" altLang="zh-CN" sz="3200" dirty="0">
                  <a:solidFill>
                    <a:srgbClr val="060606"/>
                  </a:solidFill>
                </a:rPr>
                <a:t>(1)  x</a:t>
              </a:r>
              <a:r>
                <a:rPr lang="en-US" altLang="zh-CN" sz="3200" baseline="-25000" dirty="0">
                  <a:solidFill>
                    <a:srgbClr val="060606"/>
                  </a:solidFill>
                </a:rPr>
                <a:t>1</a:t>
              </a:r>
              <a:r>
                <a:rPr lang="en-US" altLang="zh-CN" sz="3200" dirty="0">
                  <a:solidFill>
                    <a:srgbClr val="060606"/>
                  </a:solidFill>
                </a:rPr>
                <a:t> +x</a:t>
              </a:r>
              <a:r>
                <a:rPr lang="en-US" altLang="zh-CN" sz="3200" baseline="-25000" dirty="0">
                  <a:solidFill>
                    <a:srgbClr val="060606"/>
                  </a:solidFill>
                </a:rPr>
                <a:t>2</a:t>
              </a:r>
              <a:r>
                <a:rPr lang="en-US" altLang="zh-CN" sz="3200" dirty="0">
                  <a:solidFill>
                    <a:srgbClr val="060606"/>
                  </a:solidFill>
                </a:rPr>
                <a:t> – x</a:t>
              </a:r>
              <a:r>
                <a:rPr lang="en-US" altLang="zh-CN" sz="3200" baseline="-25000" dirty="0">
                  <a:solidFill>
                    <a:srgbClr val="060606"/>
                  </a:solidFill>
                </a:rPr>
                <a:t>3</a:t>
              </a:r>
              <a:r>
                <a:rPr lang="en-US" altLang="zh-CN" sz="3200" dirty="0">
                  <a:solidFill>
                    <a:srgbClr val="060606"/>
                  </a:solidFill>
                </a:rPr>
                <a:t> +x</a:t>
              </a:r>
              <a:r>
                <a:rPr lang="en-US" altLang="zh-CN" sz="3200" baseline="-25000" dirty="0">
                  <a:solidFill>
                    <a:srgbClr val="060606"/>
                  </a:solidFill>
                </a:rPr>
                <a:t>4</a:t>
              </a:r>
              <a:r>
                <a:rPr lang="en-US" altLang="zh-CN" sz="3200" dirty="0">
                  <a:solidFill>
                    <a:srgbClr val="060606"/>
                  </a:solidFill>
                </a:rPr>
                <a:t> = 3</a:t>
              </a:r>
              <a:endParaRPr lang="zh-CN" altLang="en-US" sz="3200" dirty="0">
                <a:solidFill>
                  <a:srgbClr val="060606"/>
                </a:solidFill>
              </a:endParaRPr>
            </a:p>
          </p:txBody>
        </p:sp>
        <p:sp>
          <p:nvSpPr>
            <p:cNvPr id="7" name="矩形 6"/>
            <p:cNvSpPr/>
            <p:nvPr/>
          </p:nvSpPr>
          <p:spPr>
            <a:xfrm>
              <a:off x="3003964" y="5648692"/>
              <a:ext cx="4529838" cy="494312"/>
            </a:xfrm>
            <a:prstGeom prst="rect">
              <a:avLst/>
            </a:prstGeom>
          </p:spPr>
          <p:txBody>
            <a:bodyPr wrap="none">
              <a:spAutoFit/>
            </a:bodyPr>
            <a:lstStyle/>
            <a:p>
              <a:r>
                <a:rPr lang="en-US" altLang="zh-CN" sz="3200" dirty="0">
                  <a:solidFill>
                    <a:srgbClr val="060606"/>
                  </a:solidFill>
                </a:rPr>
                <a:t>(3)  x</a:t>
              </a:r>
              <a:r>
                <a:rPr lang="en-US" altLang="zh-CN" sz="3200" baseline="-25000" dirty="0">
                  <a:solidFill>
                    <a:srgbClr val="060606"/>
                  </a:solidFill>
                </a:rPr>
                <a:t>1     </a:t>
              </a:r>
              <a:r>
                <a:rPr lang="en-US" altLang="zh-CN" sz="3200" dirty="0">
                  <a:solidFill>
                    <a:srgbClr val="060606"/>
                  </a:solidFill>
                </a:rPr>
                <a:t>+x</a:t>
              </a:r>
              <a:r>
                <a:rPr lang="en-US" altLang="zh-CN" sz="3200" baseline="-25000" dirty="0">
                  <a:solidFill>
                    <a:srgbClr val="060606"/>
                  </a:solidFill>
                </a:rPr>
                <a:t>2</a:t>
              </a:r>
              <a:r>
                <a:rPr lang="en-US" altLang="zh-CN" sz="3200" dirty="0">
                  <a:solidFill>
                    <a:srgbClr val="060606"/>
                  </a:solidFill>
                </a:rPr>
                <a:t>                    + x</a:t>
              </a:r>
              <a:r>
                <a:rPr lang="en-US" altLang="zh-CN" sz="3200" baseline="-25000" dirty="0">
                  <a:solidFill>
                    <a:srgbClr val="060606"/>
                  </a:solidFill>
                </a:rPr>
                <a:t>6</a:t>
              </a:r>
              <a:r>
                <a:rPr lang="en-US" altLang="zh-CN" sz="3200" dirty="0">
                  <a:solidFill>
                    <a:srgbClr val="060606"/>
                  </a:solidFill>
                </a:rPr>
                <a:t> = 3</a:t>
              </a:r>
              <a:endParaRPr lang="zh-CN" altLang="en-US" sz="3200" dirty="0">
                <a:solidFill>
                  <a:srgbClr val="060606"/>
                </a:solidFill>
              </a:endParaRPr>
            </a:p>
          </p:txBody>
        </p:sp>
        <p:sp>
          <p:nvSpPr>
            <p:cNvPr id="8" name="矩形 7"/>
            <p:cNvSpPr/>
            <p:nvPr/>
          </p:nvSpPr>
          <p:spPr>
            <a:xfrm>
              <a:off x="3003964" y="6176221"/>
              <a:ext cx="2901426" cy="910576"/>
            </a:xfrm>
            <a:prstGeom prst="rect">
              <a:avLst/>
            </a:prstGeom>
          </p:spPr>
          <p:txBody>
            <a:bodyPr wrap="square">
              <a:spAutoFit/>
            </a:bodyPr>
            <a:lstStyle/>
            <a:p>
              <a:r>
                <a:rPr lang="en-US" altLang="zh-CN" sz="3200" dirty="0">
                  <a:solidFill>
                    <a:srgbClr val="060606"/>
                  </a:solidFill>
                </a:rPr>
                <a:t>x</a:t>
              </a:r>
              <a:r>
                <a:rPr lang="en-US" altLang="zh-CN" sz="3200" baseline="-25000" dirty="0">
                  <a:solidFill>
                    <a:srgbClr val="060606"/>
                  </a:solidFill>
                </a:rPr>
                <a:t>j</a:t>
              </a:r>
              <a:r>
                <a:rPr lang="en-US" altLang="zh-CN" sz="3200" dirty="0">
                  <a:solidFill>
                    <a:srgbClr val="060606"/>
                  </a:solidFill>
                </a:rPr>
                <a:t> ≥0       (j = 1,2,…,6)</a:t>
              </a:r>
              <a:endParaRPr lang="zh-CN" altLang="en-US" sz="3200" dirty="0">
                <a:solidFill>
                  <a:srgbClr val="060606"/>
                </a:solidFill>
              </a:endParaRPr>
            </a:p>
          </p:txBody>
        </p:sp>
        <p:sp>
          <p:nvSpPr>
            <p:cNvPr id="9" name="矩形 8"/>
            <p:cNvSpPr/>
            <p:nvPr/>
          </p:nvSpPr>
          <p:spPr>
            <a:xfrm>
              <a:off x="3003964" y="5121164"/>
              <a:ext cx="3843737" cy="494312"/>
            </a:xfrm>
            <a:prstGeom prst="rect">
              <a:avLst/>
            </a:prstGeom>
          </p:spPr>
          <p:txBody>
            <a:bodyPr wrap="square">
              <a:spAutoFit/>
            </a:bodyPr>
            <a:lstStyle/>
            <a:p>
              <a:r>
                <a:rPr lang="en-US" altLang="zh-CN" sz="3200" dirty="0">
                  <a:solidFill>
                    <a:srgbClr val="060606"/>
                  </a:solidFill>
                </a:rPr>
                <a:t>(2)  2x</a:t>
              </a:r>
              <a:r>
                <a:rPr lang="en-US" altLang="zh-CN" sz="3200" baseline="-25000" dirty="0">
                  <a:solidFill>
                    <a:srgbClr val="060606"/>
                  </a:solidFill>
                </a:rPr>
                <a:t>1</a:t>
              </a:r>
              <a:r>
                <a:rPr lang="en-US" altLang="zh-CN" sz="3200" dirty="0">
                  <a:solidFill>
                    <a:srgbClr val="060606"/>
                  </a:solidFill>
                </a:rPr>
                <a:t> + x</a:t>
              </a:r>
              <a:r>
                <a:rPr lang="en-US" altLang="zh-CN" sz="3200" baseline="-25000" dirty="0">
                  <a:solidFill>
                    <a:srgbClr val="060606"/>
                  </a:solidFill>
                </a:rPr>
                <a:t>2</a:t>
              </a:r>
              <a:r>
                <a:rPr lang="en-US" altLang="zh-CN" sz="3200" dirty="0">
                  <a:solidFill>
                    <a:srgbClr val="060606"/>
                  </a:solidFill>
                </a:rPr>
                <a:t>            + x</a:t>
              </a:r>
              <a:r>
                <a:rPr lang="en-US" altLang="zh-CN" sz="3200" baseline="-25000" dirty="0">
                  <a:solidFill>
                    <a:srgbClr val="060606"/>
                  </a:solidFill>
                </a:rPr>
                <a:t>5</a:t>
              </a:r>
              <a:r>
                <a:rPr lang="en-US" altLang="zh-CN" sz="3200" dirty="0">
                  <a:solidFill>
                    <a:srgbClr val="060606"/>
                  </a:solidFill>
                </a:rPr>
                <a:t> =4</a:t>
              </a:r>
              <a:endParaRPr lang="zh-CN" altLang="en-US" sz="3200" dirty="0">
                <a:solidFill>
                  <a:srgbClr val="060606"/>
                </a:solidFill>
              </a:endParaRPr>
            </a:p>
          </p:txBody>
        </p:sp>
        <p:sp>
          <p:nvSpPr>
            <p:cNvPr id="11" name="矩形 10"/>
            <p:cNvSpPr/>
            <p:nvPr/>
          </p:nvSpPr>
          <p:spPr>
            <a:xfrm>
              <a:off x="2139616" y="3438670"/>
              <a:ext cx="3974097" cy="513066"/>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3.</a:t>
              </a:r>
              <a:r>
                <a:rPr lang="zh-CN" altLang="en-US" sz="3200" dirty="0">
                  <a:solidFill>
                    <a:srgbClr val="060606"/>
                  </a:solidFill>
                </a:rPr>
                <a:t>写成方程组</a:t>
              </a:r>
              <a:endParaRPr lang="en-US" altLang="zh-CN" sz="3200" dirty="0">
                <a:solidFill>
                  <a:srgbClr val="060606"/>
                </a:solidFill>
              </a:endParaRPr>
            </a:p>
          </p:txBody>
        </p:sp>
      </p:grpSp>
      <p:sp>
        <p:nvSpPr>
          <p:cNvPr id="12" name="灯片编号占位符 1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a:graphicFrameLocks noGrp="1"/>
          </p:cNvGraphicFramePr>
          <p:nvPr/>
        </p:nvGraphicFramePr>
        <p:xfrm>
          <a:off x="743456" y="822198"/>
          <a:ext cx="10875456" cy="2713545"/>
        </p:xfrm>
        <a:graphic>
          <a:graphicData uri="http://schemas.openxmlformats.org/drawingml/2006/table">
            <a:tbl>
              <a:tblPr firstRow="1" bandRow="1">
                <a:tableStyleId>{5C22544A-7EE6-4342-B048-85BDC9FD1C3A}</a:tableStyleId>
              </a:tblPr>
              <a:tblGrid>
                <a:gridCol w="1665698"/>
                <a:gridCol w="7360385"/>
                <a:gridCol w="1849373"/>
              </a:tblGrid>
              <a:tr h="409896">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83503">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1772842">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4</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6</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3-2M</a:t>
                      </a:r>
                      <a:r>
                        <a:rPr lang="en-US" altLang="zh-CN" sz="2400" dirty="0">
                          <a:solidFill>
                            <a:srgbClr val="060606"/>
                          </a:solidFill>
                        </a:rPr>
                        <a:t>   1-2M    M          0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-1          1            0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0         2           1          0          </a:t>
                      </a:r>
                      <a:r>
                        <a:rPr lang="en-US" altLang="zh-CN" sz="2400" baseline="0" dirty="0" err="1">
                          <a:solidFill>
                            <a:srgbClr val="060606"/>
                          </a:solidFill>
                        </a:rPr>
                        <a:t>0</a:t>
                      </a:r>
                      <a:r>
                        <a:rPr lang="en-US" altLang="zh-CN" sz="2400" baseline="0" dirty="0">
                          <a:solidFill>
                            <a:srgbClr val="060606"/>
                          </a:solidFill>
                        </a:rPr>
                        <a:t>            1            0        </a:t>
                      </a:r>
                      <a:endParaRPr lang="en-US" altLang="zh-CN" sz="2400" baseline="0" dirty="0">
                        <a:solidFill>
                          <a:srgbClr val="060606"/>
                        </a:solidFill>
                      </a:endParaRPr>
                    </a:p>
                    <a:p>
                      <a:r>
                        <a:rPr lang="en-US" altLang="zh-CN" sz="2400" baseline="0" dirty="0">
                          <a:solidFill>
                            <a:srgbClr val="060606"/>
                          </a:solidFill>
                        </a:rPr>
                        <a:t>0         1           </a:t>
                      </a:r>
                      <a:r>
                        <a:rPr lang="en-US" altLang="zh-CN" sz="2400" baseline="0" dirty="0" err="1">
                          <a:solidFill>
                            <a:srgbClr val="060606"/>
                          </a:solidFill>
                        </a:rPr>
                        <a:t>1</a:t>
                      </a:r>
                      <a:r>
                        <a:rPr lang="en-US" altLang="zh-CN" sz="2400" baseline="0" dirty="0">
                          <a:solidFill>
                            <a:srgbClr val="060606"/>
                          </a:solidFill>
                        </a:rPr>
                        <a:t>          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-6M</a:t>
                      </a:r>
                      <a:endParaRPr lang="en-US" altLang="zh-CN" sz="2400" dirty="0">
                        <a:solidFill>
                          <a:srgbClr val="060606"/>
                        </a:solidFill>
                      </a:endParaRPr>
                    </a:p>
                    <a:p>
                      <a:r>
                        <a:rPr lang="en-US" altLang="zh-CN" sz="2400" dirty="0">
                          <a:solidFill>
                            <a:srgbClr val="060606"/>
                          </a:solidFill>
                        </a:rPr>
                        <a:t>3</a:t>
                      </a:r>
                      <a:endParaRPr lang="en-US" altLang="zh-CN" sz="2400" dirty="0">
                        <a:solidFill>
                          <a:srgbClr val="060606"/>
                        </a:solidFill>
                      </a:endParaRPr>
                    </a:p>
                    <a:p>
                      <a:r>
                        <a:rPr lang="en-US" altLang="zh-CN" sz="2400" dirty="0">
                          <a:solidFill>
                            <a:srgbClr val="060606"/>
                          </a:solidFill>
                        </a:rPr>
                        <a:t>4</a:t>
                      </a:r>
                      <a:endParaRPr lang="en-US" altLang="zh-CN" sz="2400" dirty="0">
                        <a:solidFill>
                          <a:srgbClr val="060606"/>
                        </a:solidFill>
                      </a:endParaRPr>
                    </a:p>
                    <a:p>
                      <a:r>
                        <a:rPr lang="en-US" altLang="zh-CN" sz="2400" dirty="0">
                          <a:solidFill>
                            <a:srgbClr val="060606"/>
                          </a:solidFill>
                        </a:rPr>
                        <a:t>3</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标题 1"/>
          <p:cNvSpPr>
            <a:spLocks noGrp="1"/>
          </p:cNvSpPr>
          <p:nvPr>
            <p:ph type="title"/>
          </p:nvPr>
        </p:nvSpPr>
        <p:spPr>
          <a:xfrm>
            <a:off x="121920" y="44624"/>
            <a:ext cx="11389360" cy="793750"/>
          </a:xfrm>
        </p:spPr>
        <p:txBody>
          <a:bodyPr>
            <a:normAutofit/>
          </a:bodyPr>
          <a:lstStyle/>
          <a:p>
            <a:r>
              <a:rPr lang="zh-CN" altLang="en-US" sz="3200" dirty="0"/>
              <a:t>方法一：改变换出变量法</a:t>
            </a:r>
            <a:r>
              <a:rPr lang="en-US" altLang="zh-CN" sz="3200" dirty="0"/>
              <a:t>(</a:t>
            </a:r>
            <a:r>
              <a:rPr lang="zh-CN" altLang="en-US" sz="3200" dirty="0"/>
              <a:t>用表格形式求解</a:t>
            </a:r>
            <a:r>
              <a:rPr lang="en-US" altLang="zh-CN" sz="3200" dirty="0"/>
              <a:t>LPQ)</a:t>
            </a:r>
            <a:endParaRPr lang="zh-CN" altLang="en-US" sz="3200" dirty="0"/>
          </a:p>
        </p:txBody>
      </p:sp>
      <p:graphicFrame>
        <p:nvGraphicFramePr>
          <p:cNvPr id="3" name="表格 2"/>
          <p:cNvGraphicFramePr>
            <a:graphicFrameLocks noGrp="1"/>
          </p:cNvGraphicFramePr>
          <p:nvPr/>
        </p:nvGraphicFramePr>
        <p:xfrm>
          <a:off x="706944" y="3565108"/>
          <a:ext cx="10875456" cy="1554480"/>
        </p:xfrm>
        <a:graphic>
          <a:graphicData uri="http://schemas.openxmlformats.org/drawingml/2006/table">
            <a:tbl>
              <a:tblPr firstRow="1" bandRow="1">
                <a:tableStyleId>{5C22544A-7EE6-4342-B048-85BDC9FD1C3A}</a:tableStyleId>
              </a:tblPr>
              <a:tblGrid>
                <a:gridCol w="1665698"/>
                <a:gridCol w="7360385"/>
                <a:gridCol w="1849373"/>
              </a:tblGrid>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6</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2</a:t>
                      </a:r>
                      <a:r>
                        <a:rPr lang="en-US" altLang="zh-CN" sz="2400" dirty="0">
                          <a:solidFill>
                            <a:srgbClr val="060606"/>
                          </a:solidFill>
                        </a:rPr>
                        <a:t>           0        1-M     2M-1      0            </a:t>
                      </a:r>
                      <a:r>
                        <a:rPr lang="en-US" altLang="zh-CN" sz="2400" dirty="0" err="1">
                          <a:solidFill>
                            <a:srgbClr val="060606"/>
                          </a:solidFill>
                        </a:rPr>
                        <a:t>0</a:t>
                      </a:r>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-1          1            0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1           0          1          -1           1            0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0-1         0            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-3</a:t>
                      </a:r>
                      <a:endParaRPr lang="en-US" altLang="zh-CN" sz="2400" dirty="0">
                        <a:solidFill>
                          <a:srgbClr val="060606"/>
                        </a:solidFill>
                      </a:endParaRPr>
                    </a:p>
                    <a:p>
                      <a:r>
                        <a:rPr lang="en-US" altLang="zh-CN" sz="2400" dirty="0">
                          <a:solidFill>
                            <a:srgbClr val="060606"/>
                          </a:solidFill>
                        </a:rPr>
                        <a:t>3</a:t>
                      </a:r>
                      <a:endParaRPr lang="en-US" altLang="zh-CN" sz="2400" dirty="0">
                        <a:solidFill>
                          <a:srgbClr val="060606"/>
                        </a:solidFill>
                      </a:endParaRPr>
                    </a:p>
                    <a:p>
                      <a:r>
                        <a:rPr lang="en-US" altLang="zh-CN" sz="2400" dirty="0">
                          <a:solidFill>
                            <a:srgbClr val="060606"/>
                          </a:solidFill>
                        </a:rPr>
                        <a:t>1</a:t>
                      </a:r>
                      <a:endParaRPr lang="en-US" altLang="zh-CN" sz="2400" dirty="0">
                        <a:solidFill>
                          <a:srgbClr val="060606"/>
                        </a:solidFill>
                      </a:endParaRPr>
                    </a:p>
                    <a:p>
                      <a:r>
                        <a:rPr lang="en-US" altLang="zh-CN" sz="2400" dirty="0">
                          <a:solidFill>
                            <a:srgbClr val="060606"/>
                          </a:solidFill>
                        </a:rPr>
                        <a:t>0</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9" name="TextBox 8"/>
          <p:cNvSpPr txBox="1"/>
          <p:nvPr/>
        </p:nvSpPr>
        <p:spPr>
          <a:xfrm>
            <a:off x="706944" y="3507616"/>
            <a:ext cx="1296144" cy="1569660"/>
          </a:xfrm>
          <a:prstGeom prst="rect">
            <a:avLst/>
          </a:prstGeom>
          <a:noFill/>
        </p:spPr>
        <p:txBody>
          <a:bodyPr wrap="square" rtlCol="0">
            <a:spAutoFit/>
          </a:bodyPr>
          <a:lstStyle/>
          <a:p>
            <a:r>
              <a:rPr lang="zh-CN" altLang="en-US" sz="2400" dirty="0">
                <a:solidFill>
                  <a:srgbClr val="0000AC"/>
                </a:solidFill>
                <a:latin typeface="+mn-ea"/>
              </a:rPr>
              <a:t>遵循迭代规则，选择下标小者</a:t>
            </a:r>
            <a:endParaRPr lang="zh-CN" altLang="en-US" sz="2400" dirty="0">
              <a:solidFill>
                <a:srgbClr val="0000AC"/>
              </a:solidFill>
              <a:latin typeface="+mn-ea"/>
            </a:endParaRPr>
          </a:p>
        </p:txBody>
      </p:sp>
      <p:graphicFrame>
        <p:nvGraphicFramePr>
          <p:cNvPr id="12" name="表格 11"/>
          <p:cNvGraphicFramePr>
            <a:graphicFrameLocks noGrp="1"/>
          </p:cNvGraphicFramePr>
          <p:nvPr/>
        </p:nvGraphicFramePr>
        <p:xfrm>
          <a:off x="743456" y="5235808"/>
          <a:ext cx="10838945" cy="1554480"/>
        </p:xfrm>
        <a:graphic>
          <a:graphicData uri="http://schemas.openxmlformats.org/drawingml/2006/table">
            <a:tbl>
              <a:tblPr firstRow="1" bandRow="1">
                <a:tableStyleId>{5C22544A-7EE6-4342-B048-85BDC9FD1C3A}</a:tableStyleId>
              </a:tblPr>
              <a:tblGrid>
                <a:gridCol w="1660106"/>
                <a:gridCol w="7335674"/>
                <a:gridCol w="1843165"/>
              </a:tblGrid>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4</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altLang="zh-CN" sz="2400" dirty="0">
                          <a:solidFill>
                            <a:srgbClr val="060606"/>
                          </a:solidFill>
                        </a:rPr>
                        <a:t>1     </a:t>
                      </a:r>
                      <a:r>
                        <a:rPr lang="en-US" altLang="zh-CN" sz="2400" baseline="0" dirty="0">
                          <a:solidFill>
                            <a:srgbClr val="060606"/>
                          </a:solidFill>
                        </a:rPr>
                        <a:t>    2</a:t>
                      </a:r>
                      <a:r>
                        <a:rPr lang="en-US" altLang="zh-CN" sz="2400" dirty="0">
                          <a:solidFill>
                            <a:srgbClr val="060606"/>
                          </a:solidFill>
                        </a:rPr>
                        <a:t>           0        M      </a:t>
                      </a:r>
                      <a:r>
                        <a:rPr lang="en-US" altLang="zh-CN" sz="2400" baseline="0" dirty="0">
                          <a:solidFill>
                            <a:srgbClr val="060606"/>
                          </a:solidFill>
                        </a:rPr>
                        <a:t> </a:t>
                      </a:r>
                      <a:r>
                        <a:rPr lang="en-US" altLang="zh-CN" sz="2400" dirty="0">
                          <a:solidFill>
                            <a:srgbClr val="060606"/>
                          </a:solidFill>
                        </a:rPr>
                        <a:t>    0            </a:t>
                      </a:r>
                      <a:r>
                        <a:rPr lang="en-US" altLang="zh-CN" sz="2400" dirty="0" err="1">
                          <a:solidFill>
                            <a:srgbClr val="060606"/>
                          </a:solidFill>
                        </a:rPr>
                        <a:t>0</a:t>
                      </a:r>
                      <a:r>
                        <a:rPr lang="en-US" altLang="zh-CN" sz="2400" dirty="0">
                          <a:solidFill>
                            <a:srgbClr val="060606"/>
                          </a:solidFill>
                        </a:rPr>
                        <a:t>        2M-1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0         -1          1            0            -1</a:t>
                      </a:r>
                      <a:endParaRPr lang="en-US" altLang="zh-CN" sz="2400" baseline="0" dirty="0">
                        <a:solidFill>
                          <a:srgbClr val="060606"/>
                        </a:solidFill>
                      </a:endParaRPr>
                    </a:p>
                    <a:p>
                      <a:r>
                        <a:rPr lang="en-US" altLang="zh-CN" sz="2400" baseline="0" dirty="0">
                          <a:solidFill>
                            <a:srgbClr val="060606"/>
                          </a:solidFill>
                        </a:rPr>
                        <a:t>0         1           0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-1     </a:t>
                      </a:r>
                      <a:endParaRPr lang="en-US" altLang="zh-CN" sz="2400" baseline="0" dirty="0">
                        <a:solidFill>
                          <a:srgbClr val="060606"/>
                        </a:solidFill>
                      </a:endParaRPr>
                    </a:p>
                    <a:p>
                      <a:r>
                        <a:rPr lang="en-US" altLang="zh-CN" sz="2400" baseline="0" dirty="0">
                          <a:solidFill>
                            <a:srgbClr val="060606"/>
                          </a:solidFill>
                        </a:rPr>
                        <a:t>0         1           </a:t>
                      </a:r>
                      <a:r>
                        <a:rPr lang="en-US" altLang="zh-CN" sz="2400" baseline="0" dirty="0" err="1">
                          <a:solidFill>
                            <a:srgbClr val="060606"/>
                          </a:solidFill>
                        </a:rPr>
                        <a:t>1</a:t>
                      </a:r>
                      <a:r>
                        <a:rPr lang="en-US" altLang="zh-CN" sz="2400" baseline="0" dirty="0">
                          <a:solidFill>
                            <a:srgbClr val="060606"/>
                          </a:solidFill>
                        </a:rPr>
                        <a:t>          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altLang="zh-CN" sz="2400" dirty="0">
                          <a:solidFill>
                            <a:srgbClr val="060606"/>
                          </a:solidFill>
                        </a:rPr>
                        <a:t>-3</a:t>
                      </a:r>
                      <a:endParaRPr lang="en-US" altLang="zh-CN" sz="2400" dirty="0">
                        <a:solidFill>
                          <a:srgbClr val="060606"/>
                        </a:solidFill>
                      </a:endParaRPr>
                    </a:p>
                    <a:p>
                      <a:r>
                        <a:rPr lang="en-US" altLang="zh-CN" sz="2400" dirty="0">
                          <a:solidFill>
                            <a:srgbClr val="060606"/>
                          </a:solidFill>
                        </a:rPr>
                        <a:t>0</a:t>
                      </a:r>
                      <a:endParaRPr lang="en-US" altLang="zh-CN" sz="2400" dirty="0">
                        <a:solidFill>
                          <a:srgbClr val="060606"/>
                        </a:solidFill>
                      </a:endParaRPr>
                    </a:p>
                    <a:p>
                      <a:r>
                        <a:rPr lang="en-US" altLang="zh-CN" sz="2400" dirty="0">
                          <a:solidFill>
                            <a:srgbClr val="060606"/>
                          </a:solidFill>
                        </a:rPr>
                        <a:t>1</a:t>
                      </a:r>
                      <a:endParaRPr lang="en-US" altLang="zh-CN" sz="2400" dirty="0">
                        <a:solidFill>
                          <a:srgbClr val="060606"/>
                        </a:solidFill>
                      </a:endParaRPr>
                    </a:p>
                    <a:p>
                      <a:r>
                        <a:rPr lang="en-US" altLang="zh-CN" sz="2400" dirty="0">
                          <a:solidFill>
                            <a:srgbClr val="060606"/>
                          </a:solidFill>
                        </a:rPr>
                        <a:t>3</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r>
            </a:tbl>
          </a:graphicData>
        </a:graphic>
      </p:graphicFrame>
      <p:sp>
        <p:nvSpPr>
          <p:cNvPr id="17" name="TextBox 16"/>
          <p:cNvSpPr txBox="1"/>
          <p:nvPr/>
        </p:nvSpPr>
        <p:spPr>
          <a:xfrm>
            <a:off x="5243448" y="4155689"/>
            <a:ext cx="2736304" cy="461665"/>
          </a:xfrm>
          <a:prstGeom prst="rect">
            <a:avLst/>
          </a:prstGeom>
          <a:noFill/>
        </p:spPr>
        <p:txBody>
          <a:bodyPr wrap="square" rtlCol="0">
            <a:spAutoFit/>
          </a:bodyPr>
          <a:lstStyle/>
          <a:p>
            <a:r>
              <a:rPr lang="zh-CN" altLang="en-US" sz="2400" dirty="0">
                <a:solidFill>
                  <a:srgbClr val="FF0000"/>
                </a:solidFill>
                <a:latin typeface="+mn-ea"/>
              </a:rPr>
              <a:t>需要再次迭代</a:t>
            </a:r>
            <a:endParaRPr lang="zh-CN" altLang="en-US" sz="2400" dirty="0">
              <a:solidFill>
                <a:srgbClr val="FF0000"/>
              </a:solidFill>
              <a:latin typeface="+mn-ea"/>
            </a:endParaRPr>
          </a:p>
        </p:txBody>
      </p:sp>
      <p:sp>
        <p:nvSpPr>
          <p:cNvPr id="13" name="TextBox 12"/>
          <p:cNvSpPr txBox="1"/>
          <p:nvPr/>
        </p:nvSpPr>
        <p:spPr>
          <a:xfrm>
            <a:off x="743456" y="5178317"/>
            <a:ext cx="1296144" cy="1200329"/>
          </a:xfrm>
          <a:prstGeom prst="rect">
            <a:avLst/>
          </a:prstGeom>
          <a:noFill/>
        </p:spPr>
        <p:txBody>
          <a:bodyPr wrap="square" rtlCol="0">
            <a:spAutoFit/>
          </a:bodyPr>
          <a:lstStyle/>
          <a:p>
            <a:r>
              <a:rPr lang="zh-CN" altLang="en-US" sz="2400" dirty="0">
                <a:solidFill>
                  <a:srgbClr val="0000AC"/>
                </a:solidFill>
                <a:latin typeface="+mn-ea"/>
              </a:rPr>
              <a:t>采用改变换出变量法</a:t>
            </a:r>
            <a:endParaRPr lang="zh-CN" altLang="en-US" sz="2400" dirty="0">
              <a:solidFill>
                <a:srgbClr val="0000AC"/>
              </a:solidFill>
              <a:latin typeface="+mn-ea"/>
            </a:endParaRPr>
          </a:p>
        </p:txBody>
      </p:sp>
      <p:grpSp>
        <p:nvGrpSpPr>
          <p:cNvPr id="25" name="组合 24"/>
          <p:cNvGrpSpPr/>
          <p:nvPr/>
        </p:nvGrpSpPr>
        <p:grpSpPr>
          <a:xfrm>
            <a:off x="2147104" y="5146041"/>
            <a:ext cx="6048672" cy="1547931"/>
            <a:chOff x="1547664" y="4851400"/>
            <a:chExt cx="6048672" cy="1547931"/>
          </a:xfrm>
        </p:grpSpPr>
        <p:sp>
          <p:nvSpPr>
            <p:cNvPr id="22" name="任意多边形 21"/>
            <p:cNvSpPr/>
            <p:nvPr/>
          </p:nvSpPr>
          <p:spPr bwMode="auto">
            <a:xfrm>
              <a:off x="1968500" y="4851400"/>
              <a:ext cx="5397500" cy="495300"/>
            </a:xfrm>
            <a:custGeom>
              <a:avLst/>
              <a:gdLst>
                <a:gd name="connsiteX0" fmla="*/ 0 w 5397500"/>
                <a:gd name="connsiteY0" fmla="*/ 25400 h 495300"/>
                <a:gd name="connsiteX1" fmla="*/ 381000 w 5397500"/>
                <a:gd name="connsiteY1" fmla="*/ 495300 h 495300"/>
                <a:gd name="connsiteX2" fmla="*/ 5359400 w 5397500"/>
                <a:gd name="connsiteY2" fmla="*/ 457200 h 495300"/>
                <a:gd name="connsiteX3" fmla="*/ 5397500 w 5397500"/>
                <a:gd name="connsiteY3" fmla="*/ 0 h 495300"/>
                <a:gd name="connsiteX4" fmla="*/ 0 w 5397500"/>
                <a:gd name="connsiteY4" fmla="*/ 25400 h 495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7500" h="495300">
                  <a:moveTo>
                    <a:pt x="0" y="25400"/>
                  </a:moveTo>
                  <a:lnTo>
                    <a:pt x="381000" y="495300"/>
                  </a:lnTo>
                  <a:lnTo>
                    <a:pt x="5359400" y="457200"/>
                  </a:lnTo>
                  <a:lnTo>
                    <a:pt x="5397500" y="0"/>
                  </a:lnTo>
                  <a:lnTo>
                    <a:pt x="0" y="25400"/>
                  </a:lnTo>
                  <a:close/>
                </a:path>
              </a:pathLst>
            </a:custGeom>
            <a:noFill/>
            <a:ln w="952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4" name="TextBox 23"/>
            <p:cNvSpPr txBox="1"/>
            <p:nvPr/>
          </p:nvSpPr>
          <p:spPr>
            <a:xfrm>
              <a:off x="1547664" y="5445224"/>
              <a:ext cx="6048672" cy="954107"/>
            </a:xfrm>
            <a:prstGeom prst="rect">
              <a:avLst/>
            </a:prstGeom>
            <a:solidFill>
              <a:schemeClr val="bg1"/>
            </a:solidFill>
          </p:spPr>
          <p:txBody>
            <a:bodyPr wrap="square" rtlCol="0">
              <a:spAutoFit/>
            </a:bodyPr>
            <a:lstStyle/>
            <a:p>
              <a:r>
                <a:rPr lang="zh-CN" altLang="en-US" sz="2800" dirty="0">
                  <a:solidFill>
                    <a:srgbClr val="FF0000"/>
                  </a:solidFill>
                </a:rPr>
                <a:t>得解：</a:t>
              </a:r>
              <a:r>
                <a:rPr lang="en-US" altLang="zh-CN" sz="2800" b="1" dirty="0">
                  <a:solidFill>
                    <a:srgbClr val="FF0000"/>
                  </a:solidFill>
                  <a:latin typeface="+mn-ea"/>
                </a:rPr>
                <a:t>x</a:t>
              </a:r>
              <a:r>
                <a:rPr lang="en-US" altLang="zh-CN" sz="2800" dirty="0">
                  <a:solidFill>
                    <a:srgbClr val="FF0000"/>
                  </a:solidFill>
                  <a:latin typeface="+mn-ea"/>
                </a:rPr>
                <a:t> = (0,3,0,0,1,0)</a:t>
              </a:r>
              <a:r>
                <a:rPr lang="zh-CN" altLang="en-US" sz="2800" dirty="0">
                  <a:solidFill>
                    <a:srgbClr val="FF0000"/>
                  </a:solidFill>
                  <a:latin typeface="+mn-ea"/>
                </a:rPr>
                <a:t>，人工变量 </a:t>
              </a:r>
              <a:r>
                <a:rPr lang="en-US" altLang="zh-CN" sz="2800" dirty="0">
                  <a:solidFill>
                    <a:srgbClr val="FF0000"/>
                  </a:solidFill>
                  <a:latin typeface="+mn-ea"/>
                </a:rPr>
                <a:t>= 0</a:t>
              </a:r>
              <a:r>
                <a:rPr lang="zh-CN" altLang="en-US" sz="2800" dirty="0">
                  <a:solidFill>
                    <a:srgbClr val="FF0000"/>
                  </a:solidFill>
                  <a:latin typeface="+mn-ea"/>
                </a:rPr>
                <a:t>；</a:t>
              </a:r>
              <a:r>
                <a:rPr lang="en-US" altLang="zh-CN" sz="2800" dirty="0" err="1">
                  <a:solidFill>
                    <a:srgbClr val="FF0000"/>
                  </a:solidFill>
                  <a:latin typeface="+mn-ea"/>
                </a:rPr>
                <a:t>minz</a:t>
              </a:r>
              <a:r>
                <a:rPr lang="en-US" altLang="zh-CN" sz="2800" dirty="0">
                  <a:solidFill>
                    <a:srgbClr val="FF0000"/>
                  </a:solidFill>
                  <a:latin typeface="+mn-ea"/>
                </a:rPr>
                <a:t> = 3</a:t>
              </a:r>
              <a:r>
                <a:rPr lang="zh-CN" altLang="en-US" sz="2800" dirty="0">
                  <a:solidFill>
                    <a:srgbClr val="FF0000"/>
                  </a:solidFill>
                  <a:latin typeface="+mn-ea"/>
                </a:rPr>
                <a:t>。</a:t>
              </a:r>
              <a:endParaRPr lang="zh-CN" altLang="en-US" sz="2800"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3840" y="44624"/>
            <a:ext cx="9978073" cy="562020"/>
          </a:xfrm>
        </p:spPr>
        <p:txBody>
          <a:bodyPr>
            <a:normAutofit/>
          </a:bodyPr>
          <a:lstStyle/>
          <a:p>
            <a:r>
              <a:rPr lang="zh-CN" altLang="en-US" sz="3200" dirty="0"/>
              <a:t>方法二：</a:t>
            </a:r>
            <a:r>
              <a:rPr lang="zh-CN" altLang="zh-CN" sz="3200" dirty="0"/>
              <a:t>摄动法</a:t>
            </a:r>
            <a:r>
              <a:rPr lang="en-US" altLang="zh-CN" sz="3200" dirty="0"/>
              <a:t>(</a:t>
            </a:r>
            <a:r>
              <a:rPr lang="zh-CN" altLang="en-US" sz="3200" dirty="0"/>
              <a:t>用表格形式求解</a:t>
            </a:r>
            <a:r>
              <a:rPr lang="en-US" altLang="zh-CN" sz="3200" dirty="0"/>
              <a:t>LPQ)</a:t>
            </a:r>
            <a:endParaRPr lang="zh-CN" altLang="en-US" sz="3200" dirty="0"/>
          </a:p>
        </p:txBody>
      </p:sp>
      <p:graphicFrame>
        <p:nvGraphicFramePr>
          <p:cNvPr id="3" name="表格 2"/>
          <p:cNvGraphicFramePr>
            <a:graphicFrameLocks noGrp="1"/>
          </p:cNvGraphicFramePr>
          <p:nvPr/>
        </p:nvGraphicFramePr>
        <p:xfrm>
          <a:off x="585024" y="836712"/>
          <a:ext cx="11058336" cy="2468880"/>
        </p:xfrm>
        <a:graphic>
          <a:graphicData uri="http://schemas.openxmlformats.org/drawingml/2006/table">
            <a:tbl>
              <a:tblPr firstRow="1" bandRow="1">
                <a:tableStyleId>{5C22544A-7EE6-4342-B048-85BDC9FD1C3A}</a:tableStyleId>
              </a:tblPr>
              <a:tblGrid>
                <a:gridCol w="626824"/>
                <a:gridCol w="7342796"/>
                <a:gridCol w="3088716"/>
              </a:tblGrid>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         </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4</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6</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3-2M</a:t>
                      </a:r>
                      <a:r>
                        <a:rPr lang="en-US" altLang="zh-CN" sz="2400" dirty="0">
                          <a:solidFill>
                            <a:srgbClr val="060606"/>
                          </a:solidFill>
                        </a:rPr>
                        <a:t>   1-2M    M          0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-1          1            0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0         2           1          0          </a:t>
                      </a:r>
                      <a:r>
                        <a:rPr lang="en-US" altLang="zh-CN" sz="2400" baseline="0" dirty="0" err="1">
                          <a:solidFill>
                            <a:srgbClr val="060606"/>
                          </a:solidFill>
                        </a:rPr>
                        <a:t>0</a:t>
                      </a:r>
                      <a:r>
                        <a:rPr lang="en-US" altLang="zh-CN" sz="2400" baseline="0" dirty="0">
                          <a:solidFill>
                            <a:srgbClr val="060606"/>
                          </a:solidFill>
                        </a:rPr>
                        <a:t>            1            0        </a:t>
                      </a:r>
                      <a:endParaRPr lang="en-US" altLang="zh-CN" sz="2400" baseline="0" dirty="0">
                        <a:solidFill>
                          <a:srgbClr val="060606"/>
                        </a:solidFill>
                      </a:endParaRPr>
                    </a:p>
                    <a:p>
                      <a:r>
                        <a:rPr lang="en-US" altLang="zh-CN" sz="2400" baseline="0" dirty="0">
                          <a:solidFill>
                            <a:srgbClr val="060606"/>
                          </a:solidFill>
                        </a:rPr>
                        <a:t>0         1           </a:t>
                      </a:r>
                      <a:r>
                        <a:rPr lang="en-US" altLang="zh-CN" sz="2400" baseline="0" dirty="0" err="1">
                          <a:solidFill>
                            <a:srgbClr val="060606"/>
                          </a:solidFill>
                        </a:rPr>
                        <a:t>1</a:t>
                      </a:r>
                      <a:r>
                        <a:rPr lang="en-US" altLang="zh-CN" sz="2400" baseline="0" dirty="0">
                          <a:solidFill>
                            <a:srgbClr val="060606"/>
                          </a:solidFill>
                        </a:rPr>
                        <a:t>          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-6M</a:t>
                      </a:r>
                      <a:endParaRPr lang="en-US" altLang="zh-CN" sz="2400" dirty="0">
                        <a:solidFill>
                          <a:srgbClr val="060606"/>
                        </a:solidFill>
                      </a:endParaRPr>
                    </a:p>
                    <a:p>
                      <a:r>
                        <a:rPr lang="en-US" altLang="zh-CN" sz="2400" dirty="0">
                          <a:solidFill>
                            <a:srgbClr val="060606"/>
                          </a:solidFill>
                        </a:rPr>
                        <a:t>3 </a:t>
                      </a:r>
                      <a:r>
                        <a:rPr lang="en-US" altLang="zh-CN" sz="2400" b="1" dirty="0">
                          <a:solidFill>
                            <a:srgbClr val="FF0000"/>
                          </a:solidFill>
                        </a:rPr>
                        <a:t>+ </a:t>
                      </a:r>
                      <a:r>
                        <a:rPr lang="el-GR" altLang="zh-CN" sz="2400" b="1" dirty="0">
                          <a:solidFill>
                            <a:srgbClr val="FF0000"/>
                          </a:solidFill>
                          <a:ea typeface="宋体"/>
                        </a:rPr>
                        <a:t>ε</a:t>
                      </a:r>
                      <a:endParaRPr lang="en-US" altLang="zh-CN" sz="2400" b="1" dirty="0">
                        <a:solidFill>
                          <a:srgbClr val="FF0000"/>
                        </a:solidFill>
                      </a:endParaRPr>
                    </a:p>
                    <a:p>
                      <a:r>
                        <a:rPr lang="en-US" altLang="zh-CN" sz="2400" dirty="0">
                          <a:solidFill>
                            <a:srgbClr val="060606"/>
                          </a:solidFill>
                        </a:rPr>
                        <a:t>4 </a:t>
                      </a:r>
                      <a:r>
                        <a:rPr lang="en-US" altLang="zh-CN" sz="2400" b="1" dirty="0">
                          <a:solidFill>
                            <a:srgbClr val="FF0000"/>
                          </a:solidFill>
                        </a:rPr>
                        <a:t>+ 2</a:t>
                      </a:r>
                      <a:r>
                        <a:rPr lang="el-GR" altLang="zh-CN" sz="2400" b="1" dirty="0">
                          <a:solidFill>
                            <a:srgbClr val="FF0000"/>
                          </a:solidFill>
                          <a:ea typeface="宋体"/>
                        </a:rPr>
                        <a:t>ε</a:t>
                      </a:r>
                      <a:endParaRPr lang="en-US" altLang="zh-CN" sz="2400" b="1" dirty="0">
                        <a:solidFill>
                          <a:srgbClr val="FF0000"/>
                        </a:solidFill>
                      </a:endParaRPr>
                    </a:p>
                    <a:p>
                      <a:r>
                        <a:rPr lang="en-US" altLang="zh-CN" sz="2400" dirty="0">
                          <a:solidFill>
                            <a:srgbClr val="060606"/>
                          </a:solidFill>
                        </a:rPr>
                        <a:t>3 </a:t>
                      </a:r>
                      <a:r>
                        <a:rPr lang="en-US" altLang="zh-CN" sz="2400" b="1" dirty="0">
                          <a:solidFill>
                            <a:srgbClr val="FF0000"/>
                          </a:solidFill>
                        </a:rPr>
                        <a:t>+ 3</a:t>
                      </a:r>
                      <a:r>
                        <a:rPr lang="el-GR" altLang="zh-CN" sz="2400" b="1" dirty="0">
                          <a:solidFill>
                            <a:srgbClr val="FF0000"/>
                          </a:solidFill>
                          <a:ea typeface="宋体"/>
                        </a:rPr>
                        <a:t>ε</a:t>
                      </a:r>
                      <a:endParaRPr lang="zh-CN" altLang="en-US" sz="2400" b="1"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4" name="表格 3"/>
          <p:cNvGraphicFramePr>
            <a:graphicFrameLocks noGrp="1"/>
          </p:cNvGraphicFramePr>
          <p:nvPr/>
        </p:nvGraphicFramePr>
        <p:xfrm>
          <a:off x="585024" y="3331428"/>
          <a:ext cx="11058336" cy="1554480"/>
        </p:xfrm>
        <a:graphic>
          <a:graphicData uri="http://schemas.openxmlformats.org/drawingml/2006/table">
            <a:tbl>
              <a:tblPr firstRow="1" bandRow="1">
                <a:tableStyleId>{5C22544A-7EE6-4342-B048-85BDC9FD1C3A}</a:tableStyleId>
              </a:tblPr>
              <a:tblGrid>
                <a:gridCol w="626824"/>
                <a:gridCol w="7342796"/>
                <a:gridCol w="3088716"/>
              </a:tblGrid>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6</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1     </a:t>
                      </a:r>
                      <a:r>
                        <a:rPr lang="en-US" altLang="zh-CN" sz="2400" baseline="0" dirty="0">
                          <a:solidFill>
                            <a:srgbClr val="060606"/>
                          </a:solidFill>
                        </a:rPr>
                        <a:t>    2</a:t>
                      </a:r>
                      <a:r>
                        <a:rPr lang="en-US" altLang="zh-CN" sz="2400" dirty="0">
                          <a:solidFill>
                            <a:srgbClr val="060606"/>
                          </a:solidFill>
                        </a:rPr>
                        <a:t>           0        1-M     2M-1      0            </a:t>
                      </a:r>
                      <a:r>
                        <a:rPr lang="en-US" altLang="zh-CN" sz="2400" dirty="0" err="1">
                          <a:solidFill>
                            <a:srgbClr val="060606"/>
                          </a:solidFill>
                        </a:rPr>
                        <a:t>0</a:t>
                      </a:r>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-1          1            0            </a:t>
                      </a:r>
                      <a:r>
                        <a:rPr lang="en-US" altLang="zh-CN" sz="2400" baseline="0" dirty="0" err="1">
                          <a:solidFill>
                            <a:srgbClr val="060606"/>
                          </a:solidFill>
                        </a:rPr>
                        <a:t>0</a:t>
                      </a:r>
                      <a:endParaRPr lang="en-US" altLang="zh-CN" sz="2400" baseline="0" dirty="0">
                        <a:solidFill>
                          <a:srgbClr val="060606"/>
                        </a:solidFill>
                      </a:endParaRPr>
                    </a:p>
                    <a:p>
                      <a:r>
                        <a:rPr lang="en-US" altLang="zh-CN" sz="2400" baseline="0" dirty="0">
                          <a:solidFill>
                            <a:srgbClr val="060606"/>
                          </a:solidFill>
                        </a:rPr>
                        <a:t>0         1           0          1          -1           1            0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0-1         0            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060606"/>
                          </a:solidFill>
                        </a:rPr>
                        <a:t>(2M-1)</a:t>
                      </a:r>
                      <a:r>
                        <a:rPr lang="el-GR" altLang="zh-CN" sz="2400" dirty="0">
                          <a:solidFill>
                            <a:srgbClr val="060606"/>
                          </a:solidFill>
                          <a:ea typeface="宋体"/>
                        </a:rPr>
                        <a:t>ε</a:t>
                      </a:r>
                      <a:r>
                        <a:rPr lang="en-US" altLang="zh-CN" sz="2400" dirty="0">
                          <a:solidFill>
                            <a:srgbClr val="060606"/>
                          </a:solidFill>
                        </a:rPr>
                        <a:t>-3</a:t>
                      </a:r>
                      <a:endParaRPr lang="en-US" altLang="zh-CN" sz="2400" dirty="0">
                        <a:solidFill>
                          <a:srgbClr val="060606"/>
                        </a:solidFill>
                      </a:endParaRPr>
                    </a:p>
                    <a:p>
                      <a:r>
                        <a:rPr lang="en-US" altLang="zh-CN" sz="2400" dirty="0">
                          <a:solidFill>
                            <a:srgbClr val="060606"/>
                          </a:solidFill>
                        </a:rPr>
                        <a:t>3</a:t>
                      </a:r>
                      <a:endParaRPr lang="en-US" altLang="zh-CN" sz="2400" dirty="0">
                        <a:solidFill>
                          <a:srgbClr val="060606"/>
                        </a:solidFill>
                      </a:endParaRPr>
                    </a:p>
                    <a:p>
                      <a:r>
                        <a:rPr lang="en-US" altLang="zh-CN" sz="2400" dirty="0">
                          <a:solidFill>
                            <a:srgbClr val="060606"/>
                          </a:solidFill>
                        </a:rPr>
                        <a:t>1+</a:t>
                      </a:r>
                      <a:r>
                        <a:rPr lang="el-GR" altLang="zh-CN" sz="2400" dirty="0">
                          <a:solidFill>
                            <a:srgbClr val="060606"/>
                          </a:solidFill>
                          <a:ea typeface="宋体"/>
                        </a:rPr>
                        <a:t>ε</a:t>
                      </a:r>
                      <a:endParaRPr lang="en-US" altLang="zh-CN" sz="2400" dirty="0">
                        <a:solidFill>
                          <a:srgbClr val="060606"/>
                        </a:solidFill>
                      </a:endParaRPr>
                    </a:p>
                    <a:p>
                      <a:r>
                        <a:rPr lang="en-US" altLang="zh-CN" sz="2400" dirty="0">
                          <a:solidFill>
                            <a:srgbClr val="060606"/>
                          </a:solidFill>
                        </a:rPr>
                        <a:t>2</a:t>
                      </a:r>
                      <a:r>
                        <a:rPr lang="el-GR" altLang="zh-CN" sz="2400" dirty="0">
                          <a:solidFill>
                            <a:srgbClr val="060606"/>
                          </a:solidFill>
                          <a:ea typeface="宋体"/>
                        </a:rPr>
                        <a:t>ε</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pSp>
        <p:nvGrpSpPr>
          <p:cNvPr id="29" name="组合 28"/>
          <p:cNvGrpSpPr/>
          <p:nvPr/>
        </p:nvGrpSpPr>
        <p:grpSpPr>
          <a:xfrm>
            <a:off x="9679136" y="2132856"/>
            <a:ext cx="1152128" cy="1161420"/>
            <a:chOff x="7596336" y="2132856"/>
            <a:chExt cx="1152128" cy="1161420"/>
          </a:xfrm>
        </p:grpSpPr>
        <p:sp>
          <p:nvSpPr>
            <p:cNvPr id="8" name="矩形 7"/>
            <p:cNvSpPr/>
            <p:nvPr/>
          </p:nvSpPr>
          <p:spPr>
            <a:xfrm>
              <a:off x="7596336" y="2132856"/>
              <a:ext cx="1152128" cy="646331"/>
            </a:xfrm>
            <a:prstGeom prst="rect">
              <a:avLst/>
            </a:prstGeom>
          </p:spPr>
          <p:txBody>
            <a:bodyPr wrap="square">
              <a:spAutoFit/>
            </a:bodyPr>
            <a:lstStyle/>
            <a:p>
              <a:r>
                <a:rPr lang="en-US" altLang="zh-CN" dirty="0">
                  <a:solidFill>
                    <a:srgbClr val="060606"/>
                  </a:solidFill>
                </a:rPr>
                <a:t> (3 + </a:t>
              </a:r>
              <a:r>
                <a:rPr lang="el-GR" altLang="zh-CN" dirty="0">
                  <a:solidFill>
                    <a:srgbClr val="060606"/>
                  </a:solidFill>
                  <a:ea typeface="宋体"/>
                </a:rPr>
                <a:t>ε</a:t>
              </a:r>
              <a:r>
                <a:rPr lang="en-US" altLang="zh-CN" dirty="0">
                  <a:solidFill>
                    <a:srgbClr val="060606"/>
                  </a:solidFill>
                </a:rPr>
                <a:t>) √</a:t>
              </a:r>
              <a:endParaRPr lang="zh-CN" altLang="en-US" dirty="0"/>
            </a:p>
          </p:txBody>
        </p:sp>
        <p:sp>
          <p:nvSpPr>
            <p:cNvPr id="9" name="矩形 8"/>
            <p:cNvSpPr/>
            <p:nvPr/>
          </p:nvSpPr>
          <p:spPr>
            <a:xfrm>
              <a:off x="7596336" y="2564904"/>
              <a:ext cx="1005403" cy="369332"/>
            </a:xfrm>
            <a:prstGeom prst="rect">
              <a:avLst/>
            </a:prstGeom>
          </p:spPr>
          <p:txBody>
            <a:bodyPr wrap="none">
              <a:spAutoFit/>
            </a:bodyPr>
            <a:lstStyle/>
            <a:p>
              <a:r>
                <a:rPr lang="en-US" altLang="zh-CN" dirty="0">
                  <a:solidFill>
                    <a:srgbClr val="060606"/>
                  </a:solidFill>
                </a:rPr>
                <a:t> (4 +2</a:t>
              </a:r>
              <a:r>
                <a:rPr lang="el-GR" altLang="zh-CN" dirty="0">
                  <a:solidFill>
                    <a:srgbClr val="060606"/>
                  </a:solidFill>
                  <a:ea typeface="宋体"/>
                </a:rPr>
                <a:t>ε</a:t>
              </a:r>
              <a:r>
                <a:rPr lang="en-US" altLang="zh-CN" dirty="0">
                  <a:solidFill>
                    <a:srgbClr val="060606"/>
                  </a:solidFill>
                </a:rPr>
                <a:t>) </a:t>
              </a:r>
              <a:endParaRPr lang="zh-CN" altLang="en-US" dirty="0"/>
            </a:p>
          </p:txBody>
        </p:sp>
        <p:sp>
          <p:nvSpPr>
            <p:cNvPr id="10" name="矩形 9"/>
            <p:cNvSpPr/>
            <p:nvPr/>
          </p:nvSpPr>
          <p:spPr>
            <a:xfrm>
              <a:off x="7596336" y="2924944"/>
              <a:ext cx="942887" cy="369332"/>
            </a:xfrm>
            <a:prstGeom prst="rect">
              <a:avLst/>
            </a:prstGeom>
          </p:spPr>
          <p:txBody>
            <a:bodyPr wrap="none">
              <a:spAutoFit/>
            </a:bodyPr>
            <a:lstStyle/>
            <a:p>
              <a:r>
                <a:rPr lang="en-US" altLang="zh-CN" dirty="0">
                  <a:solidFill>
                    <a:srgbClr val="060606"/>
                  </a:solidFill>
                </a:rPr>
                <a:t>(3+ 3</a:t>
              </a:r>
              <a:r>
                <a:rPr lang="el-GR" altLang="zh-CN" dirty="0">
                  <a:solidFill>
                    <a:srgbClr val="060606"/>
                  </a:solidFill>
                  <a:ea typeface="宋体"/>
                </a:rPr>
                <a:t>ε</a:t>
              </a:r>
              <a:r>
                <a:rPr lang="en-US" altLang="zh-CN" dirty="0">
                  <a:solidFill>
                    <a:srgbClr val="060606"/>
                  </a:solidFill>
                </a:rPr>
                <a:t>) </a:t>
              </a:r>
              <a:endParaRPr lang="zh-CN" altLang="en-US" dirty="0"/>
            </a:p>
          </p:txBody>
        </p:sp>
      </p:grpSp>
      <p:graphicFrame>
        <p:nvGraphicFramePr>
          <p:cNvPr id="14" name="表格 13"/>
          <p:cNvGraphicFramePr>
            <a:graphicFrameLocks noGrp="1"/>
          </p:cNvGraphicFramePr>
          <p:nvPr/>
        </p:nvGraphicFramePr>
        <p:xfrm>
          <a:off x="585024" y="4941168"/>
          <a:ext cx="11058336" cy="1554480"/>
        </p:xfrm>
        <a:graphic>
          <a:graphicData uri="http://schemas.openxmlformats.org/drawingml/2006/table">
            <a:tbl>
              <a:tblPr firstRow="1" bandRow="1">
                <a:tableStyleId>{5C22544A-7EE6-4342-B048-85BDC9FD1C3A}</a:tableStyleId>
              </a:tblPr>
              <a:tblGrid>
                <a:gridCol w="581419"/>
                <a:gridCol w="7432343"/>
                <a:gridCol w="3044574"/>
              </a:tblGrid>
              <a:tr h="370840">
                <a:tc>
                  <a:txBody>
                    <a:bodyPr/>
                    <a:lstStyle/>
                    <a:p>
                      <a:pPr algn="r"/>
                      <a:r>
                        <a:rPr lang="en-US" altLang="zh-CN" sz="2400" dirty="0">
                          <a:solidFill>
                            <a:srgbClr val="060606"/>
                          </a:solidFill>
                        </a:rPr>
                        <a:t>-z</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baseline="-250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3</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altLang="zh-CN" sz="2400" dirty="0">
                          <a:solidFill>
                            <a:srgbClr val="060606"/>
                          </a:solidFill>
                        </a:rPr>
                        <a:t>1     </a:t>
                      </a:r>
                      <a:r>
                        <a:rPr lang="en-US" altLang="zh-CN" sz="2400" baseline="0" dirty="0">
                          <a:solidFill>
                            <a:srgbClr val="060606"/>
                          </a:solidFill>
                        </a:rPr>
                        <a:t>    2</a:t>
                      </a:r>
                      <a:r>
                        <a:rPr lang="en-US" altLang="zh-CN" sz="2400" dirty="0">
                          <a:solidFill>
                            <a:srgbClr val="060606"/>
                          </a:solidFill>
                        </a:rPr>
                        <a:t>           0          </a:t>
                      </a:r>
                      <a:r>
                        <a:rPr lang="en-US" altLang="zh-CN" sz="2400" dirty="0" err="1">
                          <a:solidFill>
                            <a:srgbClr val="060606"/>
                          </a:solidFill>
                        </a:rPr>
                        <a:t>0</a:t>
                      </a:r>
                      <a:r>
                        <a:rPr lang="en-US" altLang="zh-CN" sz="2400" dirty="0">
                          <a:solidFill>
                            <a:srgbClr val="060606"/>
                          </a:solidFill>
                        </a:rPr>
                        <a:t>         M      </a:t>
                      </a:r>
                      <a:r>
                        <a:rPr lang="en-US" altLang="zh-CN" sz="2400" baseline="0" dirty="0">
                          <a:solidFill>
                            <a:srgbClr val="060606"/>
                          </a:solidFill>
                        </a:rPr>
                        <a:t> </a:t>
                      </a:r>
                      <a:r>
                        <a:rPr lang="en-US" altLang="zh-CN" sz="2400" dirty="0">
                          <a:solidFill>
                            <a:srgbClr val="060606"/>
                          </a:solidFill>
                        </a:rPr>
                        <a:t>     0        </a:t>
                      </a:r>
                      <a:r>
                        <a:rPr lang="en-US" altLang="zh-CN" sz="2400" baseline="0" dirty="0">
                          <a:solidFill>
                            <a:srgbClr val="060606"/>
                          </a:solidFill>
                        </a:rPr>
                        <a:t> </a:t>
                      </a:r>
                      <a:r>
                        <a:rPr lang="en-US" altLang="zh-CN" sz="2400" dirty="0">
                          <a:solidFill>
                            <a:srgbClr val="060606"/>
                          </a:solidFill>
                        </a:rPr>
                        <a:t>M-1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a:t>
                      </a:r>
                      <a:r>
                        <a:rPr lang="en-US" altLang="zh-CN" sz="2400" baseline="0" dirty="0" err="1">
                          <a:solidFill>
                            <a:srgbClr val="060606"/>
                          </a:solidFill>
                        </a:rPr>
                        <a:t>1</a:t>
                      </a:r>
                      <a:r>
                        <a:rPr lang="en-US" altLang="zh-CN" sz="2400" baseline="0" dirty="0">
                          <a:solidFill>
                            <a:srgbClr val="060606"/>
                          </a:solidFill>
                        </a:rPr>
                        <a:t>          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a:t>
                      </a:r>
                      <a:endParaRPr lang="en-US" altLang="zh-CN" sz="2400" baseline="0" dirty="0">
                        <a:solidFill>
                          <a:srgbClr val="060606"/>
                        </a:solidFill>
                      </a:endParaRPr>
                    </a:p>
                    <a:p>
                      <a:r>
                        <a:rPr lang="en-US" altLang="zh-CN" sz="2400" baseline="0" dirty="0">
                          <a:solidFill>
                            <a:srgbClr val="060606"/>
                          </a:solidFill>
                        </a:rPr>
                        <a:t>0         1           0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-1     </a:t>
                      </a:r>
                      <a:endParaRPr lang="en-US" altLang="zh-CN" sz="2400" baseline="0" dirty="0">
                        <a:solidFill>
                          <a:srgbClr val="060606"/>
                        </a:solidFill>
                      </a:endParaRPr>
                    </a:p>
                    <a:p>
                      <a:r>
                        <a:rPr lang="en-US" altLang="zh-CN" sz="2400" baseline="0" dirty="0">
                          <a:solidFill>
                            <a:srgbClr val="060606"/>
                          </a:solidFill>
                        </a:rPr>
                        <a:t>0         </a:t>
                      </a:r>
                      <a:r>
                        <a:rPr lang="en-US" altLang="zh-CN" sz="2400" baseline="0" dirty="0" err="1">
                          <a:solidFill>
                            <a:srgbClr val="060606"/>
                          </a:solidFill>
                        </a:rPr>
                        <a:t>0</a:t>
                      </a:r>
                      <a:r>
                        <a:rPr lang="en-US" altLang="zh-CN" sz="2400" baseline="0" dirty="0">
                          <a:solidFill>
                            <a:srgbClr val="060606"/>
                          </a:solidFill>
                        </a:rPr>
                        <a:t>           </a:t>
                      </a:r>
                      <a:r>
                        <a:rPr lang="en-US" altLang="zh-CN" sz="2400" baseline="0" dirty="0" err="1">
                          <a:solidFill>
                            <a:srgbClr val="060606"/>
                          </a:solidFill>
                        </a:rPr>
                        <a:t>0</a:t>
                      </a:r>
                      <a:r>
                        <a:rPr lang="en-US" altLang="zh-CN" sz="2400" baseline="0" dirty="0">
                          <a:solidFill>
                            <a:srgbClr val="060606"/>
                          </a:solidFill>
                        </a:rPr>
                        <a:t>          1         -1             0            1</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altLang="zh-CN" sz="2400" dirty="0">
                          <a:solidFill>
                            <a:srgbClr val="060606"/>
                          </a:solidFill>
                        </a:rPr>
                        <a:t>(4M-3)</a:t>
                      </a:r>
                      <a:r>
                        <a:rPr lang="el-GR" altLang="zh-CN" sz="2400" dirty="0">
                          <a:solidFill>
                            <a:srgbClr val="060606"/>
                          </a:solidFill>
                          <a:ea typeface="宋体"/>
                        </a:rPr>
                        <a:t>ε</a:t>
                      </a:r>
                      <a:r>
                        <a:rPr lang="en-US" altLang="zh-CN" sz="2400" dirty="0">
                          <a:solidFill>
                            <a:srgbClr val="060606"/>
                          </a:solidFill>
                        </a:rPr>
                        <a:t>-3</a:t>
                      </a:r>
                      <a:endParaRPr lang="en-US" altLang="zh-CN" sz="2400" dirty="0">
                        <a:solidFill>
                          <a:srgbClr val="060606"/>
                        </a:solidFill>
                      </a:endParaRPr>
                    </a:p>
                    <a:p>
                      <a:r>
                        <a:rPr lang="en-US" altLang="zh-CN" sz="2400" dirty="0">
                          <a:solidFill>
                            <a:srgbClr val="060606"/>
                          </a:solidFill>
                        </a:rPr>
                        <a:t>3</a:t>
                      </a:r>
                      <a:endParaRPr lang="en-US" altLang="zh-CN" sz="2400" dirty="0">
                        <a:solidFill>
                          <a:srgbClr val="060606"/>
                        </a:solidFill>
                      </a:endParaRPr>
                    </a:p>
                    <a:p>
                      <a:r>
                        <a:rPr lang="en-US" altLang="zh-CN" sz="2400" dirty="0">
                          <a:solidFill>
                            <a:srgbClr val="060606"/>
                          </a:solidFill>
                        </a:rPr>
                        <a:t>1-</a:t>
                      </a:r>
                      <a:r>
                        <a:rPr lang="el-GR" altLang="zh-CN" sz="2400" dirty="0">
                          <a:solidFill>
                            <a:srgbClr val="060606"/>
                          </a:solidFill>
                          <a:ea typeface="宋体"/>
                        </a:rPr>
                        <a:t>ε</a:t>
                      </a:r>
                      <a:endParaRPr lang="en-US" altLang="zh-CN" sz="2400" dirty="0">
                        <a:solidFill>
                          <a:srgbClr val="060606"/>
                        </a:solidFill>
                      </a:endParaRPr>
                    </a:p>
                    <a:p>
                      <a:r>
                        <a:rPr lang="en-US" altLang="zh-CN" sz="2400" dirty="0">
                          <a:solidFill>
                            <a:srgbClr val="060606"/>
                          </a:solidFill>
                        </a:rPr>
                        <a:t>2</a:t>
                      </a:r>
                      <a:r>
                        <a:rPr lang="el-GR" altLang="zh-CN" sz="2400" dirty="0">
                          <a:solidFill>
                            <a:srgbClr val="060606"/>
                          </a:solidFill>
                          <a:ea typeface="宋体"/>
                        </a:rPr>
                        <a:t>ε</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r>
            </a:tbl>
          </a:graphicData>
        </a:graphic>
      </p:graphicFrame>
      <p:sp>
        <p:nvSpPr>
          <p:cNvPr id="23" name="TextBox 22"/>
          <p:cNvSpPr txBox="1"/>
          <p:nvPr/>
        </p:nvSpPr>
        <p:spPr>
          <a:xfrm>
            <a:off x="1449120" y="5499229"/>
            <a:ext cx="6048672" cy="954107"/>
          </a:xfrm>
          <a:prstGeom prst="rect">
            <a:avLst/>
          </a:prstGeom>
          <a:solidFill>
            <a:schemeClr val="bg1"/>
          </a:solidFill>
        </p:spPr>
        <p:txBody>
          <a:bodyPr wrap="square" rtlCol="0">
            <a:spAutoFit/>
          </a:bodyPr>
          <a:lstStyle/>
          <a:p>
            <a:r>
              <a:rPr lang="zh-CN" altLang="en-US" sz="2800" b="1" dirty="0">
                <a:solidFill>
                  <a:srgbClr val="FF0000"/>
                </a:solidFill>
              </a:rPr>
              <a:t>令</a:t>
            </a:r>
            <a:r>
              <a:rPr lang="el-GR" altLang="zh-CN" sz="2800" b="1" dirty="0">
                <a:solidFill>
                  <a:srgbClr val="FF0000"/>
                </a:solidFill>
                <a:ea typeface="宋体"/>
              </a:rPr>
              <a:t>ε</a:t>
            </a:r>
            <a:r>
              <a:rPr lang="en-US" altLang="zh-CN" sz="2800" b="1" dirty="0">
                <a:solidFill>
                  <a:srgbClr val="FF0000"/>
                </a:solidFill>
                <a:ea typeface="宋体"/>
              </a:rPr>
              <a:t> = 0</a:t>
            </a:r>
            <a:r>
              <a:rPr lang="zh-CN" altLang="en-US" sz="2800" dirty="0">
                <a:solidFill>
                  <a:srgbClr val="00000C"/>
                </a:solidFill>
                <a:ea typeface="宋体"/>
              </a:rPr>
              <a:t>，</a:t>
            </a:r>
            <a:r>
              <a:rPr lang="zh-CN" altLang="en-US" sz="2800" dirty="0">
                <a:solidFill>
                  <a:srgbClr val="00000C"/>
                </a:solidFill>
              </a:rPr>
              <a:t>得解：</a:t>
            </a:r>
            <a:r>
              <a:rPr lang="en-US" altLang="zh-CN" sz="2800" b="1" dirty="0">
                <a:solidFill>
                  <a:srgbClr val="00000C"/>
                </a:solidFill>
                <a:latin typeface="+mn-ea"/>
              </a:rPr>
              <a:t>x</a:t>
            </a:r>
            <a:r>
              <a:rPr lang="en-US" altLang="zh-CN" sz="2800" dirty="0">
                <a:solidFill>
                  <a:srgbClr val="00000C"/>
                </a:solidFill>
                <a:latin typeface="+mn-ea"/>
              </a:rPr>
              <a:t> = (0,3,0,0,1,0)</a:t>
            </a:r>
            <a:r>
              <a:rPr lang="zh-CN" altLang="en-US" sz="2800" dirty="0">
                <a:solidFill>
                  <a:srgbClr val="00000C"/>
                </a:solidFill>
                <a:latin typeface="+mn-ea"/>
              </a:rPr>
              <a:t>，人工变量 </a:t>
            </a:r>
            <a:r>
              <a:rPr lang="en-US" altLang="zh-CN" sz="2800" dirty="0">
                <a:solidFill>
                  <a:srgbClr val="00000C"/>
                </a:solidFill>
                <a:latin typeface="+mn-ea"/>
              </a:rPr>
              <a:t>= 0</a:t>
            </a:r>
            <a:r>
              <a:rPr lang="zh-CN" altLang="en-US" sz="2800" dirty="0">
                <a:solidFill>
                  <a:srgbClr val="00000C"/>
                </a:solidFill>
                <a:latin typeface="+mn-ea"/>
              </a:rPr>
              <a:t>；</a:t>
            </a:r>
            <a:r>
              <a:rPr lang="en-US" altLang="zh-CN" sz="2800" dirty="0" err="1">
                <a:solidFill>
                  <a:srgbClr val="00000C"/>
                </a:solidFill>
                <a:latin typeface="+mn-ea"/>
              </a:rPr>
              <a:t>minz</a:t>
            </a:r>
            <a:r>
              <a:rPr lang="en-US" altLang="zh-CN" sz="2800" dirty="0">
                <a:solidFill>
                  <a:srgbClr val="00000C"/>
                </a:solidFill>
                <a:latin typeface="+mn-ea"/>
              </a:rPr>
              <a:t> = 3</a:t>
            </a:r>
            <a:r>
              <a:rPr lang="zh-CN" altLang="en-US" sz="2800" dirty="0">
                <a:solidFill>
                  <a:srgbClr val="00000C"/>
                </a:solidFill>
                <a:latin typeface="+mn-ea"/>
              </a:rPr>
              <a:t>。</a:t>
            </a:r>
            <a:endParaRPr lang="zh-CN" altLang="en-US" sz="2800" dirty="0">
              <a:solidFill>
                <a:srgbClr val="00000C"/>
              </a:solidFill>
            </a:endParaRPr>
          </a:p>
        </p:txBody>
      </p:sp>
      <p:grpSp>
        <p:nvGrpSpPr>
          <p:cNvPr id="28" name="组合 27"/>
          <p:cNvGrpSpPr/>
          <p:nvPr/>
        </p:nvGrpSpPr>
        <p:grpSpPr>
          <a:xfrm>
            <a:off x="8839200" y="1412776"/>
            <a:ext cx="2292578" cy="1927324"/>
            <a:chOff x="6756400" y="1412776"/>
            <a:chExt cx="2292578" cy="1927324"/>
          </a:xfrm>
        </p:grpSpPr>
        <p:sp>
          <p:nvSpPr>
            <p:cNvPr id="25" name="任意多边形 24"/>
            <p:cNvSpPr/>
            <p:nvPr/>
          </p:nvSpPr>
          <p:spPr bwMode="auto">
            <a:xfrm>
              <a:off x="6756400" y="2159000"/>
              <a:ext cx="787400" cy="1181100"/>
            </a:xfrm>
            <a:custGeom>
              <a:avLst/>
              <a:gdLst>
                <a:gd name="connsiteX0" fmla="*/ 0 w 787400"/>
                <a:gd name="connsiteY0" fmla="*/ 0 h 1181100"/>
                <a:gd name="connsiteX1" fmla="*/ 0 w 787400"/>
                <a:gd name="connsiteY1" fmla="*/ 1181100 h 1181100"/>
                <a:gd name="connsiteX2" fmla="*/ 762000 w 787400"/>
                <a:gd name="connsiteY2" fmla="*/ 1117600 h 1181100"/>
                <a:gd name="connsiteX3" fmla="*/ 787400 w 787400"/>
                <a:gd name="connsiteY3" fmla="*/ 0 h 1181100"/>
                <a:gd name="connsiteX4" fmla="*/ 0 w 787400"/>
                <a:gd name="connsiteY4" fmla="*/ 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7400" h="1181100">
                  <a:moveTo>
                    <a:pt x="0" y="0"/>
                  </a:moveTo>
                  <a:lnTo>
                    <a:pt x="0" y="1181100"/>
                  </a:lnTo>
                  <a:lnTo>
                    <a:pt x="762000" y="1117600"/>
                  </a:lnTo>
                  <a:lnTo>
                    <a:pt x="787400" y="0"/>
                  </a:lnTo>
                  <a:lnTo>
                    <a:pt x="0" y="0"/>
                  </a:lnTo>
                  <a:close/>
                </a:path>
              </a:pathLst>
            </a:custGeom>
            <a:no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7" name="矩形 26"/>
            <p:cNvSpPr/>
            <p:nvPr/>
          </p:nvSpPr>
          <p:spPr>
            <a:xfrm>
              <a:off x="7596336" y="1412776"/>
              <a:ext cx="1452642" cy="646331"/>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l-GR" altLang="zh-CN" sz="3600" b="1" dirty="0">
                  <a:solidFill>
                    <a:srgbClr val="FF0000"/>
                  </a:solidFill>
                  <a:ea typeface="宋体"/>
                </a:rPr>
                <a:t>ε</a:t>
              </a:r>
              <a:r>
                <a:rPr lang="en-US" altLang="zh-CN" sz="3600" b="1" dirty="0">
                  <a:solidFill>
                    <a:srgbClr val="FF0000"/>
                  </a:solidFill>
                  <a:ea typeface="宋体"/>
                </a:rPr>
                <a:t> -&gt; 0</a:t>
              </a:r>
              <a:endParaRPr lang="zh-CN" altLang="en-US" sz="3600" dirty="0"/>
            </a:p>
          </p:txBody>
        </p:sp>
      </p:grpSp>
      <p:grpSp>
        <p:nvGrpSpPr>
          <p:cNvPr id="36" name="组合 35"/>
          <p:cNvGrpSpPr/>
          <p:nvPr/>
        </p:nvGrpSpPr>
        <p:grpSpPr>
          <a:xfrm>
            <a:off x="7684224" y="3645024"/>
            <a:ext cx="936104" cy="1089412"/>
            <a:chOff x="7308304" y="3728770"/>
            <a:chExt cx="936104" cy="1089412"/>
          </a:xfrm>
        </p:grpSpPr>
        <p:sp>
          <p:nvSpPr>
            <p:cNvPr id="32" name="TextBox 31"/>
            <p:cNvSpPr txBox="1"/>
            <p:nvPr/>
          </p:nvSpPr>
          <p:spPr>
            <a:xfrm>
              <a:off x="7308304" y="3728770"/>
              <a:ext cx="936104" cy="369332"/>
            </a:xfrm>
            <a:prstGeom prst="rect">
              <a:avLst/>
            </a:prstGeom>
            <a:noFill/>
          </p:spPr>
          <p:txBody>
            <a:bodyPr wrap="square" rtlCol="0">
              <a:spAutoFit/>
            </a:bodyPr>
            <a:lstStyle/>
            <a:p>
              <a:r>
                <a:rPr lang="en-US" altLang="zh-CN" dirty="0"/>
                <a:t>-3</a:t>
              </a:r>
              <a:endParaRPr lang="zh-CN" altLang="en-US" dirty="0"/>
            </a:p>
          </p:txBody>
        </p:sp>
        <p:sp>
          <p:nvSpPr>
            <p:cNvPr id="33" name="TextBox 32"/>
            <p:cNvSpPr txBox="1"/>
            <p:nvPr/>
          </p:nvSpPr>
          <p:spPr>
            <a:xfrm>
              <a:off x="7308304" y="4088810"/>
              <a:ext cx="936104" cy="369332"/>
            </a:xfrm>
            <a:prstGeom prst="rect">
              <a:avLst/>
            </a:prstGeom>
            <a:noFill/>
          </p:spPr>
          <p:txBody>
            <a:bodyPr wrap="square" rtlCol="0">
              <a:spAutoFit/>
            </a:bodyPr>
            <a:lstStyle/>
            <a:p>
              <a:r>
                <a:rPr lang="en-US" altLang="zh-CN" dirty="0"/>
                <a:t>1+</a:t>
              </a:r>
              <a:r>
                <a:rPr lang="el-GR" altLang="zh-CN" dirty="0">
                  <a:ea typeface="宋体"/>
                </a:rPr>
                <a:t>ε</a:t>
              </a:r>
              <a:endParaRPr lang="zh-CN" altLang="en-US" dirty="0"/>
            </a:p>
          </p:txBody>
        </p:sp>
        <p:sp>
          <p:nvSpPr>
            <p:cNvPr id="34" name="TextBox 33"/>
            <p:cNvSpPr txBox="1"/>
            <p:nvPr/>
          </p:nvSpPr>
          <p:spPr>
            <a:xfrm>
              <a:off x="7308304" y="4448850"/>
              <a:ext cx="936104" cy="369332"/>
            </a:xfrm>
            <a:prstGeom prst="rect">
              <a:avLst/>
            </a:prstGeom>
            <a:noFill/>
          </p:spPr>
          <p:txBody>
            <a:bodyPr wrap="square" rtlCol="0">
              <a:spAutoFit/>
            </a:bodyPr>
            <a:lstStyle/>
            <a:p>
              <a:r>
                <a:rPr lang="en-US" altLang="zh-CN" dirty="0"/>
                <a:t>2</a:t>
              </a:r>
              <a:r>
                <a:rPr lang="el-GR" altLang="zh-CN" dirty="0">
                  <a:ea typeface="宋体"/>
                </a:rPr>
                <a:t>ε</a:t>
              </a:r>
              <a:r>
                <a:rPr lang="en-US" altLang="zh-CN" dirty="0">
                  <a:ea typeface="宋体"/>
                </a:rPr>
                <a:t>   √</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无穷多最优解</a:t>
            </a:r>
            <a:endParaRPr lang="zh-CN" altLang="en-US" dirty="0"/>
          </a:p>
        </p:txBody>
      </p:sp>
      <p:sp>
        <p:nvSpPr>
          <p:cNvPr id="3" name="文本占位符 2"/>
          <p:cNvSpPr>
            <a:spLocks noGrp="1"/>
          </p:cNvSpPr>
          <p:nvPr>
            <p:ph type="body" idx="1"/>
          </p:nvPr>
        </p:nvSpPr>
        <p:spPr/>
        <p:txBody>
          <a:bodyPr/>
          <a:lstStyle/>
          <a:p>
            <a:r>
              <a:rPr lang="zh-CN" altLang="en-US" dirty="0">
                <a:solidFill>
                  <a:srgbClr val="0322BD"/>
                </a:solidFill>
              </a:rPr>
              <a:t>对于单纯形表有多个最优解的检测方法。</a:t>
            </a:r>
            <a:endParaRPr lang="zh-CN" altLang="en-US" dirty="0">
              <a:solidFill>
                <a:srgbClr val="0322BD"/>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t>对于单纯形表有多个最优解的检测方法：</a:t>
            </a:r>
            <a:endParaRPr lang="zh-CN" altLang="en-US" sz="3200" dirty="0"/>
          </a:p>
        </p:txBody>
      </p:sp>
      <p:sp>
        <p:nvSpPr>
          <p:cNvPr id="3" name="内容占位符 2"/>
          <p:cNvSpPr>
            <a:spLocks noGrp="1"/>
          </p:cNvSpPr>
          <p:nvPr>
            <p:ph idx="1"/>
          </p:nvPr>
        </p:nvSpPr>
        <p:spPr/>
        <p:txBody>
          <a:bodyPr/>
          <a:lstStyle/>
          <a:p>
            <a:pPr>
              <a:buNone/>
            </a:pPr>
            <a:r>
              <a:rPr lang="zh-CN" altLang="en-US" sz="3200" dirty="0">
                <a:solidFill>
                  <a:srgbClr val="00000C"/>
                </a:solidFill>
              </a:rPr>
              <a:t>观察最后一个单纯形表的行</a:t>
            </a:r>
            <a:r>
              <a:rPr lang="en-US" altLang="zh-CN" sz="3200" dirty="0">
                <a:solidFill>
                  <a:srgbClr val="00000C"/>
                </a:solidFill>
              </a:rPr>
              <a:t>0</a:t>
            </a:r>
            <a:r>
              <a:rPr lang="zh-CN" altLang="en-US" sz="3200" dirty="0">
                <a:solidFill>
                  <a:srgbClr val="00000C"/>
                </a:solidFill>
              </a:rPr>
              <a:t>，如存在至少有一个非基变量的系数为</a:t>
            </a:r>
            <a:r>
              <a:rPr lang="en-US" altLang="zh-CN" sz="3200" dirty="0">
                <a:solidFill>
                  <a:srgbClr val="00000C"/>
                </a:solidFill>
              </a:rPr>
              <a:t>0</a:t>
            </a:r>
            <a:r>
              <a:rPr lang="zh-CN" altLang="en-US" sz="3200" dirty="0">
                <a:solidFill>
                  <a:srgbClr val="00000C"/>
                </a:solidFill>
              </a:rPr>
              <a:t>，则可知：增加任何一个这类变量的值不会改变</a:t>
            </a:r>
            <a:r>
              <a:rPr lang="en-US" altLang="zh-CN" sz="3200" dirty="0">
                <a:solidFill>
                  <a:srgbClr val="00000C"/>
                </a:solidFill>
              </a:rPr>
              <a:t>z</a:t>
            </a:r>
            <a:r>
              <a:rPr lang="zh-CN" altLang="en-US" sz="3200" dirty="0">
                <a:solidFill>
                  <a:srgbClr val="00000C"/>
                </a:solidFill>
              </a:rPr>
              <a:t>的值。此时，选择一个</a:t>
            </a:r>
            <a:r>
              <a:rPr lang="en-US" altLang="zh-CN" sz="3200" dirty="0">
                <a:solidFill>
                  <a:srgbClr val="00000C"/>
                </a:solidFill>
              </a:rPr>
              <a:t>0</a:t>
            </a:r>
            <a:r>
              <a:rPr lang="zh-CN" altLang="en-US" sz="3200" dirty="0">
                <a:solidFill>
                  <a:srgbClr val="00000C"/>
                </a:solidFill>
              </a:rPr>
              <a:t>系数的非基变量作为换入变量，即可得到另一个最优解。</a:t>
            </a:r>
            <a:endParaRPr lang="zh-CN" altLang="en-US" sz="3200" dirty="0">
              <a:solidFill>
                <a:srgbClr val="00000C"/>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874650" y="1043464"/>
          <a:ext cx="10595991" cy="4023360"/>
        </p:xfrm>
        <a:graphic>
          <a:graphicData uri="http://schemas.openxmlformats.org/drawingml/2006/table">
            <a:tbl>
              <a:tblPr bandRow="1">
                <a:tableStyleId>{5C22544A-7EE6-4342-B048-85BDC9FD1C3A}</a:tableStyleId>
              </a:tblPr>
              <a:tblGrid>
                <a:gridCol w="4203368"/>
                <a:gridCol w="5384947"/>
                <a:gridCol w="1007676"/>
              </a:tblGrid>
              <a:tr h="442660">
                <a:tc rowSpan="2">
                  <a:txBody>
                    <a:bodyPr/>
                    <a:lstStyle/>
                    <a:p>
                      <a:r>
                        <a:rPr lang="zh-CN" altLang="en-US" dirty="0">
                          <a:ln>
                            <a:solidFill>
                              <a:srgbClr val="00000C"/>
                            </a:solidFill>
                          </a:ln>
                          <a:solidFill>
                            <a:srgbClr val="060606"/>
                          </a:solidFill>
                        </a:rPr>
                        <a:t>方程组                             基变量  </a:t>
                      </a:r>
                      <a:r>
                        <a:rPr lang="en-US" altLang="zh-CN" dirty="0">
                          <a:ln>
                            <a:solidFill>
                              <a:srgbClr val="00000C"/>
                            </a:solidFill>
                          </a:ln>
                          <a:solidFill>
                            <a:srgbClr val="060606"/>
                          </a:solidFill>
                        </a:rPr>
                        <a:t>Eq.</a:t>
                      </a:r>
                      <a:endParaRPr lang="en-US" altLang="zh-CN" dirty="0">
                        <a:ln>
                          <a:solidFill>
                            <a:srgbClr val="00000C"/>
                          </a:solidFill>
                        </a:ln>
                        <a:solidFill>
                          <a:srgbClr val="060606"/>
                        </a:solidFill>
                      </a:endParaRPr>
                    </a:p>
                    <a:p>
                      <a:r>
                        <a:rPr lang="en-US" altLang="zh-CN" dirty="0">
                          <a:ln>
                            <a:solidFill>
                              <a:srgbClr val="00000C"/>
                            </a:solidFill>
                          </a:ln>
                          <a:solidFill>
                            <a:srgbClr val="060606"/>
                          </a:solidFill>
                        </a:rPr>
                        <a:t>                                              BV.</a:t>
                      </a:r>
                      <a:r>
                        <a:rPr lang="zh-CN" altLang="en-US" dirty="0">
                          <a:ln>
                            <a:solidFill>
                              <a:srgbClr val="00000C"/>
                            </a:solidFill>
                          </a:ln>
                          <a:solidFill>
                            <a:srgbClr val="060606"/>
                          </a:solidFill>
                        </a:rPr>
                        <a:t>     </a:t>
                      </a:r>
                      <a:endParaRPr lang="zh-CN" altLang="en-US"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pPr algn="ctr"/>
                      <a:r>
                        <a:rPr lang="zh-CN" altLang="en-US" sz="2400" dirty="0">
                          <a:ln>
                            <a:solidFill>
                              <a:srgbClr val="00000C"/>
                            </a:solidFill>
                          </a:ln>
                          <a:solidFill>
                            <a:srgbClr val="060606"/>
                          </a:solidFill>
                        </a:rPr>
                        <a:t>系数</a:t>
                      </a:r>
                      <a:endParaRPr lang="zh-CN" altLang="en-US"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rowSpan="2">
                  <a:txBody>
                    <a:bodyPr/>
                    <a:lstStyle/>
                    <a:p>
                      <a:r>
                        <a:rPr lang="zh-CN" altLang="en-US" dirty="0">
                          <a:ln>
                            <a:solidFill>
                              <a:srgbClr val="00000C"/>
                            </a:solidFill>
                          </a:ln>
                          <a:solidFill>
                            <a:srgbClr val="060606"/>
                          </a:solidFill>
                        </a:rPr>
                        <a:t>右端 </a:t>
                      </a:r>
                      <a:r>
                        <a:rPr lang="en-US" altLang="zh-CN" dirty="0">
                          <a:ln>
                            <a:solidFill>
                              <a:srgbClr val="00000C"/>
                            </a:solidFill>
                          </a:ln>
                          <a:solidFill>
                            <a:srgbClr val="060606"/>
                          </a:solidFill>
                        </a:rPr>
                        <a:t>(</a:t>
                      </a:r>
                      <a:r>
                        <a:rPr lang="zh-CN" altLang="en-US" dirty="0">
                          <a:ln>
                            <a:solidFill>
                              <a:srgbClr val="00000C"/>
                            </a:solidFill>
                          </a:ln>
                          <a:solidFill>
                            <a:srgbClr val="060606"/>
                          </a:solidFill>
                        </a:rPr>
                        <a:t>比值</a:t>
                      </a:r>
                      <a:r>
                        <a:rPr lang="en-US" altLang="zh-CN" dirty="0">
                          <a:ln>
                            <a:solidFill>
                              <a:srgbClr val="00000C"/>
                            </a:solidFill>
                          </a:ln>
                          <a:solidFill>
                            <a:srgbClr val="060606"/>
                          </a:solidFill>
                        </a:rPr>
                        <a:t>)</a:t>
                      </a:r>
                      <a:endParaRPr lang="zh-CN" altLang="en-US"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44266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60606"/>
                          </a:solidFill>
                        </a:rPr>
                        <a:t>Z</a:t>
                      </a:r>
                      <a:r>
                        <a:rPr lang="zh-CN" altLang="en-US" sz="2400" baseline="0" dirty="0">
                          <a:ln>
                            <a:solidFill>
                              <a:srgbClr val="00000C"/>
                            </a:solidFill>
                          </a:ln>
                          <a:solidFill>
                            <a:srgbClr val="060606"/>
                          </a:solidFill>
                        </a:rPr>
                        <a:t>        </a:t>
                      </a:r>
                      <a:r>
                        <a:rPr lang="en-US" altLang="zh-CN" sz="2400" baseline="0" dirty="0">
                          <a:ln>
                            <a:solidFill>
                              <a:srgbClr val="00000C"/>
                            </a:solidFill>
                          </a:ln>
                          <a:solidFill>
                            <a:srgbClr val="060606"/>
                          </a:solidFill>
                        </a:rPr>
                        <a:t>x1      x2     x3      x4      x5</a:t>
                      </a:r>
                      <a:endParaRPr lang="en-US" altLang="zh-CN"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0</a:t>
                      </a:r>
                      <a:r>
                        <a:rPr lang="zh-CN" altLang="en-US" sz="2400" dirty="0">
                          <a:solidFill>
                            <a:srgbClr val="FF0000"/>
                          </a:solidFill>
                        </a:rPr>
                        <a:t>） </a:t>
                      </a:r>
                      <a:r>
                        <a:rPr lang="en-US" altLang="zh-CN" sz="2400" dirty="0">
                          <a:solidFill>
                            <a:srgbClr val="FF0000"/>
                          </a:solidFill>
                        </a:rPr>
                        <a:t>z</a:t>
                      </a:r>
                      <a:r>
                        <a:rPr lang="zh-CN" altLang="en-US" sz="2400" dirty="0">
                          <a:solidFill>
                            <a:srgbClr val="FF0000"/>
                          </a:solidFill>
                        </a:rPr>
                        <a:t>－</a:t>
                      </a:r>
                      <a:r>
                        <a:rPr lang="en-US" altLang="zh-CN" sz="2400" dirty="0">
                          <a:solidFill>
                            <a:srgbClr val="FF0000"/>
                          </a:solidFill>
                        </a:rPr>
                        <a:t>3x</a:t>
                      </a:r>
                      <a:r>
                        <a:rPr lang="en-US" altLang="zh-CN" sz="2400" baseline="-25000" dirty="0">
                          <a:solidFill>
                            <a:srgbClr val="FF0000"/>
                          </a:solidFill>
                        </a:rPr>
                        <a:t>1</a:t>
                      </a:r>
                      <a:r>
                        <a:rPr lang="en-US" altLang="zh-CN" sz="2400" dirty="0">
                          <a:solidFill>
                            <a:srgbClr val="FF0000"/>
                          </a:solidFill>
                        </a:rPr>
                        <a:t> </a:t>
                      </a:r>
                      <a:r>
                        <a:rPr lang="zh-CN" altLang="en-US" sz="2400" dirty="0">
                          <a:solidFill>
                            <a:srgbClr val="FF0000"/>
                          </a:solidFill>
                        </a:rPr>
                        <a:t>－ </a:t>
                      </a:r>
                      <a:r>
                        <a:rPr lang="en-US" altLang="zh-CN" sz="2400" dirty="0">
                          <a:solidFill>
                            <a:srgbClr val="FF0000"/>
                          </a:solidFill>
                        </a:rPr>
                        <a:t>2x</a:t>
                      </a:r>
                      <a:r>
                        <a:rPr lang="en-US" altLang="zh-CN" sz="2400" baseline="-25000" dirty="0">
                          <a:solidFill>
                            <a:srgbClr val="FF0000"/>
                          </a:solidFill>
                        </a:rPr>
                        <a:t>2</a:t>
                      </a:r>
                      <a:r>
                        <a:rPr lang="en-US" altLang="zh-CN" sz="2400" dirty="0">
                          <a:solidFill>
                            <a:srgbClr val="FF0000"/>
                          </a:solidFill>
                        </a:rPr>
                        <a:t> = 0  z    (0)</a:t>
                      </a:r>
                      <a:endParaRPr lang="en-US" altLang="zh-CN" sz="24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4                x</a:t>
                      </a:r>
                      <a:r>
                        <a:rPr lang="en-US" altLang="zh-CN" sz="2400" baseline="-25000" dirty="0">
                          <a:solidFill>
                            <a:srgbClr val="060606"/>
                          </a:solidFill>
                        </a:rPr>
                        <a:t>3</a:t>
                      </a:r>
                      <a:r>
                        <a:rPr lang="en-US" altLang="zh-CN" sz="2400" baseline="0" dirty="0">
                          <a:solidFill>
                            <a:srgbClr val="060606"/>
                          </a:solidFill>
                        </a:rPr>
                        <a:t>  (1)</a:t>
                      </a:r>
                      <a:endParaRPr lang="en-US" altLang="zh-CN" sz="24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2</a:t>
                      </a:r>
                      <a:r>
                        <a:rPr lang="zh-CN" altLang="en-US" sz="2400" dirty="0">
                          <a:solidFill>
                            <a:srgbClr val="060606"/>
                          </a:solidFill>
                        </a:rPr>
                        <a:t>）</a:t>
                      </a:r>
                      <a:r>
                        <a:rPr lang="en-US" altLang="zh-CN" sz="2400" dirty="0">
                          <a:solidFill>
                            <a:srgbClr val="060606"/>
                          </a:solidFill>
                        </a:rPr>
                        <a:t> 2x</a:t>
                      </a:r>
                      <a:r>
                        <a:rPr lang="en-US" altLang="zh-CN" sz="2400" baseline="-25000" dirty="0">
                          <a:solidFill>
                            <a:srgbClr val="060606"/>
                          </a:solidFill>
                        </a:rPr>
                        <a:t>2</a:t>
                      </a:r>
                      <a:r>
                        <a:rPr lang="en-US" altLang="zh-CN" sz="2400" dirty="0">
                          <a:solidFill>
                            <a:srgbClr val="060606"/>
                          </a:solidFill>
                        </a:rPr>
                        <a:t>  +x</a:t>
                      </a:r>
                      <a:r>
                        <a:rPr lang="en-US" altLang="zh-CN" sz="2400" baseline="-25000" dirty="0">
                          <a:solidFill>
                            <a:srgbClr val="060606"/>
                          </a:solidFill>
                        </a:rPr>
                        <a:t>4</a:t>
                      </a:r>
                      <a:r>
                        <a:rPr lang="en-US" altLang="zh-CN" sz="2400" dirty="0">
                          <a:solidFill>
                            <a:srgbClr val="060606"/>
                          </a:solidFill>
                        </a:rPr>
                        <a:t> =12           x</a:t>
                      </a:r>
                      <a:r>
                        <a:rPr lang="en-US" altLang="zh-CN" sz="2400" baseline="-25000" dirty="0">
                          <a:solidFill>
                            <a:srgbClr val="060606"/>
                          </a:solidFill>
                        </a:rPr>
                        <a:t>4</a:t>
                      </a:r>
                      <a:r>
                        <a:rPr lang="en-US" altLang="zh-CN" sz="2400" baseline="0" dirty="0">
                          <a:solidFill>
                            <a:srgbClr val="060606"/>
                          </a:solidFill>
                        </a:rPr>
                        <a:t>  (2)</a:t>
                      </a:r>
                      <a:endParaRPr lang="en-US" altLang="zh-CN" sz="24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3</a:t>
                      </a:r>
                      <a:r>
                        <a:rPr lang="zh-CN" altLang="en-US" sz="2400" dirty="0">
                          <a:solidFill>
                            <a:srgbClr val="060606"/>
                          </a:solidFill>
                        </a:rPr>
                        <a:t>）</a:t>
                      </a:r>
                      <a:r>
                        <a:rPr lang="en-US" altLang="zh-CN" sz="2400" dirty="0">
                          <a:solidFill>
                            <a:srgbClr val="060606"/>
                          </a:solidFill>
                        </a:rPr>
                        <a:t> 3x</a:t>
                      </a:r>
                      <a:r>
                        <a:rPr lang="en-US" altLang="zh-CN" sz="2400" baseline="-25000" dirty="0">
                          <a:solidFill>
                            <a:srgbClr val="060606"/>
                          </a:solidFill>
                        </a:rPr>
                        <a:t>1</a:t>
                      </a:r>
                      <a:r>
                        <a:rPr lang="en-US" altLang="zh-CN" sz="2400" dirty="0">
                          <a:solidFill>
                            <a:srgbClr val="060606"/>
                          </a:solidFill>
                        </a:rPr>
                        <a:t>+2x</a:t>
                      </a:r>
                      <a:r>
                        <a:rPr lang="en-US" altLang="zh-CN" sz="2400" baseline="-25000" dirty="0">
                          <a:solidFill>
                            <a:srgbClr val="060606"/>
                          </a:solidFill>
                        </a:rPr>
                        <a:t>2</a:t>
                      </a:r>
                      <a:r>
                        <a:rPr lang="en-US" altLang="zh-CN" sz="2400" dirty="0">
                          <a:solidFill>
                            <a:srgbClr val="060606"/>
                          </a:solidFill>
                        </a:rPr>
                        <a:t> + x</a:t>
                      </a:r>
                      <a:r>
                        <a:rPr lang="en-US" altLang="zh-CN" sz="2400" baseline="-25000" dirty="0">
                          <a:solidFill>
                            <a:srgbClr val="060606"/>
                          </a:solidFill>
                        </a:rPr>
                        <a:t>5 </a:t>
                      </a:r>
                      <a:r>
                        <a:rPr lang="en-US" altLang="zh-CN" sz="2400" dirty="0">
                          <a:solidFill>
                            <a:srgbClr val="060606"/>
                          </a:solidFill>
                        </a:rPr>
                        <a:t> = 18  x</a:t>
                      </a:r>
                      <a:r>
                        <a:rPr lang="en-US" altLang="zh-CN" sz="2400" baseline="-25000" dirty="0">
                          <a:solidFill>
                            <a:srgbClr val="060606"/>
                          </a:solidFill>
                        </a:rPr>
                        <a:t>5</a:t>
                      </a:r>
                      <a:r>
                        <a:rPr lang="en-US" altLang="zh-CN" sz="2400" baseline="0" dirty="0">
                          <a:solidFill>
                            <a:srgbClr val="060606"/>
                          </a:solidFill>
                        </a:rPr>
                        <a:t>  (3)</a:t>
                      </a:r>
                      <a:endParaRPr lang="zh-CN" altLang="en-US" sz="24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0000C"/>
                          </a:solidFill>
                        </a:rPr>
                        <a:t>1        -3      -2      0        </a:t>
                      </a:r>
                      <a:r>
                        <a:rPr lang="en-US" altLang="zh-CN" sz="2400" dirty="0" err="1">
                          <a:ln>
                            <a:solidFill>
                              <a:srgbClr val="00000C"/>
                            </a:solidFill>
                          </a:ln>
                          <a:solidFill>
                            <a:srgbClr val="00000C"/>
                          </a:solidFill>
                        </a:rPr>
                        <a:t>0</a:t>
                      </a:r>
                      <a:r>
                        <a:rPr lang="en-US" altLang="zh-CN" sz="2400" dirty="0">
                          <a:ln>
                            <a:solidFill>
                              <a:srgbClr val="00000C"/>
                            </a:solidFill>
                          </a:ln>
                          <a:solidFill>
                            <a:srgbClr val="00000C"/>
                          </a:solidFill>
                        </a:rPr>
                        <a:t>        </a:t>
                      </a:r>
                      <a:r>
                        <a:rPr lang="en-US" altLang="zh-CN" sz="2400" dirty="0" err="1">
                          <a:ln>
                            <a:solidFill>
                              <a:srgbClr val="00000C"/>
                            </a:solidFill>
                          </a:ln>
                          <a:solidFill>
                            <a:srgbClr val="00000C"/>
                          </a:solidFill>
                        </a:rPr>
                        <a:t>0</a:t>
                      </a:r>
                      <a:endParaRPr lang="en-US" altLang="zh-CN" sz="2400" dirty="0">
                        <a:ln>
                          <a:solidFill>
                            <a:srgbClr val="00000C"/>
                          </a:solidFill>
                        </a:ln>
                        <a:solidFill>
                          <a:srgbClr val="00000C"/>
                        </a:solidFill>
                      </a:endParaRPr>
                    </a:p>
                    <a:p>
                      <a:r>
                        <a:rPr lang="en-US" altLang="zh-CN" sz="2400" dirty="0">
                          <a:ln>
                            <a:solidFill>
                              <a:srgbClr val="00000C"/>
                            </a:solidFill>
                          </a:ln>
                          <a:solidFill>
                            <a:srgbClr val="00000C"/>
                          </a:solidFill>
                        </a:rPr>
                        <a:t>0       </a:t>
                      </a:r>
                      <a:r>
                        <a:rPr lang="en-US" altLang="zh-CN" sz="2400" baseline="0" dirty="0">
                          <a:ln>
                            <a:solidFill>
                              <a:srgbClr val="00000C"/>
                            </a:solidFill>
                          </a:ln>
                          <a:solidFill>
                            <a:srgbClr val="00000C"/>
                          </a:solidFill>
                        </a:rPr>
                        <a:t>  1       0       1        0        </a:t>
                      </a:r>
                      <a:r>
                        <a:rPr lang="en-US" altLang="zh-CN" sz="2400" baseline="0" dirty="0" err="1">
                          <a:ln>
                            <a:solidFill>
                              <a:srgbClr val="00000C"/>
                            </a:solidFill>
                          </a:ln>
                          <a:solidFill>
                            <a:srgbClr val="00000C"/>
                          </a:solidFill>
                        </a:rPr>
                        <a:t>0</a:t>
                      </a:r>
                      <a:endParaRPr lang="en-US" altLang="zh-CN" sz="2400" baseline="0" dirty="0">
                        <a:ln>
                          <a:solidFill>
                            <a:srgbClr val="00000C"/>
                          </a:solidFill>
                        </a:ln>
                        <a:solidFill>
                          <a:srgbClr val="00000C"/>
                        </a:solidFill>
                      </a:endParaRPr>
                    </a:p>
                    <a:p>
                      <a:r>
                        <a:rPr lang="en-US" altLang="zh-CN" sz="2400" baseline="0" dirty="0">
                          <a:ln>
                            <a:solidFill>
                              <a:srgbClr val="00000C"/>
                            </a:solidFill>
                          </a:ln>
                          <a:solidFill>
                            <a:srgbClr val="00000C"/>
                          </a:solidFill>
                        </a:rPr>
                        <a:t>0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2       0        1        0</a:t>
                      </a:r>
                      <a:endParaRPr lang="en-US" altLang="zh-CN" sz="2400" baseline="0" dirty="0">
                        <a:ln>
                          <a:solidFill>
                            <a:srgbClr val="00000C"/>
                          </a:solidFill>
                        </a:ln>
                        <a:solidFill>
                          <a:srgbClr val="00000C"/>
                        </a:solidFill>
                      </a:endParaRPr>
                    </a:p>
                    <a:p>
                      <a:r>
                        <a:rPr lang="en-US" altLang="zh-CN" sz="2400" baseline="0" dirty="0">
                          <a:ln>
                            <a:solidFill>
                              <a:srgbClr val="00000C"/>
                            </a:solidFill>
                          </a:ln>
                          <a:solidFill>
                            <a:srgbClr val="00000C"/>
                          </a:solidFill>
                        </a:rPr>
                        <a:t>0         3       2       0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1</a:t>
                      </a:r>
                      <a:endParaRPr lang="zh-CN" altLang="en-US" sz="2400" dirty="0">
                        <a:ln>
                          <a:solidFill>
                            <a:srgbClr val="00000C"/>
                          </a:solidFill>
                        </a:ln>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60606"/>
                          </a:solidFill>
                        </a:rPr>
                        <a:t>0</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4</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12</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18</a:t>
                      </a:r>
                      <a:endParaRPr lang="zh-CN" altLang="en-US"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                                 z         (0)</a:t>
                      </a:r>
                      <a:endParaRPr lang="en-US" altLang="zh-CN" sz="24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x</a:t>
                      </a:r>
                      <a:r>
                        <a:rPr lang="en-US" altLang="zh-CN" sz="2400" baseline="-25000" dirty="0">
                          <a:solidFill>
                            <a:srgbClr val="060606"/>
                          </a:solidFill>
                        </a:rPr>
                        <a:t>1</a:t>
                      </a:r>
                      <a:r>
                        <a:rPr lang="en-US" altLang="zh-CN" sz="2400" baseline="0" dirty="0">
                          <a:solidFill>
                            <a:srgbClr val="060606"/>
                          </a:solidFill>
                        </a:rPr>
                        <a:t>       (1)</a:t>
                      </a:r>
                      <a:endParaRPr lang="en-US" altLang="zh-CN" sz="2400" baseline="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x</a:t>
                      </a:r>
                      <a:r>
                        <a:rPr lang="en-US" altLang="zh-CN" sz="2400" baseline="-25000" dirty="0">
                          <a:solidFill>
                            <a:srgbClr val="060606"/>
                          </a:solidFill>
                        </a:rPr>
                        <a:t>4</a:t>
                      </a:r>
                      <a:r>
                        <a:rPr lang="en-US" altLang="zh-CN" sz="2400" baseline="0" dirty="0">
                          <a:solidFill>
                            <a:srgbClr val="060606"/>
                          </a:solidFill>
                        </a:rPr>
                        <a:t>       (2)</a:t>
                      </a:r>
                      <a:endParaRPr lang="en-US" altLang="zh-CN" sz="2400" baseline="-250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                                 x</a:t>
                      </a:r>
                      <a:r>
                        <a:rPr lang="en-US" altLang="zh-CN" sz="2400" baseline="-25000" dirty="0">
                          <a:solidFill>
                            <a:srgbClr val="060606"/>
                          </a:solidFill>
                        </a:rPr>
                        <a:t>5</a:t>
                      </a:r>
                      <a:r>
                        <a:rPr lang="en-US" altLang="zh-CN" sz="2400" baseline="0" dirty="0">
                          <a:solidFill>
                            <a:srgbClr val="060606"/>
                          </a:solidFill>
                        </a:rPr>
                        <a:t>       (3)</a:t>
                      </a:r>
                      <a:endParaRPr lang="zh-CN" altLang="en-US" sz="24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0000C"/>
                          </a:solidFill>
                        </a:rPr>
                        <a:t>1        </a:t>
                      </a:r>
                      <a:r>
                        <a:rPr lang="en-US" altLang="zh-CN" sz="2400" baseline="0" dirty="0">
                          <a:ln>
                            <a:solidFill>
                              <a:srgbClr val="00000C"/>
                            </a:solidFill>
                          </a:ln>
                          <a:solidFill>
                            <a:srgbClr val="00000C"/>
                          </a:solidFill>
                        </a:rPr>
                        <a:t> 0</a:t>
                      </a:r>
                      <a:r>
                        <a:rPr lang="en-US" altLang="zh-CN" sz="2400" dirty="0">
                          <a:ln>
                            <a:solidFill>
                              <a:srgbClr val="00000C"/>
                            </a:solidFill>
                          </a:ln>
                          <a:solidFill>
                            <a:srgbClr val="00000C"/>
                          </a:solidFill>
                        </a:rPr>
                        <a:t>       -2      3         0       0</a:t>
                      </a:r>
                      <a:endParaRPr lang="en-US" altLang="zh-CN" sz="2400" dirty="0">
                        <a:ln>
                          <a:solidFill>
                            <a:srgbClr val="00000C"/>
                          </a:solidFill>
                        </a:ln>
                        <a:solidFill>
                          <a:srgbClr val="00000C"/>
                        </a:solidFill>
                      </a:endParaRPr>
                    </a:p>
                    <a:p>
                      <a:r>
                        <a:rPr lang="en-US" altLang="zh-CN" sz="2400" dirty="0">
                          <a:ln>
                            <a:solidFill>
                              <a:srgbClr val="00000C"/>
                            </a:solidFill>
                          </a:ln>
                          <a:solidFill>
                            <a:srgbClr val="00000C"/>
                          </a:solidFill>
                        </a:rPr>
                        <a:t>0       </a:t>
                      </a:r>
                      <a:r>
                        <a:rPr lang="en-US" altLang="zh-CN" sz="2400" baseline="0" dirty="0">
                          <a:ln>
                            <a:solidFill>
                              <a:srgbClr val="00000C"/>
                            </a:solidFill>
                          </a:ln>
                          <a:solidFill>
                            <a:srgbClr val="00000C"/>
                          </a:solidFill>
                        </a:rPr>
                        <a:t>  1       0       1         0        </a:t>
                      </a:r>
                      <a:r>
                        <a:rPr lang="en-US" altLang="zh-CN" sz="2400" baseline="0" dirty="0" err="1">
                          <a:ln>
                            <a:solidFill>
                              <a:srgbClr val="00000C"/>
                            </a:solidFill>
                          </a:ln>
                          <a:solidFill>
                            <a:srgbClr val="00000C"/>
                          </a:solidFill>
                        </a:rPr>
                        <a:t>0</a:t>
                      </a:r>
                      <a:endParaRPr lang="en-US" altLang="zh-CN" sz="2400" baseline="0" dirty="0">
                        <a:ln>
                          <a:solidFill>
                            <a:srgbClr val="00000C"/>
                          </a:solidFill>
                        </a:ln>
                        <a:solidFill>
                          <a:srgbClr val="00000C"/>
                        </a:solidFill>
                      </a:endParaRPr>
                    </a:p>
                    <a:p>
                      <a:r>
                        <a:rPr lang="en-US" altLang="zh-CN" sz="2400" baseline="0" dirty="0">
                          <a:ln>
                            <a:solidFill>
                              <a:srgbClr val="00000C"/>
                            </a:solidFill>
                          </a:ln>
                          <a:solidFill>
                            <a:srgbClr val="00000C"/>
                          </a:solidFill>
                        </a:rPr>
                        <a:t>0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2       0         1        0</a:t>
                      </a:r>
                      <a:endParaRPr lang="en-US" altLang="zh-CN" sz="2400" baseline="0" dirty="0">
                        <a:ln>
                          <a:solidFill>
                            <a:srgbClr val="00000C"/>
                          </a:solidFill>
                        </a:ln>
                        <a:solidFill>
                          <a:srgbClr val="00000C"/>
                        </a:solidFill>
                      </a:endParaRPr>
                    </a:p>
                    <a:p>
                      <a:r>
                        <a:rPr lang="en-US" altLang="zh-CN" sz="2400" baseline="0" dirty="0">
                          <a:ln>
                            <a:solidFill>
                              <a:srgbClr val="00000C"/>
                            </a:solidFill>
                          </a:ln>
                          <a:solidFill>
                            <a:srgbClr val="00000C"/>
                          </a:solidFill>
                        </a:rPr>
                        <a:t>0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2       -3        0        1</a:t>
                      </a:r>
                      <a:endParaRPr lang="zh-CN" altLang="en-US" sz="2400" dirty="0">
                        <a:ln>
                          <a:solidFill>
                            <a:srgbClr val="00000C"/>
                          </a:solidFill>
                        </a:ln>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60606"/>
                          </a:solidFill>
                        </a:rPr>
                        <a:t>12</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4</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12</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6</a:t>
                      </a:r>
                      <a:endParaRPr lang="zh-CN" altLang="en-US"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p:sp>
        <p:nvSpPr>
          <p:cNvPr id="5" name="标题 4"/>
          <p:cNvSpPr>
            <a:spLocks noGrp="1"/>
          </p:cNvSpPr>
          <p:nvPr>
            <p:ph type="title"/>
          </p:nvPr>
        </p:nvSpPr>
        <p:spPr>
          <a:xfrm>
            <a:off x="0" y="1"/>
            <a:ext cx="10515600" cy="538480"/>
          </a:xfrm>
        </p:spPr>
        <p:txBody>
          <a:bodyPr>
            <a:normAutofit/>
          </a:bodyPr>
          <a:lstStyle/>
          <a:p>
            <a:r>
              <a:rPr lang="zh-CN" altLang="en-US" sz="3200" dirty="0"/>
              <a:t>多解实例</a:t>
            </a:r>
            <a:endParaRPr lang="zh-CN" altLang="en-US" sz="32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569850" y="1124744"/>
          <a:ext cx="10900790" cy="4937760"/>
        </p:xfrm>
        <a:graphic>
          <a:graphicData uri="http://schemas.openxmlformats.org/drawingml/2006/table">
            <a:tbl>
              <a:tblPr bandRow="1">
                <a:tableStyleId>{5C22544A-7EE6-4342-B048-85BDC9FD1C3A}</a:tableStyleId>
              </a:tblPr>
              <a:tblGrid>
                <a:gridCol w="4324280"/>
                <a:gridCol w="5539848"/>
                <a:gridCol w="1036662"/>
              </a:tblGrid>
              <a:tr h="442660">
                <a:tc rowSpan="2">
                  <a:txBody>
                    <a:bodyPr/>
                    <a:lstStyle/>
                    <a:p>
                      <a:r>
                        <a:rPr lang="zh-CN" altLang="en-US" dirty="0">
                          <a:ln>
                            <a:solidFill>
                              <a:srgbClr val="00000C"/>
                            </a:solidFill>
                          </a:ln>
                          <a:solidFill>
                            <a:srgbClr val="060606"/>
                          </a:solidFill>
                        </a:rPr>
                        <a:t>方程组                             基变量  </a:t>
                      </a:r>
                      <a:r>
                        <a:rPr lang="en-US" altLang="zh-CN" dirty="0">
                          <a:ln>
                            <a:solidFill>
                              <a:srgbClr val="00000C"/>
                            </a:solidFill>
                          </a:ln>
                          <a:solidFill>
                            <a:srgbClr val="060606"/>
                          </a:solidFill>
                        </a:rPr>
                        <a:t>Eq.</a:t>
                      </a:r>
                      <a:endParaRPr lang="en-US" altLang="zh-CN" dirty="0">
                        <a:ln>
                          <a:solidFill>
                            <a:srgbClr val="00000C"/>
                          </a:solidFill>
                        </a:ln>
                        <a:solidFill>
                          <a:srgbClr val="060606"/>
                        </a:solidFill>
                      </a:endParaRPr>
                    </a:p>
                    <a:p>
                      <a:r>
                        <a:rPr lang="en-US" altLang="zh-CN" dirty="0">
                          <a:ln>
                            <a:solidFill>
                              <a:srgbClr val="00000C"/>
                            </a:solidFill>
                          </a:ln>
                          <a:solidFill>
                            <a:srgbClr val="060606"/>
                          </a:solidFill>
                        </a:rPr>
                        <a:t>                                              BV.</a:t>
                      </a:r>
                      <a:r>
                        <a:rPr lang="zh-CN" altLang="en-US" dirty="0">
                          <a:ln>
                            <a:solidFill>
                              <a:srgbClr val="00000C"/>
                            </a:solidFill>
                          </a:ln>
                          <a:solidFill>
                            <a:srgbClr val="060606"/>
                          </a:solidFill>
                        </a:rPr>
                        <a:t>     </a:t>
                      </a:r>
                      <a:endParaRPr lang="zh-CN" altLang="en-US"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pPr algn="ctr"/>
                      <a:r>
                        <a:rPr lang="zh-CN" altLang="en-US" sz="2400" dirty="0">
                          <a:ln>
                            <a:solidFill>
                              <a:srgbClr val="00000C"/>
                            </a:solidFill>
                          </a:ln>
                          <a:solidFill>
                            <a:srgbClr val="060606"/>
                          </a:solidFill>
                        </a:rPr>
                        <a:t>系数</a:t>
                      </a:r>
                      <a:endParaRPr lang="zh-CN" altLang="en-US"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rowSpan="2">
                  <a:txBody>
                    <a:bodyPr/>
                    <a:lstStyle/>
                    <a:p>
                      <a:r>
                        <a:rPr lang="zh-CN" altLang="en-US" dirty="0">
                          <a:ln>
                            <a:solidFill>
                              <a:srgbClr val="00000C"/>
                            </a:solidFill>
                          </a:ln>
                          <a:solidFill>
                            <a:srgbClr val="060606"/>
                          </a:solidFill>
                        </a:rPr>
                        <a:t>右端 </a:t>
                      </a:r>
                      <a:r>
                        <a:rPr lang="en-US" altLang="zh-CN" dirty="0">
                          <a:ln>
                            <a:solidFill>
                              <a:srgbClr val="00000C"/>
                            </a:solidFill>
                          </a:ln>
                          <a:solidFill>
                            <a:srgbClr val="060606"/>
                          </a:solidFill>
                        </a:rPr>
                        <a:t>(</a:t>
                      </a:r>
                      <a:r>
                        <a:rPr lang="zh-CN" altLang="en-US" dirty="0">
                          <a:ln>
                            <a:solidFill>
                              <a:srgbClr val="00000C"/>
                            </a:solidFill>
                          </a:ln>
                          <a:solidFill>
                            <a:srgbClr val="060606"/>
                          </a:solidFill>
                        </a:rPr>
                        <a:t>比值</a:t>
                      </a:r>
                      <a:r>
                        <a:rPr lang="en-US" altLang="zh-CN" dirty="0">
                          <a:ln>
                            <a:solidFill>
                              <a:srgbClr val="00000C"/>
                            </a:solidFill>
                          </a:ln>
                          <a:solidFill>
                            <a:srgbClr val="060606"/>
                          </a:solidFill>
                        </a:rPr>
                        <a:t>)</a:t>
                      </a:r>
                      <a:endParaRPr lang="zh-CN" altLang="en-US"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44266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60606"/>
                          </a:solidFill>
                        </a:rPr>
                        <a:t>Z</a:t>
                      </a:r>
                      <a:r>
                        <a:rPr lang="zh-CN" altLang="en-US" sz="2400" baseline="0" dirty="0">
                          <a:ln>
                            <a:solidFill>
                              <a:srgbClr val="00000C"/>
                            </a:solidFill>
                          </a:ln>
                          <a:solidFill>
                            <a:srgbClr val="060606"/>
                          </a:solidFill>
                        </a:rPr>
                        <a:t>        </a:t>
                      </a:r>
                      <a:r>
                        <a:rPr lang="en-US" altLang="zh-CN" sz="2400" baseline="0" dirty="0">
                          <a:ln>
                            <a:solidFill>
                              <a:srgbClr val="00000C"/>
                            </a:solidFill>
                          </a:ln>
                          <a:solidFill>
                            <a:srgbClr val="060606"/>
                          </a:solidFill>
                        </a:rPr>
                        <a:t>x1      x2     x3      x4      x5</a:t>
                      </a:r>
                      <a:endParaRPr lang="en-US" altLang="zh-CN"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237728">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sz="2400" dirty="0">
                        <a:ln>
                          <a:solidFill>
                            <a:srgbClr val="00000C"/>
                          </a:solidFill>
                        </a:ln>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56592">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baseline="-25000"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sz="2400" dirty="0">
                        <a:ln>
                          <a:solidFill>
                            <a:srgbClr val="00000C"/>
                          </a:solidFill>
                        </a:ln>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z         (0)</a:t>
                      </a:r>
                      <a:endParaRPr lang="en-US" altLang="zh-CN" sz="2400" dirty="0">
                        <a:solidFill>
                          <a:srgbClr val="00000C"/>
                        </a:solidFill>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x</a:t>
                      </a:r>
                      <a:r>
                        <a:rPr lang="en-US" altLang="zh-CN" sz="2400" baseline="-25000" dirty="0">
                          <a:solidFill>
                            <a:srgbClr val="00000C"/>
                          </a:solidFill>
                        </a:rPr>
                        <a:t>1</a:t>
                      </a:r>
                      <a:r>
                        <a:rPr lang="en-US" altLang="zh-CN" sz="2400" baseline="0" dirty="0">
                          <a:solidFill>
                            <a:srgbClr val="00000C"/>
                          </a:solidFill>
                        </a:rPr>
                        <a:t>       (1)</a:t>
                      </a:r>
                      <a:endParaRPr lang="en-US" altLang="zh-CN" sz="2400" baseline="0" dirty="0">
                        <a:solidFill>
                          <a:srgbClr val="00000C"/>
                        </a:solidFill>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x</a:t>
                      </a:r>
                      <a:r>
                        <a:rPr lang="en-US" altLang="zh-CN" sz="2400" baseline="-25000" dirty="0">
                          <a:solidFill>
                            <a:srgbClr val="00000C"/>
                          </a:solidFill>
                        </a:rPr>
                        <a:t>4</a:t>
                      </a:r>
                      <a:r>
                        <a:rPr lang="en-US" altLang="zh-CN" sz="2400" baseline="0" dirty="0">
                          <a:solidFill>
                            <a:srgbClr val="00000C"/>
                          </a:solidFill>
                        </a:rPr>
                        <a:t>       (2)</a:t>
                      </a:r>
                      <a:endParaRPr lang="en-US" altLang="zh-CN" sz="2400" baseline="-25000" dirty="0">
                        <a:solidFill>
                          <a:srgbClr val="00000C"/>
                        </a:solidFill>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x</a:t>
                      </a:r>
                      <a:r>
                        <a:rPr lang="en-US" altLang="zh-CN" sz="2400" baseline="-25000" dirty="0">
                          <a:solidFill>
                            <a:srgbClr val="00000C"/>
                          </a:solidFill>
                        </a:rPr>
                        <a:t>2</a:t>
                      </a:r>
                      <a:r>
                        <a:rPr lang="en-US" altLang="zh-CN" sz="2400" baseline="0" dirty="0">
                          <a:solidFill>
                            <a:srgbClr val="00000C"/>
                          </a:solidFill>
                        </a:rPr>
                        <a:t>       (3)</a:t>
                      </a:r>
                      <a:endParaRPr lang="zh-CN" altLang="en-US" sz="2400" baseline="-25000" dirty="0">
                        <a:ln>
                          <a:solidFill>
                            <a:srgbClr val="00000C"/>
                          </a:solidFill>
                        </a:ln>
                        <a:solidFill>
                          <a:srgbClr val="00000C"/>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0000C"/>
                          </a:solidFill>
                        </a:rPr>
                        <a:t>1         0       0      </a:t>
                      </a:r>
                      <a:r>
                        <a:rPr lang="en-US" altLang="zh-CN" sz="2400" b="1" dirty="0">
                          <a:ln>
                            <a:solidFill>
                              <a:srgbClr val="00000C"/>
                            </a:solidFill>
                          </a:ln>
                          <a:solidFill>
                            <a:srgbClr val="FF0000"/>
                          </a:solidFill>
                        </a:rPr>
                        <a:t> </a:t>
                      </a:r>
                      <a:r>
                        <a:rPr lang="en-US" altLang="zh-CN" sz="2400" b="1" dirty="0" err="1">
                          <a:ln>
                            <a:solidFill>
                              <a:srgbClr val="00000C"/>
                            </a:solidFill>
                          </a:ln>
                          <a:solidFill>
                            <a:srgbClr val="FF0000"/>
                          </a:solidFill>
                        </a:rPr>
                        <a:t>0</a:t>
                      </a:r>
                      <a:r>
                        <a:rPr lang="en-US" altLang="zh-CN" sz="2400" dirty="0">
                          <a:ln>
                            <a:solidFill>
                              <a:srgbClr val="00000C"/>
                            </a:solidFill>
                          </a:ln>
                          <a:solidFill>
                            <a:srgbClr val="00000C"/>
                          </a:solidFill>
                        </a:rPr>
                        <a:t>         </a:t>
                      </a:r>
                      <a:r>
                        <a:rPr lang="en-US" altLang="zh-CN" sz="2400" dirty="0" err="1">
                          <a:ln>
                            <a:solidFill>
                              <a:srgbClr val="00000C"/>
                            </a:solidFill>
                          </a:ln>
                          <a:solidFill>
                            <a:srgbClr val="00000C"/>
                          </a:solidFill>
                        </a:rPr>
                        <a:t>0</a:t>
                      </a:r>
                      <a:r>
                        <a:rPr lang="en-US" altLang="zh-CN" sz="2400" dirty="0">
                          <a:ln>
                            <a:solidFill>
                              <a:srgbClr val="00000C"/>
                            </a:solidFill>
                          </a:ln>
                          <a:solidFill>
                            <a:srgbClr val="00000C"/>
                          </a:solidFill>
                        </a:rPr>
                        <a:t>         1</a:t>
                      </a:r>
                      <a:endParaRPr lang="en-US" altLang="zh-CN" sz="2400" dirty="0">
                        <a:ln>
                          <a:solidFill>
                            <a:srgbClr val="00000C"/>
                          </a:solidFill>
                        </a:ln>
                        <a:solidFill>
                          <a:srgbClr val="00000C"/>
                        </a:solidFill>
                      </a:endParaRPr>
                    </a:p>
                    <a:p>
                      <a:r>
                        <a:rPr lang="en-US" altLang="zh-CN" sz="2400" dirty="0">
                          <a:ln>
                            <a:solidFill>
                              <a:srgbClr val="00000C"/>
                            </a:solidFill>
                          </a:ln>
                          <a:solidFill>
                            <a:srgbClr val="00000C"/>
                          </a:solidFill>
                        </a:rPr>
                        <a:t>0       </a:t>
                      </a:r>
                      <a:r>
                        <a:rPr lang="en-US" altLang="zh-CN" sz="2400" baseline="0" dirty="0">
                          <a:ln>
                            <a:solidFill>
                              <a:srgbClr val="00000C"/>
                            </a:solidFill>
                          </a:ln>
                          <a:solidFill>
                            <a:srgbClr val="00000C"/>
                          </a:solidFill>
                        </a:rPr>
                        <a:t>  1       0       1         0         </a:t>
                      </a:r>
                      <a:r>
                        <a:rPr lang="en-US" altLang="zh-CN" sz="2400" baseline="0" dirty="0" err="1">
                          <a:ln>
                            <a:solidFill>
                              <a:srgbClr val="00000C"/>
                            </a:solidFill>
                          </a:ln>
                          <a:solidFill>
                            <a:srgbClr val="00000C"/>
                          </a:solidFill>
                        </a:rPr>
                        <a:t>0</a:t>
                      </a:r>
                      <a:endParaRPr lang="en-US" altLang="zh-CN" sz="2400" baseline="0" dirty="0">
                        <a:ln>
                          <a:solidFill>
                            <a:srgbClr val="00000C"/>
                          </a:solidFill>
                        </a:ln>
                        <a:solidFill>
                          <a:srgbClr val="00000C"/>
                        </a:solidFill>
                      </a:endParaRPr>
                    </a:p>
                    <a:p>
                      <a:r>
                        <a:rPr lang="en-US" altLang="zh-CN" sz="2400" baseline="0" dirty="0">
                          <a:ln>
                            <a:solidFill>
                              <a:srgbClr val="00000C"/>
                            </a:solidFill>
                          </a:ln>
                          <a:solidFill>
                            <a:srgbClr val="00000C"/>
                          </a:solidFill>
                        </a:rPr>
                        <a:t>0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3         1         -1</a:t>
                      </a:r>
                      <a:endParaRPr lang="en-US" altLang="zh-CN" sz="2400" baseline="0" dirty="0">
                        <a:ln>
                          <a:solidFill>
                            <a:srgbClr val="00000C"/>
                          </a:solidFill>
                        </a:ln>
                        <a:solidFill>
                          <a:srgbClr val="00000C"/>
                        </a:solidFill>
                      </a:endParaRPr>
                    </a:p>
                    <a:p>
                      <a:r>
                        <a:rPr lang="en-US" altLang="zh-CN" sz="2400" baseline="0" dirty="0">
                          <a:ln>
                            <a:solidFill>
                              <a:srgbClr val="00000C"/>
                            </a:solidFill>
                          </a:ln>
                          <a:solidFill>
                            <a:srgbClr val="00000C"/>
                          </a:solidFill>
                        </a:rPr>
                        <a:t>0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1       -3/2    0        1/2</a:t>
                      </a:r>
                      <a:endParaRPr lang="zh-CN" altLang="en-US" sz="2400" dirty="0">
                        <a:ln>
                          <a:solidFill>
                            <a:srgbClr val="00000C"/>
                          </a:solidFill>
                        </a:ln>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60606"/>
                          </a:solidFill>
                        </a:rPr>
                        <a:t>18</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4</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6</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3</a:t>
                      </a:r>
                      <a:endParaRPr lang="zh-CN" altLang="en-US"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z         (0)</a:t>
                      </a:r>
                      <a:endParaRPr lang="en-US" altLang="zh-CN" sz="2400" dirty="0">
                        <a:solidFill>
                          <a:srgbClr val="00000C"/>
                        </a:solidFill>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x</a:t>
                      </a:r>
                      <a:r>
                        <a:rPr lang="en-US" altLang="zh-CN" sz="2400" baseline="-25000" dirty="0">
                          <a:solidFill>
                            <a:srgbClr val="00000C"/>
                          </a:solidFill>
                        </a:rPr>
                        <a:t>1</a:t>
                      </a:r>
                      <a:r>
                        <a:rPr lang="en-US" altLang="zh-CN" sz="2400" baseline="0" dirty="0">
                          <a:solidFill>
                            <a:srgbClr val="00000C"/>
                          </a:solidFill>
                        </a:rPr>
                        <a:t>       (1)</a:t>
                      </a:r>
                      <a:endParaRPr lang="en-US" altLang="zh-CN" sz="2400" baseline="0" dirty="0">
                        <a:solidFill>
                          <a:srgbClr val="00000C"/>
                        </a:solidFill>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x</a:t>
                      </a:r>
                      <a:r>
                        <a:rPr lang="en-US" altLang="zh-CN" sz="2400" baseline="-25000" dirty="0">
                          <a:solidFill>
                            <a:srgbClr val="00000C"/>
                          </a:solidFill>
                        </a:rPr>
                        <a:t>3</a:t>
                      </a:r>
                      <a:r>
                        <a:rPr lang="en-US" altLang="zh-CN" sz="2400" baseline="0" dirty="0">
                          <a:solidFill>
                            <a:srgbClr val="00000C"/>
                          </a:solidFill>
                        </a:rPr>
                        <a:t>       (2)</a:t>
                      </a:r>
                      <a:endParaRPr lang="en-US" altLang="zh-CN" sz="2400" baseline="-25000" dirty="0">
                        <a:solidFill>
                          <a:srgbClr val="00000C"/>
                        </a:solidFill>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x</a:t>
                      </a:r>
                      <a:r>
                        <a:rPr lang="en-US" altLang="zh-CN" sz="2400" baseline="-25000" dirty="0">
                          <a:solidFill>
                            <a:srgbClr val="00000C"/>
                          </a:solidFill>
                        </a:rPr>
                        <a:t>2</a:t>
                      </a:r>
                      <a:r>
                        <a:rPr lang="en-US" altLang="zh-CN" sz="2400" baseline="0" dirty="0">
                          <a:solidFill>
                            <a:srgbClr val="00000C"/>
                          </a:solidFill>
                        </a:rPr>
                        <a:t>       (3)</a:t>
                      </a:r>
                      <a:endParaRPr lang="zh-CN" altLang="en-US" sz="2400" baseline="-25000" dirty="0">
                        <a:ln>
                          <a:solidFill>
                            <a:srgbClr val="00000C"/>
                          </a:solidFill>
                        </a:ln>
                        <a:solidFill>
                          <a:srgbClr val="00000C"/>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400" dirty="0">
                          <a:ln>
                            <a:solidFill>
                              <a:srgbClr val="00000C"/>
                            </a:solidFill>
                          </a:ln>
                          <a:solidFill>
                            <a:srgbClr val="00000C"/>
                          </a:solidFill>
                        </a:rPr>
                        <a:t>1         0       0       </a:t>
                      </a:r>
                      <a:r>
                        <a:rPr lang="en-US" altLang="zh-CN" sz="2400" dirty="0" err="1">
                          <a:ln>
                            <a:solidFill>
                              <a:srgbClr val="00000C"/>
                            </a:solidFill>
                          </a:ln>
                          <a:solidFill>
                            <a:srgbClr val="00000C"/>
                          </a:solidFill>
                        </a:rPr>
                        <a:t>0</a:t>
                      </a:r>
                      <a:r>
                        <a:rPr lang="en-US" altLang="zh-CN" sz="2400" dirty="0">
                          <a:ln>
                            <a:solidFill>
                              <a:srgbClr val="00000C"/>
                            </a:solidFill>
                          </a:ln>
                          <a:solidFill>
                            <a:srgbClr val="00000C"/>
                          </a:solidFill>
                        </a:rPr>
                        <a:t>         </a:t>
                      </a:r>
                      <a:r>
                        <a:rPr lang="en-US" altLang="zh-CN" sz="2400" b="1" dirty="0" err="1">
                          <a:ln>
                            <a:solidFill>
                              <a:srgbClr val="00000C"/>
                            </a:solidFill>
                          </a:ln>
                          <a:solidFill>
                            <a:srgbClr val="0000AC"/>
                          </a:solidFill>
                        </a:rPr>
                        <a:t>0</a:t>
                      </a:r>
                      <a:r>
                        <a:rPr lang="en-US" altLang="zh-CN" sz="2400" dirty="0">
                          <a:ln>
                            <a:solidFill>
                              <a:srgbClr val="00000C"/>
                            </a:solidFill>
                          </a:ln>
                          <a:solidFill>
                            <a:srgbClr val="00000C"/>
                          </a:solidFill>
                        </a:rPr>
                        <a:t>         1</a:t>
                      </a:r>
                      <a:endParaRPr lang="en-US" altLang="zh-CN" sz="2400" dirty="0">
                        <a:ln>
                          <a:solidFill>
                            <a:srgbClr val="00000C"/>
                          </a:solidFill>
                        </a:ln>
                        <a:solidFill>
                          <a:srgbClr val="00000C"/>
                        </a:solidFill>
                      </a:endParaRPr>
                    </a:p>
                    <a:p>
                      <a:r>
                        <a:rPr lang="en-US" altLang="zh-CN" sz="2400" dirty="0">
                          <a:ln>
                            <a:solidFill>
                              <a:srgbClr val="00000C"/>
                            </a:solidFill>
                          </a:ln>
                          <a:solidFill>
                            <a:srgbClr val="00000C"/>
                          </a:solidFill>
                        </a:rPr>
                        <a:t>0       </a:t>
                      </a:r>
                      <a:r>
                        <a:rPr lang="en-US" altLang="zh-CN" sz="2400" baseline="0" dirty="0">
                          <a:ln>
                            <a:solidFill>
                              <a:srgbClr val="00000C"/>
                            </a:solidFill>
                          </a:ln>
                          <a:solidFill>
                            <a:srgbClr val="00000C"/>
                          </a:solidFill>
                        </a:rPr>
                        <a:t>  1       0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-1/3     1/3</a:t>
                      </a:r>
                      <a:endParaRPr lang="en-US" altLang="zh-CN" sz="2400" baseline="0" dirty="0">
                        <a:ln>
                          <a:solidFill>
                            <a:srgbClr val="00000C"/>
                          </a:solidFill>
                        </a:ln>
                        <a:solidFill>
                          <a:srgbClr val="00000C"/>
                        </a:solidFill>
                      </a:endParaRPr>
                    </a:p>
                    <a:p>
                      <a:r>
                        <a:rPr lang="en-US" altLang="zh-CN" sz="2400" baseline="0" dirty="0">
                          <a:ln>
                            <a:solidFill>
                              <a:srgbClr val="00000C"/>
                            </a:solidFill>
                          </a:ln>
                          <a:solidFill>
                            <a:srgbClr val="00000C"/>
                          </a:solidFill>
                        </a:rPr>
                        <a:t>0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1      1/3      -1/3</a:t>
                      </a:r>
                      <a:endParaRPr lang="en-US" altLang="zh-CN" sz="2400" baseline="0" dirty="0">
                        <a:ln>
                          <a:solidFill>
                            <a:srgbClr val="00000C"/>
                          </a:solidFill>
                        </a:ln>
                        <a:solidFill>
                          <a:srgbClr val="00000C"/>
                        </a:solidFill>
                      </a:endParaRPr>
                    </a:p>
                    <a:p>
                      <a:r>
                        <a:rPr lang="en-US" altLang="zh-CN" sz="2400" baseline="0" dirty="0">
                          <a:ln>
                            <a:solidFill>
                              <a:srgbClr val="00000C"/>
                            </a:solidFill>
                          </a:ln>
                          <a:solidFill>
                            <a:srgbClr val="00000C"/>
                          </a:solidFill>
                        </a:rPr>
                        <a:t>0         </a:t>
                      </a:r>
                      <a:r>
                        <a:rPr lang="en-US" altLang="zh-CN" sz="2400" baseline="0" dirty="0" err="1">
                          <a:ln>
                            <a:solidFill>
                              <a:srgbClr val="00000C"/>
                            </a:solidFill>
                          </a:ln>
                          <a:solidFill>
                            <a:srgbClr val="00000C"/>
                          </a:solidFill>
                        </a:rPr>
                        <a:t>0</a:t>
                      </a:r>
                      <a:r>
                        <a:rPr lang="en-US" altLang="zh-CN" sz="2400" baseline="0" dirty="0">
                          <a:ln>
                            <a:solidFill>
                              <a:srgbClr val="00000C"/>
                            </a:solidFill>
                          </a:ln>
                          <a:solidFill>
                            <a:srgbClr val="00000C"/>
                          </a:solidFill>
                        </a:rPr>
                        <a:t>       1       0      1/2         0</a:t>
                      </a:r>
                      <a:endParaRPr lang="zh-CN" altLang="en-US" sz="2400" dirty="0">
                        <a:ln>
                          <a:solidFill>
                            <a:srgbClr val="00000C"/>
                          </a:solidFill>
                        </a:ln>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r>
                        <a:rPr lang="en-US" altLang="zh-CN" sz="2400" dirty="0">
                          <a:ln>
                            <a:solidFill>
                              <a:srgbClr val="00000C"/>
                            </a:solidFill>
                          </a:ln>
                          <a:solidFill>
                            <a:srgbClr val="060606"/>
                          </a:solidFill>
                        </a:rPr>
                        <a:t>18</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2</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2</a:t>
                      </a:r>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6</a:t>
                      </a:r>
                      <a:endParaRPr lang="zh-CN" altLang="en-US"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sp>
        <p:nvSpPr>
          <p:cNvPr id="6" name="TextBox 5"/>
          <p:cNvSpPr txBox="1"/>
          <p:nvPr/>
        </p:nvSpPr>
        <p:spPr>
          <a:xfrm>
            <a:off x="1703512" y="3212977"/>
            <a:ext cx="2160240" cy="830997"/>
          </a:xfrm>
          <a:prstGeom prst="rect">
            <a:avLst/>
          </a:prstGeom>
          <a:noFill/>
        </p:spPr>
        <p:txBody>
          <a:bodyPr wrap="square" rtlCol="0">
            <a:spAutoFit/>
          </a:bodyPr>
          <a:lstStyle/>
          <a:p>
            <a:r>
              <a:rPr lang="zh-CN" altLang="en-US" sz="2400" dirty="0">
                <a:solidFill>
                  <a:srgbClr val="0000AC"/>
                </a:solidFill>
                <a:latin typeface="+mn-ea"/>
              </a:rPr>
              <a:t>最优解</a:t>
            </a:r>
            <a:r>
              <a:rPr lang="en-US" altLang="zh-CN" sz="2400" dirty="0">
                <a:solidFill>
                  <a:srgbClr val="0000AC"/>
                </a:solidFill>
                <a:latin typeface="+mn-ea"/>
              </a:rPr>
              <a:t>1:(4,3,0,6,0)</a:t>
            </a:r>
            <a:endParaRPr lang="zh-CN" altLang="en-US" sz="2400" dirty="0">
              <a:solidFill>
                <a:srgbClr val="0000AC"/>
              </a:solidFill>
              <a:latin typeface="+mn-ea"/>
            </a:endParaRPr>
          </a:p>
        </p:txBody>
      </p:sp>
      <p:sp>
        <p:nvSpPr>
          <p:cNvPr id="7" name="TextBox 6"/>
          <p:cNvSpPr txBox="1"/>
          <p:nvPr/>
        </p:nvSpPr>
        <p:spPr>
          <a:xfrm>
            <a:off x="1775520" y="4869161"/>
            <a:ext cx="2088232" cy="830997"/>
          </a:xfrm>
          <a:prstGeom prst="rect">
            <a:avLst/>
          </a:prstGeom>
          <a:noFill/>
        </p:spPr>
        <p:txBody>
          <a:bodyPr wrap="square" rtlCol="0">
            <a:spAutoFit/>
          </a:bodyPr>
          <a:lstStyle/>
          <a:p>
            <a:r>
              <a:rPr lang="zh-CN" altLang="en-US" sz="2400" dirty="0">
                <a:solidFill>
                  <a:srgbClr val="0000AC"/>
                </a:solidFill>
                <a:latin typeface="+mn-ea"/>
              </a:rPr>
              <a:t>最优解</a:t>
            </a:r>
            <a:r>
              <a:rPr lang="en-US" altLang="zh-CN" sz="2400" dirty="0">
                <a:solidFill>
                  <a:srgbClr val="0000AC"/>
                </a:solidFill>
                <a:latin typeface="+mn-ea"/>
              </a:rPr>
              <a:t>2:(2,6,2,0,0)</a:t>
            </a:r>
            <a:endParaRPr lang="zh-CN" altLang="en-US" sz="2400" dirty="0">
              <a:solidFill>
                <a:srgbClr val="0000AC"/>
              </a:solidFill>
              <a:latin typeface="+mn-ea"/>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5.3</a:t>
            </a:r>
            <a:r>
              <a:rPr lang="zh-CN" altLang="en-US" dirty="0"/>
              <a:t>无界解</a:t>
            </a:r>
            <a:endParaRPr lang="zh-CN" altLang="en-US" dirty="0"/>
          </a:p>
        </p:txBody>
      </p:sp>
      <p:sp>
        <p:nvSpPr>
          <p:cNvPr id="3" name="文本占位符 2"/>
          <p:cNvSpPr>
            <a:spLocks noGrp="1"/>
          </p:cNvSpPr>
          <p:nvPr>
            <p:ph type="body" idx="1"/>
          </p:nvPr>
        </p:nvSpPr>
        <p:spPr/>
        <p:txBody>
          <a:bodyPr/>
          <a:lstStyle/>
          <a:p>
            <a:r>
              <a:rPr lang="zh-CN" altLang="en-US" dirty="0">
                <a:solidFill>
                  <a:srgbClr val="0322BD"/>
                </a:solidFill>
              </a:rPr>
              <a:t>无界解的检测方法。</a:t>
            </a:r>
            <a:endParaRPr lang="zh-CN" altLang="en-US" dirty="0">
              <a:solidFill>
                <a:srgbClr val="0322BD"/>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694864"/>
            <a:ext cx="10221913" cy="793750"/>
          </a:xfrm>
        </p:spPr>
        <p:txBody>
          <a:bodyPr/>
          <a:lstStyle/>
          <a:p>
            <a:r>
              <a:rPr lang="zh-CN" altLang="en-US" sz="3200" dirty="0"/>
              <a:t>无界解的检测方法：</a:t>
            </a:r>
            <a:endParaRPr lang="zh-CN" altLang="en-US" sz="3200" dirty="0"/>
          </a:p>
        </p:txBody>
      </p:sp>
      <p:sp>
        <p:nvSpPr>
          <p:cNvPr id="3" name="内容占位符 2"/>
          <p:cNvSpPr>
            <a:spLocks noGrp="1"/>
          </p:cNvSpPr>
          <p:nvPr>
            <p:ph idx="1"/>
          </p:nvPr>
        </p:nvSpPr>
        <p:spPr>
          <a:xfrm>
            <a:off x="579120" y="1558960"/>
            <a:ext cx="10099993" cy="2320288"/>
          </a:xfrm>
        </p:spPr>
        <p:txBody>
          <a:bodyPr/>
          <a:lstStyle/>
          <a:p>
            <a:pPr>
              <a:buNone/>
            </a:pPr>
            <a:r>
              <a:rPr lang="zh-CN" altLang="en-US" sz="3200" dirty="0">
                <a:solidFill>
                  <a:srgbClr val="00000C"/>
                </a:solidFill>
              </a:rPr>
              <a:t>对于单纯形表，</a:t>
            </a:r>
            <a:r>
              <a:rPr lang="zh-CN" altLang="zh-CN" sz="3200" dirty="0">
                <a:solidFill>
                  <a:srgbClr val="060606"/>
                </a:solidFill>
              </a:rPr>
              <a:t>观察</a:t>
            </a:r>
            <a:r>
              <a:rPr lang="zh-CN" altLang="en-US" sz="3200" dirty="0">
                <a:solidFill>
                  <a:srgbClr val="060606"/>
                </a:solidFill>
              </a:rPr>
              <a:t>已</a:t>
            </a:r>
            <a:r>
              <a:rPr lang="zh-CN" altLang="en-US" sz="3200" dirty="0">
                <a:solidFill>
                  <a:srgbClr val="00000C"/>
                </a:solidFill>
              </a:rPr>
              <a:t>确定换入变量的列，若此时无法确定换出变量，即列数值为</a:t>
            </a:r>
            <a:r>
              <a:rPr lang="en-US" altLang="zh-CN" sz="3200" dirty="0">
                <a:solidFill>
                  <a:srgbClr val="00000C"/>
                </a:solidFill>
              </a:rPr>
              <a:t>0</a:t>
            </a:r>
            <a:r>
              <a:rPr lang="zh-CN" altLang="en-US" sz="3200" dirty="0">
                <a:solidFill>
                  <a:srgbClr val="00000C"/>
                </a:solidFill>
              </a:rPr>
              <a:t>或负数。则，表示可行域无界，即这个换入变量无限增加不会改变</a:t>
            </a:r>
            <a:r>
              <a:rPr lang="en-US" altLang="zh-CN" sz="3200" dirty="0">
                <a:solidFill>
                  <a:srgbClr val="00000C"/>
                </a:solidFill>
              </a:rPr>
              <a:t>z</a:t>
            </a:r>
            <a:r>
              <a:rPr lang="zh-CN" altLang="en-US" sz="3200" dirty="0">
                <a:solidFill>
                  <a:srgbClr val="00000C"/>
                </a:solidFill>
              </a:rPr>
              <a:t>的值。</a:t>
            </a:r>
            <a:endParaRPr lang="zh-CN" altLang="en-US" sz="3200" dirty="0">
              <a:solidFill>
                <a:srgbClr val="00000C"/>
              </a:solidFill>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973769" y="2020313"/>
          <a:ext cx="10435911" cy="2333337"/>
        </p:xfrm>
        <a:graphic>
          <a:graphicData uri="http://schemas.openxmlformats.org/drawingml/2006/table">
            <a:tbl>
              <a:tblPr bandRow="1">
                <a:tableStyleId>{5C22544A-7EE6-4342-B048-85BDC9FD1C3A}</a:tableStyleId>
              </a:tblPr>
              <a:tblGrid>
                <a:gridCol w="4864195"/>
                <a:gridCol w="3183838"/>
                <a:gridCol w="2387878"/>
              </a:tblGrid>
              <a:tr h="442660">
                <a:tc rowSpan="2">
                  <a:txBody>
                    <a:bodyPr/>
                    <a:lstStyle/>
                    <a:p>
                      <a:r>
                        <a:rPr lang="zh-CN" altLang="en-US" dirty="0">
                          <a:ln>
                            <a:solidFill>
                              <a:srgbClr val="00000C"/>
                            </a:solidFill>
                          </a:ln>
                          <a:solidFill>
                            <a:srgbClr val="060606"/>
                          </a:solidFill>
                        </a:rPr>
                        <a:t>方程组                             基变量  </a:t>
                      </a:r>
                      <a:r>
                        <a:rPr lang="en-US" altLang="zh-CN" dirty="0">
                          <a:ln>
                            <a:solidFill>
                              <a:srgbClr val="00000C"/>
                            </a:solidFill>
                          </a:ln>
                          <a:solidFill>
                            <a:srgbClr val="060606"/>
                          </a:solidFill>
                        </a:rPr>
                        <a:t>Eq.</a:t>
                      </a:r>
                      <a:endParaRPr lang="en-US" altLang="zh-CN" dirty="0">
                        <a:ln>
                          <a:solidFill>
                            <a:srgbClr val="00000C"/>
                          </a:solidFill>
                        </a:ln>
                        <a:solidFill>
                          <a:srgbClr val="060606"/>
                        </a:solidFill>
                      </a:endParaRPr>
                    </a:p>
                    <a:p>
                      <a:r>
                        <a:rPr lang="en-US" altLang="zh-CN" dirty="0">
                          <a:ln>
                            <a:solidFill>
                              <a:srgbClr val="00000C"/>
                            </a:solidFill>
                          </a:ln>
                          <a:solidFill>
                            <a:srgbClr val="060606"/>
                          </a:solidFill>
                        </a:rPr>
                        <a:t>                                              BV.</a:t>
                      </a:r>
                      <a:r>
                        <a:rPr lang="zh-CN" altLang="en-US" dirty="0">
                          <a:ln>
                            <a:solidFill>
                              <a:srgbClr val="00000C"/>
                            </a:solidFill>
                          </a:ln>
                          <a:solidFill>
                            <a:srgbClr val="060606"/>
                          </a:solidFill>
                        </a:rPr>
                        <a:t>     </a:t>
                      </a:r>
                      <a:endParaRPr lang="zh-CN" altLang="en-US" dirty="0">
                        <a:ln>
                          <a:solidFill>
                            <a:srgbClr val="00000C"/>
                          </a:solidFill>
                        </a:ln>
                        <a:solidFill>
                          <a:srgbClr val="060606"/>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a:txBody>
                    <a:bodyPr/>
                    <a:lstStyle/>
                    <a:p>
                      <a:pPr algn="ctr"/>
                      <a:r>
                        <a:rPr lang="zh-CN" altLang="en-US" sz="2400" dirty="0">
                          <a:ln>
                            <a:solidFill>
                              <a:srgbClr val="00000C"/>
                            </a:solidFill>
                          </a:ln>
                          <a:solidFill>
                            <a:srgbClr val="060606"/>
                          </a:solidFill>
                        </a:rPr>
                        <a:t>系数</a:t>
                      </a:r>
                      <a:endParaRPr lang="zh-CN" altLang="en-US"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noFill/>
                  </a:tcPr>
                </a:tc>
                <a:tc rowSpan="2">
                  <a:txBody>
                    <a:bodyPr/>
                    <a:lstStyle/>
                    <a:p>
                      <a:r>
                        <a:rPr lang="zh-CN" altLang="en-US" dirty="0">
                          <a:ln>
                            <a:solidFill>
                              <a:srgbClr val="00000C"/>
                            </a:solidFill>
                          </a:ln>
                          <a:solidFill>
                            <a:srgbClr val="060606"/>
                          </a:solidFill>
                        </a:rPr>
                        <a:t>右端 </a:t>
                      </a:r>
                      <a:r>
                        <a:rPr lang="en-US" altLang="zh-CN" dirty="0">
                          <a:ln>
                            <a:solidFill>
                              <a:srgbClr val="00000C"/>
                            </a:solidFill>
                          </a:ln>
                          <a:solidFill>
                            <a:srgbClr val="060606"/>
                          </a:solidFill>
                        </a:rPr>
                        <a:t>(</a:t>
                      </a:r>
                      <a:r>
                        <a:rPr lang="zh-CN" altLang="en-US" dirty="0">
                          <a:ln>
                            <a:solidFill>
                              <a:srgbClr val="00000C"/>
                            </a:solidFill>
                          </a:ln>
                          <a:solidFill>
                            <a:srgbClr val="060606"/>
                          </a:solidFill>
                        </a:rPr>
                        <a:t>比值</a:t>
                      </a:r>
                      <a:r>
                        <a:rPr lang="en-US" altLang="zh-CN" dirty="0">
                          <a:ln>
                            <a:solidFill>
                              <a:srgbClr val="00000C"/>
                            </a:solidFill>
                          </a:ln>
                          <a:solidFill>
                            <a:srgbClr val="060606"/>
                          </a:solidFill>
                        </a:rPr>
                        <a:t>)</a:t>
                      </a:r>
                      <a:endParaRPr lang="zh-CN" altLang="en-US"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noFill/>
                  </a:tcPr>
                </a:tc>
              </a:tr>
              <a:tr h="44266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60606"/>
                          </a:solidFill>
                        </a:rPr>
                        <a:t>Z</a:t>
                      </a:r>
                      <a:r>
                        <a:rPr lang="zh-CN" altLang="en-US" sz="2400" baseline="0" dirty="0">
                          <a:ln>
                            <a:solidFill>
                              <a:srgbClr val="00000C"/>
                            </a:solidFill>
                          </a:ln>
                          <a:solidFill>
                            <a:srgbClr val="060606"/>
                          </a:solidFill>
                        </a:rPr>
                        <a:t>        </a:t>
                      </a:r>
                      <a:r>
                        <a:rPr lang="en-US" altLang="zh-CN" sz="2400" baseline="0" dirty="0">
                          <a:ln>
                            <a:solidFill>
                              <a:srgbClr val="00000C"/>
                            </a:solidFill>
                          </a:ln>
                          <a:solidFill>
                            <a:srgbClr val="060606"/>
                          </a:solidFill>
                        </a:rPr>
                        <a:t>x1      x2     x3 </a:t>
                      </a:r>
                      <a:endParaRPr lang="en-US" altLang="zh-CN"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vMerge="1">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4189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0</a:t>
                      </a:r>
                      <a:r>
                        <a:rPr lang="zh-CN" altLang="en-US" sz="2400" dirty="0">
                          <a:solidFill>
                            <a:srgbClr val="FF0000"/>
                          </a:solidFill>
                        </a:rPr>
                        <a:t>） </a:t>
                      </a:r>
                      <a:r>
                        <a:rPr lang="en-US" altLang="zh-CN" sz="2400" dirty="0">
                          <a:solidFill>
                            <a:srgbClr val="FF0000"/>
                          </a:solidFill>
                        </a:rPr>
                        <a:t>z</a:t>
                      </a:r>
                      <a:r>
                        <a:rPr lang="zh-CN" altLang="en-US" sz="2400" dirty="0">
                          <a:solidFill>
                            <a:srgbClr val="FF0000"/>
                          </a:solidFill>
                        </a:rPr>
                        <a:t>－</a:t>
                      </a:r>
                      <a:r>
                        <a:rPr lang="en-US" altLang="zh-CN" sz="2400" dirty="0">
                          <a:solidFill>
                            <a:srgbClr val="FF0000"/>
                          </a:solidFill>
                        </a:rPr>
                        <a:t>3x</a:t>
                      </a:r>
                      <a:r>
                        <a:rPr lang="en-US" altLang="zh-CN" sz="2400" baseline="-25000" dirty="0">
                          <a:solidFill>
                            <a:srgbClr val="FF0000"/>
                          </a:solidFill>
                        </a:rPr>
                        <a:t>1</a:t>
                      </a:r>
                      <a:r>
                        <a:rPr lang="en-US" altLang="zh-CN" sz="2400" dirty="0">
                          <a:solidFill>
                            <a:srgbClr val="FF0000"/>
                          </a:solidFill>
                        </a:rPr>
                        <a:t> </a:t>
                      </a:r>
                      <a:r>
                        <a:rPr lang="zh-CN" altLang="en-US" sz="2400" dirty="0">
                          <a:solidFill>
                            <a:srgbClr val="FF0000"/>
                          </a:solidFill>
                        </a:rPr>
                        <a:t>－ </a:t>
                      </a:r>
                      <a:r>
                        <a:rPr lang="en-US" altLang="zh-CN" sz="2400" dirty="0">
                          <a:solidFill>
                            <a:srgbClr val="FF0000"/>
                          </a:solidFill>
                        </a:rPr>
                        <a:t>5x</a:t>
                      </a:r>
                      <a:r>
                        <a:rPr lang="en-US" altLang="zh-CN" sz="2400" baseline="-25000" dirty="0">
                          <a:solidFill>
                            <a:srgbClr val="FF0000"/>
                          </a:solidFill>
                        </a:rPr>
                        <a:t>2</a:t>
                      </a:r>
                      <a:r>
                        <a:rPr lang="en-US" altLang="zh-CN" sz="2400" dirty="0">
                          <a:solidFill>
                            <a:srgbClr val="FF0000"/>
                          </a:solidFill>
                        </a:rPr>
                        <a:t> = 0  z    (0)</a:t>
                      </a:r>
                      <a:endParaRPr lang="en-US" altLang="zh-CN" sz="24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2400" dirty="0">
                        <a:solidFill>
                          <a:srgbClr val="060606"/>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1</a:t>
                      </a:r>
                      <a:r>
                        <a:rPr lang="zh-CN" altLang="en-US" sz="2400" dirty="0">
                          <a:solidFill>
                            <a:srgbClr val="060606"/>
                          </a:solidFill>
                        </a:rPr>
                        <a:t>）</a:t>
                      </a:r>
                      <a:r>
                        <a:rPr lang="en-US" altLang="zh-CN" sz="2400" dirty="0">
                          <a:solidFill>
                            <a:srgbClr val="060606"/>
                          </a:solidFill>
                        </a:rPr>
                        <a:t> x</a:t>
                      </a:r>
                      <a:r>
                        <a:rPr lang="en-US" altLang="zh-CN" sz="2400" baseline="-25000" dirty="0">
                          <a:solidFill>
                            <a:srgbClr val="060606"/>
                          </a:solidFill>
                        </a:rPr>
                        <a:t>1 </a:t>
                      </a:r>
                      <a:r>
                        <a:rPr lang="en-US" altLang="zh-CN" sz="2400" dirty="0">
                          <a:solidFill>
                            <a:srgbClr val="060606"/>
                          </a:solidFill>
                        </a:rPr>
                        <a:t>+ x</a:t>
                      </a:r>
                      <a:r>
                        <a:rPr lang="en-US" altLang="zh-CN" sz="2400" baseline="-25000" dirty="0">
                          <a:solidFill>
                            <a:srgbClr val="060606"/>
                          </a:solidFill>
                        </a:rPr>
                        <a:t>3</a:t>
                      </a:r>
                      <a:r>
                        <a:rPr lang="en-US" altLang="zh-CN" sz="2400" dirty="0">
                          <a:solidFill>
                            <a:srgbClr val="060606"/>
                          </a:solidFill>
                        </a:rPr>
                        <a:t>= 4                x</a:t>
                      </a:r>
                      <a:r>
                        <a:rPr lang="en-US" altLang="zh-CN" sz="2400" baseline="-25000" dirty="0">
                          <a:solidFill>
                            <a:srgbClr val="060606"/>
                          </a:solidFill>
                        </a:rPr>
                        <a:t>3</a:t>
                      </a:r>
                      <a:r>
                        <a:rPr lang="en-US" altLang="zh-CN" sz="2400" baseline="0" dirty="0">
                          <a:solidFill>
                            <a:srgbClr val="060606"/>
                          </a:solidFill>
                        </a:rPr>
                        <a:t>  (1)</a:t>
                      </a:r>
                      <a:endParaRPr lang="en-US" altLang="zh-CN" sz="2400" baseline="0" dirty="0">
                        <a:solidFill>
                          <a:srgbClr val="060606"/>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0000C"/>
                          </a:solidFill>
                        </a:rPr>
                        <a:t>1        -3      -5      0    </a:t>
                      </a:r>
                      <a:endParaRPr lang="en-US" altLang="zh-CN" sz="2400" dirty="0">
                        <a:ln>
                          <a:solidFill>
                            <a:srgbClr val="00000C"/>
                          </a:solidFill>
                        </a:ln>
                        <a:solidFill>
                          <a:srgbClr val="00000C"/>
                        </a:solidFill>
                      </a:endParaRPr>
                    </a:p>
                    <a:p>
                      <a:endParaRPr lang="en-US" altLang="zh-CN" sz="2400" dirty="0">
                        <a:ln>
                          <a:solidFill>
                            <a:srgbClr val="00000C"/>
                          </a:solidFill>
                        </a:ln>
                        <a:solidFill>
                          <a:srgbClr val="00000C"/>
                        </a:solidFill>
                      </a:endParaRPr>
                    </a:p>
                    <a:p>
                      <a:r>
                        <a:rPr lang="en-US" altLang="zh-CN" sz="2400" dirty="0">
                          <a:ln>
                            <a:solidFill>
                              <a:srgbClr val="00000C"/>
                            </a:solidFill>
                          </a:ln>
                          <a:solidFill>
                            <a:srgbClr val="00000C"/>
                          </a:solidFill>
                        </a:rPr>
                        <a:t>0       </a:t>
                      </a:r>
                      <a:r>
                        <a:rPr lang="en-US" altLang="zh-CN" sz="2400" baseline="0" dirty="0">
                          <a:ln>
                            <a:solidFill>
                              <a:srgbClr val="00000C"/>
                            </a:solidFill>
                          </a:ln>
                          <a:solidFill>
                            <a:srgbClr val="00000C"/>
                          </a:solidFill>
                        </a:rPr>
                        <a:t>  1       0       1</a:t>
                      </a:r>
                      <a:endParaRPr lang="zh-CN" altLang="en-US" sz="2400" dirty="0">
                        <a:ln>
                          <a:solidFill>
                            <a:srgbClr val="00000C"/>
                          </a:solidFill>
                        </a:ln>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r>
                        <a:rPr lang="en-US" altLang="zh-CN" sz="2400" dirty="0">
                          <a:ln>
                            <a:solidFill>
                              <a:srgbClr val="00000C"/>
                            </a:solidFill>
                          </a:ln>
                          <a:solidFill>
                            <a:srgbClr val="060606"/>
                          </a:solidFill>
                        </a:rPr>
                        <a:t>0</a:t>
                      </a:r>
                      <a:endParaRPr lang="en-US" altLang="zh-CN" sz="2400" dirty="0">
                        <a:ln>
                          <a:solidFill>
                            <a:srgbClr val="00000C"/>
                          </a:solidFill>
                        </a:ln>
                        <a:solidFill>
                          <a:srgbClr val="060606"/>
                        </a:solidFill>
                      </a:endParaRPr>
                    </a:p>
                    <a:p>
                      <a:endParaRPr lang="en-US" altLang="zh-CN" sz="2400" dirty="0">
                        <a:ln>
                          <a:solidFill>
                            <a:srgbClr val="00000C"/>
                          </a:solidFill>
                        </a:ln>
                        <a:solidFill>
                          <a:srgbClr val="060606"/>
                        </a:solidFill>
                      </a:endParaRPr>
                    </a:p>
                    <a:p>
                      <a:r>
                        <a:rPr lang="en-US" altLang="zh-CN" sz="2400" dirty="0">
                          <a:ln>
                            <a:solidFill>
                              <a:srgbClr val="00000C"/>
                            </a:solidFill>
                          </a:ln>
                          <a:solidFill>
                            <a:srgbClr val="060606"/>
                          </a:solidFill>
                        </a:rPr>
                        <a:t>4(</a:t>
                      </a:r>
                      <a:r>
                        <a:rPr lang="zh-CN" altLang="en-US" sz="2400" dirty="0">
                          <a:ln>
                            <a:solidFill>
                              <a:srgbClr val="00000C"/>
                            </a:solidFill>
                          </a:ln>
                          <a:solidFill>
                            <a:srgbClr val="060606"/>
                          </a:solidFill>
                        </a:rPr>
                        <a:t>无界</a:t>
                      </a:r>
                      <a:r>
                        <a:rPr lang="en-US" altLang="zh-CN" sz="2400" dirty="0">
                          <a:ln>
                            <a:solidFill>
                              <a:srgbClr val="00000C"/>
                            </a:solidFill>
                          </a:ln>
                          <a:solidFill>
                            <a:srgbClr val="060606"/>
                          </a:solidFill>
                        </a:rPr>
                        <a:t>)</a:t>
                      </a:r>
                      <a:endParaRPr lang="en-US" altLang="zh-CN" sz="2400" dirty="0">
                        <a:ln>
                          <a:solidFill>
                            <a:srgbClr val="00000C"/>
                          </a:solidFill>
                        </a:ln>
                        <a:solidFill>
                          <a:srgbClr val="060606"/>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p:sp>
        <p:nvSpPr>
          <p:cNvPr id="5" name="矩形 4"/>
          <p:cNvSpPr/>
          <p:nvPr/>
        </p:nvSpPr>
        <p:spPr>
          <a:xfrm>
            <a:off x="4765516" y="1270678"/>
            <a:ext cx="1980029" cy="523220"/>
          </a:xfrm>
          <a:prstGeom prst="rect">
            <a:avLst/>
          </a:prstGeom>
        </p:spPr>
        <p:txBody>
          <a:bodyPr wrap="none">
            <a:spAutoFit/>
          </a:bodyPr>
          <a:lstStyle/>
          <a:p>
            <a:r>
              <a:rPr lang="zh-CN" altLang="en-US" sz="2800" dirty="0">
                <a:solidFill>
                  <a:srgbClr val="00000C"/>
                </a:solidFill>
              </a:rPr>
              <a:t>无界解实例</a:t>
            </a:r>
            <a:endParaRPr lang="zh-CN" altLang="en-US" sz="2800" dirty="0">
              <a:solidFill>
                <a:srgbClr val="00000C"/>
              </a:solidFill>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5.4</a:t>
            </a:r>
            <a:r>
              <a:rPr lang="zh-CN" altLang="en-US" dirty="0"/>
              <a:t>无可行解</a:t>
            </a:r>
            <a:endParaRPr lang="zh-CN" altLang="en-US" dirty="0"/>
          </a:p>
        </p:txBody>
      </p:sp>
      <p:sp>
        <p:nvSpPr>
          <p:cNvPr id="3" name="文本占位符 2"/>
          <p:cNvSpPr>
            <a:spLocks noGrp="1"/>
          </p:cNvSpPr>
          <p:nvPr>
            <p:ph type="body" idx="1"/>
          </p:nvPr>
        </p:nvSpPr>
        <p:spPr/>
        <p:txBody>
          <a:bodyPr/>
          <a:lstStyle/>
          <a:p>
            <a:r>
              <a:rPr lang="zh-CN" altLang="en-US" dirty="0">
                <a:solidFill>
                  <a:srgbClr val="0322BD"/>
                </a:solidFill>
              </a:rPr>
              <a:t>无可行解的判断方法。</a:t>
            </a:r>
            <a:endParaRPr lang="zh-CN" altLang="en-US" dirty="0">
              <a:solidFill>
                <a:srgbClr val="0322BD"/>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1480" y="568960"/>
            <a:ext cx="10515600" cy="893128"/>
          </a:xfrm>
        </p:spPr>
        <p:txBody>
          <a:bodyPr>
            <a:normAutofit/>
          </a:bodyPr>
          <a:lstStyle/>
          <a:p>
            <a:r>
              <a:rPr lang="zh-CN" altLang="en-US" sz="3600" dirty="0"/>
              <a:t>无可行解的检测方法：</a:t>
            </a:r>
            <a:endParaRPr lang="zh-CN" altLang="en-US" sz="3600" dirty="0"/>
          </a:p>
        </p:txBody>
      </p:sp>
      <p:sp>
        <p:nvSpPr>
          <p:cNvPr id="3" name="内容占位符 2"/>
          <p:cNvSpPr>
            <a:spLocks noGrp="1"/>
          </p:cNvSpPr>
          <p:nvPr>
            <p:ph idx="1"/>
          </p:nvPr>
        </p:nvSpPr>
        <p:spPr>
          <a:xfrm>
            <a:off x="629920" y="1913129"/>
            <a:ext cx="11181080" cy="2320288"/>
          </a:xfrm>
        </p:spPr>
        <p:txBody>
          <a:bodyPr/>
          <a:lstStyle/>
          <a:p>
            <a:pPr>
              <a:buNone/>
            </a:pPr>
            <a:r>
              <a:rPr lang="zh-CN" altLang="en-US" sz="3200" dirty="0">
                <a:solidFill>
                  <a:srgbClr val="00000C"/>
                </a:solidFill>
              </a:rPr>
              <a:t>如果</a:t>
            </a:r>
            <a:r>
              <a:rPr lang="en-US" altLang="zh-CN" sz="3200" dirty="0">
                <a:solidFill>
                  <a:srgbClr val="00000C"/>
                </a:solidFill>
              </a:rPr>
              <a:t>LPQ</a:t>
            </a:r>
            <a:r>
              <a:rPr lang="zh-CN" altLang="en-US" sz="3200" dirty="0">
                <a:solidFill>
                  <a:srgbClr val="00000C"/>
                </a:solidFill>
              </a:rPr>
              <a:t>无可行解，则在单纯形表中，用大</a:t>
            </a:r>
            <a:r>
              <a:rPr lang="en-US" altLang="zh-CN" sz="3200" dirty="0">
                <a:solidFill>
                  <a:srgbClr val="00000C"/>
                </a:solidFill>
              </a:rPr>
              <a:t>M</a:t>
            </a:r>
            <a:r>
              <a:rPr lang="zh-CN" altLang="en-US" sz="3200" dirty="0">
                <a:solidFill>
                  <a:srgbClr val="00000C"/>
                </a:solidFill>
              </a:rPr>
              <a:t>法和两阶段法求解会导致至少一个人工变量大于</a:t>
            </a:r>
            <a:r>
              <a:rPr lang="en-US" altLang="zh-CN" sz="3200" dirty="0">
                <a:solidFill>
                  <a:srgbClr val="00000C"/>
                </a:solidFill>
              </a:rPr>
              <a:t>0</a:t>
            </a:r>
            <a:r>
              <a:rPr lang="zh-CN" altLang="en-US" sz="3200" dirty="0">
                <a:solidFill>
                  <a:srgbClr val="00000C"/>
                </a:solidFill>
              </a:rPr>
              <a:t>。</a:t>
            </a:r>
            <a:endParaRPr lang="zh-CN" altLang="en-US" sz="3200" dirty="0">
              <a:solidFill>
                <a:srgbClr val="00000C"/>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4000" y="44624"/>
            <a:ext cx="9967913" cy="793750"/>
          </a:xfrm>
        </p:spPr>
        <p:txBody>
          <a:bodyPr/>
          <a:lstStyle/>
          <a:p>
            <a:r>
              <a:rPr lang="zh-CN" altLang="en-US" dirty="0"/>
              <a:t>无可行解实例</a:t>
            </a:r>
            <a:endParaRPr lang="zh-CN" altLang="en-US" dirty="0"/>
          </a:p>
        </p:txBody>
      </p:sp>
      <p:grpSp>
        <p:nvGrpSpPr>
          <p:cNvPr id="3" name="组合 12"/>
          <p:cNvGrpSpPr/>
          <p:nvPr/>
        </p:nvGrpSpPr>
        <p:grpSpPr>
          <a:xfrm>
            <a:off x="5363300" y="4049835"/>
            <a:ext cx="5733704" cy="2189857"/>
            <a:chOff x="899592" y="3429000"/>
            <a:chExt cx="5733704" cy="2189857"/>
          </a:xfrm>
        </p:grpSpPr>
        <p:sp>
          <p:nvSpPr>
            <p:cNvPr id="4" name="矩形 3"/>
            <p:cNvSpPr/>
            <p:nvPr/>
          </p:nvSpPr>
          <p:spPr>
            <a:xfrm>
              <a:off x="899592" y="3429000"/>
              <a:ext cx="4392488" cy="479234"/>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2400" dirty="0">
                  <a:solidFill>
                    <a:srgbClr val="060606"/>
                  </a:solidFill>
                </a:rPr>
                <a:t>LPQ</a:t>
              </a:r>
              <a:r>
                <a:rPr lang="zh-CN" altLang="en-US" sz="2400" dirty="0">
                  <a:solidFill>
                    <a:srgbClr val="060606"/>
                  </a:solidFill>
                </a:rPr>
                <a:t>：     </a:t>
              </a:r>
              <a:r>
                <a:rPr lang="en-US" altLang="zh-CN" sz="2400" dirty="0">
                  <a:solidFill>
                    <a:srgbClr val="FF0000"/>
                  </a:solidFill>
                </a:rPr>
                <a:t>min</a:t>
              </a:r>
              <a:r>
                <a:rPr lang="en-US" altLang="zh-CN" sz="2400" dirty="0">
                  <a:solidFill>
                    <a:srgbClr val="060606"/>
                  </a:solidFill>
                </a:rPr>
                <a:t> z  = 0.4x</a:t>
              </a:r>
              <a:r>
                <a:rPr lang="en-US" altLang="zh-CN" sz="2400" baseline="-25000" dirty="0">
                  <a:solidFill>
                    <a:srgbClr val="060606"/>
                  </a:solidFill>
                </a:rPr>
                <a:t>1</a:t>
              </a:r>
              <a:r>
                <a:rPr lang="en-US" altLang="zh-CN" sz="2400" dirty="0">
                  <a:solidFill>
                    <a:srgbClr val="060606"/>
                  </a:solidFill>
                </a:rPr>
                <a:t>+0.5x</a:t>
              </a:r>
              <a:r>
                <a:rPr lang="en-US" altLang="zh-CN" sz="2400" baseline="-25000" dirty="0">
                  <a:solidFill>
                    <a:srgbClr val="060606"/>
                  </a:solidFill>
                </a:rPr>
                <a:t>2</a:t>
              </a:r>
              <a:endParaRPr lang="en-US" altLang="zh-CN" sz="2400" dirty="0">
                <a:solidFill>
                  <a:srgbClr val="060606"/>
                </a:solidFill>
              </a:endParaRPr>
            </a:p>
          </p:txBody>
        </p:sp>
        <p:sp>
          <p:nvSpPr>
            <p:cNvPr id="5" name="矩形 4"/>
            <p:cNvSpPr/>
            <p:nvPr/>
          </p:nvSpPr>
          <p:spPr>
            <a:xfrm>
              <a:off x="899592" y="4437112"/>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6" name="左大括号 5"/>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7" name="矩形 6"/>
            <p:cNvSpPr/>
            <p:nvPr/>
          </p:nvSpPr>
          <p:spPr>
            <a:xfrm>
              <a:off x="2123728" y="3861048"/>
              <a:ext cx="4246675" cy="461665"/>
            </a:xfrm>
            <a:prstGeom prst="rect">
              <a:avLst/>
            </a:prstGeom>
          </p:spPr>
          <p:txBody>
            <a:bodyPr wrap="none">
              <a:spAutoFit/>
            </a:bodyPr>
            <a:lstStyle/>
            <a:p>
              <a:r>
                <a:rPr lang="en-US" altLang="zh-CN" sz="2400" dirty="0">
                  <a:solidFill>
                    <a:srgbClr val="060606"/>
                  </a:solidFill>
                </a:rPr>
                <a:t> 0.3x</a:t>
              </a:r>
              <a:r>
                <a:rPr lang="en-US" altLang="zh-CN" sz="2400" baseline="-25000" dirty="0">
                  <a:solidFill>
                    <a:srgbClr val="060606"/>
                  </a:solidFill>
                </a:rPr>
                <a:t>1</a:t>
              </a:r>
              <a:r>
                <a:rPr lang="en-US" altLang="zh-CN" sz="2400" dirty="0">
                  <a:solidFill>
                    <a:srgbClr val="060606"/>
                  </a:solidFill>
                </a:rPr>
                <a:t> +0.1x</a:t>
              </a:r>
              <a:r>
                <a:rPr lang="en-US" altLang="zh-CN" sz="2400" baseline="-25000" dirty="0">
                  <a:solidFill>
                    <a:srgbClr val="060606"/>
                  </a:solidFill>
                </a:rPr>
                <a:t>2</a:t>
              </a:r>
              <a:r>
                <a:rPr lang="en-US" altLang="zh-CN" sz="2400" dirty="0">
                  <a:solidFill>
                    <a:srgbClr val="060606"/>
                  </a:solidFill>
                </a:rPr>
                <a:t> </a:t>
              </a:r>
              <a:r>
                <a:rPr lang="en-US" altLang="zh-CN" sz="2400" b="1" dirty="0">
                  <a:solidFill>
                    <a:srgbClr val="0000AC"/>
                  </a:solidFill>
                </a:rPr>
                <a:t>≤1.8                </a:t>
              </a:r>
              <a:r>
                <a:rPr lang="en-US" altLang="zh-CN" sz="2400" dirty="0">
                  <a:solidFill>
                    <a:srgbClr val="060606"/>
                  </a:solidFill>
                </a:rPr>
                <a:t>(1)</a:t>
              </a:r>
              <a:endParaRPr lang="zh-CN" altLang="en-US" dirty="0"/>
            </a:p>
          </p:txBody>
        </p:sp>
        <p:sp>
          <p:nvSpPr>
            <p:cNvPr id="8" name="矩形 7"/>
            <p:cNvSpPr/>
            <p:nvPr/>
          </p:nvSpPr>
          <p:spPr>
            <a:xfrm>
              <a:off x="2123728" y="4725144"/>
              <a:ext cx="4509568" cy="461665"/>
            </a:xfrm>
            <a:prstGeom prst="rect">
              <a:avLst/>
            </a:prstGeom>
          </p:spPr>
          <p:txBody>
            <a:bodyPr wrap="none">
              <a:spAutoFit/>
            </a:bodyPr>
            <a:lstStyle/>
            <a:p>
              <a:r>
                <a:rPr lang="en-US" altLang="zh-CN" sz="2400" dirty="0">
                  <a:solidFill>
                    <a:srgbClr val="060606"/>
                  </a:solidFill>
                </a:rPr>
                <a:t>0.6x</a:t>
              </a:r>
              <a:r>
                <a:rPr lang="en-US" altLang="zh-CN" sz="2400" baseline="-25000" dirty="0">
                  <a:solidFill>
                    <a:srgbClr val="060606"/>
                  </a:solidFill>
                </a:rPr>
                <a:t>1</a:t>
              </a:r>
              <a:r>
                <a:rPr lang="en-US" altLang="zh-CN" sz="2400" dirty="0">
                  <a:solidFill>
                    <a:srgbClr val="060606"/>
                  </a:solidFill>
                </a:rPr>
                <a:t>+0.4x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 </a:t>
              </a:r>
              <a:r>
                <a:rPr lang="en-US" altLang="zh-CN" sz="2400" b="1" dirty="0">
                  <a:solidFill>
                    <a:srgbClr val="FF0000"/>
                  </a:solidFill>
                  <a:latin typeface="+mn-ea"/>
                </a:rPr>
                <a:t>≧</a:t>
              </a:r>
              <a:r>
                <a:rPr lang="en-US" altLang="zh-CN" sz="2400" dirty="0">
                  <a:solidFill>
                    <a:srgbClr val="FF0000"/>
                  </a:solidFill>
                </a:rPr>
                <a:t> </a:t>
              </a:r>
              <a:r>
                <a:rPr lang="en-US" altLang="zh-CN" sz="2400" dirty="0">
                  <a:solidFill>
                    <a:srgbClr val="060606"/>
                  </a:solidFill>
                </a:rPr>
                <a:t>6                     (3)</a:t>
              </a:r>
              <a:endParaRPr lang="zh-CN" altLang="en-US" dirty="0"/>
            </a:p>
          </p:txBody>
        </p:sp>
        <p:sp>
          <p:nvSpPr>
            <p:cNvPr id="9" name="矩形 8"/>
            <p:cNvSpPr/>
            <p:nvPr/>
          </p:nvSpPr>
          <p:spPr>
            <a:xfrm>
              <a:off x="2123728" y="5157192"/>
              <a:ext cx="3704860" cy="461665"/>
            </a:xfrm>
            <a:prstGeom prst="rect">
              <a:avLst/>
            </a:prstGeom>
          </p:spPr>
          <p:txBody>
            <a:bodyPr wrap="non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(4)</a:t>
              </a:r>
              <a:endParaRPr lang="zh-CN" altLang="en-US" dirty="0"/>
            </a:p>
          </p:txBody>
        </p:sp>
        <p:sp>
          <p:nvSpPr>
            <p:cNvPr id="10" name="矩形 9"/>
            <p:cNvSpPr/>
            <p:nvPr/>
          </p:nvSpPr>
          <p:spPr>
            <a:xfrm>
              <a:off x="2123728" y="4293096"/>
              <a:ext cx="4322017" cy="461665"/>
            </a:xfrm>
            <a:prstGeom prst="rect">
              <a:avLst/>
            </a:prstGeom>
          </p:spPr>
          <p:txBody>
            <a:bodyPr wrap="none">
              <a:spAutoFit/>
            </a:bodyPr>
            <a:lstStyle/>
            <a:p>
              <a:r>
                <a:rPr lang="en-US" altLang="zh-CN" sz="2400" dirty="0">
                  <a:solidFill>
                    <a:srgbClr val="060606"/>
                  </a:solidFill>
                </a:rPr>
                <a:t>0.5x</a:t>
              </a:r>
              <a:r>
                <a:rPr lang="en-US" altLang="zh-CN" sz="2400" baseline="-25000" dirty="0">
                  <a:solidFill>
                    <a:srgbClr val="060606"/>
                  </a:solidFill>
                </a:rPr>
                <a:t>1</a:t>
              </a:r>
              <a:r>
                <a:rPr lang="en-US" altLang="zh-CN" sz="2400" dirty="0">
                  <a:solidFill>
                    <a:srgbClr val="060606"/>
                  </a:solidFill>
                </a:rPr>
                <a:t> + 0.5x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a:t>
              </a:r>
              <a:r>
                <a:rPr lang="en-US" altLang="zh-CN" sz="2400" dirty="0">
                  <a:solidFill>
                    <a:srgbClr val="060606"/>
                  </a:solidFill>
                </a:rPr>
                <a:t>6                    (2)</a:t>
              </a:r>
              <a:endParaRPr lang="zh-CN" altLang="en-US" sz="2400" dirty="0">
                <a:solidFill>
                  <a:srgbClr val="060606"/>
                </a:solidFill>
              </a:endParaRPr>
            </a:p>
          </p:txBody>
        </p:sp>
      </p:grpSp>
      <p:sp>
        <p:nvSpPr>
          <p:cNvPr id="11" name="下箭头 10"/>
          <p:cNvSpPr/>
          <p:nvPr/>
        </p:nvSpPr>
        <p:spPr bwMode="auto">
          <a:xfrm rot="17940854">
            <a:off x="5547576" y="3268661"/>
            <a:ext cx="504056" cy="360040"/>
          </a:xfrm>
          <a:prstGeom prst="down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nvGrpSpPr>
          <p:cNvPr id="12" name="组合 12"/>
          <p:cNvGrpSpPr/>
          <p:nvPr/>
        </p:nvGrpSpPr>
        <p:grpSpPr>
          <a:xfrm>
            <a:off x="434304" y="894742"/>
            <a:ext cx="5733704" cy="2189857"/>
            <a:chOff x="899592" y="3429000"/>
            <a:chExt cx="5733704" cy="2189857"/>
          </a:xfrm>
        </p:grpSpPr>
        <p:sp>
          <p:nvSpPr>
            <p:cNvPr id="13" name="矩形 12"/>
            <p:cNvSpPr/>
            <p:nvPr/>
          </p:nvSpPr>
          <p:spPr>
            <a:xfrm>
              <a:off x="899592" y="3429000"/>
              <a:ext cx="4392488" cy="479234"/>
            </a:xfrm>
            <a:prstGeom prst="rect">
              <a:avLst/>
            </a:prstGeom>
          </p:spPr>
          <p:txBody>
            <a:bodyPr wrap="square">
              <a:spAutoFit/>
            </a:bodyPr>
            <a:lstStyle/>
            <a:p>
              <a:pPr marL="342900" indent="-342900" algn="just" fontAlgn="base">
                <a:lnSpc>
                  <a:spcPct val="110000"/>
                </a:lnSpc>
                <a:spcBef>
                  <a:spcPts val="1800"/>
                </a:spcBef>
                <a:spcAft>
                  <a:spcPct val="0"/>
                </a:spcAft>
              </a:pPr>
              <a:r>
                <a:rPr lang="zh-CN" altLang="en-US" sz="2400" dirty="0">
                  <a:solidFill>
                    <a:srgbClr val="060606"/>
                  </a:solidFill>
                </a:rPr>
                <a:t>原</a:t>
              </a:r>
              <a:r>
                <a:rPr lang="en-US" altLang="zh-CN" sz="2400" dirty="0">
                  <a:solidFill>
                    <a:srgbClr val="060606"/>
                  </a:solidFill>
                </a:rPr>
                <a:t>LPQ</a:t>
              </a:r>
              <a:r>
                <a:rPr lang="zh-CN" altLang="en-US" sz="2400" dirty="0">
                  <a:solidFill>
                    <a:srgbClr val="060606"/>
                  </a:solidFill>
                </a:rPr>
                <a:t>：     </a:t>
              </a:r>
              <a:r>
                <a:rPr lang="en-US" altLang="zh-CN" sz="2400" dirty="0">
                  <a:solidFill>
                    <a:srgbClr val="FF0000"/>
                  </a:solidFill>
                </a:rPr>
                <a:t>min</a:t>
              </a:r>
              <a:r>
                <a:rPr lang="en-US" altLang="zh-CN" sz="2400" dirty="0">
                  <a:solidFill>
                    <a:srgbClr val="060606"/>
                  </a:solidFill>
                </a:rPr>
                <a:t> z  = 0.4x</a:t>
              </a:r>
              <a:r>
                <a:rPr lang="en-US" altLang="zh-CN" sz="2400" baseline="-25000" dirty="0">
                  <a:solidFill>
                    <a:srgbClr val="060606"/>
                  </a:solidFill>
                </a:rPr>
                <a:t>1</a:t>
              </a:r>
              <a:r>
                <a:rPr lang="en-US" altLang="zh-CN" sz="2400" dirty="0">
                  <a:solidFill>
                    <a:srgbClr val="060606"/>
                  </a:solidFill>
                </a:rPr>
                <a:t>+0.5x</a:t>
              </a:r>
              <a:r>
                <a:rPr lang="en-US" altLang="zh-CN" sz="2400" baseline="-25000" dirty="0">
                  <a:solidFill>
                    <a:srgbClr val="060606"/>
                  </a:solidFill>
                </a:rPr>
                <a:t>2</a:t>
              </a:r>
              <a:endParaRPr lang="en-US" altLang="zh-CN" sz="2400" dirty="0">
                <a:solidFill>
                  <a:srgbClr val="060606"/>
                </a:solidFill>
              </a:endParaRPr>
            </a:p>
          </p:txBody>
        </p:sp>
        <p:sp>
          <p:nvSpPr>
            <p:cNvPr id="14" name="矩形 13"/>
            <p:cNvSpPr/>
            <p:nvPr/>
          </p:nvSpPr>
          <p:spPr>
            <a:xfrm>
              <a:off x="899592" y="4437112"/>
              <a:ext cx="648072" cy="478272"/>
            </a:xfrm>
            <a:prstGeom prst="rect">
              <a:avLst/>
            </a:prstGeom>
          </p:spPr>
          <p:txBody>
            <a:bodyPr wrap="square">
              <a:spAutoFit/>
            </a:bodyPr>
            <a:lstStyle/>
            <a:p>
              <a:pPr marL="342900" indent="-342900" fontAlgn="base">
                <a:lnSpc>
                  <a:spcPct val="110000"/>
                </a:lnSpc>
                <a:spcBef>
                  <a:spcPts val="1800"/>
                </a:spcBef>
                <a:spcAft>
                  <a:spcPct val="0"/>
                </a:spcAft>
              </a:pPr>
              <a:r>
                <a:rPr lang="en-US" altLang="zh-CN" sz="2400" dirty="0">
                  <a:solidFill>
                    <a:srgbClr val="060606"/>
                  </a:solidFill>
                </a:rPr>
                <a:t>s. t</a:t>
              </a:r>
              <a:endParaRPr lang="en-US" altLang="zh-CN" sz="2400" dirty="0">
                <a:solidFill>
                  <a:srgbClr val="060606"/>
                </a:solidFill>
              </a:endParaRPr>
            </a:p>
          </p:txBody>
        </p:sp>
        <p:sp>
          <p:nvSpPr>
            <p:cNvPr id="15" name="左大括号 14"/>
            <p:cNvSpPr/>
            <p:nvPr/>
          </p:nvSpPr>
          <p:spPr bwMode="auto">
            <a:xfrm>
              <a:off x="1547664" y="3933056"/>
              <a:ext cx="432048" cy="1512168"/>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6" name="矩形 15"/>
            <p:cNvSpPr/>
            <p:nvPr/>
          </p:nvSpPr>
          <p:spPr>
            <a:xfrm>
              <a:off x="2123728" y="3861048"/>
              <a:ext cx="4246675" cy="461665"/>
            </a:xfrm>
            <a:prstGeom prst="rect">
              <a:avLst/>
            </a:prstGeom>
          </p:spPr>
          <p:txBody>
            <a:bodyPr wrap="none">
              <a:spAutoFit/>
            </a:bodyPr>
            <a:lstStyle/>
            <a:p>
              <a:r>
                <a:rPr lang="en-US" altLang="zh-CN" sz="2400" dirty="0">
                  <a:solidFill>
                    <a:srgbClr val="060606"/>
                  </a:solidFill>
                </a:rPr>
                <a:t> 0.3x</a:t>
              </a:r>
              <a:r>
                <a:rPr lang="en-US" altLang="zh-CN" sz="2400" baseline="-25000" dirty="0">
                  <a:solidFill>
                    <a:srgbClr val="060606"/>
                  </a:solidFill>
                </a:rPr>
                <a:t>1</a:t>
              </a:r>
              <a:r>
                <a:rPr lang="en-US" altLang="zh-CN" sz="2400" dirty="0">
                  <a:solidFill>
                    <a:srgbClr val="060606"/>
                  </a:solidFill>
                </a:rPr>
                <a:t> +0.1x</a:t>
              </a:r>
              <a:r>
                <a:rPr lang="en-US" altLang="zh-CN" sz="2400" baseline="-25000" dirty="0">
                  <a:solidFill>
                    <a:srgbClr val="060606"/>
                  </a:solidFill>
                </a:rPr>
                <a:t>2</a:t>
              </a:r>
              <a:r>
                <a:rPr lang="en-US" altLang="zh-CN" sz="2400" dirty="0">
                  <a:solidFill>
                    <a:srgbClr val="060606"/>
                  </a:solidFill>
                </a:rPr>
                <a:t> </a:t>
              </a:r>
              <a:r>
                <a:rPr lang="en-US" altLang="zh-CN" sz="2400" b="1" dirty="0">
                  <a:solidFill>
                    <a:srgbClr val="0000AC"/>
                  </a:solidFill>
                </a:rPr>
                <a:t>≤2.7</a:t>
              </a:r>
              <a:r>
                <a:rPr lang="en-US" altLang="zh-CN" sz="2400" dirty="0">
                  <a:solidFill>
                    <a:srgbClr val="060606"/>
                  </a:solidFill>
                </a:rPr>
                <a:t>                (1)</a:t>
              </a:r>
              <a:endParaRPr lang="zh-CN" altLang="en-US" dirty="0"/>
            </a:p>
          </p:txBody>
        </p:sp>
        <p:sp>
          <p:nvSpPr>
            <p:cNvPr id="17" name="矩形 16"/>
            <p:cNvSpPr/>
            <p:nvPr/>
          </p:nvSpPr>
          <p:spPr>
            <a:xfrm>
              <a:off x="2123728" y="4725144"/>
              <a:ext cx="4509568" cy="461665"/>
            </a:xfrm>
            <a:prstGeom prst="rect">
              <a:avLst/>
            </a:prstGeom>
          </p:spPr>
          <p:txBody>
            <a:bodyPr wrap="none">
              <a:spAutoFit/>
            </a:bodyPr>
            <a:lstStyle/>
            <a:p>
              <a:r>
                <a:rPr lang="en-US" altLang="zh-CN" sz="2400" dirty="0">
                  <a:solidFill>
                    <a:srgbClr val="060606"/>
                  </a:solidFill>
                </a:rPr>
                <a:t>0.6x</a:t>
              </a:r>
              <a:r>
                <a:rPr lang="en-US" altLang="zh-CN" sz="2400" baseline="-25000" dirty="0">
                  <a:solidFill>
                    <a:srgbClr val="060606"/>
                  </a:solidFill>
                </a:rPr>
                <a:t>1</a:t>
              </a:r>
              <a:r>
                <a:rPr lang="en-US" altLang="zh-CN" sz="2400" dirty="0">
                  <a:solidFill>
                    <a:srgbClr val="060606"/>
                  </a:solidFill>
                </a:rPr>
                <a:t>+0.4x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 </a:t>
              </a:r>
              <a:r>
                <a:rPr lang="en-US" altLang="zh-CN" sz="2400" b="1" dirty="0">
                  <a:solidFill>
                    <a:srgbClr val="FF0000"/>
                  </a:solidFill>
                  <a:latin typeface="+mn-ea"/>
                </a:rPr>
                <a:t>≧</a:t>
              </a:r>
              <a:r>
                <a:rPr lang="en-US" altLang="zh-CN" sz="2400" dirty="0">
                  <a:solidFill>
                    <a:srgbClr val="FF0000"/>
                  </a:solidFill>
                </a:rPr>
                <a:t> </a:t>
              </a:r>
              <a:r>
                <a:rPr lang="en-US" altLang="zh-CN" sz="2400" dirty="0">
                  <a:solidFill>
                    <a:srgbClr val="060606"/>
                  </a:solidFill>
                </a:rPr>
                <a:t>6                     (3)</a:t>
              </a:r>
              <a:endParaRPr lang="zh-CN" altLang="en-US" dirty="0"/>
            </a:p>
          </p:txBody>
        </p:sp>
        <p:sp>
          <p:nvSpPr>
            <p:cNvPr id="18" name="矩形 17"/>
            <p:cNvSpPr/>
            <p:nvPr/>
          </p:nvSpPr>
          <p:spPr>
            <a:xfrm>
              <a:off x="2123728" y="5157192"/>
              <a:ext cx="3704860" cy="461665"/>
            </a:xfrm>
            <a:prstGeom prst="rect">
              <a:avLst/>
            </a:prstGeom>
          </p:spPr>
          <p:txBody>
            <a:bodyPr wrap="none">
              <a:spAutoFit/>
            </a:bodyPr>
            <a:lstStyle/>
            <a:p>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≥0</a:t>
              </a:r>
              <a:r>
                <a:rPr lang="zh-CN" altLang="en-US" sz="2400" dirty="0">
                  <a:solidFill>
                    <a:srgbClr val="060606"/>
                  </a:solidFill>
                </a:rPr>
                <a:t>，</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≥0               (4)</a:t>
              </a:r>
              <a:endParaRPr lang="zh-CN" altLang="en-US" dirty="0"/>
            </a:p>
          </p:txBody>
        </p:sp>
        <p:sp>
          <p:nvSpPr>
            <p:cNvPr id="19" name="矩形 18"/>
            <p:cNvSpPr/>
            <p:nvPr/>
          </p:nvSpPr>
          <p:spPr>
            <a:xfrm>
              <a:off x="2123728" y="4293096"/>
              <a:ext cx="4322017" cy="461665"/>
            </a:xfrm>
            <a:prstGeom prst="rect">
              <a:avLst/>
            </a:prstGeom>
          </p:spPr>
          <p:txBody>
            <a:bodyPr wrap="none">
              <a:spAutoFit/>
            </a:bodyPr>
            <a:lstStyle/>
            <a:p>
              <a:r>
                <a:rPr lang="en-US" altLang="zh-CN" sz="2400" dirty="0">
                  <a:solidFill>
                    <a:srgbClr val="060606"/>
                  </a:solidFill>
                </a:rPr>
                <a:t>0.5x</a:t>
              </a:r>
              <a:r>
                <a:rPr lang="en-US" altLang="zh-CN" sz="2400" baseline="-25000" dirty="0">
                  <a:solidFill>
                    <a:srgbClr val="060606"/>
                  </a:solidFill>
                </a:rPr>
                <a:t>1</a:t>
              </a:r>
              <a:r>
                <a:rPr lang="en-US" altLang="zh-CN" sz="2400" dirty="0">
                  <a:solidFill>
                    <a:srgbClr val="060606"/>
                  </a:solidFill>
                </a:rPr>
                <a:t> + 0.5x</a:t>
              </a:r>
              <a:r>
                <a:rPr lang="en-US" altLang="zh-CN" sz="2400" baseline="-25000" dirty="0">
                  <a:solidFill>
                    <a:srgbClr val="060606"/>
                  </a:solidFill>
                </a:rPr>
                <a:t>2</a:t>
              </a:r>
              <a:r>
                <a:rPr lang="en-US" altLang="zh-CN" sz="2400" dirty="0">
                  <a:solidFill>
                    <a:srgbClr val="060606"/>
                  </a:solidFill>
                </a:rPr>
                <a:t> </a:t>
              </a:r>
              <a:r>
                <a:rPr lang="en-US" altLang="zh-CN" sz="2400" dirty="0">
                  <a:solidFill>
                    <a:srgbClr val="FF0000"/>
                  </a:solidFill>
                </a:rPr>
                <a:t>=</a:t>
              </a:r>
              <a:r>
                <a:rPr lang="en-US" altLang="zh-CN" sz="2400" dirty="0">
                  <a:solidFill>
                    <a:srgbClr val="060606"/>
                  </a:solidFill>
                </a:rPr>
                <a:t>6                    (2)</a:t>
              </a:r>
              <a:endParaRPr lang="zh-CN" altLang="en-US" sz="2400" dirty="0">
                <a:solidFill>
                  <a:srgbClr val="060606"/>
                </a:solidFill>
              </a:endParaRPr>
            </a:p>
          </p:txBody>
        </p:sp>
      </p:grpSp>
      <p:sp>
        <p:nvSpPr>
          <p:cNvPr id="20" name="TextBox 19"/>
          <p:cNvSpPr txBox="1"/>
          <p:nvPr/>
        </p:nvSpPr>
        <p:spPr>
          <a:xfrm>
            <a:off x="7287880" y="1585206"/>
            <a:ext cx="4581576" cy="1384995"/>
          </a:xfrm>
          <a:prstGeom prst="rect">
            <a:avLst/>
          </a:prstGeom>
          <a:noFill/>
        </p:spPr>
        <p:txBody>
          <a:bodyPr wrap="square" rtlCol="0">
            <a:spAutoFit/>
          </a:bodyPr>
          <a:lstStyle/>
          <a:p>
            <a:r>
              <a:rPr lang="zh-CN" altLang="en-US" sz="2800" b="1" dirty="0">
                <a:solidFill>
                  <a:srgbClr val="0000AC"/>
                </a:solidFill>
              </a:rPr>
              <a:t>用单纯形法求解后会得到：</a:t>
            </a:r>
            <a:endParaRPr lang="en-US" altLang="zh-CN" sz="2800" b="1" dirty="0">
              <a:solidFill>
                <a:srgbClr val="0000AC"/>
              </a:solidFill>
            </a:endParaRPr>
          </a:p>
          <a:p>
            <a:r>
              <a:rPr lang="en-US" altLang="zh-CN" sz="2800" b="1" dirty="0">
                <a:solidFill>
                  <a:srgbClr val="0000AC"/>
                </a:solidFill>
              </a:rPr>
              <a:t>x = (3.9,0,0,0,</a:t>
            </a:r>
            <a:r>
              <a:rPr lang="en-US" altLang="zh-CN" sz="2800" b="1" dirty="0">
                <a:solidFill>
                  <a:srgbClr val="FF0000"/>
                </a:solidFill>
              </a:rPr>
              <a:t>0.6</a:t>
            </a:r>
            <a:r>
              <a:rPr lang="en-US" altLang="zh-CN" sz="2800" b="1" dirty="0">
                <a:solidFill>
                  <a:srgbClr val="0000AC"/>
                </a:solidFill>
              </a:rPr>
              <a:t>)</a:t>
            </a:r>
            <a:endParaRPr lang="en-US" altLang="zh-CN" sz="2800" b="1" dirty="0">
              <a:solidFill>
                <a:srgbClr val="0000AC"/>
              </a:solidFill>
            </a:endParaRPr>
          </a:p>
          <a:p>
            <a:r>
              <a:rPr lang="en-US" altLang="zh-CN" sz="2800" b="1" dirty="0" err="1">
                <a:solidFill>
                  <a:srgbClr val="0000AC"/>
                </a:solidFill>
              </a:rPr>
              <a:t>minz</a:t>
            </a:r>
            <a:r>
              <a:rPr lang="en-US" altLang="zh-CN" sz="2800" b="1" dirty="0">
                <a:solidFill>
                  <a:srgbClr val="0000AC"/>
                </a:solidFill>
              </a:rPr>
              <a:t> = </a:t>
            </a:r>
            <a:r>
              <a:rPr lang="en-US" altLang="zh-CN" sz="2800" b="1" dirty="0">
                <a:solidFill>
                  <a:srgbClr val="FF0000"/>
                </a:solidFill>
              </a:rPr>
              <a:t>0.6</a:t>
            </a:r>
            <a:r>
              <a:rPr lang="en-US" altLang="zh-CN" sz="2800" b="1" dirty="0">
                <a:solidFill>
                  <a:srgbClr val="0000AC"/>
                </a:solidFill>
              </a:rPr>
              <a:t>M+5.7</a:t>
            </a:r>
            <a:endParaRPr lang="zh-CN" altLang="en-US" sz="2800" b="1" dirty="0">
              <a:solidFill>
                <a:srgbClr val="0000AC"/>
              </a:solidFill>
            </a:endParaRPr>
          </a:p>
        </p:txBody>
      </p:sp>
      <p:sp>
        <p:nvSpPr>
          <p:cNvPr id="23" name="箭头: 下 22"/>
          <p:cNvSpPr/>
          <p:nvPr/>
        </p:nvSpPr>
        <p:spPr>
          <a:xfrm flipV="1">
            <a:off x="9215120" y="3140966"/>
            <a:ext cx="751840" cy="551246"/>
          </a:xfrm>
          <a:prstGeom prst="downArrow">
            <a:avLst>
              <a:gd name="adj1" fmla="val 52703"/>
              <a:gd name="adj2"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anim calcmode="lin" valueType="num">
                                      <p:cBhvr additive="base">
                                        <p:cTn id="21"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0">
                                            <p:txEl>
                                              <p:pRg st="1" end="1"/>
                                            </p:txEl>
                                          </p:spTgt>
                                        </p:tgtEl>
                                        <p:attrNameLst>
                                          <p:attrName>style.visibility</p:attrName>
                                        </p:attrNameLst>
                                      </p:cBhvr>
                                      <p:to>
                                        <p:strVal val="visible"/>
                                      </p:to>
                                    </p:set>
                                    <p:anim calcmode="lin" valueType="num">
                                      <p:cBhvr additive="base">
                                        <p:cTn id="27" dur="500" fill="hold"/>
                                        <p:tgtEl>
                                          <p:spTgt spid="20">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0">
                                            <p:txEl>
                                              <p:pRg st="2" end="2"/>
                                            </p:txEl>
                                          </p:spTgt>
                                        </p:tgtEl>
                                        <p:attrNameLst>
                                          <p:attrName>style.visibility</p:attrName>
                                        </p:attrNameLst>
                                      </p:cBhvr>
                                      <p:to>
                                        <p:strVal val="visible"/>
                                      </p:to>
                                    </p:set>
                                    <p:anim calcmode="lin" valueType="num">
                                      <p:cBhvr additive="base">
                                        <p:cTn id="33" dur="500" fill="hold"/>
                                        <p:tgtEl>
                                          <p:spTgt spid="20">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0" grpId="0" build="p"/>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7888" y="1709739"/>
            <a:ext cx="7886700" cy="2079302"/>
          </a:xfrm>
        </p:spPr>
        <p:txBody>
          <a:bodyPr/>
          <a:lstStyle/>
          <a:p>
            <a:r>
              <a:rPr lang="zh-CN" altLang="en-US" dirty="0"/>
              <a:t>六</a:t>
            </a:r>
            <a:r>
              <a:rPr lang="en-US" altLang="zh-CN" dirty="0"/>
              <a:t> </a:t>
            </a:r>
            <a:r>
              <a:rPr lang="zh-CN" altLang="en-US" dirty="0"/>
              <a:t>总结</a:t>
            </a:r>
            <a:endParaRPr lang="zh-CN" altLang="en-US" dirty="0"/>
          </a:p>
        </p:txBody>
      </p:sp>
      <p:sp>
        <p:nvSpPr>
          <p:cNvPr id="3" name="文本占位符 2"/>
          <p:cNvSpPr>
            <a:spLocks noGrp="1"/>
          </p:cNvSpPr>
          <p:nvPr>
            <p:ph type="body" idx="1"/>
          </p:nvPr>
        </p:nvSpPr>
        <p:spPr>
          <a:xfrm>
            <a:off x="2147888" y="4005065"/>
            <a:ext cx="7886700" cy="2084586"/>
          </a:xfrm>
        </p:spPr>
        <p:txBody>
          <a:bodyPr/>
          <a:lstStyle/>
          <a:p>
            <a:r>
              <a:rPr lang="zh-CN" altLang="en-US" dirty="0">
                <a:solidFill>
                  <a:srgbClr val="0322BD"/>
                </a:solidFill>
              </a:rPr>
              <a:t>总结单纯形解法。</a:t>
            </a:r>
            <a:endParaRPr lang="en-US" altLang="zh-CN" dirty="0">
              <a:solidFill>
                <a:srgbClr val="0322BD"/>
              </a:solidFill>
            </a:endParaRPr>
          </a:p>
          <a:p>
            <a:r>
              <a:rPr lang="zh-CN" altLang="en-US" dirty="0">
                <a:solidFill>
                  <a:srgbClr val="0322BD"/>
                </a:solidFill>
              </a:rPr>
              <a:t>总结单纯形法的本质为矩阵描述形式。</a:t>
            </a:r>
            <a:endParaRPr lang="en-US" altLang="zh-CN" dirty="0">
              <a:solidFill>
                <a:srgbClr val="0322BD"/>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7040" y="365125"/>
            <a:ext cx="10906760" cy="1325563"/>
          </a:xfrm>
        </p:spPr>
        <p:txBody>
          <a:bodyPr/>
          <a:lstStyle/>
          <a:p>
            <a:r>
              <a:rPr lang="zh-CN" altLang="en-US" dirty="0"/>
              <a:t>单纯形解法总结</a:t>
            </a:r>
            <a:r>
              <a:rPr lang="zh-CN" altLang="en-US" sz="4400" dirty="0"/>
              <a:t>从以下</a:t>
            </a:r>
            <a:r>
              <a:rPr lang="en-US" altLang="zh-CN" sz="4400" dirty="0"/>
              <a:t>3</a:t>
            </a:r>
            <a:r>
              <a:rPr lang="zh-CN" altLang="en-US" sz="4400" dirty="0"/>
              <a:t>个方面给出：</a:t>
            </a:r>
            <a:endParaRPr lang="zh-CN" altLang="en-US" dirty="0"/>
          </a:p>
        </p:txBody>
      </p:sp>
      <p:sp>
        <p:nvSpPr>
          <p:cNvPr id="3" name="内容占位符 2"/>
          <p:cNvSpPr>
            <a:spLocks noGrp="1"/>
          </p:cNvSpPr>
          <p:nvPr>
            <p:ph idx="1"/>
          </p:nvPr>
        </p:nvSpPr>
        <p:spPr/>
        <p:txBody>
          <a:bodyPr/>
          <a:lstStyle/>
          <a:p>
            <a:pPr>
              <a:lnSpc>
                <a:spcPct val="100000"/>
              </a:lnSpc>
              <a:buNone/>
            </a:pPr>
            <a:r>
              <a:rPr lang="en-US" altLang="zh-CN" sz="3200" dirty="0"/>
              <a:t>1.</a:t>
            </a:r>
            <a:r>
              <a:rPr lang="zh-CN" altLang="en-US" sz="3200" dirty="0"/>
              <a:t>各类线性规划问题如何化为简单标准形式</a:t>
            </a:r>
            <a:r>
              <a:rPr lang="en-US" altLang="zh-CN" sz="3200" dirty="0"/>
              <a:t>(</a:t>
            </a:r>
            <a:r>
              <a:rPr lang="zh-CN" altLang="en-US" sz="3200" dirty="0"/>
              <a:t>即含一个初始的单位矩阵</a:t>
            </a:r>
            <a:r>
              <a:rPr lang="en-US" altLang="zh-CN" sz="3200" dirty="0"/>
              <a:t>)</a:t>
            </a:r>
            <a:r>
              <a:rPr lang="zh-CN" altLang="en-US" sz="3200" dirty="0"/>
              <a:t>？</a:t>
            </a:r>
            <a:endParaRPr lang="en-US" altLang="zh-CN" sz="3200" dirty="0"/>
          </a:p>
          <a:p>
            <a:pPr>
              <a:lnSpc>
                <a:spcPct val="100000"/>
              </a:lnSpc>
              <a:buNone/>
            </a:pPr>
            <a:r>
              <a:rPr lang="en-US" altLang="zh-CN" sz="3200" dirty="0"/>
              <a:t>2.</a:t>
            </a:r>
            <a:r>
              <a:rPr lang="zh-CN" altLang="en-US" sz="3200" dirty="0"/>
              <a:t>单纯形法求解步骤</a:t>
            </a:r>
            <a:r>
              <a:rPr lang="en-US" altLang="zh-CN" sz="3200" dirty="0"/>
              <a:t>(</a:t>
            </a:r>
            <a:r>
              <a:rPr lang="zh-CN" altLang="en-US" sz="3200" dirty="0"/>
              <a:t>请用流程图表示</a:t>
            </a:r>
            <a:r>
              <a:rPr lang="en-US" altLang="zh-CN" sz="3200" dirty="0"/>
              <a:t>)</a:t>
            </a:r>
            <a:r>
              <a:rPr lang="zh-CN" altLang="en-US" sz="3200" dirty="0"/>
              <a:t>。</a:t>
            </a:r>
            <a:endParaRPr lang="en-US" altLang="zh-CN" sz="3200" dirty="0"/>
          </a:p>
          <a:p>
            <a:pPr>
              <a:lnSpc>
                <a:spcPct val="100000"/>
              </a:lnSpc>
              <a:buNone/>
            </a:pPr>
            <a:r>
              <a:rPr lang="en-US" altLang="zh-CN" sz="3200" dirty="0"/>
              <a:t>3.</a:t>
            </a:r>
            <a:r>
              <a:rPr lang="zh-CN" altLang="en-US" sz="3200" dirty="0"/>
              <a:t>图解法与单纯形法。</a:t>
            </a:r>
            <a:endParaRPr lang="zh-CN" altLang="en-US" sz="3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400" y="44624"/>
            <a:ext cx="11877040" cy="793750"/>
          </a:xfrm>
        </p:spPr>
        <p:txBody>
          <a:bodyPr>
            <a:noAutofit/>
          </a:bodyPr>
          <a:lstStyle/>
          <a:p>
            <a:r>
              <a:rPr lang="en-US" altLang="zh-CN" sz="2800" dirty="0">
                <a:solidFill>
                  <a:srgbClr val="00000C"/>
                </a:solidFill>
              </a:rPr>
              <a:t>1.</a:t>
            </a:r>
            <a:r>
              <a:rPr lang="zh-CN" altLang="en-US" sz="2800" dirty="0">
                <a:solidFill>
                  <a:srgbClr val="00000C"/>
                </a:solidFill>
              </a:rPr>
              <a:t>各类线性规划问题化为简单标准形式</a:t>
            </a:r>
            <a:r>
              <a:rPr lang="en-US" altLang="zh-CN" sz="2800" dirty="0">
                <a:solidFill>
                  <a:srgbClr val="00000C"/>
                </a:solidFill>
              </a:rPr>
              <a:t>(</a:t>
            </a:r>
            <a:r>
              <a:rPr lang="zh-CN" altLang="en-US" sz="2800" dirty="0">
                <a:solidFill>
                  <a:srgbClr val="00000C"/>
                </a:solidFill>
              </a:rPr>
              <a:t>即含一个初始的单位矩阵</a:t>
            </a:r>
            <a:r>
              <a:rPr lang="en-US" altLang="zh-CN" sz="2800" dirty="0">
                <a:solidFill>
                  <a:srgbClr val="00000C"/>
                </a:solidFill>
              </a:rPr>
              <a:t>)</a:t>
            </a:r>
            <a:endParaRPr lang="zh-CN" altLang="en-US" sz="2800" dirty="0">
              <a:solidFill>
                <a:srgbClr val="00000C"/>
              </a:solidFill>
            </a:endParaRPr>
          </a:p>
        </p:txBody>
      </p:sp>
      <p:graphicFrame>
        <p:nvGraphicFramePr>
          <p:cNvPr id="3" name="表格 2"/>
          <p:cNvGraphicFramePr>
            <a:graphicFrameLocks noGrp="1"/>
          </p:cNvGraphicFramePr>
          <p:nvPr/>
        </p:nvGraphicFramePr>
        <p:xfrm>
          <a:off x="579120" y="836712"/>
          <a:ext cx="10774680" cy="5760720"/>
        </p:xfrm>
        <a:graphic>
          <a:graphicData uri="http://schemas.openxmlformats.org/drawingml/2006/table">
            <a:tbl>
              <a:tblPr firstRow="1" bandRow="1">
                <a:tableStyleId>{5C22544A-7EE6-4342-B048-85BDC9FD1C3A}</a:tableStyleId>
              </a:tblPr>
              <a:tblGrid>
                <a:gridCol w="753202"/>
                <a:gridCol w="1375253"/>
                <a:gridCol w="3370055"/>
                <a:gridCol w="5276170"/>
              </a:tblGrid>
              <a:tr h="370840">
                <a:tc gridSpan="3">
                  <a:txBody>
                    <a:bodyPr/>
                    <a:lstStyle/>
                    <a:p>
                      <a:r>
                        <a:rPr lang="zh-CN" altLang="en-US" sz="2400" dirty="0">
                          <a:solidFill>
                            <a:srgbClr val="00000C"/>
                          </a:solidFill>
                        </a:rPr>
                        <a:t>线性规划模型</a:t>
                      </a:r>
                      <a:endParaRPr lang="zh-CN" altLang="en-US" sz="2400" dirty="0">
                        <a:solidFill>
                          <a:srgbClr val="00000C"/>
                        </a:solidFill>
                      </a:endParaRPr>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hMerge="1">
                  <a:tcPr/>
                </a:tc>
                <a:tc hMerge="1">
                  <a:tcPr/>
                </a:tc>
                <a:tc>
                  <a:txBody>
                    <a:bodyPr/>
                    <a:lstStyle/>
                    <a:p>
                      <a:r>
                        <a:rPr lang="zh-CN" altLang="en-US" sz="2400" dirty="0">
                          <a:solidFill>
                            <a:srgbClr val="00000C"/>
                          </a:solidFill>
                        </a:rPr>
                        <a:t>化为简单标准形式</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r>
              <a:tr h="370840">
                <a:tc gridSpan="2">
                  <a:txBody>
                    <a:bodyPr/>
                    <a:lstStyle/>
                    <a:p>
                      <a:r>
                        <a:rPr lang="zh-CN" altLang="en-US" sz="2400" dirty="0">
                          <a:solidFill>
                            <a:srgbClr val="00000C"/>
                          </a:solidFill>
                        </a:rPr>
                        <a:t>决策变量</a:t>
                      </a:r>
                      <a:endParaRPr lang="zh-CN" altLang="en-US" sz="2400" dirty="0">
                        <a:solidFill>
                          <a:srgbClr val="00000C"/>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a:t>
                      </a:r>
                      <a:r>
                        <a:rPr lang="en-US" altLang="zh-CN" sz="2400" baseline="0" dirty="0">
                          <a:solidFill>
                            <a:srgbClr val="00000C"/>
                          </a:solidFill>
                        </a:rPr>
                        <a:t> L</a:t>
                      </a:r>
                      <a:endParaRPr lang="en-US" altLang="zh-CN" sz="2400" baseline="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a:t>
                      </a:r>
                      <a:r>
                        <a:rPr lang="en-US" altLang="zh-CN" sz="2400" baseline="0" dirty="0">
                          <a:solidFill>
                            <a:srgbClr val="00000C"/>
                          </a:solidFill>
                        </a:rPr>
                        <a:t> 0</a:t>
                      </a:r>
                      <a:endParaRPr lang="en-US" altLang="zh-CN" sz="2400" baseline="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x</a:t>
                      </a:r>
                      <a:r>
                        <a:rPr lang="en-US" altLang="zh-CN" sz="2400" baseline="-25000" dirty="0">
                          <a:solidFill>
                            <a:srgbClr val="00000C"/>
                          </a:solidFill>
                        </a:rPr>
                        <a:t>j</a:t>
                      </a:r>
                      <a:r>
                        <a:rPr lang="zh-CN" altLang="en-US" sz="2400" baseline="0" dirty="0">
                          <a:solidFill>
                            <a:srgbClr val="00000C"/>
                          </a:solidFill>
                        </a:rPr>
                        <a:t>无限制</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zh-CN" altLang="en-US" sz="2400" dirty="0">
                          <a:solidFill>
                            <a:srgbClr val="00000C"/>
                          </a:solidFill>
                        </a:rPr>
                        <a:t>令</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r>
                        <a:rPr lang="en-US" altLang="zh-CN" sz="2400" baseline="0" dirty="0">
                          <a:solidFill>
                            <a:srgbClr val="00000C"/>
                          </a:solidFill>
                        </a:rPr>
                        <a:t>= </a:t>
                      </a:r>
                      <a:r>
                        <a:rPr lang="en-US" altLang="zh-CN" sz="2400" dirty="0" err="1">
                          <a:solidFill>
                            <a:srgbClr val="00000C"/>
                          </a:solidFill>
                        </a:rPr>
                        <a:t>x’</a:t>
                      </a:r>
                      <a:r>
                        <a:rPr lang="en-US" altLang="zh-CN" sz="2400" baseline="-25000" dirty="0" err="1">
                          <a:solidFill>
                            <a:srgbClr val="00000C"/>
                          </a:solidFill>
                        </a:rPr>
                        <a:t>j</a:t>
                      </a:r>
                      <a:r>
                        <a:rPr lang="en-US" altLang="zh-CN" sz="2400" dirty="0">
                          <a:solidFill>
                            <a:srgbClr val="00000C"/>
                          </a:solidFill>
                        </a:rPr>
                        <a:t> – L</a:t>
                      </a:r>
                      <a:endParaRPr lang="en-US" altLang="zh-CN" sz="240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a:solidFill>
                            <a:srgbClr val="00000C"/>
                          </a:solidFill>
                        </a:rPr>
                        <a:t>令</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r>
                        <a:rPr lang="en-US" altLang="zh-CN" sz="2400" baseline="0" dirty="0">
                          <a:solidFill>
                            <a:srgbClr val="00000C"/>
                          </a:solidFill>
                        </a:rPr>
                        <a:t>= -</a:t>
                      </a:r>
                      <a:r>
                        <a:rPr lang="en-US" altLang="zh-CN" sz="2400" dirty="0" err="1">
                          <a:solidFill>
                            <a:srgbClr val="00000C"/>
                          </a:solidFill>
                        </a:rPr>
                        <a:t>x’</a:t>
                      </a:r>
                      <a:r>
                        <a:rPr lang="en-US" altLang="zh-CN" sz="2400" baseline="-25000" dirty="0" err="1">
                          <a:solidFill>
                            <a:srgbClr val="00000C"/>
                          </a:solidFill>
                        </a:rPr>
                        <a:t>j</a:t>
                      </a:r>
                      <a:r>
                        <a:rPr lang="en-US" altLang="zh-CN" sz="2400" dirty="0">
                          <a:solidFill>
                            <a:srgbClr val="00000C"/>
                          </a:solidFill>
                        </a:rPr>
                        <a:t> </a:t>
                      </a:r>
                      <a:r>
                        <a:rPr lang="zh-CN" altLang="en-US" sz="2400" dirty="0">
                          <a:solidFill>
                            <a:srgbClr val="00000C"/>
                          </a:solidFill>
                        </a:rPr>
                        <a:t>，则</a:t>
                      </a:r>
                      <a:r>
                        <a:rPr lang="en-US" altLang="zh-CN" sz="2400" dirty="0" err="1">
                          <a:solidFill>
                            <a:srgbClr val="00000C"/>
                          </a:solidFill>
                        </a:rPr>
                        <a:t>x’</a:t>
                      </a:r>
                      <a:r>
                        <a:rPr lang="en-US" altLang="zh-CN" sz="2400" baseline="-25000" dirty="0" err="1">
                          <a:solidFill>
                            <a:srgbClr val="00000C"/>
                          </a:solidFill>
                        </a:rPr>
                        <a:t>j</a:t>
                      </a:r>
                      <a:r>
                        <a:rPr lang="en-US" altLang="zh-CN" sz="2400" dirty="0">
                          <a:solidFill>
                            <a:srgbClr val="00000C"/>
                          </a:solidFill>
                        </a:rPr>
                        <a:t> </a:t>
                      </a:r>
                      <a:r>
                        <a:rPr lang="en-US" altLang="zh-CN" sz="2400" baseline="0" dirty="0">
                          <a:solidFill>
                            <a:srgbClr val="00000C"/>
                          </a:solidFill>
                        </a:rPr>
                        <a:t>≥0 </a:t>
                      </a:r>
                      <a:endParaRPr lang="zh-CN" altLang="en-US" sz="240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a:solidFill>
                            <a:srgbClr val="00000C"/>
                          </a:solidFill>
                        </a:rPr>
                        <a:t>令</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r>
                        <a:rPr lang="en-US" altLang="zh-CN" sz="2400" baseline="0" dirty="0">
                          <a:solidFill>
                            <a:srgbClr val="00000C"/>
                          </a:solidFill>
                        </a:rPr>
                        <a:t>= </a:t>
                      </a:r>
                      <a:r>
                        <a:rPr lang="en-US" altLang="zh-CN" sz="2400" dirty="0" err="1">
                          <a:solidFill>
                            <a:srgbClr val="00000C"/>
                          </a:solidFill>
                        </a:rPr>
                        <a:t>x’</a:t>
                      </a:r>
                      <a:r>
                        <a:rPr lang="en-US" altLang="zh-CN" sz="2400" baseline="-25000" dirty="0" err="1">
                          <a:solidFill>
                            <a:srgbClr val="00000C"/>
                          </a:solidFill>
                        </a:rPr>
                        <a:t>j</a:t>
                      </a:r>
                      <a:r>
                        <a:rPr lang="en-US" altLang="zh-CN" sz="2400" dirty="0">
                          <a:solidFill>
                            <a:srgbClr val="00000C"/>
                          </a:solidFill>
                        </a:rPr>
                        <a:t> - </a:t>
                      </a:r>
                      <a:r>
                        <a:rPr lang="en-US" altLang="zh-CN" sz="2400" dirty="0" err="1">
                          <a:solidFill>
                            <a:srgbClr val="00000C"/>
                          </a:solidFill>
                        </a:rPr>
                        <a:t>x’’</a:t>
                      </a:r>
                      <a:r>
                        <a:rPr lang="en-US" altLang="zh-CN" sz="2400" baseline="-25000" dirty="0" err="1">
                          <a:solidFill>
                            <a:srgbClr val="00000C"/>
                          </a:solidFill>
                        </a:rPr>
                        <a:t>j</a:t>
                      </a:r>
                      <a:r>
                        <a:rPr lang="en-US" altLang="zh-CN" sz="2400" dirty="0">
                          <a:solidFill>
                            <a:srgbClr val="00000C"/>
                          </a:solidFill>
                        </a:rPr>
                        <a:t> (</a:t>
                      </a:r>
                      <a:r>
                        <a:rPr lang="en-US" altLang="zh-CN" sz="2400" dirty="0" err="1">
                          <a:solidFill>
                            <a:srgbClr val="00000C"/>
                          </a:solidFill>
                        </a:rPr>
                        <a:t>x’</a:t>
                      </a:r>
                      <a:r>
                        <a:rPr lang="en-US" altLang="zh-CN" sz="2400" baseline="-25000" dirty="0" err="1">
                          <a:solidFill>
                            <a:srgbClr val="00000C"/>
                          </a:solidFill>
                        </a:rPr>
                        <a:t>j</a:t>
                      </a:r>
                      <a:r>
                        <a:rPr lang="en-US" altLang="zh-CN" sz="2400" dirty="0">
                          <a:solidFill>
                            <a:srgbClr val="00000C"/>
                          </a:solidFill>
                        </a:rPr>
                        <a:t>  </a:t>
                      </a:r>
                      <a:r>
                        <a:rPr lang="en-US" altLang="zh-CN" sz="2400" dirty="0" err="1">
                          <a:solidFill>
                            <a:srgbClr val="00000C"/>
                          </a:solidFill>
                        </a:rPr>
                        <a:t>x’’</a:t>
                      </a:r>
                      <a:r>
                        <a:rPr lang="en-US" altLang="zh-CN" sz="2400" baseline="-25000" dirty="0" err="1">
                          <a:solidFill>
                            <a:srgbClr val="00000C"/>
                          </a:solidFill>
                        </a:rPr>
                        <a:t>j</a:t>
                      </a:r>
                      <a:r>
                        <a:rPr lang="en-US" altLang="zh-CN" sz="2400" dirty="0">
                          <a:solidFill>
                            <a:srgbClr val="00000C"/>
                          </a:solidFill>
                        </a:rPr>
                        <a:t> ≥0)</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rowSpan="2">
                  <a:txBody>
                    <a:bodyPr/>
                    <a:lstStyle/>
                    <a:p>
                      <a:r>
                        <a:rPr lang="zh-CN" altLang="en-US" sz="2400" dirty="0">
                          <a:solidFill>
                            <a:srgbClr val="00000C"/>
                          </a:solidFill>
                        </a:rPr>
                        <a:t>约束条件</a:t>
                      </a:r>
                      <a:endParaRPr lang="zh-CN" altLang="en-US" sz="2400" dirty="0">
                        <a:solidFill>
                          <a:srgbClr val="00000C"/>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zh-CN" altLang="en-US" sz="2400" dirty="0">
                          <a:solidFill>
                            <a:srgbClr val="00000C"/>
                          </a:solidFill>
                        </a:rPr>
                        <a:t>右边</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altLang="zh-CN" sz="2400" dirty="0">
                          <a:solidFill>
                            <a:srgbClr val="00000C"/>
                          </a:solidFill>
                        </a:rPr>
                        <a:t>b</a:t>
                      </a:r>
                      <a:r>
                        <a:rPr lang="en-US" altLang="zh-CN" sz="2400" baseline="-25000" dirty="0">
                          <a:solidFill>
                            <a:srgbClr val="00000C"/>
                          </a:solidFill>
                        </a:rPr>
                        <a:t>i</a:t>
                      </a:r>
                      <a:r>
                        <a:rPr lang="en-US" altLang="zh-CN" sz="2400" dirty="0">
                          <a:solidFill>
                            <a:srgbClr val="00000C"/>
                          </a:solidFill>
                        </a:rPr>
                        <a:t> ≥ 0</a:t>
                      </a:r>
                      <a:endParaRPr lang="en-US" altLang="zh-CN" sz="240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0000C"/>
                          </a:solidFill>
                        </a:rPr>
                        <a:t>b</a:t>
                      </a:r>
                      <a:r>
                        <a:rPr lang="en-US" altLang="zh-CN" sz="2400" baseline="-25000" dirty="0">
                          <a:solidFill>
                            <a:srgbClr val="00000C"/>
                          </a:solidFill>
                        </a:rPr>
                        <a:t>i</a:t>
                      </a:r>
                      <a:r>
                        <a:rPr lang="en-US" altLang="zh-CN" sz="2400" dirty="0">
                          <a:solidFill>
                            <a:srgbClr val="00000C"/>
                          </a:solidFill>
                        </a:rPr>
                        <a:t> &lt; 0</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zh-CN" altLang="en-US" sz="2400" dirty="0">
                          <a:solidFill>
                            <a:srgbClr val="00000C"/>
                          </a:solidFill>
                        </a:rPr>
                        <a:t>不变</a:t>
                      </a:r>
                      <a:endParaRPr lang="en-US" altLang="zh-CN" sz="2400" dirty="0">
                        <a:solidFill>
                          <a:srgbClr val="00000C"/>
                        </a:solidFill>
                      </a:endParaRPr>
                    </a:p>
                    <a:p>
                      <a:r>
                        <a:rPr lang="zh-CN" altLang="en-US" sz="2400" dirty="0">
                          <a:solidFill>
                            <a:srgbClr val="00000C"/>
                          </a:solidFill>
                        </a:rPr>
                        <a:t>约束条件两端乘以“</a:t>
                      </a:r>
                      <a:r>
                        <a:rPr lang="en-US" altLang="zh-CN" sz="2400" dirty="0">
                          <a:solidFill>
                            <a:srgbClr val="00000C"/>
                          </a:solidFill>
                        </a:rPr>
                        <a:t>-1</a:t>
                      </a:r>
                      <a:r>
                        <a:rPr lang="zh-CN" altLang="en-US" sz="2400" dirty="0">
                          <a:solidFill>
                            <a:srgbClr val="00000C"/>
                          </a:solidFill>
                        </a:rPr>
                        <a:t>”</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zh-CN" altLang="en-US" sz="2400" dirty="0">
                          <a:solidFill>
                            <a:srgbClr val="00000C"/>
                          </a:solidFill>
                        </a:rPr>
                        <a:t>形式</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zh-CN" altLang="en-US" sz="2400" dirty="0">
                          <a:solidFill>
                            <a:srgbClr val="00000C"/>
                          </a:solidFill>
                        </a:rPr>
                        <a:t>∑</a:t>
                      </a:r>
                      <a:r>
                        <a:rPr lang="en-US" altLang="zh-CN" sz="2400" dirty="0">
                          <a:solidFill>
                            <a:srgbClr val="00000C"/>
                          </a:solidFill>
                        </a:rPr>
                        <a:t>a</a:t>
                      </a:r>
                      <a:r>
                        <a:rPr lang="en-US" altLang="zh-CN" sz="2400" baseline="-25000" dirty="0">
                          <a:solidFill>
                            <a:srgbClr val="00000C"/>
                          </a:solidFill>
                        </a:rPr>
                        <a:t>ij</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≤b</a:t>
                      </a:r>
                      <a:r>
                        <a:rPr lang="en-US" altLang="zh-CN" sz="2400" baseline="-25000" dirty="0">
                          <a:solidFill>
                            <a:srgbClr val="00000C"/>
                          </a:solidFill>
                        </a:rPr>
                        <a:t>i</a:t>
                      </a:r>
                      <a:endParaRPr lang="en-US" altLang="zh-CN" sz="2400" baseline="-2500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a:solidFill>
                            <a:srgbClr val="00000C"/>
                          </a:solidFill>
                        </a:rPr>
                        <a:t>∑</a:t>
                      </a:r>
                      <a:r>
                        <a:rPr lang="en-US" altLang="zh-CN" sz="2400" dirty="0">
                          <a:solidFill>
                            <a:srgbClr val="00000C"/>
                          </a:solidFill>
                        </a:rPr>
                        <a:t>a</a:t>
                      </a:r>
                      <a:r>
                        <a:rPr lang="en-US" altLang="zh-CN" sz="2400" baseline="-25000" dirty="0">
                          <a:solidFill>
                            <a:srgbClr val="00000C"/>
                          </a:solidFill>
                        </a:rPr>
                        <a:t>ij</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=b</a:t>
                      </a:r>
                      <a:r>
                        <a:rPr lang="en-US" altLang="zh-CN" sz="2400" baseline="-25000" dirty="0">
                          <a:solidFill>
                            <a:srgbClr val="00000C"/>
                          </a:solidFill>
                        </a:rPr>
                        <a:t>i</a:t>
                      </a:r>
                      <a:endParaRPr lang="zh-CN" altLang="en-US" sz="2400" baseline="-2500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a:solidFill>
                            <a:srgbClr val="00000C"/>
                          </a:solidFill>
                        </a:rPr>
                        <a:t>∑</a:t>
                      </a:r>
                      <a:r>
                        <a:rPr lang="en-US" altLang="zh-CN" sz="2400" dirty="0">
                          <a:solidFill>
                            <a:srgbClr val="00000C"/>
                          </a:solidFill>
                        </a:rPr>
                        <a:t>a</a:t>
                      </a:r>
                      <a:r>
                        <a:rPr lang="en-US" altLang="zh-CN" sz="2400" baseline="-25000" dirty="0">
                          <a:solidFill>
                            <a:srgbClr val="00000C"/>
                          </a:solidFill>
                        </a:rPr>
                        <a:t>ij</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≥b</a:t>
                      </a:r>
                      <a:r>
                        <a:rPr lang="en-US" altLang="zh-CN" sz="2400" baseline="-25000" dirty="0">
                          <a:solidFill>
                            <a:srgbClr val="00000C"/>
                          </a:solidFill>
                        </a:rPr>
                        <a:t>i</a:t>
                      </a:r>
                      <a:endParaRPr lang="zh-CN" altLang="en-US" sz="2400" baseline="-250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a:solidFill>
                            <a:srgbClr val="00000C"/>
                          </a:solidFill>
                        </a:rPr>
                        <a:t>∑</a:t>
                      </a:r>
                      <a:r>
                        <a:rPr lang="en-US" altLang="zh-CN" sz="2400" dirty="0">
                          <a:solidFill>
                            <a:srgbClr val="00000C"/>
                          </a:solidFill>
                        </a:rPr>
                        <a:t>a</a:t>
                      </a:r>
                      <a:r>
                        <a:rPr lang="en-US" altLang="zh-CN" sz="2400" baseline="-25000" dirty="0">
                          <a:solidFill>
                            <a:srgbClr val="00000C"/>
                          </a:solidFill>
                        </a:rPr>
                        <a:t>ij</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r>
                        <a:rPr lang="en-US" altLang="zh-CN" sz="2400" baseline="0" dirty="0">
                          <a:solidFill>
                            <a:srgbClr val="00000C"/>
                          </a:solidFill>
                        </a:rPr>
                        <a:t>+ </a:t>
                      </a:r>
                      <a:r>
                        <a:rPr lang="en-US" altLang="zh-CN" sz="2400" dirty="0" err="1">
                          <a:solidFill>
                            <a:srgbClr val="00000C"/>
                          </a:solidFill>
                        </a:rPr>
                        <a:t>x</a:t>
                      </a:r>
                      <a:r>
                        <a:rPr lang="en-US" altLang="zh-CN" sz="2400" baseline="-25000" dirty="0" err="1">
                          <a:solidFill>
                            <a:srgbClr val="00000C"/>
                          </a:solidFill>
                        </a:rPr>
                        <a:t>si</a:t>
                      </a:r>
                      <a:r>
                        <a:rPr lang="en-US" altLang="zh-CN" sz="2400" baseline="0" dirty="0">
                          <a:solidFill>
                            <a:srgbClr val="00000C"/>
                          </a:solidFill>
                        </a:rPr>
                        <a:t>=</a:t>
                      </a:r>
                      <a:r>
                        <a:rPr lang="en-US" altLang="zh-CN" sz="2400" kern="1200" baseline="0" dirty="0">
                          <a:solidFill>
                            <a:srgbClr val="00000C"/>
                          </a:solidFill>
                          <a:latin typeface="+mn-lt"/>
                          <a:ea typeface="+mn-ea"/>
                          <a:cs typeface="+mn-cs"/>
                        </a:rPr>
                        <a:t>b</a:t>
                      </a:r>
                      <a:r>
                        <a:rPr lang="en-US" altLang="zh-CN" sz="2400" kern="1200" baseline="-25000" dirty="0">
                          <a:solidFill>
                            <a:srgbClr val="00000C"/>
                          </a:solidFill>
                          <a:latin typeface="+mn-lt"/>
                          <a:ea typeface="+mn-ea"/>
                          <a:cs typeface="+mn-cs"/>
                        </a:rPr>
                        <a:t>i</a:t>
                      </a:r>
                      <a:endParaRPr lang="en-US" altLang="zh-CN" sz="2400" kern="1200" baseline="-25000" dirty="0">
                        <a:solidFill>
                          <a:srgbClr val="00000C"/>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a:solidFill>
                            <a:srgbClr val="00000C"/>
                          </a:solidFill>
                        </a:rPr>
                        <a:t>∑</a:t>
                      </a:r>
                      <a:r>
                        <a:rPr lang="en-US" altLang="zh-CN" sz="2400" dirty="0">
                          <a:solidFill>
                            <a:srgbClr val="00000C"/>
                          </a:solidFill>
                        </a:rPr>
                        <a:t>a</a:t>
                      </a:r>
                      <a:r>
                        <a:rPr lang="en-US" altLang="zh-CN" sz="2400" baseline="-25000" dirty="0">
                          <a:solidFill>
                            <a:srgbClr val="00000C"/>
                          </a:solidFill>
                        </a:rPr>
                        <a:t>ij</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r>
                        <a:rPr lang="en-US" altLang="zh-CN" sz="2400" baseline="0" dirty="0">
                          <a:solidFill>
                            <a:srgbClr val="00000C"/>
                          </a:solidFill>
                        </a:rPr>
                        <a:t>+ </a:t>
                      </a:r>
                      <a:r>
                        <a:rPr lang="en-US" altLang="zh-CN" sz="2400" dirty="0" err="1">
                          <a:solidFill>
                            <a:srgbClr val="00000C"/>
                          </a:solidFill>
                        </a:rPr>
                        <a:t>x</a:t>
                      </a:r>
                      <a:r>
                        <a:rPr lang="en-US" altLang="zh-CN" sz="2400" baseline="-25000" dirty="0" err="1">
                          <a:solidFill>
                            <a:srgbClr val="00000C"/>
                          </a:solidFill>
                        </a:rPr>
                        <a:t>ai</a:t>
                      </a:r>
                      <a:r>
                        <a:rPr lang="en-US" altLang="zh-CN" sz="2400" baseline="0" dirty="0">
                          <a:solidFill>
                            <a:srgbClr val="00000C"/>
                          </a:solidFill>
                        </a:rPr>
                        <a:t>=</a:t>
                      </a:r>
                      <a:r>
                        <a:rPr lang="en-US" altLang="zh-CN" sz="2400" kern="1200" baseline="0" dirty="0">
                          <a:solidFill>
                            <a:srgbClr val="00000C"/>
                          </a:solidFill>
                          <a:latin typeface="+mn-lt"/>
                          <a:ea typeface="+mn-ea"/>
                          <a:cs typeface="+mn-cs"/>
                        </a:rPr>
                        <a:t>b</a:t>
                      </a:r>
                      <a:r>
                        <a:rPr lang="en-US" altLang="zh-CN" sz="2400" kern="1200" baseline="-25000" dirty="0">
                          <a:solidFill>
                            <a:srgbClr val="00000C"/>
                          </a:solidFill>
                          <a:latin typeface="+mn-lt"/>
                          <a:ea typeface="+mn-ea"/>
                          <a:cs typeface="+mn-cs"/>
                        </a:rPr>
                        <a:t>i</a:t>
                      </a:r>
                      <a:endParaRPr lang="en-US" altLang="zh-CN" sz="2400" baseline="-2500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2400" dirty="0">
                          <a:solidFill>
                            <a:srgbClr val="00000C"/>
                          </a:solidFill>
                        </a:rPr>
                        <a:t>∑</a:t>
                      </a:r>
                      <a:r>
                        <a:rPr lang="en-US" altLang="zh-CN" sz="2400" dirty="0">
                          <a:solidFill>
                            <a:srgbClr val="00000C"/>
                          </a:solidFill>
                        </a:rPr>
                        <a:t>a</a:t>
                      </a:r>
                      <a:r>
                        <a:rPr lang="en-US" altLang="zh-CN" sz="2400" baseline="-25000" dirty="0">
                          <a:solidFill>
                            <a:srgbClr val="00000C"/>
                          </a:solidFill>
                        </a:rPr>
                        <a:t>ij</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r>
                        <a:rPr lang="en-US" altLang="zh-CN" sz="2400" baseline="0" dirty="0">
                          <a:solidFill>
                            <a:srgbClr val="00000C"/>
                          </a:solidFill>
                        </a:rPr>
                        <a:t>- </a:t>
                      </a:r>
                      <a:r>
                        <a:rPr lang="en-US" altLang="zh-CN" sz="2400" dirty="0" err="1">
                          <a:solidFill>
                            <a:srgbClr val="00000C"/>
                          </a:solidFill>
                        </a:rPr>
                        <a:t>x</a:t>
                      </a:r>
                      <a:r>
                        <a:rPr lang="en-US" altLang="zh-CN" sz="2400" baseline="-25000" dirty="0" err="1">
                          <a:solidFill>
                            <a:srgbClr val="00000C"/>
                          </a:solidFill>
                        </a:rPr>
                        <a:t>si</a:t>
                      </a:r>
                      <a:r>
                        <a:rPr lang="en-US" altLang="zh-CN" sz="2400" baseline="0" dirty="0">
                          <a:solidFill>
                            <a:srgbClr val="00000C"/>
                          </a:solidFill>
                        </a:rPr>
                        <a:t>+ </a:t>
                      </a:r>
                      <a:r>
                        <a:rPr lang="en-US" altLang="zh-CN" sz="2400" dirty="0" err="1">
                          <a:solidFill>
                            <a:srgbClr val="00000C"/>
                          </a:solidFill>
                        </a:rPr>
                        <a:t>x</a:t>
                      </a:r>
                      <a:r>
                        <a:rPr lang="en-US" altLang="zh-CN" sz="2400" baseline="-25000" dirty="0" err="1">
                          <a:solidFill>
                            <a:srgbClr val="00000C"/>
                          </a:solidFill>
                        </a:rPr>
                        <a:t>ai</a:t>
                      </a:r>
                      <a:r>
                        <a:rPr lang="en-US" altLang="zh-CN" sz="2400" baseline="0" dirty="0">
                          <a:solidFill>
                            <a:srgbClr val="00000C"/>
                          </a:solidFill>
                        </a:rPr>
                        <a:t>=</a:t>
                      </a:r>
                      <a:r>
                        <a:rPr lang="en-US" altLang="zh-CN" sz="2400" kern="1200" baseline="0" dirty="0">
                          <a:solidFill>
                            <a:srgbClr val="00000C"/>
                          </a:solidFill>
                          <a:latin typeface="+mn-lt"/>
                          <a:ea typeface="+mn-ea"/>
                          <a:cs typeface="+mn-cs"/>
                        </a:rPr>
                        <a:t>b</a:t>
                      </a:r>
                      <a:r>
                        <a:rPr lang="en-US" altLang="zh-CN" sz="2400" kern="1200" baseline="-25000" dirty="0">
                          <a:solidFill>
                            <a:srgbClr val="00000C"/>
                          </a:solidFill>
                          <a:latin typeface="+mn-lt"/>
                          <a:ea typeface="+mn-ea"/>
                          <a:cs typeface="+mn-cs"/>
                        </a:rPr>
                        <a:t>i</a:t>
                      </a:r>
                      <a:endParaRPr lang="en-US" altLang="zh-CN" sz="2400" baseline="-25000" dirty="0">
                        <a:solidFill>
                          <a:srgbClr val="00000C"/>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rowSpan="3">
                  <a:txBody>
                    <a:bodyPr/>
                    <a:lstStyle/>
                    <a:p>
                      <a:r>
                        <a:rPr lang="zh-CN" altLang="en-US" sz="2400" dirty="0">
                          <a:solidFill>
                            <a:srgbClr val="00000C"/>
                          </a:solidFill>
                        </a:rPr>
                        <a:t>目标函数</a:t>
                      </a:r>
                      <a:endParaRPr lang="zh-CN" altLang="en-US" sz="2400" dirty="0">
                        <a:solidFill>
                          <a:srgbClr val="00000C"/>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r>
                        <a:rPr lang="zh-CN" altLang="en-US" sz="2400" dirty="0">
                          <a:solidFill>
                            <a:srgbClr val="00000C"/>
                          </a:solidFill>
                        </a:rPr>
                        <a:t>极大</a:t>
                      </a:r>
                      <a:endParaRPr lang="en-US" altLang="zh-CN" sz="2400" dirty="0">
                        <a:solidFill>
                          <a:srgbClr val="00000C"/>
                        </a:solidFill>
                      </a:endParaRPr>
                    </a:p>
                    <a:p>
                      <a:r>
                        <a:rPr lang="zh-CN" altLang="en-US" sz="2400" dirty="0">
                          <a:solidFill>
                            <a:srgbClr val="00000C"/>
                          </a:solidFill>
                        </a:rPr>
                        <a:t>极小</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altLang="zh-CN" sz="2400" dirty="0" err="1">
                          <a:solidFill>
                            <a:srgbClr val="00000C"/>
                          </a:solidFill>
                        </a:rPr>
                        <a:t>maxz</a:t>
                      </a:r>
                      <a:r>
                        <a:rPr lang="en-US" altLang="zh-CN" sz="2400" dirty="0">
                          <a:solidFill>
                            <a:srgbClr val="00000C"/>
                          </a:solidFill>
                        </a:rPr>
                        <a:t> = </a:t>
                      </a:r>
                      <a:r>
                        <a:rPr lang="zh-CN" altLang="en-US" sz="2400" dirty="0">
                          <a:solidFill>
                            <a:srgbClr val="00000C"/>
                          </a:solidFill>
                        </a:rPr>
                        <a:t>∑</a:t>
                      </a:r>
                      <a:r>
                        <a:rPr lang="en-US" altLang="zh-CN" sz="2400" dirty="0">
                          <a:solidFill>
                            <a:srgbClr val="00000C"/>
                          </a:solidFill>
                        </a:rPr>
                        <a:t>c</a:t>
                      </a:r>
                      <a:r>
                        <a:rPr lang="en-US" altLang="zh-CN" sz="2400" baseline="-25000" dirty="0">
                          <a:solidFill>
                            <a:srgbClr val="00000C"/>
                          </a:solidFill>
                        </a:rPr>
                        <a:t>j</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endParaRPr lang="en-US" altLang="zh-CN" sz="240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err="1">
                          <a:solidFill>
                            <a:srgbClr val="00000C"/>
                          </a:solidFill>
                        </a:rPr>
                        <a:t>minz</a:t>
                      </a:r>
                      <a:r>
                        <a:rPr lang="en-US" altLang="zh-CN" sz="2400" dirty="0">
                          <a:solidFill>
                            <a:srgbClr val="00000C"/>
                          </a:solidFill>
                        </a:rPr>
                        <a:t> = </a:t>
                      </a:r>
                      <a:r>
                        <a:rPr lang="zh-CN" altLang="en-US" sz="2400" dirty="0">
                          <a:solidFill>
                            <a:srgbClr val="00000C"/>
                          </a:solidFill>
                        </a:rPr>
                        <a:t>∑</a:t>
                      </a:r>
                      <a:r>
                        <a:rPr lang="en-US" altLang="zh-CN" sz="2400" dirty="0">
                          <a:solidFill>
                            <a:srgbClr val="00000C"/>
                          </a:solidFill>
                        </a:rPr>
                        <a:t>c</a:t>
                      </a:r>
                      <a:r>
                        <a:rPr lang="en-US" altLang="zh-CN" sz="2400" baseline="-25000" dirty="0">
                          <a:solidFill>
                            <a:srgbClr val="00000C"/>
                          </a:solidFill>
                        </a:rPr>
                        <a:t>j</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zh-CN" altLang="en-US" sz="2400" dirty="0">
                          <a:solidFill>
                            <a:srgbClr val="00000C"/>
                          </a:solidFill>
                        </a:rPr>
                        <a:t>不变</a:t>
                      </a:r>
                      <a:endParaRPr lang="en-US" altLang="zh-CN" sz="2400" dirty="0">
                        <a:solidFill>
                          <a:srgbClr val="00000C"/>
                        </a:solidFill>
                      </a:endParaRPr>
                    </a:p>
                    <a:p>
                      <a:r>
                        <a:rPr lang="zh-CN" altLang="en-US" sz="2400" dirty="0">
                          <a:solidFill>
                            <a:srgbClr val="00000C"/>
                          </a:solidFill>
                        </a:rPr>
                        <a:t>令</a:t>
                      </a:r>
                      <a:r>
                        <a:rPr lang="en-US" altLang="zh-CN" sz="2400" dirty="0">
                          <a:solidFill>
                            <a:srgbClr val="00000C"/>
                          </a:solidFill>
                        </a:rPr>
                        <a:t>z’ = -z</a:t>
                      </a:r>
                      <a:r>
                        <a:rPr lang="zh-CN" altLang="en-US" sz="2400" dirty="0">
                          <a:solidFill>
                            <a:srgbClr val="00000C"/>
                          </a:solidFill>
                        </a:rPr>
                        <a:t>化为求</a:t>
                      </a:r>
                      <a:r>
                        <a:rPr lang="en-US" altLang="zh-CN" sz="2400" dirty="0" err="1">
                          <a:solidFill>
                            <a:srgbClr val="00000C"/>
                          </a:solidFill>
                        </a:rPr>
                        <a:t>maxz</a:t>
                      </a:r>
                      <a:r>
                        <a:rPr lang="en-US" altLang="zh-CN" sz="2400" dirty="0">
                          <a:solidFill>
                            <a:srgbClr val="00000C"/>
                          </a:solidFill>
                        </a:rPr>
                        <a:t>’</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vMerge="1">
                  <a:tcPr/>
                </a:tc>
                <a:tc>
                  <a:txBody>
                    <a:bodyPr/>
                    <a:lstStyle/>
                    <a:p>
                      <a:r>
                        <a:rPr lang="en-US" altLang="zh-CN" sz="2400" dirty="0" err="1">
                          <a:solidFill>
                            <a:srgbClr val="00000C"/>
                          </a:solidFill>
                        </a:rPr>
                        <a:t>x</a:t>
                      </a:r>
                      <a:r>
                        <a:rPr lang="en-US" altLang="zh-CN" sz="2400" baseline="-25000" dirty="0" err="1">
                          <a:solidFill>
                            <a:srgbClr val="00000C"/>
                          </a:solidFill>
                        </a:rPr>
                        <a:t>s</a:t>
                      </a:r>
                      <a:r>
                        <a:rPr lang="zh-CN" altLang="en-US" sz="2400" dirty="0">
                          <a:solidFill>
                            <a:srgbClr val="00000C"/>
                          </a:solidFill>
                        </a:rPr>
                        <a:t>和</a:t>
                      </a:r>
                      <a:r>
                        <a:rPr lang="en-US" altLang="zh-CN" sz="2400" dirty="0" err="1">
                          <a:solidFill>
                            <a:srgbClr val="00000C"/>
                          </a:solidFill>
                        </a:rPr>
                        <a:t>x</a:t>
                      </a:r>
                      <a:r>
                        <a:rPr lang="en-US" altLang="zh-CN" sz="2400" baseline="-25000" dirty="0" err="1">
                          <a:solidFill>
                            <a:srgbClr val="00000C"/>
                          </a:solidFill>
                        </a:rPr>
                        <a:t>a</a:t>
                      </a:r>
                      <a:r>
                        <a:rPr lang="zh-CN" altLang="en-US" sz="2400" dirty="0">
                          <a:solidFill>
                            <a:srgbClr val="00000C"/>
                          </a:solidFill>
                        </a:rPr>
                        <a:t>的系数</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zh-CN" altLang="en-US" sz="2400" dirty="0">
                          <a:solidFill>
                            <a:srgbClr val="00000C"/>
                          </a:solidFill>
                        </a:rPr>
                        <a:t>加入松弛变量</a:t>
                      </a:r>
                      <a:r>
                        <a:rPr lang="en-US" altLang="zh-CN" sz="2400" dirty="0" err="1">
                          <a:solidFill>
                            <a:srgbClr val="00000C"/>
                          </a:solidFill>
                        </a:rPr>
                        <a:t>x</a:t>
                      </a:r>
                      <a:r>
                        <a:rPr lang="en-US" altLang="zh-CN" sz="2400" baseline="-25000" dirty="0" err="1">
                          <a:solidFill>
                            <a:srgbClr val="00000C"/>
                          </a:solidFill>
                        </a:rPr>
                        <a:t>s</a:t>
                      </a:r>
                      <a:r>
                        <a:rPr lang="zh-CN" altLang="en-US" sz="2400" baseline="0" dirty="0">
                          <a:solidFill>
                            <a:srgbClr val="00000C"/>
                          </a:solidFill>
                        </a:rPr>
                        <a:t>时</a:t>
                      </a:r>
                      <a:endParaRPr lang="en-US" altLang="zh-CN" sz="2400" baseline="0" dirty="0">
                        <a:solidFill>
                          <a:srgbClr val="00000C"/>
                        </a:solidFill>
                      </a:endParaRPr>
                    </a:p>
                    <a:p>
                      <a:r>
                        <a:rPr lang="zh-CN" altLang="en-US" sz="2400" dirty="0">
                          <a:solidFill>
                            <a:srgbClr val="00000C"/>
                          </a:solidFill>
                        </a:rPr>
                        <a:t>加入人工变量</a:t>
                      </a:r>
                      <a:r>
                        <a:rPr lang="en-US" altLang="zh-CN" sz="2400" dirty="0" err="1">
                          <a:solidFill>
                            <a:srgbClr val="00000C"/>
                          </a:solidFill>
                        </a:rPr>
                        <a:t>x</a:t>
                      </a:r>
                      <a:r>
                        <a:rPr lang="en-US" altLang="zh-CN" sz="2400" baseline="-25000" dirty="0" err="1">
                          <a:solidFill>
                            <a:srgbClr val="00000C"/>
                          </a:solidFill>
                        </a:rPr>
                        <a:t>a</a:t>
                      </a:r>
                      <a:r>
                        <a:rPr lang="zh-CN" altLang="zh-CN" sz="2400" kern="1200" baseline="0" dirty="0">
                          <a:solidFill>
                            <a:srgbClr val="00000C"/>
                          </a:solidFill>
                          <a:latin typeface="+mn-lt"/>
                          <a:ea typeface="+mn-ea"/>
                          <a:cs typeface="+mn-cs"/>
                        </a:rPr>
                        <a:t>时</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err="1">
                          <a:solidFill>
                            <a:srgbClr val="00000C"/>
                          </a:solidFill>
                        </a:rPr>
                        <a:t>maxz</a:t>
                      </a:r>
                      <a:r>
                        <a:rPr lang="en-US" altLang="zh-CN" sz="2400" dirty="0">
                          <a:solidFill>
                            <a:srgbClr val="00000C"/>
                          </a:solidFill>
                        </a:rPr>
                        <a:t> = </a:t>
                      </a:r>
                      <a:r>
                        <a:rPr lang="zh-CN" altLang="en-US" sz="2400" dirty="0">
                          <a:solidFill>
                            <a:srgbClr val="00000C"/>
                          </a:solidFill>
                        </a:rPr>
                        <a:t>∑</a:t>
                      </a:r>
                      <a:r>
                        <a:rPr lang="en-US" altLang="zh-CN" sz="2400" dirty="0">
                          <a:solidFill>
                            <a:srgbClr val="00000C"/>
                          </a:solidFill>
                        </a:rPr>
                        <a:t>c</a:t>
                      </a:r>
                      <a:r>
                        <a:rPr lang="en-US" altLang="zh-CN" sz="2400" baseline="-25000" dirty="0">
                          <a:solidFill>
                            <a:srgbClr val="00000C"/>
                          </a:solidFill>
                        </a:rPr>
                        <a:t>j</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r>
                        <a:rPr lang="zh-CN" altLang="en-US" sz="2400" baseline="0" dirty="0">
                          <a:solidFill>
                            <a:srgbClr val="00000C"/>
                          </a:solidFill>
                        </a:rPr>
                        <a:t> </a:t>
                      </a:r>
                      <a:r>
                        <a:rPr lang="en-US" altLang="zh-CN" sz="2400" baseline="0" dirty="0">
                          <a:solidFill>
                            <a:srgbClr val="00000C"/>
                          </a:solidFill>
                        </a:rPr>
                        <a:t>+0</a:t>
                      </a:r>
                      <a:r>
                        <a:rPr lang="en-US" altLang="zh-CN" sz="2400" dirty="0">
                          <a:solidFill>
                            <a:srgbClr val="00000C"/>
                          </a:solidFill>
                        </a:rPr>
                        <a:t>x</a:t>
                      </a:r>
                      <a:r>
                        <a:rPr lang="en-US" altLang="zh-CN" sz="2400" baseline="-25000" dirty="0">
                          <a:solidFill>
                            <a:srgbClr val="00000C"/>
                          </a:solidFill>
                        </a:rPr>
                        <a:t>si</a:t>
                      </a:r>
                      <a:endParaRPr lang="en-US" altLang="zh-CN" sz="2400" baseline="-25000" dirty="0">
                        <a:solidFill>
                          <a:srgbClr val="00000C"/>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err="1">
                          <a:solidFill>
                            <a:srgbClr val="00000C"/>
                          </a:solidFill>
                        </a:rPr>
                        <a:t>maxz</a:t>
                      </a:r>
                      <a:r>
                        <a:rPr lang="en-US" altLang="zh-CN" sz="2400" dirty="0">
                          <a:solidFill>
                            <a:srgbClr val="00000C"/>
                          </a:solidFill>
                        </a:rPr>
                        <a:t> = </a:t>
                      </a:r>
                      <a:r>
                        <a:rPr lang="zh-CN" altLang="en-US" sz="2400" dirty="0">
                          <a:solidFill>
                            <a:srgbClr val="00000C"/>
                          </a:solidFill>
                        </a:rPr>
                        <a:t>∑</a:t>
                      </a:r>
                      <a:r>
                        <a:rPr lang="en-US" altLang="zh-CN" sz="2400" dirty="0">
                          <a:solidFill>
                            <a:srgbClr val="00000C"/>
                          </a:solidFill>
                        </a:rPr>
                        <a:t>c</a:t>
                      </a:r>
                      <a:r>
                        <a:rPr lang="en-US" altLang="zh-CN" sz="2400" baseline="-25000" dirty="0">
                          <a:solidFill>
                            <a:srgbClr val="00000C"/>
                          </a:solidFill>
                        </a:rPr>
                        <a:t>j</a:t>
                      </a:r>
                      <a:r>
                        <a:rPr lang="en-US" altLang="zh-CN" sz="2400" dirty="0">
                          <a:solidFill>
                            <a:srgbClr val="00000C"/>
                          </a:solidFill>
                        </a:rPr>
                        <a:t>x</a:t>
                      </a:r>
                      <a:r>
                        <a:rPr lang="en-US" altLang="zh-CN" sz="2400" baseline="-25000" dirty="0">
                          <a:solidFill>
                            <a:srgbClr val="00000C"/>
                          </a:solidFill>
                        </a:rPr>
                        <a:t>j</a:t>
                      </a:r>
                      <a:r>
                        <a:rPr lang="en-US" altLang="zh-CN" sz="2400" dirty="0">
                          <a:solidFill>
                            <a:srgbClr val="00000C"/>
                          </a:solidFill>
                        </a:rPr>
                        <a:t> </a:t>
                      </a:r>
                      <a:r>
                        <a:rPr lang="zh-CN" altLang="en-US" sz="2400" baseline="0" dirty="0">
                          <a:solidFill>
                            <a:srgbClr val="00000C"/>
                          </a:solidFill>
                        </a:rPr>
                        <a:t> </a:t>
                      </a:r>
                      <a:r>
                        <a:rPr lang="en-US" altLang="zh-CN" sz="2400" baseline="0" dirty="0">
                          <a:solidFill>
                            <a:srgbClr val="00000C"/>
                          </a:solidFill>
                        </a:rPr>
                        <a:t>- </a:t>
                      </a:r>
                      <a:r>
                        <a:rPr lang="en-US" altLang="zh-CN" sz="2400" baseline="0" dirty="0" err="1">
                          <a:solidFill>
                            <a:srgbClr val="00000C"/>
                          </a:solidFill>
                        </a:rPr>
                        <a:t>M</a:t>
                      </a:r>
                      <a:r>
                        <a:rPr lang="en-US" altLang="zh-CN" sz="2400" dirty="0" err="1">
                          <a:solidFill>
                            <a:srgbClr val="00000C"/>
                          </a:solidFill>
                        </a:rPr>
                        <a:t>x</a:t>
                      </a:r>
                      <a:r>
                        <a:rPr lang="en-US" altLang="zh-CN" sz="2400" baseline="-25000" dirty="0" err="1">
                          <a:solidFill>
                            <a:srgbClr val="00000C"/>
                          </a:solidFill>
                        </a:rPr>
                        <a:t>ai</a:t>
                      </a:r>
                      <a:endParaRPr lang="en-US" altLang="zh-CN" sz="2400" dirty="0">
                        <a:solidFill>
                          <a:srgbClr val="00000C"/>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vMerge="1">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gridSpan="2">
                  <a:txBody>
                    <a:bodyPr/>
                    <a:lstStyle/>
                    <a:p>
                      <a:r>
                        <a:rPr lang="zh-CN" altLang="en-US" sz="2400" dirty="0">
                          <a:solidFill>
                            <a:srgbClr val="00000C"/>
                          </a:solidFill>
                        </a:rPr>
                        <a:t>简单标准形式</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r>
                        <a:rPr lang="zh-CN" altLang="en-US" sz="2400" dirty="0">
                          <a:solidFill>
                            <a:srgbClr val="00000C"/>
                          </a:solidFill>
                        </a:rPr>
                        <a:t>只含非基变量</a:t>
                      </a:r>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r>
            </a:tbl>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图片 70"/>
          <p:cNvPicPr>
            <a:picLocks noChangeAspect="1"/>
          </p:cNvPicPr>
          <p:nvPr/>
        </p:nvPicPr>
        <p:blipFill>
          <a:blip r:embed="rId1"/>
          <a:stretch>
            <a:fillRect/>
          </a:stretch>
        </p:blipFill>
        <p:spPr>
          <a:xfrm>
            <a:off x="10160" y="123940"/>
            <a:ext cx="12192000" cy="6610120"/>
          </a:xfrm>
          <a:prstGeom prst="rect">
            <a:avLst/>
          </a:prstGeom>
        </p:spPr>
      </p:pic>
      <p:sp>
        <p:nvSpPr>
          <p:cNvPr id="2" name="标题 1"/>
          <p:cNvSpPr>
            <a:spLocks noGrp="1"/>
          </p:cNvSpPr>
          <p:nvPr>
            <p:ph type="title"/>
          </p:nvPr>
        </p:nvSpPr>
        <p:spPr>
          <a:xfrm>
            <a:off x="0" y="-29046"/>
            <a:ext cx="7081520" cy="793750"/>
          </a:xfrm>
        </p:spPr>
        <p:txBody>
          <a:bodyPr>
            <a:noAutofit/>
          </a:bodyPr>
          <a:lstStyle/>
          <a:p>
            <a:r>
              <a:rPr lang="en-US" altLang="zh-CN" sz="2800" dirty="0">
                <a:solidFill>
                  <a:srgbClr val="00000C"/>
                </a:solidFill>
              </a:rPr>
              <a:t>2.</a:t>
            </a:r>
            <a:r>
              <a:rPr lang="zh-CN" altLang="en-US" sz="2800" dirty="0">
                <a:solidFill>
                  <a:srgbClr val="00000C"/>
                </a:solidFill>
              </a:rPr>
              <a:t>单纯形法求解步骤</a:t>
            </a:r>
            <a:r>
              <a:rPr lang="en-US" altLang="zh-CN" sz="2800" dirty="0">
                <a:solidFill>
                  <a:srgbClr val="00000C"/>
                </a:solidFill>
              </a:rPr>
              <a:t>:</a:t>
            </a:r>
            <a:endParaRPr lang="zh-CN" altLang="en-US" sz="2800" dirty="0">
              <a:solidFill>
                <a:srgbClr val="00000C"/>
              </a:solidFill>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33" y="185976"/>
            <a:ext cx="8229600" cy="504056"/>
          </a:xfrm>
        </p:spPr>
        <p:txBody>
          <a:bodyPr>
            <a:noAutofit/>
          </a:bodyPr>
          <a:lstStyle/>
          <a:p>
            <a:r>
              <a:rPr lang="en-US" altLang="zh-CN" sz="3200" dirty="0"/>
              <a:t>3.</a:t>
            </a:r>
            <a:r>
              <a:rPr lang="zh-CN" altLang="en-US" sz="3200" dirty="0"/>
              <a:t>图解法与单纯形法</a:t>
            </a:r>
            <a:endParaRPr lang="zh-CN" altLang="en-US" sz="3200" dirty="0"/>
          </a:p>
        </p:txBody>
      </p:sp>
      <p:sp>
        <p:nvSpPr>
          <p:cNvPr id="3" name="内容占位符 2"/>
          <p:cNvSpPr>
            <a:spLocks noGrp="1"/>
          </p:cNvSpPr>
          <p:nvPr>
            <p:ph idx="1"/>
          </p:nvPr>
        </p:nvSpPr>
        <p:spPr>
          <a:xfrm>
            <a:off x="335280" y="1158240"/>
            <a:ext cx="11582400" cy="5110480"/>
          </a:xfrm>
        </p:spPr>
        <p:txBody>
          <a:bodyPr/>
          <a:lstStyle/>
          <a:p>
            <a:pPr>
              <a:spcBef>
                <a:spcPts val="300"/>
              </a:spcBef>
              <a:buNone/>
            </a:pPr>
            <a:r>
              <a:rPr lang="zh-CN" altLang="en-US" sz="2400" dirty="0"/>
              <a:t>图解法：</a:t>
            </a:r>
            <a:endParaRPr lang="en-US" altLang="zh-CN" sz="2400" dirty="0"/>
          </a:p>
          <a:p>
            <a:pPr>
              <a:spcBef>
                <a:spcPts val="300"/>
              </a:spcBef>
              <a:buNone/>
            </a:pPr>
            <a:r>
              <a:rPr lang="en-US" altLang="zh-CN" sz="2400" dirty="0"/>
              <a:t>1.</a:t>
            </a:r>
            <a:r>
              <a:rPr lang="zh-CN" altLang="en-US" sz="2400" dirty="0"/>
              <a:t>由</a:t>
            </a:r>
            <a:r>
              <a:rPr lang="en-US" altLang="zh-CN" sz="2400" u="sng" dirty="0"/>
              <a:t>LPQ</a:t>
            </a:r>
            <a:r>
              <a:rPr lang="zh-CN" altLang="en-US" sz="2400" dirty="0"/>
              <a:t>的</a:t>
            </a:r>
            <a:r>
              <a:rPr lang="en-US" altLang="zh-CN" sz="2400" u="sng" dirty="0" err="1"/>
              <a:t>s.t</a:t>
            </a:r>
            <a:r>
              <a:rPr lang="en-US" altLang="zh-CN" sz="2400" u="sng" dirty="0"/>
              <a:t>.</a:t>
            </a:r>
            <a:r>
              <a:rPr lang="zh-CN" altLang="en-US" sz="2400" dirty="0"/>
              <a:t>构成</a:t>
            </a:r>
            <a:r>
              <a:rPr lang="zh-CN" altLang="en-US" sz="2400" u="sng" dirty="0"/>
              <a:t>凸集合</a:t>
            </a:r>
            <a:r>
              <a:rPr lang="zh-CN" altLang="en-US" sz="2400" dirty="0"/>
              <a:t>，它们是满足约束条件的</a:t>
            </a:r>
            <a:r>
              <a:rPr lang="zh-CN" altLang="en-US" sz="2400" u="sng" dirty="0"/>
              <a:t>解集</a:t>
            </a:r>
            <a:r>
              <a:rPr lang="zh-CN" altLang="en-US" sz="2400" dirty="0"/>
              <a:t>；其中</a:t>
            </a:r>
            <a:r>
              <a:rPr lang="zh-CN" altLang="en-US" sz="2400" u="sng" dirty="0"/>
              <a:t>基础可行解 </a:t>
            </a:r>
            <a:r>
              <a:rPr lang="en-US" altLang="zh-CN" sz="2400" dirty="0"/>
              <a:t>(</a:t>
            </a:r>
            <a:r>
              <a:rPr lang="zh-CN" altLang="en-US" sz="2400" dirty="0"/>
              <a:t>简称：</a:t>
            </a:r>
            <a:r>
              <a:rPr lang="zh-CN" altLang="zh-CN" sz="2400" dirty="0"/>
              <a:t>基解</a:t>
            </a:r>
            <a:r>
              <a:rPr lang="en-US" altLang="zh-CN" sz="2400" dirty="0"/>
              <a:t>)</a:t>
            </a:r>
            <a:r>
              <a:rPr lang="zh-CN" altLang="en-US" sz="2400" dirty="0"/>
              <a:t>即</a:t>
            </a:r>
            <a:r>
              <a:rPr lang="zh-CN" altLang="en-US" sz="2400" u="sng" dirty="0"/>
              <a:t>顶点</a:t>
            </a:r>
            <a:r>
              <a:rPr lang="zh-CN" altLang="en-US" sz="2400" dirty="0"/>
              <a:t>。</a:t>
            </a:r>
            <a:endParaRPr lang="en-US" altLang="zh-CN" sz="2400" dirty="0"/>
          </a:p>
          <a:p>
            <a:pPr>
              <a:spcBef>
                <a:spcPts val="300"/>
              </a:spcBef>
              <a:buNone/>
            </a:pPr>
            <a:r>
              <a:rPr lang="en-US" altLang="zh-CN" sz="2400" dirty="0"/>
              <a:t>2.</a:t>
            </a:r>
            <a:r>
              <a:rPr lang="zh-CN" altLang="en-US" sz="2400" dirty="0"/>
              <a:t>若</a:t>
            </a:r>
            <a:r>
              <a:rPr lang="en-US" altLang="zh-CN" sz="2400" dirty="0"/>
              <a:t>LPQ</a:t>
            </a:r>
            <a:r>
              <a:rPr lang="zh-CN" altLang="en-US" sz="2400" dirty="0"/>
              <a:t>有</a:t>
            </a:r>
            <a:r>
              <a:rPr lang="zh-CN" altLang="en-US" sz="2400" u="sng" dirty="0"/>
              <a:t>最优解</a:t>
            </a:r>
            <a:r>
              <a:rPr lang="zh-CN" altLang="en-US" sz="2400" dirty="0"/>
              <a:t>，必在</a:t>
            </a:r>
            <a:r>
              <a:rPr lang="zh-CN" altLang="en-US" sz="2400" u="sng" dirty="0"/>
              <a:t>顶点</a:t>
            </a:r>
            <a:r>
              <a:rPr lang="zh-CN" altLang="en-US" sz="2400" dirty="0"/>
              <a:t>上达到。</a:t>
            </a:r>
            <a:endParaRPr lang="en-US" altLang="zh-CN" sz="2400" dirty="0"/>
          </a:p>
          <a:p>
            <a:pPr>
              <a:spcBef>
                <a:spcPts val="300"/>
              </a:spcBef>
              <a:buNone/>
            </a:pPr>
            <a:r>
              <a:rPr lang="en-US" altLang="zh-CN" sz="2400" dirty="0"/>
              <a:t>3.</a:t>
            </a:r>
            <a:r>
              <a:rPr lang="zh-CN" altLang="en-US" sz="2400" dirty="0"/>
              <a:t>总是可以用顶点来确立一系列目标等值线。</a:t>
            </a:r>
            <a:endParaRPr lang="en-US" altLang="zh-CN" sz="2400" dirty="0"/>
          </a:p>
          <a:p>
            <a:pPr>
              <a:spcBef>
                <a:spcPts val="300"/>
              </a:spcBef>
              <a:buNone/>
            </a:pPr>
            <a:r>
              <a:rPr lang="en-US" altLang="zh-CN" sz="2400" dirty="0"/>
              <a:t>4.</a:t>
            </a:r>
            <a:r>
              <a:rPr lang="zh-CN" altLang="en-US" sz="2400" dirty="0"/>
              <a:t>求最大，即用目标函数确立的目标等值线从某个顶点</a:t>
            </a:r>
            <a:r>
              <a:rPr lang="en-US" altLang="zh-CN" sz="2400" dirty="0"/>
              <a:t>(</a:t>
            </a:r>
            <a:r>
              <a:rPr lang="zh-CN" altLang="en-US" sz="2400" dirty="0"/>
              <a:t>一条过该顶点目标等值线</a:t>
            </a:r>
            <a:r>
              <a:rPr lang="en-US" altLang="zh-CN" sz="2400" dirty="0"/>
              <a:t>)</a:t>
            </a:r>
            <a:r>
              <a:rPr lang="zh-CN" altLang="en-US" sz="2400" dirty="0"/>
              <a:t>，如初始基可行解沿着目标值增大的方向移动。</a:t>
            </a:r>
            <a:endParaRPr lang="en-US" altLang="zh-CN" sz="2400" dirty="0"/>
          </a:p>
          <a:p>
            <a:pPr>
              <a:spcBef>
                <a:spcPts val="300"/>
              </a:spcBef>
              <a:buNone/>
            </a:pPr>
            <a:r>
              <a:rPr lang="zh-CN" altLang="en-US" sz="2400" dirty="0"/>
              <a:t>单纯形法：</a:t>
            </a:r>
            <a:endParaRPr lang="en-US" altLang="zh-CN" sz="2400" dirty="0"/>
          </a:p>
          <a:p>
            <a:pPr>
              <a:spcBef>
                <a:spcPts val="300"/>
              </a:spcBef>
              <a:buNone/>
            </a:pPr>
            <a:r>
              <a:rPr lang="zh-CN" altLang="en-US" sz="2400" dirty="0"/>
              <a:t>就是从</a:t>
            </a:r>
            <a:r>
              <a:rPr lang="en-US" altLang="zh-CN" sz="2400" dirty="0" err="1"/>
              <a:t>s.t</a:t>
            </a:r>
            <a:r>
              <a:rPr lang="en-US" altLang="zh-CN" sz="2400" dirty="0"/>
              <a:t>.</a:t>
            </a:r>
            <a:r>
              <a:rPr lang="zh-CN" altLang="en-US" sz="2400" dirty="0"/>
              <a:t>构成的凸集合中的</a:t>
            </a:r>
            <a:r>
              <a:rPr lang="zh-CN" altLang="en-US" sz="2400" u="sng" dirty="0"/>
              <a:t>初始基可行解</a:t>
            </a:r>
            <a:r>
              <a:rPr lang="en-US" altLang="zh-CN" sz="2400" u="sng" dirty="0"/>
              <a:t>(</a:t>
            </a:r>
            <a:r>
              <a:rPr lang="zh-CN" altLang="en-US" sz="2400" u="sng" dirty="0"/>
              <a:t>对应概念：顶点</a:t>
            </a:r>
            <a:r>
              <a:rPr lang="en-US" altLang="zh-CN" sz="2400" u="sng" dirty="0"/>
              <a:t>)</a:t>
            </a:r>
            <a:r>
              <a:rPr lang="zh-CN" altLang="en-US" sz="2400" dirty="0"/>
              <a:t>出发沿着目标值增大的方向</a:t>
            </a:r>
            <a:r>
              <a:rPr lang="zh-CN" altLang="en-US" sz="2400" u="sng" dirty="0"/>
              <a:t>靠近</a:t>
            </a:r>
            <a:r>
              <a:rPr lang="en-US" altLang="zh-CN" sz="2400" u="sng" dirty="0"/>
              <a:t>(</a:t>
            </a:r>
            <a:r>
              <a:rPr lang="zh-CN" altLang="en-US" sz="2400" u="sng" dirty="0"/>
              <a:t>对应概念：换基，构造其它基可行解</a:t>
            </a:r>
            <a:r>
              <a:rPr lang="en-US" altLang="zh-CN" sz="2400" u="sng" dirty="0"/>
              <a:t>/</a:t>
            </a:r>
            <a:r>
              <a:rPr lang="zh-CN" altLang="en-US" sz="2400" u="sng" dirty="0"/>
              <a:t>顶点</a:t>
            </a:r>
            <a:r>
              <a:rPr lang="en-US" altLang="zh-CN" sz="2400" u="sng" dirty="0"/>
              <a:t>)</a:t>
            </a:r>
            <a:r>
              <a:rPr lang="zh-CN" altLang="en-US" sz="2400" dirty="0"/>
              <a:t>，最终，如果有最优解，必在顶点</a:t>
            </a:r>
            <a:r>
              <a:rPr lang="en-US" altLang="zh-CN" sz="2400" dirty="0"/>
              <a:t>(</a:t>
            </a:r>
            <a:r>
              <a:rPr lang="zh-CN" altLang="en-US" sz="2400" dirty="0"/>
              <a:t>对应概念：</a:t>
            </a:r>
            <a:r>
              <a:rPr lang="zh-CN" altLang="zh-CN" sz="2400" dirty="0"/>
              <a:t>基可行解</a:t>
            </a:r>
            <a:r>
              <a:rPr lang="en-US" altLang="zh-CN" sz="2400" dirty="0"/>
              <a:t>)</a:t>
            </a:r>
            <a:r>
              <a:rPr lang="zh-CN" altLang="en-US" sz="2400" dirty="0"/>
              <a:t>上达到。对于“两阶段法”，则第一阶段对应的是构造一个</a:t>
            </a:r>
            <a:r>
              <a:rPr lang="zh-CN" altLang="en-US" sz="2400" u="sng" dirty="0"/>
              <a:t>满足</a:t>
            </a:r>
            <a:r>
              <a:rPr lang="en-US" altLang="zh-CN" sz="2400" u="sng" dirty="0" err="1"/>
              <a:t>s.t</a:t>
            </a:r>
            <a:r>
              <a:rPr lang="en-US" altLang="zh-CN" sz="2400" u="sng" dirty="0"/>
              <a:t>.</a:t>
            </a:r>
            <a:r>
              <a:rPr lang="zh-CN" altLang="en-US" sz="2400" u="sng" dirty="0"/>
              <a:t>的基可行解</a:t>
            </a:r>
            <a:r>
              <a:rPr lang="en-US" altLang="zh-CN" sz="2400" u="sng" dirty="0"/>
              <a:t>(</a:t>
            </a:r>
            <a:r>
              <a:rPr lang="zh-CN" altLang="en-US" sz="2400" u="sng" dirty="0"/>
              <a:t>即顶点</a:t>
            </a:r>
            <a:r>
              <a:rPr lang="en-US" altLang="zh-CN" sz="2400" u="sng" dirty="0"/>
              <a:t>)</a:t>
            </a:r>
            <a:r>
              <a:rPr lang="zh-CN" altLang="en-US" sz="2400" dirty="0"/>
              <a:t>；第二阶段再用原来的目标函数替换并经初始化后得到一条过该顶点的</a:t>
            </a:r>
            <a:r>
              <a:rPr lang="zh-CN" altLang="en-US" sz="2400" u="sng" dirty="0"/>
              <a:t>目标等值线</a:t>
            </a:r>
            <a:r>
              <a:rPr lang="zh-CN" altLang="en-US" sz="2400" dirty="0"/>
              <a:t>，然后沿着目标值增大的方向移动，在某个顶点达到最优值</a:t>
            </a:r>
            <a:r>
              <a:rPr lang="en-US" altLang="zh-CN" sz="2400" dirty="0"/>
              <a:t>(</a:t>
            </a:r>
            <a:r>
              <a:rPr lang="zh-CN" altLang="en-US" sz="2400" dirty="0"/>
              <a:t>如果有最优值</a:t>
            </a:r>
            <a:r>
              <a:rPr lang="en-US" altLang="zh-CN" sz="2400" dirty="0"/>
              <a:t>)</a:t>
            </a:r>
            <a:r>
              <a:rPr lang="zh-CN" altLang="en-US" sz="2400" dirty="0"/>
              <a:t>。</a:t>
            </a:r>
            <a:endParaRPr lang="zh-CN" altLang="en-US" sz="24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57680" y="1710174"/>
            <a:ext cx="8595360" cy="1446550"/>
          </a:xfrm>
          <a:prstGeom prst="rect">
            <a:avLst/>
          </a:prstGeom>
          <a:noFill/>
        </p:spPr>
        <p:txBody>
          <a:bodyPr wrap="square">
            <a:spAutoFit/>
          </a:bodyPr>
          <a:lstStyle/>
          <a:p>
            <a:pPr algn="ctr"/>
            <a:r>
              <a:rPr lang="zh-CN" altLang="en-US" sz="4400" dirty="0"/>
              <a:t>接下来，总结单纯形法的本质为矩阵描述形式。</a:t>
            </a:r>
            <a:endParaRPr lang="zh-CN" altLang="en-US" sz="4400" dirty="0"/>
          </a:p>
        </p:txBody>
      </p:sp>
      <p:sp>
        <p:nvSpPr>
          <p:cNvPr id="4" name="箭头: 下 3"/>
          <p:cNvSpPr/>
          <p:nvPr/>
        </p:nvSpPr>
        <p:spPr>
          <a:xfrm>
            <a:off x="5588000" y="3525520"/>
            <a:ext cx="1320800" cy="46736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400" y="55612"/>
            <a:ext cx="10744200" cy="711970"/>
          </a:xfrm>
        </p:spPr>
        <p:txBody>
          <a:bodyPr>
            <a:normAutofit/>
          </a:bodyPr>
          <a:lstStyle/>
          <a:p>
            <a:r>
              <a:rPr lang="zh-CN" altLang="en-US" sz="3200" dirty="0"/>
              <a:t>知识点</a:t>
            </a:r>
            <a:r>
              <a:rPr lang="en-US" altLang="zh-CN" sz="3200" dirty="0"/>
              <a:t>1</a:t>
            </a:r>
            <a:r>
              <a:rPr lang="zh-CN" altLang="en-US" sz="3200" dirty="0"/>
              <a:t>：矩阵和向量</a:t>
            </a:r>
            <a:endParaRPr lang="zh-CN" altLang="en-US" sz="3200" dirty="0"/>
          </a:p>
        </p:txBody>
      </p:sp>
      <p:sp>
        <p:nvSpPr>
          <p:cNvPr id="3" name="内容占位符 2"/>
          <p:cNvSpPr>
            <a:spLocks noGrp="1"/>
          </p:cNvSpPr>
          <p:nvPr>
            <p:ph idx="1"/>
          </p:nvPr>
        </p:nvSpPr>
        <p:spPr>
          <a:xfrm>
            <a:off x="381000" y="1082869"/>
            <a:ext cx="8229600" cy="4840568"/>
          </a:xfrm>
        </p:spPr>
        <p:txBody>
          <a:bodyPr>
            <a:normAutofit lnSpcReduction="10000"/>
          </a:bodyPr>
          <a:lstStyle/>
          <a:p>
            <a:pPr>
              <a:buNone/>
            </a:pPr>
            <a:r>
              <a:rPr lang="zh-CN" altLang="en-US" dirty="0">
                <a:solidFill>
                  <a:srgbClr val="0000AC"/>
                </a:solidFill>
              </a:rPr>
              <a:t>矩阵</a:t>
            </a:r>
            <a:r>
              <a:rPr lang="zh-CN" altLang="en-US" dirty="0"/>
              <a:t>是数字的矩阵数组。如：</a:t>
            </a: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r>
              <a:rPr lang="zh-CN" altLang="en-US" dirty="0">
                <a:solidFill>
                  <a:srgbClr val="0000AC"/>
                </a:solidFill>
              </a:rPr>
              <a:t>列向量</a:t>
            </a:r>
            <a:r>
              <a:rPr lang="zh-CN" altLang="en-US" dirty="0"/>
              <a:t>：只有</a:t>
            </a:r>
            <a:r>
              <a:rPr lang="en-US" altLang="zh-CN" dirty="0"/>
              <a:t>1</a:t>
            </a:r>
            <a:r>
              <a:rPr lang="zh-CN" altLang="en-US" dirty="0"/>
              <a:t>列的矩阵成为列向量，如：</a:t>
            </a:r>
            <a:endParaRPr lang="en-US" altLang="zh-CN" dirty="0"/>
          </a:p>
          <a:p>
            <a:pPr>
              <a:buNone/>
            </a:pPr>
            <a:endParaRPr lang="en-US" altLang="zh-CN" dirty="0"/>
          </a:p>
          <a:p>
            <a:pPr>
              <a:buNone/>
            </a:pPr>
            <a:endParaRPr lang="en-US" altLang="zh-CN" dirty="0"/>
          </a:p>
          <a:p>
            <a:pPr>
              <a:buNone/>
            </a:pPr>
            <a:endParaRPr lang="en-US" altLang="zh-CN" dirty="0"/>
          </a:p>
          <a:p>
            <a:pPr>
              <a:buNone/>
            </a:pPr>
            <a:r>
              <a:rPr lang="zh-CN" altLang="en-US" dirty="0">
                <a:solidFill>
                  <a:srgbClr val="0000AC"/>
                </a:solidFill>
              </a:rPr>
              <a:t>行向量</a:t>
            </a:r>
            <a:r>
              <a:rPr lang="zh-CN" altLang="en-US" dirty="0"/>
              <a:t>：只有</a:t>
            </a:r>
            <a:r>
              <a:rPr lang="en-US" altLang="zh-CN" dirty="0"/>
              <a:t>1</a:t>
            </a:r>
            <a:r>
              <a:rPr lang="zh-CN" altLang="en-US" dirty="0"/>
              <a:t>行的矩阵成为行向量，如：</a:t>
            </a: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zh-CN" altLang="en-US" dirty="0"/>
          </a:p>
        </p:txBody>
      </p:sp>
      <p:grpSp>
        <p:nvGrpSpPr>
          <p:cNvPr id="5" name="组合 4"/>
          <p:cNvGrpSpPr/>
          <p:nvPr/>
        </p:nvGrpSpPr>
        <p:grpSpPr>
          <a:xfrm>
            <a:off x="6023992" y="753656"/>
            <a:ext cx="6216314" cy="2340000"/>
            <a:chOff x="2123728" y="3645024"/>
            <a:chExt cx="4644008" cy="2340000"/>
          </a:xfrm>
        </p:grpSpPr>
        <p:sp>
          <p:nvSpPr>
            <p:cNvPr id="6" name="矩形 5"/>
            <p:cNvSpPr/>
            <p:nvPr/>
          </p:nvSpPr>
          <p:spPr>
            <a:xfrm>
              <a:off x="2195736" y="3645024"/>
              <a:ext cx="4572000" cy="2308324"/>
            </a:xfrm>
            <a:prstGeom prst="rect">
              <a:avLst/>
            </a:prstGeom>
          </p:spPr>
          <p:txBody>
            <a:bodyPr>
              <a:spAutoFit/>
            </a:bodyPr>
            <a:lstStyle/>
            <a:p>
              <a:pPr algn="ctr">
                <a:defRPr/>
              </a:pPr>
              <a:r>
                <a:rPr lang="en-US" altLang="zh-CN" sz="2400" dirty="0">
                  <a:solidFill>
                    <a:srgbClr val="060606"/>
                  </a:solidFill>
                </a:rPr>
                <a:t>a</a:t>
              </a:r>
              <a:r>
                <a:rPr lang="en-US" altLang="zh-CN" sz="2400" baseline="-25000" dirty="0">
                  <a:solidFill>
                    <a:srgbClr val="060606"/>
                  </a:solidFill>
                </a:rPr>
                <a:t>11</a:t>
              </a:r>
              <a:r>
                <a:rPr lang="en-US" altLang="zh-CN" sz="2400" dirty="0">
                  <a:solidFill>
                    <a:srgbClr val="060606"/>
                  </a:solidFill>
                </a:rPr>
                <a:t>            a</a:t>
              </a:r>
              <a:r>
                <a:rPr lang="en-US" altLang="zh-CN" sz="2400" baseline="-25000" dirty="0">
                  <a:solidFill>
                    <a:srgbClr val="060606"/>
                  </a:solidFill>
                </a:rPr>
                <a:t>12</a:t>
              </a:r>
              <a:r>
                <a:rPr lang="en-US" altLang="zh-CN" sz="2400" dirty="0">
                  <a:solidFill>
                    <a:srgbClr val="060606"/>
                  </a:solidFill>
                </a:rPr>
                <a:t>        …          a</a:t>
              </a:r>
              <a:r>
                <a:rPr lang="en-US" altLang="zh-CN" sz="2400" baseline="-25000" dirty="0">
                  <a:solidFill>
                    <a:srgbClr val="060606"/>
                  </a:solidFill>
                </a:rPr>
                <a:t>1n</a:t>
              </a:r>
              <a:endParaRPr lang="en-US" altLang="zh-CN" sz="2400" baseline="-25000" dirty="0">
                <a:solidFill>
                  <a:srgbClr val="060606"/>
                </a:solidFill>
              </a:endParaRPr>
            </a:p>
            <a:p>
              <a:pPr algn="ctr">
                <a:defRPr/>
              </a:pPr>
              <a:r>
                <a:rPr lang="en-US" altLang="zh-CN" sz="2400" dirty="0">
                  <a:solidFill>
                    <a:srgbClr val="060606"/>
                  </a:solidFill>
                </a:rPr>
                <a:t>a</a:t>
              </a:r>
              <a:r>
                <a:rPr lang="en-US" altLang="zh-CN" sz="2400" baseline="-25000" dirty="0">
                  <a:solidFill>
                    <a:srgbClr val="060606"/>
                  </a:solidFill>
                </a:rPr>
                <a:t>21</a:t>
              </a:r>
              <a:r>
                <a:rPr lang="en-US" altLang="zh-CN" sz="2400" dirty="0">
                  <a:solidFill>
                    <a:srgbClr val="060606"/>
                  </a:solidFill>
                </a:rPr>
                <a:t>            a</a:t>
              </a:r>
              <a:r>
                <a:rPr lang="en-US" altLang="zh-CN" sz="2400" baseline="-25000" dirty="0">
                  <a:solidFill>
                    <a:srgbClr val="060606"/>
                  </a:solidFill>
                </a:rPr>
                <a:t>22</a:t>
              </a:r>
              <a:r>
                <a:rPr lang="en-US" altLang="zh-CN" sz="2400" dirty="0">
                  <a:solidFill>
                    <a:srgbClr val="060606"/>
                  </a:solidFill>
                </a:rPr>
                <a:t>        …          a</a:t>
              </a:r>
              <a:r>
                <a:rPr lang="en-US" altLang="zh-CN" sz="2400" baseline="-25000" dirty="0">
                  <a:solidFill>
                    <a:srgbClr val="060606"/>
                  </a:solidFill>
                </a:rPr>
                <a:t>2n</a:t>
              </a:r>
              <a:endParaRPr lang="en-US" altLang="zh-CN" sz="2400" baseline="-250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a</a:t>
              </a:r>
              <a:r>
                <a:rPr lang="en-US" altLang="zh-CN" sz="2400" baseline="-25000" dirty="0">
                  <a:solidFill>
                    <a:srgbClr val="060606"/>
                  </a:solidFill>
                </a:rPr>
                <a:t>m1</a:t>
              </a:r>
              <a:r>
                <a:rPr lang="en-US" altLang="zh-CN" sz="2400" dirty="0">
                  <a:solidFill>
                    <a:srgbClr val="060606"/>
                  </a:solidFill>
                </a:rPr>
                <a:t>            a</a:t>
              </a:r>
              <a:r>
                <a:rPr lang="en-US" altLang="zh-CN" sz="2400" baseline="-25000" dirty="0">
                  <a:solidFill>
                    <a:srgbClr val="060606"/>
                  </a:solidFill>
                </a:rPr>
                <a:t>m2</a:t>
              </a:r>
              <a:r>
                <a:rPr lang="en-US" altLang="zh-CN" sz="2400" dirty="0">
                  <a:solidFill>
                    <a:srgbClr val="060606"/>
                  </a:solidFill>
                </a:rPr>
                <a:t>      …          </a:t>
              </a:r>
              <a:r>
                <a:rPr lang="en-US" altLang="zh-CN" sz="2400" dirty="0" err="1">
                  <a:solidFill>
                    <a:srgbClr val="060606"/>
                  </a:solidFill>
                </a:rPr>
                <a:t>a</a:t>
              </a:r>
              <a:r>
                <a:rPr lang="en-US" altLang="zh-CN" sz="2400" baseline="-25000" dirty="0" err="1">
                  <a:solidFill>
                    <a:srgbClr val="060606"/>
                  </a:solidFill>
                </a:rPr>
                <a:t>mn</a:t>
              </a:r>
              <a:endParaRPr lang="zh-CN" altLang="en-US" sz="2400" dirty="0">
                <a:solidFill>
                  <a:srgbClr val="060606"/>
                </a:solidFill>
              </a:endParaRPr>
            </a:p>
          </p:txBody>
        </p:sp>
        <p:sp>
          <p:nvSpPr>
            <p:cNvPr id="7" name="左中括号 6"/>
            <p:cNvSpPr/>
            <p:nvPr/>
          </p:nvSpPr>
          <p:spPr bwMode="auto">
            <a:xfrm>
              <a:off x="2725047" y="3645024"/>
              <a:ext cx="144016" cy="2340000"/>
            </a:xfrm>
            <a:prstGeom prst="leftBracket">
              <a:avLst/>
            </a:prstGeom>
            <a:noFill/>
            <a:ln w="1905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8" name="右中括号 7"/>
            <p:cNvSpPr/>
            <p:nvPr/>
          </p:nvSpPr>
          <p:spPr bwMode="auto">
            <a:xfrm>
              <a:off x="6137068" y="3645024"/>
              <a:ext cx="144016" cy="2340000"/>
            </a:xfrm>
            <a:prstGeom prst="rightBracket">
              <a:avLst/>
            </a:prstGeom>
            <a:noFill/>
            <a:ln w="1905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9" name="矩形 8"/>
            <p:cNvSpPr/>
            <p:nvPr/>
          </p:nvSpPr>
          <p:spPr>
            <a:xfrm>
              <a:off x="2123728" y="4221088"/>
              <a:ext cx="784524" cy="461665"/>
            </a:xfrm>
            <a:prstGeom prst="rect">
              <a:avLst/>
            </a:prstGeom>
          </p:spPr>
          <p:txBody>
            <a:bodyPr wrap="none">
              <a:spAutoFit/>
            </a:bodyPr>
            <a:lstStyle/>
            <a:p>
              <a:r>
                <a:rPr lang="en-US" altLang="zh-CN" sz="2400" b="1" dirty="0">
                  <a:solidFill>
                    <a:srgbClr val="060606"/>
                  </a:solidFill>
                </a:rPr>
                <a:t>A</a:t>
              </a:r>
              <a:r>
                <a:rPr lang="en-US" altLang="zh-CN" sz="2400" dirty="0">
                  <a:solidFill>
                    <a:srgbClr val="060606"/>
                  </a:solidFill>
                </a:rPr>
                <a:t>  = </a:t>
              </a:r>
              <a:endParaRPr lang="zh-CN" altLang="en-US" sz="2400" dirty="0"/>
            </a:p>
          </p:txBody>
        </p:sp>
      </p:grpSp>
      <p:grpSp>
        <p:nvGrpSpPr>
          <p:cNvPr id="18" name="组合 17"/>
          <p:cNvGrpSpPr/>
          <p:nvPr/>
        </p:nvGrpSpPr>
        <p:grpSpPr>
          <a:xfrm>
            <a:off x="7824191" y="3201928"/>
            <a:ext cx="2397721" cy="1656184"/>
            <a:chOff x="7596336" y="4869160"/>
            <a:chExt cx="1224136" cy="1224136"/>
          </a:xfrm>
        </p:grpSpPr>
        <p:sp>
          <p:nvSpPr>
            <p:cNvPr id="15" name="矩形 14"/>
            <p:cNvSpPr/>
            <p:nvPr/>
          </p:nvSpPr>
          <p:spPr>
            <a:xfrm>
              <a:off x="7596336" y="5229200"/>
              <a:ext cx="469526" cy="341231"/>
            </a:xfrm>
            <a:prstGeom prst="rect">
              <a:avLst/>
            </a:prstGeom>
          </p:spPr>
          <p:txBody>
            <a:bodyPr wrap="none">
              <a:spAutoFit/>
            </a:bodyPr>
            <a:lstStyle/>
            <a:p>
              <a:r>
                <a:rPr lang="en-US" altLang="zh-CN" sz="2400" b="1" dirty="0">
                  <a:solidFill>
                    <a:srgbClr val="000000"/>
                  </a:solidFill>
                </a:rPr>
                <a:t>b</a:t>
              </a:r>
              <a:r>
                <a:rPr lang="en-US" altLang="zh-CN" sz="2400" dirty="0">
                  <a:solidFill>
                    <a:srgbClr val="000000"/>
                  </a:solidFill>
                </a:rPr>
                <a:t> = </a:t>
              </a:r>
              <a:endParaRPr lang="zh-CN" altLang="en-US" sz="2400" dirty="0"/>
            </a:p>
          </p:txBody>
        </p:sp>
        <p:sp>
          <p:nvSpPr>
            <p:cNvPr id="16" name="TextBox 15"/>
            <p:cNvSpPr txBox="1"/>
            <p:nvPr/>
          </p:nvSpPr>
          <p:spPr>
            <a:xfrm>
              <a:off x="8244408" y="4869160"/>
              <a:ext cx="576064" cy="1200329"/>
            </a:xfrm>
            <a:prstGeom prst="rect">
              <a:avLst/>
            </a:prstGeom>
            <a:noFill/>
          </p:spPr>
          <p:txBody>
            <a:bodyPr wrap="square" rtlCol="0">
              <a:spAutoFit/>
            </a:bodyPr>
            <a:lstStyle/>
            <a:p>
              <a:r>
                <a:rPr lang="en-US" altLang="zh-CN" sz="2400" dirty="0"/>
                <a:t>b</a:t>
              </a:r>
              <a:r>
                <a:rPr lang="en-US" altLang="zh-CN" sz="2400" baseline="-25000" dirty="0"/>
                <a:t>1</a:t>
              </a:r>
              <a:endParaRPr lang="en-US" altLang="zh-CN" sz="2400" baseline="-25000" dirty="0"/>
            </a:p>
            <a:p>
              <a:r>
                <a:rPr lang="en-US" altLang="zh-CN" sz="2400" dirty="0"/>
                <a:t>b</a:t>
              </a:r>
              <a:r>
                <a:rPr lang="en-US" altLang="zh-CN" sz="2400" baseline="-25000" dirty="0"/>
                <a:t>2</a:t>
              </a:r>
              <a:endParaRPr lang="en-US" altLang="zh-CN" sz="2400" dirty="0"/>
            </a:p>
            <a:p>
              <a:r>
                <a:rPr lang="en-US" altLang="zh-CN" sz="2400" dirty="0"/>
                <a:t>…</a:t>
              </a:r>
              <a:endParaRPr lang="en-US" altLang="zh-CN" sz="2400" dirty="0"/>
            </a:p>
            <a:p>
              <a:r>
                <a:rPr lang="en-US" altLang="zh-CN" sz="2400" dirty="0" err="1"/>
                <a:t>b</a:t>
              </a:r>
              <a:r>
                <a:rPr lang="en-US" altLang="zh-CN" sz="2400" baseline="-25000" dirty="0" err="1"/>
                <a:t>m</a:t>
              </a:r>
              <a:endParaRPr lang="zh-CN" altLang="en-US" sz="2400" baseline="-25000" dirty="0"/>
            </a:p>
          </p:txBody>
        </p:sp>
        <p:sp>
          <p:nvSpPr>
            <p:cNvPr id="17" name="双括号 16"/>
            <p:cNvSpPr/>
            <p:nvPr/>
          </p:nvSpPr>
          <p:spPr bwMode="auto">
            <a:xfrm>
              <a:off x="8172400" y="4869160"/>
              <a:ext cx="576064" cy="1224136"/>
            </a:xfrm>
            <a:prstGeom prst="bracketPair">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grpSp>
        <p:nvGrpSpPr>
          <p:cNvPr id="19" name="组合 18"/>
          <p:cNvGrpSpPr/>
          <p:nvPr/>
        </p:nvGrpSpPr>
        <p:grpSpPr>
          <a:xfrm>
            <a:off x="7824198" y="5201195"/>
            <a:ext cx="2664130" cy="593016"/>
            <a:chOff x="7596336" y="5229200"/>
            <a:chExt cx="1360148" cy="438317"/>
          </a:xfrm>
        </p:grpSpPr>
        <p:sp>
          <p:nvSpPr>
            <p:cNvPr id="20" name="矩形 19"/>
            <p:cNvSpPr/>
            <p:nvPr/>
          </p:nvSpPr>
          <p:spPr>
            <a:xfrm>
              <a:off x="7596336" y="5229200"/>
              <a:ext cx="443284" cy="341231"/>
            </a:xfrm>
            <a:prstGeom prst="rect">
              <a:avLst/>
            </a:prstGeom>
          </p:spPr>
          <p:txBody>
            <a:bodyPr wrap="none">
              <a:spAutoFit/>
            </a:bodyPr>
            <a:lstStyle/>
            <a:p>
              <a:r>
                <a:rPr lang="en-US" altLang="zh-CN" sz="2400" b="1" dirty="0">
                  <a:solidFill>
                    <a:srgbClr val="000000"/>
                  </a:solidFill>
                </a:rPr>
                <a:t>c</a:t>
              </a:r>
              <a:r>
                <a:rPr lang="en-US" altLang="zh-CN" sz="2400" dirty="0">
                  <a:solidFill>
                    <a:srgbClr val="000000"/>
                  </a:solidFill>
                </a:rPr>
                <a:t> = </a:t>
              </a:r>
              <a:endParaRPr lang="zh-CN" altLang="en-US" sz="2400" dirty="0"/>
            </a:p>
          </p:txBody>
        </p:sp>
        <p:sp>
          <p:nvSpPr>
            <p:cNvPr id="21" name="TextBox 20"/>
            <p:cNvSpPr txBox="1"/>
            <p:nvPr/>
          </p:nvSpPr>
          <p:spPr>
            <a:xfrm>
              <a:off x="7927037" y="5241731"/>
              <a:ext cx="1029447" cy="341231"/>
            </a:xfrm>
            <a:prstGeom prst="rect">
              <a:avLst/>
            </a:prstGeom>
            <a:noFill/>
          </p:spPr>
          <p:txBody>
            <a:bodyPr wrap="square" rtlCol="0">
              <a:spAutoFit/>
            </a:bodyPr>
            <a:lstStyle/>
            <a:p>
              <a:r>
                <a:rPr lang="en-US" altLang="zh-CN" sz="2400" dirty="0"/>
                <a:t>c</a:t>
              </a:r>
              <a:r>
                <a:rPr lang="en-US" altLang="zh-CN" sz="2400" baseline="-25000" dirty="0"/>
                <a:t>1 </a:t>
              </a:r>
              <a:r>
                <a:rPr lang="en-US" altLang="zh-CN" sz="2400" dirty="0"/>
                <a:t>c</a:t>
              </a:r>
              <a:r>
                <a:rPr lang="en-US" altLang="zh-CN" sz="2400" baseline="-25000" dirty="0"/>
                <a:t>2  </a:t>
              </a:r>
              <a:r>
                <a:rPr lang="en-US" altLang="zh-CN" sz="2400" dirty="0"/>
                <a:t>… </a:t>
              </a:r>
              <a:r>
                <a:rPr lang="en-US" altLang="zh-CN" sz="2400" dirty="0" err="1"/>
                <a:t>c</a:t>
              </a:r>
              <a:r>
                <a:rPr lang="en-US" altLang="zh-CN" sz="2400" baseline="-25000" dirty="0" err="1"/>
                <a:t>n</a:t>
              </a:r>
              <a:endParaRPr lang="zh-CN" altLang="en-US" sz="2400" baseline="-25000" dirty="0"/>
            </a:p>
          </p:txBody>
        </p:sp>
        <p:sp>
          <p:nvSpPr>
            <p:cNvPr id="22" name="双括号 21"/>
            <p:cNvSpPr/>
            <p:nvPr/>
          </p:nvSpPr>
          <p:spPr bwMode="auto">
            <a:xfrm>
              <a:off x="7855029" y="5241730"/>
              <a:ext cx="1056117" cy="425787"/>
            </a:xfrm>
            <a:prstGeom prst="bracketPair">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1353800" cy="860674"/>
          </a:xfrm>
        </p:spPr>
        <p:txBody>
          <a:bodyPr>
            <a:normAutofit/>
          </a:bodyPr>
          <a:lstStyle/>
          <a:p>
            <a:r>
              <a:rPr lang="zh-CN" altLang="en-US" sz="3200" dirty="0"/>
              <a:t>知识点</a:t>
            </a:r>
            <a:r>
              <a:rPr lang="en-US" altLang="zh-CN" sz="3200" dirty="0"/>
              <a:t>2</a:t>
            </a:r>
            <a:r>
              <a:rPr lang="zh-CN" altLang="en-US" sz="3200" dirty="0"/>
              <a:t>：矩阵转置</a:t>
            </a:r>
            <a:endParaRPr lang="zh-CN" altLang="en-US" sz="3200" dirty="0"/>
          </a:p>
        </p:txBody>
      </p:sp>
      <p:sp>
        <p:nvSpPr>
          <p:cNvPr id="3" name="内容占位符 2"/>
          <p:cNvSpPr>
            <a:spLocks noGrp="1"/>
          </p:cNvSpPr>
          <p:nvPr>
            <p:ph idx="1"/>
          </p:nvPr>
        </p:nvSpPr>
        <p:spPr>
          <a:xfrm>
            <a:off x="185594" y="900444"/>
            <a:ext cx="8229600" cy="4840568"/>
          </a:xfrm>
        </p:spPr>
        <p:txBody>
          <a:bodyPr>
            <a:normAutofit/>
          </a:bodyPr>
          <a:lstStyle/>
          <a:p>
            <a:pPr>
              <a:buNone/>
            </a:pPr>
            <a:r>
              <a:rPr lang="zh-CN" altLang="en-US" dirty="0"/>
              <a:t>设</a:t>
            </a:r>
            <a:r>
              <a:rPr lang="en-US" altLang="zh-CN" dirty="0" err="1"/>
              <a:t>m×n</a:t>
            </a:r>
            <a:r>
              <a:rPr lang="zh-CN" altLang="en-US" dirty="0"/>
              <a:t>矩阵</a:t>
            </a:r>
            <a:r>
              <a:rPr lang="en-US" altLang="zh-CN" dirty="0"/>
              <a:t>A:</a:t>
            </a: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r>
              <a:rPr lang="zh-CN" altLang="en-US" dirty="0"/>
              <a:t>则</a:t>
            </a:r>
            <a:r>
              <a:rPr lang="en-US" altLang="zh-CN" dirty="0"/>
              <a:t>A</a:t>
            </a:r>
            <a:r>
              <a:rPr lang="zh-CN" altLang="en-US" dirty="0"/>
              <a:t>的转置矩阵</a:t>
            </a:r>
            <a:r>
              <a:rPr lang="en-US" altLang="zh-CN" dirty="0"/>
              <a:t>A</a:t>
            </a:r>
            <a:r>
              <a:rPr lang="en-US" altLang="zh-CN" baseline="30000" dirty="0"/>
              <a:t>T</a:t>
            </a:r>
            <a:r>
              <a:rPr lang="zh-CN" altLang="en-US" dirty="0"/>
              <a:t>是</a:t>
            </a:r>
            <a:r>
              <a:rPr lang="en-US" altLang="zh-CN" dirty="0" err="1"/>
              <a:t>n×m</a:t>
            </a: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zh-CN" altLang="en-US" dirty="0"/>
          </a:p>
        </p:txBody>
      </p:sp>
      <p:grpSp>
        <p:nvGrpSpPr>
          <p:cNvPr id="5" name="组合 4"/>
          <p:cNvGrpSpPr/>
          <p:nvPr/>
        </p:nvGrpSpPr>
        <p:grpSpPr>
          <a:xfrm>
            <a:off x="3647728" y="980728"/>
            <a:ext cx="6969472" cy="2340000"/>
            <a:chOff x="2123728" y="3645024"/>
            <a:chExt cx="4644008" cy="2340000"/>
          </a:xfrm>
        </p:grpSpPr>
        <p:sp>
          <p:nvSpPr>
            <p:cNvPr id="6" name="矩形 5"/>
            <p:cNvSpPr/>
            <p:nvPr/>
          </p:nvSpPr>
          <p:spPr>
            <a:xfrm>
              <a:off x="2195736" y="3645024"/>
              <a:ext cx="4572000" cy="2308324"/>
            </a:xfrm>
            <a:prstGeom prst="rect">
              <a:avLst/>
            </a:prstGeom>
          </p:spPr>
          <p:txBody>
            <a:bodyPr>
              <a:spAutoFit/>
            </a:bodyPr>
            <a:lstStyle/>
            <a:p>
              <a:pPr algn="ctr">
                <a:defRPr/>
              </a:pPr>
              <a:r>
                <a:rPr lang="en-US" altLang="zh-CN" sz="2400" dirty="0">
                  <a:solidFill>
                    <a:srgbClr val="060606"/>
                  </a:solidFill>
                </a:rPr>
                <a:t>a</a:t>
              </a:r>
              <a:r>
                <a:rPr lang="en-US" altLang="zh-CN" sz="2400" baseline="-25000" dirty="0">
                  <a:solidFill>
                    <a:srgbClr val="060606"/>
                  </a:solidFill>
                </a:rPr>
                <a:t>11</a:t>
              </a:r>
              <a:r>
                <a:rPr lang="en-US" altLang="zh-CN" sz="2400" dirty="0">
                  <a:solidFill>
                    <a:srgbClr val="060606"/>
                  </a:solidFill>
                </a:rPr>
                <a:t>            a</a:t>
              </a:r>
              <a:r>
                <a:rPr lang="en-US" altLang="zh-CN" sz="2400" baseline="-25000" dirty="0">
                  <a:solidFill>
                    <a:srgbClr val="060606"/>
                  </a:solidFill>
                </a:rPr>
                <a:t>12</a:t>
              </a:r>
              <a:r>
                <a:rPr lang="en-US" altLang="zh-CN" sz="2400" dirty="0">
                  <a:solidFill>
                    <a:srgbClr val="060606"/>
                  </a:solidFill>
                </a:rPr>
                <a:t>        …          a</a:t>
              </a:r>
              <a:r>
                <a:rPr lang="en-US" altLang="zh-CN" sz="2400" baseline="-25000" dirty="0">
                  <a:solidFill>
                    <a:srgbClr val="060606"/>
                  </a:solidFill>
                </a:rPr>
                <a:t>1n</a:t>
              </a:r>
              <a:endParaRPr lang="en-US" altLang="zh-CN" sz="2400" baseline="-25000" dirty="0">
                <a:solidFill>
                  <a:srgbClr val="060606"/>
                </a:solidFill>
              </a:endParaRPr>
            </a:p>
            <a:p>
              <a:pPr algn="ctr">
                <a:defRPr/>
              </a:pPr>
              <a:r>
                <a:rPr lang="en-US" altLang="zh-CN" sz="2400" dirty="0">
                  <a:solidFill>
                    <a:srgbClr val="060606"/>
                  </a:solidFill>
                </a:rPr>
                <a:t>a</a:t>
              </a:r>
              <a:r>
                <a:rPr lang="en-US" altLang="zh-CN" sz="2400" baseline="-25000" dirty="0">
                  <a:solidFill>
                    <a:srgbClr val="060606"/>
                  </a:solidFill>
                </a:rPr>
                <a:t>21</a:t>
              </a:r>
              <a:r>
                <a:rPr lang="en-US" altLang="zh-CN" sz="2400" dirty="0">
                  <a:solidFill>
                    <a:srgbClr val="060606"/>
                  </a:solidFill>
                </a:rPr>
                <a:t>            a</a:t>
              </a:r>
              <a:r>
                <a:rPr lang="en-US" altLang="zh-CN" sz="2400" baseline="-25000" dirty="0">
                  <a:solidFill>
                    <a:srgbClr val="060606"/>
                  </a:solidFill>
                </a:rPr>
                <a:t>22</a:t>
              </a:r>
              <a:r>
                <a:rPr lang="en-US" altLang="zh-CN" sz="2400" dirty="0">
                  <a:solidFill>
                    <a:srgbClr val="060606"/>
                  </a:solidFill>
                </a:rPr>
                <a:t>        …          a</a:t>
              </a:r>
              <a:r>
                <a:rPr lang="en-US" altLang="zh-CN" sz="2400" baseline="-25000" dirty="0">
                  <a:solidFill>
                    <a:srgbClr val="060606"/>
                  </a:solidFill>
                </a:rPr>
                <a:t>2n</a:t>
              </a:r>
              <a:endParaRPr lang="en-US" altLang="zh-CN" sz="2400" baseline="-250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a</a:t>
              </a:r>
              <a:r>
                <a:rPr lang="en-US" altLang="zh-CN" sz="2400" baseline="-25000" dirty="0">
                  <a:solidFill>
                    <a:srgbClr val="060606"/>
                  </a:solidFill>
                </a:rPr>
                <a:t>m1</a:t>
              </a:r>
              <a:r>
                <a:rPr lang="en-US" altLang="zh-CN" sz="2400" dirty="0">
                  <a:solidFill>
                    <a:srgbClr val="060606"/>
                  </a:solidFill>
                </a:rPr>
                <a:t>            a</a:t>
              </a:r>
              <a:r>
                <a:rPr lang="en-US" altLang="zh-CN" sz="2400" baseline="-25000" dirty="0">
                  <a:solidFill>
                    <a:srgbClr val="060606"/>
                  </a:solidFill>
                </a:rPr>
                <a:t>m2</a:t>
              </a:r>
              <a:r>
                <a:rPr lang="en-US" altLang="zh-CN" sz="2400" dirty="0">
                  <a:solidFill>
                    <a:srgbClr val="060606"/>
                  </a:solidFill>
                </a:rPr>
                <a:t>      …          </a:t>
              </a:r>
              <a:r>
                <a:rPr lang="en-US" altLang="zh-CN" sz="2400" dirty="0" err="1">
                  <a:solidFill>
                    <a:srgbClr val="060606"/>
                  </a:solidFill>
                </a:rPr>
                <a:t>a</a:t>
              </a:r>
              <a:r>
                <a:rPr lang="en-US" altLang="zh-CN" sz="2400" baseline="-25000" dirty="0" err="1">
                  <a:solidFill>
                    <a:srgbClr val="060606"/>
                  </a:solidFill>
                </a:rPr>
                <a:t>mn</a:t>
              </a:r>
              <a:endParaRPr lang="zh-CN" altLang="en-US" sz="2400" dirty="0">
                <a:solidFill>
                  <a:srgbClr val="060606"/>
                </a:solidFill>
              </a:endParaRPr>
            </a:p>
          </p:txBody>
        </p:sp>
        <p:sp>
          <p:nvSpPr>
            <p:cNvPr id="7" name="左中括号 6"/>
            <p:cNvSpPr/>
            <p:nvPr/>
          </p:nvSpPr>
          <p:spPr bwMode="auto">
            <a:xfrm>
              <a:off x="2725047" y="3645024"/>
              <a:ext cx="144016" cy="2340000"/>
            </a:xfrm>
            <a:prstGeom prst="leftBracket">
              <a:avLst/>
            </a:prstGeom>
            <a:noFill/>
            <a:ln w="1905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8" name="右中括号 7"/>
            <p:cNvSpPr/>
            <p:nvPr/>
          </p:nvSpPr>
          <p:spPr bwMode="auto">
            <a:xfrm>
              <a:off x="6137068" y="3645024"/>
              <a:ext cx="144016" cy="2340000"/>
            </a:xfrm>
            <a:prstGeom prst="rightBracket">
              <a:avLst/>
            </a:prstGeom>
            <a:noFill/>
            <a:ln w="1905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9" name="矩形 8"/>
            <p:cNvSpPr/>
            <p:nvPr/>
          </p:nvSpPr>
          <p:spPr>
            <a:xfrm>
              <a:off x="2123728" y="4221088"/>
              <a:ext cx="784524" cy="461665"/>
            </a:xfrm>
            <a:prstGeom prst="rect">
              <a:avLst/>
            </a:prstGeom>
          </p:spPr>
          <p:txBody>
            <a:bodyPr wrap="none">
              <a:spAutoFit/>
            </a:bodyPr>
            <a:lstStyle/>
            <a:p>
              <a:r>
                <a:rPr lang="en-US" altLang="zh-CN" sz="2400" b="1" dirty="0">
                  <a:solidFill>
                    <a:srgbClr val="060606"/>
                  </a:solidFill>
                </a:rPr>
                <a:t>A</a:t>
              </a:r>
              <a:r>
                <a:rPr lang="en-US" altLang="zh-CN" sz="2400" dirty="0">
                  <a:solidFill>
                    <a:srgbClr val="060606"/>
                  </a:solidFill>
                </a:rPr>
                <a:t>  = </a:t>
              </a:r>
              <a:endParaRPr lang="zh-CN" altLang="en-US" sz="2400" dirty="0"/>
            </a:p>
          </p:txBody>
        </p:sp>
      </p:grpSp>
      <p:grpSp>
        <p:nvGrpSpPr>
          <p:cNvPr id="18" name="组合 17"/>
          <p:cNvGrpSpPr/>
          <p:nvPr/>
        </p:nvGrpSpPr>
        <p:grpSpPr>
          <a:xfrm>
            <a:off x="3719736" y="4293096"/>
            <a:ext cx="6969472" cy="2340000"/>
            <a:chOff x="2123728" y="3645024"/>
            <a:chExt cx="4644008" cy="2340000"/>
          </a:xfrm>
        </p:grpSpPr>
        <p:sp>
          <p:nvSpPr>
            <p:cNvPr id="19" name="矩形 18"/>
            <p:cNvSpPr/>
            <p:nvPr/>
          </p:nvSpPr>
          <p:spPr>
            <a:xfrm>
              <a:off x="2195736" y="3645024"/>
              <a:ext cx="4572000" cy="2308324"/>
            </a:xfrm>
            <a:prstGeom prst="rect">
              <a:avLst/>
            </a:prstGeom>
          </p:spPr>
          <p:txBody>
            <a:bodyPr>
              <a:spAutoFit/>
            </a:bodyPr>
            <a:lstStyle/>
            <a:p>
              <a:pPr algn="ctr">
                <a:defRPr/>
              </a:pPr>
              <a:r>
                <a:rPr lang="en-US" altLang="zh-CN" sz="2400" dirty="0">
                  <a:solidFill>
                    <a:srgbClr val="060606"/>
                  </a:solidFill>
                </a:rPr>
                <a:t>a</a:t>
              </a:r>
              <a:r>
                <a:rPr lang="en-US" altLang="zh-CN" sz="2400" baseline="-25000" dirty="0">
                  <a:solidFill>
                    <a:srgbClr val="060606"/>
                  </a:solidFill>
                </a:rPr>
                <a:t>11</a:t>
              </a:r>
              <a:r>
                <a:rPr lang="en-US" altLang="zh-CN" sz="2400" dirty="0">
                  <a:solidFill>
                    <a:srgbClr val="060606"/>
                  </a:solidFill>
                </a:rPr>
                <a:t>            a</a:t>
              </a:r>
              <a:r>
                <a:rPr lang="en-US" altLang="zh-CN" sz="2400" baseline="-25000" dirty="0">
                  <a:solidFill>
                    <a:srgbClr val="060606"/>
                  </a:solidFill>
                </a:rPr>
                <a:t>21</a:t>
              </a:r>
              <a:r>
                <a:rPr lang="en-US" altLang="zh-CN" sz="2400" dirty="0">
                  <a:solidFill>
                    <a:srgbClr val="060606"/>
                  </a:solidFill>
                </a:rPr>
                <a:t>        …          a</a:t>
              </a:r>
              <a:r>
                <a:rPr lang="en-US" altLang="zh-CN" sz="2400" baseline="-25000" dirty="0">
                  <a:solidFill>
                    <a:srgbClr val="060606"/>
                  </a:solidFill>
                </a:rPr>
                <a:t>m1</a:t>
              </a:r>
              <a:endParaRPr lang="en-US" altLang="zh-CN" sz="2400" baseline="-25000" dirty="0">
                <a:solidFill>
                  <a:srgbClr val="060606"/>
                </a:solidFill>
              </a:endParaRPr>
            </a:p>
            <a:p>
              <a:pPr algn="ctr">
                <a:defRPr/>
              </a:pPr>
              <a:r>
                <a:rPr lang="en-US" altLang="zh-CN" sz="2400" dirty="0">
                  <a:solidFill>
                    <a:srgbClr val="060606"/>
                  </a:solidFill>
                </a:rPr>
                <a:t>a</a:t>
              </a:r>
              <a:r>
                <a:rPr lang="en-US" altLang="zh-CN" sz="2400" baseline="-25000" dirty="0">
                  <a:solidFill>
                    <a:srgbClr val="060606"/>
                  </a:solidFill>
                </a:rPr>
                <a:t>12</a:t>
              </a:r>
              <a:r>
                <a:rPr lang="en-US" altLang="zh-CN" sz="2400" dirty="0">
                  <a:solidFill>
                    <a:srgbClr val="060606"/>
                  </a:solidFill>
                </a:rPr>
                <a:t>            a</a:t>
              </a:r>
              <a:r>
                <a:rPr lang="en-US" altLang="zh-CN" sz="2400" baseline="-25000" dirty="0">
                  <a:solidFill>
                    <a:srgbClr val="060606"/>
                  </a:solidFill>
                </a:rPr>
                <a:t>22</a:t>
              </a:r>
              <a:r>
                <a:rPr lang="en-US" altLang="zh-CN" sz="2400" dirty="0">
                  <a:solidFill>
                    <a:srgbClr val="060606"/>
                  </a:solidFill>
                </a:rPr>
                <a:t>        …          a</a:t>
              </a:r>
              <a:r>
                <a:rPr lang="en-US" altLang="zh-CN" sz="2400" baseline="-25000" dirty="0">
                  <a:solidFill>
                    <a:srgbClr val="060606"/>
                  </a:solidFill>
                </a:rPr>
                <a:t>m2</a:t>
              </a:r>
              <a:endParaRPr lang="en-US" altLang="zh-CN" sz="2400" baseline="-250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a</a:t>
              </a:r>
              <a:r>
                <a:rPr lang="en-US" altLang="zh-CN" sz="2400" baseline="-25000" dirty="0">
                  <a:solidFill>
                    <a:srgbClr val="060606"/>
                  </a:solidFill>
                </a:rPr>
                <a:t>1n</a:t>
              </a:r>
              <a:r>
                <a:rPr lang="en-US" altLang="zh-CN" sz="2400" dirty="0">
                  <a:solidFill>
                    <a:srgbClr val="060606"/>
                  </a:solidFill>
                </a:rPr>
                <a:t>            a</a:t>
              </a:r>
              <a:r>
                <a:rPr lang="en-US" altLang="zh-CN" sz="2400" baseline="-25000" dirty="0">
                  <a:solidFill>
                    <a:srgbClr val="060606"/>
                  </a:solidFill>
                </a:rPr>
                <a:t>2n</a:t>
              </a:r>
              <a:r>
                <a:rPr lang="en-US" altLang="zh-CN" sz="2400" dirty="0">
                  <a:solidFill>
                    <a:srgbClr val="060606"/>
                  </a:solidFill>
                </a:rPr>
                <a:t>      …          </a:t>
              </a:r>
              <a:r>
                <a:rPr lang="en-US" altLang="zh-CN" sz="2400" dirty="0" err="1">
                  <a:solidFill>
                    <a:srgbClr val="060606"/>
                  </a:solidFill>
                </a:rPr>
                <a:t>a</a:t>
              </a:r>
              <a:r>
                <a:rPr lang="en-US" altLang="zh-CN" sz="2400" baseline="-25000" dirty="0" err="1">
                  <a:solidFill>
                    <a:srgbClr val="060606"/>
                  </a:solidFill>
                </a:rPr>
                <a:t>mn</a:t>
              </a:r>
              <a:endParaRPr lang="zh-CN" altLang="en-US" sz="2400" dirty="0">
                <a:solidFill>
                  <a:srgbClr val="060606"/>
                </a:solidFill>
              </a:endParaRPr>
            </a:p>
          </p:txBody>
        </p:sp>
        <p:sp>
          <p:nvSpPr>
            <p:cNvPr id="23" name="左中括号 22"/>
            <p:cNvSpPr/>
            <p:nvPr/>
          </p:nvSpPr>
          <p:spPr bwMode="auto">
            <a:xfrm>
              <a:off x="2725047" y="3645024"/>
              <a:ext cx="144016" cy="2340000"/>
            </a:xfrm>
            <a:prstGeom prst="leftBracket">
              <a:avLst/>
            </a:prstGeom>
            <a:noFill/>
            <a:ln w="1905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24" name="右中括号 23"/>
            <p:cNvSpPr/>
            <p:nvPr/>
          </p:nvSpPr>
          <p:spPr bwMode="auto">
            <a:xfrm>
              <a:off x="6137068" y="3645024"/>
              <a:ext cx="144016" cy="2340000"/>
            </a:xfrm>
            <a:prstGeom prst="rightBracket">
              <a:avLst/>
            </a:prstGeom>
            <a:noFill/>
            <a:ln w="1905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25" name="矩形 24"/>
            <p:cNvSpPr/>
            <p:nvPr/>
          </p:nvSpPr>
          <p:spPr>
            <a:xfrm>
              <a:off x="2123728" y="4221088"/>
              <a:ext cx="889384" cy="461665"/>
            </a:xfrm>
            <a:prstGeom prst="rect">
              <a:avLst/>
            </a:prstGeom>
          </p:spPr>
          <p:txBody>
            <a:bodyPr wrap="none">
              <a:spAutoFit/>
            </a:bodyPr>
            <a:lstStyle/>
            <a:p>
              <a:r>
                <a:rPr lang="en-US" altLang="zh-CN" sz="2400" b="1" dirty="0">
                  <a:solidFill>
                    <a:srgbClr val="060606"/>
                  </a:solidFill>
                </a:rPr>
                <a:t>A</a:t>
              </a:r>
              <a:r>
                <a:rPr lang="en-US" altLang="zh-CN" sz="2400" b="1" baseline="30000" dirty="0">
                  <a:solidFill>
                    <a:srgbClr val="060606"/>
                  </a:solidFill>
                </a:rPr>
                <a:t>T</a:t>
              </a:r>
              <a:r>
                <a:rPr lang="en-US" altLang="zh-CN" sz="2400" dirty="0">
                  <a:solidFill>
                    <a:srgbClr val="060606"/>
                  </a:solidFill>
                </a:rPr>
                <a:t>  = </a:t>
              </a:r>
              <a:endParaRPr lang="zh-CN" altLang="en-US" sz="2400" dirty="0"/>
            </a:p>
          </p:txBody>
        </p:sp>
      </p:gr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normAutofit/>
          </a:bodyPr>
          <a:lstStyle/>
          <a:p>
            <a:r>
              <a:rPr lang="zh-CN" altLang="en-US" sz="3200" dirty="0"/>
              <a:t>知识点</a:t>
            </a:r>
            <a:r>
              <a:rPr lang="en-US" altLang="zh-CN" sz="3200" dirty="0"/>
              <a:t>3</a:t>
            </a:r>
            <a:r>
              <a:rPr lang="zh-CN" altLang="en-US" sz="3200" dirty="0"/>
              <a:t>：矩阵乘法及性质</a:t>
            </a:r>
            <a:endParaRPr lang="zh-CN" altLang="en-US" sz="3200" dirty="0"/>
          </a:p>
        </p:txBody>
      </p:sp>
      <p:sp>
        <p:nvSpPr>
          <p:cNvPr id="3" name="内容占位符 2"/>
          <p:cNvSpPr>
            <a:spLocks noGrp="1"/>
          </p:cNvSpPr>
          <p:nvPr>
            <p:ph idx="1"/>
          </p:nvPr>
        </p:nvSpPr>
        <p:spPr>
          <a:xfrm>
            <a:off x="721360" y="1252728"/>
            <a:ext cx="10749280" cy="4840568"/>
          </a:xfrm>
        </p:spPr>
        <p:txBody>
          <a:bodyPr>
            <a:normAutofit/>
          </a:bodyPr>
          <a:lstStyle/>
          <a:p>
            <a:pPr>
              <a:lnSpc>
                <a:spcPct val="100000"/>
              </a:lnSpc>
              <a:buNone/>
            </a:pPr>
            <a:r>
              <a:rPr lang="zh-CN" altLang="en-US" dirty="0"/>
              <a:t>定义：设有矩阵</a:t>
            </a:r>
            <a:r>
              <a:rPr lang="en-US" altLang="zh-CN" b="1" dirty="0"/>
              <a:t>A</a:t>
            </a:r>
            <a:r>
              <a:rPr lang="zh-CN" altLang="en-US" dirty="0"/>
              <a:t>和</a:t>
            </a:r>
            <a:r>
              <a:rPr lang="en-US" altLang="zh-CN" b="1" dirty="0"/>
              <a:t>B</a:t>
            </a:r>
            <a:r>
              <a:rPr lang="zh-CN" altLang="en-US" dirty="0"/>
              <a:t>，当且仅当</a:t>
            </a:r>
            <a:r>
              <a:rPr lang="en-US" altLang="zh-CN" dirty="0"/>
              <a:t>:</a:t>
            </a:r>
            <a:r>
              <a:rPr lang="en-US" altLang="zh-CN" b="1" dirty="0"/>
              <a:t>A</a:t>
            </a:r>
            <a:r>
              <a:rPr lang="zh-CN" altLang="en-US" dirty="0"/>
              <a:t>的列数 </a:t>
            </a:r>
            <a:r>
              <a:rPr lang="en-US" altLang="zh-CN" dirty="0"/>
              <a:t>= </a:t>
            </a:r>
            <a:r>
              <a:rPr lang="en-US" altLang="zh-CN" b="1" dirty="0"/>
              <a:t>B</a:t>
            </a:r>
            <a:r>
              <a:rPr lang="zh-CN" altLang="en-US" dirty="0"/>
              <a:t>的行数时，</a:t>
            </a:r>
            <a:r>
              <a:rPr lang="en-US" altLang="zh-CN" b="1" dirty="0"/>
              <a:t>A</a:t>
            </a:r>
            <a:r>
              <a:rPr lang="zh-CN" altLang="en-US" dirty="0"/>
              <a:t>和</a:t>
            </a:r>
            <a:r>
              <a:rPr lang="en-US" altLang="zh-CN" b="1" dirty="0"/>
              <a:t>B</a:t>
            </a:r>
            <a:r>
              <a:rPr lang="zh-CN" altLang="en-US" dirty="0"/>
              <a:t>有矩阵积，记作</a:t>
            </a:r>
            <a:r>
              <a:rPr lang="en-US" altLang="zh-CN" b="1" dirty="0"/>
              <a:t>AB</a:t>
            </a:r>
            <a:r>
              <a:rPr lang="zh-CN" altLang="en-US" dirty="0"/>
              <a:t>。</a:t>
            </a:r>
            <a:endParaRPr lang="en-US" altLang="zh-CN" dirty="0"/>
          </a:p>
          <a:p>
            <a:pPr>
              <a:lnSpc>
                <a:spcPct val="100000"/>
              </a:lnSpc>
              <a:buNone/>
            </a:pPr>
            <a:r>
              <a:rPr lang="zh-CN" altLang="en-US" dirty="0"/>
              <a:t>性质：</a:t>
            </a:r>
            <a:endParaRPr lang="en-US" altLang="zh-CN" dirty="0"/>
          </a:p>
          <a:p>
            <a:pPr>
              <a:lnSpc>
                <a:spcPct val="100000"/>
              </a:lnSpc>
              <a:buNone/>
            </a:pPr>
            <a:r>
              <a:rPr lang="en-US" altLang="zh-CN" dirty="0"/>
              <a:t>(1)</a:t>
            </a:r>
            <a:r>
              <a:rPr lang="en-US" altLang="zh-CN" b="1" dirty="0"/>
              <a:t>AB</a:t>
            </a:r>
            <a:r>
              <a:rPr lang="zh-CN" altLang="en-US" dirty="0"/>
              <a:t>的第</a:t>
            </a:r>
            <a:r>
              <a:rPr lang="en-US" altLang="zh-CN" dirty="0" err="1"/>
              <a:t>i</a:t>
            </a:r>
            <a:r>
              <a:rPr lang="zh-CN" altLang="en-US" dirty="0"/>
              <a:t>行 </a:t>
            </a:r>
            <a:r>
              <a:rPr lang="en-US" altLang="zh-CN" dirty="0"/>
              <a:t>=(</a:t>
            </a:r>
            <a:r>
              <a:rPr lang="en-US" altLang="zh-CN" b="1" dirty="0"/>
              <a:t>A</a:t>
            </a:r>
            <a:r>
              <a:rPr lang="zh-CN" altLang="en-US" dirty="0"/>
              <a:t>的第</a:t>
            </a:r>
            <a:r>
              <a:rPr lang="en-US" altLang="zh-CN" dirty="0" err="1"/>
              <a:t>i</a:t>
            </a:r>
            <a:r>
              <a:rPr lang="zh-CN" altLang="en-US" dirty="0"/>
              <a:t>行</a:t>
            </a:r>
            <a:r>
              <a:rPr lang="en-US" altLang="zh-CN" dirty="0"/>
              <a:t>)</a:t>
            </a:r>
            <a:r>
              <a:rPr lang="en-US" altLang="zh-CN" b="1" dirty="0"/>
              <a:t> B</a:t>
            </a:r>
            <a:endParaRPr lang="en-US" altLang="zh-CN" b="1" dirty="0"/>
          </a:p>
          <a:p>
            <a:pPr>
              <a:lnSpc>
                <a:spcPct val="100000"/>
              </a:lnSpc>
              <a:buNone/>
            </a:pPr>
            <a:r>
              <a:rPr lang="en-US" altLang="zh-CN" dirty="0"/>
              <a:t>(2)</a:t>
            </a:r>
            <a:r>
              <a:rPr lang="en-US" altLang="zh-CN" b="1" dirty="0"/>
              <a:t>AB</a:t>
            </a:r>
            <a:r>
              <a:rPr lang="zh-CN" altLang="en-US" dirty="0"/>
              <a:t>的第</a:t>
            </a:r>
            <a:r>
              <a:rPr lang="en-US" altLang="zh-CN" dirty="0"/>
              <a:t>j</a:t>
            </a:r>
            <a:r>
              <a:rPr lang="zh-CN" altLang="en-US" dirty="0"/>
              <a:t>行 </a:t>
            </a:r>
            <a:r>
              <a:rPr lang="en-US" altLang="zh-CN" dirty="0"/>
              <a:t>=</a:t>
            </a:r>
            <a:r>
              <a:rPr lang="en-US" altLang="zh-CN" b="1" dirty="0"/>
              <a:t>A</a:t>
            </a:r>
            <a:r>
              <a:rPr lang="en-US" altLang="zh-CN" dirty="0"/>
              <a:t>(</a:t>
            </a:r>
            <a:r>
              <a:rPr lang="en-US" altLang="zh-CN" b="1" dirty="0"/>
              <a:t> B</a:t>
            </a:r>
            <a:r>
              <a:rPr lang="zh-CN" altLang="en-US" dirty="0"/>
              <a:t>的第</a:t>
            </a:r>
            <a:r>
              <a:rPr lang="en-US" altLang="zh-CN" dirty="0"/>
              <a:t>j</a:t>
            </a:r>
            <a:r>
              <a:rPr lang="zh-CN" altLang="en-US" dirty="0"/>
              <a:t>列</a:t>
            </a:r>
            <a:r>
              <a:rPr lang="en-US" altLang="zh-CN" dirty="0"/>
              <a:t>)</a:t>
            </a:r>
            <a:endParaRPr lang="en-US" altLang="zh-CN" dirty="0"/>
          </a:p>
          <a:p>
            <a:pPr>
              <a:lnSpc>
                <a:spcPct val="100000"/>
              </a:lnSpc>
              <a:buNone/>
            </a:pPr>
            <a:r>
              <a:rPr lang="en-US" altLang="zh-CN" dirty="0"/>
              <a:t>(3)</a:t>
            </a:r>
            <a:r>
              <a:rPr lang="zh-CN" altLang="en-US" dirty="0"/>
              <a:t>矩阵乘法满足结合律，即</a:t>
            </a:r>
            <a:r>
              <a:rPr lang="en-US" altLang="zh-CN" b="1" dirty="0"/>
              <a:t>A</a:t>
            </a:r>
            <a:r>
              <a:rPr lang="en-US" altLang="zh-CN" dirty="0"/>
              <a:t>(</a:t>
            </a:r>
            <a:r>
              <a:rPr lang="en-US" altLang="zh-CN" b="1" dirty="0"/>
              <a:t>BC</a:t>
            </a:r>
            <a:r>
              <a:rPr lang="en-US" altLang="zh-CN" dirty="0"/>
              <a:t>)</a:t>
            </a:r>
            <a:r>
              <a:rPr lang="en-US" altLang="zh-CN" b="1" dirty="0"/>
              <a:t> = </a:t>
            </a:r>
            <a:r>
              <a:rPr lang="en-US" altLang="zh-CN" dirty="0"/>
              <a:t>(</a:t>
            </a:r>
            <a:r>
              <a:rPr lang="en-US" altLang="zh-CN" b="1" dirty="0"/>
              <a:t>AB</a:t>
            </a:r>
            <a:r>
              <a:rPr lang="en-US" altLang="zh-CN" dirty="0"/>
              <a:t>)</a:t>
            </a:r>
            <a:r>
              <a:rPr lang="en-US" altLang="zh-CN" b="1" dirty="0"/>
              <a:t>C</a:t>
            </a:r>
            <a:r>
              <a:rPr lang="zh-CN" altLang="en-US" b="1" dirty="0"/>
              <a:t>。</a:t>
            </a:r>
            <a:endParaRPr lang="en-US" altLang="zh-CN" b="1" dirty="0"/>
          </a:p>
          <a:p>
            <a:pPr>
              <a:lnSpc>
                <a:spcPct val="100000"/>
              </a:lnSpc>
              <a:buNone/>
            </a:pPr>
            <a:r>
              <a:rPr lang="en-US" altLang="zh-CN" dirty="0"/>
              <a:t>(4)</a:t>
            </a:r>
            <a:r>
              <a:rPr lang="zh-CN" altLang="en-US" dirty="0"/>
              <a:t>矩阵乘法满足分配律，即</a:t>
            </a:r>
            <a:r>
              <a:rPr lang="en-US" altLang="zh-CN" b="1" dirty="0"/>
              <a:t>A</a:t>
            </a:r>
            <a:r>
              <a:rPr lang="en-US" altLang="zh-CN" dirty="0"/>
              <a:t>(</a:t>
            </a:r>
            <a:r>
              <a:rPr lang="en-US" altLang="zh-CN" b="1" dirty="0"/>
              <a:t>B+C</a:t>
            </a:r>
            <a:r>
              <a:rPr lang="en-US" altLang="zh-CN" dirty="0"/>
              <a:t>)</a:t>
            </a:r>
            <a:r>
              <a:rPr lang="en-US" altLang="zh-CN" b="1" dirty="0"/>
              <a:t> </a:t>
            </a:r>
            <a:r>
              <a:rPr lang="en-US" altLang="zh-CN" dirty="0"/>
              <a:t>=</a:t>
            </a:r>
            <a:r>
              <a:rPr lang="en-US" altLang="zh-CN" b="1" dirty="0"/>
              <a:t> AB</a:t>
            </a:r>
            <a:r>
              <a:rPr lang="en-US" altLang="zh-CN" dirty="0"/>
              <a:t>+</a:t>
            </a:r>
            <a:r>
              <a:rPr lang="en-US" altLang="zh-CN" b="1" dirty="0"/>
              <a:t>BC</a:t>
            </a:r>
            <a:r>
              <a:rPr lang="zh-CN" altLang="en-US" b="1" dirty="0"/>
              <a:t>，</a:t>
            </a:r>
            <a:r>
              <a:rPr lang="en-US" altLang="zh-CN" dirty="0"/>
              <a:t>(</a:t>
            </a:r>
            <a:r>
              <a:rPr lang="en-US" altLang="zh-CN" b="1" dirty="0"/>
              <a:t>B+C</a:t>
            </a:r>
            <a:r>
              <a:rPr lang="en-US" altLang="zh-CN" dirty="0"/>
              <a:t>)</a:t>
            </a:r>
            <a:r>
              <a:rPr lang="en-US" altLang="zh-CN" b="1" dirty="0"/>
              <a:t>D </a:t>
            </a:r>
            <a:r>
              <a:rPr lang="en-US" altLang="zh-CN" dirty="0"/>
              <a:t>=</a:t>
            </a:r>
            <a:r>
              <a:rPr lang="en-US" altLang="zh-CN" b="1" dirty="0"/>
              <a:t> BD</a:t>
            </a:r>
            <a:r>
              <a:rPr lang="en-US" altLang="zh-CN" dirty="0"/>
              <a:t>+</a:t>
            </a:r>
            <a:r>
              <a:rPr lang="en-US" altLang="zh-CN" b="1" dirty="0"/>
              <a:t>CD</a:t>
            </a:r>
            <a:endParaRPr lang="en-US" altLang="zh-CN" b="1"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zh-CN" altLang="en-US"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 y="-27384"/>
            <a:ext cx="10039033" cy="793750"/>
          </a:xfrm>
        </p:spPr>
        <p:txBody>
          <a:bodyPr>
            <a:normAutofit/>
          </a:bodyPr>
          <a:lstStyle/>
          <a:p>
            <a:r>
              <a:rPr lang="zh-CN" altLang="en-US" sz="3200" dirty="0"/>
              <a:t>知识点</a:t>
            </a:r>
            <a:r>
              <a:rPr lang="en-US" altLang="zh-CN" sz="3200" dirty="0"/>
              <a:t>4</a:t>
            </a:r>
            <a:r>
              <a:rPr lang="zh-CN" altLang="en-US" sz="3200" dirty="0"/>
              <a:t>：线性方程组和线性方程组的矩阵</a:t>
            </a:r>
            <a:endParaRPr lang="zh-CN" altLang="en-US" sz="3200" dirty="0"/>
          </a:p>
        </p:txBody>
      </p:sp>
      <p:sp>
        <p:nvSpPr>
          <p:cNvPr id="3" name="内容占位符 2"/>
          <p:cNvSpPr>
            <a:spLocks noGrp="1"/>
          </p:cNvSpPr>
          <p:nvPr>
            <p:ph idx="1"/>
          </p:nvPr>
        </p:nvSpPr>
        <p:spPr>
          <a:xfrm>
            <a:off x="314960" y="692697"/>
            <a:ext cx="11297920" cy="4903597"/>
          </a:xfrm>
        </p:spPr>
        <p:txBody>
          <a:bodyPr/>
          <a:lstStyle/>
          <a:p>
            <a:pPr>
              <a:spcBef>
                <a:spcPts val="600"/>
              </a:spcBef>
              <a:buNone/>
            </a:pPr>
            <a:r>
              <a:rPr lang="zh-CN" altLang="en-US" sz="2400" dirty="0"/>
              <a:t>下列线性方程组称之为</a:t>
            </a:r>
            <a:r>
              <a:rPr lang="en-US" altLang="zh-CN" sz="2400" dirty="0"/>
              <a:t>n</a:t>
            </a:r>
            <a:r>
              <a:rPr lang="zh-CN" altLang="en-US" sz="2400" dirty="0"/>
              <a:t>个变量</a:t>
            </a:r>
            <a:r>
              <a:rPr lang="en-US" altLang="zh-CN" sz="2400" dirty="0"/>
              <a:t>m</a:t>
            </a:r>
            <a:r>
              <a:rPr lang="zh-CN" altLang="en-US" sz="2400" dirty="0"/>
              <a:t>个方程的线性方程组：</a:t>
            </a:r>
            <a:endParaRPr lang="en-US" altLang="zh-CN" sz="2400" dirty="0"/>
          </a:p>
          <a:p>
            <a:pPr>
              <a:spcBef>
                <a:spcPts val="600"/>
              </a:spcBef>
              <a:buNone/>
            </a:pPr>
            <a:endParaRPr lang="en-US" altLang="zh-CN" sz="2400" dirty="0"/>
          </a:p>
          <a:p>
            <a:pPr>
              <a:spcBef>
                <a:spcPts val="600"/>
              </a:spcBef>
              <a:buNone/>
            </a:pPr>
            <a:endParaRPr lang="en-US" altLang="zh-CN" sz="2400" dirty="0"/>
          </a:p>
          <a:p>
            <a:pPr>
              <a:spcBef>
                <a:spcPts val="600"/>
              </a:spcBef>
              <a:buNone/>
            </a:pPr>
            <a:endParaRPr lang="en-US" altLang="zh-CN" sz="2400" dirty="0"/>
          </a:p>
          <a:p>
            <a:pPr>
              <a:spcBef>
                <a:spcPts val="600"/>
              </a:spcBef>
              <a:buNone/>
            </a:pPr>
            <a:endParaRPr lang="en-US" altLang="zh-CN" sz="2400" dirty="0"/>
          </a:p>
          <a:p>
            <a:pPr>
              <a:spcBef>
                <a:spcPts val="600"/>
              </a:spcBef>
              <a:buNone/>
            </a:pPr>
            <a:endParaRPr lang="en-US" altLang="zh-CN" sz="2400" dirty="0"/>
          </a:p>
          <a:p>
            <a:pPr>
              <a:spcBef>
                <a:spcPts val="600"/>
              </a:spcBef>
              <a:buNone/>
            </a:pPr>
            <a:r>
              <a:rPr lang="zh-CN" altLang="en-US" sz="2400" dirty="0"/>
              <a:t>使用矩阵</a:t>
            </a:r>
            <a:r>
              <a:rPr lang="en-US" altLang="zh-CN" sz="2400" dirty="0"/>
              <a:t>(</a:t>
            </a:r>
            <a:r>
              <a:rPr lang="zh-CN" altLang="en-US" sz="2400" dirty="0"/>
              <a:t>向量</a:t>
            </a:r>
            <a:r>
              <a:rPr lang="en-US" altLang="zh-CN" sz="2400" dirty="0"/>
              <a:t>)</a:t>
            </a:r>
            <a:r>
              <a:rPr lang="zh-CN" altLang="en-US" sz="2400" dirty="0"/>
              <a:t>来表示线性方程组：</a:t>
            </a:r>
            <a:endParaRPr lang="zh-CN" altLang="en-US" sz="2400" dirty="0"/>
          </a:p>
        </p:txBody>
      </p:sp>
      <p:grpSp>
        <p:nvGrpSpPr>
          <p:cNvPr id="5" name="组合 4"/>
          <p:cNvGrpSpPr/>
          <p:nvPr/>
        </p:nvGrpSpPr>
        <p:grpSpPr>
          <a:xfrm>
            <a:off x="4295801" y="1052737"/>
            <a:ext cx="4365103" cy="1757809"/>
            <a:chOff x="3434273" y="3212976"/>
            <a:chExt cx="3874029" cy="1757809"/>
          </a:xfrm>
        </p:grpSpPr>
        <p:sp>
          <p:nvSpPr>
            <p:cNvPr id="7" name="矩形 6"/>
            <p:cNvSpPr/>
            <p:nvPr/>
          </p:nvSpPr>
          <p:spPr>
            <a:xfrm>
              <a:off x="3532015" y="3212976"/>
              <a:ext cx="3776287" cy="461665"/>
            </a:xfrm>
            <a:prstGeom prst="rect">
              <a:avLst/>
            </a:prstGeom>
          </p:spPr>
          <p:txBody>
            <a:bodyPr wrap="square">
              <a:spAutoFit/>
            </a:bodyPr>
            <a:lstStyle/>
            <a:p>
              <a:r>
                <a:rPr lang="en-US" altLang="zh-CN" sz="2400" dirty="0">
                  <a:solidFill>
                    <a:srgbClr val="060606"/>
                  </a:solidFill>
                </a:rPr>
                <a:t>a</a:t>
              </a:r>
              <a:r>
                <a:rPr lang="en-US" altLang="zh-CN" sz="2400" baseline="-25000" dirty="0">
                  <a:solidFill>
                    <a:srgbClr val="060606"/>
                  </a:solidFill>
                </a:rPr>
                <a:t>11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a</a:t>
              </a:r>
              <a:r>
                <a:rPr lang="en-US" altLang="zh-CN" sz="2400" baseline="-25000" dirty="0">
                  <a:solidFill>
                    <a:srgbClr val="060606"/>
                  </a:solidFill>
                </a:rPr>
                <a:t>12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a:t>
              </a:r>
              <a:r>
                <a:rPr lang="en-US" altLang="zh-CN" sz="2400" baseline="-25000" dirty="0">
                  <a:solidFill>
                    <a:srgbClr val="060606"/>
                  </a:solidFill>
                </a:rPr>
                <a:t>1n</a:t>
              </a:r>
              <a:r>
                <a:rPr lang="en-US" altLang="zh-CN" sz="2400" dirty="0">
                  <a:solidFill>
                    <a:srgbClr val="060606"/>
                  </a:solidFill>
                </a:rPr>
                <a:t>X</a:t>
              </a:r>
              <a:r>
                <a:rPr lang="en-US" altLang="zh-CN" sz="2400" baseline="-25000" dirty="0">
                  <a:solidFill>
                    <a:srgbClr val="060606"/>
                  </a:solidFill>
                </a:rPr>
                <a:t>n </a:t>
              </a:r>
              <a:r>
                <a:rPr lang="en-US" altLang="zh-CN" sz="2400" dirty="0">
                  <a:solidFill>
                    <a:srgbClr val="060606"/>
                  </a:solidFill>
                </a:rPr>
                <a:t>=b</a:t>
              </a:r>
              <a:r>
                <a:rPr lang="en-US" altLang="zh-CN" sz="2400" baseline="-25000" dirty="0">
                  <a:solidFill>
                    <a:srgbClr val="060606"/>
                  </a:solidFill>
                </a:rPr>
                <a:t>1</a:t>
              </a:r>
              <a:r>
                <a:rPr lang="en-US" altLang="zh-CN" sz="2400" dirty="0">
                  <a:solidFill>
                    <a:srgbClr val="060606"/>
                  </a:solidFill>
                </a:rPr>
                <a:t> </a:t>
              </a:r>
              <a:endParaRPr lang="zh-CN" altLang="en-US" sz="2400" dirty="0"/>
            </a:p>
          </p:txBody>
        </p:sp>
        <p:sp>
          <p:nvSpPr>
            <p:cNvPr id="8" name="矩形 7"/>
            <p:cNvSpPr/>
            <p:nvPr/>
          </p:nvSpPr>
          <p:spPr>
            <a:xfrm>
              <a:off x="3434273" y="4509120"/>
              <a:ext cx="3848296" cy="461665"/>
            </a:xfrm>
            <a:prstGeom prst="rect">
              <a:avLst/>
            </a:prstGeom>
          </p:spPr>
          <p:txBody>
            <a:bodyPr wrap="square">
              <a:spAutoFit/>
            </a:bodyPr>
            <a:lstStyle/>
            <a:p>
              <a:r>
                <a:rPr lang="en-US" altLang="zh-CN" sz="2400" dirty="0">
                  <a:solidFill>
                    <a:srgbClr val="060606"/>
                  </a:solidFill>
                </a:rPr>
                <a:t>a</a:t>
              </a:r>
              <a:r>
                <a:rPr lang="en-US" altLang="zh-CN" sz="2400" baseline="-25000" dirty="0">
                  <a:solidFill>
                    <a:srgbClr val="060606"/>
                  </a:solidFill>
                </a:rPr>
                <a:t>m1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a</a:t>
              </a:r>
              <a:r>
                <a:rPr lang="en-US" altLang="zh-CN" sz="2400" baseline="-25000" dirty="0">
                  <a:solidFill>
                    <a:srgbClr val="060606"/>
                  </a:solidFill>
                </a:rPr>
                <a:t>m2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t>
              </a:r>
              <a:r>
                <a:rPr lang="en-US" altLang="zh-CN" sz="2400" dirty="0" err="1">
                  <a:solidFill>
                    <a:srgbClr val="060606"/>
                  </a:solidFill>
                </a:rPr>
                <a:t>a</a:t>
              </a:r>
              <a:r>
                <a:rPr lang="en-US" altLang="zh-CN" sz="2400" baseline="-25000" dirty="0" err="1">
                  <a:solidFill>
                    <a:srgbClr val="060606"/>
                  </a:solidFill>
                </a:rPr>
                <a:t>mn</a:t>
              </a:r>
              <a:r>
                <a:rPr lang="en-US" altLang="zh-CN" sz="2400" dirty="0" err="1">
                  <a:solidFill>
                    <a:srgbClr val="060606"/>
                  </a:solidFill>
                </a:rPr>
                <a:t>X</a:t>
              </a:r>
              <a:r>
                <a:rPr lang="en-US" altLang="zh-CN" sz="2400" baseline="-25000" dirty="0" err="1">
                  <a:solidFill>
                    <a:srgbClr val="060606"/>
                  </a:solidFill>
                </a:rPr>
                <a:t>n</a:t>
              </a:r>
              <a:r>
                <a:rPr lang="en-US" altLang="zh-CN" sz="2400" dirty="0">
                  <a:solidFill>
                    <a:srgbClr val="060606"/>
                  </a:solidFill>
                </a:rPr>
                <a:t>=</a:t>
              </a:r>
              <a:r>
                <a:rPr lang="en-US" altLang="zh-CN" sz="2400" dirty="0" err="1">
                  <a:solidFill>
                    <a:srgbClr val="060606"/>
                  </a:solidFill>
                </a:rPr>
                <a:t>b</a:t>
              </a:r>
              <a:r>
                <a:rPr lang="en-US" altLang="zh-CN" sz="2400" baseline="-25000" dirty="0" err="1">
                  <a:solidFill>
                    <a:srgbClr val="060606"/>
                  </a:solidFill>
                </a:rPr>
                <a:t>m</a:t>
              </a:r>
              <a:r>
                <a:rPr lang="en-US" altLang="zh-CN" sz="2400" dirty="0">
                  <a:solidFill>
                    <a:srgbClr val="060606"/>
                  </a:solidFill>
                </a:rPr>
                <a:t> </a:t>
              </a:r>
              <a:endParaRPr lang="zh-CN" altLang="en-US" sz="2400" dirty="0"/>
            </a:p>
          </p:txBody>
        </p:sp>
        <p:sp>
          <p:nvSpPr>
            <p:cNvPr id="9" name="矩形 8"/>
            <p:cNvSpPr/>
            <p:nvPr/>
          </p:nvSpPr>
          <p:spPr>
            <a:xfrm>
              <a:off x="3532015" y="3717032"/>
              <a:ext cx="3704281" cy="461665"/>
            </a:xfrm>
            <a:prstGeom prst="rect">
              <a:avLst/>
            </a:prstGeom>
          </p:spPr>
          <p:txBody>
            <a:bodyPr wrap="square">
              <a:spAutoFit/>
            </a:bodyPr>
            <a:lstStyle/>
            <a:p>
              <a:r>
                <a:rPr lang="en-US" altLang="zh-CN" sz="2400" dirty="0">
                  <a:solidFill>
                    <a:srgbClr val="060606"/>
                  </a:solidFill>
                </a:rPr>
                <a:t>a</a:t>
              </a:r>
              <a:r>
                <a:rPr lang="en-US" altLang="zh-CN" sz="2400" baseline="-25000" dirty="0">
                  <a:solidFill>
                    <a:srgbClr val="060606"/>
                  </a:solidFill>
                </a:rPr>
                <a:t>21</a:t>
              </a:r>
              <a:r>
                <a:rPr lang="en-US" altLang="zh-CN" sz="2400" dirty="0">
                  <a:solidFill>
                    <a:srgbClr val="060606"/>
                  </a:solidFill>
                </a:rPr>
                <a:t>X</a:t>
              </a:r>
              <a:r>
                <a:rPr lang="en-US" altLang="zh-CN" sz="2400" baseline="-25000" dirty="0">
                  <a:solidFill>
                    <a:srgbClr val="060606"/>
                  </a:solidFill>
                </a:rPr>
                <a:t>1</a:t>
              </a:r>
              <a:r>
                <a:rPr lang="en-US" altLang="zh-CN" sz="2400" dirty="0">
                  <a:solidFill>
                    <a:srgbClr val="060606"/>
                  </a:solidFill>
                </a:rPr>
                <a:t>+ a</a:t>
              </a:r>
              <a:r>
                <a:rPr lang="en-US" altLang="zh-CN" sz="2400" baseline="-25000" dirty="0">
                  <a:solidFill>
                    <a:srgbClr val="060606"/>
                  </a:solidFill>
                </a:rPr>
                <a:t>22</a:t>
              </a:r>
              <a:r>
                <a:rPr lang="en-US" altLang="zh-CN" sz="2400" dirty="0">
                  <a:solidFill>
                    <a:srgbClr val="060606"/>
                  </a:solidFill>
                </a:rPr>
                <a:t>X</a:t>
              </a:r>
              <a:r>
                <a:rPr lang="en-US" altLang="zh-CN" sz="2400" baseline="-25000" dirty="0">
                  <a:solidFill>
                    <a:srgbClr val="060606"/>
                  </a:solidFill>
                </a:rPr>
                <a:t>2</a:t>
              </a:r>
              <a:r>
                <a:rPr lang="en-US" altLang="zh-CN" sz="2400" dirty="0">
                  <a:solidFill>
                    <a:srgbClr val="060606"/>
                  </a:solidFill>
                </a:rPr>
                <a:t> +…a</a:t>
              </a:r>
              <a:r>
                <a:rPr lang="en-US" altLang="zh-CN" sz="2400" baseline="-25000" dirty="0">
                  <a:solidFill>
                    <a:srgbClr val="060606"/>
                  </a:solidFill>
                </a:rPr>
                <a:t>2n</a:t>
              </a:r>
              <a:r>
                <a:rPr lang="en-US" altLang="zh-CN" sz="2400" dirty="0">
                  <a:solidFill>
                    <a:srgbClr val="060606"/>
                  </a:solidFill>
                </a:rPr>
                <a:t>X</a:t>
              </a:r>
              <a:r>
                <a:rPr lang="en-US" altLang="zh-CN" sz="2400" baseline="-25000" dirty="0">
                  <a:solidFill>
                    <a:srgbClr val="060606"/>
                  </a:solidFill>
                </a:rPr>
                <a:t>n </a:t>
              </a:r>
              <a:r>
                <a:rPr lang="en-US" altLang="zh-CN" sz="2400" dirty="0">
                  <a:solidFill>
                    <a:srgbClr val="060606"/>
                  </a:solidFill>
                </a:rPr>
                <a:t>=b</a:t>
              </a:r>
              <a:r>
                <a:rPr lang="en-US" altLang="zh-CN" sz="2400" baseline="-25000" dirty="0">
                  <a:solidFill>
                    <a:srgbClr val="060606"/>
                  </a:solidFill>
                </a:rPr>
                <a:t>2</a:t>
              </a:r>
              <a:r>
                <a:rPr lang="en-US" altLang="zh-CN" sz="2400" dirty="0">
                  <a:solidFill>
                    <a:srgbClr val="060606"/>
                  </a:solidFill>
                </a:rPr>
                <a:t> </a:t>
              </a:r>
              <a:endParaRPr lang="zh-CN" altLang="en-US" sz="2400" dirty="0"/>
            </a:p>
          </p:txBody>
        </p:sp>
        <p:sp>
          <p:nvSpPr>
            <p:cNvPr id="11" name="矩形 10"/>
            <p:cNvSpPr/>
            <p:nvPr/>
          </p:nvSpPr>
          <p:spPr>
            <a:xfrm>
              <a:off x="3498180" y="4149080"/>
              <a:ext cx="2912192" cy="461665"/>
            </a:xfrm>
            <a:prstGeom prst="rect">
              <a:avLst/>
            </a:prstGeom>
          </p:spPr>
          <p:txBody>
            <a:bodyPr wrap="square">
              <a:spAutoFit/>
            </a:bodyPr>
            <a:lstStyle/>
            <a:p>
              <a:pPr algn="ctr"/>
              <a:r>
                <a:rPr lang="en-US" altLang="zh-CN" sz="2400" dirty="0">
                  <a:solidFill>
                    <a:srgbClr val="060606"/>
                  </a:solidFill>
                </a:rPr>
                <a:t>…………</a:t>
              </a:r>
              <a:endParaRPr lang="zh-CN" altLang="en-US" sz="2400" dirty="0"/>
            </a:p>
          </p:txBody>
        </p:sp>
      </p:grpSp>
      <p:sp>
        <p:nvSpPr>
          <p:cNvPr id="19" name="矩形 18"/>
          <p:cNvSpPr/>
          <p:nvPr/>
        </p:nvSpPr>
        <p:spPr>
          <a:xfrm>
            <a:off x="6888088" y="3383921"/>
            <a:ext cx="3416248" cy="461665"/>
          </a:xfrm>
          <a:prstGeom prst="rect">
            <a:avLst/>
          </a:prstGeom>
        </p:spPr>
        <p:txBody>
          <a:bodyPr wrap="square">
            <a:spAutoFit/>
          </a:bodyPr>
          <a:lstStyle/>
          <a:p>
            <a:pPr lvl="0"/>
            <a:r>
              <a:rPr lang="en-US" altLang="zh-CN" sz="2400" dirty="0">
                <a:solidFill>
                  <a:srgbClr val="060606"/>
                </a:solidFill>
              </a:rPr>
              <a:t>   </a:t>
            </a:r>
            <a:r>
              <a:rPr lang="en-US" altLang="zh-CN" sz="2400" b="1" dirty="0">
                <a:solidFill>
                  <a:srgbClr val="060606"/>
                </a:solidFill>
              </a:rPr>
              <a:t>Ax</a:t>
            </a:r>
            <a:r>
              <a:rPr lang="en-US" altLang="zh-CN" sz="2400" dirty="0">
                <a:solidFill>
                  <a:srgbClr val="060606"/>
                </a:solidFill>
              </a:rPr>
              <a:t> = </a:t>
            </a:r>
            <a:r>
              <a:rPr lang="en-US" altLang="zh-CN" sz="2400" b="1" dirty="0">
                <a:solidFill>
                  <a:srgbClr val="060606"/>
                </a:solidFill>
              </a:rPr>
              <a:t>b</a:t>
            </a:r>
            <a:endParaRPr lang="zh-CN" altLang="en-US" sz="2400" dirty="0"/>
          </a:p>
        </p:txBody>
      </p:sp>
      <p:grpSp>
        <p:nvGrpSpPr>
          <p:cNvPr id="28" name="组合 27"/>
          <p:cNvGrpSpPr/>
          <p:nvPr/>
        </p:nvGrpSpPr>
        <p:grpSpPr>
          <a:xfrm>
            <a:off x="1199064" y="3959984"/>
            <a:ext cx="5545008" cy="2340000"/>
            <a:chOff x="2123728" y="3645024"/>
            <a:chExt cx="4644008" cy="2340000"/>
          </a:xfrm>
        </p:grpSpPr>
        <p:sp>
          <p:nvSpPr>
            <p:cNvPr id="29" name="矩形 28"/>
            <p:cNvSpPr/>
            <p:nvPr/>
          </p:nvSpPr>
          <p:spPr>
            <a:xfrm>
              <a:off x="2195736" y="3645024"/>
              <a:ext cx="4572000" cy="2308324"/>
            </a:xfrm>
            <a:prstGeom prst="rect">
              <a:avLst/>
            </a:prstGeom>
          </p:spPr>
          <p:txBody>
            <a:bodyPr>
              <a:spAutoFit/>
            </a:bodyPr>
            <a:lstStyle/>
            <a:p>
              <a:pPr algn="ctr">
                <a:defRPr/>
              </a:pPr>
              <a:r>
                <a:rPr lang="en-US" altLang="zh-CN" sz="2400" dirty="0">
                  <a:solidFill>
                    <a:srgbClr val="060606"/>
                  </a:solidFill>
                </a:rPr>
                <a:t>a</a:t>
              </a:r>
              <a:r>
                <a:rPr lang="en-US" altLang="zh-CN" sz="2400" baseline="-25000" dirty="0">
                  <a:solidFill>
                    <a:srgbClr val="060606"/>
                  </a:solidFill>
                </a:rPr>
                <a:t>11</a:t>
              </a:r>
              <a:r>
                <a:rPr lang="en-US" altLang="zh-CN" sz="2400" dirty="0">
                  <a:solidFill>
                    <a:srgbClr val="060606"/>
                  </a:solidFill>
                </a:rPr>
                <a:t>            a</a:t>
              </a:r>
              <a:r>
                <a:rPr lang="en-US" altLang="zh-CN" sz="2400" baseline="-25000" dirty="0">
                  <a:solidFill>
                    <a:srgbClr val="060606"/>
                  </a:solidFill>
                </a:rPr>
                <a:t>12</a:t>
              </a:r>
              <a:r>
                <a:rPr lang="en-US" altLang="zh-CN" sz="2400" dirty="0">
                  <a:solidFill>
                    <a:srgbClr val="060606"/>
                  </a:solidFill>
                </a:rPr>
                <a:t>        …          a</a:t>
              </a:r>
              <a:r>
                <a:rPr lang="en-US" altLang="zh-CN" sz="2400" baseline="-25000" dirty="0">
                  <a:solidFill>
                    <a:srgbClr val="060606"/>
                  </a:solidFill>
                </a:rPr>
                <a:t>1n</a:t>
              </a:r>
              <a:endParaRPr lang="en-US" altLang="zh-CN" sz="2400" baseline="-25000" dirty="0">
                <a:solidFill>
                  <a:srgbClr val="060606"/>
                </a:solidFill>
              </a:endParaRPr>
            </a:p>
            <a:p>
              <a:pPr algn="ctr">
                <a:defRPr/>
              </a:pPr>
              <a:r>
                <a:rPr lang="en-US" altLang="zh-CN" sz="2400" dirty="0">
                  <a:solidFill>
                    <a:srgbClr val="060606"/>
                  </a:solidFill>
                </a:rPr>
                <a:t>a</a:t>
              </a:r>
              <a:r>
                <a:rPr lang="en-US" altLang="zh-CN" sz="2400" baseline="-25000" dirty="0">
                  <a:solidFill>
                    <a:srgbClr val="060606"/>
                  </a:solidFill>
                </a:rPr>
                <a:t>21</a:t>
              </a:r>
              <a:r>
                <a:rPr lang="en-US" altLang="zh-CN" sz="2400" dirty="0">
                  <a:solidFill>
                    <a:srgbClr val="060606"/>
                  </a:solidFill>
                </a:rPr>
                <a:t>            a</a:t>
              </a:r>
              <a:r>
                <a:rPr lang="en-US" altLang="zh-CN" sz="2400" baseline="-25000" dirty="0">
                  <a:solidFill>
                    <a:srgbClr val="060606"/>
                  </a:solidFill>
                </a:rPr>
                <a:t>22</a:t>
              </a:r>
              <a:r>
                <a:rPr lang="en-US" altLang="zh-CN" sz="2400" dirty="0">
                  <a:solidFill>
                    <a:srgbClr val="060606"/>
                  </a:solidFill>
                </a:rPr>
                <a:t>        …          a</a:t>
              </a:r>
              <a:r>
                <a:rPr lang="en-US" altLang="zh-CN" sz="2400" baseline="-25000" dirty="0">
                  <a:solidFill>
                    <a:srgbClr val="060606"/>
                  </a:solidFill>
                </a:rPr>
                <a:t>2n</a:t>
              </a:r>
              <a:endParaRPr lang="en-US" altLang="zh-CN" sz="2400" baseline="-250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     . . .</a:t>
              </a:r>
              <a:endParaRPr lang="en-US" altLang="zh-CN" sz="2400" dirty="0">
                <a:solidFill>
                  <a:srgbClr val="060606"/>
                </a:solidFill>
              </a:endParaRPr>
            </a:p>
            <a:p>
              <a:pPr algn="ctr">
                <a:defRPr/>
              </a:pPr>
              <a:r>
                <a:rPr lang="en-US" altLang="zh-CN" sz="2400" dirty="0">
                  <a:solidFill>
                    <a:srgbClr val="060606"/>
                  </a:solidFill>
                </a:rPr>
                <a:t>a</a:t>
              </a:r>
              <a:r>
                <a:rPr lang="en-US" altLang="zh-CN" sz="2400" baseline="-25000" dirty="0">
                  <a:solidFill>
                    <a:srgbClr val="060606"/>
                  </a:solidFill>
                </a:rPr>
                <a:t>m1</a:t>
              </a:r>
              <a:r>
                <a:rPr lang="en-US" altLang="zh-CN" sz="2400" dirty="0">
                  <a:solidFill>
                    <a:srgbClr val="060606"/>
                  </a:solidFill>
                </a:rPr>
                <a:t>            a</a:t>
              </a:r>
              <a:r>
                <a:rPr lang="en-US" altLang="zh-CN" sz="2400" baseline="-25000" dirty="0">
                  <a:solidFill>
                    <a:srgbClr val="060606"/>
                  </a:solidFill>
                </a:rPr>
                <a:t>m2</a:t>
              </a:r>
              <a:r>
                <a:rPr lang="en-US" altLang="zh-CN" sz="2400" dirty="0">
                  <a:solidFill>
                    <a:srgbClr val="060606"/>
                  </a:solidFill>
                </a:rPr>
                <a:t>      …          </a:t>
              </a:r>
              <a:r>
                <a:rPr lang="en-US" altLang="zh-CN" sz="2400" dirty="0" err="1">
                  <a:solidFill>
                    <a:srgbClr val="060606"/>
                  </a:solidFill>
                </a:rPr>
                <a:t>a</a:t>
              </a:r>
              <a:r>
                <a:rPr lang="en-US" altLang="zh-CN" sz="2400" baseline="-25000" dirty="0" err="1">
                  <a:solidFill>
                    <a:srgbClr val="060606"/>
                  </a:solidFill>
                </a:rPr>
                <a:t>mn</a:t>
              </a:r>
              <a:endParaRPr lang="zh-CN" altLang="en-US" sz="2400" dirty="0">
                <a:solidFill>
                  <a:srgbClr val="060606"/>
                </a:solidFill>
              </a:endParaRPr>
            </a:p>
          </p:txBody>
        </p:sp>
        <p:sp>
          <p:nvSpPr>
            <p:cNvPr id="30" name="左中括号 29"/>
            <p:cNvSpPr/>
            <p:nvPr/>
          </p:nvSpPr>
          <p:spPr bwMode="auto">
            <a:xfrm>
              <a:off x="2725047" y="3645024"/>
              <a:ext cx="144016" cy="2340000"/>
            </a:xfrm>
            <a:prstGeom prst="leftBracket">
              <a:avLst/>
            </a:prstGeom>
            <a:noFill/>
            <a:ln w="1905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31" name="右中括号 30"/>
            <p:cNvSpPr/>
            <p:nvPr/>
          </p:nvSpPr>
          <p:spPr bwMode="auto">
            <a:xfrm>
              <a:off x="6137068" y="3645024"/>
              <a:ext cx="144016" cy="2340000"/>
            </a:xfrm>
            <a:prstGeom prst="rightBracket">
              <a:avLst/>
            </a:prstGeom>
            <a:noFill/>
            <a:ln w="1905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sp>
          <p:nvSpPr>
            <p:cNvPr id="32" name="矩形 31"/>
            <p:cNvSpPr/>
            <p:nvPr/>
          </p:nvSpPr>
          <p:spPr>
            <a:xfrm>
              <a:off x="2123728" y="4221088"/>
              <a:ext cx="784524" cy="461665"/>
            </a:xfrm>
            <a:prstGeom prst="rect">
              <a:avLst/>
            </a:prstGeom>
          </p:spPr>
          <p:txBody>
            <a:bodyPr wrap="none">
              <a:spAutoFit/>
            </a:bodyPr>
            <a:lstStyle/>
            <a:p>
              <a:r>
                <a:rPr lang="en-US" altLang="zh-CN" sz="2400" b="1" dirty="0">
                  <a:solidFill>
                    <a:srgbClr val="060606"/>
                  </a:solidFill>
                </a:rPr>
                <a:t>A</a:t>
              </a:r>
              <a:r>
                <a:rPr lang="en-US" altLang="zh-CN" sz="2400" dirty="0">
                  <a:solidFill>
                    <a:srgbClr val="060606"/>
                  </a:solidFill>
                </a:rPr>
                <a:t>  = </a:t>
              </a:r>
              <a:endParaRPr lang="zh-CN" altLang="en-US" sz="2400" dirty="0"/>
            </a:p>
          </p:txBody>
        </p:sp>
      </p:grpSp>
      <p:grpSp>
        <p:nvGrpSpPr>
          <p:cNvPr id="33" name="组合 32"/>
          <p:cNvGrpSpPr/>
          <p:nvPr/>
        </p:nvGrpSpPr>
        <p:grpSpPr>
          <a:xfrm>
            <a:off x="6295083" y="4176008"/>
            <a:ext cx="1954613" cy="1656184"/>
            <a:chOff x="7872487" y="4869160"/>
            <a:chExt cx="947985" cy="1224136"/>
          </a:xfrm>
        </p:grpSpPr>
        <p:sp>
          <p:nvSpPr>
            <p:cNvPr id="34" name="矩形 33"/>
            <p:cNvSpPr/>
            <p:nvPr/>
          </p:nvSpPr>
          <p:spPr>
            <a:xfrm>
              <a:off x="7872487" y="5188496"/>
              <a:ext cx="469525" cy="341231"/>
            </a:xfrm>
            <a:prstGeom prst="rect">
              <a:avLst/>
            </a:prstGeom>
          </p:spPr>
          <p:txBody>
            <a:bodyPr wrap="none">
              <a:spAutoFit/>
            </a:bodyPr>
            <a:lstStyle/>
            <a:p>
              <a:r>
                <a:rPr lang="en-US" altLang="zh-CN" sz="2400" b="1" dirty="0">
                  <a:solidFill>
                    <a:srgbClr val="000000"/>
                  </a:solidFill>
                </a:rPr>
                <a:t>b</a:t>
              </a:r>
              <a:r>
                <a:rPr lang="en-US" altLang="zh-CN" sz="2400" dirty="0">
                  <a:solidFill>
                    <a:srgbClr val="000000"/>
                  </a:solidFill>
                </a:rPr>
                <a:t> = </a:t>
              </a:r>
              <a:endParaRPr lang="zh-CN" altLang="en-US" sz="2400" dirty="0"/>
            </a:p>
          </p:txBody>
        </p:sp>
        <p:sp>
          <p:nvSpPr>
            <p:cNvPr id="35" name="TextBox 34"/>
            <p:cNvSpPr txBox="1"/>
            <p:nvPr/>
          </p:nvSpPr>
          <p:spPr>
            <a:xfrm>
              <a:off x="8244408" y="4869160"/>
              <a:ext cx="576064" cy="1200329"/>
            </a:xfrm>
            <a:prstGeom prst="rect">
              <a:avLst/>
            </a:prstGeom>
            <a:noFill/>
          </p:spPr>
          <p:txBody>
            <a:bodyPr wrap="square" rtlCol="0">
              <a:spAutoFit/>
            </a:bodyPr>
            <a:lstStyle/>
            <a:p>
              <a:r>
                <a:rPr lang="en-US" altLang="zh-CN" sz="2400" dirty="0"/>
                <a:t>b</a:t>
              </a:r>
              <a:r>
                <a:rPr lang="en-US" altLang="zh-CN" sz="2400" baseline="-25000" dirty="0"/>
                <a:t>1</a:t>
              </a:r>
              <a:endParaRPr lang="en-US" altLang="zh-CN" sz="2400" baseline="-25000" dirty="0"/>
            </a:p>
            <a:p>
              <a:r>
                <a:rPr lang="en-US" altLang="zh-CN" sz="2400" dirty="0"/>
                <a:t>b</a:t>
              </a:r>
              <a:r>
                <a:rPr lang="en-US" altLang="zh-CN" sz="2400" baseline="-25000" dirty="0"/>
                <a:t>2</a:t>
              </a:r>
              <a:endParaRPr lang="en-US" altLang="zh-CN" sz="2400" dirty="0"/>
            </a:p>
            <a:p>
              <a:r>
                <a:rPr lang="en-US" altLang="zh-CN" sz="2400" dirty="0"/>
                <a:t>…</a:t>
              </a:r>
              <a:endParaRPr lang="en-US" altLang="zh-CN" sz="2400" dirty="0"/>
            </a:p>
            <a:p>
              <a:r>
                <a:rPr lang="en-US" altLang="zh-CN" sz="2400" dirty="0" err="1"/>
                <a:t>b</a:t>
              </a:r>
              <a:r>
                <a:rPr lang="en-US" altLang="zh-CN" sz="2400" baseline="-25000" dirty="0" err="1"/>
                <a:t>m</a:t>
              </a:r>
              <a:endParaRPr lang="zh-CN" altLang="en-US" sz="2400" baseline="-25000" dirty="0"/>
            </a:p>
          </p:txBody>
        </p:sp>
        <p:sp>
          <p:nvSpPr>
            <p:cNvPr id="36" name="双括号 35"/>
            <p:cNvSpPr/>
            <p:nvPr/>
          </p:nvSpPr>
          <p:spPr bwMode="auto">
            <a:xfrm>
              <a:off x="8172400" y="4869160"/>
              <a:ext cx="576064" cy="1224136"/>
            </a:xfrm>
            <a:prstGeom prst="bracketPair">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grpSp>
        <p:nvGrpSpPr>
          <p:cNvPr id="41" name="组合 40"/>
          <p:cNvGrpSpPr/>
          <p:nvPr/>
        </p:nvGrpSpPr>
        <p:grpSpPr>
          <a:xfrm>
            <a:off x="8784336" y="4176008"/>
            <a:ext cx="1995423" cy="1656184"/>
            <a:chOff x="7865283" y="4869160"/>
            <a:chExt cx="955189" cy="1224136"/>
          </a:xfrm>
        </p:grpSpPr>
        <p:sp>
          <p:nvSpPr>
            <p:cNvPr id="42" name="矩形 41"/>
            <p:cNvSpPr/>
            <p:nvPr/>
          </p:nvSpPr>
          <p:spPr>
            <a:xfrm>
              <a:off x="7865283" y="5188500"/>
              <a:ext cx="449340" cy="341231"/>
            </a:xfrm>
            <a:prstGeom prst="rect">
              <a:avLst/>
            </a:prstGeom>
          </p:spPr>
          <p:txBody>
            <a:bodyPr wrap="none">
              <a:spAutoFit/>
            </a:bodyPr>
            <a:lstStyle/>
            <a:p>
              <a:r>
                <a:rPr lang="en-US" altLang="zh-CN" sz="2400" b="1" dirty="0">
                  <a:solidFill>
                    <a:srgbClr val="000000"/>
                  </a:solidFill>
                </a:rPr>
                <a:t>x</a:t>
              </a:r>
              <a:r>
                <a:rPr lang="en-US" altLang="zh-CN" sz="2400" dirty="0">
                  <a:solidFill>
                    <a:srgbClr val="000000"/>
                  </a:solidFill>
                </a:rPr>
                <a:t> = </a:t>
              </a:r>
              <a:endParaRPr lang="zh-CN" altLang="en-US" sz="2400" dirty="0"/>
            </a:p>
          </p:txBody>
        </p:sp>
        <p:sp>
          <p:nvSpPr>
            <p:cNvPr id="43" name="TextBox 42"/>
            <p:cNvSpPr txBox="1"/>
            <p:nvPr/>
          </p:nvSpPr>
          <p:spPr>
            <a:xfrm>
              <a:off x="8244408" y="4869160"/>
              <a:ext cx="576064" cy="1160183"/>
            </a:xfrm>
            <a:prstGeom prst="rect">
              <a:avLst/>
            </a:prstGeom>
            <a:noFill/>
          </p:spPr>
          <p:txBody>
            <a:bodyPr wrap="square" rtlCol="0">
              <a:spAutoFit/>
            </a:bodyPr>
            <a:lstStyle/>
            <a:p>
              <a:r>
                <a:rPr lang="en-US" altLang="zh-CN" sz="2400" dirty="0"/>
                <a:t>x</a:t>
              </a:r>
              <a:r>
                <a:rPr lang="en-US" altLang="zh-CN" sz="2400" baseline="-25000" dirty="0"/>
                <a:t>1</a:t>
              </a:r>
              <a:endParaRPr lang="en-US" altLang="zh-CN" sz="2400" baseline="-25000" dirty="0"/>
            </a:p>
            <a:p>
              <a:r>
                <a:rPr lang="en-US" altLang="zh-CN" sz="2400" dirty="0"/>
                <a:t>x</a:t>
              </a:r>
              <a:r>
                <a:rPr lang="en-US" altLang="zh-CN" sz="2400" baseline="-25000" dirty="0"/>
                <a:t>2</a:t>
              </a:r>
              <a:endParaRPr lang="en-US" altLang="zh-CN" sz="2400" dirty="0"/>
            </a:p>
            <a:p>
              <a:r>
                <a:rPr lang="en-US" altLang="zh-CN" sz="2400" dirty="0"/>
                <a:t>…</a:t>
              </a:r>
              <a:endParaRPr lang="en-US" altLang="zh-CN" sz="2400" dirty="0"/>
            </a:p>
            <a:p>
              <a:r>
                <a:rPr lang="en-US" altLang="zh-CN" sz="2400" dirty="0" err="1"/>
                <a:t>x</a:t>
              </a:r>
              <a:r>
                <a:rPr lang="en-US" altLang="zh-CN" sz="2400" baseline="-25000" dirty="0" err="1"/>
                <a:t>n</a:t>
              </a:r>
              <a:endParaRPr lang="zh-CN" altLang="en-US" sz="2400" baseline="-25000" dirty="0"/>
            </a:p>
          </p:txBody>
        </p:sp>
        <p:sp>
          <p:nvSpPr>
            <p:cNvPr id="44" name="双括号 43"/>
            <p:cNvSpPr/>
            <p:nvPr/>
          </p:nvSpPr>
          <p:spPr bwMode="auto">
            <a:xfrm>
              <a:off x="8172400" y="4869160"/>
              <a:ext cx="576064" cy="1224136"/>
            </a:xfrm>
            <a:prstGeom prst="bracketPair">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2400">
                <a:latin typeface="Arial" panose="020B0604020202090204" pitchFamily="34" charset="0"/>
                <a:ea typeface="宋体" panose="02010600030101010101" pitchFamily="2" charset="-122"/>
              </a:endParaRPr>
            </a:p>
          </p:txBody>
        </p:sp>
      </p:gr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4040" y="320675"/>
            <a:ext cx="10515600" cy="1325563"/>
          </a:xfrm>
        </p:spPr>
        <p:txBody>
          <a:bodyPr>
            <a:normAutofit/>
          </a:bodyPr>
          <a:lstStyle/>
          <a:p>
            <a:r>
              <a:rPr lang="zh-CN" altLang="en-US" sz="3600" dirty="0"/>
              <a:t>知识点</a:t>
            </a:r>
            <a:r>
              <a:rPr lang="en-US" altLang="zh-CN" sz="3600" dirty="0"/>
              <a:t>5</a:t>
            </a:r>
            <a:r>
              <a:rPr lang="zh-CN" altLang="en-US" sz="3600" dirty="0"/>
              <a:t>：解线性方程组的高斯</a:t>
            </a:r>
            <a:r>
              <a:rPr lang="en-US" altLang="zh-CN" sz="3600" dirty="0"/>
              <a:t>-</a:t>
            </a:r>
            <a:r>
              <a:rPr lang="zh-CN" altLang="en-US" sz="3600" dirty="0"/>
              <a:t>约当方法</a:t>
            </a:r>
            <a:endParaRPr lang="zh-CN" altLang="en-US" sz="3600" dirty="0"/>
          </a:p>
        </p:txBody>
      </p:sp>
      <p:sp>
        <p:nvSpPr>
          <p:cNvPr id="3" name="内容占位符 2"/>
          <p:cNvSpPr>
            <a:spLocks noGrp="1"/>
          </p:cNvSpPr>
          <p:nvPr>
            <p:ph idx="1"/>
          </p:nvPr>
        </p:nvSpPr>
        <p:spPr/>
        <p:txBody>
          <a:bodyPr>
            <a:normAutofit/>
          </a:bodyPr>
          <a:lstStyle/>
          <a:p>
            <a:pPr>
              <a:lnSpc>
                <a:spcPct val="100000"/>
              </a:lnSpc>
              <a:buNone/>
            </a:pPr>
            <a:r>
              <a:rPr lang="zh-CN" altLang="en-US" dirty="0"/>
              <a:t>基本行运算定义：</a:t>
            </a:r>
            <a:endParaRPr lang="en-US" altLang="zh-CN" dirty="0"/>
          </a:p>
          <a:p>
            <a:pPr>
              <a:lnSpc>
                <a:spcPct val="100000"/>
              </a:lnSpc>
              <a:buNone/>
            </a:pPr>
            <a:r>
              <a:rPr lang="en-US" altLang="zh-CN" dirty="0"/>
              <a:t>1.</a:t>
            </a:r>
            <a:r>
              <a:rPr lang="zh-CN" altLang="en-US" dirty="0"/>
              <a:t>将</a:t>
            </a:r>
            <a:r>
              <a:rPr lang="en-US" altLang="zh-CN" b="1" dirty="0"/>
              <a:t>A</a:t>
            </a:r>
            <a:r>
              <a:rPr lang="zh-CN" altLang="en-US" dirty="0"/>
              <a:t>的任意一行与一个非</a:t>
            </a:r>
            <a:r>
              <a:rPr lang="en-US" altLang="zh-CN" dirty="0"/>
              <a:t>0</a:t>
            </a:r>
            <a:r>
              <a:rPr lang="zh-CN" altLang="en-US" dirty="0"/>
              <a:t>标量</a:t>
            </a:r>
            <a:r>
              <a:rPr lang="en-US" altLang="zh-CN" dirty="0"/>
              <a:t>c</a:t>
            </a:r>
            <a:r>
              <a:rPr lang="zh-CN" altLang="en-US" dirty="0"/>
              <a:t>相乘，得到</a:t>
            </a:r>
            <a:r>
              <a:rPr lang="en-US" altLang="zh-CN" b="1" dirty="0"/>
              <a:t>A’</a:t>
            </a:r>
            <a:r>
              <a:rPr lang="zh-CN" altLang="en-US" dirty="0"/>
              <a:t>。</a:t>
            </a:r>
            <a:r>
              <a:rPr lang="en-US" altLang="zh-CN" b="1" dirty="0"/>
              <a:t> A’ </a:t>
            </a:r>
            <a:r>
              <a:rPr lang="en-US" altLang="zh-CN" dirty="0"/>
              <a:t>=</a:t>
            </a:r>
            <a:r>
              <a:rPr lang="en-US" altLang="zh-CN" dirty="0" err="1"/>
              <a:t>c</a:t>
            </a:r>
            <a:r>
              <a:rPr lang="en-US" altLang="zh-CN" b="1" dirty="0" err="1"/>
              <a:t>A</a:t>
            </a:r>
            <a:r>
              <a:rPr lang="zh-CN" altLang="en-US" dirty="0"/>
              <a:t>。</a:t>
            </a:r>
            <a:endParaRPr lang="en-US" altLang="zh-CN" dirty="0"/>
          </a:p>
          <a:p>
            <a:pPr>
              <a:lnSpc>
                <a:spcPct val="100000"/>
              </a:lnSpc>
              <a:buNone/>
            </a:pPr>
            <a:r>
              <a:rPr lang="en-US" altLang="zh-CN" dirty="0"/>
              <a:t>2.</a:t>
            </a:r>
            <a:r>
              <a:rPr lang="zh-CN" altLang="en-US" dirty="0"/>
              <a:t>将</a:t>
            </a:r>
            <a:r>
              <a:rPr lang="en-US" altLang="zh-CN" b="1" dirty="0"/>
              <a:t>A</a:t>
            </a:r>
            <a:r>
              <a:rPr lang="zh-CN" altLang="en-US" dirty="0"/>
              <a:t>的任意一行</a:t>
            </a:r>
            <a:r>
              <a:rPr lang="en-US" altLang="zh-CN" dirty="0" err="1"/>
              <a:t>i</a:t>
            </a:r>
            <a:r>
              <a:rPr lang="zh-CN" altLang="en-US" dirty="0"/>
              <a:t>与一个非</a:t>
            </a:r>
            <a:r>
              <a:rPr lang="en-US" altLang="zh-CN" dirty="0"/>
              <a:t>0</a:t>
            </a:r>
            <a:r>
              <a:rPr lang="zh-CN" altLang="en-US" dirty="0"/>
              <a:t>标量</a:t>
            </a:r>
            <a:r>
              <a:rPr lang="en-US" altLang="zh-CN" dirty="0"/>
              <a:t>c</a:t>
            </a:r>
            <a:r>
              <a:rPr lang="zh-CN" altLang="en-US" dirty="0"/>
              <a:t>相乘，使</a:t>
            </a:r>
            <a:r>
              <a:rPr lang="en-US" altLang="zh-CN" b="1" dirty="0"/>
              <a:t>A’</a:t>
            </a:r>
            <a:r>
              <a:rPr lang="zh-CN" altLang="en-US" dirty="0"/>
              <a:t>的第</a:t>
            </a:r>
            <a:r>
              <a:rPr lang="en-US" altLang="zh-CN" dirty="0"/>
              <a:t>j</a:t>
            </a:r>
            <a:r>
              <a:rPr lang="zh-CN" altLang="en-US" dirty="0"/>
              <a:t>行</a:t>
            </a:r>
            <a:r>
              <a:rPr lang="en-US" altLang="zh-CN" dirty="0"/>
              <a:t>(</a:t>
            </a:r>
            <a:r>
              <a:rPr lang="en-US" altLang="zh-CN" dirty="0" err="1"/>
              <a:t>j≠i</a:t>
            </a:r>
            <a:r>
              <a:rPr lang="en-US" altLang="zh-CN" dirty="0"/>
              <a:t>) = c(</a:t>
            </a:r>
            <a:r>
              <a:rPr lang="en-US" altLang="zh-CN" b="1" dirty="0"/>
              <a:t>A</a:t>
            </a:r>
            <a:r>
              <a:rPr lang="zh-CN" altLang="en-US" dirty="0"/>
              <a:t>的第</a:t>
            </a:r>
            <a:r>
              <a:rPr lang="en-US" altLang="zh-CN" dirty="0" err="1"/>
              <a:t>i</a:t>
            </a:r>
            <a:r>
              <a:rPr lang="zh-CN" altLang="en-US" dirty="0"/>
              <a:t>行</a:t>
            </a:r>
            <a:r>
              <a:rPr lang="en-US" altLang="zh-CN" dirty="0"/>
              <a:t>) +(</a:t>
            </a:r>
            <a:r>
              <a:rPr lang="en-US" altLang="zh-CN" b="1" dirty="0"/>
              <a:t>A</a:t>
            </a:r>
            <a:r>
              <a:rPr lang="zh-CN" altLang="en-US" dirty="0"/>
              <a:t>的第</a:t>
            </a:r>
            <a:r>
              <a:rPr lang="en-US" altLang="zh-CN" dirty="0" err="1"/>
              <a:t>j</a:t>
            </a:r>
            <a:r>
              <a:rPr lang="zh-CN" altLang="en-US" dirty="0"/>
              <a:t>行</a:t>
            </a:r>
            <a:r>
              <a:rPr lang="en-US" altLang="zh-CN" dirty="0"/>
              <a:t>)</a:t>
            </a:r>
            <a:r>
              <a:rPr lang="zh-CN" altLang="en-US" dirty="0"/>
              <a:t>，另</a:t>
            </a:r>
            <a:r>
              <a:rPr lang="en-US" altLang="zh-CN" dirty="0"/>
              <a:t> </a:t>
            </a:r>
            <a:r>
              <a:rPr lang="en-US" altLang="zh-CN" b="1" dirty="0"/>
              <a:t>A’</a:t>
            </a:r>
            <a:r>
              <a:rPr lang="zh-CN" altLang="en-US" dirty="0"/>
              <a:t>的其它行与</a:t>
            </a:r>
            <a:r>
              <a:rPr lang="en-US" altLang="zh-CN" b="1" dirty="0"/>
              <a:t>A</a:t>
            </a:r>
            <a:r>
              <a:rPr lang="zh-CN" altLang="en-US" dirty="0"/>
              <a:t>的行相同。</a:t>
            </a:r>
            <a:endParaRPr lang="en-US" altLang="zh-CN" dirty="0"/>
          </a:p>
          <a:p>
            <a:pPr>
              <a:lnSpc>
                <a:spcPct val="100000"/>
              </a:lnSpc>
              <a:buNone/>
            </a:pPr>
            <a:r>
              <a:rPr lang="en-US" altLang="zh-CN" dirty="0"/>
              <a:t>3.</a:t>
            </a:r>
            <a:r>
              <a:rPr lang="zh-CN" altLang="en-US" dirty="0"/>
              <a:t>互换</a:t>
            </a:r>
            <a:r>
              <a:rPr lang="en-US" altLang="zh-CN" dirty="0"/>
              <a:t>A</a:t>
            </a:r>
            <a:r>
              <a:rPr lang="zh-CN" altLang="en-US" dirty="0"/>
              <a:t>的任意两行，得到</a:t>
            </a:r>
            <a:r>
              <a:rPr lang="en-US" altLang="zh-CN" b="1" dirty="0"/>
              <a:t>A’</a:t>
            </a:r>
            <a:r>
              <a:rPr lang="zh-CN" altLang="en-US" dirty="0"/>
              <a:t>。</a:t>
            </a:r>
            <a:endParaRPr lang="en-US" altLang="zh-CN" dirty="0"/>
          </a:p>
          <a:p>
            <a:pPr>
              <a:lnSpc>
                <a:spcPct val="100000"/>
              </a:lnSpc>
              <a:buNone/>
            </a:pPr>
            <a:r>
              <a:rPr lang="zh-CN" altLang="en-US" dirty="0"/>
              <a:t>增广矩阵格式，如：</a:t>
            </a:r>
            <a:r>
              <a:rPr lang="en-US" altLang="zh-CN" dirty="0"/>
              <a:t>[</a:t>
            </a:r>
            <a:r>
              <a:rPr lang="en-US" altLang="zh-CN" b="1" dirty="0" err="1"/>
              <a:t>A</a:t>
            </a:r>
            <a:r>
              <a:rPr lang="en-US" altLang="zh-CN" dirty="0" err="1"/>
              <a:t>|</a:t>
            </a:r>
            <a:r>
              <a:rPr lang="en-US" altLang="zh-CN" b="1" dirty="0" err="1"/>
              <a:t>b</a:t>
            </a:r>
            <a:r>
              <a:rPr lang="en-US" altLang="zh-CN" dirty="0"/>
              <a:t>]</a:t>
            </a:r>
            <a:r>
              <a:rPr lang="zh-CN" altLang="en-US" dirty="0"/>
              <a:t>。</a:t>
            </a:r>
            <a:endParaRPr lang="en-US" altLang="zh-CN" dirty="0"/>
          </a:p>
          <a:p>
            <a:pPr>
              <a:lnSpc>
                <a:spcPct val="100000"/>
              </a:lnSpc>
              <a:buNone/>
            </a:pPr>
            <a:r>
              <a:rPr lang="zh-CN" altLang="en-US" dirty="0"/>
              <a:t>高斯</a:t>
            </a:r>
            <a:r>
              <a:rPr lang="en-US" altLang="zh-CN" dirty="0"/>
              <a:t>-</a:t>
            </a:r>
            <a:r>
              <a:rPr lang="zh-CN" altLang="en-US" dirty="0"/>
              <a:t>约当方法：指如果矩阵</a:t>
            </a:r>
            <a:r>
              <a:rPr lang="en-US" altLang="zh-CN" dirty="0"/>
              <a:t>[</a:t>
            </a:r>
            <a:r>
              <a:rPr lang="en-US" altLang="zh-CN" b="1" dirty="0" err="1"/>
              <a:t>A’</a:t>
            </a:r>
            <a:r>
              <a:rPr lang="en-US" altLang="zh-CN" dirty="0" err="1"/>
              <a:t>|</a:t>
            </a:r>
            <a:r>
              <a:rPr lang="en-US" altLang="zh-CN" b="1" dirty="0" err="1"/>
              <a:t>b</a:t>
            </a:r>
            <a:r>
              <a:rPr lang="en-US" altLang="zh-CN" b="1" dirty="0"/>
              <a:t>’</a:t>
            </a:r>
            <a:r>
              <a:rPr lang="en-US" altLang="zh-CN" dirty="0"/>
              <a:t>]</a:t>
            </a:r>
            <a:r>
              <a:rPr lang="zh-CN" altLang="en-US" dirty="0"/>
              <a:t>是通过基本行运算从</a:t>
            </a:r>
            <a:r>
              <a:rPr lang="en-US" altLang="zh-CN" dirty="0"/>
              <a:t>[</a:t>
            </a:r>
            <a:r>
              <a:rPr lang="en-US" altLang="zh-CN" b="1" dirty="0" err="1"/>
              <a:t>A</a:t>
            </a:r>
            <a:r>
              <a:rPr lang="en-US" altLang="zh-CN" dirty="0" err="1"/>
              <a:t>|</a:t>
            </a:r>
            <a:r>
              <a:rPr lang="en-US" altLang="zh-CN" b="1" dirty="0" err="1"/>
              <a:t>b</a:t>
            </a:r>
            <a:r>
              <a:rPr lang="en-US" altLang="zh-CN" dirty="0"/>
              <a:t>]</a:t>
            </a:r>
            <a:r>
              <a:rPr lang="zh-CN" altLang="en-US" dirty="0"/>
              <a:t>得到的，那么</a:t>
            </a:r>
            <a:r>
              <a:rPr lang="en-US" altLang="zh-CN" b="1" dirty="0">
                <a:solidFill>
                  <a:srgbClr val="060606"/>
                </a:solidFill>
              </a:rPr>
              <a:t>Ax</a:t>
            </a:r>
            <a:r>
              <a:rPr lang="en-US" altLang="zh-CN" dirty="0">
                <a:solidFill>
                  <a:srgbClr val="060606"/>
                </a:solidFill>
              </a:rPr>
              <a:t> = </a:t>
            </a:r>
            <a:r>
              <a:rPr lang="en-US" altLang="zh-CN" b="1" dirty="0">
                <a:solidFill>
                  <a:srgbClr val="060606"/>
                </a:solidFill>
              </a:rPr>
              <a:t>b</a:t>
            </a:r>
            <a:r>
              <a:rPr lang="zh-CN" altLang="en-US" b="1" dirty="0">
                <a:solidFill>
                  <a:srgbClr val="060606"/>
                </a:solidFill>
              </a:rPr>
              <a:t>和</a:t>
            </a:r>
            <a:r>
              <a:rPr lang="en-US" altLang="zh-CN" b="1" dirty="0" err="1"/>
              <a:t>A’x</a:t>
            </a:r>
            <a:r>
              <a:rPr lang="en-US" altLang="zh-CN" dirty="0"/>
              <a:t> = </a:t>
            </a:r>
            <a:r>
              <a:rPr lang="en-US" altLang="zh-CN" b="1" dirty="0"/>
              <a:t>b’</a:t>
            </a:r>
            <a:r>
              <a:rPr lang="zh-CN" altLang="en-US" dirty="0"/>
              <a:t>是等价的。</a:t>
            </a:r>
            <a:r>
              <a:rPr lang="en-US" altLang="zh-CN" dirty="0"/>
              <a:t>(</a:t>
            </a:r>
            <a:r>
              <a:rPr lang="zh-CN" altLang="en-US" dirty="0"/>
              <a:t>这意味着同解。</a:t>
            </a:r>
            <a:r>
              <a:rPr lang="en-US" altLang="zh-CN" dirty="0"/>
              <a:t>)</a:t>
            </a:r>
            <a:endParaRPr lang="zh-CN" altLang="en-US" dirty="0"/>
          </a:p>
          <a:p>
            <a:pPr>
              <a:buNone/>
            </a:pPr>
            <a:endParaRPr lang="en-US" altLang="zh-CN" dirty="0"/>
          </a:p>
          <a:p>
            <a:pPr>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1920" y="11594"/>
            <a:ext cx="10221913" cy="639574"/>
          </a:xfrm>
        </p:spPr>
        <p:txBody>
          <a:bodyPr>
            <a:normAutofit/>
          </a:bodyPr>
          <a:lstStyle/>
          <a:p>
            <a:r>
              <a:rPr lang="zh-CN" altLang="en-US" sz="3200" dirty="0">
                <a:solidFill>
                  <a:srgbClr val="00000C"/>
                </a:solidFill>
              </a:rPr>
              <a:t>单纯形法代数形式的矩阵小结</a:t>
            </a:r>
            <a:endParaRPr lang="zh-CN" altLang="en-US" sz="3200" dirty="0">
              <a:solidFill>
                <a:srgbClr val="00000C"/>
              </a:solidFill>
            </a:endParaRPr>
          </a:p>
        </p:txBody>
      </p:sp>
      <p:graphicFrame>
        <p:nvGraphicFramePr>
          <p:cNvPr id="3" name="表格 2"/>
          <p:cNvGraphicFramePr>
            <a:graphicFrameLocks noGrp="1"/>
          </p:cNvGraphicFramePr>
          <p:nvPr/>
        </p:nvGraphicFramePr>
        <p:xfrm>
          <a:off x="477520" y="620688"/>
          <a:ext cx="10876280" cy="6120680"/>
        </p:xfrm>
        <a:graphic>
          <a:graphicData uri="http://schemas.openxmlformats.org/drawingml/2006/table">
            <a:tbl>
              <a:tblPr firstRow="1" bandRow="1">
                <a:tableStyleId>{5C22544A-7EE6-4342-B048-85BDC9FD1C3A}</a:tableStyleId>
              </a:tblPr>
              <a:tblGrid>
                <a:gridCol w="2212124"/>
                <a:gridCol w="8664156"/>
              </a:tblGrid>
              <a:tr h="487559">
                <a:tc gridSpan="2">
                  <a:txBody>
                    <a:bodyPr/>
                    <a:lstStyle/>
                    <a:p>
                      <a:pPr algn="ctr"/>
                      <a:r>
                        <a:rPr lang="zh-CN" altLang="en-US" sz="2400" b="1" dirty="0">
                          <a:solidFill>
                            <a:srgbClr val="00000C"/>
                          </a:solidFill>
                        </a:rPr>
                        <a:t>初始单纯形表格</a:t>
                      </a:r>
                      <a:endParaRPr lang="zh-CN" altLang="en-US" sz="2400" b="1" dirty="0">
                        <a:solidFill>
                          <a:srgbClr val="00000C"/>
                        </a:solidFill>
                      </a:endParaRPr>
                    </a:p>
                  </a:txBody>
                  <a:tcPr>
                    <a:lnB w="38100" cap="flat" cmpd="sng" algn="ctr">
                      <a:solidFill>
                        <a:schemeClr val="tx1"/>
                      </a:solidFill>
                      <a:prstDash val="solid"/>
                      <a:round/>
                      <a:headEnd type="none" w="med" len="med"/>
                      <a:tailEnd type="none" w="med" len="med"/>
                    </a:lnB>
                    <a:noFill/>
                  </a:tcPr>
                </a:tc>
                <a:tc hMerge="1">
                  <a:tcPr/>
                </a:tc>
              </a:tr>
              <a:tr h="2660807">
                <a:tc>
                  <a:txBody>
                    <a:bodyPr/>
                    <a:lstStyle/>
                    <a:p>
                      <a:r>
                        <a:rPr lang="zh-CN" altLang="en-US" sz="2400" b="1" dirty="0">
                          <a:solidFill>
                            <a:srgbClr val="00000C"/>
                          </a:solidFill>
                        </a:rPr>
                        <a:t>行</a:t>
                      </a:r>
                      <a:r>
                        <a:rPr lang="en-US" altLang="zh-CN" sz="2400" b="1" dirty="0">
                          <a:solidFill>
                            <a:srgbClr val="00000C"/>
                          </a:solidFill>
                        </a:rPr>
                        <a:t>0</a:t>
                      </a:r>
                      <a:endParaRPr lang="en-US" altLang="zh-CN" sz="2400" b="1" dirty="0">
                        <a:solidFill>
                          <a:srgbClr val="00000C"/>
                        </a:solidFill>
                      </a:endParaRPr>
                    </a:p>
                    <a:p>
                      <a:endParaRPr lang="en-US" altLang="zh-CN" sz="2400" b="1" dirty="0">
                        <a:solidFill>
                          <a:srgbClr val="00000C"/>
                        </a:solidFill>
                      </a:endParaRPr>
                    </a:p>
                    <a:p>
                      <a:r>
                        <a:rPr lang="zh-CN" altLang="en-US" sz="2400" b="1" dirty="0">
                          <a:solidFill>
                            <a:srgbClr val="00000C"/>
                          </a:solidFill>
                        </a:rPr>
                        <a:t>行</a:t>
                      </a:r>
                      <a:r>
                        <a:rPr lang="en-US" altLang="zh-CN" sz="2400" b="1" dirty="0">
                          <a:solidFill>
                            <a:srgbClr val="00000C"/>
                          </a:solidFill>
                        </a:rPr>
                        <a:t>1~</a:t>
                      </a:r>
                      <a:r>
                        <a:rPr lang="zh-CN" altLang="en-US" sz="2400" b="1" dirty="0">
                          <a:solidFill>
                            <a:srgbClr val="00000C"/>
                          </a:solidFill>
                        </a:rPr>
                        <a:t>行</a:t>
                      </a:r>
                      <a:r>
                        <a:rPr lang="en-US" altLang="zh-CN" sz="2400" b="1" dirty="0">
                          <a:solidFill>
                            <a:srgbClr val="00000C"/>
                          </a:solidFill>
                        </a:rPr>
                        <a:t>m</a:t>
                      </a:r>
                      <a:endParaRPr lang="en-US" altLang="zh-CN" sz="2400" b="1" dirty="0">
                        <a:solidFill>
                          <a:srgbClr val="00000C"/>
                        </a:solidFill>
                      </a:endParaRPr>
                    </a:p>
                    <a:p>
                      <a:endParaRPr lang="en-US" altLang="zh-CN" sz="2400" b="1" dirty="0">
                        <a:solidFill>
                          <a:srgbClr val="00000C"/>
                        </a:solidFill>
                      </a:endParaRPr>
                    </a:p>
                    <a:p>
                      <a:r>
                        <a:rPr lang="zh-CN" altLang="en-US" sz="2400" b="1" dirty="0">
                          <a:solidFill>
                            <a:srgbClr val="00000C"/>
                          </a:solidFill>
                        </a:rPr>
                        <a:t>综合</a:t>
                      </a:r>
                      <a:endParaRPr lang="en-US" altLang="zh-CN" sz="2400" b="1" dirty="0">
                        <a:solidFill>
                          <a:srgbClr val="00000C"/>
                        </a:solidFill>
                      </a:endParaRPr>
                    </a:p>
                    <a:p>
                      <a:endParaRPr lang="zh-CN" altLang="en-US" sz="2400" b="1" dirty="0">
                        <a:solidFill>
                          <a:srgbClr val="00000C"/>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sz="2400" dirty="0">
                        <a:solidFill>
                          <a:srgbClr val="00000C"/>
                        </a:solidFill>
                      </a:endParaRPr>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534521">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00000C"/>
                          </a:solidFill>
                        </a:rPr>
                        <a:t>最终单纯形表格</a:t>
                      </a:r>
                      <a:endParaRPr lang="zh-CN" altLang="en-US" sz="2400" b="1" dirty="0">
                        <a:solidFill>
                          <a:srgbClr val="00000C"/>
                        </a:solidFill>
                      </a:endParaRPr>
                    </a:p>
                  </a:txBody>
                  <a:tcP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cPr/>
                </a:tc>
              </a:tr>
              <a:tr h="2437793">
                <a:tc>
                  <a:txBody>
                    <a:bodyPr/>
                    <a:lstStyle/>
                    <a:p>
                      <a:r>
                        <a:rPr lang="zh-CN" altLang="en-US" sz="2400" b="1" dirty="0">
                          <a:solidFill>
                            <a:srgbClr val="00000C"/>
                          </a:solidFill>
                        </a:rPr>
                        <a:t>行</a:t>
                      </a:r>
                      <a:r>
                        <a:rPr lang="en-US" altLang="zh-CN" sz="2400" b="1" dirty="0">
                          <a:solidFill>
                            <a:srgbClr val="00000C"/>
                          </a:solidFill>
                        </a:rPr>
                        <a:t>0</a:t>
                      </a:r>
                      <a:endParaRPr lang="en-US" altLang="zh-CN" sz="2400" b="1" dirty="0">
                        <a:solidFill>
                          <a:srgbClr val="00000C"/>
                        </a:solidFill>
                      </a:endParaRPr>
                    </a:p>
                    <a:p>
                      <a:endParaRPr lang="en-US" altLang="zh-CN" sz="2400" b="1" dirty="0">
                        <a:solidFill>
                          <a:srgbClr val="00000C"/>
                        </a:solidFill>
                      </a:endParaRPr>
                    </a:p>
                    <a:p>
                      <a:r>
                        <a:rPr lang="zh-CN" altLang="en-US" sz="2400" b="1" dirty="0">
                          <a:solidFill>
                            <a:srgbClr val="00000C"/>
                          </a:solidFill>
                        </a:rPr>
                        <a:t>行</a:t>
                      </a:r>
                      <a:r>
                        <a:rPr lang="en-US" altLang="zh-CN" sz="2400" b="1" dirty="0">
                          <a:solidFill>
                            <a:srgbClr val="00000C"/>
                          </a:solidFill>
                        </a:rPr>
                        <a:t>1~</a:t>
                      </a:r>
                      <a:r>
                        <a:rPr lang="zh-CN" altLang="en-US" sz="2400" b="1" dirty="0">
                          <a:solidFill>
                            <a:srgbClr val="00000C"/>
                          </a:solidFill>
                        </a:rPr>
                        <a:t>行</a:t>
                      </a:r>
                      <a:r>
                        <a:rPr lang="en-US" altLang="zh-CN" sz="2400" b="1" dirty="0">
                          <a:solidFill>
                            <a:srgbClr val="00000C"/>
                          </a:solidFill>
                        </a:rPr>
                        <a:t>m</a:t>
                      </a:r>
                      <a:endParaRPr lang="en-US" altLang="zh-CN" sz="2400" b="1" dirty="0">
                        <a:solidFill>
                          <a:srgbClr val="00000C"/>
                        </a:solidFill>
                      </a:endParaRPr>
                    </a:p>
                    <a:p>
                      <a:endParaRPr lang="en-US" altLang="zh-CN" sz="2400" b="1" dirty="0">
                        <a:solidFill>
                          <a:srgbClr val="00000C"/>
                        </a:solidFill>
                      </a:endParaRPr>
                    </a:p>
                    <a:p>
                      <a:r>
                        <a:rPr lang="zh-CN" altLang="en-US" sz="2400" b="1" dirty="0">
                          <a:solidFill>
                            <a:srgbClr val="00000C"/>
                          </a:solidFill>
                        </a:rPr>
                        <a:t>综合</a:t>
                      </a:r>
                      <a:endParaRPr lang="en-US" altLang="zh-CN" sz="2400" b="1" dirty="0">
                        <a:solidFill>
                          <a:srgbClr val="00000C"/>
                        </a:solidFill>
                      </a:endParaRPr>
                    </a:p>
                    <a:p>
                      <a:endParaRPr lang="zh-CN" altLang="en-US" sz="2400" b="1" dirty="0">
                        <a:solidFill>
                          <a:srgbClr val="00000C"/>
                        </a:solidFill>
                      </a:endParaRPr>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noFill/>
                  </a:tcPr>
                </a:tc>
                <a:tc>
                  <a:txBody>
                    <a:bodyPr/>
                    <a:lstStyle/>
                    <a:p>
                      <a:endParaRPr lang="zh-CN" altLang="en-US" dirty="0"/>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noFill/>
                  </a:tcPr>
                </a:tc>
              </a:tr>
            </a:tbl>
          </a:graphicData>
        </a:graphic>
      </p:graphicFrame>
      <p:grpSp>
        <p:nvGrpSpPr>
          <p:cNvPr id="63" name="组合 62"/>
          <p:cNvGrpSpPr/>
          <p:nvPr/>
        </p:nvGrpSpPr>
        <p:grpSpPr>
          <a:xfrm>
            <a:off x="4413853" y="1124744"/>
            <a:ext cx="6413935" cy="2412192"/>
            <a:chOff x="2889853" y="1124744"/>
            <a:chExt cx="5384807" cy="2412192"/>
          </a:xfrm>
        </p:grpSpPr>
        <p:sp>
          <p:nvSpPr>
            <p:cNvPr id="4" name="矩形 3"/>
            <p:cNvSpPr/>
            <p:nvPr/>
          </p:nvSpPr>
          <p:spPr>
            <a:xfrm>
              <a:off x="2889853" y="1124744"/>
              <a:ext cx="5355953" cy="461665"/>
            </a:xfrm>
            <a:prstGeom prst="rect">
              <a:avLst/>
            </a:prstGeom>
          </p:spPr>
          <p:txBody>
            <a:bodyPr wrap="none">
              <a:spAutoFit/>
            </a:bodyPr>
            <a:lstStyle/>
            <a:p>
              <a:r>
                <a:rPr lang="en-US" altLang="zh-CN" sz="2400" b="1" i="1" dirty="0">
                  <a:solidFill>
                    <a:srgbClr val="00000C"/>
                  </a:solidFill>
                </a:rPr>
                <a:t>t</a:t>
              </a:r>
              <a:r>
                <a:rPr lang="en-US" altLang="zh-CN" sz="2400" dirty="0">
                  <a:solidFill>
                    <a:srgbClr val="00000C"/>
                  </a:solidFill>
                </a:rPr>
                <a:t> = [-3  -5   0   </a:t>
              </a:r>
              <a:r>
                <a:rPr lang="en-US" altLang="zh-CN" sz="2400" dirty="0" err="1">
                  <a:solidFill>
                    <a:srgbClr val="00000C"/>
                  </a:solidFill>
                </a:rPr>
                <a:t>0</a:t>
              </a:r>
              <a:r>
                <a:rPr lang="en-US" altLang="zh-CN" sz="2400" dirty="0">
                  <a:solidFill>
                    <a:srgbClr val="00000C"/>
                  </a:solidFill>
                </a:rPr>
                <a:t>   </a:t>
              </a:r>
              <a:r>
                <a:rPr lang="en-US" altLang="zh-CN" sz="2400" dirty="0" err="1">
                  <a:solidFill>
                    <a:srgbClr val="00000C"/>
                  </a:solidFill>
                </a:rPr>
                <a:t>0</a:t>
              </a:r>
              <a:r>
                <a:rPr lang="en-US" altLang="zh-CN" sz="2400" dirty="0">
                  <a:solidFill>
                    <a:srgbClr val="00000C"/>
                  </a:solidFill>
                </a:rPr>
                <a:t>    </a:t>
              </a:r>
              <a:r>
                <a:rPr lang="en-US" altLang="zh-CN" sz="2400" dirty="0" err="1">
                  <a:solidFill>
                    <a:srgbClr val="00000C"/>
                  </a:solidFill>
                </a:rPr>
                <a:t>0</a:t>
              </a:r>
              <a:r>
                <a:rPr lang="en-US" altLang="zh-CN" sz="2400" dirty="0">
                  <a:solidFill>
                    <a:srgbClr val="00000C"/>
                  </a:solidFill>
                </a:rPr>
                <a:t>] = [-</a:t>
              </a:r>
              <a:r>
                <a:rPr lang="en-US" altLang="zh-CN" sz="2400" b="1" i="1" dirty="0">
                  <a:solidFill>
                    <a:srgbClr val="00000C"/>
                  </a:solidFill>
                </a:rPr>
                <a:t>c    </a:t>
              </a:r>
              <a:r>
                <a:rPr lang="en-US" altLang="zh-CN" sz="2400" b="1" i="1" dirty="0">
                  <a:solidFill>
                    <a:srgbClr val="00B050"/>
                  </a:solidFill>
                </a:rPr>
                <a:t>0</a:t>
              </a:r>
              <a:r>
                <a:rPr lang="en-US" altLang="zh-CN" sz="2400" dirty="0">
                  <a:solidFill>
                    <a:srgbClr val="00000C"/>
                  </a:solidFill>
                </a:rPr>
                <a:t>    z</a:t>
              </a:r>
              <a:r>
                <a:rPr lang="en-US" altLang="zh-CN" sz="2400" baseline="-25000" dirty="0">
                  <a:solidFill>
                    <a:srgbClr val="00000C"/>
                  </a:solidFill>
                </a:rPr>
                <a:t>0</a:t>
              </a:r>
              <a:r>
                <a:rPr lang="en-US" altLang="zh-CN" sz="2400" dirty="0">
                  <a:solidFill>
                    <a:srgbClr val="00000C"/>
                  </a:solidFill>
                </a:rPr>
                <a:t>]</a:t>
              </a:r>
              <a:endParaRPr lang="zh-CN" altLang="en-US" sz="2400" dirty="0">
                <a:solidFill>
                  <a:srgbClr val="00000C"/>
                </a:solidFill>
              </a:endParaRPr>
            </a:p>
          </p:txBody>
        </p:sp>
        <p:grpSp>
          <p:nvGrpSpPr>
            <p:cNvPr id="15" name="组合 14"/>
            <p:cNvGrpSpPr/>
            <p:nvPr/>
          </p:nvGrpSpPr>
          <p:grpSpPr>
            <a:xfrm>
              <a:off x="2889853" y="1527175"/>
              <a:ext cx="5384807" cy="1253753"/>
              <a:chOff x="2123728" y="1527175"/>
              <a:chExt cx="5384807" cy="1253753"/>
            </a:xfrm>
          </p:grpSpPr>
          <p:sp>
            <p:nvSpPr>
              <p:cNvPr id="5" name="矩形 4"/>
              <p:cNvSpPr/>
              <p:nvPr/>
            </p:nvSpPr>
            <p:spPr>
              <a:xfrm>
                <a:off x="2123728" y="1887215"/>
                <a:ext cx="5384807" cy="461665"/>
              </a:xfrm>
              <a:prstGeom prst="rect">
                <a:avLst/>
              </a:prstGeom>
            </p:spPr>
            <p:txBody>
              <a:bodyPr wrap="none">
                <a:spAutoFit/>
              </a:bodyPr>
              <a:lstStyle/>
              <a:p>
                <a:r>
                  <a:rPr lang="en-US" altLang="zh-CN" sz="2400" b="1" i="1" dirty="0">
                    <a:solidFill>
                      <a:srgbClr val="00000C"/>
                    </a:solidFill>
                  </a:rPr>
                  <a:t>T</a:t>
                </a:r>
                <a:r>
                  <a:rPr lang="en-US" altLang="zh-CN" sz="2400" dirty="0">
                    <a:solidFill>
                      <a:srgbClr val="00000C"/>
                    </a:solidFill>
                  </a:rPr>
                  <a:t>=                                      =[</a:t>
                </a:r>
                <a:r>
                  <a:rPr lang="en-US" altLang="zh-CN" sz="2400" b="1" i="1" dirty="0">
                    <a:solidFill>
                      <a:srgbClr val="00000C"/>
                    </a:solidFill>
                  </a:rPr>
                  <a:t>A   </a:t>
                </a:r>
                <a:r>
                  <a:rPr lang="zh-CN" altLang="en-US" sz="2400" b="1" i="1" dirty="0">
                    <a:solidFill>
                      <a:srgbClr val="C00000"/>
                    </a:solidFill>
                    <a:latin typeface="宋体"/>
                    <a:ea typeface="宋体"/>
                  </a:rPr>
                  <a:t>Ｉ</a:t>
                </a:r>
                <a:r>
                  <a:rPr lang="en-US" altLang="zh-CN" sz="2400" b="1" i="1" dirty="0">
                    <a:solidFill>
                      <a:srgbClr val="00000C"/>
                    </a:solidFill>
                  </a:rPr>
                  <a:t>   b</a:t>
                </a:r>
                <a:r>
                  <a:rPr lang="en-US" altLang="zh-CN" sz="2400" dirty="0">
                    <a:solidFill>
                      <a:srgbClr val="00000C"/>
                    </a:solidFill>
                  </a:rPr>
                  <a:t>]</a:t>
                </a:r>
                <a:endParaRPr lang="zh-CN" altLang="en-US" sz="2400" dirty="0">
                  <a:solidFill>
                    <a:srgbClr val="00000C"/>
                  </a:solidFill>
                </a:endParaRPr>
              </a:p>
            </p:txBody>
          </p:sp>
          <p:sp>
            <p:nvSpPr>
              <p:cNvPr id="6" name="矩形 5"/>
              <p:cNvSpPr/>
              <p:nvPr/>
            </p:nvSpPr>
            <p:spPr>
              <a:xfrm>
                <a:off x="2699792" y="1527175"/>
                <a:ext cx="2430474" cy="461665"/>
              </a:xfrm>
              <a:prstGeom prst="rect">
                <a:avLst/>
              </a:prstGeom>
            </p:spPr>
            <p:txBody>
              <a:bodyPr wrap="none">
                <a:spAutoFit/>
              </a:bodyPr>
              <a:lstStyle/>
              <a:p>
                <a:r>
                  <a:rPr lang="en-US" altLang="zh-CN" sz="2400" dirty="0">
                    <a:solidFill>
                      <a:srgbClr val="00000C"/>
                    </a:solidFill>
                  </a:rPr>
                  <a:t>1  0   1   0   </a:t>
                </a:r>
                <a:r>
                  <a:rPr lang="en-US" altLang="zh-CN" sz="2400" dirty="0" err="1">
                    <a:solidFill>
                      <a:srgbClr val="00000C"/>
                    </a:solidFill>
                  </a:rPr>
                  <a:t>0</a:t>
                </a:r>
                <a:r>
                  <a:rPr lang="en-US" altLang="zh-CN" sz="2400" dirty="0">
                    <a:solidFill>
                      <a:srgbClr val="00000C"/>
                    </a:solidFill>
                  </a:rPr>
                  <a:t>    4</a:t>
                </a:r>
                <a:endParaRPr lang="zh-CN" altLang="en-US" sz="2400" dirty="0">
                  <a:solidFill>
                    <a:srgbClr val="00000C"/>
                  </a:solidFill>
                </a:endParaRPr>
              </a:p>
            </p:txBody>
          </p:sp>
          <p:sp>
            <p:nvSpPr>
              <p:cNvPr id="7" name="矩形 6"/>
              <p:cNvSpPr/>
              <p:nvPr/>
            </p:nvSpPr>
            <p:spPr>
              <a:xfrm>
                <a:off x="2699792" y="1887215"/>
                <a:ext cx="2592376" cy="461665"/>
              </a:xfrm>
              <a:prstGeom prst="rect">
                <a:avLst/>
              </a:prstGeom>
            </p:spPr>
            <p:txBody>
              <a:bodyPr wrap="none">
                <a:spAutoFit/>
              </a:bodyPr>
              <a:lstStyle/>
              <a:p>
                <a:r>
                  <a:rPr lang="en-US" altLang="zh-CN" sz="2400" dirty="0">
                    <a:solidFill>
                      <a:srgbClr val="00000C"/>
                    </a:solidFill>
                  </a:rPr>
                  <a:t>0  2   0   1   0    12</a:t>
                </a:r>
                <a:endParaRPr lang="zh-CN" altLang="en-US" sz="2400" dirty="0">
                  <a:solidFill>
                    <a:srgbClr val="00000C"/>
                  </a:solidFill>
                </a:endParaRPr>
              </a:p>
            </p:txBody>
          </p:sp>
          <p:sp>
            <p:nvSpPr>
              <p:cNvPr id="8" name="矩形 7"/>
              <p:cNvSpPr/>
              <p:nvPr/>
            </p:nvSpPr>
            <p:spPr>
              <a:xfrm>
                <a:off x="2699792" y="2319263"/>
                <a:ext cx="2592376" cy="461665"/>
              </a:xfrm>
              <a:prstGeom prst="rect">
                <a:avLst/>
              </a:prstGeom>
            </p:spPr>
            <p:txBody>
              <a:bodyPr wrap="none">
                <a:spAutoFit/>
              </a:bodyPr>
              <a:lstStyle/>
              <a:p>
                <a:r>
                  <a:rPr lang="en-US" altLang="zh-CN" sz="2400" dirty="0">
                    <a:solidFill>
                      <a:srgbClr val="00000C"/>
                    </a:solidFill>
                  </a:rPr>
                  <a:t>3  2   0   </a:t>
                </a:r>
                <a:r>
                  <a:rPr lang="en-US" altLang="zh-CN" sz="2400" dirty="0" err="1">
                    <a:solidFill>
                      <a:srgbClr val="00000C"/>
                    </a:solidFill>
                  </a:rPr>
                  <a:t>0</a:t>
                </a:r>
                <a:r>
                  <a:rPr lang="en-US" altLang="zh-CN" sz="2400" dirty="0">
                    <a:solidFill>
                      <a:srgbClr val="00000C"/>
                    </a:solidFill>
                  </a:rPr>
                  <a:t>   1    18</a:t>
                </a:r>
                <a:endParaRPr lang="zh-CN" altLang="en-US" sz="2400" dirty="0">
                  <a:solidFill>
                    <a:srgbClr val="00000C"/>
                  </a:solidFill>
                </a:endParaRPr>
              </a:p>
            </p:txBody>
          </p:sp>
          <p:sp>
            <p:nvSpPr>
              <p:cNvPr id="9" name="双括号 8"/>
              <p:cNvSpPr/>
              <p:nvPr/>
            </p:nvSpPr>
            <p:spPr bwMode="auto">
              <a:xfrm>
                <a:off x="2627784" y="1527175"/>
                <a:ext cx="2340000" cy="122413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12" name="矩形 11"/>
            <p:cNvSpPr/>
            <p:nvPr/>
          </p:nvSpPr>
          <p:spPr>
            <a:xfrm>
              <a:off x="3249893" y="2823319"/>
              <a:ext cx="389850" cy="461665"/>
            </a:xfrm>
            <a:prstGeom prst="rect">
              <a:avLst/>
            </a:prstGeom>
          </p:spPr>
          <p:txBody>
            <a:bodyPr wrap="none">
              <a:spAutoFit/>
            </a:bodyPr>
            <a:lstStyle/>
            <a:p>
              <a:r>
                <a:rPr lang="en-US" altLang="zh-CN" sz="2400" dirty="0">
                  <a:solidFill>
                    <a:srgbClr val="00000C"/>
                  </a:solidFill>
                </a:rPr>
                <a:t>=</a:t>
              </a:r>
              <a:endParaRPr lang="zh-CN" altLang="en-US" sz="2400" dirty="0">
                <a:solidFill>
                  <a:srgbClr val="00000C"/>
                </a:solidFill>
              </a:endParaRPr>
            </a:p>
          </p:txBody>
        </p:sp>
        <p:grpSp>
          <p:nvGrpSpPr>
            <p:cNvPr id="17" name="组合 16"/>
            <p:cNvGrpSpPr/>
            <p:nvPr/>
          </p:nvGrpSpPr>
          <p:grpSpPr>
            <a:xfrm>
              <a:off x="2889853" y="2679303"/>
              <a:ext cx="354584" cy="821705"/>
              <a:chOff x="1932396" y="2564904"/>
              <a:chExt cx="354584" cy="821705"/>
            </a:xfrm>
          </p:grpSpPr>
          <p:sp>
            <p:nvSpPr>
              <p:cNvPr id="14" name="矩形 13"/>
              <p:cNvSpPr/>
              <p:nvPr/>
            </p:nvSpPr>
            <p:spPr>
              <a:xfrm>
                <a:off x="1932396" y="2924944"/>
                <a:ext cx="354584" cy="461665"/>
              </a:xfrm>
              <a:prstGeom prst="rect">
                <a:avLst/>
              </a:prstGeom>
            </p:spPr>
            <p:txBody>
              <a:bodyPr wrap="none">
                <a:spAutoFit/>
              </a:bodyPr>
              <a:lstStyle/>
              <a:p>
                <a:r>
                  <a:rPr lang="en-US" altLang="zh-CN" sz="2400" b="1" i="1" dirty="0">
                    <a:solidFill>
                      <a:srgbClr val="00000C"/>
                    </a:solidFill>
                  </a:rPr>
                  <a:t>T</a:t>
                </a:r>
                <a:endParaRPr lang="zh-CN" altLang="en-US" sz="2400" b="1" i="1" dirty="0">
                  <a:solidFill>
                    <a:srgbClr val="00000C"/>
                  </a:solidFill>
                </a:endParaRPr>
              </a:p>
            </p:txBody>
          </p:sp>
          <p:sp>
            <p:nvSpPr>
              <p:cNvPr id="13" name="矩形 12"/>
              <p:cNvSpPr/>
              <p:nvPr/>
            </p:nvSpPr>
            <p:spPr>
              <a:xfrm>
                <a:off x="1979712" y="2564904"/>
                <a:ext cx="295274" cy="461665"/>
              </a:xfrm>
              <a:prstGeom prst="rect">
                <a:avLst/>
              </a:prstGeom>
            </p:spPr>
            <p:txBody>
              <a:bodyPr wrap="none">
                <a:spAutoFit/>
              </a:bodyPr>
              <a:lstStyle/>
              <a:p>
                <a:r>
                  <a:rPr lang="en-US" altLang="zh-CN" sz="2400" b="1" i="1" dirty="0">
                    <a:solidFill>
                      <a:srgbClr val="00000C"/>
                    </a:solidFill>
                  </a:rPr>
                  <a:t>t</a:t>
                </a:r>
                <a:endParaRPr lang="zh-CN" altLang="en-US" sz="2400" b="1" i="1" dirty="0">
                  <a:solidFill>
                    <a:srgbClr val="00000C"/>
                  </a:solidFill>
                </a:endParaRPr>
              </a:p>
            </p:txBody>
          </p:sp>
          <p:sp>
            <p:nvSpPr>
              <p:cNvPr id="16" name="双括号 15"/>
              <p:cNvSpPr/>
              <p:nvPr/>
            </p:nvSpPr>
            <p:spPr bwMode="auto">
              <a:xfrm>
                <a:off x="1979712" y="2636912"/>
                <a:ext cx="288032" cy="720080"/>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grpSp>
          <p:nvGrpSpPr>
            <p:cNvPr id="21" name="组合 20"/>
            <p:cNvGrpSpPr/>
            <p:nvPr/>
          </p:nvGrpSpPr>
          <p:grpSpPr>
            <a:xfrm>
              <a:off x="3609933" y="2751311"/>
              <a:ext cx="1582484" cy="779314"/>
              <a:chOff x="2843808" y="2708920"/>
              <a:chExt cx="1582484" cy="779314"/>
            </a:xfrm>
          </p:grpSpPr>
          <p:sp>
            <p:nvSpPr>
              <p:cNvPr id="18" name="矩形 17"/>
              <p:cNvSpPr/>
              <p:nvPr/>
            </p:nvSpPr>
            <p:spPr>
              <a:xfrm>
                <a:off x="2843808" y="2708920"/>
                <a:ext cx="1582484" cy="461665"/>
              </a:xfrm>
              <a:prstGeom prst="rect">
                <a:avLst/>
              </a:prstGeom>
            </p:spPr>
            <p:txBody>
              <a:bodyPr wrap="none">
                <a:spAutoFit/>
              </a:bodyPr>
              <a:lstStyle/>
              <a:p>
                <a:r>
                  <a:rPr lang="en-US" altLang="zh-CN" sz="2400" dirty="0">
                    <a:solidFill>
                      <a:srgbClr val="00000C"/>
                    </a:solidFill>
                  </a:rPr>
                  <a:t>-</a:t>
                </a:r>
                <a:r>
                  <a:rPr lang="en-US" altLang="zh-CN" sz="2400" b="1" i="1" dirty="0">
                    <a:solidFill>
                      <a:srgbClr val="00000C"/>
                    </a:solidFill>
                  </a:rPr>
                  <a:t>c</a:t>
                </a:r>
                <a:r>
                  <a:rPr lang="en-US" altLang="zh-CN" sz="2400" dirty="0">
                    <a:solidFill>
                      <a:srgbClr val="00000C"/>
                    </a:solidFill>
                  </a:rPr>
                  <a:t>    </a:t>
                </a:r>
                <a:r>
                  <a:rPr lang="en-US" altLang="zh-CN" sz="2400" b="1" i="1" dirty="0">
                    <a:solidFill>
                      <a:srgbClr val="00000C"/>
                    </a:solidFill>
                  </a:rPr>
                  <a:t>0</a:t>
                </a:r>
                <a:r>
                  <a:rPr lang="en-US" altLang="zh-CN" sz="2400" dirty="0">
                    <a:solidFill>
                      <a:srgbClr val="00000C"/>
                    </a:solidFill>
                  </a:rPr>
                  <a:t>    z</a:t>
                </a:r>
                <a:r>
                  <a:rPr lang="en-US" altLang="zh-CN" sz="2400" baseline="-25000" dirty="0">
                    <a:solidFill>
                      <a:srgbClr val="00000C"/>
                    </a:solidFill>
                  </a:rPr>
                  <a:t>0</a:t>
                </a:r>
                <a:endParaRPr lang="zh-CN" altLang="en-US" sz="2400" dirty="0"/>
              </a:p>
            </p:txBody>
          </p:sp>
          <p:sp>
            <p:nvSpPr>
              <p:cNvPr id="19" name="矩形 18"/>
              <p:cNvSpPr/>
              <p:nvPr/>
            </p:nvSpPr>
            <p:spPr>
              <a:xfrm>
                <a:off x="2843808" y="3026569"/>
                <a:ext cx="1396536" cy="461665"/>
              </a:xfrm>
              <a:prstGeom prst="rect">
                <a:avLst/>
              </a:prstGeom>
            </p:spPr>
            <p:txBody>
              <a:bodyPr wrap="none">
                <a:spAutoFit/>
              </a:bodyPr>
              <a:lstStyle/>
              <a:p>
                <a:r>
                  <a:rPr lang="en-US" altLang="zh-CN" sz="2400" b="1" i="1" dirty="0">
                    <a:solidFill>
                      <a:srgbClr val="00000C"/>
                    </a:solidFill>
                  </a:rPr>
                  <a:t>A   </a:t>
                </a:r>
                <a:r>
                  <a:rPr lang="zh-CN" altLang="en-US" sz="2400" b="1" i="1" dirty="0">
                    <a:solidFill>
                      <a:srgbClr val="00000C"/>
                    </a:solidFill>
                    <a:latin typeface="宋体"/>
                    <a:ea typeface="宋体"/>
                  </a:rPr>
                  <a:t>Ｉ</a:t>
                </a:r>
                <a:r>
                  <a:rPr lang="en-US" altLang="zh-CN" sz="2400" b="1" i="1" dirty="0">
                    <a:solidFill>
                      <a:srgbClr val="00000C"/>
                    </a:solidFill>
                  </a:rPr>
                  <a:t>   b</a:t>
                </a:r>
                <a:endParaRPr lang="zh-CN" altLang="en-US" sz="2400" b="1" i="1" dirty="0"/>
              </a:p>
            </p:txBody>
          </p:sp>
          <p:sp>
            <p:nvSpPr>
              <p:cNvPr id="20" name="双括号 19"/>
              <p:cNvSpPr/>
              <p:nvPr/>
            </p:nvSpPr>
            <p:spPr bwMode="auto">
              <a:xfrm>
                <a:off x="2843808" y="2780928"/>
                <a:ext cx="1296144" cy="648072"/>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cxnSp>
          <p:nvCxnSpPr>
            <p:cNvPr id="23" name="直接连接符 22"/>
            <p:cNvCxnSpPr/>
            <p:nvPr/>
          </p:nvCxnSpPr>
          <p:spPr bwMode="auto">
            <a:xfrm>
              <a:off x="4185997" y="1196752"/>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p:cNvCxnSpPr/>
            <p:nvPr/>
          </p:nvCxnSpPr>
          <p:spPr bwMode="auto">
            <a:xfrm>
              <a:off x="5266117" y="1196752"/>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p:cNvCxnSpPr/>
            <p:nvPr/>
          </p:nvCxnSpPr>
          <p:spPr bwMode="auto">
            <a:xfrm>
              <a:off x="4113989" y="1700808"/>
              <a:ext cx="0" cy="1080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p:cNvCxnSpPr/>
            <p:nvPr/>
          </p:nvCxnSpPr>
          <p:spPr bwMode="auto">
            <a:xfrm>
              <a:off x="5194109" y="1700808"/>
              <a:ext cx="0" cy="1080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p:cNvCxnSpPr/>
            <p:nvPr/>
          </p:nvCxnSpPr>
          <p:spPr bwMode="auto">
            <a:xfrm>
              <a:off x="4041981" y="2852936"/>
              <a:ext cx="0" cy="684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p:cNvCxnSpPr/>
            <p:nvPr/>
          </p:nvCxnSpPr>
          <p:spPr bwMode="auto">
            <a:xfrm>
              <a:off x="4511917" y="2852936"/>
              <a:ext cx="0" cy="684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p:cNvCxnSpPr/>
            <p:nvPr/>
          </p:nvCxnSpPr>
          <p:spPr bwMode="auto">
            <a:xfrm>
              <a:off x="6418245" y="1916832"/>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6922301" y="1916832"/>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p:cNvCxnSpPr/>
            <p:nvPr/>
          </p:nvCxnSpPr>
          <p:spPr bwMode="auto">
            <a:xfrm>
              <a:off x="6418245" y="1196752"/>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p:cNvCxnSpPr/>
            <p:nvPr/>
          </p:nvCxnSpPr>
          <p:spPr bwMode="auto">
            <a:xfrm>
              <a:off x="6922301" y="1196752"/>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6" name="组合 65"/>
          <p:cNvGrpSpPr/>
          <p:nvPr/>
        </p:nvGrpSpPr>
        <p:grpSpPr>
          <a:xfrm>
            <a:off x="4229344" y="4257169"/>
            <a:ext cx="7363214" cy="2441809"/>
            <a:chOff x="2705343" y="4257168"/>
            <a:chExt cx="6413935" cy="2441809"/>
          </a:xfrm>
        </p:grpSpPr>
        <p:sp>
          <p:nvSpPr>
            <p:cNvPr id="35" name="矩形 34"/>
            <p:cNvSpPr/>
            <p:nvPr/>
          </p:nvSpPr>
          <p:spPr>
            <a:xfrm>
              <a:off x="2785735" y="4257168"/>
              <a:ext cx="6143028" cy="461665"/>
            </a:xfrm>
            <a:prstGeom prst="rect">
              <a:avLst/>
            </a:prstGeom>
          </p:spPr>
          <p:txBody>
            <a:bodyPr wrap="none">
              <a:spAutoFit/>
            </a:bodyPr>
            <a:lstStyle/>
            <a:p>
              <a:r>
                <a:rPr lang="en-US" altLang="zh-CN" sz="2400" b="1" i="1" dirty="0">
                  <a:solidFill>
                    <a:srgbClr val="00000C"/>
                  </a:solidFill>
                </a:rPr>
                <a:t>t*</a:t>
              </a:r>
              <a:r>
                <a:rPr lang="en-US" altLang="zh-CN" sz="2400" dirty="0">
                  <a:solidFill>
                    <a:srgbClr val="00000C"/>
                  </a:solidFill>
                </a:rPr>
                <a:t> = [0  0   </a:t>
              </a:r>
              <a:r>
                <a:rPr lang="en-US" altLang="zh-CN" sz="2400" dirty="0" err="1">
                  <a:solidFill>
                    <a:srgbClr val="00000C"/>
                  </a:solidFill>
                </a:rPr>
                <a:t>0</a:t>
              </a:r>
              <a:r>
                <a:rPr lang="en-US" altLang="zh-CN" sz="2400" dirty="0">
                  <a:solidFill>
                    <a:srgbClr val="00000C"/>
                  </a:solidFill>
                </a:rPr>
                <a:t>   3/2   1    36] = [</a:t>
              </a:r>
              <a:r>
                <a:rPr lang="en-US" altLang="zh-CN" sz="2400" b="1" i="1" dirty="0">
                  <a:solidFill>
                    <a:srgbClr val="00000C"/>
                  </a:solidFill>
                </a:rPr>
                <a:t>z*-c    </a:t>
              </a:r>
              <a:r>
                <a:rPr lang="en-US" altLang="zh-CN" sz="2400" b="1" i="1" dirty="0">
                  <a:solidFill>
                    <a:srgbClr val="00B050"/>
                  </a:solidFill>
                </a:rPr>
                <a:t>y*</a:t>
              </a:r>
              <a:r>
                <a:rPr lang="en-US" altLang="zh-CN" sz="2400" dirty="0">
                  <a:solidFill>
                    <a:srgbClr val="00000C"/>
                  </a:solidFill>
                </a:rPr>
                <a:t>    z</a:t>
              </a:r>
              <a:r>
                <a:rPr lang="en-US" altLang="zh-CN" sz="2400" baseline="-25000" dirty="0">
                  <a:solidFill>
                    <a:srgbClr val="00000C"/>
                  </a:solidFill>
                </a:rPr>
                <a:t>0</a:t>
              </a:r>
              <a:r>
                <a:rPr lang="en-US" altLang="zh-CN" sz="2400" dirty="0">
                  <a:solidFill>
                    <a:srgbClr val="00000C"/>
                  </a:solidFill>
                </a:rPr>
                <a:t>*]</a:t>
              </a:r>
              <a:endParaRPr lang="zh-CN" altLang="en-US" sz="2400" dirty="0">
                <a:solidFill>
                  <a:srgbClr val="00000C"/>
                </a:solidFill>
              </a:endParaRPr>
            </a:p>
          </p:txBody>
        </p:sp>
        <p:grpSp>
          <p:nvGrpSpPr>
            <p:cNvPr id="36" name="组合 14"/>
            <p:cNvGrpSpPr/>
            <p:nvPr/>
          </p:nvGrpSpPr>
          <p:grpSpPr>
            <a:xfrm>
              <a:off x="2705343" y="4659599"/>
              <a:ext cx="6413935" cy="1253753"/>
              <a:chOff x="2043336" y="1527175"/>
              <a:chExt cx="6413935" cy="1253753"/>
            </a:xfrm>
          </p:grpSpPr>
          <p:sp>
            <p:nvSpPr>
              <p:cNvPr id="56" name="矩形 4"/>
              <p:cNvSpPr/>
              <p:nvPr/>
            </p:nvSpPr>
            <p:spPr>
              <a:xfrm>
                <a:off x="2043336" y="1887215"/>
                <a:ext cx="6413935" cy="461665"/>
              </a:xfrm>
              <a:prstGeom prst="rect">
                <a:avLst/>
              </a:prstGeom>
            </p:spPr>
            <p:txBody>
              <a:bodyPr wrap="none">
                <a:spAutoFit/>
              </a:bodyPr>
              <a:lstStyle/>
              <a:p>
                <a:r>
                  <a:rPr lang="en-US" altLang="zh-CN" sz="2400" b="1" i="1" dirty="0">
                    <a:solidFill>
                      <a:srgbClr val="00000C"/>
                    </a:solidFill>
                  </a:rPr>
                  <a:t>T*</a:t>
                </a:r>
                <a:r>
                  <a:rPr lang="en-US" altLang="zh-CN" sz="2400" dirty="0">
                    <a:solidFill>
                      <a:srgbClr val="00000C"/>
                    </a:solidFill>
                  </a:rPr>
                  <a:t>=                                              =[</a:t>
                </a:r>
                <a:r>
                  <a:rPr lang="en-US" altLang="zh-CN" sz="2400" b="1" i="1" dirty="0">
                    <a:solidFill>
                      <a:srgbClr val="00000C"/>
                    </a:solidFill>
                  </a:rPr>
                  <a:t>A*   </a:t>
                </a:r>
                <a:r>
                  <a:rPr lang="en-US" altLang="zh-CN" sz="2400" b="1" i="1" dirty="0">
                    <a:solidFill>
                      <a:srgbClr val="C00000"/>
                    </a:solidFill>
                    <a:latin typeface="宋体"/>
                    <a:ea typeface="宋体"/>
                  </a:rPr>
                  <a:t>S</a:t>
                </a:r>
                <a:r>
                  <a:rPr lang="en-US" altLang="zh-CN" sz="2400" b="1" i="1" baseline="30000" dirty="0">
                    <a:solidFill>
                      <a:srgbClr val="C00000"/>
                    </a:solidFill>
                    <a:latin typeface="宋体"/>
                    <a:ea typeface="宋体"/>
                  </a:rPr>
                  <a:t>*</a:t>
                </a:r>
                <a:r>
                  <a:rPr lang="en-US" altLang="zh-CN" sz="2400" b="1" i="1" dirty="0">
                    <a:solidFill>
                      <a:srgbClr val="00000C"/>
                    </a:solidFill>
                  </a:rPr>
                  <a:t>   b*</a:t>
                </a:r>
                <a:r>
                  <a:rPr lang="en-US" altLang="zh-CN" sz="2400" dirty="0">
                    <a:solidFill>
                      <a:srgbClr val="00000C"/>
                    </a:solidFill>
                  </a:rPr>
                  <a:t>]</a:t>
                </a:r>
                <a:endParaRPr lang="zh-CN" altLang="en-US" sz="2400" dirty="0">
                  <a:solidFill>
                    <a:srgbClr val="00000C"/>
                  </a:solidFill>
                </a:endParaRPr>
              </a:p>
            </p:txBody>
          </p:sp>
          <p:sp>
            <p:nvSpPr>
              <p:cNvPr id="57" name="矩形 5"/>
              <p:cNvSpPr/>
              <p:nvPr/>
            </p:nvSpPr>
            <p:spPr>
              <a:xfrm>
                <a:off x="2699792" y="1527175"/>
                <a:ext cx="3227165" cy="461665"/>
              </a:xfrm>
              <a:prstGeom prst="rect">
                <a:avLst/>
              </a:prstGeom>
            </p:spPr>
            <p:txBody>
              <a:bodyPr wrap="none">
                <a:spAutoFit/>
              </a:bodyPr>
              <a:lstStyle/>
              <a:p>
                <a:r>
                  <a:rPr lang="en-US" altLang="zh-CN" sz="2400" dirty="0">
                    <a:solidFill>
                      <a:srgbClr val="00000C"/>
                    </a:solidFill>
                  </a:rPr>
                  <a:t>0  </a:t>
                </a:r>
                <a:r>
                  <a:rPr lang="en-US" altLang="zh-CN" sz="2400" dirty="0" err="1">
                    <a:solidFill>
                      <a:srgbClr val="00000C"/>
                    </a:solidFill>
                  </a:rPr>
                  <a:t>0</a:t>
                </a:r>
                <a:r>
                  <a:rPr lang="en-US" altLang="zh-CN" sz="2400" dirty="0">
                    <a:solidFill>
                      <a:srgbClr val="00000C"/>
                    </a:solidFill>
                  </a:rPr>
                  <a:t>    1   1/3   -1/3    2</a:t>
                </a:r>
                <a:endParaRPr lang="zh-CN" altLang="en-US" sz="2400" dirty="0">
                  <a:solidFill>
                    <a:srgbClr val="00000C"/>
                  </a:solidFill>
                </a:endParaRPr>
              </a:p>
            </p:txBody>
          </p:sp>
          <p:sp>
            <p:nvSpPr>
              <p:cNvPr id="58" name="矩形 6"/>
              <p:cNvSpPr/>
              <p:nvPr/>
            </p:nvSpPr>
            <p:spPr>
              <a:xfrm>
                <a:off x="2699792" y="1887215"/>
                <a:ext cx="3219151" cy="461665"/>
              </a:xfrm>
              <a:prstGeom prst="rect">
                <a:avLst/>
              </a:prstGeom>
            </p:spPr>
            <p:txBody>
              <a:bodyPr wrap="none">
                <a:spAutoFit/>
              </a:bodyPr>
              <a:lstStyle/>
              <a:p>
                <a:r>
                  <a:rPr lang="en-US" altLang="zh-CN" sz="2400" dirty="0">
                    <a:solidFill>
                      <a:srgbClr val="00000C"/>
                    </a:solidFill>
                  </a:rPr>
                  <a:t>0  1    0   1/2      0      6</a:t>
                </a:r>
                <a:endParaRPr lang="zh-CN" altLang="en-US" sz="2400" dirty="0">
                  <a:solidFill>
                    <a:srgbClr val="00000C"/>
                  </a:solidFill>
                </a:endParaRPr>
              </a:p>
            </p:txBody>
          </p:sp>
          <p:sp>
            <p:nvSpPr>
              <p:cNvPr id="59" name="矩形 7"/>
              <p:cNvSpPr/>
              <p:nvPr/>
            </p:nvSpPr>
            <p:spPr>
              <a:xfrm>
                <a:off x="2699792" y="2319263"/>
                <a:ext cx="3227165" cy="461665"/>
              </a:xfrm>
              <a:prstGeom prst="rect">
                <a:avLst/>
              </a:prstGeom>
            </p:spPr>
            <p:txBody>
              <a:bodyPr wrap="none">
                <a:spAutoFit/>
              </a:bodyPr>
              <a:lstStyle/>
              <a:p>
                <a:r>
                  <a:rPr lang="en-US" altLang="zh-CN" sz="2400" dirty="0">
                    <a:solidFill>
                      <a:srgbClr val="00000C"/>
                    </a:solidFill>
                  </a:rPr>
                  <a:t>1  0    </a:t>
                </a:r>
                <a:r>
                  <a:rPr lang="en-US" altLang="zh-CN" sz="2400" dirty="0" err="1">
                    <a:solidFill>
                      <a:srgbClr val="00000C"/>
                    </a:solidFill>
                  </a:rPr>
                  <a:t>0</a:t>
                </a:r>
                <a:r>
                  <a:rPr lang="en-US" altLang="zh-CN" sz="2400" dirty="0">
                    <a:solidFill>
                      <a:srgbClr val="00000C"/>
                    </a:solidFill>
                  </a:rPr>
                  <a:t>  -1/3    1/3    2</a:t>
                </a:r>
                <a:endParaRPr lang="zh-CN" altLang="en-US" sz="2400" dirty="0">
                  <a:solidFill>
                    <a:srgbClr val="00000C"/>
                  </a:solidFill>
                </a:endParaRPr>
              </a:p>
            </p:txBody>
          </p:sp>
          <p:sp>
            <p:nvSpPr>
              <p:cNvPr id="60" name="双括号 8"/>
              <p:cNvSpPr/>
              <p:nvPr/>
            </p:nvSpPr>
            <p:spPr bwMode="auto">
              <a:xfrm>
                <a:off x="2627784" y="1527175"/>
                <a:ext cx="3015952" cy="122413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37" name="矩形 36"/>
            <p:cNvSpPr/>
            <p:nvPr/>
          </p:nvSpPr>
          <p:spPr>
            <a:xfrm>
              <a:off x="3298111" y="5955743"/>
              <a:ext cx="389850" cy="461665"/>
            </a:xfrm>
            <a:prstGeom prst="rect">
              <a:avLst/>
            </a:prstGeom>
          </p:spPr>
          <p:txBody>
            <a:bodyPr wrap="none">
              <a:spAutoFit/>
            </a:bodyPr>
            <a:lstStyle/>
            <a:p>
              <a:r>
                <a:rPr lang="en-US" altLang="zh-CN" sz="2400" dirty="0">
                  <a:solidFill>
                    <a:srgbClr val="00000C"/>
                  </a:solidFill>
                </a:rPr>
                <a:t>=</a:t>
              </a:r>
              <a:endParaRPr lang="zh-CN" altLang="en-US" sz="2400" dirty="0">
                <a:solidFill>
                  <a:srgbClr val="00000C"/>
                </a:solidFill>
              </a:endParaRPr>
            </a:p>
          </p:txBody>
        </p:sp>
        <p:grpSp>
          <p:nvGrpSpPr>
            <p:cNvPr id="38" name="组合 16"/>
            <p:cNvGrpSpPr/>
            <p:nvPr/>
          </p:nvGrpSpPr>
          <p:grpSpPr>
            <a:xfrm>
              <a:off x="2785671" y="5811727"/>
              <a:ext cx="520364" cy="821705"/>
              <a:chOff x="1779996" y="2564904"/>
              <a:chExt cx="520364" cy="821705"/>
            </a:xfrm>
          </p:grpSpPr>
          <p:sp>
            <p:nvSpPr>
              <p:cNvPr id="53" name="矩形 52"/>
              <p:cNvSpPr/>
              <p:nvPr/>
            </p:nvSpPr>
            <p:spPr>
              <a:xfrm>
                <a:off x="1779996" y="2924944"/>
                <a:ext cx="490840" cy="461665"/>
              </a:xfrm>
              <a:prstGeom prst="rect">
                <a:avLst/>
              </a:prstGeom>
            </p:spPr>
            <p:txBody>
              <a:bodyPr wrap="none">
                <a:spAutoFit/>
              </a:bodyPr>
              <a:lstStyle/>
              <a:p>
                <a:r>
                  <a:rPr lang="en-US" altLang="zh-CN" sz="2400" b="1" i="1" dirty="0">
                    <a:solidFill>
                      <a:srgbClr val="00000C"/>
                    </a:solidFill>
                  </a:rPr>
                  <a:t>T*</a:t>
                </a:r>
                <a:endParaRPr lang="zh-CN" altLang="en-US" sz="2400" b="1" i="1" dirty="0">
                  <a:solidFill>
                    <a:srgbClr val="00000C"/>
                  </a:solidFill>
                </a:endParaRPr>
              </a:p>
            </p:txBody>
          </p:sp>
          <p:sp>
            <p:nvSpPr>
              <p:cNvPr id="54" name="矩形 53"/>
              <p:cNvSpPr/>
              <p:nvPr/>
            </p:nvSpPr>
            <p:spPr>
              <a:xfrm>
                <a:off x="1852004" y="2564904"/>
                <a:ext cx="428322" cy="461665"/>
              </a:xfrm>
              <a:prstGeom prst="rect">
                <a:avLst/>
              </a:prstGeom>
            </p:spPr>
            <p:txBody>
              <a:bodyPr wrap="none">
                <a:spAutoFit/>
              </a:bodyPr>
              <a:lstStyle/>
              <a:p>
                <a:r>
                  <a:rPr lang="en-US" altLang="zh-CN" sz="2400" b="1" i="1" dirty="0">
                    <a:solidFill>
                      <a:srgbClr val="00000C"/>
                    </a:solidFill>
                  </a:rPr>
                  <a:t>t*</a:t>
                </a:r>
                <a:endParaRPr lang="zh-CN" altLang="en-US" sz="2400" b="1" i="1" dirty="0">
                  <a:solidFill>
                    <a:srgbClr val="00000C"/>
                  </a:solidFill>
                </a:endParaRPr>
              </a:p>
            </p:txBody>
          </p:sp>
          <p:sp>
            <p:nvSpPr>
              <p:cNvPr id="55" name="双括号 54"/>
              <p:cNvSpPr/>
              <p:nvPr/>
            </p:nvSpPr>
            <p:spPr bwMode="auto">
              <a:xfrm>
                <a:off x="1852004" y="2636912"/>
                <a:ext cx="448356" cy="720080"/>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grpSp>
          <p:nvGrpSpPr>
            <p:cNvPr id="39" name="组合 20"/>
            <p:cNvGrpSpPr/>
            <p:nvPr/>
          </p:nvGrpSpPr>
          <p:grpSpPr>
            <a:xfrm>
              <a:off x="3658151" y="5883735"/>
              <a:ext cx="2292615" cy="815242"/>
              <a:chOff x="2843808" y="2708920"/>
              <a:chExt cx="2292615" cy="815242"/>
            </a:xfrm>
          </p:grpSpPr>
          <p:sp>
            <p:nvSpPr>
              <p:cNvPr id="50" name="矩形 49"/>
              <p:cNvSpPr/>
              <p:nvPr/>
            </p:nvSpPr>
            <p:spPr>
              <a:xfrm>
                <a:off x="2843808" y="2708920"/>
                <a:ext cx="2273379" cy="461665"/>
              </a:xfrm>
              <a:prstGeom prst="rect">
                <a:avLst/>
              </a:prstGeom>
            </p:spPr>
            <p:txBody>
              <a:bodyPr wrap="none">
                <a:spAutoFit/>
              </a:bodyPr>
              <a:lstStyle/>
              <a:p>
                <a:r>
                  <a:rPr lang="en-US" altLang="zh-CN" sz="2400" b="1" i="1" dirty="0">
                    <a:solidFill>
                      <a:srgbClr val="00000C"/>
                    </a:solidFill>
                  </a:rPr>
                  <a:t>z* </a:t>
                </a:r>
                <a:r>
                  <a:rPr lang="en-US" altLang="zh-CN" sz="2400" dirty="0">
                    <a:solidFill>
                      <a:srgbClr val="00000C"/>
                    </a:solidFill>
                  </a:rPr>
                  <a:t>-</a:t>
                </a:r>
                <a:r>
                  <a:rPr lang="en-US" altLang="zh-CN" sz="2400" b="1" i="1" dirty="0">
                    <a:solidFill>
                      <a:srgbClr val="00000C"/>
                    </a:solidFill>
                  </a:rPr>
                  <a:t>c</a:t>
                </a:r>
                <a:r>
                  <a:rPr lang="en-US" altLang="zh-CN" sz="2400" dirty="0">
                    <a:solidFill>
                      <a:srgbClr val="00000C"/>
                    </a:solidFill>
                  </a:rPr>
                  <a:t>     </a:t>
                </a:r>
                <a:r>
                  <a:rPr lang="en-US" altLang="zh-CN" sz="2400" b="1" i="1" dirty="0">
                    <a:solidFill>
                      <a:srgbClr val="00000C"/>
                    </a:solidFill>
                  </a:rPr>
                  <a:t>y*</a:t>
                </a:r>
                <a:r>
                  <a:rPr lang="en-US" altLang="zh-CN" sz="2400" dirty="0">
                    <a:solidFill>
                      <a:srgbClr val="00000C"/>
                    </a:solidFill>
                  </a:rPr>
                  <a:t>    z</a:t>
                </a:r>
                <a:r>
                  <a:rPr lang="en-US" altLang="zh-CN" sz="2400" baseline="-25000" dirty="0">
                    <a:solidFill>
                      <a:srgbClr val="00000C"/>
                    </a:solidFill>
                  </a:rPr>
                  <a:t>0</a:t>
                </a:r>
                <a:r>
                  <a:rPr lang="en-US" altLang="zh-CN" sz="2400" dirty="0">
                    <a:solidFill>
                      <a:srgbClr val="00000C"/>
                    </a:solidFill>
                  </a:rPr>
                  <a:t>*</a:t>
                </a:r>
                <a:endParaRPr lang="zh-CN" altLang="en-US" sz="2400" dirty="0"/>
              </a:p>
            </p:txBody>
          </p:sp>
          <p:sp>
            <p:nvSpPr>
              <p:cNvPr id="51" name="矩形 50"/>
              <p:cNvSpPr/>
              <p:nvPr/>
            </p:nvSpPr>
            <p:spPr>
              <a:xfrm>
                <a:off x="2843808" y="3062497"/>
                <a:ext cx="2292615" cy="461665"/>
              </a:xfrm>
              <a:prstGeom prst="rect">
                <a:avLst/>
              </a:prstGeom>
            </p:spPr>
            <p:txBody>
              <a:bodyPr wrap="none">
                <a:spAutoFit/>
              </a:bodyPr>
              <a:lstStyle/>
              <a:p>
                <a:r>
                  <a:rPr lang="en-US" altLang="zh-CN" sz="2400" b="1" i="1" dirty="0">
                    <a:solidFill>
                      <a:srgbClr val="00000C"/>
                    </a:solidFill>
                  </a:rPr>
                  <a:t>A*        </a:t>
                </a:r>
                <a:r>
                  <a:rPr lang="en-US" altLang="zh-CN" sz="2400" b="1" i="1" dirty="0">
                    <a:solidFill>
                      <a:srgbClr val="00000C"/>
                    </a:solidFill>
                    <a:latin typeface="宋体"/>
                    <a:ea typeface="宋体"/>
                  </a:rPr>
                  <a:t>S</a:t>
                </a:r>
                <a:r>
                  <a:rPr lang="en-US" altLang="zh-CN" sz="2400" b="1" i="1" baseline="30000" dirty="0">
                    <a:solidFill>
                      <a:srgbClr val="00000C"/>
                    </a:solidFill>
                    <a:latin typeface="宋体"/>
                    <a:ea typeface="宋体"/>
                  </a:rPr>
                  <a:t>*</a:t>
                </a:r>
                <a:r>
                  <a:rPr lang="en-US" altLang="zh-CN" sz="2400" b="1" i="1" dirty="0">
                    <a:solidFill>
                      <a:srgbClr val="00000C"/>
                    </a:solidFill>
                  </a:rPr>
                  <a:t>      b*</a:t>
                </a:r>
                <a:endParaRPr lang="zh-CN" altLang="en-US" sz="2400" b="1" i="1" dirty="0"/>
              </a:p>
            </p:txBody>
          </p:sp>
          <p:sp>
            <p:nvSpPr>
              <p:cNvPr id="52" name="双括号 51"/>
              <p:cNvSpPr/>
              <p:nvPr/>
            </p:nvSpPr>
            <p:spPr bwMode="auto">
              <a:xfrm>
                <a:off x="2843808" y="2780928"/>
                <a:ext cx="2079848" cy="648072"/>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cxnSp>
          <p:nvCxnSpPr>
            <p:cNvPr id="40" name="直接连接符 39"/>
            <p:cNvCxnSpPr/>
            <p:nvPr/>
          </p:nvCxnSpPr>
          <p:spPr bwMode="auto">
            <a:xfrm>
              <a:off x="4081879" y="4329176"/>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p:cNvCxnSpPr/>
            <p:nvPr/>
          </p:nvCxnSpPr>
          <p:spPr bwMode="auto">
            <a:xfrm>
              <a:off x="5441647" y="4329176"/>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p:cNvCxnSpPr/>
            <p:nvPr/>
          </p:nvCxnSpPr>
          <p:spPr bwMode="auto">
            <a:xfrm>
              <a:off x="4009871" y="4797152"/>
              <a:ext cx="0" cy="1080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p:cNvCxnSpPr/>
            <p:nvPr/>
          </p:nvCxnSpPr>
          <p:spPr bwMode="auto">
            <a:xfrm>
              <a:off x="5729679" y="4797272"/>
              <a:ext cx="0" cy="1080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p:cNvCxnSpPr/>
            <p:nvPr/>
          </p:nvCxnSpPr>
          <p:spPr bwMode="auto">
            <a:xfrm>
              <a:off x="4513863" y="5985360"/>
              <a:ext cx="0" cy="684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5161935" y="5985360"/>
              <a:ext cx="0" cy="684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auto">
            <a:xfrm>
              <a:off x="7265987" y="5049256"/>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p:nvPr/>
          </p:nvCxnSpPr>
          <p:spPr bwMode="auto">
            <a:xfrm>
              <a:off x="7690387" y="5049256"/>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7495685" y="4329176"/>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6955019" y="4329176"/>
              <a:ext cx="0" cy="36004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下箭头 63"/>
          <p:cNvSpPr/>
          <p:nvPr/>
        </p:nvSpPr>
        <p:spPr bwMode="auto">
          <a:xfrm>
            <a:off x="7656397" y="3399411"/>
            <a:ext cx="710181" cy="1008112"/>
          </a:xfrm>
          <a:prstGeom prst="down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61" name="矩形 60"/>
          <p:cNvSpPr/>
          <p:nvPr/>
        </p:nvSpPr>
        <p:spPr>
          <a:xfrm>
            <a:off x="8322107" y="3695572"/>
            <a:ext cx="2852063" cy="584775"/>
          </a:xfrm>
          <a:prstGeom prst="rect">
            <a:avLst/>
          </a:prstGeom>
        </p:spPr>
        <p:txBody>
          <a:bodyPr wrap="none">
            <a:spAutoFit/>
          </a:bodyPr>
          <a:lstStyle/>
          <a:p>
            <a:r>
              <a:rPr lang="zh-CN" altLang="en-US" sz="3200" dirty="0">
                <a:solidFill>
                  <a:srgbClr val="FF0000"/>
                </a:solidFill>
              </a:rPr>
              <a:t>高斯</a:t>
            </a:r>
            <a:r>
              <a:rPr lang="en-US" altLang="zh-CN" sz="3200" dirty="0">
                <a:solidFill>
                  <a:srgbClr val="FF0000"/>
                </a:solidFill>
              </a:rPr>
              <a:t>-</a:t>
            </a:r>
            <a:r>
              <a:rPr lang="zh-CN" altLang="en-US" sz="3200" dirty="0">
                <a:solidFill>
                  <a:srgbClr val="FF0000"/>
                </a:solidFill>
              </a:rPr>
              <a:t>约当方法</a:t>
            </a:r>
            <a:endParaRPr lang="zh-CN" altLang="en-US" sz="3200" dirty="0">
              <a:solidFill>
                <a:srgbClr val="FF0000"/>
              </a:solidFill>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3200" y="223813"/>
            <a:ext cx="11150600" cy="793750"/>
          </a:xfrm>
        </p:spPr>
        <p:txBody>
          <a:bodyPr>
            <a:noAutofit/>
          </a:bodyPr>
          <a:lstStyle/>
          <a:p>
            <a:r>
              <a:rPr lang="zh-CN" altLang="en-US" sz="3200" dirty="0">
                <a:solidFill>
                  <a:srgbClr val="00000C"/>
                </a:solidFill>
              </a:rPr>
              <a:t>定理：研究上表表明了单纯形法的以下</a:t>
            </a:r>
            <a:r>
              <a:rPr lang="en-US" altLang="zh-CN" sz="3200" dirty="0">
                <a:solidFill>
                  <a:srgbClr val="00000C"/>
                </a:solidFill>
              </a:rPr>
              <a:t>2</a:t>
            </a:r>
            <a:r>
              <a:rPr lang="zh-CN" altLang="en-US" sz="3200" dirty="0">
                <a:solidFill>
                  <a:srgbClr val="00000C"/>
                </a:solidFill>
              </a:rPr>
              <a:t>个基本性质</a:t>
            </a:r>
            <a:endParaRPr lang="zh-CN" altLang="en-US" sz="3200" dirty="0">
              <a:solidFill>
                <a:srgbClr val="00000C"/>
              </a:solidFill>
            </a:endParaRPr>
          </a:p>
        </p:txBody>
      </p:sp>
      <p:sp>
        <p:nvSpPr>
          <p:cNvPr id="3" name="内容占位符 2"/>
          <p:cNvSpPr>
            <a:spLocks noGrp="1"/>
          </p:cNvSpPr>
          <p:nvPr>
            <p:ph idx="1"/>
          </p:nvPr>
        </p:nvSpPr>
        <p:spPr>
          <a:xfrm>
            <a:off x="203200" y="1017563"/>
            <a:ext cx="11633199" cy="5628640"/>
          </a:xfrm>
        </p:spPr>
        <p:txBody>
          <a:bodyPr>
            <a:normAutofit fontScale="92500" lnSpcReduction="20000"/>
          </a:bodyPr>
          <a:lstStyle/>
          <a:p>
            <a:pPr>
              <a:lnSpc>
                <a:spcPct val="150000"/>
              </a:lnSpc>
              <a:buNone/>
            </a:pPr>
            <a:r>
              <a:rPr lang="en-US" altLang="zh-CN" b="1" i="1" dirty="0">
                <a:solidFill>
                  <a:srgbClr val="00000C"/>
                </a:solidFill>
              </a:rPr>
              <a:t>T* </a:t>
            </a:r>
            <a:r>
              <a:rPr lang="en-US" altLang="zh-CN" dirty="0">
                <a:solidFill>
                  <a:srgbClr val="00000C"/>
                </a:solidFill>
              </a:rPr>
              <a:t>= </a:t>
            </a:r>
            <a:r>
              <a:rPr lang="en-US" altLang="zh-CN" b="1" i="1" dirty="0">
                <a:solidFill>
                  <a:srgbClr val="0000AC"/>
                </a:solidFill>
              </a:rPr>
              <a:t>S*</a:t>
            </a:r>
            <a:r>
              <a:rPr lang="en-US" altLang="zh-CN" b="1" i="1" dirty="0">
                <a:solidFill>
                  <a:srgbClr val="00000C"/>
                </a:solidFill>
              </a:rPr>
              <a:t>T</a:t>
            </a:r>
            <a:r>
              <a:rPr lang="en-US" altLang="zh-CN" dirty="0">
                <a:solidFill>
                  <a:srgbClr val="00000C"/>
                </a:solidFill>
              </a:rPr>
              <a:t> = [</a:t>
            </a:r>
            <a:r>
              <a:rPr lang="en-US" altLang="zh-CN" b="1" i="1" dirty="0">
                <a:solidFill>
                  <a:srgbClr val="00000C"/>
                </a:solidFill>
              </a:rPr>
              <a:t>S*A</a:t>
            </a:r>
            <a:r>
              <a:rPr lang="en-US" altLang="zh-CN" dirty="0">
                <a:solidFill>
                  <a:srgbClr val="00000C"/>
                </a:solidFill>
              </a:rPr>
              <a:t>   </a:t>
            </a:r>
            <a:r>
              <a:rPr lang="en-US" altLang="zh-CN" b="1" i="1" dirty="0">
                <a:solidFill>
                  <a:srgbClr val="0000AC"/>
                </a:solidFill>
              </a:rPr>
              <a:t>S*</a:t>
            </a:r>
            <a:r>
              <a:rPr lang="en-US" altLang="zh-CN" dirty="0">
                <a:solidFill>
                  <a:srgbClr val="0000AC"/>
                </a:solidFill>
              </a:rPr>
              <a:t>   </a:t>
            </a:r>
            <a:r>
              <a:rPr lang="en-US" altLang="zh-CN" b="1" i="1" dirty="0" err="1">
                <a:solidFill>
                  <a:srgbClr val="00000C"/>
                </a:solidFill>
              </a:rPr>
              <a:t>S</a:t>
            </a:r>
            <a:r>
              <a:rPr lang="en-US" altLang="zh-CN" b="1" i="1" dirty="0">
                <a:solidFill>
                  <a:srgbClr val="00000C"/>
                </a:solidFill>
              </a:rPr>
              <a:t>*b</a:t>
            </a:r>
            <a:r>
              <a:rPr lang="en-US" altLang="zh-CN" dirty="0">
                <a:solidFill>
                  <a:srgbClr val="00000C"/>
                </a:solidFill>
              </a:rPr>
              <a:t>]</a:t>
            </a:r>
            <a:r>
              <a:rPr lang="zh-CN" altLang="en-US" dirty="0">
                <a:solidFill>
                  <a:srgbClr val="00000C"/>
                </a:solidFill>
              </a:rPr>
              <a:t>单纯形法的行运算等于</a:t>
            </a:r>
            <a:r>
              <a:rPr lang="en-US" altLang="zh-CN" b="1" i="1" dirty="0">
                <a:solidFill>
                  <a:srgbClr val="00000C"/>
                </a:solidFill>
              </a:rPr>
              <a:t>T</a:t>
            </a:r>
            <a:r>
              <a:rPr lang="zh-CN" altLang="en-US" dirty="0">
                <a:solidFill>
                  <a:srgbClr val="00000C"/>
                </a:solidFill>
              </a:rPr>
              <a:t>左乘矩阵</a:t>
            </a:r>
            <a:r>
              <a:rPr lang="en-US" altLang="zh-CN" b="1" i="1" dirty="0">
                <a:solidFill>
                  <a:srgbClr val="0000AC"/>
                </a:solidFill>
              </a:rPr>
              <a:t>S*</a:t>
            </a:r>
            <a:r>
              <a:rPr lang="zh-CN" altLang="en-US" dirty="0">
                <a:solidFill>
                  <a:srgbClr val="00000C"/>
                </a:solidFill>
              </a:rPr>
              <a:t>。</a:t>
            </a:r>
            <a:endParaRPr lang="en-US" altLang="zh-CN" dirty="0">
              <a:solidFill>
                <a:srgbClr val="00000C"/>
              </a:solidFill>
            </a:endParaRPr>
          </a:p>
          <a:p>
            <a:pPr>
              <a:lnSpc>
                <a:spcPct val="150000"/>
              </a:lnSpc>
              <a:buNone/>
            </a:pPr>
            <a:r>
              <a:rPr lang="en-US" altLang="zh-CN" b="1" i="1" dirty="0">
                <a:solidFill>
                  <a:srgbClr val="00000C"/>
                </a:solidFill>
              </a:rPr>
              <a:t>t* </a:t>
            </a:r>
            <a:r>
              <a:rPr lang="en-US" altLang="zh-CN" dirty="0">
                <a:solidFill>
                  <a:srgbClr val="00000C"/>
                </a:solidFill>
              </a:rPr>
              <a:t>= </a:t>
            </a:r>
            <a:r>
              <a:rPr lang="en-US" altLang="zh-CN" b="1" i="1" dirty="0" err="1">
                <a:solidFill>
                  <a:srgbClr val="00000C"/>
                </a:solidFill>
              </a:rPr>
              <a:t>t</a:t>
            </a:r>
            <a:r>
              <a:rPr lang="en-US" altLang="zh-CN" dirty="0">
                <a:solidFill>
                  <a:srgbClr val="00000C"/>
                </a:solidFill>
              </a:rPr>
              <a:t> + </a:t>
            </a:r>
            <a:r>
              <a:rPr lang="en-US" altLang="zh-CN" b="1" i="1" dirty="0">
                <a:solidFill>
                  <a:srgbClr val="0000AC"/>
                </a:solidFill>
              </a:rPr>
              <a:t>y*</a:t>
            </a:r>
            <a:r>
              <a:rPr lang="en-US" altLang="zh-CN" b="1" i="1" dirty="0">
                <a:solidFill>
                  <a:srgbClr val="00000C"/>
                </a:solidFill>
              </a:rPr>
              <a:t>T</a:t>
            </a:r>
            <a:r>
              <a:rPr lang="en-US" altLang="zh-CN" dirty="0">
                <a:solidFill>
                  <a:srgbClr val="00000C"/>
                </a:solidFill>
              </a:rPr>
              <a:t> = [</a:t>
            </a:r>
            <a:r>
              <a:rPr lang="en-US" altLang="zh-CN" b="1" i="1" dirty="0">
                <a:solidFill>
                  <a:srgbClr val="00000C"/>
                </a:solidFill>
              </a:rPr>
              <a:t>y*A-c</a:t>
            </a:r>
            <a:r>
              <a:rPr lang="en-US" altLang="zh-CN" dirty="0">
                <a:solidFill>
                  <a:srgbClr val="00000C"/>
                </a:solidFill>
              </a:rPr>
              <a:t>    </a:t>
            </a:r>
            <a:r>
              <a:rPr lang="en-US" altLang="zh-CN" b="1" i="1" dirty="0">
                <a:solidFill>
                  <a:srgbClr val="0000AC"/>
                </a:solidFill>
              </a:rPr>
              <a:t>y*</a:t>
            </a:r>
            <a:r>
              <a:rPr lang="en-US" altLang="zh-CN" dirty="0">
                <a:solidFill>
                  <a:srgbClr val="0000AC"/>
                </a:solidFill>
              </a:rPr>
              <a:t>    </a:t>
            </a:r>
            <a:r>
              <a:rPr lang="en-US" altLang="zh-CN" b="1" i="1" dirty="0" err="1">
                <a:solidFill>
                  <a:srgbClr val="00000C"/>
                </a:solidFill>
              </a:rPr>
              <a:t>y</a:t>
            </a:r>
            <a:r>
              <a:rPr lang="en-US" altLang="zh-CN" b="1" i="1" dirty="0">
                <a:solidFill>
                  <a:srgbClr val="00000C"/>
                </a:solidFill>
              </a:rPr>
              <a:t>*b </a:t>
            </a:r>
            <a:r>
              <a:rPr lang="en-US" altLang="zh-CN" dirty="0">
                <a:solidFill>
                  <a:srgbClr val="00000C"/>
                </a:solidFill>
              </a:rPr>
              <a:t>+ z</a:t>
            </a:r>
            <a:r>
              <a:rPr lang="en-US" altLang="zh-CN" baseline="-25000" dirty="0">
                <a:solidFill>
                  <a:srgbClr val="00000C"/>
                </a:solidFill>
              </a:rPr>
              <a:t>0</a:t>
            </a:r>
            <a:r>
              <a:rPr lang="en-US" altLang="zh-CN" dirty="0">
                <a:solidFill>
                  <a:srgbClr val="00000C"/>
                </a:solidFill>
              </a:rPr>
              <a:t>]</a:t>
            </a:r>
            <a:r>
              <a:rPr lang="zh-CN" altLang="en-US" dirty="0">
                <a:solidFill>
                  <a:srgbClr val="00000C"/>
                </a:solidFill>
              </a:rPr>
              <a:t>单纯形法的代数步骤意味着行</a:t>
            </a:r>
            <a:r>
              <a:rPr lang="en-US" altLang="zh-CN" dirty="0">
                <a:solidFill>
                  <a:srgbClr val="00000C"/>
                </a:solidFill>
              </a:rPr>
              <a:t>0</a:t>
            </a:r>
            <a:r>
              <a:rPr lang="zh-CN" altLang="en-US" dirty="0">
                <a:solidFill>
                  <a:srgbClr val="00000C"/>
                </a:solidFill>
              </a:rPr>
              <a:t>的运算是</a:t>
            </a:r>
            <a:r>
              <a:rPr lang="en-US" altLang="zh-CN" b="1" i="1" dirty="0">
                <a:solidFill>
                  <a:srgbClr val="00000C"/>
                </a:solidFill>
              </a:rPr>
              <a:t>T</a:t>
            </a:r>
            <a:r>
              <a:rPr lang="zh-CN" altLang="en-US" dirty="0">
                <a:solidFill>
                  <a:srgbClr val="00000C"/>
                </a:solidFill>
              </a:rPr>
              <a:t>的一些线性组合加到</a:t>
            </a:r>
            <a:r>
              <a:rPr lang="en-US" altLang="zh-CN" b="1" i="1" dirty="0">
                <a:solidFill>
                  <a:srgbClr val="00000C"/>
                </a:solidFill>
              </a:rPr>
              <a:t>t</a:t>
            </a:r>
            <a:r>
              <a:rPr lang="zh-CN" altLang="en-US" dirty="0">
                <a:solidFill>
                  <a:srgbClr val="00000C"/>
                </a:solidFill>
              </a:rPr>
              <a:t>中去，等价于</a:t>
            </a:r>
            <a:r>
              <a:rPr lang="en-US" altLang="zh-CN" b="1" i="1" dirty="0">
                <a:solidFill>
                  <a:srgbClr val="00000C"/>
                </a:solidFill>
              </a:rPr>
              <a:t>T</a:t>
            </a:r>
            <a:r>
              <a:rPr lang="zh-CN" altLang="en-US" dirty="0">
                <a:solidFill>
                  <a:srgbClr val="00000C"/>
                </a:solidFill>
              </a:rPr>
              <a:t>左乘</a:t>
            </a:r>
            <a:r>
              <a:rPr lang="en-US" altLang="zh-CN" b="1" i="1" dirty="0">
                <a:solidFill>
                  <a:srgbClr val="0000AC"/>
                </a:solidFill>
              </a:rPr>
              <a:t>y*</a:t>
            </a:r>
            <a:r>
              <a:rPr lang="zh-CN" altLang="en-US" dirty="0">
                <a:solidFill>
                  <a:srgbClr val="00000C"/>
                </a:solidFill>
              </a:rPr>
              <a:t>后加到</a:t>
            </a:r>
            <a:r>
              <a:rPr lang="en-US" altLang="zh-CN" b="1" i="1" dirty="0">
                <a:solidFill>
                  <a:srgbClr val="00000C"/>
                </a:solidFill>
              </a:rPr>
              <a:t>t</a:t>
            </a:r>
            <a:r>
              <a:rPr lang="zh-CN" altLang="en-US" dirty="0">
                <a:solidFill>
                  <a:srgbClr val="00000C"/>
                </a:solidFill>
              </a:rPr>
              <a:t>中。</a:t>
            </a:r>
            <a:endParaRPr lang="en-US" altLang="zh-CN" dirty="0">
              <a:solidFill>
                <a:srgbClr val="00000C"/>
              </a:solidFill>
            </a:endParaRPr>
          </a:p>
          <a:p>
            <a:pPr>
              <a:lnSpc>
                <a:spcPct val="150000"/>
              </a:lnSpc>
              <a:buNone/>
            </a:pPr>
            <a:r>
              <a:rPr lang="zh-CN" altLang="en-US" dirty="0">
                <a:solidFill>
                  <a:srgbClr val="00000C"/>
                </a:solidFill>
              </a:rPr>
              <a:t>由</a:t>
            </a:r>
            <a:r>
              <a:rPr lang="en-US" altLang="zh-CN" dirty="0">
                <a:solidFill>
                  <a:srgbClr val="00000C"/>
                </a:solidFill>
              </a:rPr>
              <a:t>Gauss</a:t>
            </a:r>
            <a:r>
              <a:rPr lang="zh-CN" altLang="en-US" dirty="0">
                <a:solidFill>
                  <a:srgbClr val="00000C"/>
                </a:solidFill>
              </a:rPr>
              <a:t>消元法可知，此</a:t>
            </a:r>
            <a:r>
              <a:rPr lang="en-US" altLang="zh-CN" dirty="0">
                <a:solidFill>
                  <a:srgbClr val="00000C"/>
                </a:solidFill>
              </a:rPr>
              <a:t>2</a:t>
            </a:r>
            <a:r>
              <a:rPr lang="zh-CN" altLang="en-US" dirty="0">
                <a:solidFill>
                  <a:srgbClr val="00000C"/>
                </a:solidFill>
              </a:rPr>
              <a:t>个性质在单纯形法的每次迭代中都成立。</a:t>
            </a:r>
            <a:endParaRPr lang="en-US" altLang="zh-CN" dirty="0">
              <a:solidFill>
                <a:srgbClr val="00000C"/>
              </a:solidFill>
            </a:endParaRPr>
          </a:p>
          <a:p>
            <a:pPr>
              <a:lnSpc>
                <a:spcPct val="150000"/>
              </a:lnSpc>
              <a:buNone/>
            </a:pPr>
            <a:r>
              <a:rPr lang="en-US" altLang="zh-CN" b="1" u="sng" dirty="0">
                <a:solidFill>
                  <a:srgbClr val="00000C"/>
                </a:solidFill>
              </a:rPr>
              <a:t>Gauss</a:t>
            </a:r>
            <a:r>
              <a:rPr lang="zh-CN" altLang="en-US" b="1" u="sng" dirty="0">
                <a:solidFill>
                  <a:srgbClr val="00000C"/>
                </a:solidFill>
              </a:rPr>
              <a:t>消元法 </a:t>
            </a:r>
            <a:r>
              <a:rPr lang="en-US" altLang="zh-CN" b="1" u="sng" dirty="0">
                <a:solidFill>
                  <a:srgbClr val="00000C"/>
                </a:solidFill>
              </a:rPr>
              <a:t>= </a:t>
            </a:r>
            <a:r>
              <a:rPr lang="zh-CN" altLang="en-US" b="1" u="sng" dirty="0">
                <a:solidFill>
                  <a:srgbClr val="00000C"/>
                </a:solidFill>
              </a:rPr>
              <a:t>基本的代数运算</a:t>
            </a:r>
            <a:r>
              <a:rPr lang="zh-CN" altLang="en-US" dirty="0">
                <a:solidFill>
                  <a:srgbClr val="00000C"/>
                </a:solidFill>
              </a:rPr>
              <a:t>：一行乘以一个数，或一行乘上一个数加到另外一行中去，以达到消元求解的目的。</a:t>
            </a:r>
            <a:endParaRPr lang="en-US" altLang="zh-CN" dirty="0">
              <a:solidFill>
                <a:srgbClr val="00000C"/>
              </a:solidFill>
            </a:endParaRPr>
          </a:p>
          <a:p>
            <a:pPr>
              <a:lnSpc>
                <a:spcPct val="150000"/>
              </a:lnSpc>
              <a:buNone/>
            </a:pPr>
            <a:r>
              <a:rPr lang="zh-CN" altLang="en-US" dirty="0">
                <a:solidFill>
                  <a:srgbClr val="00000C"/>
                </a:solidFill>
              </a:rPr>
              <a:t>另外</a:t>
            </a:r>
            <a:r>
              <a:rPr lang="en-US" altLang="zh-CN" dirty="0">
                <a:solidFill>
                  <a:srgbClr val="00000C"/>
                </a:solidFill>
              </a:rPr>
              <a:t>,</a:t>
            </a:r>
            <a:r>
              <a:rPr lang="en-US" altLang="zh-CN" b="1" i="1" dirty="0">
                <a:solidFill>
                  <a:srgbClr val="00000C"/>
                </a:solidFill>
              </a:rPr>
              <a:t> </a:t>
            </a:r>
            <a:r>
              <a:rPr lang="zh-CN" altLang="en-US" dirty="0">
                <a:solidFill>
                  <a:srgbClr val="00000C"/>
                </a:solidFill>
              </a:rPr>
              <a:t>可知</a:t>
            </a:r>
            <a:r>
              <a:rPr lang="en-US" altLang="zh-CN" b="1" i="1" dirty="0">
                <a:solidFill>
                  <a:srgbClr val="00000C"/>
                </a:solidFill>
              </a:rPr>
              <a:t>z*-c  =  </a:t>
            </a:r>
            <a:r>
              <a:rPr lang="en-US" altLang="zh-CN" b="1" i="1" dirty="0">
                <a:solidFill>
                  <a:srgbClr val="0000AC"/>
                </a:solidFill>
              </a:rPr>
              <a:t> y*</a:t>
            </a:r>
            <a:r>
              <a:rPr lang="en-US" altLang="zh-CN" b="1" i="1" dirty="0">
                <a:solidFill>
                  <a:srgbClr val="00000C"/>
                </a:solidFill>
              </a:rPr>
              <a:t>A</a:t>
            </a:r>
            <a:r>
              <a:rPr lang="en-US" altLang="zh-CN" dirty="0">
                <a:solidFill>
                  <a:srgbClr val="00000C"/>
                </a:solidFill>
              </a:rPr>
              <a:t> </a:t>
            </a:r>
            <a:r>
              <a:rPr lang="en-US" altLang="zh-CN" b="1" i="1" dirty="0">
                <a:solidFill>
                  <a:srgbClr val="00000C"/>
                </a:solidFill>
              </a:rPr>
              <a:t>-c </a:t>
            </a:r>
            <a:r>
              <a:rPr lang="en-US" altLang="zh-CN" dirty="0">
                <a:solidFill>
                  <a:srgbClr val="00000C"/>
                </a:solidFill>
              </a:rPr>
              <a:t> ;  z</a:t>
            </a:r>
            <a:r>
              <a:rPr lang="en-US" altLang="zh-CN" baseline="-25000" dirty="0">
                <a:solidFill>
                  <a:srgbClr val="00000C"/>
                </a:solidFill>
              </a:rPr>
              <a:t>0</a:t>
            </a:r>
            <a:r>
              <a:rPr lang="en-US" altLang="zh-CN" dirty="0">
                <a:solidFill>
                  <a:srgbClr val="00000C"/>
                </a:solidFill>
              </a:rPr>
              <a:t>* = </a:t>
            </a:r>
            <a:r>
              <a:rPr lang="en-US" altLang="zh-CN" b="1" i="1" dirty="0">
                <a:solidFill>
                  <a:srgbClr val="0000AC"/>
                </a:solidFill>
              </a:rPr>
              <a:t>y*</a:t>
            </a:r>
            <a:r>
              <a:rPr lang="en-US" altLang="zh-CN" b="1" i="1" dirty="0">
                <a:solidFill>
                  <a:srgbClr val="00000C"/>
                </a:solidFill>
              </a:rPr>
              <a:t>b </a:t>
            </a:r>
            <a:r>
              <a:rPr lang="en-US" altLang="zh-CN" dirty="0">
                <a:solidFill>
                  <a:srgbClr val="00000C"/>
                </a:solidFill>
              </a:rPr>
              <a:t>+ z</a:t>
            </a:r>
            <a:r>
              <a:rPr lang="en-US" altLang="zh-CN" baseline="-25000" dirty="0">
                <a:solidFill>
                  <a:srgbClr val="00000C"/>
                </a:solidFill>
              </a:rPr>
              <a:t>0</a:t>
            </a:r>
            <a:endParaRPr lang="en-US" altLang="zh-CN" baseline="-25000" dirty="0">
              <a:solidFill>
                <a:srgbClr val="00000C"/>
              </a:solidFill>
            </a:endParaRPr>
          </a:p>
          <a:p>
            <a:pPr>
              <a:lnSpc>
                <a:spcPct val="150000"/>
              </a:lnSpc>
              <a:buNone/>
            </a:pPr>
            <a:r>
              <a:rPr lang="zh-CN" altLang="en-US" dirty="0">
                <a:solidFill>
                  <a:srgbClr val="00000C"/>
                </a:solidFill>
              </a:rPr>
              <a:t>可知，</a:t>
            </a:r>
            <a:r>
              <a:rPr lang="zh-CN" altLang="en-US" i="1" dirty="0">
                <a:solidFill>
                  <a:srgbClr val="00000C"/>
                </a:solidFill>
              </a:rPr>
              <a:t>已知最后一个单纯形表中</a:t>
            </a:r>
            <a:r>
              <a:rPr lang="en-US" altLang="zh-CN" b="1" i="1" dirty="0">
                <a:solidFill>
                  <a:srgbClr val="0000AC"/>
                </a:solidFill>
              </a:rPr>
              <a:t>y*</a:t>
            </a:r>
            <a:r>
              <a:rPr lang="zh-CN" altLang="en-US" b="1" i="1" dirty="0">
                <a:solidFill>
                  <a:srgbClr val="0000AC"/>
                </a:solidFill>
              </a:rPr>
              <a:t>和</a:t>
            </a:r>
            <a:r>
              <a:rPr lang="en-US" altLang="zh-CN" b="1" i="1" dirty="0">
                <a:solidFill>
                  <a:srgbClr val="0000AC"/>
                </a:solidFill>
              </a:rPr>
              <a:t>S*</a:t>
            </a:r>
            <a:r>
              <a:rPr lang="zh-CN" altLang="en-US" i="1" dirty="0">
                <a:solidFill>
                  <a:srgbClr val="00000C"/>
                </a:solidFill>
              </a:rPr>
              <a:t>的，就可以用矩阵方法得到其它信息</a:t>
            </a:r>
            <a:r>
              <a:rPr lang="en-US" altLang="zh-CN" i="1" dirty="0">
                <a:solidFill>
                  <a:srgbClr val="00000C"/>
                </a:solidFill>
              </a:rPr>
              <a:t>【</a:t>
            </a:r>
            <a:r>
              <a:rPr lang="zh-CN" altLang="en-US" i="1" dirty="0">
                <a:solidFill>
                  <a:srgbClr val="00000C"/>
                </a:solidFill>
              </a:rPr>
              <a:t>将用到对偶理论中</a:t>
            </a:r>
            <a:r>
              <a:rPr lang="en-US" altLang="zh-CN" i="1" dirty="0">
                <a:solidFill>
                  <a:srgbClr val="00000C"/>
                </a:solidFill>
              </a:rPr>
              <a:t>】</a:t>
            </a:r>
            <a:r>
              <a:rPr lang="zh-CN" altLang="en-US" i="1" dirty="0">
                <a:solidFill>
                  <a:srgbClr val="00000C"/>
                </a:solidFill>
              </a:rPr>
              <a:t>。</a:t>
            </a:r>
            <a:endParaRPr lang="zh-CN" altLang="en-US" i="1" dirty="0">
              <a:solidFill>
                <a:srgbClr val="00000C"/>
              </a:solidFill>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5759" y="136525"/>
            <a:ext cx="10515600" cy="1325563"/>
          </a:xfrm>
        </p:spPr>
        <p:txBody>
          <a:bodyPr/>
          <a:lstStyle/>
          <a:p>
            <a:r>
              <a:rPr lang="zh-CN" altLang="en-US" dirty="0"/>
              <a:t>单纯形法的矩阵方法应用举例</a:t>
            </a:r>
            <a:endParaRPr lang="zh-CN" altLang="en-US" dirty="0"/>
          </a:p>
        </p:txBody>
      </p:sp>
      <p:sp>
        <p:nvSpPr>
          <p:cNvPr id="3" name="内容占位符 2"/>
          <p:cNvSpPr>
            <a:spLocks noGrp="1"/>
          </p:cNvSpPr>
          <p:nvPr>
            <p:ph idx="1"/>
          </p:nvPr>
        </p:nvSpPr>
        <p:spPr>
          <a:xfrm>
            <a:off x="475758" y="1567026"/>
            <a:ext cx="10515599" cy="4903597"/>
          </a:xfrm>
        </p:spPr>
        <p:txBody>
          <a:bodyPr>
            <a:normAutofit/>
          </a:bodyPr>
          <a:lstStyle/>
          <a:p>
            <a:pPr>
              <a:buNone/>
            </a:pPr>
            <a:r>
              <a:rPr lang="zh-CN" altLang="en-US" dirty="0">
                <a:solidFill>
                  <a:srgbClr val="00000C"/>
                </a:solidFill>
              </a:rPr>
              <a:t>考虑线性规划问题</a:t>
            </a:r>
            <a:endParaRPr lang="zh-CN" altLang="en-US" dirty="0">
              <a:solidFill>
                <a:srgbClr val="00000C"/>
              </a:solidFill>
            </a:endParaRPr>
          </a:p>
        </p:txBody>
      </p:sp>
      <p:grpSp>
        <p:nvGrpSpPr>
          <p:cNvPr id="4" name="组合 3"/>
          <p:cNvGrpSpPr/>
          <p:nvPr/>
        </p:nvGrpSpPr>
        <p:grpSpPr>
          <a:xfrm>
            <a:off x="2720008" y="2505648"/>
            <a:ext cx="6394310" cy="2813674"/>
            <a:chOff x="3059832" y="3805176"/>
            <a:chExt cx="4961103" cy="2378409"/>
          </a:xfrm>
        </p:grpSpPr>
        <p:sp>
          <p:nvSpPr>
            <p:cNvPr id="5" name="矩形 4"/>
            <p:cNvSpPr/>
            <p:nvPr/>
          </p:nvSpPr>
          <p:spPr>
            <a:xfrm>
              <a:off x="3283305" y="3805176"/>
              <a:ext cx="3974097" cy="514097"/>
            </a:xfrm>
            <a:prstGeom prst="rect">
              <a:avLst/>
            </a:prstGeom>
          </p:spPr>
          <p:txBody>
            <a:bodyPr wrap="square">
              <a:spAutoFit/>
            </a:bodyPr>
            <a:lstStyle/>
            <a:p>
              <a:pPr marL="342900" indent="-342900" algn="just" fontAlgn="base">
                <a:lnSpc>
                  <a:spcPct val="110000"/>
                </a:lnSpc>
                <a:spcBef>
                  <a:spcPts val="1800"/>
                </a:spcBef>
                <a:spcAft>
                  <a:spcPct val="0"/>
                </a:spcAft>
              </a:pPr>
              <a:r>
                <a:rPr lang="en-US" altLang="zh-CN" sz="3200" dirty="0">
                  <a:solidFill>
                    <a:srgbClr val="060606"/>
                  </a:solidFill>
                </a:rPr>
                <a:t>min z  = 2x</a:t>
              </a:r>
              <a:r>
                <a:rPr lang="en-US" altLang="zh-CN" sz="3200" baseline="-25000" dirty="0">
                  <a:solidFill>
                    <a:srgbClr val="060606"/>
                  </a:solidFill>
                </a:rPr>
                <a:t>1</a:t>
              </a:r>
              <a:r>
                <a:rPr lang="en-US" altLang="zh-CN" sz="3200" dirty="0">
                  <a:solidFill>
                    <a:srgbClr val="060606"/>
                  </a:solidFill>
                </a:rPr>
                <a:t>+3x</a:t>
              </a:r>
              <a:r>
                <a:rPr lang="en-US" altLang="zh-CN" sz="3200" baseline="-25000" dirty="0">
                  <a:solidFill>
                    <a:srgbClr val="060606"/>
                  </a:solidFill>
                </a:rPr>
                <a:t>2</a:t>
              </a:r>
              <a:r>
                <a:rPr lang="en-US" altLang="zh-CN" sz="3200" dirty="0">
                  <a:solidFill>
                    <a:srgbClr val="060606"/>
                  </a:solidFill>
                </a:rPr>
                <a:t>+2x</a:t>
              </a:r>
              <a:r>
                <a:rPr lang="en-US" altLang="zh-CN" sz="3200" baseline="-25000" dirty="0">
                  <a:solidFill>
                    <a:srgbClr val="060606"/>
                  </a:solidFill>
                </a:rPr>
                <a:t>3</a:t>
              </a:r>
              <a:endParaRPr lang="en-US" altLang="zh-CN" sz="3200" dirty="0">
                <a:solidFill>
                  <a:srgbClr val="060606"/>
                </a:solidFill>
              </a:endParaRPr>
            </a:p>
          </p:txBody>
        </p:sp>
        <p:sp>
          <p:nvSpPr>
            <p:cNvPr id="6" name="矩形 5"/>
            <p:cNvSpPr/>
            <p:nvPr/>
          </p:nvSpPr>
          <p:spPr>
            <a:xfrm>
              <a:off x="3059832" y="5186809"/>
              <a:ext cx="648072" cy="514097"/>
            </a:xfrm>
            <a:prstGeom prst="rect">
              <a:avLst/>
            </a:prstGeom>
          </p:spPr>
          <p:txBody>
            <a:bodyPr wrap="square">
              <a:spAutoFit/>
            </a:bodyPr>
            <a:lstStyle/>
            <a:p>
              <a:pPr marL="342900" indent="-342900" fontAlgn="base">
                <a:lnSpc>
                  <a:spcPct val="110000"/>
                </a:lnSpc>
                <a:spcBef>
                  <a:spcPts val="1800"/>
                </a:spcBef>
                <a:spcAft>
                  <a:spcPct val="0"/>
                </a:spcAft>
              </a:pPr>
              <a:r>
                <a:rPr lang="en-US" altLang="zh-CN" sz="3200" dirty="0">
                  <a:solidFill>
                    <a:srgbClr val="060606"/>
                  </a:solidFill>
                </a:rPr>
                <a:t>s. t</a:t>
              </a:r>
              <a:endParaRPr lang="en-US" altLang="zh-CN" sz="3200" dirty="0">
                <a:solidFill>
                  <a:srgbClr val="060606"/>
                </a:solidFill>
              </a:endParaRPr>
            </a:p>
          </p:txBody>
        </p:sp>
        <p:sp>
          <p:nvSpPr>
            <p:cNvPr id="7" name="左大括号 6"/>
            <p:cNvSpPr/>
            <p:nvPr/>
          </p:nvSpPr>
          <p:spPr bwMode="auto">
            <a:xfrm>
              <a:off x="3635896" y="4682753"/>
              <a:ext cx="432048" cy="1249995"/>
            </a:xfrm>
            <a:prstGeom prst="leftBrace">
              <a:avLst>
                <a:gd name="adj1" fmla="val 87500"/>
                <a:gd name="adj2" fmla="val 50000"/>
              </a:avLst>
            </a:prstGeom>
            <a:noFill/>
            <a:ln w="28575" cap="flat" cmpd="sng" algn="ctr">
              <a:solidFill>
                <a:srgbClr val="06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sz="3200">
                <a:latin typeface="Arial" panose="020B0604020202090204" pitchFamily="34" charset="0"/>
                <a:ea typeface="宋体" panose="02010600030101010101" pitchFamily="2" charset="-122"/>
              </a:endParaRPr>
            </a:p>
          </p:txBody>
        </p:sp>
        <p:sp>
          <p:nvSpPr>
            <p:cNvPr id="8" name="矩形 7"/>
            <p:cNvSpPr/>
            <p:nvPr/>
          </p:nvSpPr>
          <p:spPr>
            <a:xfrm>
              <a:off x="4177198" y="4593637"/>
              <a:ext cx="2322254" cy="494312"/>
            </a:xfrm>
            <a:prstGeom prst="rect">
              <a:avLst/>
            </a:prstGeom>
          </p:spPr>
          <p:txBody>
            <a:bodyPr wrap="none">
              <a:spAutoFit/>
            </a:bodyPr>
            <a:lstStyle/>
            <a:p>
              <a:r>
                <a:rPr lang="en-US" altLang="zh-CN" sz="3200" dirty="0">
                  <a:solidFill>
                    <a:srgbClr val="060606"/>
                  </a:solidFill>
                </a:rPr>
                <a:t>x</a:t>
              </a:r>
              <a:r>
                <a:rPr lang="en-US" altLang="zh-CN" sz="3200" baseline="-25000" dirty="0">
                  <a:solidFill>
                    <a:srgbClr val="060606"/>
                  </a:solidFill>
                </a:rPr>
                <a:t>1</a:t>
              </a:r>
              <a:r>
                <a:rPr lang="en-US" altLang="zh-CN" sz="3200" dirty="0">
                  <a:solidFill>
                    <a:srgbClr val="060606"/>
                  </a:solidFill>
                </a:rPr>
                <a:t> +4x</a:t>
              </a:r>
              <a:r>
                <a:rPr lang="en-US" altLang="zh-CN" sz="3200" baseline="-25000" dirty="0">
                  <a:solidFill>
                    <a:srgbClr val="060606"/>
                  </a:solidFill>
                </a:rPr>
                <a:t>2</a:t>
              </a:r>
              <a:r>
                <a:rPr lang="en-US" altLang="zh-CN" sz="3200" dirty="0">
                  <a:solidFill>
                    <a:srgbClr val="060606"/>
                  </a:solidFill>
                </a:rPr>
                <a:t>+2x</a:t>
              </a:r>
              <a:r>
                <a:rPr lang="en-US" altLang="zh-CN" sz="3200" baseline="-25000" dirty="0">
                  <a:solidFill>
                    <a:srgbClr val="060606"/>
                  </a:solidFill>
                </a:rPr>
                <a:t>3</a:t>
              </a:r>
              <a:r>
                <a:rPr lang="en-US" altLang="zh-CN" sz="3200" dirty="0">
                  <a:solidFill>
                    <a:srgbClr val="060606"/>
                  </a:solidFill>
                </a:rPr>
                <a:t>≥ 8</a:t>
              </a:r>
              <a:endParaRPr lang="zh-CN" altLang="en-US" sz="3200" dirty="0"/>
            </a:p>
          </p:txBody>
        </p:sp>
        <p:sp>
          <p:nvSpPr>
            <p:cNvPr id="10" name="矩形 9"/>
            <p:cNvSpPr/>
            <p:nvPr/>
          </p:nvSpPr>
          <p:spPr>
            <a:xfrm>
              <a:off x="4065461" y="5689273"/>
              <a:ext cx="2901426" cy="494312"/>
            </a:xfrm>
            <a:prstGeom prst="rect">
              <a:avLst/>
            </a:prstGeom>
          </p:spPr>
          <p:txBody>
            <a:bodyPr wrap="square">
              <a:spAutoFit/>
            </a:bodyPr>
            <a:lstStyle/>
            <a:p>
              <a:r>
                <a:rPr lang="en-US" altLang="zh-CN" sz="3200" dirty="0">
                  <a:solidFill>
                    <a:srgbClr val="060606"/>
                  </a:solidFill>
                </a:rPr>
                <a:t>x</a:t>
              </a:r>
              <a:r>
                <a:rPr lang="en-US" altLang="zh-CN" sz="3200" baseline="-25000" dirty="0">
                  <a:solidFill>
                    <a:srgbClr val="060606"/>
                  </a:solidFill>
                </a:rPr>
                <a:t>j</a:t>
              </a:r>
              <a:r>
                <a:rPr lang="en-US" altLang="zh-CN" sz="3200" dirty="0">
                  <a:solidFill>
                    <a:srgbClr val="060606"/>
                  </a:solidFill>
                </a:rPr>
                <a:t> ≥0       (j = 1,2,3)</a:t>
              </a:r>
              <a:endParaRPr lang="zh-CN" altLang="en-US" sz="3200" dirty="0">
                <a:solidFill>
                  <a:srgbClr val="060606"/>
                </a:solidFill>
              </a:endParaRPr>
            </a:p>
          </p:txBody>
        </p:sp>
        <p:sp>
          <p:nvSpPr>
            <p:cNvPr id="11" name="矩形 10"/>
            <p:cNvSpPr/>
            <p:nvPr/>
          </p:nvSpPr>
          <p:spPr>
            <a:xfrm>
              <a:off x="4177198" y="5121164"/>
              <a:ext cx="3843737" cy="494312"/>
            </a:xfrm>
            <a:prstGeom prst="rect">
              <a:avLst/>
            </a:prstGeom>
          </p:spPr>
          <p:txBody>
            <a:bodyPr wrap="square">
              <a:spAutoFit/>
            </a:bodyPr>
            <a:lstStyle/>
            <a:p>
              <a:r>
                <a:rPr lang="en-US" altLang="zh-CN" sz="3200" dirty="0">
                  <a:solidFill>
                    <a:srgbClr val="060606"/>
                  </a:solidFill>
                </a:rPr>
                <a:t>3x</a:t>
              </a:r>
              <a:r>
                <a:rPr lang="en-US" altLang="zh-CN" sz="3200" baseline="-25000" dirty="0">
                  <a:solidFill>
                    <a:srgbClr val="060606"/>
                  </a:solidFill>
                </a:rPr>
                <a:t>1</a:t>
              </a:r>
              <a:r>
                <a:rPr lang="en-US" altLang="zh-CN" sz="3200" dirty="0">
                  <a:solidFill>
                    <a:srgbClr val="060606"/>
                  </a:solidFill>
                </a:rPr>
                <a:t> +2x</a:t>
              </a:r>
              <a:r>
                <a:rPr lang="en-US" altLang="zh-CN" sz="3200" baseline="-25000" dirty="0">
                  <a:solidFill>
                    <a:srgbClr val="060606"/>
                  </a:solidFill>
                </a:rPr>
                <a:t>2</a:t>
              </a:r>
              <a:r>
                <a:rPr lang="en-US" altLang="zh-CN" sz="3200" dirty="0">
                  <a:solidFill>
                    <a:srgbClr val="060606"/>
                  </a:solidFill>
                </a:rPr>
                <a:t>+2x</a:t>
              </a:r>
              <a:r>
                <a:rPr lang="en-US" altLang="zh-CN" sz="3200" baseline="-25000" dirty="0">
                  <a:solidFill>
                    <a:srgbClr val="060606"/>
                  </a:solidFill>
                </a:rPr>
                <a:t>3</a:t>
              </a:r>
              <a:r>
                <a:rPr lang="en-US" altLang="zh-CN" sz="3200" dirty="0">
                  <a:solidFill>
                    <a:srgbClr val="060606"/>
                  </a:solidFill>
                </a:rPr>
                <a:t>≥ 6</a:t>
              </a:r>
              <a:endParaRPr lang="zh-CN" altLang="en-US" sz="3200" dirty="0">
                <a:solidFill>
                  <a:srgbClr val="060606"/>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8928" y="399257"/>
            <a:ext cx="11415712" cy="879475"/>
          </a:xfrm>
        </p:spPr>
        <p:txBody>
          <a:bodyPr>
            <a:normAutofit/>
          </a:bodyPr>
          <a:lstStyle/>
          <a:p>
            <a:pPr>
              <a:buNone/>
            </a:pPr>
            <a:r>
              <a:rPr lang="zh-CN" altLang="en-US" dirty="0">
                <a:solidFill>
                  <a:srgbClr val="060606"/>
                </a:solidFill>
              </a:rPr>
              <a:t>运用单纯形法的大</a:t>
            </a:r>
            <a:r>
              <a:rPr lang="en-US" altLang="zh-CN" dirty="0">
                <a:solidFill>
                  <a:srgbClr val="060606"/>
                </a:solidFill>
              </a:rPr>
              <a:t>M</a:t>
            </a:r>
            <a:r>
              <a:rPr lang="zh-CN" altLang="en-US" dirty="0">
                <a:solidFill>
                  <a:srgbClr val="060606"/>
                </a:solidFill>
              </a:rPr>
              <a:t>法</a:t>
            </a:r>
            <a:r>
              <a:rPr lang="en-US" altLang="zh-CN" dirty="0">
                <a:solidFill>
                  <a:srgbClr val="060606"/>
                </a:solidFill>
              </a:rPr>
              <a:t>,</a:t>
            </a:r>
            <a:r>
              <a:rPr lang="zh-CN" altLang="en-US" dirty="0">
                <a:solidFill>
                  <a:srgbClr val="060606"/>
                </a:solidFill>
              </a:rPr>
              <a:t>引入剩余变量</a:t>
            </a:r>
            <a:r>
              <a:rPr lang="en-US" altLang="zh-CN" dirty="0">
                <a:solidFill>
                  <a:schemeClr val="dk1"/>
                </a:solidFill>
              </a:rPr>
              <a:t>x</a:t>
            </a:r>
            <a:r>
              <a:rPr lang="en-US" altLang="zh-CN" baseline="-25000" dirty="0">
                <a:solidFill>
                  <a:schemeClr val="dk1"/>
                </a:solidFill>
              </a:rPr>
              <a:t>4</a:t>
            </a:r>
            <a:r>
              <a:rPr lang="en-US" altLang="zh-CN" dirty="0">
                <a:solidFill>
                  <a:schemeClr val="dk1"/>
                </a:solidFill>
              </a:rPr>
              <a:t>, x</a:t>
            </a:r>
            <a:r>
              <a:rPr lang="en-US" altLang="zh-CN" baseline="-25000" dirty="0">
                <a:solidFill>
                  <a:schemeClr val="dk1"/>
                </a:solidFill>
              </a:rPr>
              <a:t>6</a:t>
            </a:r>
            <a:r>
              <a:rPr lang="zh-CN" altLang="en-US" dirty="0">
                <a:solidFill>
                  <a:srgbClr val="060606"/>
                </a:solidFill>
              </a:rPr>
              <a:t>和人工变量</a:t>
            </a:r>
            <a:r>
              <a:rPr lang="en-US" altLang="zh-CN" dirty="0">
                <a:solidFill>
                  <a:schemeClr val="dk1"/>
                </a:solidFill>
              </a:rPr>
              <a:t>x</a:t>
            </a:r>
            <a:r>
              <a:rPr lang="en-US" altLang="zh-CN" baseline="-25000" dirty="0">
                <a:solidFill>
                  <a:schemeClr val="dk1"/>
                </a:solidFill>
              </a:rPr>
              <a:t>5</a:t>
            </a:r>
            <a:r>
              <a:rPr lang="en-US" altLang="zh-CN" dirty="0">
                <a:solidFill>
                  <a:schemeClr val="dk1"/>
                </a:solidFill>
              </a:rPr>
              <a:t> </a:t>
            </a:r>
            <a:r>
              <a:rPr lang="en-US" altLang="zh-CN" dirty="0">
                <a:solidFill>
                  <a:srgbClr val="060606"/>
                </a:solidFill>
              </a:rPr>
              <a:t>,</a:t>
            </a:r>
            <a:r>
              <a:rPr lang="en-US" altLang="zh-CN" dirty="0">
                <a:solidFill>
                  <a:schemeClr val="dk1"/>
                </a:solidFill>
              </a:rPr>
              <a:t>x</a:t>
            </a:r>
            <a:r>
              <a:rPr lang="en-US" altLang="zh-CN" baseline="-25000" dirty="0">
                <a:solidFill>
                  <a:schemeClr val="dk1"/>
                </a:solidFill>
              </a:rPr>
              <a:t>7</a:t>
            </a:r>
            <a:r>
              <a:rPr lang="en-US" altLang="zh-CN" dirty="0">
                <a:solidFill>
                  <a:srgbClr val="060606"/>
                </a:solidFill>
              </a:rPr>
              <a:t>,</a:t>
            </a:r>
            <a:r>
              <a:rPr lang="zh-CN" altLang="en-US" dirty="0">
                <a:solidFill>
                  <a:srgbClr val="060606"/>
                </a:solidFill>
              </a:rPr>
              <a:t>得到初始单纯形表如下</a:t>
            </a:r>
            <a:r>
              <a:rPr lang="en-US" altLang="zh-CN" dirty="0">
                <a:solidFill>
                  <a:srgbClr val="060606"/>
                </a:solidFill>
              </a:rPr>
              <a:t>:</a:t>
            </a:r>
            <a:endParaRPr lang="zh-CN" altLang="en-US" dirty="0">
              <a:solidFill>
                <a:srgbClr val="060606"/>
              </a:solidFill>
            </a:endParaRPr>
          </a:p>
        </p:txBody>
      </p:sp>
      <p:graphicFrame>
        <p:nvGraphicFramePr>
          <p:cNvPr id="4" name="表格 3"/>
          <p:cNvGraphicFramePr>
            <a:graphicFrameLocks noGrp="1"/>
          </p:cNvGraphicFramePr>
          <p:nvPr/>
        </p:nvGraphicFramePr>
        <p:xfrm>
          <a:off x="544384" y="1555908"/>
          <a:ext cx="11088817" cy="4023360"/>
        </p:xfrm>
        <a:graphic>
          <a:graphicData uri="http://schemas.openxmlformats.org/drawingml/2006/table">
            <a:tbl>
              <a:tblPr firstRow="1" bandRow="1">
                <a:tableStyleId>{5C22544A-7EE6-4342-B048-85BDC9FD1C3A}</a:tableStyleId>
              </a:tblPr>
              <a:tblGrid>
                <a:gridCol w="1654567"/>
                <a:gridCol w="7311198"/>
                <a:gridCol w="2123052"/>
              </a:tblGrid>
              <a:tr h="370840">
                <a:tc gridSpan="3">
                  <a:txBody>
                    <a:bodyPr/>
                    <a:lstStyle/>
                    <a:p>
                      <a:r>
                        <a:rPr lang="zh-CN" altLang="en-US" sz="2400" dirty="0">
                          <a:solidFill>
                            <a:srgbClr val="060606"/>
                          </a:solidFill>
                        </a:rPr>
                        <a:t>初始单纯形表</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7</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endParaRPr lang="en-US" altLang="zh-CN" sz="2400" dirty="0">
                        <a:solidFill>
                          <a:srgbClr val="060606"/>
                        </a:solidFill>
                      </a:endParaRPr>
                    </a:p>
                    <a:p>
                      <a:pPr algn="r"/>
                      <a:r>
                        <a:rPr lang="en-US" altLang="zh-CN" sz="2400" dirty="0">
                          <a:solidFill>
                            <a:srgbClr val="060606"/>
                          </a:solidFill>
                        </a:rPr>
                        <a:t>-z</a:t>
                      </a:r>
                      <a:endParaRPr lang="en-US" altLang="zh-CN" sz="24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baseline="-250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7</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r>
                        <a:rPr lang="en-US" altLang="zh-CN" sz="2400" dirty="0">
                          <a:solidFill>
                            <a:srgbClr val="060606"/>
                          </a:solidFill>
                        </a:rPr>
                        <a:t>1     </a:t>
                      </a:r>
                      <a:r>
                        <a:rPr lang="en-US" altLang="zh-CN" sz="2400" baseline="0" dirty="0">
                          <a:solidFill>
                            <a:srgbClr val="060606"/>
                          </a:solidFill>
                        </a:rPr>
                        <a:t>  2-4M</a:t>
                      </a:r>
                      <a:r>
                        <a:rPr lang="en-US" altLang="zh-CN" sz="2400" dirty="0">
                          <a:solidFill>
                            <a:srgbClr val="060606"/>
                          </a:solidFill>
                        </a:rPr>
                        <a:t>   3-6M    2-4M    M      0      M      0     </a:t>
                      </a:r>
                      <a:endParaRPr lang="en-US" altLang="zh-CN" sz="2400" dirty="0">
                        <a:solidFill>
                          <a:srgbClr val="060606"/>
                        </a:solidFill>
                      </a:endParaRPr>
                    </a:p>
                    <a:p>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4          2          -1       1      0       </a:t>
                      </a:r>
                      <a:r>
                        <a:rPr lang="en-US" altLang="zh-CN" sz="2400" baseline="0" dirty="0" err="1">
                          <a:solidFill>
                            <a:srgbClr val="060606"/>
                          </a:solidFill>
                        </a:rPr>
                        <a:t>0</a:t>
                      </a:r>
                      <a:endParaRPr lang="en-US" altLang="zh-CN" sz="2400" baseline="0" dirty="0">
                        <a:solidFill>
                          <a:srgbClr val="060606"/>
                        </a:solidFill>
                      </a:endParaRPr>
                    </a:p>
                    <a:p>
                      <a:endParaRPr lang="en-US" altLang="zh-CN" sz="2400" baseline="0" dirty="0">
                        <a:solidFill>
                          <a:srgbClr val="060606"/>
                        </a:solidFill>
                      </a:endParaRPr>
                    </a:p>
                    <a:p>
                      <a:r>
                        <a:rPr lang="en-US" altLang="zh-CN" sz="2400" baseline="0" dirty="0">
                          <a:solidFill>
                            <a:srgbClr val="060606"/>
                          </a:solidFill>
                        </a:rPr>
                        <a:t>0         3           2          </a:t>
                      </a:r>
                      <a:r>
                        <a:rPr lang="en-US" altLang="zh-CN" sz="2400" baseline="0" dirty="0" err="1">
                          <a:solidFill>
                            <a:srgbClr val="060606"/>
                          </a:solidFill>
                        </a:rPr>
                        <a:t>2</a:t>
                      </a:r>
                      <a:r>
                        <a:rPr lang="en-US" altLang="zh-CN" sz="2400" baseline="0" dirty="0">
                          <a:solidFill>
                            <a:srgbClr val="060606"/>
                          </a:solidFill>
                        </a:rPr>
                        <a:t>          0         </a:t>
                      </a:r>
                      <a:r>
                        <a:rPr lang="en-US" altLang="zh-CN" sz="2400" baseline="0" dirty="0" err="1">
                          <a:solidFill>
                            <a:srgbClr val="060606"/>
                          </a:solidFill>
                        </a:rPr>
                        <a:t>0</a:t>
                      </a:r>
                      <a:r>
                        <a:rPr lang="en-US" altLang="zh-CN" sz="2400" baseline="0" dirty="0">
                          <a:solidFill>
                            <a:srgbClr val="060606"/>
                          </a:solidFill>
                        </a:rPr>
                        <a:t>     -1      1        </a:t>
                      </a:r>
                      <a:endParaRPr lang="en-US" altLang="zh-CN" sz="2400" baseline="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r>
                        <a:rPr lang="en-US" altLang="zh-CN" sz="2400" dirty="0">
                          <a:solidFill>
                            <a:srgbClr val="060606"/>
                          </a:solidFill>
                        </a:rPr>
                        <a:t>-14M</a:t>
                      </a:r>
                      <a:endParaRPr lang="en-US" altLang="zh-CN" sz="2400" dirty="0">
                        <a:solidFill>
                          <a:srgbClr val="060606"/>
                        </a:solidFill>
                      </a:endParaRPr>
                    </a:p>
                    <a:p>
                      <a:endParaRPr lang="en-US" altLang="zh-CN" sz="2400" dirty="0">
                        <a:solidFill>
                          <a:srgbClr val="060606"/>
                        </a:solidFill>
                      </a:endParaRPr>
                    </a:p>
                    <a:p>
                      <a:r>
                        <a:rPr lang="en-US" altLang="zh-CN" sz="2400" dirty="0">
                          <a:solidFill>
                            <a:srgbClr val="060606"/>
                          </a:solidFill>
                        </a:rPr>
                        <a:t>8</a:t>
                      </a:r>
                      <a:endParaRPr lang="en-US" altLang="zh-CN" sz="2400" dirty="0">
                        <a:solidFill>
                          <a:srgbClr val="060606"/>
                        </a:solidFill>
                      </a:endParaRPr>
                    </a:p>
                    <a:p>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3689" y="335280"/>
            <a:ext cx="10235377" cy="5877272"/>
          </a:xfrm>
        </p:spPr>
        <p:txBody>
          <a:bodyPr>
            <a:normAutofit/>
          </a:bodyPr>
          <a:lstStyle/>
          <a:p>
            <a:pPr>
              <a:buNone/>
            </a:pPr>
            <a:r>
              <a:rPr lang="zh-CN" altLang="en-US" dirty="0">
                <a:solidFill>
                  <a:srgbClr val="060606"/>
                </a:solidFill>
              </a:rPr>
              <a:t>运用单纯形法的大</a:t>
            </a:r>
            <a:r>
              <a:rPr lang="en-US" altLang="zh-CN" dirty="0">
                <a:solidFill>
                  <a:srgbClr val="060606"/>
                </a:solidFill>
              </a:rPr>
              <a:t>M</a:t>
            </a:r>
            <a:r>
              <a:rPr lang="zh-CN" altLang="en-US" dirty="0">
                <a:solidFill>
                  <a:srgbClr val="060606"/>
                </a:solidFill>
              </a:rPr>
              <a:t>法</a:t>
            </a:r>
            <a:r>
              <a:rPr lang="en-US" altLang="zh-CN" dirty="0">
                <a:solidFill>
                  <a:srgbClr val="060606"/>
                </a:solidFill>
              </a:rPr>
              <a:t>,</a:t>
            </a:r>
            <a:r>
              <a:rPr lang="zh-CN" altLang="en-US" dirty="0">
                <a:solidFill>
                  <a:srgbClr val="060606"/>
                </a:solidFill>
              </a:rPr>
              <a:t> 得到最后一张单纯形表如下</a:t>
            </a:r>
            <a:r>
              <a:rPr lang="en-US" altLang="zh-CN" dirty="0">
                <a:solidFill>
                  <a:srgbClr val="060606"/>
                </a:solidFill>
              </a:rPr>
              <a:t>:</a:t>
            </a: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r>
              <a:rPr lang="zh-CN" altLang="en-US" dirty="0">
                <a:solidFill>
                  <a:srgbClr val="060606"/>
                </a:solidFill>
              </a:rPr>
              <a:t>在上述表格的基础上</a:t>
            </a:r>
            <a:r>
              <a:rPr lang="en-US" altLang="zh-CN" dirty="0">
                <a:solidFill>
                  <a:srgbClr val="060606"/>
                </a:solidFill>
              </a:rPr>
              <a:t>,</a:t>
            </a:r>
            <a:r>
              <a:rPr lang="zh-CN" altLang="en-US" dirty="0">
                <a:solidFill>
                  <a:srgbClr val="060606"/>
                </a:solidFill>
              </a:rPr>
              <a:t>用矩阵方法完成最终单纯形表的其它空格。</a:t>
            </a:r>
            <a:endParaRPr lang="zh-CN" altLang="en-US" dirty="0">
              <a:solidFill>
                <a:srgbClr val="060606"/>
              </a:solidFill>
            </a:endParaRPr>
          </a:p>
        </p:txBody>
      </p:sp>
      <p:graphicFrame>
        <p:nvGraphicFramePr>
          <p:cNvPr id="4" name="表格 3"/>
          <p:cNvGraphicFramePr>
            <a:graphicFrameLocks noGrp="1"/>
          </p:cNvGraphicFramePr>
          <p:nvPr/>
        </p:nvGraphicFramePr>
        <p:xfrm>
          <a:off x="1283111" y="1072168"/>
          <a:ext cx="10235377" cy="4023360"/>
        </p:xfrm>
        <a:graphic>
          <a:graphicData uri="http://schemas.openxmlformats.org/drawingml/2006/table">
            <a:tbl>
              <a:tblPr firstRow="1" bandRow="1">
                <a:tableStyleId>{5C22544A-7EE6-4342-B048-85BDC9FD1C3A}</a:tableStyleId>
              </a:tblPr>
              <a:tblGrid>
                <a:gridCol w="1567663"/>
                <a:gridCol w="6927186"/>
                <a:gridCol w="1740528"/>
              </a:tblGrid>
              <a:tr h="370840">
                <a:tc gridSpan="3">
                  <a:txBody>
                    <a:bodyPr/>
                    <a:lstStyle/>
                    <a:p>
                      <a:r>
                        <a:rPr lang="zh-CN" altLang="en-US" sz="2400" dirty="0">
                          <a:solidFill>
                            <a:srgbClr val="060606"/>
                          </a:solidFill>
                        </a:rPr>
                        <a:t>最后一张单纯形表</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7</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endParaRPr lang="en-US" altLang="zh-CN" sz="2400" dirty="0">
                        <a:solidFill>
                          <a:srgbClr val="060606"/>
                        </a:solidFill>
                      </a:endParaRPr>
                    </a:p>
                    <a:p>
                      <a:pPr algn="r"/>
                      <a:r>
                        <a:rPr lang="en-US" altLang="zh-CN" sz="2400" dirty="0">
                          <a:solidFill>
                            <a:srgbClr val="060606"/>
                          </a:solidFill>
                        </a:rPr>
                        <a:t>-z</a:t>
                      </a:r>
                      <a:endParaRPr lang="en-US" altLang="zh-CN" sz="24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baseline="-250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r>
                        <a:rPr lang="en-US" altLang="zh-CN" sz="2400" dirty="0">
                          <a:solidFill>
                            <a:srgbClr val="060606"/>
                          </a:solidFill>
                        </a:rPr>
                        <a:t>1                                                     M-0.5        </a:t>
                      </a:r>
                      <a:r>
                        <a:rPr lang="en-US" altLang="zh-CN" sz="2400" dirty="0" err="1">
                          <a:solidFill>
                            <a:srgbClr val="060606"/>
                          </a:solidFill>
                        </a:rPr>
                        <a:t>M-0.5</a:t>
                      </a:r>
                      <a:endParaRPr lang="en-US" altLang="zh-CN" sz="2400" dirty="0">
                        <a:solidFill>
                          <a:srgbClr val="060606"/>
                        </a:solidFill>
                      </a:endParaRPr>
                    </a:p>
                    <a:p>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                                                        0.3           -0.1</a:t>
                      </a:r>
                      <a:endParaRPr lang="en-US" altLang="zh-CN" sz="2400" dirty="0">
                        <a:solidFill>
                          <a:srgbClr val="060606"/>
                        </a:solidFill>
                      </a:endParaRPr>
                    </a:p>
                    <a:p>
                      <a:endParaRPr lang="en-US" altLang="zh-CN" sz="2400" baseline="0" dirty="0">
                        <a:solidFill>
                          <a:srgbClr val="060606"/>
                        </a:solidFill>
                      </a:endParaRPr>
                    </a:p>
                    <a:p>
                      <a:r>
                        <a:rPr lang="en-US" altLang="zh-CN" sz="2400" baseline="0" dirty="0">
                          <a:solidFill>
                            <a:srgbClr val="060606"/>
                          </a:solidFill>
                        </a:rPr>
                        <a:t>0                                                       -0.2            0.4</a:t>
                      </a:r>
                      <a:endParaRPr lang="en-US" altLang="zh-CN" sz="2400" baseline="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4161" y="56018"/>
            <a:ext cx="8229600" cy="793750"/>
          </a:xfrm>
        </p:spPr>
        <p:txBody>
          <a:bodyPr/>
          <a:lstStyle/>
          <a:p>
            <a:r>
              <a:rPr lang="zh-CN" altLang="en-US" dirty="0">
                <a:solidFill>
                  <a:srgbClr val="060606"/>
                </a:solidFill>
              </a:rPr>
              <a:t>解：</a:t>
            </a:r>
            <a:endParaRPr lang="zh-CN" altLang="en-US" dirty="0">
              <a:solidFill>
                <a:srgbClr val="060606"/>
              </a:solidFill>
            </a:endParaRPr>
          </a:p>
        </p:txBody>
      </p:sp>
      <p:graphicFrame>
        <p:nvGraphicFramePr>
          <p:cNvPr id="4" name="表格 3"/>
          <p:cNvGraphicFramePr>
            <a:graphicFrameLocks noGrp="1"/>
          </p:cNvGraphicFramePr>
          <p:nvPr/>
        </p:nvGraphicFramePr>
        <p:xfrm>
          <a:off x="790992" y="978975"/>
          <a:ext cx="10560495" cy="4023360"/>
        </p:xfrm>
        <a:graphic>
          <a:graphicData uri="http://schemas.openxmlformats.org/drawingml/2006/table">
            <a:tbl>
              <a:tblPr firstRow="1" bandRow="1">
                <a:tableStyleId>{5C22544A-7EE6-4342-B048-85BDC9FD1C3A}</a:tableStyleId>
              </a:tblPr>
              <a:tblGrid>
                <a:gridCol w="1617458"/>
                <a:gridCol w="7147223"/>
                <a:gridCol w="1795814"/>
              </a:tblGrid>
              <a:tr h="370840">
                <a:tc gridSpan="3">
                  <a:txBody>
                    <a:bodyPr/>
                    <a:lstStyle/>
                    <a:p>
                      <a:r>
                        <a:rPr lang="zh-CN" altLang="en-US" sz="2400" dirty="0">
                          <a:solidFill>
                            <a:srgbClr val="060606"/>
                          </a:solidFill>
                        </a:rPr>
                        <a:t>初始单纯形表</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7</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endParaRPr lang="en-US" altLang="zh-CN" sz="2400" dirty="0">
                        <a:solidFill>
                          <a:srgbClr val="060606"/>
                        </a:solidFill>
                      </a:endParaRPr>
                    </a:p>
                    <a:p>
                      <a:pPr algn="r"/>
                      <a:r>
                        <a:rPr lang="en-US" altLang="zh-CN" sz="2400" dirty="0">
                          <a:solidFill>
                            <a:srgbClr val="060606"/>
                          </a:solidFill>
                        </a:rPr>
                        <a:t>-z</a:t>
                      </a:r>
                      <a:endParaRPr lang="en-US" altLang="zh-CN" sz="24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5</a:t>
                      </a:r>
                      <a:endParaRPr lang="en-US" altLang="zh-CN" sz="2400" baseline="-250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7</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r>
                        <a:rPr lang="en-US" altLang="zh-CN" sz="2400" dirty="0">
                          <a:solidFill>
                            <a:srgbClr val="060606"/>
                          </a:solidFill>
                        </a:rPr>
                        <a:t>1     </a:t>
                      </a:r>
                      <a:r>
                        <a:rPr lang="en-US" altLang="zh-CN" sz="2400" baseline="0" dirty="0">
                          <a:solidFill>
                            <a:srgbClr val="060606"/>
                          </a:solidFill>
                        </a:rPr>
                        <a:t>  2-4M</a:t>
                      </a:r>
                      <a:r>
                        <a:rPr lang="en-US" altLang="zh-CN" sz="2400" dirty="0">
                          <a:solidFill>
                            <a:srgbClr val="060606"/>
                          </a:solidFill>
                        </a:rPr>
                        <a:t>   3-6M    2-4M    M      0      M      0     </a:t>
                      </a:r>
                      <a:endParaRPr lang="en-US" altLang="zh-CN" sz="2400" dirty="0">
                        <a:solidFill>
                          <a:srgbClr val="060606"/>
                        </a:solidFill>
                      </a:endParaRPr>
                    </a:p>
                    <a:p>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a:t>
                      </a:r>
                      <a:r>
                        <a:rPr lang="en-US" altLang="zh-CN" sz="2400" baseline="0" dirty="0">
                          <a:solidFill>
                            <a:srgbClr val="060606"/>
                          </a:solidFill>
                        </a:rPr>
                        <a:t>         1           4          2          -1       1      0       </a:t>
                      </a:r>
                      <a:r>
                        <a:rPr lang="en-US" altLang="zh-CN" sz="2400" baseline="0" dirty="0" err="1">
                          <a:solidFill>
                            <a:srgbClr val="060606"/>
                          </a:solidFill>
                        </a:rPr>
                        <a:t>0</a:t>
                      </a:r>
                      <a:endParaRPr lang="en-US" altLang="zh-CN" sz="2400" baseline="0" dirty="0">
                        <a:solidFill>
                          <a:srgbClr val="060606"/>
                        </a:solidFill>
                      </a:endParaRPr>
                    </a:p>
                    <a:p>
                      <a:endParaRPr lang="en-US" altLang="zh-CN" sz="2400" baseline="0" dirty="0">
                        <a:solidFill>
                          <a:srgbClr val="060606"/>
                        </a:solidFill>
                      </a:endParaRPr>
                    </a:p>
                    <a:p>
                      <a:r>
                        <a:rPr lang="en-US" altLang="zh-CN" sz="2400" baseline="0" dirty="0">
                          <a:solidFill>
                            <a:srgbClr val="060606"/>
                          </a:solidFill>
                        </a:rPr>
                        <a:t>0         3           2          </a:t>
                      </a:r>
                      <a:r>
                        <a:rPr lang="en-US" altLang="zh-CN" sz="2400" baseline="0" dirty="0" err="1">
                          <a:solidFill>
                            <a:srgbClr val="060606"/>
                          </a:solidFill>
                        </a:rPr>
                        <a:t>2</a:t>
                      </a:r>
                      <a:r>
                        <a:rPr lang="en-US" altLang="zh-CN" sz="2400" baseline="0" dirty="0">
                          <a:solidFill>
                            <a:srgbClr val="060606"/>
                          </a:solidFill>
                        </a:rPr>
                        <a:t>          0         </a:t>
                      </a:r>
                      <a:r>
                        <a:rPr lang="en-US" altLang="zh-CN" sz="2400" baseline="0" dirty="0" err="1">
                          <a:solidFill>
                            <a:srgbClr val="060606"/>
                          </a:solidFill>
                        </a:rPr>
                        <a:t>0</a:t>
                      </a:r>
                      <a:r>
                        <a:rPr lang="en-US" altLang="zh-CN" sz="2400" baseline="0" dirty="0">
                          <a:solidFill>
                            <a:srgbClr val="060606"/>
                          </a:solidFill>
                        </a:rPr>
                        <a:t>     -1      1        </a:t>
                      </a:r>
                      <a:endParaRPr lang="en-US" altLang="zh-CN" sz="2400" baseline="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r>
                        <a:rPr lang="en-US" altLang="zh-CN" sz="2400" dirty="0">
                          <a:solidFill>
                            <a:srgbClr val="060606"/>
                          </a:solidFill>
                        </a:rPr>
                        <a:t>-14M</a:t>
                      </a:r>
                      <a:endParaRPr lang="en-US" altLang="zh-CN" sz="2400" dirty="0">
                        <a:solidFill>
                          <a:srgbClr val="060606"/>
                        </a:solidFill>
                      </a:endParaRPr>
                    </a:p>
                    <a:p>
                      <a:endParaRPr lang="en-US" altLang="zh-CN" sz="2400" dirty="0">
                        <a:solidFill>
                          <a:srgbClr val="060606"/>
                        </a:solidFill>
                      </a:endParaRPr>
                    </a:p>
                    <a:p>
                      <a:r>
                        <a:rPr lang="en-US" altLang="zh-CN" sz="2400" dirty="0">
                          <a:solidFill>
                            <a:srgbClr val="060606"/>
                          </a:solidFill>
                        </a:rPr>
                        <a:t>8</a:t>
                      </a:r>
                      <a:endParaRPr lang="en-US" altLang="zh-CN" sz="2400" dirty="0">
                        <a:solidFill>
                          <a:srgbClr val="060606"/>
                        </a:solidFill>
                      </a:endParaRPr>
                    </a:p>
                    <a:p>
                      <a:endParaRPr lang="en-US" altLang="zh-CN" sz="2400" dirty="0">
                        <a:solidFill>
                          <a:srgbClr val="060606"/>
                        </a:solidFill>
                      </a:endParaRPr>
                    </a:p>
                    <a:p>
                      <a:r>
                        <a:rPr lang="en-US" altLang="zh-CN" sz="2400" dirty="0">
                          <a:solidFill>
                            <a:srgbClr val="060606"/>
                          </a:solidFill>
                        </a:rPr>
                        <a:t>6</a:t>
                      </a:r>
                      <a:endParaRPr lang="en-US" altLang="zh-CN" sz="2400" dirty="0">
                        <a:solidFill>
                          <a:srgbClr val="060606"/>
                        </a:solidFill>
                      </a:endParaRPr>
                    </a:p>
                    <a:p>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9" name="矩形 8"/>
          <p:cNvSpPr/>
          <p:nvPr/>
        </p:nvSpPr>
        <p:spPr>
          <a:xfrm>
            <a:off x="1847528" y="5145257"/>
            <a:ext cx="5075428" cy="461665"/>
          </a:xfrm>
          <a:prstGeom prst="rect">
            <a:avLst/>
          </a:prstGeom>
        </p:spPr>
        <p:txBody>
          <a:bodyPr wrap="none">
            <a:spAutoFit/>
          </a:bodyPr>
          <a:lstStyle/>
          <a:p>
            <a:pPr>
              <a:buNone/>
            </a:pPr>
            <a:r>
              <a:rPr lang="en-US" altLang="zh-CN" sz="2400" dirty="0">
                <a:solidFill>
                  <a:srgbClr val="060606"/>
                </a:solidFill>
              </a:rPr>
              <a:t>-</a:t>
            </a:r>
            <a:r>
              <a:rPr lang="en-US" altLang="zh-CN" sz="2400" b="1" i="1" dirty="0">
                <a:solidFill>
                  <a:srgbClr val="060606"/>
                </a:solidFill>
              </a:rPr>
              <a:t>c </a:t>
            </a:r>
            <a:r>
              <a:rPr lang="en-US" altLang="zh-CN" sz="2400" dirty="0">
                <a:solidFill>
                  <a:srgbClr val="060606"/>
                </a:solidFill>
              </a:rPr>
              <a:t>= [2-4M   3-6M    2-4M    M   </a:t>
            </a:r>
            <a:r>
              <a:rPr lang="en-US" altLang="zh-CN" sz="2400" dirty="0" err="1">
                <a:solidFill>
                  <a:srgbClr val="060606"/>
                </a:solidFill>
              </a:rPr>
              <a:t>M</a:t>
            </a:r>
            <a:r>
              <a:rPr lang="en-US" altLang="zh-CN" sz="2400" dirty="0">
                <a:solidFill>
                  <a:srgbClr val="060606"/>
                </a:solidFill>
              </a:rPr>
              <a:t> ]</a:t>
            </a:r>
            <a:endParaRPr lang="zh-CN" altLang="en-US" sz="2400" b="1" i="1" dirty="0">
              <a:solidFill>
                <a:srgbClr val="060606"/>
              </a:solidFill>
            </a:endParaRPr>
          </a:p>
        </p:txBody>
      </p:sp>
      <p:grpSp>
        <p:nvGrpSpPr>
          <p:cNvPr id="20" name="组合 19"/>
          <p:cNvGrpSpPr/>
          <p:nvPr/>
        </p:nvGrpSpPr>
        <p:grpSpPr>
          <a:xfrm>
            <a:off x="5735960" y="5721320"/>
            <a:ext cx="4988540" cy="893713"/>
            <a:chOff x="4623561" y="5445224"/>
            <a:chExt cx="4988540" cy="893713"/>
          </a:xfrm>
        </p:grpSpPr>
        <p:sp>
          <p:nvSpPr>
            <p:cNvPr id="10" name="矩形 9"/>
            <p:cNvSpPr/>
            <p:nvPr/>
          </p:nvSpPr>
          <p:spPr>
            <a:xfrm>
              <a:off x="4623561" y="5589240"/>
              <a:ext cx="596638" cy="461665"/>
            </a:xfrm>
            <a:prstGeom prst="rect">
              <a:avLst/>
            </a:prstGeom>
          </p:spPr>
          <p:txBody>
            <a:bodyPr wrap="none">
              <a:spAutoFit/>
            </a:bodyPr>
            <a:lstStyle/>
            <a:p>
              <a:pPr>
                <a:buNone/>
              </a:pPr>
              <a:r>
                <a:rPr lang="en-US" altLang="zh-CN" sz="2400" b="1" i="1" dirty="0">
                  <a:solidFill>
                    <a:srgbClr val="060606"/>
                  </a:solidFill>
                </a:rPr>
                <a:t>A</a:t>
              </a:r>
              <a:r>
                <a:rPr lang="en-US" altLang="zh-CN" sz="2400" dirty="0">
                  <a:solidFill>
                    <a:srgbClr val="060606"/>
                  </a:solidFill>
                </a:rPr>
                <a:t>=</a:t>
              </a:r>
              <a:endParaRPr lang="zh-CN" altLang="en-US" sz="2400" b="1" i="1" dirty="0">
                <a:solidFill>
                  <a:srgbClr val="060606"/>
                </a:solidFill>
              </a:endParaRPr>
            </a:p>
          </p:txBody>
        </p:sp>
        <p:sp>
          <p:nvSpPr>
            <p:cNvPr id="17" name="矩形 16"/>
            <p:cNvSpPr/>
            <p:nvPr/>
          </p:nvSpPr>
          <p:spPr>
            <a:xfrm>
              <a:off x="5148064" y="5445224"/>
              <a:ext cx="4376519" cy="461665"/>
            </a:xfrm>
            <a:prstGeom prst="rect">
              <a:avLst/>
            </a:prstGeom>
          </p:spPr>
          <p:txBody>
            <a:bodyPr wrap="none">
              <a:spAutoFit/>
            </a:bodyPr>
            <a:lstStyle/>
            <a:p>
              <a:pPr>
                <a:buNone/>
              </a:pPr>
              <a:r>
                <a:rPr lang="en-US" altLang="zh-CN" sz="2400" dirty="0">
                  <a:solidFill>
                    <a:srgbClr val="060606"/>
                  </a:solidFill>
                </a:rPr>
                <a:t>1           4          2          -1      0 </a:t>
              </a:r>
              <a:endParaRPr lang="zh-CN" altLang="en-US" sz="2400" b="1" i="1" dirty="0">
                <a:solidFill>
                  <a:srgbClr val="060606"/>
                </a:solidFill>
              </a:endParaRPr>
            </a:p>
          </p:txBody>
        </p:sp>
        <p:sp>
          <p:nvSpPr>
            <p:cNvPr id="18" name="矩形 17"/>
            <p:cNvSpPr/>
            <p:nvPr/>
          </p:nvSpPr>
          <p:spPr>
            <a:xfrm>
              <a:off x="5150623" y="5877272"/>
              <a:ext cx="4461478" cy="461665"/>
            </a:xfrm>
            <a:prstGeom prst="rect">
              <a:avLst/>
            </a:prstGeom>
          </p:spPr>
          <p:txBody>
            <a:bodyPr wrap="none">
              <a:spAutoFit/>
            </a:bodyPr>
            <a:lstStyle/>
            <a:p>
              <a:r>
                <a:rPr lang="en-US" altLang="zh-CN" sz="2400" dirty="0">
                  <a:solidFill>
                    <a:srgbClr val="060606"/>
                  </a:solidFill>
                </a:rPr>
                <a:t>3           2          </a:t>
              </a:r>
              <a:r>
                <a:rPr lang="en-US" altLang="zh-CN" sz="2400" dirty="0" err="1">
                  <a:solidFill>
                    <a:srgbClr val="060606"/>
                  </a:solidFill>
                </a:rPr>
                <a:t>2</a:t>
              </a:r>
              <a:r>
                <a:rPr lang="en-US" altLang="zh-CN" sz="2400" dirty="0">
                  <a:solidFill>
                    <a:srgbClr val="060606"/>
                  </a:solidFill>
                </a:rPr>
                <a:t>           0      -1 </a:t>
              </a:r>
              <a:endParaRPr lang="zh-CN" altLang="en-US" sz="2400" dirty="0">
                <a:solidFill>
                  <a:srgbClr val="060606"/>
                </a:solidFill>
              </a:endParaRPr>
            </a:p>
          </p:txBody>
        </p:sp>
        <p:sp>
          <p:nvSpPr>
            <p:cNvPr id="19" name="双括号 18"/>
            <p:cNvSpPr/>
            <p:nvPr/>
          </p:nvSpPr>
          <p:spPr bwMode="auto">
            <a:xfrm>
              <a:off x="5148064" y="5445224"/>
              <a:ext cx="3744416"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sp>
        <p:nvSpPr>
          <p:cNvPr id="26" name="矩形 25"/>
          <p:cNvSpPr/>
          <p:nvPr/>
        </p:nvSpPr>
        <p:spPr>
          <a:xfrm>
            <a:off x="1919536" y="5793328"/>
            <a:ext cx="1552028" cy="461665"/>
          </a:xfrm>
          <a:prstGeom prst="rect">
            <a:avLst/>
          </a:prstGeom>
        </p:spPr>
        <p:txBody>
          <a:bodyPr wrap="none">
            <a:spAutoFit/>
          </a:bodyPr>
          <a:lstStyle/>
          <a:p>
            <a:pPr>
              <a:buNone/>
            </a:pPr>
            <a:r>
              <a:rPr lang="en-US" altLang="zh-CN" sz="2400" dirty="0">
                <a:solidFill>
                  <a:srgbClr val="060606"/>
                </a:solidFill>
              </a:rPr>
              <a:t>z</a:t>
            </a:r>
            <a:r>
              <a:rPr lang="en-US" altLang="zh-CN" sz="2400" baseline="-25000" dirty="0">
                <a:solidFill>
                  <a:srgbClr val="060606"/>
                </a:solidFill>
              </a:rPr>
              <a:t>0</a:t>
            </a:r>
            <a:r>
              <a:rPr lang="en-US" altLang="zh-CN" sz="2400" b="1" i="1" dirty="0">
                <a:solidFill>
                  <a:srgbClr val="060606"/>
                </a:solidFill>
              </a:rPr>
              <a:t> </a:t>
            </a:r>
            <a:r>
              <a:rPr lang="en-US" altLang="zh-CN" sz="2400" dirty="0">
                <a:solidFill>
                  <a:srgbClr val="060606"/>
                </a:solidFill>
              </a:rPr>
              <a:t>= -14M</a:t>
            </a:r>
            <a:endParaRPr lang="zh-CN" altLang="en-US" sz="2400" b="1" i="1" dirty="0">
              <a:solidFill>
                <a:srgbClr val="060606"/>
              </a:solidFill>
            </a:endParaRPr>
          </a:p>
        </p:txBody>
      </p:sp>
      <p:grpSp>
        <p:nvGrpSpPr>
          <p:cNvPr id="21" name="组合 20"/>
          <p:cNvGrpSpPr/>
          <p:nvPr/>
        </p:nvGrpSpPr>
        <p:grpSpPr>
          <a:xfrm>
            <a:off x="3935761" y="5649313"/>
            <a:ext cx="1080120" cy="893713"/>
            <a:chOff x="4623561" y="5445224"/>
            <a:chExt cx="1080120" cy="893713"/>
          </a:xfrm>
        </p:grpSpPr>
        <p:sp>
          <p:nvSpPr>
            <p:cNvPr id="22" name="矩形 21"/>
            <p:cNvSpPr/>
            <p:nvPr/>
          </p:nvSpPr>
          <p:spPr>
            <a:xfrm>
              <a:off x="4623561" y="5589240"/>
              <a:ext cx="575799" cy="461665"/>
            </a:xfrm>
            <a:prstGeom prst="rect">
              <a:avLst/>
            </a:prstGeom>
          </p:spPr>
          <p:txBody>
            <a:bodyPr wrap="none">
              <a:spAutoFit/>
            </a:bodyPr>
            <a:lstStyle/>
            <a:p>
              <a:pPr>
                <a:buNone/>
              </a:pPr>
              <a:r>
                <a:rPr lang="en-US" altLang="zh-CN" sz="2400" b="1" i="1" dirty="0">
                  <a:solidFill>
                    <a:srgbClr val="060606"/>
                  </a:solidFill>
                </a:rPr>
                <a:t>b</a:t>
              </a:r>
              <a:r>
                <a:rPr lang="en-US" altLang="zh-CN" sz="2400" dirty="0">
                  <a:solidFill>
                    <a:srgbClr val="060606"/>
                  </a:solidFill>
                </a:rPr>
                <a:t>=</a:t>
              </a:r>
              <a:endParaRPr lang="zh-CN" altLang="en-US" sz="2400" b="1" i="1" dirty="0">
                <a:solidFill>
                  <a:srgbClr val="060606"/>
                </a:solidFill>
              </a:endParaRPr>
            </a:p>
          </p:txBody>
        </p:sp>
        <p:sp>
          <p:nvSpPr>
            <p:cNvPr id="23" name="矩形 22"/>
            <p:cNvSpPr/>
            <p:nvPr/>
          </p:nvSpPr>
          <p:spPr>
            <a:xfrm>
              <a:off x="5219507" y="5445224"/>
              <a:ext cx="346570" cy="461665"/>
            </a:xfrm>
            <a:prstGeom prst="rect">
              <a:avLst/>
            </a:prstGeom>
          </p:spPr>
          <p:txBody>
            <a:bodyPr wrap="none">
              <a:spAutoFit/>
            </a:bodyPr>
            <a:lstStyle/>
            <a:p>
              <a:pPr>
                <a:buNone/>
              </a:pPr>
              <a:r>
                <a:rPr lang="en-US" altLang="zh-CN" sz="2400" dirty="0">
                  <a:solidFill>
                    <a:srgbClr val="060606"/>
                  </a:solidFill>
                </a:rPr>
                <a:t>8</a:t>
              </a:r>
              <a:endParaRPr lang="zh-CN" altLang="en-US" sz="2400" b="1" i="1" dirty="0">
                <a:solidFill>
                  <a:srgbClr val="060606"/>
                </a:solidFill>
              </a:endParaRPr>
            </a:p>
          </p:txBody>
        </p:sp>
        <p:sp>
          <p:nvSpPr>
            <p:cNvPr id="24" name="矩形 23"/>
            <p:cNvSpPr/>
            <p:nvPr/>
          </p:nvSpPr>
          <p:spPr>
            <a:xfrm>
              <a:off x="5219507" y="5877272"/>
              <a:ext cx="346570" cy="461665"/>
            </a:xfrm>
            <a:prstGeom prst="rect">
              <a:avLst/>
            </a:prstGeom>
          </p:spPr>
          <p:txBody>
            <a:bodyPr wrap="none">
              <a:spAutoFit/>
            </a:bodyPr>
            <a:lstStyle/>
            <a:p>
              <a:r>
                <a:rPr lang="en-US" altLang="zh-CN" sz="2400" dirty="0">
                  <a:solidFill>
                    <a:srgbClr val="060606"/>
                  </a:solidFill>
                </a:rPr>
                <a:t>6</a:t>
              </a:r>
              <a:endParaRPr lang="zh-CN" altLang="en-US" sz="2400" dirty="0">
                <a:solidFill>
                  <a:srgbClr val="060606"/>
                </a:solidFill>
              </a:endParaRPr>
            </a:p>
          </p:txBody>
        </p:sp>
        <p:sp>
          <p:nvSpPr>
            <p:cNvPr id="25" name="双括号 24"/>
            <p:cNvSpPr/>
            <p:nvPr/>
          </p:nvSpPr>
          <p:spPr bwMode="auto">
            <a:xfrm>
              <a:off x="5148064" y="5445224"/>
              <a:ext cx="555617"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grpSp>
        <p:nvGrpSpPr>
          <p:cNvPr id="46" name="组合 45"/>
          <p:cNvGrpSpPr/>
          <p:nvPr/>
        </p:nvGrpSpPr>
        <p:grpSpPr>
          <a:xfrm>
            <a:off x="3793436" y="61245"/>
            <a:ext cx="3328724" cy="857633"/>
            <a:chOff x="2889853" y="2679303"/>
            <a:chExt cx="2302564" cy="857633"/>
          </a:xfrm>
        </p:grpSpPr>
        <p:sp>
          <p:nvSpPr>
            <p:cNvPr id="35" name="矩形 34"/>
            <p:cNvSpPr/>
            <p:nvPr/>
          </p:nvSpPr>
          <p:spPr>
            <a:xfrm>
              <a:off x="3249893" y="2823319"/>
              <a:ext cx="389850" cy="461665"/>
            </a:xfrm>
            <a:prstGeom prst="rect">
              <a:avLst/>
            </a:prstGeom>
          </p:spPr>
          <p:txBody>
            <a:bodyPr wrap="none">
              <a:spAutoFit/>
            </a:bodyPr>
            <a:lstStyle/>
            <a:p>
              <a:r>
                <a:rPr lang="en-US" altLang="zh-CN" sz="2400" dirty="0">
                  <a:solidFill>
                    <a:srgbClr val="00000C"/>
                  </a:solidFill>
                </a:rPr>
                <a:t>=</a:t>
              </a:r>
              <a:endParaRPr lang="zh-CN" altLang="en-US" sz="2400" dirty="0">
                <a:solidFill>
                  <a:srgbClr val="00000C"/>
                </a:solidFill>
              </a:endParaRPr>
            </a:p>
          </p:txBody>
        </p:sp>
        <p:grpSp>
          <p:nvGrpSpPr>
            <p:cNvPr id="36" name="组合 35"/>
            <p:cNvGrpSpPr/>
            <p:nvPr/>
          </p:nvGrpSpPr>
          <p:grpSpPr>
            <a:xfrm>
              <a:off x="2889853" y="2679303"/>
              <a:ext cx="354584" cy="821705"/>
              <a:chOff x="1932396" y="2564904"/>
              <a:chExt cx="354584" cy="821705"/>
            </a:xfrm>
          </p:grpSpPr>
          <p:sp>
            <p:nvSpPr>
              <p:cNvPr id="37" name="矩形 36"/>
              <p:cNvSpPr/>
              <p:nvPr/>
            </p:nvSpPr>
            <p:spPr>
              <a:xfrm>
                <a:off x="1932396" y="2924944"/>
                <a:ext cx="354584" cy="461665"/>
              </a:xfrm>
              <a:prstGeom prst="rect">
                <a:avLst/>
              </a:prstGeom>
            </p:spPr>
            <p:txBody>
              <a:bodyPr wrap="none">
                <a:spAutoFit/>
              </a:bodyPr>
              <a:lstStyle/>
              <a:p>
                <a:r>
                  <a:rPr lang="en-US" altLang="zh-CN" sz="2400" b="1" i="1" dirty="0">
                    <a:solidFill>
                      <a:srgbClr val="00000C"/>
                    </a:solidFill>
                  </a:rPr>
                  <a:t>T</a:t>
                </a:r>
                <a:endParaRPr lang="zh-CN" altLang="en-US" sz="2400" b="1" i="1" dirty="0">
                  <a:solidFill>
                    <a:srgbClr val="00000C"/>
                  </a:solidFill>
                </a:endParaRPr>
              </a:p>
            </p:txBody>
          </p:sp>
          <p:sp>
            <p:nvSpPr>
              <p:cNvPr id="38" name="矩形 37"/>
              <p:cNvSpPr/>
              <p:nvPr/>
            </p:nvSpPr>
            <p:spPr>
              <a:xfrm>
                <a:off x="1979712" y="2564904"/>
                <a:ext cx="295274" cy="461665"/>
              </a:xfrm>
              <a:prstGeom prst="rect">
                <a:avLst/>
              </a:prstGeom>
            </p:spPr>
            <p:txBody>
              <a:bodyPr wrap="none">
                <a:spAutoFit/>
              </a:bodyPr>
              <a:lstStyle/>
              <a:p>
                <a:r>
                  <a:rPr lang="en-US" altLang="zh-CN" sz="2400" b="1" i="1" dirty="0">
                    <a:solidFill>
                      <a:srgbClr val="00000C"/>
                    </a:solidFill>
                  </a:rPr>
                  <a:t>t</a:t>
                </a:r>
                <a:endParaRPr lang="zh-CN" altLang="en-US" sz="2400" b="1" i="1" dirty="0">
                  <a:solidFill>
                    <a:srgbClr val="00000C"/>
                  </a:solidFill>
                </a:endParaRPr>
              </a:p>
            </p:txBody>
          </p:sp>
          <p:sp>
            <p:nvSpPr>
              <p:cNvPr id="39" name="双括号 38"/>
              <p:cNvSpPr/>
              <p:nvPr/>
            </p:nvSpPr>
            <p:spPr bwMode="auto">
              <a:xfrm>
                <a:off x="1979712" y="2636912"/>
                <a:ext cx="288032" cy="720080"/>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grpSp>
          <p:nvGrpSpPr>
            <p:cNvPr id="40" name="组合 39"/>
            <p:cNvGrpSpPr/>
            <p:nvPr/>
          </p:nvGrpSpPr>
          <p:grpSpPr>
            <a:xfrm>
              <a:off x="3609933" y="2751311"/>
              <a:ext cx="1582484" cy="779314"/>
              <a:chOff x="2843808" y="2708920"/>
              <a:chExt cx="1582484" cy="779314"/>
            </a:xfrm>
          </p:grpSpPr>
          <p:sp>
            <p:nvSpPr>
              <p:cNvPr id="41" name="矩形 40"/>
              <p:cNvSpPr/>
              <p:nvPr/>
            </p:nvSpPr>
            <p:spPr>
              <a:xfrm>
                <a:off x="2843808" y="2708920"/>
                <a:ext cx="1582484" cy="461665"/>
              </a:xfrm>
              <a:prstGeom prst="rect">
                <a:avLst/>
              </a:prstGeom>
            </p:spPr>
            <p:txBody>
              <a:bodyPr wrap="none">
                <a:spAutoFit/>
              </a:bodyPr>
              <a:lstStyle/>
              <a:p>
                <a:r>
                  <a:rPr lang="en-US" altLang="zh-CN" sz="2400" dirty="0">
                    <a:solidFill>
                      <a:srgbClr val="00000C"/>
                    </a:solidFill>
                  </a:rPr>
                  <a:t>-</a:t>
                </a:r>
                <a:r>
                  <a:rPr lang="en-US" altLang="zh-CN" sz="2400" b="1" i="1" dirty="0">
                    <a:solidFill>
                      <a:srgbClr val="00000C"/>
                    </a:solidFill>
                  </a:rPr>
                  <a:t>c</a:t>
                </a:r>
                <a:r>
                  <a:rPr lang="en-US" altLang="zh-CN" sz="2400" dirty="0">
                    <a:solidFill>
                      <a:srgbClr val="00000C"/>
                    </a:solidFill>
                  </a:rPr>
                  <a:t>    </a:t>
                </a:r>
                <a:r>
                  <a:rPr lang="en-US" altLang="zh-CN" sz="2400" b="1" i="1" dirty="0">
                    <a:solidFill>
                      <a:srgbClr val="00000C"/>
                    </a:solidFill>
                  </a:rPr>
                  <a:t>0</a:t>
                </a:r>
                <a:r>
                  <a:rPr lang="en-US" altLang="zh-CN" sz="2400" dirty="0">
                    <a:solidFill>
                      <a:srgbClr val="00000C"/>
                    </a:solidFill>
                  </a:rPr>
                  <a:t>    z</a:t>
                </a:r>
                <a:r>
                  <a:rPr lang="en-US" altLang="zh-CN" sz="2400" baseline="-25000" dirty="0">
                    <a:solidFill>
                      <a:srgbClr val="00000C"/>
                    </a:solidFill>
                  </a:rPr>
                  <a:t>0</a:t>
                </a:r>
                <a:endParaRPr lang="zh-CN" altLang="en-US" sz="2400" dirty="0"/>
              </a:p>
            </p:txBody>
          </p:sp>
          <p:sp>
            <p:nvSpPr>
              <p:cNvPr id="42" name="矩形 41"/>
              <p:cNvSpPr/>
              <p:nvPr/>
            </p:nvSpPr>
            <p:spPr>
              <a:xfrm>
                <a:off x="2843808" y="3026569"/>
                <a:ext cx="1396536" cy="461665"/>
              </a:xfrm>
              <a:prstGeom prst="rect">
                <a:avLst/>
              </a:prstGeom>
            </p:spPr>
            <p:txBody>
              <a:bodyPr wrap="none">
                <a:spAutoFit/>
              </a:bodyPr>
              <a:lstStyle/>
              <a:p>
                <a:r>
                  <a:rPr lang="en-US" altLang="zh-CN" sz="2400" b="1" i="1" dirty="0">
                    <a:solidFill>
                      <a:srgbClr val="00000C"/>
                    </a:solidFill>
                  </a:rPr>
                  <a:t>A   </a:t>
                </a:r>
                <a:r>
                  <a:rPr lang="zh-CN" altLang="en-US" sz="2400" b="1" i="1" dirty="0">
                    <a:solidFill>
                      <a:srgbClr val="00000C"/>
                    </a:solidFill>
                    <a:latin typeface="宋体"/>
                    <a:ea typeface="宋体"/>
                  </a:rPr>
                  <a:t>Ｉ</a:t>
                </a:r>
                <a:r>
                  <a:rPr lang="en-US" altLang="zh-CN" sz="2400" b="1" i="1" dirty="0">
                    <a:solidFill>
                      <a:srgbClr val="00000C"/>
                    </a:solidFill>
                  </a:rPr>
                  <a:t>   b</a:t>
                </a:r>
                <a:endParaRPr lang="zh-CN" altLang="en-US" sz="2400" b="1" i="1" dirty="0"/>
              </a:p>
            </p:txBody>
          </p:sp>
          <p:sp>
            <p:nvSpPr>
              <p:cNvPr id="43" name="双括号 42"/>
              <p:cNvSpPr/>
              <p:nvPr/>
            </p:nvSpPr>
            <p:spPr bwMode="auto">
              <a:xfrm>
                <a:off x="2843808" y="2780928"/>
                <a:ext cx="1296144" cy="648072"/>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cxnSp>
          <p:nvCxnSpPr>
            <p:cNvPr id="44" name="直接连接符 43"/>
            <p:cNvCxnSpPr/>
            <p:nvPr/>
          </p:nvCxnSpPr>
          <p:spPr bwMode="auto">
            <a:xfrm>
              <a:off x="4041981" y="2852936"/>
              <a:ext cx="0" cy="684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4321142" y="2802136"/>
              <a:ext cx="0" cy="684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08000" y="1400526"/>
          <a:ext cx="10495280" cy="4023360"/>
        </p:xfrm>
        <a:graphic>
          <a:graphicData uri="http://schemas.openxmlformats.org/drawingml/2006/table">
            <a:tbl>
              <a:tblPr firstRow="1" bandRow="1">
                <a:tableStyleId>{5C22544A-7EE6-4342-B048-85BDC9FD1C3A}</a:tableStyleId>
              </a:tblPr>
              <a:tblGrid>
                <a:gridCol w="1607470"/>
                <a:gridCol w="7103086"/>
                <a:gridCol w="1784724"/>
              </a:tblGrid>
              <a:tr h="370840">
                <a:tc gridSpan="3">
                  <a:txBody>
                    <a:bodyPr/>
                    <a:lstStyle/>
                    <a:p>
                      <a:r>
                        <a:rPr lang="zh-CN" altLang="en-US" sz="2400" dirty="0">
                          <a:solidFill>
                            <a:srgbClr val="060606"/>
                          </a:solidFill>
                        </a:rPr>
                        <a:t>最后一张单纯形表</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7</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endParaRPr lang="en-US" altLang="zh-CN" sz="2400" dirty="0">
                        <a:solidFill>
                          <a:srgbClr val="060606"/>
                        </a:solidFill>
                      </a:endParaRPr>
                    </a:p>
                    <a:p>
                      <a:pPr algn="r"/>
                      <a:r>
                        <a:rPr lang="en-US" altLang="zh-CN" sz="2400" dirty="0">
                          <a:solidFill>
                            <a:srgbClr val="060606"/>
                          </a:solidFill>
                        </a:rPr>
                        <a:t>-z</a:t>
                      </a:r>
                      <a:endParaRPr lang="en-US" altLang="zh-CN" sz="24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baseline="-250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r>
                        <a:rPr lang="en-US" altLang="zh-CN" sz="2400" dirty="0">
                          <a:solidFill>
                            <a:srgbClr val="060606"/>
                          </a:solidFill>
                        </a:rPr>
                        <a:t>1                                                     M-0.5        </a:t>
                      </a:r>
                      <a:r>
                        <a:rPr lang="en-US" altLang="zh-CN" sz="2400" dirty="0" err="1">
                          <a:solidFill>
                            <a:srgbClr val="060606"/>
                          </a:solidFill>
                        </a:rPr>
                        <a:t>M-0.5</a:t>
                      </a:r>
                      <a:endParaRPr lang="en-US" altLang="zh-CN" sz="2400" dirty="0">
                        <a:solidFill>
                          <a:srgbClr val="060606"/>
                        </a:solidFill>
                      </a:endParaRPr>
                    </a:p>
                    <a:p>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                                                        0.3           -0.1</a:t>
                      </a:r>
                      <a:endParaRPr lang="en-US" altLang="zh-CN" sz="2400" dirty="0">
                        <a:solidFill>
                          <a:srgbClr val="060606"/>
                        </a:solidFill>
                      </a:endParaRPr>
                    </a:p>
                    <a:p>
                      <a:endParaRPr lang="en-US" altLang="zh-CN" sz="2400" baseline="0" dirty="0">
                        <a:solidFill>
                          <a:srgbClr val="060606"/>
                        </a:solidFill>
                      </a:endParaRPr>
                    </a:p>
                    <a:p>
                      <a:r>
                        <a:rPr lang="en-US" altLang="zh-CN" sz="2400" baseline="0" dirty="0">
                          <a:solidFill>
                            <a:srgbClr val="060606"/>
                          </a:solidFill>
                        </a:rPr>
                        <a:t>0                                                       -0.2            0.4</a:t>
                      </a:r>
                      <a:endParaRPr lang="en-US" altLang="zh-CN" sz="2400" baseline="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9" name="矩形 8"/>
          <p:cNvSpPr/>
          <p:nvPr/>
        </p:nvSpPr>
        <p:spPr>
          <a:xfrm>
            <a:off x="6723625" y="5847655"/>
            <a:ext cx="691215" cy="461665"/>
          </a:xfrm>
          <a:prstGeom prst="rect">
            <a:avLst/>
          </a:prstGeom>
        </p:spPr>
        <p:txBody>
          <a:bodyPr wrap="none">
            <a:spAutoFit/>
          </a:bodyPr>
          <a:lstStyle/>
          <a:p>
            <a:pPr>
              <a:buNone/>
            </a:pPr>
            <a:r>
              <a:rPr lang="en-US" altLang="zh-CN" sz="2400" b="1" i="1" dirty="0">
                <a:solidFill>
                  <a:srgbClr val="060606"/>
                </a:solidFill>
              </a:rPr>
              <a:t>S*</a:t>
            </a:r>
            <a:r>
              <a:rPr lang="en-US" altLang="zh-CN" sz="2400" dirty="0">
                <a:solidFill>
                  <a:srgbClr val="060606"/>
                </a:solidFill>
              </a:rPr>
              <a:t>=</a:t>
            </a:r>
            <a:endParaRPr lang="zh-CN" altLang="en-US" sz="2400" b="1" i="1" dirty="0">
              <a:solidFill>
                <a:srgbClr val="060606"/>
              </a:solidFill>
            </a:endParaRPr>
          </a:p>
        </p:txBody>
      </p:sp>
      <p:sp>
        <p:nvSpPr>
          <p:cNvPr id="10" name="双括号 9"/>
          <p:cNvSpPr/>
          <p:nvPr/>
        </p:nvSpPr>
        <p:spPr bwMode="auto">
          <a:xfrm>
            <a:off x="7320136" y="5703639"/>
            <a:ext cx="1707745"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1" name="矩形 10"/>
          <p:cNvSpPr/>
          <p:nvPr/>
        </p:nvSpPr>
        <p:spPr>
          <a:xfrm>
            <a:off x="7392144" y="5703639"/>
            <a:ext cx="1630575" cy="461665"/>
          </a:xfrm>
          <a:prstGeom prst="rect">
            <a:avLst/>
          </a:prstGeom>
        </p:spPr>
        <p:txBody>
          <a:bodyPr wrap="none">
            <a:spAutoFit/>
          </a:bodyPr>
          <a:lstStyle/>
          <a:p>
            <a:pPr>
              <a:buNone/>
            </a:pPr>
            <a:r>
              <a:rPr lang="en-US" altLang="zh-CN" sz="2400" dirty="0">
                <a:solidFill>
                  <a:srgbClr val="060606"/>
                </a:solidFill>
              </a:rPr>
              <a:t>0.3      -0.1</a:t>
            </a:r>
            <a:endParaRPr lang="zh-CN" altLang="en-US" sz="2400" b="1" i="1" dirty="0">
              <a:solidFill>
                <a:srgbClr val="060606"/>
              </a:solidFill>
            </a:endParaRPr>
          </a:p>
        </p:txBody>
      </p:sp>
      <p:sp>
        <p:nvSpPr>
          <p:cNvPr id="12" name="矩形 11"/>
          <p:cNvSpPr/>
          <p:nvPr/>
        </p:nvSpPr>
        <p:spPr>
          <a:xfrm>
            <a:off x="7394703" y="6135687"/>
            <a:ext cx="1630575" cy="461665"/>
          </a:xfrm>
          <a:prstGeom prst="rect">
            <a:avLst/>
          </a:prstGeom>
        </p:spPr>
        <p:txBody>
          <a:bodyPr wrap="none">
            <a:spAutoFit/>
          </a:bodyPr>
          <a:lstStyle/>
          <a:p>
            <a:r>
              <a:rPr lang="en-US" altLang="zh-CN" sz="2400" dirty="0">
                <a:solidFill>
                  <a:srgbClr val="060606"/>
                </a:solidFill>
              </a:rPr>
              <a:t>-0.2     0.4 </a:t>
            </a:r>
            <a:endParaRPr lang="zh-CN" altLang="en-US" sz="2400" dirty="0">
              <a:solidFill>
                <a:srgbClr val="060606"/>
              </a:solidFill>
            </a:endParaRPr>
          </a:p>
        </p:txBody>
      </p:sp>
      <p:sp>
        <p:nvSpPr>
          <p:cNvPr id="16" name="矩形 15"/>
          <p:cNvSpPr/>
          <p:nvPr/>
        </p:nvSpPr>
        <p:spPr>
          <a:xfrm>
            <a:off x="1733519" y="5947673"/>
            <a:ext cx="3076483" cy="461665"/>
          </a:xfrm>
          <a:prstGeom prst="rect">
            <a:avLst/>
          </a:prstGeom>
        </p:spPr>
        <p:txBody>
          <a:bodyPr wrap="none">
            <a:spAutoFit/>
          </a:bodyPr>
          <a:lstStyle/>
          <a:p>
            <a:pPr>
              <a:buNone/>
            </a:pPr>
            <a:r>
              <a:rPr lang="en-US" altLang="zh-CN" sz="2400" b="1" i="1" dirty="0">
                <a:solidFill>
                  <a:srgbClr val="060606"/>
                </a:solidFill>
              </a:rPr>
              <a:t>y* </a:t>
            </a:r>
            <a:r>
              <a:rPr lang="en-US" altLang="zh-CN" sz="2400" dirty="0">
                <a:solidFill>
                  <a:srgbClr val="060606"/>
                </a:solidFill>
              </a:rPr>
              <a:t>= [M – 0.5   M-0.5]</a:t>
            </a:r>
            <a:endParaRPr lang="zh-CN" altLang="en-US" sz="2400" b="1" i="1" dirty="0">
              <a:solidFill>
                <a:srgbClr val="060606"/>
              </a:solidFill>
            </a:endParaRPr>
          </a:p>
        </p:txBody>
      </p:sp>
      <p:sp>
        <p:nvSpPr>
          <p:cNvPr id="18" name="灯片编号占位符 17"/>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19" name="组合 18"/>
          <p:cNvGrpSpPr/>
          <p:nvPr/>
        </p:nvGrpSpPr>
        <p:grpSpPr>
          <a:xfrm>
            <a:off x="4309672" y="188640"/>
            <a:ext cx="3970728" cy="887250"/>
            <a:chOff x="2785671" y="5811727"/>
            <a:chExt cx="3165095" cy="887250"/>
          </a:xfrm>
        </p:grpSpPr>
        <p:sp>
          <p:nvSpPr>
            <p:cNvPr id="20" name="矩形 19"/>
            <p:cNvSpPr/>
            <p:nvPr/>
          </p:nvSpPr>
          <p:spPr>
            <a:xfrm>
              <a:off x="3298111" y="5955743"/>
              <a:ext cx="389850" cy="461665"/>
            </a:xfrm>
            <a:prstGeom prst="rect">
              <a:avLst/>
            </a:prstGeom>
          </p:spPr>
          <p:txBody>
            <a:bodyPr wrap="none">
              <a:spAutoFit/>
            </a:bodyPr>
            <a:lstStyle/>
            <a:p>
              <a:r>
                <a:rPr lang="en-US" altLang="zh-CN" sz="2400" dirty="0">
                  <a:solidFill>
                    <a:srgbClr val="00000C"/>
                  </a:solidFill>
                </a:rPr>
                <a:t>=</a:t>
              </a:r>
              <a:endParaRPr lang="zh-CN" altLang="en-US" sz="2400" dirty="0">
                <a:solidFill>
                  <a:srgbClr val="00000C"/>
                </a:solidFill>
              </a:endParaRPr>
            </a:p>
          </p:txBody>
        </p:sp>
        <p:grpSp>
          <p:nvGrpSpPr>
            <p:cNvPr id="21" name="组合 16"/>
            <p:cNvGrpSpPr/>
            <p:nvPr/>
          </p:nvGrpSpPr>
          <p:grpSpPr>
            <a:xfrm>
              <a:off x="2785671" y="5811727"/>
              <a:ext cx="520364" cy="821705"/>
              <a:chOff x="1779996" y="2564904"/>
              <a:chExt cx="520364" cy="821705"/>
            </a:xfrm>
          </p:grpSpPr>
          <p:sp>
            <p:nvSpPr>
              <p:cNvPr id="28" name="矩形 27"/>
              <p:cNvSpPr/>
              <p:nvPr/>
            </p:nvSpPr>
            <p:spPr>
              <a:xfrm>
                <a:off x="1779996" y="2924944"/>
                <a:ext cx="490840" cy="461665"/>
              </a:xfrm>
              <a:prstGeom prst="rect">
                <a:avLst/>
              </a:prstGeom>
            </p:spPr>
            <p:txBody>
              <a:bodyPr wrap="none">
                <a:spAutoFit/>
              </a:bodyPr>
              <a:lstStyle/>
              <a:p>
                <a:r>
                  <a:rPr lang="en-US" altLang="zh-CN" sz="2400" b="1" i="1" dirty="0">
                    <a:solidFill>
                      <a:srgbClr val="00000C"/>
                    </a:solidFill>
                  </a:rPr>
                  <a:t>T*</a:t>
                </a:r>
                <a:endParaRPr lang="zh-CN" altLang="en-US" sz="2400" b="1" i="1" dirty="0">
                  <a:solidFill>
                    <a:srgbClr val="00000C"/>
                  </a:solidFill>
                </a:endParaRPr>
              </a:p>
            </p:txBody>
          </p:sp>
          <p:sp>
            <p:nvSpPr>
              <p:cNvPr id="29" name="矩形 28"/>
              <p:cNvSpPr/>
              <p:nvPr/>
            </p:nvSpPr>
            <p:spPr>
              <a:xfrm>
                <a:off x="1852004" y="2564904"/>
                <a:ext cx="428322" cy="461665"/>
              </a:xfrm>
              <a:prstGeom prst="rect">
                <a:avLst/>
              </a:prstGeom>
            </p:spPr>
            <p:txBody>
              <a:bodyPr wrap="none">
                <a:spAutoFit/>
              </a:bodyPr>
              <a:lstStyle/>
              <a:p>
                <a:r>
                  <a:rPr lang="en-US" altLang="zh-CN" sz="2400" b="1" i="1" dirty="0">
                    <a:solidFill>
                      <a:srgbClr val="00000C"/>
                    </a:solidFill>
                  </a:rPr>
                  <a:t>t*</a:t>
                </a:r>
                <a:endParaRPr lang="zh-CN" altLang="en-US" sz="2400" b="1" i="1" dirty="0">
                  <a:solidFill>
                    <a:srgbClr val="00000C"/>
                  </a:solidFill>
                </a:endParaRPr>
              </a:p>
            </p:txBody>
          </p:sp>
          <p:sp>
            <p:nvSpPr>
              <p:cNvPr id="30" name="双括号 29"/>
              <p:cNvSpPr/>
              <p:nvPr/>
            </p:nvSpPr>
            <p:spPr bwMode="auto">
              <a:xfrm>
                <a:off x="1852004" y="2636912"/>
                <a:ext cx="448356" cy="720080"/>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grpSp>
          <p:nvGrpSpPr>
            <p:cNvPr id="22" name="组合 20"/>
            <p:cNvGrpSpPr/>
            <p:nvPr/>
          </p:nvGrpSpPr>
          <p:grpSpPr>
            <a:xfrm>
              <a:off x="3658151" y="5883735"/>
              <a:ext cx="2292615" cy="815242"/>
              <a:chOff x="2843808" y="2708920"/>
              <a:chExt cx="2292615" cy="815242"/>
            </a:xfrm>
          </p:grpSpPr>
          <p:sp>
            <p:nvSpPr>
              <p:cNvPr id="25" name="矩形 24"/>
              <p:cNvSpPr/>
              <p:nvPr/>
            </p:nvSpPr>
            <p:spPr>
              <a:xfrm>
                <a:off x="2843808" y="2708920"/>
                <a:ext cx="2273379" cy="461665"/>
              </a:xfrm>
              <a:prstGeom prst="rect">
                <a:avLst/>
              </a:prstGeom>
            </p:spPr>
            <p:txBody>
              <a:bodyPr wrap="none">
                <a:spAutoFit/>
              </a:bodyPr>
              <a:lstStyle/>
              <a:p>
                <a:r>
                  <a:rPr lang="en-US" altLang="zh-CN" sz="2400" b="1" i="1" dirty="0">
                    <a:solidFill>
                      <a:srgbClr val="00000C"/>
                    </a:solidFill>
                  </a:rPr>
                  <a:t>z* </a:t>
                </a:r>
                <a:r>
                  <a:rPr lang="en-US" altLang="zh-CN" sz="2400" dirty="0">
                    <a:solidFill>
                      <a:srgbClr val="00000C"/>
                    </a:solidFill>
                  </a:rPr>
                  <a:t>-</a:t>
                </a:r>
                <a:r>
                  <a:rPr lang="en-US" altLang="zh-CN" sz="2400" b="1" i="1" dirty="0">
                    <a:solidFill>
                      <a:srgbClr val="00000C"/>
                    </a:solidFill>
                  </a:rPr>
                  <a:t>c</a:t>
                </a:r>
                <a:r>
                  <a:rPr lang="en-US" altLang="zh-CN" sz="2400" dirty="0">
                    <a:solidFill>
                      <a:srgbClr val="00000C"/>
                    </a:solidFill>
                  </a:rPr>
                  <a:t>     </a:t>
                </a:r>
                <a:r>
                  <a:rPr lang="en-US" altLang="zh-CN" sz="2400" b="1" i="1" dirty="0">
                    <a:solidFill>
                      <a:srgbClr val="00000C"/>
                    </a:solidFill>
                  </a:rPr>
                  <a:t>y*</a:t>
                </a:r>
                <a:r>
                  <a:rPr lang="en-US" altLang="zh-CN" sz="2400" dirty="0">
                    <a:solidFill>
                      <a:srgbClr val="00000C"/>
                    </a:solidFill>
                  </a:rPr>
                  <a:t>    z</a:t>
                </a:r>
                <a:r>
                  <a:rPr lang="en-US" altLang="zh-CN" sz="2400" baseline="-25000" dirty="0">
                    <a:solidFill>
                      <a:srgbClr val="00000C"/>
                    </a:solidFill>
                  </a:rPr>
                  <a:t>0</a:t>
                </a:r>
                <a:r>
                  <a:rPr lang="en-US" altLang="zh-CN" sz="2400" dirty="0">
                    <a:solidFill>
                      <a:srgbClr val="00000C"/>
                    </a:solidFill>
                  </a:rPr>
                  <a:t>*</a:t>
                </a:r>
                <a:endParaRPr lang="zh-CN" altLang="en-US" sz="2400" dirty="0"/>
              </a:p>
            </p:txBody>
          </p:sp>
          <p:sp>
            <p:nvSpPr>
              <p:cNvPr id="26" name="矩形 25"/>
              <p:cNvSpPr/>
              <p:nvPr/>
            </p:nvSpPr>
            <p:spPr>
              <a:xfrm>
                <a:off x="2843808" y="3062497"/>
                <a:ext cx="2292615" cy="461665"/>
              </a:xfrm>
              <a:prstGeom prst="rect">
                <a:avLst/>
              </a:prstGeom>
            </p:spPr>
            <p:txBody>
              <a:bodyPr wrap="none">
                <a:spAutoFit/>
              </a:bodyPr>
              <a:lstStyle/>
              <a:p>
                <a:r>
                  <a:rPr lang="en-US" altLang="zh-CN" sz="2400" b="1" i="1" dirty="0">
                    <a:solidFill>
                      <a:srgbClr val="00000C"/>
                    </a:solidFill>
                  </a:rPr>
                  <a:t>A*        </a:t>
                </a:r>
                <a:r>
                  <a:rPr lang="en-US" altLang="zh-CN" sz="2400" b="1" i="1" dirty="0">
                    <a:solidFill>
                      <a:srgbClr val="00000C"/>
                    </a:solidFill>
                    <a:latin typeface="宋体"/>
                    <a:ea typeface="宋体"/>
                  </a:rPr>
                  <a:t>S</a:t>
                </a:r>
                <a:r>
                  <a:rPr lang="en-US" altLang="zh-CN" sz="2400" b="1" i="1" baseline="30000" dirty="0">
                    <a:solidFill>
                      <a:srgbClr val="00000C"/>
                    </a:solidFill>
                    <a:latin typeface="宋体"/>
                    <a:ea typeface="宋体"/>
                  </a:rPr>
                  <a:t>*</a:t>
                </a:r>
                <a:r>
                  <a:rPr lang="en-US" altLang="zh-CN" sz="2400" b="1" i="1" dirty="0">
                    <a:solidFill>
                      <a:srgbClr val="00000C"/>
                    </a:solidFill>
                  </a:rPr>
                  <a:t>      b*</a:t>
                </a:r>
                <a:endParaRPr lang="zh-CN" altLang="en-US" sz="2400" b="1" i="1" dirty="0"/>
              </a:p>
            </p:txBody>
          </p:sp>
          <p:sp>
            <p:nvSpPr>
              <p:cNvPr id="27" name="双括号 26"/>
              <p:cNvSpPr/>
              <p:nvPr/>
            </p:nvSpPr>
            <p:spPr bwMode="auto">
              <a:xfrm>
                <a:off x="2843808" y="2780928"/>
                <a:ext cx="2079848" cy="648072"/>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grpSp>
        <p:cxnSp>
          <p:nvCxnSpPr>
            <p:cNvPr id="23" name="直接连接符 22"/>
            <p:cNvCxnSpPr/>
            <p:nvPr/>
          </p:nvCxnSpPr>
          <p:spPr bwMode="auto">
            <a:xfrm>
              <a:off x="4400477" y="5985360"/>
              <a:ext cx="0" cy="684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p:cNvCxnSpPr/>
            <p:nvPr/>
          </p:nvCxnSpPr>
          <p:spPr bwMode="auto">
            <a:xfrm>
              <a:off x="4991865" y="5985360"/>
              <a:ext cx="0" cy="684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42073" y="305728"/>
            <a:ext cx="8229600" cy="576064"/>
          </a:xfrm>
        </p:spPr>
        <p:txBody>
          <a:bodyPr/>
          <a:lstStyle/>
          <a:p>
            <a:pPr>
              <a:buNone/>
            </a:pPr>
            <a:r>
              <a:rPr lang="zh-CN" altLang="en-US" sz="2400" dirty="0">
                <a:solidFill>
                  <a:srgbClr val="00000C"/>
                </a:solidFill>
              </a:rPr>
              <a:t>由</a:t>
            </a:r>
            <a:r>
              <a:rPr lang="en-US" altLang="zh-CN" sz="2400" b="1" i="1" dirty="0">
                <a:solidFill>
                  <a:srgbClr val="00000C"/>
                </a:solidFill>
              </a:rPr>
              <a:t>T* </a:t>
            </a:r>
            <a:r>
              <a:rPr lang="en-US" altLang="zh-CN" sz="2400" dirty="0">
                <a:solidFill>
                  <a:srgbClr val="00000C"/>
                </a:solidFill>
              </a:rPr>
              <a:t>= </a:t>
            </a:r>
            <a:r>
              <a:rPr lang="en-US" altLang="zh-CN" sz="2400" b="1" i="1" dirty="0">
                <a:solidFill>
                  <a:srgbClr val="0000AC"/>
                </a:solidFill>
              </a:rPr>
              <a:t>S*</a:t>
            </a:r>
            <a:r>
              <a:rPr lang="en-US" altLang="zh-CN" sz="2400" b="1" i="1" dirty="0">
                <a:solidFill>
                  <a:srgbClr val="00000C"/>
                </a:solidFill>
              </a:rPr>
              <a:t>T</a:t>
            </a:r>
            <a:r>
              <a:rPr lang="en-US" altLang="zh-CN" sz="2400" dirty="0">
                <a:solidFill>
                  <a:srgbClr val="00000C"/>
                </a:solidFill>
              </a:rPr>
              <a:t> = [</a:t>
            </a:r>
            <a:r>
              <a:rPr lang="en-US" altLang="zh-CN" sz="2400" b="1" i="1" dirty="0">
                <a:solidFill>
                  <a:srgbClr val="00000C"/>
                </a:solidFill>
              </a:rPr>
              <a:t>S*A</a:t>
            </a:r>
            <a:r>
              <a:rPr lang="en-US" altLang="zh-CN" sz="2400" dirty="0">
                <a:solidFill>
                  <a:srgbClr val="00000C"/>
                </a:solidFill>
              </a:rPr>
              <a:t>   </a:t>
            </a:r>
            <a:r>
              <a:rPr lang="en-US" altLang="zh-CN" sz="2400" b="1" i="1" dirty="0">
                <a:solidFill>
                  <a:srgbClr val="0000AC"/>
                </a:solidFill>
              </a:rPr>
              <a:t>S*</a:t>
            </a:r>
            <a:r>
              <a:rPr lang="en-US" altLang="zh-CN" sz="2400" dirty="0">
                <a:solidFill>
                  <a:srgbClr val="0000AC"/>
                </a:solidFill>
              </a:rPr>
              <a:t>   </a:t>
            </a:r>
            <a:r>
              <a:rPr lang="en-US" altLang="zh-CN" sz="2400" b="1" i="1" dirty="0" err="1">
                <a:solidFill>
                  <a:srgbClr val="00000C"/>
                </a:solidFill>
              </a:rPr>
              <a:t>S</a:t>
            </a:r>
            <a:r>
              <a:rPr lang="en-US" altLang="zh-CN" sz="2400" b="1" i="1" dirty="0">
                <a:solidFill>
                  <a:srgbClr val="00000C"/>
                </a:solidFill>
              </a:rPr>
              <a:t>*b</a:t>
            </a:r>
            <a:r>
              <a:rPr lang="en-US" altLang="zh-CN" sz="2400" dirty="0">
                <a:solidFill>
                  <a:srgbClr val="00000C"/>
                </a:solidFill>
              </a:rPr>
              <a:t>]</a:t>
            </a:r>
            <a:endParaRPr lang="en-US" altLang="zh-CN" sz="2400" dirty="0">
              <a:solidFill>
                <a:srgbClr val="00000C"/>
              </a:solidFill>
            </a:endParaRPr>
          </a:p>
          <a:p>
            <a:pPr>
              <a:buNone/>
            </a:pPr>
            <a:endParaRPr lang="en-US" altLang="zh-CN" sz="2400" dirty="0">
              <a:solidFill>
                <a:srgbClr val="00000C"/>
              </a:solidFill>
            </a:endParaRPr>
          </a:p>
        </p:txBody>
      </p:sp>
      <p:cxnSp>
        <p:nvCxnSpPr>
          <p:cNvPr id="4" name="直接连接符 3"/>
          <p:cNvCxnSpPr/>
          <p:nvPr/>
        </p:nvCxnSpPr>
        <p:spPr bwMode="auto">
          <a:xfrm>
            <a:off x="4506104" y="305728"/>
            <a:ext cx="0" cy="576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p:cNvCxnSpPr/>
          <p:nvPr/>
        </p:nvCxnSpPr>
        <p:spPr bwMode="auto">
          <a:xfrm>
            <a:off x="3951248" y="305728"/>
            <a:ext cx="0" cy="576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p:nvPr/>
        </p:nvSpPr>
        <p:spPr>
          <a:xfrm>
            <a:off x="1528358" y="1463577"/>
            <a:ext cx="898003" cy="461665"/>
          </a:xfrm>
          <a:prstGeom prst="rect">
            <a:avLst/>
          </a:prstGeom>
        </p:spPr>
        <p:txBody>
          <a:bodyPr wrap="square">
            <a:spAutoFit/>
          </a:bodyPr>
          <a:lstStyle/>
          <a:p>
            <a:pPr>
              <a:buNone/>
            </a:pPr>
            <a:r>
              <a:rPr lang="en-US" altLang="zh-CN" sz="2400" b="1" i="1" dirty="0">
                <a:solidFill>
                  <a:srgbClr val="060606"/>
                </a:solidFill>
              </a:rPr>
              <a:t>S*A</a:t>
            </a:r>
            <a:r>
              <a:rPr lang="en-US" altLang="zh-CN" sz="2400" dirty="0">
                <a:solidFill>
                  <a:srgbClr val="060606"/>
                </a:solidFill>
              </a:rPr>
              <a:t>=</a:t>
            </a:r>
            <a:endParaRPr lang="zh-CN" altLang="en-US" sz="2400" b="1" i="1" dirty="0">
              <a:solidFill>
                <a:srgbClr val="060606"/>
              </a:solidFill>
            </a:endParaRPr>
          </a:p>
        </p:txBody>
      </p:sp>
      <p:sp>
        <p:nvSpPr>
          <p:cNvPr id="9" name="双括号 8"/>
          <p:cNvSpPr/>
          <p:nvPr/>
        </p:nvSpPr>
        <p:spPr bwMode="auto">
          <a:xfrm>
            <a:off x="2421425" y="1319560"/>
            <a:ext cx="1707745"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0" name="矩形 9"/>
          <p:cNvSpPr/>
          <p:nvPr/>
        </p:nvSpPr>
        <p:spPr>
          <a:xfrm>
            <a:off x="2493433" y="1319561"/>
            <a:ext cx="1630575" cy="461665"/>
          </a:xfrm>
          <a:prstGeom prst="rect">
            <a:avLst/>
          </a:prstGeom>
        </p:spPr>
        <p:txBody>
          <a:bodyPr wrap="square">
            <a:spAutoFit/>
          </a:bodyPr>
          <a:lstStyle/>
          <a:p>
            <a:pPr>
              <a:buNone/>
            </a:pPr>
            <a:r>
              <a:rPr lang="en-US" altLang="zh-CN" sz="2400" dirty="0">
                <a:solidFill>
                  <a:srgbClr val="060606"/>
                </a:solidFill>
              </a:rPr>
              <a:t>0.3      -0.1</a:t>
            </a:r>
            <a:endParaRPr lang="zh-CN" altLang="en-US" sz="2400" b="1" i="1" dirty="0">
              <a:solidFill>
                <a:srgbClr val="060606"/>
              </a:solidFill>
            </a:endParaRPr>
          </a:p>
        </p:txBody>
      </p:sp>
      <p:sp>
        <p:nvSpPr>
          <p:cNvPr id="11" name="矩形 10"/>
          <p:cNvSpPr/>
          <p:nvPr/>
        </p:nvSpPr>
        <p:spPr>
          <a:xfrm>
            <a:off x="2495992" y="1751609"/>
            <a:ext cx="1630575" cy="461665"/>
          </a:xfrm>
          <a:prstGeom prst="rect">
            <a:avLst/>
          </a:prstGeom>
        </p:spPr>
        <p:txBody>
          <a:bodyPr wrap="square">
            <a:spAutoFit/>
          </a:bodyPr>
          <a:lstStyle/>
          <a:p>
            <a:r>
              <a:rPr lang="en-US" altLang="zh-CN" sz="2400" dirty="0">
                <a:solidFill>
                  <a:srgbClr val="060606"/>
                </a:solidFill>
              </a:rPr>
              <a:t>-0.2     0.4 </a:t>
            </a:r>
            <a:endParaRPr lang="zh-CN" altLang="en-US" sz="2400" dirty="0">
              <a:solidFill>
                <a:srgbClr val="060606"/>
              </a:solidFill>
            </a:endParaRPr>
          </a:p>
        </p:txBody>
      </p:sp>
      <p:sp>
        <p:nvSpPr>
          <p:cNvPr id="12" name="矩形 11"/>
          <p:cNvSpPr/>
          <p:nvPr/>
        </p:nvSpPr>
        <p:spPr>
          <a:xfrm>
            <a:off x="4293633" y="1319561"/>
            <a:ext cx="4376519" cy="461665"/>
          </a:xfrm>
          <a:prstGeom prst="rect">
            <a:avLst/>
          </a:prstGeom>
        </p:spPr>
        <p:txBody>
          <a:bodyPr wrap="square">
            <a:spAutoFit/>
          </a:bodyPr>
          <a:lstStyle/>
          <a:p>
            <a:pPr>
              <a:buNone/>
            </a:pPr>
            <a:r>
              <a:rPr lang="en-US" altLang="zh-CN" sz="2400" dirty="0">
                <a:solidFill>
                  <a:srgbClr val="060606"/>
                </a:solidFill>
              </a:rPr>
              <a:t>1           4          2          -1      0 </a:t>
            </a:r>
            <a:endParaRPr lang="zh-CN" altLang="en-US" sz="2400" b="1" i="1" dirty="0">
              <a:solidFill>
                <a:srgbClr val="060606"/>
              </a:solidFill>
            </a:endParaRPr>
          </a:p>
        </p:txBody>
      </p:sp>
      <p:sp>
        <p:nvSpPr>
          <p:cNvPr id="13" name="矩形 12"/>
          <p:cNvSpPr/>
          <p:nvPr/>
        </p:nvSpPr>
        <p:spPr>
          <a:xfrm>
            <a:off x="4296191" y="1751609"/>
            <a:ext cx="4461478" cy="461665"/>
          </a:xfrm>
          <a:prstGeom prst="rect">
            <a:avLst/>
          </a:prstGeom>
        </p:spPr>
        <p:txBody>
          <a:bodyPr wrap="square">
            <a:spAutoFit/>
          </a:bodyPr>
          <a:lstStyle/>
          <a:p>
            <a:r>
              <a:rPr lang="en-US" altLang="zh-CN" sz="2400" dirty="0">
                <a:solidFill>
                  <a:srgbClr val="060606"/>
                </a:solidFill>
              </a:rPr>
              <a:t>3           2          </a:t>
            </a:r>
            <a:r>
              <a:rPr lang="en-US" altLang="zh-CN" sz="2400" dirty="0" err="1">
                <a:solidFill>
                  <a:srgbClr val="060606"/>
                </a:solidFill>
              </a:rPr>
              <a:t>2</a:t>
            </a:r>
            <a:r>
              <a:rPr lang="en-US" altLang="zh-CN" sz="2400" dirty="0">
                <a:solidFill>
                  <a:srgbClr val="060606"/>
                </a:solidFill>
              </a:rPr>
              <a:t>           0      -1 </a:t>
            </a:r>
            <a:endParaRPr lang="zh-CN" altLang="en-US" sz="2400" dirty="0">
              <a:solidFill>
                <a:srgbClr val="060606"/>
              </a:solidFill>
            </a:endParaRPr>
          </a:p>
        </p:txBody>
      </p:sp>
      <p:sp>
        <p:nvSpPr>
          <p:cNvPr id="14" name="双括号 13"/>
          <p:cNvSpPr/>
          <p:nvPr/>
        </p:nvSpPr>
        <p:spPr bwMode="auto">
          <a:xfrm>
            <a:off x="4293632" y="1319560"/>
            <a:ext cx="4738608"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5" name="矩形 14"/>
          <p:cNvSpPr/>
          <p:nvPr/>
        </p:nvSpPr>
        <p:spPr>
          <a:xfrm>
            <a:off x="2421424" y="2573289"/>
            <a:ext cx="4724370" cy="461665"/>
          </a:xfrm>
          <a:prstGeom prst="rect">
            <a:avLst/>
          </a:prstGeom>
        </p:spPr>
        <p:txBody>
          <a:bodyPr wrap="square">
            <a:spAutoFit/>
          </a:bodyPr>
          <a:lstStyle/>
          <a:p>
            <a:pPr>
              <a:buNone/>
            </a:pPr>
            <a:r>
              <a:rPr lang="en-US" altLang="zh-CN" sz="2400" dirty="0">
                <a:solidFill>
                  <a:srgbClr val="060606"/>
                </a:solidFill>
              </a:rPr>
              <a:t>0           1        0.4        -0.3      0.1 </a:t>
            </a:r>
            <a:endParaRPr lang="zh-CN" altLang="en-US" sz="2400" b="1" i="1" dirty="0">
              <a:solidFill>
                <a:srgbClr val="060606"/>
              </a:solidFill>
            </a:endParaRPr>
          </a:p>
        </p:txBody>
      </p:sp>
      <p:sp>
        <p:nvSpPr>
          <p:cNvPr id="16" name="矩形 15"/>
          <p:cNvSpPr/>
          <p:nvPr/>
        </p:nvSpPr>
        <p:spPr>
          <a:xfrm>
            <a:off x="2423983" y="3005337"/>
            <a:ext cx="4809330" cy="461665"/>
          </a:xfrm>
          <a:prstGeom prst="rect">
            <a:avLst/>
          </a:prstGeom>
        </p:spPr>
        <p:txBody>
          <a:bodyPr wrap="square">
            <a:spAutoFit/>
          </a:bodyPr>
          <a:lstStyle/>
          <a:p>
            <a:r>
              <a:rPr lang="en-US" altLang="zh-CN" sz="2400" dirty="0">
                <a:solidFill>
                  <a:srgbClr val="060606"/>
                </a:solidFill>
              </a:rPr>
              <a:t>1           0        0.4         0.2      -0.4 </a:t>
            </a:r>
            <a:endParaRPr lang="zh-CN" altLang="en-US" sz="2400" dirty="0">
              <a:solidFill>
                <a:srgbClr val="060606"/>
              </a:solidFill>
            </a:endParaRPr>
          </a:p>
        </p:txBody>
      </p:sp>
      <p:sp>
        <p:nvSpPr>
          <p:cNvPr id="17" name="双括号 16"/>
          <p:cNvSpPr/>
          <p:nvPr/>
        </p:nvSpPr>
        <p:spPr bwMode="auto">
          <a:xfrm>
            <a:off x="2421424" y="2573288"/>
            <a:ext cx="4809330"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8" name="矩形 17"/>
          <p:cNvSpPr/>
          <p:nvPr/>
        </p:nvSpPr>
        <p:spPr>
          <a:xfrm>
            <a:off x="2082870" y="2789313"/>
            <a:ext cx="389850" cy="461665"/>
          </a:xfrm>
          <a:prstGeom prst="rect">
            <a:avLst/>
          </a:prstGeom>
        </p:spPr>
        <p:txBody>
          <a:bodyPr wrap="square">
            <a:spAutoFit/>
          </a:bodyPr>
          <a:lstStyle/>
          <a:p>
            <a:pPr>
              <a:buNone/>
            </a:pPr>
            <a:r>
              <a:rPr lang="en-US" altLang="zh-CN" sz="2400" dirty="0">
                <a:solidFill>
                  <a:srgbClr val="060606"/>
                </a:solidFill>
              </a:rPr>
              <a:t>=</a:t>
            </a:r>
            <a:endParaRPr lang="zh-CN" altLang="en-US" sz="2400" b="1" i="1" dirty="0">
              <a:solidFill>
                <a:srgbClr val="060606"/>
              </a:solidFill>
            </a:endParaRPr>
          </a:p>
        </p:txBody>
      </p:sp>
      <p:sp>
        <p:nvSpPr>
          <p:cNvPr id="19" name="矩形 18"/>
          <p:cNvSpPr/>
          <p:nvPr/>
        </p:nvSpPr>
        <p:spPr>
          <a:xfrm>
            <a:off x="1629337" y="4062473"/>
            <a:ext cx="877163" cy="461665"/>
          </a:xfrm>
          <a:prstGeom prst="rect">
            <a:avLst/>
          </a:prstGeom>
        </p:spPr>
        <p:txBody>
          <a:bodyPr wrap="square">
            <a:spAutoFit/>
          </a:bodyPr>
          <a:lstStyle/>
          <a:p>
            <a:pPr>
              <a:buNone/>
            </a:pPr>
            <a:r>
              <a:rPr lang="en-US" altLang="zh-CN" sz="2400" b="1" i="1" dirty="0">
                <a:solidFill>
                  <a:srgbClr val="060606"/>
                </a:solidFill>
              </a:rPr>
              <a:t>S*b</a:t>
            </a:r>
            <a:r>
              <a:rPr lang="en-US" altLang="zh-CN" sz="2400" dirty="0">
                <a:solidFill>
                  <a:srgbClr val="060606"/>
                </a:solidFill>
              </a:rPr>
              <a:t>=</a:t>
            </a:r>
            <a:endParaRPr lang="zh-CN" altLang="en-US" sz="2400" b="1" i="1" dirty="0">
              <a:solidFill>
                <a:srgbClr val="060606"/>
              </a:solidFill>
            </a:endParaRPr>
          </a:p>
        </p:txBody>
      </p:sp>
      <p:sp>
        <p:nvSpPr>
          <p:cNvPr id="20" name="双括号 19"/>
          <p:cNvSpPr/>
          <p:nvPr/>
        </p:nvSpPr>
        <p:spPr bwMode="auto">
          <a:xfrm>
            <a:off x="2522404" y="3918456"/>
            <a:ext cx="1707745"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1" name="矩形 20"/>
          <p:cNvSpPr/>
          <p:nvPr/>
        </p:nvSpPr>
        <p:spPr>
          <a:xfrm>
            <a:off x="2594412" y="3918457"/>
            <a:ext cx="1630575" cy="461665"/>
          </a:xfrm>
          <a:prstGeom prst="rect">
            <a:avLst/>
          </a:prstGeom>
        </p:spPr>
        <p:txBody>
          <a:bodyPr wrap="square">
            <a:spAutoFit/>
          </a:bodyPr>
          <a:lstStyle/>
          <a:p>
            <a:pPr>
              <a:buNone/>
            </a:pPr>
            <a:r>
              <a:rPr lang="en-US" altLang="zh-CN" sz="2400" dirty="0">
                <a:solidFill>
                  <a:srgbClr val="060606"/>
                </a:solidFill>
              </a:rPr>
              <a:t>0.3      -0.1</a:t>
            </a:r>
            <a:endParaRPr lang="zh-CN" altLang="en-US" sz="2400" b="1" i="1" dirty="0">
              <a:solidFill>
                <a:srgbClr val="060606"/>
              </a:solidFill>
            </a:endParaRPr>
          </a:p>
        </p:txBody>
      </p:sp>
      <p:sp>
        <p:nvSpPr>
          <p:cNvPr id="22" name="矩形 21"/>
          <p:cNvSpPr/>
          <p:nvPr/>
        </p:nvSpPr>
        <p:spPr>
          <a:xfrm>
            <a:off x="2596971" y="4350505"/>
            <a:ext cx="1630575" cy="461665"/>
          </a:xfrm>
          <a:prstGeom prst="rect">
            <a:avLst/>
          </a:prstGeom>
        </p:spPr>
        <p:txBody>
          <a:bodyPr wrap="square">
            <a:spAutoFit/>
          </a:bodyPr>
          <a:lstStyle/>
          <a:p>
            <a:r>
              <a:rPr lang="en-US" altLang="zh-CN" sz="2400" dirty="0">
                <a:solidFill>
                  <a:srgbClr val="060606"/>
                </a:solidFill>
              </a:rPr>
              <a:t>-0.2     0.4 </a:t>
            </a:r>
            <a:endParaRPr lang="zh-CN" altLang="en-US" sz="2400" dirty="0">
              <a:solidFill>
                <a:srgbClr val="060606"/>
              </a:solidFill>
            </a:endParaRPr>
          </a:p>
        </p:txBody>
      </p:sp>
      <p:sp>
        <p:nvSpPr>
          <p:cNvPr id="23" name="矩形 22"/>
          <p:cNvSpPr/>
          <p:nvPr/>
        </p:nvSpPr>
        <p:spPr>
          <a:xfrm>
            <a:off x="4394611" y="3918457"/>
            <a:ext cx="346570" cy="461665"/>
          </a:xfrm>
          <a:prstGeom prst="rect">
            <a:avLst/>
          </a:prstGeom>
        </p:spPr>
        <p:txBody>
          <a:bodyPr wrap="square">
            <a:spAutoFit/>
          </a:bodyPr>
          <a:lstStyle/>
          <a:p>
            <a:pPr>
              <a:buNone/>
            </a:pPr>
            <a:r>
              <a:rPr lang="en-US" altLang="zh-CN" sz="2400" dirty="0">
                <a:solidFill>
                  <a:srgbClr val="060606"/>
                </a:solidFill>
              </a:rPr>
              <a:t>8</a:t>
            </a:r>
            <a:endParaRPr lang="zh-CN" altLang="en-US" sz="2400" b="1" i="1" dirty="0">
              <a:solidFill>
                <a:srgbClr val="060606"/>
              </a:solidFill>
            </a:endParaRPr>
          </a:p>
        </p:txBody>
      </p:sp>
      <p:sp>
        <p:nvSpPr>
          <p:cNvPr id="24" name="矩形 23"/>
          <p:cNvSpPr/>
          <p:nvPr/>
        </p:nvSpPr>
        <p:spPr>
          <a:xfrm>
            <a:off x="4397170" y="4350505"/>
            <a:ext cx="346570" cy="461665"/>
          </a:xfrm>
          <a:prstGeom prst="rect">
            <a:avLst/>
          </a:prstGeom>
        </p:spPr>
        <p:txBody>
          <a:bodyPr wrap="square">
            <a:spAutoFit/>
          </a:bodyPr>
          <a:lstStyle/>
          <a:p>
            <a:r>
              <a:rPr lang="en-US" altLang="zh-CN" sz="2400" dirty="0">
                <a:solidFill>
                  <a:srgbClr val="060606"/>
                </a:solidFill>
              </a:rPr>
              <a:t>6</a:t>
            </a:r>
            <a:endParaRPr lang="zh-CN" altLang="en-US" sz="2400" dirty="0">
              <a:solidFill>
                <a:srgbClr val="060606"/>
              </a:solidFill>
            </a:endParaRPr>
          </a:p>
        </p:txBody>
      </p:sp>
      <p:sp>
        <p:nvSpPr>
          <p:cNvPr id="25" name="双括号 24"/>
          <p:cNvSpPr/>
          <p:nvPr/>
        </p:nvSpPr>
        <p:spPr bwMode="auto">
          <a:xfrm>
            <a:off x="4394612" y="3918456"/>
            <a:ext cx="475085"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6" name="矩形 25"/>
          <p:cNvSpPr/>
          <p:nvPr/>
        </p:nvSpPr>
        <p:spPr>
          <a:xfrm>
            <a:off x="2522404" y="5070585"/>
            <a:ext cx="572593" cy="461665"/>
          </a:xfrm>
          <a:prstGeom prst="rect">
            <a:avLst/>
          </a:prstGeom>
        </p:spPr>
        <p:txBody>
          <a:bodyPr wrap="square">
            <a:spAutoFit/>
          </a:bodyPr>
          <a:lstStyle/>
          <a:p>
            <a:pPr>
              <a:buNone/>
            </a:pPr>
            <a:r>
              <a:rPr lang="en-US" altLang="zh-CN" sz="2400" dirty="0">
                <a:solidFill>
                  <a:srgbClr val="060606"/>
                </a:solidFill>
              </a:rPr>
              <a:t>1.8</a:t>
            </a:r>
            <a:endParaRPr lang="zh-CN" altLang="en-US" sz="2400" b="1" i="1" dirty="0">
              <a:solidFill>
                <a:srgbClr val="060606"/>
              </a:solidFill>
            </a:endParaRPr>
          </a:p>
        </p:txBody>
      </p:sp>
      <p:sp>
        <p:nvSpPr>
          <p:cNvPr id="27" name="矩形 26"/>
          <p:cNvSpPr/>
          <p:nvPr/>
        </p:nvSpPr>
        <p:spPr>
          <a:xfrm>
            <a:off x="2524963" y="5502633"/>
            <a:ext cx="572593" cy="461665"/>
          </a:xfrm>
          <a:prstGeom prst="rect">
            <a:avLst/>
          </a:prstGeom>
        </p:spPr>
        <p:txBody>
          <a:bodyPr wrap="square">
            <a:spAutoFit/>
          </a:bodyPr>
          <a:lstStyle/>
          <a:p>
            <a:r>
              <a:rPr lang="en-US" altLang="zh-CN" sz="2400" dirty="0">
                <a:solidFill>
                  <a:srgbClr val="060606"/>
                </a:solidFill>
              </a:rPr>
              <a:t>0.8</a:t>
            </a:r>
            <a:endParaRPr lang="zh-CN" altLang="en-US" sz="2400" dirty="0">
              <a:solidFill>
                <a:srgbClr val="060606"/>
              </a:solidFill>
            </a:endParaRPr>
          </a:p>
        </p:txBody>
      </p:sp>
      <p:sp>
        <p:nvSpPr>
          <p:cNvPr id="28" name="双括号 27"/>
          <p:cNvSpPr/>
          <p:nvPr/>
        </p:nvSpPr>
        <p:spPr bwMode="auto">
          <a:xfrm>
            <a:off x="2522404" y="5070584"/>
            <a:ext cx="691109"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29" name="矩形 28"/>
          <p:cNvSpPr/>
          <p:nvPr/>
        </p:nvSpPr>
        <p:spPr>
          <a:xfrm>
            <a:off x="2183849" y="5286609"/>
            <a:ext cx="389850" cy="461665"/>
          </a:xfrm>
          <a:prstGeom prst="rect">
            <a:avLst/>
          </a:prstGeom>
        </p:spPr>
        <p:txBody>
          <a:bodyPr wrap="square">
            <a:spAutoFit/>
          </a:bodyPr>
          <a:lstStyle/>
          <a:p>
            <a:pPr>
              <a:buNone/>
            </a:pPr>
            <a:r>
              <a:rPr lang="en-US" altLang="zh-CN" sz="2400" dirty="0">
                <a:solidFill>
                  <a:srgbClr val="060606"/>
                </a:solidFill>
              </a:rPr>
              <a:t>=</a:t>
            </a:r>
            <a:endParaRPr lang="zh-CN" altLang="en-US" sz="2400" b="1" i="1" dirty="0">
              <a:solidFill>
                <a:srgbClr val="060606"/>
              </a:solidFill>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40080" y="260648"/>
          <a:ext cx="11236960" cy="4023360"/>
        </p:xfrm>
        <a:graphic>
          <a:graphicData uri="http://schemas.openxmlformats.org/drawingml/2006/table">
            <a:tbl>
              <a:tblPr firstRow="1" bandRow="1">
                <a:tableStyleId>{5C22544A-7EE6-4342-B048-85BDC9FD1C3A}</a:tableStyleId>
              </a:tblPr>
              <a:tblGrid>
                <a:gridCol w="1721066"/>
                <a:gridCol w="7605046"/>
                <a:gridCol w="1910848"/>
              </a:tblGrid>
              <a:tr h="370840">
                <a:tc gridSpan="3">
                  <a:txBody>
                    <a:bodyPr/>
                    <a:lstStyle/>
                    <a:p>
                      <a:r>
                        <a:rPr lang="zh-CN" altLang="en-US" sz="2400" dirty="0">
                          <a:solidFill>
                            <a:srgbClr val="060606"/>
                          </a:solidFill>
                        </a:rPr>
                        <a:t>最后一张单纯形表</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7</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endParaRPr lang="en-US" altLang="zh-CN" sz="2400" dirty="0">
                        <a:solidFill>
                          <a:srgbClr val="060606"/>
                        </a:solidFill>
                      </a:endParaRPr>
                    </a:p>
                    <a:p>
                      <a:pPr algn="r"/>
                      <a:r>
                        <a:rPr lang="en-US" altLang="zh-CN" sz="2400" dirty="0">
                          <a:solidFill>
                            <a:srgbClr val="060606"/>
                          </a:solidFill>
                        </a:rPr>
                        <a:t>-z</a:t>
                      </a:r>
                      <a:endParaRPr lang="en-US" altLang="zh-CN" sz="24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baseline="-250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1                                              M-0.5               </a:t>
                      </a:r>
                      <a:r>
                        <a:rPr lang="en-US" altLang="zh-CN" sz="2400" dirty="0" err="1">
                          <a:solidFill>
                            <a:srgbClr val="060606"/>
                          </a:solidFill>
                        </a:rPr>
                        <a:t>M-0.5</a:t>
                      </a:r>
                      <a:endParaRPr lang="en-US" altLang="zh-CN" sz="2400" dirty="0">
                        <a:solidFill>
                          <a:srgbClr val="060606"/>
                        </a:solidFill>
                      </a:endParaRPr>
                    </a:p>
                    <a:p>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      </a:t>
                      </a:r>
                      <a:r>
                        <a:rPr lang="en-US" altLang="zh-CN" sz="2400" dirty="0" err="1">
                          <a:solidFill>
                            <a:srgbClr val="060606"/>
                          </a:solidFill>
                        </a:rPr>
                        <a:t>0</a:t>
                      </a:r>
                      <a:r>
                        <a:rPr lang="en-US" altLang="zh-CN" sz="2400" dirty="0">
                          <a:solidFill>
                            <a:srgbClr val="060606"/>
                          </a:solidFill>
                        </a:rPr>
                        <a:t>         1       0.4    -0.3      0.3     0.1       -0.1</a:t>
                      </a:r>
                      <a:endParaRPr lang="en-US" altLang="zh-CN" sz="2400" dirty="0">
                        <a:solidFill>
                          <a:srgbClr val="060606"/>
                        </a:solidFill>
                      </a:endParaRPr>
                    </a:p>
                    <a:p>
                      <a:endParaRPr lang="en-US" altLang="zh-CN" sz="2400" baseline="0" dirty="0">
                        <a:solidFill>
                          <a:srgbClr val="060606"/>
                        </a:solidFill>
                      </a:endParaRPr>
                    </a:p>
                    <a:p>
                      <a:r>
                        <a:rPr lang="en-US" altLang="zh-CN" sz="2400" baseline="0" dirty="0">
                          <a:solidFill>
                            <a:srgbClr val="060606"/>
                          </a:solidFill>
                        </a:rPr>
                        <a:t>0      </a:t>
                      </a:r>
                      <a:r>
                        <a:rPr lang="en-US" altLang="zh-CN" sz="2400" dirty="0">
                          <a:solidFill>
                            <a:srgbClr val="060606"/>
                          </a:solidFill>
                        </a:rPr>
                        <a:t>1         0       0.4     0.2 </a:t>
                      </a:r>
                      <a:r>
                        <a:rPr lang="en-US" altLang="zh-CN" sz="2400" baseline="0" dirty="0">
                          <a:solidFill>
                            <a:srgbClr val="060606"/>
                          </a:solidFill>
                        </a:rPr>
                        <a:t>    -0.2    </a:t>
                      </a:r>
                      <a:r>
                        <a:rPr lang="en-US" altLang="zh-CN" sz="2400" dirty="0">
                          <a:solidFill>
                            <a:srgbClr val="060606"/>
                          </a:solidFill>
                        </a:rPr>
                        <a:t>-0.4 </a:t>
                      </a:r>
                      <a:r>
                        <a:rPr lang="en-US" altLang="zh-CN" sz="2400" baseline="0" dirty="0">
                          <a:solidFill>
                            <a:srgbClr val="060606"/>
                          </a:solidFill>
                        </a:rPr>
                        <a:t>     0.4</a:t>
                      </a:r>
                      <a:endParaRPr lang="en-US" altLang="zh-CN" sz="2400" baseline="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endParaRPr lang="en-US" altLang="zh-CN" sz="2400" dirty="0">
                        <a:solidFill>
                          <a:srgbClr val="060606"/>
                        </a:solidFill>
                      </a:endParaRPr>
                    </a:p>
                    <a:p>
                      <a:endParaRPr lang="en-US" altLang="zh-CN" sz="2400" dirty="0">
                        <a:solidFill>
                          <a:srgbClr val="060606"/>
                        </a:solidFill>
                      </a:endParaRPr>
                    </a:p>
                    <a:p>
                      <a:r>
                        <a:rPr lang="en-US" altLang="zh-CN" sz="2400" dirty="0">
                          <a:solidFill>
                            <a:srgbClr val="060606"/>
                          </a:solidFill>
                        </a:rPr>
                        <a:t>1.8</a:t>
                      </a:r>
                      <a:endParaRPr lang="en-US" altLang="zh-CN" sz="2400" dirty="0">
                        <a:solidFill>
                          <a:srgbClr val="060606"/>
                        </a:solidFill>
                      </a:endParaRPr>
                    </a:p>
                    <a:p>
                      <a:endParaRPr lang="en-US" altLang="zh-CN" sz="2400" dirty="0">
                        <a:solidFill>
                          <a:srgbClr val="060606"/>
                        </a:solidFill>
                      </a:endParaRPr>
                    </a:p>
                    <a:p>
                      <a:r>
                        <a:rPr lang="en-US" altLang="zh-CN" sz="2400" dirty="0">
                          <a:solidFill>
                            <a:srgbClr val="060606"/>
                          </a:solidFill>
                        </a:rPr>
                        <a:t>0.8</a:t>
                      </a:r>
                      <a:endParaRPr lang="en-US" altLang="zh-CN" sz="2400" dirty="0">
                        <a:solidFill>
                          <a:srgbClr val="060606"/>
                        </a:solidFill>
                      </a:endParaRPr>
                    </a:p>
                    <a:p>
                      <a:endParaRPr lang="en-US" altLang="zh-CN"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92312" y="620688"/>
            <a:ext cx="9361487" cy="5616624"/>
          </a:xfrm>
        </p:spPr>
        <p:txBody>
          <a:bodyPr/>
          <a:lstStyle/>
          <a:p>
            <a:pPr>
              <a:buNone/>
            </a:pPr>
            <a:r>
              <a:rPr lang="zh-CN" altLang="en-US" sz="2400" dirty="0">
                <a:solidFill>
                  <a:srgbClr val="00000C"/>
                </a:solidFill>
              </a:rPr>
              <a:t>由</a:t>
            </a:r>
            <a:r>
              <a:rPr lang="en-US" altLang="zh-CN" sz="2400" b="1" i="1" dirty="0">
                <a:solidFill>
                  <a:srgbClr val="00000C"/>
                </a:solidFill>
              </a:rPr>
              <a:t>t* </a:t>
            </a:r>
            <a:r>
              <a:rPr lang="en-US" altLang="zh-CN" sz="2400" dirty="0">
                <a:solidFill>
                  <a:srgbClr val="00000C"/>
                </a:solidFill>
              </a:rPr>
              <a:t>= </a:t>
            </a:r>
            <a:r>
              <a:rPr lang="en-US" altLang="zh-CN" sz="2400" b="1" i="1" dirty="0" err="1">
                <a:solidFill>
                  <a:srgbClr val="00000C"/>
                </a:solidFill>
              </a:rPr>
              <a:t>t</a:t>
            </a:r>
            <a:r>
              <a:rPr lang="en-US" altLang="zh-CN" sz="2400" dirty="0">
                <a:solidFill>
                  <a:srgbClr val="00000C"/>
                </a:solidFill>
              </a:rPr>
              <a:t> + </a:t>
            </a:r>
            <a:r>
              <a:rPr lang="en-US" altLang="zh-CN" sz="2400" b="1" i="1" dirty="0">
                <a:solidFill>
                  <a:srgbClr val="0000AC"/>
                </a:solidFill>
              </a:rPr>
              <a:t>y*</a:t>
            </a:r>
            <a:r>
              <a:rPr lang="en-US" altLang="zh-CN" sz="2400" b="1" i="1" dirty="0">
                <a:solidFill>
                  <a:srgbClr val="00000C"/>
                </a:solidFill>
              </a:rPr>
              <a:t>T</a:t>
            </a:r>
            <a:r>
              <a:rPr lang="en-US" altLang="zh-CN" sz="2400" dirty="0">
                <a:solidFill>
                  <a:srgbClr val="00000C"/>
                </a:solidFill>
              </a:rPr>
              <a:t> = [</a:t>
            </a:r>
            <a:r>
              <a:rPr lang="en-US" altLang="zh-CN" sz="2400" b="1" i="1" dirty="0">
                <a:solidFill>
                  <a:srgbClr val="00000C"/>
                </a:solidFill>
              </a:rPr>
              <a:t>y*A-c</a:t>
            </a:r>
            <a:r>
              <a:rPr lang="en-US" altLang="zh-CN" sz="2400" dirty="0">
                <a:solidFill>
                  <a:srgbClr val="00000C"/>
                </a:solidFill>
              </a:rPr>
              <a:t>    </a:t>
            </a:r>
            <a:r>
              <a:rPr lang="en-US" altLang="zh-CN" sz="2400" b="1" i="1" dirty="0">
                <a:solidFill>
                  <a:srgbClr val="0000AC"/>
                </a:solidFill>
              </a:rPr>
              <a:t>y*</a:t>
            </a:r>
            <a:r>
              <a:rPr lang="en-US" altLang="zh-CN" sz="2400" dirty="0">
                <a:solidFill>
                  <a:srgbClr val="0000AC"/>
                </a:solidFill>
              </a:rPr>
              <a:t>    </a:t>
            </a:r>
            <a:r>
              <a:rPr lang="en-US" altLang="zh-CN" sz="2400" b="1" i="1" dirty="0" err="1">
                <a:solidFill>
                  <a:srgbClr val="00000C"/>
                </a:solidFill>
              </a:rPr>
              <a:t>y</a:t>
            </a:r>
            <a:r>
              <a:rPr lang="en-US" altLang="zh-CN" sz="2400" b="1" i="1" dirty="0">
                <a:solidFill>
                  <a:srgbClr val="00000C"/>
                </a:solidFill>
              </a:rPr>
              <a:t>*b </a:t>
            </a:r>
            <a:r>
              <a:rPr lang="en-US" altLang="zh-CN" sz="2400" dirty="0">
                <a:solidFill>
                  <a:srgbClr val="00000C"/>
                </a:solidFill>
              </a:rPr>
              <a:t>+ z</a:t>
            </a:r>
            <a:r>
              <a:rPr lang="en-US" altLang="zh-CN" sz="2400" baseline="-25000" dirty="0">
                <a:solidFill>
                  <a:srgbClr val="00000C"/>
                </a:solidFill>
              </a:rPr>
              <a:t>0</a:t>
            </a:r>
            <a:r>
              <a:rPr lang="en-US" altLang="zh-CN" sz="2400" dirty="0">
                <a:solidFill>
                  <a:srgbClr val="00000C"/>
                </a:solidFill>
              </a:rPr>
              <a:t>]</a:t>
            </a:r>
            <a:endParaRPr lang="zh-CN" altLang="en-US" sz="2400" dirty="0">
              <a:solidFill>
                <a:srgbClr val="00000C"/>
              </a:solidFill>
            </a:endParaRPr>
          </a:p>
        </p:txBody>
      </p:sp>
      <p:cxnSp>
        <p:nvCxnSpPr>
          <p:cNvPr id="4" name="直接连接符 3"/>
          <p:cNvCxnSpPr/>
          <p:nvPr/>
        </p:nvCxnSpPr>
        <p:spPr bwMode="auto">
          <a:xfrm>
            <a:off x="5340112" y="620688"/>
            <a:ext cx="0" cy="576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p:cNvCxnSpPr/>
          <p:nvPr/>
        </p:nvCxnSpPr>
        <p:spPr bwMode="auto">
          <a:xfrm>
            <a:off x="5998344" y="620688"/>
            <a:ext cx="0" cy="576000"/>
          </a:xfrm>
          <a:prstGeom prst="line">
            <a:avLst/>
          </a:prstGeom>
          <a:solidFill>
            <a:schemeClr val="accent1"/>
          </a:solidFill>
          <a:ln w="38100" cap="flat" cmpd="sng" algn="ctr">
            <a:solidFill>
              <a:srgbClr val="0000A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9"/>
          <p:cNvSpPr/>
          <p:nvPr/>
        </p:nvSpPr>
        <p:spPr>
          <a:xfrm>
            <a:off x="1801292" y="1392160"/>
            <a:ext cx="6542176" cy="1569660"/>
          </a:xfrm>
          <a:prstGeom prst="rect">
            <a:avLst/>
          </a:prstGeom>
        </p:spPr>
        <p:txBody>
          <a:bodyPr wrap="none">
            <a:spAutoFit/>
          </a:bodyPr>
          <a:lstStyle/>
          <a:p>
            <a:pPr>
              <a:buNone/>
            </a:pPr>
            <a:r>
              <a:rPr lang="en-US" altLang="zh-CN" sz="2400" b="1" i="1" dirty="0">
                <a:solidFill>
                  <a:srgbClr val="060606"/>
                </a:solidFill>
              </a:rPr>
              <a:t>y* A</a:t>
            </a:r>
            <a:r>
              <a:rPr lang="en-US" altLang="zh-CN" sz="2400" dirty="0">
                <a:solidFill>
                  <a:srgbClr val="060606"/>
                </a:solidFill>
              </a:rPr>
              <a:t>= [M – 0.5   M-0.5]</a:t>
            </a:r>
            <a:endParaRPr lang="en-US" altLang="zh-CN" sz="2400" dirty="0">
              <a:solidFill>
                <a:srgbClr val="060606"/>
              </a:solidFill>
            </a:endParaRPr>
          </a:p>
          <a:p>
            <a:pPr>
              <a:buNone/>
            </a:pPr>
            <a:r>
              <a:rPr lang="en-US" altLang="zh-CN" sz="2400" b="1" i="1" dirty="0">
                <a:solidFill>
                  <a:srgbClr val="060606"/>
                </a:solidFill>
              </a:rPr>
              <a:t> </a:t>
            </a:r>
            <a:endParaRPr lang="en-US" altLang="zh-CN" sz="2400" b="1" i="1" dirty="0">
              <a:solidFill>
                <a:srgbClr val="060606"/>
              </a:solidFill>
            </a:endParaRPr>
          </a:p>
          <a:p>
            <a:pPr>
              <a:buNone/>
            </a:pPr>
            <a:r>
              <a:rPr lang="en-US" altLang="zh-CN" sz="2400" b="1" i="1" dirty="0">
                <a:solidFill>
                  <a:srgbClr val="060606"/>
                </a:solidFill>
              </a:rPr>
              <a:t>        </a:t>
            </a:r>
            <a:endParaRPr lang="en-US" altLang="zh-CN" sz="2400" b="1" i="1" dirty="0">
              <a:solidFill>
                <a:srgbClr val="060606"/>
              </a:solidFill>
            </a:endParaRPr>
          </a:p>
          <a:p>
            <a:pPr>
              <a:buNone/>
            </a:pPr>
            <a:r>
              <a:rPr lang="en-US" altLang="zh-CN" sz="2400" b="1" i="1" dirty="0">
                <a:solidFill>
                  <a:srgbClr val="060606"/>
                </a:solidFill>
              </a:rPr>
              <a:t>        </a:t>
            </a:r>
            <a:r>
              <a:rPr lang="en-US" altLang="zh-CN" sz="2400" dirty="0">
                <a:solidFill>
                  <a:srgbClr val="060606"/>
                </a:solidFill>
              </a:rPr>
              <a:t>= [4M-2   6M-3    4M-2   0.5-M       </a:t>
            </a:r>
            <a:r>
              <a:rPr lang="en-US" altLang="zh-CN" sz="2400" dirty="0" err="1">
                <a:solidFill>
                  <a:srgbClr val="060606"/>
                </a:solidFill>
              </a:rPr>
              <a:t>0.5-M</a:t>
            </a:r>
            <a:endParaRPr lang="zh-CN" altLang="en-US" sz="2400" dirty="0">
              <a:solidFill>
                <a:srgbClr val="060606"/>
              </a:solidFill>
            </a:endParaRPr>
          </a:p>
        </p:txBody>
      </p:sp>
      <p:sp>
        <p:nvSpPr>
          <p:cNvPr id="11" name="矩形 10"/>
          <p:cNvSpPr/>
          <p:nvPr/>
        </p:nvSpPr>
        <p:spPr>
          <a:xfrm>
            <a:off x="5159897" y="1268761"/>
            <a:ext cx="4376519" cy="461665"/>
          </a:xfrm>
          <a:prstGeom prst="rect">
            <a:avLst/>
          </a:prstGeom>
        </p:spPr>
        <p:txBody>
          <a:bodyPr wrap="none">
            <a:spAutoFit/>
          </a:bodyPr>
          <a:lstStyle/>
          <a:p>
            <a:pPr>
              <a:buNone/>
            </a:pPr>
            <a:r>
              <a:rPr lang="en-US" altLang="zh-CN" sz="2400" dirty="0">
                <a:solidFill>
                  <a:srgbClr val="060606"/>
                </a:solidFill>
              </a:rPr>
              <a:t>1           4          2          -1      0 </a:t>
            </a:r>
            <a:endParaRPr lang="zh-CN" altLang="en-US" sz="2400" b="1" i="1" dirty="0">
              <a:solidFill>
                <a:srgbClr val="060606"/>
              </a:solidFill>
            </a:endParaRPr>
          </a:p>
        </p:txBody>
      </p:sp>
      <p:sp>
        <p:nvSpPr>
          <p:cNvPr id="12" name="矩形 11"/>
          <p:cNvSpPr/>
          <p:nvPr/>
        </p:nvSpPr>
        <p:spPr>
          <a:xfrm>
            <a:off x="5162455" y="1700809"/>
            <a:ext cx="4461478" cy="461665"/>
          </a:xfrm>
          <a:prstGeom prst="rect">
            <a:avLst/>
          </a:prstGeom>
        </p:spPr>
        <p:txBody>
          <a:bodyPr wrap="none">
            <a:spAutoFit/>
          </a:bodyPr>
          <a:lstStyle/>
          <a:p>
            <a:r>
              <a:rPr lang="en-US" altLang="zh-CN" sz="2400" dirty="0">
                <a:solidFill>
                  <a:srgbClr val="060606"/>
                </a:solidFill>
              </a:rPr>
              <a:t>3           2          </a:t>
            </a:r>
            <a:r>
              <a:rPr lang="en-US" altLang="zh-CN" sz="2400" dirty="0" err="1">
                <a:solidFill>
                  <a:srgbClr val="060606"/>
                </a:solidFill>
              </a:rPr>
              <a:t>2</a:t>
            </a:r>
            <a:r>
              <a:rPr lang="en-US" altLang="zh-CN" sz="2400" dirty="0">
                <a:solidFill>
                  <a:srgbClr val="060606"/>
                </a:solidFill>
              </a:rPr>
              <a:t>           0      -1 </a:t>
            </a:r>
            <a:endParaRPr lang="zh-CN" altLang="en-US" sz="2400" dirty="0">
              <a:solidFill>
                <a:srgbClr val="060606"/>
              </a:solidFill>
            </a:endParaRPr>
          </a:p>
        </p:txBody>
      </p:sp>
      <p:sp>
        <p:nvSpPr>
          <p:cNvPr id="13" name="双括号 12"/>
          <p:cNvSpPr/>
          <p:nvPr/>
        </p:nvSpPr>
        <p:spPr bwMode="auto">
          <a:xfrm>
            <a:off x="5159896" y="1268760"/>
            <a:ext cx="4746104"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4" name="矩形 13"/>
          <p:cNvSpPr/>
          <p:nvPr/>
        </p:nvSpPr>
        <p:spPr>
          <a:xfrm>
            <a:off x="2279576" y="3170586"/>
            <a:ext cx="5838263" cy="461665"/>
          </a:xfrm>
          <a:prstGeom prst="rect">
            <a:avLst/>
          </a:prstGeom>
        </p:spPr>
        <p:txBody>
          <a:bodyPr wrap="square">
            <a:spAutoFit/>
          </a:bodyPr>
          <a:lstStyle/>
          <a:p>
            <a:pPr>
              <a:buNone/>
            </a:pPr>
            <a:r>
              <a:rPr lang="en-US" altLang="zh-CN" sz="2400" b="1" i="1" dirty="0">
                <a:solidFill>
                  <a:srgbClr val="060606"/>
                </a:solidFill>
              </a:rPr>
              <a:t>y* A - C</a:t>
            </a:r>
            <a:r>
              <a:rPr lang="en-US" altLang="zh-CN" sz="2400" dirty="0">
                <a:solidFill>
                  <a:srgbClr val="060606"/>
                </a:solidFill>
              </a:rPr>
              <a:t>= [  0   0    0   0.5       0.5]</a:t>
            </a:r>
            <a:endParaRPr lang="zh-CN" altLang="en-US" sz="2400" dirty="0">
              <a:solidFill>
                <a:srgbClr val="060606"/>
              </a:solidFill>
            </a:endParaRPr>
          </a:p>
        </p:txBody>
      </p:sp>
      <p:sp>
        <p:nvSpPr>
          <p:cNvPr id="15" name="矩形 14"/>
          <p:cNvSpPr/>
          <p:nvPr/>
        </p:nvSpPr>
        <p:spPr>
          <a:xfrm>
            <a:off x="1960143" y="3800335"/>
            <a:ext cx="5477782" cy="461665"/>
          </a:xfrm>
          <a:prstGeom prst="rect">
            <a:avLst/>
          </a:prstGeom>
        </p:spPr>
        <p:txBody>
          <a:bodyPr wrap="none">
            <a:spAutoFit/>
          </a:bodyPr>
          <a:lstStyle/>
          <a:p>
            <a:pPr>
              <a:buNone/>
            </a:pPr>
            <a:r>
              <a:rPr lang="en-US" altLang="zh-CN" sz="2400" b="1" i="1" dirty="0">
                <a:solidFill>
                  <a:srgbClr val="060606"/>
                </a:solidFill>
              </a:rPr>
              <a:t>y* b</a:t>
            </a:r>
            <a:r>
              <a:rPr lang="en-US" altLang="zh-CN" sz="2400" dirty="0">
                <a:solidFill>
                  <a:srgbClr val="060606"/>
                </a:solidFill>
              </a:rPr>
              <a:t>= [M – 0.5   M-0.5 ]           = 14M-7</a:t>
            </a:r>
            <a:endParaRPr lang="zh-CN" altLang="en-US" sz="2400" dirty="0">
              <a:solidFill>
                <a:srgbClr val="060606"/>
              </a:solidFill>
            </a:endParaRPr>
          </a:p>
        </p:txBody>
      </p:sp>
      <p:sp>
        <p:nvSpPr>
          <p:cNvPr id="16" name="双括号 15"/>
          <p:cNvSpPr/>
          <p:nvPr/>
        </p:nvSpPr>
        <p:spPr bwMode="auto">
          <a:xfrm>
            <a:off x="5260876" y="3645024"/>
            <a:ext cx="475085" cy="864096"/>
          </a:xfrm>
          <a:prstGeom prst="bracketPair">
            <a:avLst/>
          </a:prstGeom>
          <a:noFill/>
          <a:ln w="38100" cap="flat" cmpd="sng" algn="ctr">
            <a:solidFill>
              <a:srgbClr val="00000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fontAlgn="base">
              <a:spcBef>
                <a:spcPct val="0"/>
              </a:spcBef>
              <a:spcAft>
                <a:spcPct val="0"/>
              </a:spcAft>
            </a:pPr>
            <a:endParaRPr lang="zh-CN" altLang="en-US">
              <a:latin typeface="Arial" panose="020B0604020202090204" pitchFamily="34" charset="0"/>
              <a:ea typeface="宋体" panose="02010600030101010101" pitchFamily="2" charset="-122"/>
            </a:endParaRPr>
          </a:p>
        </p:txBody>
      </p:sp>
      <p:sp>
        <p:nvSpPr>
          <p:cNvPr id="17" name="矩形 16"/>
          <p:cNvSpPr/>
          <p:nvPr/>
        </p:nvSpPr>
        <p:spPr>
          <a:xfrm>
            <a:off x="5321235" y="3573017"/>
            <a:ext cx="346570" cy="461665"/>
          </a:xfrm>
          <a:prstGeom prst="rect">
            <a:avLst/>
          </a:prstGeom>
        </p:spPr>
        <p:txBody>
          <a:bodyPr wrap="none">
            <a:spAutoFit/>
          </a:bodyPr>
          <a:lstStyle/>
          <a:p>
            <a:pPr>
              <a:buNone/>
            </a:pPr>
            <a:r>
              <a:rPr lang="en-US" altLang="zh-CN" sz="2400" dirty="0">
                <a:solidFill>
                  <a:srgbClr val="060606"/>
                </a:solidFill>
              </a:rPr>
              <a:t>8</a:t>
            </a:r>
            <a:endParaRPr lang="zh-CN" altLang="en-US" sz="2400" b="1" i="1" dirty="0">
              <a:solidFill>
                <a:srgbClr val="060606"/>
              </a:solidFill>
            </a:endParaRPr>
          </a:p>
        </p:txBody>
      </p:sp>
      <p:sp>
        <p:nvSpPr>
          <p:cNvPr id="18" name="矩形 17"/>
          <p:cNvSpPr/>
          <p:nvPr/>
        </p:nvSpPr>
        <p:spPr>
          <a:xfrm>
            <a:off x="5323794" y="4005065"/>
            <a:ext cx="346570" cy="461665"/>
          </a:xfrm>
          <a:prstGeom prst="rect">
            <a:avLst/>
          </a:prstGeom>
        </p:spPr>
        <p:txBody>
          <a:bodyPr wrap="none">
            <a:spAutoFit/>
          </a:bodyPr>
          <a:lstStyle/>
          <a:p>
            <a:r>
              <a:rPr lang="en-US" altLang="zh-CN" sz="2400" dirty="0">
                <a:solidFill>
                  <a:srgbClr val="060606"/>
                </a:solidFill>
              </a:rPr>
              <a:t>6</a:t>
            </a:r>
            <a:endParaRPr lang="zh-CN" altLang="en-US" sz="2400" dirty="0">
              <a:solidFill>
                <a:srgbClr val="060606"/>
              </a:solidFill>
            </a:endParaRPr>
          </a:p>
        </p:txBody>
      </p:sp>
      <p:sp>
        <p:nvSpPr>
          <p:cNvPr id="19" name="矩形 18"/>
          <p:cNvSpPr/>
          <p:nvPr/>
        </p:nvSpPr>
        <p:spPr>
          <a:xfrm>
            <a:off x="2207569" y="4653137"/>
            <a:ext cx="2060179" cy="461665"/>
          </a:xfrm>
          <a:prstGeom prst="rect">
            <a:avLst/>
          </a:prstGeom>
        </p:spPr>
        <p:txBody>
          <a:bodyPr wrap="none">
            <a:spAutoFit/>
          </a:bodyPr>
          <a:lstStyle/>
          <a:p>
            <a:pPr>
              <a:buNone/>
            </a:pPr>
            <a:r>
              <a:rPr lang="en-US" altLang="zh-CN" sz="2400" b="1" i="1" dirty="0">
                <a:solidFill>
                  <a:srgbClr val="060606"/>
                </a:solidFill>
              </a:rPr>
              <a:t>y* b </a:t>
            </a:r>
            <a:r>
              <a:rPr lang="en-US" altLang="zh-CN" sz="2400" dirty="0">
                <a:solidFill>
                  <a:srgbClr val="00000C"/>
                </a:solidFill>
              </a:rPr>
              <a:t>+ z</a:t>
            </a:r>
            <a:r>
              <a:rPr lang="en-US" altLang="zh-CN" sz="2400" baseline="-25000" dirty="0">
                <a:solidFill>
                  <a:srgbClr val="00000C"/>
                </a:solidFill>
              </a:rPr>
              <a:t>0</a:t>
            </a:r>
            <a:r>
              <a:rPr lang="en-US" altLang="zh-CN" sz="2400" b="1" i="1" dirty="0">
                <a:solidFill>
                  <a:srgbClr val="060606"/>
                </a:solidFill>
              </a:rPr>
              <a:t> </a:t>
            </a:r>
            <a:r>
              <a:rPr lang="en-US" altLang="zh-CN" sz="2400" dirty="0">
                <a:solidFill>
                  <a:srgbClr val="060606"/>
                </a:solidFill>
              </a:rPr>
              <a:t>= -7</a:t>
            </a:r>
            <a:endParaRPr lang="zh-CN" altLang="en-US" sz="2400" dirty="0">
              <a:solidFill>
                <a:srgbClr val="060606"/>
              </a:solidFill>
            </a:endParaRPr>
          </a:p>
        </p:txBody>
      </p:sp>
      <p:sp>
        <p:nvSpPr>
          <p:cNvPr id="20" name="灯片编号占位符 19"/>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111280" y="1175048"/>
          <a:ext cx="10288240" cy="4023360"/>
        </p:xfrm>
        <a:graphic>
          <a:graphicData uri="http://schemas.openxmlformats.org/drawingml/2006/table">
            <a:tbl>
              <a:tblPr firstRow="1" bandRow="1">
                <a:tableStyleId>{5C22544A-7EE6-4342-B048-85BDC9FD1C3A}</a:tableStyleId>
              </a:tblPr>
              <a:tblGrid>
                <a:gridCol w="1575759"/>
                <a:gridCol w="6962964"/>
                <a:gridCol w="1749517"/>
              </a:tblGrid>
              <a:tr h="370840">
                <a:tc gridSpan="3">
                  <a:txBody>
                    <a:bodyPr/>
                    <a:lstStyle/>
                    <a:p>
                      <a:r>
                        <a:rPr lang="zh-CN" altLang="en-US" sz="2400" dirty="0">
                          <a:solidFill>
                            <a:srgbClr val="060606"/>
                          </a:solidFill>
                        </a:rPr>
                        <a:t>最后一张单纯形表</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rowSpan="2">
                  <a:txBody>
                    <a:bodyPr/>
                    <a:lstStyle/>
                    <a:p>
                      <a:r>
                        <a:rPr lang="en-US" altLang="zh-CN" sz="2400" dirty="0">
                          <a:solidFill>
                            <a:srgbClr val="060606"/>
                          </a:solidFill>
                        </a:rPr>
                        <a:t>BV.</a:t>
                      </a:r>
                      <a:endParaRPr lang="zh-CN" altLang="en-US"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400" dirty="0">
                          <a:solidFill>
                            <a:srgbClr val="060606"/>
                          </a:solidFill>
                        </a:rPr>
                        <a:t>系数</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r>
                        <a:rPr lang="zh-CN" altLang="en-US" sz="2400" dirty="0">
                          <a:solidFill>
                            <a:srgbClr val="060606"/>
                          </a:solidFill>
                        </a:rPr>
                        <a:t>右端</a:t>
                      </a:r>
                      <a:r>
                        <a:rPr lang="en-US" altLang="zh-CN" sz="2400" dirty="0">
                          <a:solidFill>
                            <a:srgbClr val="060606"/>
                          </a:solidFill>
                        </a:rPr>
                        <a:t>(</a:t>
                      </a:r>
                      <a:r>
                        <a:rPr lang="zh-CN" altLang="en-US" sz="2400" baseline="0" dirty="0">
                          <a:solidFill>
                            <a:srgbClr val="060606"/>
                          </a:solidFill>
                        </a:rPr>
                        <a:t>比值</a:t>
                      </a:r>
                      <a:r>
                        <a:rPr lang="en-US" altLang="zh-CN" sz="2400" baseline="0" dirty="0">
                          <a:solidFill>
                            <a:srgbClr val="060606"/>
                          </a:solidFill>
                        </a:rPr>
                        <a:t>)</a:t>
                      </a:r>
                      <a:endParaRPr lang="zh-CN" altLang="en-US"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-z      </a:t>
                      </a:r>
                      <a:r>
                        <a:rPr lang="en-US" altLang="zh-CN" sz="2400" kern="1200" dirty="0">
                          <a:solidFill>
                            <a:schemeClr val="dk1"/>
                          </a:solidFill>
                          <a:latin typeface="+mn-lt"/>
                          <a:ea typeface="+mn-ea"/>
                          <a:cs typeface="+mn-cs"/>
                        </a:rPr>
                        <a:t>x</a:t>
                      </a:r>
                      <a:r>
                        <a:rPr lang="en-US" altLang="zh-CN" sz="2400" kern="1200" baseline="-25000" dirty="0">
                          <a:solidFill>
                            <a:schemeClr val="dk1"/>
                          </a:solidFill>
                          <a:latin typeface="+mn-lt"/>
                          <a:ea typeface="+mn-ea"/>
                          <a:cs typeface="+mn-cs"/>
                        </a:rPr>
                        <a:t>1</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2</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3</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4</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5</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6</a:t>
                      </a:r>
                      <a:r>
                        <a:rPr lang="en-US" altLang="zh-CN" sz="2400" kern="1200" dirty="0">
                          <a:solidFill>
                            <a:schemeClr val="dk1"/>
                          </a:solidFill>
                          <a:latin typeface="+mn-lt"/>
                          <a:ea typeface="+mn-ea"/>
                          <a:cs typeface="+mn-cs"/>
                        </a:rPr>
                        <a:t>         x</a:t>
                      </a:r>
                      <a:r>
                        <a:rPr lang="en-US" altLang="zh-CN" sz="2400" kern="1200" baseline="-25000" dirty="0">
                          <a:solidFill>
                            <a:schemeClr val="dk1"/>
                          </a:solidFill>
                          <a:latin typeface="+mn-lt"/>
                          <a:ea typeface="+mn-ea"/>
                          <a:cs typeface="+mn-cs"/>
                        </a:rPr>
                        <a:t>7</a:t>
                      </a:r>
                      <a:endParaRPr lang="zh-CN" altLang="zh-CN" sz="2400" kern="1200" dirty="0">
                        <a:solidFill>
                          <a:schemeClr val="dk1"/>
                        </a:solidFill>
                        <a:latin typeface="+mn-lt"/>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a:tc>
              </a:tr>
              <a:tr h="370840">
                <a:tc>
                  <a:txBody>
                    <a:bodyPr/>
                    <a:lstStyle/>
                    <a:p>
                      <a:pPr algn="r"/>
                      <a:endParaRPr lang="en-US" altLang="zh-CN" sz="2400" dirty="0">
                        <a:solidFill>
                          <a:srgbClr val="060606"/>
                        </a:solidFill>
                      </a:endParaRPr>
                    </a:p>
                    <a:p>
                      <a:pPr algn="r"/>
                      <a:r>
                        <a:rPr lang="en-US" altLang="zh-CN" sz="2400" dirty="0">
                          <a:solidFill>
                            <a:srgbClr val="060606"/>
                          </a:solidFill>
                        </a:rPr>
                        <a:t>-z</a:t>
                      </a:r>
                      <a:endParaRPr lang="en-US" altLang="zh-CN" sz="24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2</a:t>
                      </a:r>
                      <a:endParaRPr lang="en-US" altLang="zh-CN" sz="2400" baseline="-25000" dirty="0">
                        <a:solidFill>
                          <a:srgbClr val="060606"/>
                        </a:solidFill>
                      </a:endParaRPr>
                    </a:p>
                    <a:p>
                      <a:pPr algn="r"/>
                      <a:endParaRPr lang="en-US" altLang="zh-CN" sz="2400" dirty="0">
                        <a:solidFill>
                          <a:srgbClr val="060606"/>
                        </a:solidFill>
                      </a:endParaRPr>
                    </a:p>
                    <a:p>
                      <a:pPr algn="r"/>
                      <a:r>
                        <a:rPr lang="en-US" altLang="zh-CN" sz="2400" dirty="0">
                          <a:solidFill>
                            <a:srgbClr val="060606"/>
                          </a:solidFill>
                        </a:rPr>
                        <a:t>x</a:t>
                      </a:r>
                      <a:r>
                        <a:rPr lang="en-US" altLang="zh-CN" sz="2400" baseline="-25000" dirty="0">
                          <a:solidFill>
                            <a:srgbClr val="060606"/>
                          </a:solidFill>
                        </a:rPr>
                        <a:t>1</a:t>
                      </a:r>
                      <a:endParaRPr lang="en-US" altLang="zh-CN" sz="2400" dirty="0">
                        <a:solidFill>
                          <a:srgbClr val="060606"/>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a:solidFill>
                            <a:srgbClr val="060606"/>
                          </a:solidFill>
                        </a:rPr>
                        <a:t>1      0       </a:t>
                      </a:r>
                      <a:r>
                        <a:rPr lang="en-US" altLang="zh-CN" sz="2400" dirty="0" err="1">
                          <a:solidFill>
                            <a:srgbClr val="060606"/>
                          </a:solidFill>
                        </a:rPr>
                        <a:t>0</a:t>
                      </a:r>
                      <a:r>
                        <a:rPr lang="en-US" altLang="zh-CN" sz="2400" dirty="0">
                          <a:solidFill>
                            <a:srgbClr val="060606"/>
                          </a:solidFill>
                        </a:rPr>
                        <a:t>        </a:t>
                      </a:r>
                      <a:r>
                        <a:rPr lang="en-US" altLang="zh-CN" sz="2400" dirty="0" err="1">
                          <a:solidFill>
                            <a:srgbClr val="060606"/>
                          </a:solidFill>
                        </a:rPr>
                        <a:t>0</a:t>
                      </a:r>
                      <a:r>
                        <a:rPr lang="en-US" altLang="zh-CN" sz="2400" dirty="0">
                          <a:solidFill>
                            <a:srgbClr val="060606"/>
                          </a:solidFill>
                        </a:rPr>
                        <a:t>       0.5   M-0.5     0.5    M-0.5</a:t>
                      </a:r>
                      <a:endParaRPr lang="en-US" altLang="zh-CN" sz="2400" dirty="0">
                        <a:solidFill>
                          <a:srgbClr val="060606"/>
                        </a:solidFill>
                      </a:endParaRPr>
                    </a:p>
                    <a:p>
                      <a:r>
                        <a:rPr lang="en-US" altLang="zh-CN" sz="2400" dirty="0">
                          <a:solidFill>
                            <a:srgbClr val="060606"/>
                          </a:solidFill>
                        </a:rPr>
                        <a:t>                 </a:t>
                      </a:r>
                      <a:endParaRPr lang="en-US" altLang="zh-CN" sz="2400" dirty="0">
                        <a:solidFill>
                          <a:srgbClr val="060606"/>
                        </a:solidFill>
                      </a:endParaRPr>
                    </a:p>
                    <a:p>
                      <a:r>
                        <a:rPr lang="en-US" altLang="zh-CN" sz="2400" dirty="0">
                          <a:solidFill>
                            <a:srgbClr val="060606"/>
                          </a:solidFill>
                        </a:rPr>
                        <a:t>0      </a:t>
                      </a:r>
                      <a:r>
                        <a:rPr lang="en-US" altLang="zh-CN" sz="2400" dirty="0" err="1">
                          <a:solidFill>
                            <a:srgbClr val="060606"/>
                          </a:solidFill>
                        </a:rPr>
                        <a:t>0</a:t>
                      </a:r>
                      <a:r>
                        <a:rPr lang="en-US" altLang="zh-CN" sz="2400" dirty="0">
                          <a:solidFill>
                            <a:srgbClr val="060606"/>
                          </a:solidFill>
                        </a:rPr>
                        <a:t>         1       0.4    -0.3      0.3     0.1       -0.1</a:t>
                      </a:r>
                      <a:endParaRPr lang="en-US" altLang="zh-CN" sz="2400" dirty="0">
                        <a:solidFill>
                          <a:srgbClr val="060606"/>
                        </a:solidFill>
                      </a:endParaRPr>
                    </a:p>
                    <a:p>
                      <a:endParaRPr lang="en-US" altLang="zh-CN" sz="2400" baseline="0" dirty="0">
                        <a:solidFill>
                          <a:srgbClr val="060606"/>
                        </a:solidFill>
                      </a:endParaRPr>
                    </a:p>
                    <a:p>
                      <a:r>
                        <a:rPr lang="en-US" altLang="zh-CN" sz="2400" baseline="0" dirty="0">
                          <a:solidFill>
                            <a:srgbClr val="060606"/>
                          </a:solidFill>
                        </a:rPr>
                        <a:t>0      </a:t>
                      </a:r>
                      <a:r>
                        <a:rPr lang="en-US" altLang="zh-CN" sz="2400" dirty="0">
                          <a:solidFill>
                            <a:srgbClr val="060606"/>
                          </a:solidFill>
                        </a:rPr>
                        <a:t>1         0       0.4     0.2 </a:t>
                      </a:r>
                      <a:r>
                        <a:rPr lang="en-US" altLang="zh-CN" sz="2400" baseline="0" dirty="0">
                          <a:solidFill>
                            <a:srgbClr val="060606"/>
                          </a:solidFill>
                        </a:rPr>
                        <a:t>    -0.2    </a:t>
                      </a:r>
                      <a:r>
                        <a:rPr lang="en-US" altLang="zh-CN" sz="2400" dirty="0">
                          <a:solidFill>
                            <a:srgbClr val="060606"/>
                          </a:solidFill>
                        </a:rPr>
                        <a:t>-0.4 </a:t>
                      </a:r>
                      <a:r>
                        <a:rPr lang="en-US" altLang="zh-CN" sz="2400" baseline="0" dirty="0">
                          <a:solidFill>
                            <a:srgbClr val="060606"/>
                          </a:solidFill>
                        </a:rPr>
                        <a:t>     0.4</a:t>
                      </a:r>
                      <a:endParaRPr lang="en-US" altLang="zh-CN" sz="2400" baseline="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zh-CN" sz="2400" dirty="0">
                        <a:solidFill>
                          <a:srgbClr val="060606"/>
                        </a:solidFill>
                      </a:endParaRPr>
                    </a:p>
                    <a:p>
                      <a:r>
                        <a:rPr lang="en-US" altLang="zh-CN" sz="2400" dirty="0">
                          <a:solidFill>
                            <a:srgbClr val="060606"/>
                          </a:solidFill>
                        </a:rPr>
                        <a:t>-7</a:t>
                      </a:r>
                      <a:endParaRPr lang="en-US" altLang="zh-CN" sz="2400" dirty="0">
                        <a:solidFill>
                          <a:srgbClr val="060606"/>
                        </a:solidFill>
                      </a:endParaRPr>
                    </a:p>
                    <a:p>
                      <a:endParaRPr lang="en-US" altLang="zh-CN" sz="2400" dirty="0">
                        <a:solidFill>
                          <a:srgbClr val="060606"/>
                        </a:solidFill>
                      </a:endParaRPr>
                    </a:p>
                    <a:p>
                      <a:r>
                        <a:rPr lang="en-US" altLang="zh-CN" sz="2400" dirty="0">
                          <a:solidFill>
                            <a:srgbClr val="060606"/>
                          </a:solidFill>
                        </a:rPr>
                        <a:t>1.8</a:t>
                      </a:r>
                      <a:endParaRPr lang="en-US" altLang="zh-CN" sz="2400" dirty="0">
                        <a:solidFill>
                          <a:srgbClr val="060606"/>
                        </a:solidFill>
                      </a:endParaRPr>
                    </a:p>
                    <a:p>
                      <a:endParaRPr lang="en-US" altLang="zh-CN" sz="2400" dirty="0">
                        <a:solidFill>
                          <a:srgbClr val="060606"/>
                        </a:solidFill>
                      </a:endParaRPr>
                    </a:p>
                    <a:p>
                      <a:r>
                        <a:rPr lang="en-US" altLang="zh-CN" sz="2400" dirty="0">
                          <a:solidFill>
                            <a:srgbClr val="060606"/>
                          </a:solidFill>
                        </a:rPr>
                        <a:t>0.8</a:t>
                      </a:r>
                      <a:endParaRPr lang="en-US" altLang="zh-CN" sz="2400" dirty="0">
                        <a:solidFill>
                          <a:srgbClr val="060606"/>
                        </a:solidFill>
                      </a:endParaRPr>
                    </a:p>
                    <a:p>
                      <a:endParaRPr lang="en-US" altLang="zh-CN" sz="2400" dirty="0">
                        <a:solidFill>
                          <a:srgbClr val="060606"/>
                        </a:solidFill>
                      </a:endParaRP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722206" y="2012693"/>
            <a:ext cx="6097554" cy="769441"/>
          </a:xfrm>
          <a:prstGeom prst="rect">
            <a:avLst/>
          </a:prstGeom>
          <a:noFill/>
        </p:spPr>
        <p:txBody>
          <a:bodyPr wrap="square">
            <a:spAutoFit/>
          </a:bodyPr>
          <a:lstStyle/>
          <a:p>
            <a:pPr algn="ctr"/>
            <a:r>
              <a:rPr lang="zh-CN" altLang="en-US" sz="4400"/>
              <a:t>单纯形算法</a:t>
            </a:r>
            <a:r>
              <a:rPr lang="zh-CN" altLang="en-US" sz="4400" dirty="0"/>
              <a:t>练习</a:t>
            </a:r>
            <a:endParaRPr lang="zh-CN" altLang="en-US" sz="4400" dirty="0"/>
          </a:p>
        </p:txBody>
      </p:sp>
      <p:sp>
        <p:nvSpPr>
          <p:cNvPr id="4" name="箭头: 下 3"/>
          <p:cNvSpPr/>
          <p:nvPr/>
        </p:nvSpPr>
        <p:spPr>
          <a:xfrm>
            <a:off x="5206482" y="3610947"/>
            <a:ext cx="1483567" cy="466531"/>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3680" y="193040"/>
            <a:ext cx="11551920" cy="584775"/>
          </a:xfrm>
          <a:prstGeom prst="rect">
            <a:avLst/>
          </a:prstGeom>
          <a:noFill/>
        </p:spPr>
        <p:txBody>
          <a:bodyPr wrap="square" rtlCol="0">
            <a:spAutoFit/>
          </a:bodyPr>
          <a:lstStyle/>
          <a:p>
            <a:r>
              <a:rPr lang="zh-CN" altLang="en-US" sz="3200" dirty="0"/>
              <a:t>练习</a:t>
            </a:r>
            <a:r>
              <a:rPr lang="en-US" altLang="zh-CN" sz="3200" dirty="0"/>
              <a:t>36Bevco</a:t>
            </a:r>
            <a:r>
              <a:rPr lang="en-US" altLang="zh-CN" sz="3200" dirty="0">
                <a:solidFill>
                  <a:srgbClr val="060606"/>
                </a:solidFill>
              </a:rPr>
              <a:t>(</a:t>
            </a:r>
            <a:r>
              <a:rPr lang="zh-CN" altLang="en-US" sz="3200" dirty="0">
                <a:solidFill>
                  <a:srgbClr val="060606"/>
                </a:solidFill>
              </a:rPr>
              <a:t>大</a:t>
            </a:r>
            <a:r>
              <a:rPr lang="en-US" altLang="zh-CN" sz="3200" dirty="0">
                <a:solidFill>
                  <a:srgbClr val="060606"/>
                </a:solidFill>
              </a:rPr>
              <a:t>M</a:t>
            </a:r>
            <a:r>
              <a:rPr lang="zh-CN" altLang="en-US" sz="3200" dirty="0">
                <a:solidFill>
                  <a:srgbClr val="060606"/>
                </a:solidFill>
              </a:rPr>
              <a:t>法和两阶段单纯形法</a:t>
            </a:r>
            <a:r>
              <a:rPr lang="en-US" altLang="zh-CN" sz="3200" dirty="0">
                <a:solidFill>
                  <a:srgbClr val="060606"/>
                </a:solidFill>
              </a:rPr>
              <a:t>)</a:t>
            </a:r>
            <a:endParaRPr lang="zh-CN" altLang="en-US" sz="3200" dirty="0"/>
          </a:p>
        </p:txBody>
      </p:sp>
      <p:sp>
        <p:nvSpPr>
          <p:cNvPr id="4" name="文本框 3"/>
          <p:cNvSpPr txBox="1"/>
          <p:nvPr/>
        </p:nvSpPr>
        <p:spPr>
          <a:xfrm>
            <a:off x="904239" y="1230627"/>
            <a:ext cx="10157337" cy="3539430"/>
          </a:xfrm>
          <a:prstGeom prst="rect">
            <a:avLst/>
          </a:prstGeom>
          <a:noFill/>
        </p:spPr>
        <p:txBody>
          <a:bodyPr wrap="square">
            <a:spAutoFit/>
          </a:bodyPr>
          <a:lstStyle/>
          <a:p>
            <a:pPr>
              <a:buNone/>
            </a:pPr>
            <a:r>
              <a:rPr lang="en-US" altLang="zh-CN" sz="2800" dirty="0" err="1"/>
              <a:t>Bevco</a:t>
            </a:r>
            <a:r>
              <a:rPr lang="zh-CN" altLang="en-US" sz="2800" dirty="0"/>
              <a:t>公司通过混合</a:t>
            </a:r>
            <a:r>
              <a:rPr lang="zh-CN" altLang="zh-CN" sz="2800" dirty="0"/>
              <a:t>桔</a:t>
            </a:r>
            <a:r>
              <a:rPr lang="zh-CN" altLang="en-US" sz="2800" dirty="0"/>
              <a:t>子汽水和桔子汁的方法生产称之为</a:t>
            </a:r>
            <a:r>
              <a:rPr lang="en-US" altLang="zh-CN" sz="2800" dirty="0" err="1"/>
              <a:t>Oranj</a:t>
            </a:r>
            <a:r>
              <a:rPr lang="zh-CN" altLang="en-US" sz="2800" dirty="0"/>
              <a:t>的</a:t>
            </a:r>
            <a:r>
              <a:rPr lang="zh-CN" altLang="zh-CN" sz="2800" dirty="0"/>
              <a:t>桔</a:t>
            </a:r>
            <a:r>
              <a:rPr lang="zh-CN" altLang="en-US" sz="2800" dirty="0"/>
              <a:t>子味软饮料。每盎司桔子汽水含</a:t>
            </a:r>
            <a:r>
              <a:rPr lang="en-US" altLang="zh-CN" sz="2800" dirty="0"/>
              <a:t>0.5</a:t>
            </a:r>
            <a:r>
              <a:rPr lang="zh-CN" altLang="en-US" sz="2800" dirty="0"/>
              <a:t>盎司糖和</a:t>
            </a:r>
            <a:r>
              <a:rPr lang="en-US" altLang="zh-CN" sz="2800" dirty="0"/>
              <a:t>1</a:t>
            </a:r>
            <a:r>
              <a:rPr lang="zh-CN" altLang="en-US" sz="2800" dirty="0"/>
              <a:t>毫克维生素</a:t>
            </a:r>
            <a:r>
              <a:rPr lang="en-US" altLang="zh-CN" sz="2800" dirty="0"/>
              <a:t>C</a:t>
            </a:r>
            <a:r>
              <a:rPr lang="zh-CN" altLang="en-US" sz="2800" dirty="0"/>
              <a:t>。</a:t>
            </a:r>
            <a:r>
              <a:rPr lang="zh-CN" altLang="zh-CN" sz="2800" dirty="0"/>
              <a:t>每盎司</a:t>
            </a:r>
            <a:r>
              <a:rPr lang="zh-CN" altLang="en-US" sz="2800" dirty="0"/>
              <a:t>桔子汁</a:t>
            </a:r>
            <a:r>
              <a:rPr lang="zh-CN" altLang="zh-CN" sz="2800" dirty="0"/>
              <a:t>含</a:t>
            </a:r>
            <a:r>
              <a:rPr lang="en-US" altLang="zh-CN" sz="2800" dirty="0"/>
              <a:t>0.25</a:t>
            </a:r>
            <a:r>
              <a:rPr lang="zh-CN" altLang="zh-CN" sz="2800" dirty="0"/>
              <a:t>盎司糖和</a:t>
            </a:r>
            <a:r>
              <a:rPr lang="en-US" altLang="zh-CN" sz="2800" dirty="0"/>
              <a:t>3</a:t>
            </a:r>
            <a:r>
              <a:rPr lang="zh-CN" altLang="zh-CN" sz="2800" dirty="0"/>
              <a:t>毫克维生素</a:t>
            </a:r>
            <a:r>
              <a:rPr lang="en-US" altLang="zh-CN" sz="2800" dirty="0"/>
              <a:t>C</a:t>
            </a:r>
            <a:r>
              <a:rPr lang="zh-CN" altLang="en-US" sz="2800" dirty="0"/>
              <a:t>。生产</a:t>
            </a:r>
            <a:r>
              <a:rPr lang="en-US" altLang="zh-CN" sz="2800" dirty="0"/>
              <a:t>1</a:t>
            </a:r>
            <a:r>
              <a:rPr lang="zh-CN" altLang="en-US" sz="2800" dirty="0"/>
              <a:t>盎司</a:t>
            </a:r>
            <a:r>
              <a:rPr lang="zh-CN" altLang="zh-CN" sz="2800" dirty="0"/>
              <a:t>桔</a:t>
            </a:r>
            <a:r>
              <a:rPr lang="zh-CN" altLang="en-US" sz="2800" dirty="0"/>
              <a:t>子汽水的成本是</a:t>
            </a:r>
            <a:r>
              <a:rPr lang="en-US" altLang="zh-CN" sz="2800" dirty="0"/>
              <a:t>2</a:t>
            </a:r>
            <a:r>
              <a:rPr lang="zh-CN" altLang="en-US" sz="2800" dirty="0"/>
              <a:t>美分，生产</a:t>
            </a:r>
            <a:r>
              <a:rPr lang="en-US" altLang="zh-CN" sz="2800" dirty="0"/>
              <a:t>1</a:t>
            </a:r>
            <a:r>
              <a:rPr lang="zh-CN" altLang="en-US" sz="2800" dirty="0"/>
              <a:t>盎司桔子汁的成本是</a:t>
            </a:r>
            <a:r>
              <a:rPr lang="en-US" altLang="zh-CN" sz="2800" dirty="0"/>
              <a:t>3</a:t>
            </a:r>
            <a:r>
              <a:rPr lang="zh-CN" altLang="en-US" sz="2800" dirty="0"/>
              <a:t>美分。</a:t>
            </a:r>
            <a:r>
              <a:rPr lang="en-US" altLang="zh-CN" sz="2800" dirty="0"/>
              <a:t> </a:t>
            </a:r>
            <a:r>
              <a:rPr lang="en-US" altLang="zh-CN" sz="2800" dirty="0" err="1"/>
              <a:t>Bevco</a:t>
            </a:r>
            <a:r>
              <a:rPr lang="zh-CN" altLang="en-US" sz="2800" dirty="0"/>
              <a:t>公司的销售部门认为</a:t>
            </a:r>
            <a:r>
              <a:rPr lang="en-US" altLang="zh-CN" sz="2800" dirty="0"/>
              <a:t>1</a:t>
            </a:r>
            <a:r>
              <a:rPr lang="zh-CN" altLang="en-US" sz="2800" dirty="0"/>
              <a:t>瓶</a:t>
            </a:r>
            <a:r>
              <a:rPr lang="en-US" altLang="zh-CN" sz="2800" dirty="0"/>
              <a:t>10</a:t>
            </a:r>
            <a:r>
              <a:rPr lang="zh-CN" altLang="en-US" sz="2800" dirty="0"/>
              <a:t>盎司的</a:t>
            </a:r>
            <a:r>
              <a:rPr lang="en-US" altLang="zh-CN" sz="2800" dirty="0" err="1"/>
              <a:t>Oranj</a:t>
            </a:r>
            <a:r>
              <a:rPr lang="zh-CN" altLang="en-US" sz="2800" dirty="0"/>
              <a:t>至少必须含</a:t>
            </a:r>
            <a:r>
              <a:rPr lang="en-US" altLang="zh-CN" sz="2800" dirty="0"/>
              <a:t>20</a:t>
            </a:r>
            <a:r>
              <a:rPr lang="zh-CN" altLang="en-US" sz="2800" dirty="0"/>
              <a:t>毫克维生素</a:t>
            </a:r>
            <a:r>
              <a:rPr lang="en-US" altLang="zh-CN" sz="2800" dirty="0"/>
              <a:t>C</a:t>
            </a:r>
            <a:r>
              <a:rPr lang="zh-CN" altLang="en-US" sz="2800" dirty="0"/>
              <a:t>，最多只能含</a:t>
            </a:r>
            <a:r>
              <a:rPr lang="en-US" altLang="zh-CN" sz="2800" dirty="0"/>
              <a:t>4</a:t>
            </a:r>
            <a:r>
              <a:rPr lang="zh-CN" altLang="en-US" sz="2800" dirty="0"/>
              <a:t>盎司糖。</a:t>
            </a:r>
            <a:endParaRPr lang="en-US" altLang="zh-CN" sz="2800" dirty="0"/>
          </a:p>
          <a:p>
            <a:pPr>
              <a:buNone/>
            </a:pPr>
            <a:r>
              <a:rPr lang="zh-CN" altLang="en-US" sz="2800" dirty="0"/>
              <a:t>使用线性规划确定</a:t>
            </a:r>
            <a:r>
              <a:rPr lang="en-US" altLang="zh-CN" sz="2800" dirty="0" err="1"/>
              <a:t>Bevco</a:t>
            </a:r>
            <a:r>
              <a:rPr lang="zh-CN" altLang="en-US" sz="2800" dirty="0"/>
              <a:t>公司如何以最少的成本满足销售部门的要求。</a:t>
            </a:r>
            <a:endParaRPr lang="zh-CN" altLang="zh-CN" sz="2800" dirty="0">
              <a:solidFill>
                <a:srgbClr val="060606"/>
              </a:solidFill>
            </a:endParaRPr>
          </a:p>
        </p:txBody>
      </p:sp>
      <p:sp>
        <p:nvSpPr>
          <p:cNvPr id="5" name="矩形: 折角 4"/>
          <p:cNvSpPr/>
          <p:nvPr/>
        </p:nvSpPr>
        <p:spPr>
          <a:xfrm flipV="1">
            <a:off x="381740" y="1003177"/>
            <a:ext cx="11551920" cy="4181382"/>
          </a:xfrm>
          <a:prstGeom prst="foldedCorner">
            <a:avLst>
              <a:gd name="adj" fmla="val 923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93059" y="5414682"/>
            <a:ext cx="11292541" cy="1200329"/>
          </a:xfrm>
          <a:prstGeom prst="rect">
            <a:avLst/>
          </a:prstGeom>
          <a:noFill/>
        </p:spPr>
        <p:txBody>
          <a:bodyPr wrap="square" rtlCol="0">
            <a:spAutoFit/>
          </a:bodyPr>
          <a:lstStyle/>
          <a:p>
            <a:r>
              <a:rPr lang="zh-CN" altLang="en-US" sz="2400" dirty="0">
                <a:solidFill>
                  <a:srgbClr val="0322BD"/>
                </a:solidFill>
              </a:rPr>
              <a:t>要求：在完成此练习之后，给出“单纯形法求解</a:t>
            </a:r>
            <a:r>
              <a:rPr lang="en-US" altLang="zh-CN" sz="2400" dirty="0">
                <a:solidFill>
                  <a:srgbClr val="0322BD"/>
                </a:solidFill>
              </a:rPr>
              <a:t>LPQ</a:t>
            </a:r>
            <a:r>
              <a:rPr lang="zh-CN" altLang="en-US" sz="2400" dirty="0">
                <a:solidFill>
                  <a:srgbClr val="0322BD"/>
                </a:solidFill>
              </a:rPr>
              <a:t>问题是怎样的一个过程”，用活动图</a:t>
            </a:r>
            <a:r>
              <a:rPr lang="en-US" altLang="zh-CN" sz="2400" dirty="0">
                <a:solidFill>
                  <a:srgbClr val="0322BD"/>
                </a:solidFill>
              </a:rPr>
              <a:t>+</a:t>
            </a:r>
            <a:r>
              <a:rPr lang="zh-CN" altLang="en-US" sz="2400" dirty="0">
                <a:solidFill>
                  <a:srgbClr val="0322BD"/>
                </a:solidFill>
              </a:rPr>
              <a:t>注释阐述，其中活动图给出从哪里开始，接下来做什么，直至完成计算。每一步做什么？怎么做？为什么这么做？则在注释中仔细解释说明。</a:t>
            </a:r>
            <a:endParaRPr lang="zh-CN" altLang="en-US" sz="2400" dirty="0">
              <a:solidFill>
                <a:srgbClr val="0322BD"/>
              </a:solidFill>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4480" y="0"/>
            <a:ext cx="9864656" cy="476672"/>
          </a:xfrm>
        </p:spPr>
        <p:txBody>
          <a:bodyPr>
            <a:noAutofit/>
          </a:bodyPr>
          <a:lstStyle/>
          <a:p>
            <a:r>
              <a:rPr lang="zh-CN" altLang="en-US" sz="3200" dirty="0">
                <a:solidFill>
                  <a:srgbClr val="060606"/>
                </a:solidFill>
              </a:rPr>
              <a:t>练习</a:t>
            </a:r>
            <a:r>
              <a:rPr lang="en-US" altLang="zh-CN" sz="3200" dirty="0">
                <a:solidFill>
                  <a:srgbClr val="060606"/>
                </a:solidFill>
              </a:rPr>
              <a:t>29.</a:t>
            </a:r>
            <a:r>
              <a:rPr lang="zh-CN" altLang="en-US" sz="3200" dirty="0">
                <a:solidFill>
                  <a:srgbClr val="060606"/>
                </a:solidFill>
              </a:rPr>
              <a:t> 使用单纯形法求下列</a:t>
            </a:r>
            <a:r>
              <a:rPr lang="en-US" altLang="zh-CN" sz="3200" dirty="0">
                <a:solidFill>
                  <a:srgbClr val="060606"/>
                </a:solidFill>
              </a:rPr>
              <a:t>LPQ</a:t>
            </a:r>
            <a:r>
              <a:rPr lang="zh-CN" altLang="en-US" sz="3200" dirty="0">
                <a:solidFill>
                  <a:srgbClr val="060606"/>
                </a:solidFill>
              </a:rPr>
              <a:t>的最优解</a:t>
            </a:r>
            <a:endParaRPr lang="zh-CN" altLang="en-US" sz="3200" dirty="0">
              <a:solidFill>
                <a:srgbClr val="060606"/>
              </a:solidFill>
            </a:endParaRPr>
          </a:p>
        </p:txBody>
      </p:sp>
      <p:pic>
        <p:nvPicPr>
          <p:cNvPr id="11" name="图片 10"/>
          <p:cNvPicPr>
            <a:picLocks noChangeAspect="1"/>
          </p:cNvPicPr>
          <p:nvPr/>
        </p:nvPicPr>
        <p:blipFill>
          <a:blip r:embed="rId1"/>
          <a:stretch>
            <a:fillRect/>
          </a:stretch>
        </p:blipFill>
        <p:spPr>
          <a:xfrm>
            <a:off x="1028700" y="649287"/>
            <a:ext cx="10134600" cy="6067425"/>
          </a:xfrm>
          <a:prstGeom prst="rect">
            <a:avLst/>
          </a:prstGeom>
        </p:spPr>
      </p:pic>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3680" y="193040"/>
            <a:ext cx="11551920" cy="584775"/>
          </a:xfrm>
          <a:prstGeom prst="rect">
            <a:avLst/>
          </a:prstGeom>
          <a:noFill/>
        </p:spPr>
        <p:txBody>
          <a:bodyPr wrap="square" rtlCol="0">
            <a:spAutoFit/>
          </a:bodyPr>
          <a:lstStyle/>
          <a:p>
            <a:r>
              <a:rPr lang="zh-CN" altLang="en-US" sz="3200" dirty="0"/>
              <a:t>练习</a:t>
            </a:r>
            <a:r>
              <a:rPr lang="en-US" altLang="zh-CN" sz="3200" dirty="0"/>
              <a:t>30</a:t>
            </a:r>
            <a:r>
              <a:rPr lang="zh-CN" altLang="en-US" sz="3200" dirty="0"/>
              <a:t>求解线性规划问题（图解法</a:t>
            </a:r>
            <a:r>
              <a:rPr lang="en-US" altLang="zh-CN" sz="3200" dirty="0"/>
              <a:t>,</a:t>
            </a:r>
            <a:r>
              <a:rPr lang="zh-CN" altLang="en-US" sz="3200" dirty="0"/>
              <a:t>单纯形法）</a:t>
            </a:r>
            <a:endParaRPr lang="zh-CN" altLang="en-US" sz="3200" dirty="0"/>
          </a:p>
        </p:txBody>
      </p:sp>
      <p:grpSp>
        <p:nvGrpSpPr>
          <p:cNvPr id="6" name="组合 5"/>
          <p:cNvGrpSpPr/>
          <p:nvPr/>
        </p:nvGrpSpPr>
        <p:grpSpPr>
          <a:xfrm>
            <a:off x="568960" y="1317288"/>
            <a:ext cx="4297680" cy="1938992"/>
            <a:chOff x="172720" y="1490008"/>
            <a:chExt cx="4297680" cy="1938992"/>
          </a:xfrm>
        </p:grpSpPr>
        <mc:AlternateContent xmlns:mc="http://schemas.openxmlformats.org/markup-compatibility/2006">
          <mc:Choice xmlns:a14="http://schemas.microsoft.com/office/drawing/2010/main" Requires="a14">
            <p:sp>
              <p:nvSpPr>
                <p:cNvPr id="3" name="文本框 2"/>
                <p:cNvSpPr txBox="1"/>
                <p:nvPr/>
              </p:nvSpPr>
              <p:spPr>
                <a:xfrm>
                  <a:off x="640080" y="1490008"/>
                  <a:ext cx="3830320" cy="19389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max</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e>
                        </m:func>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oMath>
                    </m:oMathPara>
                  </a14:m>
                  <a:endParaRPr lang="en-US" altLang="zh-CN" sz="2400" b="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5</m:t>
                            </m:r>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10</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50</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r>
                          <a:rPr lang="en-US" altLang="zh-CN" sz="2400" b="0" i="1" smtClean="0">
                            <a:latin typeface="Cambria Math" panose="02040503050406030204" pitchFamily="18" charset="0"/>
                            <a:ea typeface="Cambria Math" panose="02040503050406030204" pitchFamily="18" charset="0"/>
                          </a:rPr>
                          <m:t>          </m:t>
                        </m:r>
                      </m:oMath>
                    </m:oMathPara>
                  </a14:m>
                  <a:endParaRPr lang="en-US" altLang="zh-CN" sz="2400" b="0" dirty="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4</m:t>
                        </m:r>
                        <m:r>
                          <a:rPr lang="en-US" altLang="zh-CN" sz="2400" b="0" i="1" smtClean="0">
                            <a:latin typeface="Cambria Math" panose="02040503050406030204" pitchFamily="18" charset="0"/>
                            <a:ea typeface="Cambria Math" panose="02040503050406030204" pitchFamily="18" charset="0"/>
                          </a:rPr>
                          <m:t>                    </m:t>
                        </m:r>
                      </m:oMath>
                    </m:oMathPara>
                  </a14:m>
                  <a:endParaRPr lang="en-US" altLang="zh-CN" sz="2400" dirty="0"/>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en-US" altLang="zh-CN" sz="2400" b="0" i="1" smtClean="0">
                            <a:latin typeface="Cambria Math" panose="02040503050406030204" pitchFamily="18" charset="0"/>
                            <a:ea typeface="Cambria Math" panose="02040503050406030204" pitchFamily="18" charset="0"/>
                          </a:rPr>
                          <m:t>   </m:t>
                        </m:r>
                      </m:oMath>
                    </m:oMathPara>
                  </a14:m>
                  <a:endParaRPr lang="zh-CN" altLang="en-US" sz="2400" dirty="0"/>
                </a:p>
              </p:txBody>
            </p:sp>
          </mc:Choice>
          <mc:Fallback>
            <p:sp>
              <p:nvSpPr>
                <p:cNvPr id="3" name="文本框 2"/>
                <p:cNvSpPr txBox="1">
                  <a:spLocks noRot="1" noChangeAspect="1" noMove="1" noResize="1" noEditPoints="1" noAdjustHandles="1" noChangeArrowheads="1" noChangeShapeType="1" noTextEdit="1"/>
                </p:cNvSpPr>
                <p:nvPr/>
              </p:nvSpPr>
              <p:spPr>
                <a:xfrm>
                  <a:off x="640080" y="1490008"/>
                  <a:ext cx="3830320" cy="1938992"/>
                </a:xfrm>
                <a:prstGeom prst="rect">
                  <a:avLst/>
                </a:prstGeom>
                <a:blipFill rotWithShape="1">
                  <a:blip r:embed="rId1"/>
                </a:blipFill>
              </p:spPr>
              <p:txBody>
                <a:bodyPr/>
                <a:lstStyle/>
                <a:p>
                  <a:r>
                    <a:rPr lang="zh-CN" altLang="en-US">
                      <a:noFill/>
                    </a:rPr>
                    <a:t> </a:t>
                  </a:r>
                </a:p>
              </p:txBody>
            </p:sp>
          </mc:Fallback>
        </mc:AlternateContent>
        <p:sp>
          <p:nvSpPr>
            <p:cNvPr id="4" name="左大括号 3"/>
            <p:cNvSpPr/>
            <p:nvPr/>
          </p:nvSpPr>
          <p:spPr>
            <a:xfrm>
              <a:off x="782320" y="2123440"/>
              <a:ext cx="568960" cy="1066800"/>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5" name="文本框 4"/>
            <p:cNvSpPr txBox="1"/>
            <p:nvPr/>
          </p:nvSpPr>
          <p:spPr>
            <a:xfrm>
              <a:off x="172720" y="2377440"/>
              <a:ext cx="568960" cy="461665"/>
            </a:xfrm>
            <a:prstGeom prst="rect">
              <a:avLst/>
            </a:prstGeom>
            <a:noFill/>
          </p:spPr>
          <p:txBody>
            <a:bodyPr wrap="square" rtlCol="0">
              <a:spAutoFit/>
            </a:bodyPr>
            <a:lstStyle/>
            <a:p>
              <a:pPr algn="r"/>
              <a:r>
                <a:rPr lang="en-US" altLang="zh-CN" sz="2400" dirty="0" err="1"/>
                <a:t>s.t.</a:t>
              </a:r>
              <a:endParaRPr lang="zh-CN" altLang="en-US" sz="2400" dirty="0"/>
            </a:p>
          </p:txBody>
        </p:sp>
      </p:grpSp>
      <p:grpSp>
        <p:nvGrpSpPr>
          <p:cNvPr id="11" name="组合 10"/>
          <p:cNvGrpSpPr/>
          <p:nvPr/>
        </p:nvGrpSpPr>
        <p:grpSpPr>
          <a:xfrm>
            <a:off x="6009640" y="1501954"/>
            <a:ext cx="4287520" cy="1569660"/>
            <a:chOff x="182880" y="1490008"/>
            <a:chExt cx="4287520" cy="1569660"/>
          </a:xfrm>
        </p:grpSpPr>
        <mc:AlternateContent xmlns:mc="http://schemas.openxmlformats.org/markup-compatibility/2006">
          <mc:Choice xmlns:a14="http://schemas.microsoft.com/office/drawing/2010/main" Requires="a14">
            <p:sp>
              <p:nvSpPr>
                <p:cNvPr id="12" name="文本框 11"/>
                <p:cNvSpPr txBox="1"/>
                <p:nvPr/>
              </p:nvSpPr>
              <p:spPr>
                <a:xfrm>
                  <a:off x="640080" y="1490008"/>
                  <a:ext cx="3830320" cy="156966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m:t>
                            </m:r>
                            <m:r>
                              <a:rPr lang="en-US" altLang="zh-CN" sz="2400" b="0" i="1" smtClean="0">
                                <a:latin typeface="Cambria Math" panose="02040503050406030204" pitchFamily="18" charset="0"/>
                              </a:rPr>
                              <m:t>𝑖𝑛</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e>
                        </m:func>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5</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oMath>
                    </m:oMathPara>
                  </a14:m>
                  <a:endParaRPr lang="en-US" altLang="zh-CN" sz="2400" b="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3</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3</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2</m:t>
                        </m:r>
                        <m:r>
                          <a:rPr lang="en-US" altLang="zh-CN" sz="2400" b="0" i="1" smtClean="0">
                            <a:latin typeface="Cambria Math" panose="02040503050406030204" pitchFamily="18" charset="0"/>
                            <a:ea typeface="Cambria Math" panose="02040503050406030204" pitchFamily="18" charset="0"/>
                          </a:rPr>
                          <m:t>  </m:t>
                        </m:r>
                      </m:oMath>
                    </m:oMathPara>
                  </a14:m>
                  <a:endParaRPr lang="en-US" altLang="zh-CN" sz="2400" b="0" dirty="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oMath>
                    </m:oMathPara>
                  </a14:m>
                  <a:endParaRPr lang="zh-CN" altLang="en-US" sz="2400" dirty="0"/>
                </a:p>
              </p:txBody>
            </p:sp>
          </mc:Choice>
          <mc:Fallback>
            <p:sp>
              <p:nvSpPr>
                <p:cNvPr id="12" name="文本框 11"/>
                <p:cNvSpPr txBox="1">
                  <a:spLocks noRot="1" noChangeAspect="1" noMove="1" noResize="1" noEditPoints="1" noAdjustHandles="1" noChangeArrowheads="1" noChangeShapeType="1" noTextEdit="1"/>
                </p:cNvSpPr>
                <p:nvPr/>
              </p:nvSpPr>
              <p:spPr>
                <a:xfrm>
                  <a:off x="640080" y="1490008"/>
                  <a:ext cx="3830320" cy="1569660"/>
                </a:xfrm>
                <a:prstGeom prst="rect">
                  <a:avLst/>
                </a:prstGeom>
                <a:blipFill rotWithShape="1">
                  <a:blip r:embed="rId2"/>
                </a:blipFill>
              </p:spPr>
              <p:txBody>
                <a:bodyPr/>
                <a:lstStyle/>
                <a:p>
                  <a:r>
                    <a:rPr lang="zh-CN" altLang="en-US">
                      <a:noFill/>
                    </a:rPr>
                    <a:t> </a:t>
                  </a:r>
                </a:p>
              </p:txBody>
            </p:sp>
          </mc:Fallback>
        </mc:AlternateContent>
        <p:sp>
          <p:nvSpPr>
            <p:cNvPr id="13" name="左大括号 12"/>
            <p:cNvSpPr/>
            <p:nvPr/>
          </p:nvSpPr>
          <p:spPr>
            <a:xfrm>
              <a:off x="782320" y="2123440"/>
              <a:ext cx="426720" cy="812800"/>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4" name="文本框 13"/>
            <p:cNvSpPr txBox="1"/>
            <p:nvPr/>
          </p:nvSpPr>
          <p:spPr>
            <a:xfrm>
              <a:off x="182880" y="2255520"/>
              <a:ext cx="568960" cy="461665"/>
            </a:xfrm>
            <a:prstGeom prst="rect">
              <a:avLst/>
            </a:prstGeom>
            <a:noFill/>
          </p:spPr>
          <p:txBody>
            <a:bodyPr wrap="square" rtlCol="0">
              <a:spAutoFit/>
            </a:bodyPr>
            <a:lstStyle/>
            <a:p>
              <a:pPr algn="r"/>
              <a:r>
                <a:rPr lang="en-US" altLang="zh-CN" sz="2400" dirty="0" err="1"/>
                <a:t>s.t.</a:t>
              </a:r>
              <a:endParaRPr lang="zh-CN" altLang="en-US" sz="2400" dirty="0"/>
            </a:p>
          </p:txBody>
        </p:sp>
      </p:grpSp>
      <p:grpSp>
        <p:nvGrpSpPr>
          <p:cNvPr id="15" name="组合 14"/>
          <p:cNvGrpSpPr/>
          <p:nvPr/>
        </p:nvGrpSpPr>
        <p:grpSpPr>
          <a:xfrm>
            <a:off x="3286760" y="3889712"/>
            <a:ext cx="4287520" cy="1569660"/>
            <a:chOff x="182880" y="1490008"/>
            <a:chExt cx="4287520" cy="1569660"/>
          </a:xfrm>
        </p:grpSpPr>
        <mc:AlternateContent xmlns:mc="http://schemas.openxmlformats.org/markup-compatibility/2006">
          <mc:Choice xmlns:a14="http://schemas.microsoft.com/office/drawing/2010/main" Requires="a14">
            <p:sp>
              <p:nvSpPr>
                <p:cNvPr id="16" name="文本框 15"/>
                <p:cNvSpPr txBox="1"/>
                <p:nvPr/>
              </p:nvSpPr>
              <p:spPr>
                <a:xfrm>
                  <a:off x="640080" y="1490008"/>
                  <a:ext cx="3830320" cy="156966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m:t>
                            </m:r>
                            <m:r>
                              <a:rPr lang="en-US" altLang="zh-CN" sz="2400" b="0" i="1" smtClean="0">
                                <a:latin typeface="Cambria Math" panose="02040503050406030204" pitchFamily="18" charset="0"/>
                              </a:rPr>
                              <m:t>𝑎𝑥</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e>
                        </m:func>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oMath>
                    </m:oMathPara>
                  </a14:m>
                  <a:endParaRPr lang="en-US" altLang="zh-CN" sz="2400" b="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5</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2</m:t>
                        </m:r>
                        <m:r>
                          <a:rPr lang="en-US" altLang="zh-CN" sz="2400" b="0" i="1" smtClean="0">
                            <a:latin typeface="Cambria Math" panose="02040503050406030204" pitchFamily="18" charset="0"/>
                            <a:ea typeface="Cambria Math" panose="02040503050406030204" pitchFamily="18" charset="0"/>
                          </a:rPr>
                          <m:t>  </m:t>
                        </m:r>
                      </m:oMath>
                    </m:oMathPara>
                  </a14:m>
                  <a:endParaRPr lang="en-US" altLang="zh-CN" sz="2400" b="0" dirty="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oMath>
                    </m:oMathPara>
                  </a14:m>
                  <a:endParaRPr lang="zh-CN" altLang="en-US" sz="2400" dirty="0"/>
                </a:p>
              </p:txBody>
            </p:sp>
          </mc:Choice>
          <mc:Fallback>
            <p:sp>
              <p:nvSpPr>
                <p:cNvPr id="16" name="文本框 15"/>
                <p:cNvSpPr txBox="1">
                  <a:spLocks noRot="1" noChangeAspect="1" noMove="1" noResize="1" noEditPoints="1" noAdjustHandles="1" noChangeArrowheads="1" noChangeShapeType="1" noTextEdit="1"/>
                </p:cNvSpPr>
                <p:nvPr/>
              </p:nvSpPr>
              <p:spPr>
                <a:xfrm>
                  <a:off x="640080" y="1490008"/>
                  <a:ext cx="3830320" cy="1569660"/>
                </a:xfrm>
                <a:prstGeom prst="rect">
                  <a:avLst/>
                </a:prstGeom>
                <a:blipFill rotWithShape="1">
                  <a:blip r:embed="rId3"/>
                </a:blipFill>
              </p:spPr>
              <p:txBody>
                <a:bodyPr/>
                <a:lstStyle/>
                <a:p>
                  <a:r>
                    <a:rPr lang="zh-CN" altLang="en-US">
                      <a:noFill/>
                    </a:rPr>
                    <a:t> </a:t>
                  </a:r>
                </a:p>
              </p:txBody>
            </p:sp>
          </mc:Fallback>
        </mc:AlternateContent>
        <p:sp>
          <p:nvSpPr>
            <p:cNvPr id="17" name="左大括号 16"/>
            <p:cNvSpPr/>
            <p:nvPr/>
          </p:nvSpPr>
          <p:spPr>
            <a:xfrm>
              <a:off x="782320" y="2123440"/>
              <a:ext cx="426720" cy="812800"/>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8" name="文本框 17"/>
            <p:cNvSpPr txBox="1"/>
            <p:nvPr/>
          </p:nvSpPr>
          <p:spPr>
            <a:xfrm>
              <a:off x="182880" y="2255520"/>
              <a:ext cx="568960" cy="461665"/>
            </a:xfrm>
            <a:prstGeom prst="rect">
              <a:avLst/>
            </a:prstGeom>
            <a:noFill/>
          </p:spPr>
          <p:txBody>
            <a:bodyPr wrap="square" rtlCol="0">
              <a:spAutoFit/>
            </a:bodyPr>
            <a:lstStyle/>
            <a:p>
              <a:pPr algn="r"/>
              <a:r>
                <a:rPr lang="en-US" altLang="zh-CN" sz="2400" dirty="0" err="1"/>
                <a:t>s.t.</a:t>
              </a:r>
              <a:endParaRPr lang="zh-CN" altLang="en-US" sz="2400" dirty="0"/>
            </a:p>
          </p:txBody>
        </p:sp>
      </p:grpSp>
      <p:sp>
        <p:nvSpPr>
          <p:cNvPr id="19" name="矩形: 折角 18"/>
          <p:cNvSpPr/>
          <p:nvPr/>
        </p:nvSpPr>
        <p:spPr>
          <a:xfrm flipV="1">
            <a:off x="325120" y="1158240"/>
            <a:ext cx="443992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折角 19"/>
          <p:cNvSpPr/>
          <p:nvPr/>
        </p:nvSpPr>
        <p:spPr>
          <a:xfrm flipV="1">
            <a:off x="5857240" y="1211382"/>
            <a:ext cx="443992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折角 20"/>
          <p:cNvSpPr/>
          <p:nvPr/>
        </p:nvSpPr>
        <p:spPr>
          <a:xfrm flipV="1">
            <a:off x="3119120" y="3711871"/>
            <a:ext cx="443992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3680" y="193040"/>
            <a:ext cx="11551920" cy="1077218"/>
          </a:xfrm>
          <a:prstGeom prst="rect">
            <a:avLst/>
          </a:prstGeom>
          <a:noFill/>
        </p:spPr>
        <p:txBody>
          <a:bodyPr wrap="square" rtlCol="0">
            <a:spAutoFit/>
          </a:bodyPr>
          <a:lstStyle/>
          <a:p>
            <a:r>
              <a:rPr lang="zh-CN" altLang="en-US" sz="3200" dirty="0"/>
              <a:t>练习</a:t>
            </a:r>
            <a:r>
              <a:rPr lang="en-US" altLang="zh-CN" sz="3200" dirty="0"/>
              <a:t>31</a:t>
            </a:r>
            <a:r>
              <a:rPr lang="zh-CN" altLang="en-US" sz="3200" dirty="0"/>
              <a:t>求</a:t>
            </a:r>
            <a:r>
              <a:rPr lang="en-US" altLang="zh-CN" sz="3200" dirty="0"/>
              <a:t>LPQ</a:t>
            </a:r>
            <a:r>
              <a:rPr lang="zh-CN" altLang="en-US" sz="3200" dirty="0"/>
              <a:t>的所有满足约束条件的基可行解，并带入目标函数确定哪一个是最优解</a:t>
            </a:r>
            <a:endParaRPr lang="zh-CN" altLang="en-US" sz="3200" dirty="0"/>
          </a:p>
        </p:txBody>
      </p:sp>
      <p:grpSp>
        <p:nvGrpSpPr>
          <p:cNvPr id="19" name="组合 18"/>
          <p:cNvGrpSpPr/>
          <p:nvPr/>
        </p:nvGrpSpPr>
        <p:grpSpPr>
          <a:xfrm>
            <a:off x="721360" y="1788160"/>
            <a:ext cx="6299200" cy="2098040"/>
            <a:chOff x="721360" y="1788160"/>
            <a:chExt cx="6299200" cy="2098040"/>
          </a:xfrm>
        </p:grpSpPr>
        <p:grpSp>
          <p:nvGrpSpPr>
            <p:cNvPr id="3" name="组合 2"/>
            <p:cNvGrpSpPr/>
            <p:nvPr/>
          </p:nvGrpSpPr>
          <p:grpSpPr>
            <a:xfrm>
              <a:off x="721360" y="1947208"/>
              <a:ext cx="6096000" cy="1700232"/>
              <a:chOff x="-101600" y="1490008"/>
              <a:chExt cx="4572000" cy="1700232"/>
            </a:xfrm>
          </p:grpSpPr>
          <mc:AlternateContent xmlns:mc="http://schemas.openxmlformats.org/markup-compatibility/2006">
            <mc:Choice xmlns:a14="http://schemas.microsoft.com/office/drawing/2010/main" Requires="a14">
              <p:sp>
                <p:nvSpPr>
                  <p:cNvPr id="4" name="文本框 3"/>
                  <p:cNvSpPr txBox="1"/>
                  <p:nvPr/>
                </p:nvSpPr>
                <p:spPr>
                  <a:xfrm>
                    <a:off x="640080" y="1490008"/>
                    <a:ext cx="3830320" cy="156966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max</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e>
                          </m:func>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4</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7</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4</m:t>
                              </m:r>
                            </m:sub>
                          </m:sSub>
                        </m:oMath>
                      </m:oMathPara>
                    </a14:m>
                    <a:endParaRPr lang="en-US" altLang="zh-CN" sz="2400" b="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3</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4</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8</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6</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7</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3</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0</m:t>
                          </m:r>
                        </m:oMath>
                      </m:oMathPara>
                    </a14:m>
                    <a:endParaRPr lang="zh-CN" altLang="en-US" sz="2400" dirty="0"/>
                  </a:p>
                </p:txBody>
              </p:sp>
            </mc:Choice>
            <mc:Fallback>
              <p:sp>
                <p:nvSpPr>
                  <p:cNvPr id="4" name="文本框 3"/>
                  <p:cNvSpPr txBox="1">
                    <a:spLocks noRot="1" noChangeAspect="1" noMove="1" noResize="1" noEditPoints="1" noAdjustHandles="1" noChangeArrowheads="1" noChangeShapeType="1" noTextEdit="1"/>
                  </p:cNvSpPr>
                  <p:nvPr/>
                </p:nvSpPr>
                <p:spPr>
                  <a:xfrm>
                    <a:off x="640080" y="1490008"/>
                    <a:ext cx="3830320" cy="1569660"/>
                  </a:xfrm>
                  <a:prstGeom prst="rect">
                    <a:avLst/>
                  </a:prstGeom>
                  <a:blipFill rotWithShape="1">
                    <a:blip r:embed="rId1"/>
                  </a:blipFill>
                </p:spPr>
                <p:txBody>
                  <a:bodyPr/>
                  <a:lstStyle/>
                  <a:p>
                    <a:r>
                      <a:rPr lang="zh-CN" altLang="en-US">
                        <a:noFill/>
                      </a:rPr>
                      <a:t> </a:t>
                    </a:r>
                  </a:p>
                </p:txBody>
              </p:sp>
            </mc:Fallback>
          </mc:AlternateContent>
          <p:sp>
            <p:nvSpPr>
              <p:cNvPr id="5" name="左大括号 4"/>
              <p:cNvSpPr/>
              <p:nvPr/>
            </p:nvSpPr>
            <p:spPr>
              <a:xfrm>
                <a:off x="546101" y="2123440"/>
                <a:ext cx="426720" cy="1066800"/>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6" name="文本框 5"/>
              <p:cNvSpPr txBox="1"/>
              <p:nvPr/>
            </p:nvSpPr>
            <p:spPr>
              <a:xfrm>
                <a:off x="-101600" y="2377440"/>
                <a:ext cx="568960" cy="461665"/>
              </a:xfrm>
              <a:prstGeom prst="rect">
                <a:avLst/>
              </a:prstGeom>
              <a:noFill/>
            </p:spPr>
            <p:txBody>
              <a:bodyPr wrap="square" rtlCol="0">
                <a:spAutoFit/>
              </a:bodyPr>
              <a:lstStyle/>
              <a:p>
                <a:pPr algn="r"/>
                <a:r>
                  <a:rPr lang="en-US" altLang="zh-CN" sz="2400" dirty="0" err="1"/>
                  <a:t>s.t.</a:t>
                </a:r>
                <a:endParaRPr lang="zh-CN" altLang="en-US" sz="2400" dirty="0"/>
              </a:p>
            </p:txBody>
          </p:sp>
        </p:grpSp>
        <p:sp>
          <p:nvSpPr>
            <p:cNvPr id="7" name="矩形: 折角 6"/>
            <p:cNvSpPr/>
            <p:nvPr/>
          </p:nvSpPr>
          <p:spPr>
            <a:xfrm flipV="1">
              <a:off x="843280" y="1788160"/>
              <a:ext cx="617728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843280" y="4569798"/>
            <a:ext cx="6096000" cy="1700232"/>
            <a:chOff x="-101600" y="1490008"/>
            <a:chExt cx="4572000" cy="1700232"/>
          </a:xfrm>
        </p:grpSpPr>
        <mc:AlternateContent xmlns:mc="http://schemas.openxmlformats.org/markup-compatibility/2006">
          <mc:Choice xmlns:a14="http://schemas.microsoft.com/office/drawing/2010/main" Requires="a14">
            <p:sp>
              <p:nvSpPr>
                <p:cNvPr id="15" name="文本框 14"/>
                <p:cNvSpPr txBox="1"/>
                <p:nvPr/>
              </p:nvSpPr>
              <p:spPr>
                <a:xfrm>
                  <a:off x="640080" y="1490008"/>
                  <a:ext cx="3830320" cy="156966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m:t>
                            </m:r>
                            <m:r>
                              <m:rPr>
                                <m:sty m:val="p"/>
                              </m:rPr>
                              <a:rPr lang="en-US" altLang="zh-CN" sz="2400" i="1">
                                <a:latin typeface="Cambria Math" panose="02040503050406030204" pitchFamily="18" charset="0"/>
                              </a:rPr>
                              <m:t>in</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e>
                        </m:func>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5</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3</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6</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4</m:t>
                            </m:r>
                          </m:sub>
                        </m:sSub>
                      </m:oMath>
                    </m:oMathPara>
                  </a14:m>
                  <a:endParaRPr lang="en-US" altLang="zh-CN" sz="2400" b="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3</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4</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7</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2</m:t>
                        </m:r>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3</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0</m:t>
                        </m:r>
                      </m:oMath>
                    </m:oMathPara>
                  </a14:m>
                  <a:endParaRPr lang="zh-CN" altLang="en-US" sz="2400" dirty="0"/>
                </a:p>
              </p:txBody>
            </p:sp>
          </mc:Choice>
          <mc:Fallback>
            <p:sp>
              <p:nvSpPr>
                <p:cNvPr id="15" name="文本框 14"/>
                <p:cNvSpPr txBox="1">
                  <a:spLocks noRot="1" noChangeAspect="1" noMove="1" noResize="1" noEditPoints="1" noAdjustHandles="1" noChangeArrowheads="1" noChangeShapeType="1" noTextEdit="1"/>
                </p:cNvSpPr>
                <p:nvPr/>
              </p:nvSpPr>
              <p:spPr>
                <a:xfrm>
                  <a:off x="640080" y="1490008"/>
                  <a:ext cx="3830320" cy="1569660"/>
                </a:xfrm>
                <a:prstGeom prst="rect">
                  <a:avLst/>
                </a:prstGeom>
                <a:blipFill rotWithShape="1">
                  <a:blip r:embed="rId2"/>
                </a:blipFill>
              </p:spPr>
              <p:txBody>
                <a:bodyPr/>
                <a:lstStyle/>
                <a:p>
                  <a:r>
                    <a:rPr lang="zh-CN" altLang="en-US">
                      <a:noFill/>
                    </a:rPr>
                    <a:t> </a:t>
                  </a:r>
                </a:p>
              </p:txBody>
            </p:sp>
          </mc:Fallback>
        </mc:AlternateContent>
        <p:sp>
          <p:nvSpPr>
            <p:cNvPr id="16" name="左大括号 15"/>
            <p:cNvSpPr/>
            <p:nvPr/>
          </p:nvSpPr>
          <p:spPr>
            <a:xfrm>
              <a:off x="546101" y="2123440"/>
              <a:ext cx="426720" cy="1066800"/>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7" name="文本框 16"/>
            <p:cNvSpPr txBox="1"/>
            <p:nvPr/>
          </p:nvSpPr>
          <p:spPr>
            <a:xfrm>
              <a:off x="-101600" y="2377440"/>
              <a:ext cx="568960" cy="461665"/>
            </a:xfrm>
            <a:prstGeom prst="rect">
              <a:avLst/>
            </a:prstGeom>
            <a:noFill/>
          </p:spPr>
          <p:txBody>
            <a:bodyPr wrap="square" rtlCol="0">
              <a:spAutoFit/>
            </a:bodyPr>
            <a:lstStyle/>
            <a:p>
              <a:pPr algn="r"/>
              <a:r>
                <a:rPr lang="en-US" altLang="zh-CN" sz="2400" dirty="0" err="1"/>
                <a:t>s.t.</a:t>
              </a:r>
              <a:endParaRPr lang="zh-CN" altLang="en-US" sz="2400" dirty="0"/>
            </a:p>
          </p:txBody>
        </p:sp>
      </p:grpSp>
      <p:sp>
        <p:nvSpPr>
          <p:cNvPr id="18" name="矩形: 折角 17"/>
          <p:cNvSpPr/>
          <p:nvPr/>
        </p:nvSpPr>
        <p:spPr>
          <a:xfrm flipV="1">
            <a:off x="965200" y="4410750"/>
            <a:ext cx="617728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3680" y="193040"/>
            <a:ext cx="11551920" cy="584775"/>
          </a:xfrm>
          <a:prstGeom prst="rect">
            <a:avLst/>
          </a:prstGeom>
          <a:noFill/>
        </p:spPr>
        <p:txBody>
          <a:bodyPr wrap="square" rtlCol="0">
            <a:spAutoFit/>
          </a:bodyPr>
          <a:lstStyle/>
          <a:p>
            <a:r>
              <a:rPr lang="zh-CN" altLang="en-US" sz="3200" dirty="0"/>
              <a:t>练习</a:t>
            </a:r>
            <a:r>
              <a:rPr lang="en-US" altLang="zh-CN" sz="3200" dirty="0"/>
              <a:t>32</a:t>
            </a:r>
            <a:r>
              <a:rPr lang="zh-CN" altLang="en-US" sz="3200" dirty="0"/>
              <a:t>分别用大</a:t>
            </a:r>
            <a:r>
              <a:rPr lang="en-US" altLang="zh-CN" sz="3200" dirty="0"/>
              <a:t>M</a:t>
            </a:r>
            <a:r>
              <a:rPr lang="zh-CN" altLang="en-US" sz="3200" dirty="0"/>
              <a:t>法和量两阶段法求解</a:t>
            </a:r>
            <a:r>
              <a:rPr lang="en-US" altLang="zh-CN" sz="3200" dirty="0"/>
              <a:t>LPQ</a:t>
            </a:r>
            <a:endParaRPr lang="zh-CN" altLang="en-US" sz="3200" dirty="0"/>
          </a:p>
        </p:txBody>
      </p:sp>
      <p:grpSp>
        <p:nvGrpSpPr>
          <p:cNvPr id="3" name="组合 2"/>
          <p:cNvGrpSpPr/>
          <p:nvPr/>
        </p:nvGrpSpPr>
        <p:grpSpPr>
          <a:xfrm>
            <a:off x="436880" y="873760"/>
            <a:ext cx="5974080" cy="2098040"/>
            <a:chOff x="843280" y="1788160"/>
            <a:chExt cx="5974080" cy="2098040"/>
          </a:xfrm>
        </p:grpSpPr>
        <p:grpSp>
          <p:nvGrpSpPr>
            <p:cNvPr id="4" name="组合 3"/>
            <p:cNvGrpSpPr/>
            <p:nvPr/>
          </p:nvGrpSpPr>
          <p:grpSpPr>
            <a:xfrm>
              <a:off x="1330960" y="1947208"/>
              <a:ext cx="5486400" cy="1569660"/>
              <a:chOff x="355600" y="1490008"/>
              <a:chExt cx="4114800" cy="1569660"/>
            </a:xfrm>
          </p:grpSpPr>
          <mc:AlternateContent xmlns:mc="http://schemas.openxmlformats.org/markup-compatibility/2006">
            <mc:Choice xmlns:a14="http://schemas.microsoft.com/office/drawing/2010/main" Requires="a14">
              <p:sp>
                <p:nvSpPr>
                  <p:cNvPr id="6" name="文本框 5"/>
                  <p:cNvSpPr txBox="1"/>
                  <p:nvPr/>
                </p:nvSpPr>
                <p:spPr>
                  <a:xfrm>
                    <a:off x="640080" y="1490008"/>
                    <a:ext cx="3830320" cy="156966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1" i="1" smtClean="0">
                                  <a:latin typeface="Cambria Math" panose="02040503050406030204" pitchFamily="18" charset="0"/>
                                </a:rPr>
                              </m:ctrlPr>
                            </m:funcPr>
                            <m:fName>
                              <m:r>
                                <a:rPr lang="en-US" altLang="zh-CN" sz="2400" b="1" i="0" smtClean="0">
                                  <a:latin typeface="Cambria Math" panose="02040503050406030204" pitchFamily="18" charset="0"/>
                                </a:rPr>
                                <m:t>𝐦𝐚𝐱</m:t>
                              </m:r>
                            </m:fName>
                            <m:e>
                              <m:r>
                                <a:rPr lang="en-US" altLang="zh-CN" sz="2400" b="1" i="1" smtClean="0">
                                  <a:latin typeface="Cambria Math" panose="02040503050406030204" pitchFamily="18" charset="0"/>
                                </a:rPr>
                                <m:t>𝒛</m:t>
                              </m:r>
                              <m:r>
                                <a:rPr lang="en-US" altLang="zh-CN" sz="2400" b="1" i="1" smtClean="0">
                                  <a:latin typeface="Cambria Math" panose="02040503050406030204" pitchFamily="18" charset="0"/>
                                </a:rPr>
                                <m:t>=</m:t>
                              </m:r>
                            </m:e>
                          </m:func>
                          <m:r>
                            <a:rPr lang="en-US" altLang="zh-CN" sz="2400" b="1" i="1" smtClean="0">
                              <a:latin typeface="Cambria Math" panose="02040503050406030204" pitchFamily="18" charset="0"/>
                            </a:rPr>
                            <m:t> </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𝟐</m:t>
                              </m:r>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𝟏</m:t>
                              </m:r>
                            </m:sub>
                          </m:sSub>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𝟑</m:t>
                              </m:r>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𝟐</m:t>
                              </m:r>
                            </m:sub>
                          </m:sSub>
                          <m:r>
                            <a:rPr lang="en-US" altLang="zh-CN" sz="2400" b="1" i="1" smtClean="0">
                              <a:latin typeface="Cambria Math" panose="02040503050406030204" pitchFamily="18" charset="0"/>
                            </a:rPr>
                            <m:t>−</m:t>
                          </m:r>
                          <m:sSub>
                            <m:sSubPr>
                              <m:ctrlPr>
                                <a:rPr lang="en-US" altLang="zh-CN" sz="2400" b="1" i="1">
                                  <a:latin typeface="Cambria Math" panose="02040503050406030204" pitchFamily="18" charset="0"/>
                                </a:rPr>
                              </m:ctrlPr>
                            </m:sSubPr>
                            <m:e>
                              <m:r>
                                <a:rPr lang="en-US" altLang="zh-CN" sz="2400" b="1" i="1" smtClean="0">
                                  <a:latin typeface="Cambria Math" panose="02040503050406030204" pitchFamily="18" charset="0"/>
                                </a:rPr>
                                <m:t>𝟓</m:t>
                              </m:r>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𝟑</m:t>
                              </m:r>
                            </m:sub>
                          </m:sSub>
                        </m:oMath>
                      </m:oMathPara>
                    </a14:m>
                    <a:endParaRPr lang="en-US" altLang="zh-CN" sz="2400" b="1"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1" i="1">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𝟏</m:t>
                              </m:r>
                            </m:sub>
                          </m:sSub>
                          <m:r>
                            <a:rPr lang="en-US" altLang="zh-CN" sz="2400" b="1" i="1" smtClean="0">
                              <a:latin typeface="Cambria Math" panose="02040503050406030204" pitchFamily="18" charset="0"/>
                            </a:rPr>
                            <m:t>+</m:t>
                          </m:r>
                          <m:sSub>
                            <m:sSubPr>
                              <m:ctrlPr>
                                <a:rPr lang="en-US" altLang="zh-CN" sz="2400" b="1" i="1">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𝟐</m:t>
                              </m:r>
                            </m:sub>
                          </m:sSub>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𝟑</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𝟕</m:t>
                          </m:r>
                          <m:r>
                            <a:rPr lang="en-US" altLang="zh-CN" sz="2400" b="1" i="1" smtClean="0">
                              <a:latin typeface="Cambria Math" panose="02040503050406030204" pitchFamily="18" charset="0"/>
                              <a:ea typeface="Cambria Math" panose="02040503050406030204" pitchFamily="18" charset="0"/>
                            </a:rPr>
                            <m:t>        </m:t>
                          </m:r>
                        </m:oMath>
                      </m:oMathPara>
                    </a14:m>
                    <a:endParaRPr lang="en-US" altLang="zh-CN" sz="2400" b="1"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𝟐</m:t>
                              </m:r>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𝟏</m:t>
                              </m:r>
                            </m:sub>
                          </m:sSub>
                          <m:r>
                            <a:rPr lang="en-US" altLang="zh-CN" sz="2400" b="1" i="1" smtClean="0">
                              <a:latin typeface="Cambria Math" panose="02040503050406030204" pitchFamily="18" charset="0"/>
                            </a:rPr>
                            <m:t>−</m:t>
                          </m:r>
                          <m:sSub>
                            <m:sSubPr>
                              <m:ctrlPr>
                                <a:rPr lang="en-US" altLang="zh-CN" sz="2400" b="1" i="1">
                                  <a:latin typeface="Cambria Math" panose="02040503050406030204" pitchFamily="18" charset="0"/>
                                </a:rPr>
                              </m:ctrlPr>
                            </m:sSubPr>
                            <m:e>
                              <m:r>
                                <a:rPr lang="en-US" altLang="zh-CN" sz="2400" b="1" i="1" smtClean="0">
                                  <a:latin typeface="Cambria Math" panose="02040503050406030204" pitchFamily="18" charset="0"/>
                                </a:rPr>
                                <m:t>𝟓</m:t>
                              </m:r>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𝟐</m:t>
                              </m:r>
                            </m:sub>
                          </m:sSub>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𝟑</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𝟏𝟎</m:t>
                          </m:r>
                        </m:oMath>
                      </m:oMathPara>
                    </a14:m>
                    <a:endParaRPr lang="en-US" altLang="zh-CN" sz="2400" b="1"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𝟏</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𝟎</m:t>
                          </m:r>
                          <m:r>
                            <a:rPr lang="zh-CN" altLang="en-US"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𝟐</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𝟎</m:t>
                          </m:r>
                          <m:r>
                            <a:rPr lang="zh-CN" altLang="en-US" sz="2400" b="1" i="1" smtClean="0">
                              <a:latin typeface="Cambria Math" panose="02040503050406030204" pitchFamily="18" charset="0"/>
                              <a:ea typeface="Cambria Math" panose="02040503050406030204" pitchFamily="18" charset="0"/>
                            </a:rPr>
                            <m:t>，</m:t>
                          </m:r>
                          <m:sSub>
                            <m:sSubPr>
                              <m:ctrlPr>
                                <a:rPr lang="en-US" altLang="zh-CN" sz="2400" b="1" i="1">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𝟑</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𝟎</m:t>
                          </m:r>
                        </m:oMath>
                      </m:oMathPara>
                    </a14:m>
                    <a:endParaRPr lang="zh-CN" altLang="en-US" sz="2400" b="1" dirty="0"/>
                  </a:p>
                </p:txBody>
              </p:sp>
            </mc:Choice>
            <mc:Fallback>
              <p:sp>
                <p:nvSpPr>
                  <p:cNvPr id="6" name="文本框 5"/>
                  <p:cNvSpPr txBox="1">
                    <a:spLocks noRot="1" noChangeAspect="1" noMove="1" noResize="1" noEditPoints="1" noAdjustHandles="1" noChangeArrowheads="1" noChangeShapeType="1" noTextEdit="1"/>
                  </p:cNvSpPr>
                  <p:nvPr/>
                </p:nvSpPr>
                <p:spPr>
                  <a:xfrm>
                    <a:off x="640080" y="1490008"/>
                    <a:ext cx="3830320" cy="1569660"/>
                  </a:xfrm>
                  <a:prstGeom prst="rect">
                    <a:avLst/>
                  </a:prstGeom>
                  <a:blipFill rotWithShape="1">
                    <a:blip r:embed="rId1"/>
                  </a:blipFill>
                </p:spPr>
                <p:txBody>
                  <a:bodyPr/>
                  <a:lstStyle/>
                  <a:p>
                    <a:r>
                      <a:rPr lang="zh-CN" altLang="en-US">
                        <a:noFill/>
                      </a:rPr>
                      <a:t> </a:t>
                    </a:r>
                  </a:p>
                </p:txBody>
              </p:sp>
            </mc:Fallback>
          </mc:AlternateContent>
          <p:sp>
            <p:nvSpPr>
              <p:cNvPr id="7" name="左大括号 6"/>
              <p:cNvSpPr/>
              <p:nvPr/>
            </p:nvSpPr>
            <p:spPr>
              <a:xfrm>
                <a:off x="953771" y="2002967"/>
                <a:ext cx="254821" cy="836138"/>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b="1"/>
              </a:p>
            </p:txBody>
          </p:sp>
          <p:sp>
            <p:nvSpPr>
              <p:cNvPr id="8" name="文本框 7"/>
              <p:cNvSpPr txBox="1"/>
              <p:nvPr/>
            </p:nvSpPr>
            <p:spPr>
              <a:xfrm>
                <a:off x="355600" y="2166637"/>
                <a:ext cx="568960" cy="461665"/>
              </a:xfrm>
              <a:prstGeom prst="rect">
                <a:avLst/>
              </a:prstGeom>
              <a:noFill/>
            </p:spPr>
            <p:txBody>
              <a:bodyPr wrap="square" rtlCol="0">
                <a:spAutoFit/>
              </a:bodyPr>
              <a:lstStyle/>
              <a:p>
                <a:pPr algn="r"/>
                <a:r>
                  <a:rPr lang="en-US" altLang="zh-CN" sz="2400" b="1" dirty="0" err="1"/>
                  <a:t>s.t.</a:t>
                </a:r>
                <a:endParaRPr lang="zh-CN" altLang="en-US" sz="2400" b="1" dirty="0"/>
              </a:p>
            </p:txBody>
          </p:sp>
        </p:grpSp>
        <p:sp>
          <p:nvSpPr>
            <p:cNvPr id="5" name="矩形: 折角 4"/>
            <p:cNvSpPr/>
            <p:nvPr/>
          </p:nvSpPr>
          <p:spPr>
            <a:xfrm flipV="1">
              <a:off x="843280" y="1788160"/>
              <a:ext cx="533400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9" name="组合 8"/>
          <p:cNvGrpSpPr/>
          <p:nvPr/>
        </p:nvGrpSpPr>
        <p:grpSpPr>
          <a:xfrm>
            <a:off x="314960" y="3235900"/>
            <a:ext cx="6096000" cy="2098040"/>
            <a:chOff x="721360" y="1788160"/>
            <a:chExt cx="6096000" cy="2098040"/>
          </a:xfrm>
        </p:grpSpPr>
        <p:grpSp>
          <p:nvGrpSpPr>
            <p:cNvPr id="10" name="组合 9"/>
            <p:cNvGrpSpPr/>
            <p:nvPr/>
          </p:nvGrpSpPr>
          <p:grpSpPr>
            <a:xfrm>
              <a:off x="721360" y="1947208"/>
              <a:ext cx="6096000" cy="1700232"/>
              <a:chOff x="-101600" y="1490008"/>
              <a:chExt cx="4572000" cy="1700232"/>
            </a:xfrm>
          </p:grpSpPr>
          <mc:AlternateContent xmlns:mc="http://schemas.openxmlformats.org/markup-compatibility/2006">
            <mc:Choice xmlns:a14="http://schemas.microsoft.com/office/drawing/2010/main" Requires="a14">
              <p:sp>
                <p:nvSpPr>
                  <p:cNvPr id="12" name="文本框 11"/>
                  <p:cNvSpPr txBox="1"/>
                  <p:nvPr/>
                </p:nvSpPr>
                <p:spPr>
                  <a:xfrm>
                    <a:off x="640080" y="1490008"/>
                    <a:ext cx="3830320" cy="156966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m:t>
                              </m:r>
                              <m:r>
                                <a:rPr lang="en-US" altLang="zh-CN" sz="2400" b="0" i="1" smtClean="0">
                                  <a:latin typeface="Cambria Math" panose="02040503050406030204" pitchFamily="18" charset="0"/>
                                </a:rPr>
                                <m:t>𝑖𝑛</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e>
                          </m:func>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oMath>
                      </m:oMathPara>
                    </a14:m>
                    <a:endParaRPr lang="en-US" altLang="zh-CN" sz="240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4</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8</m:t>
                          </m:r>
                          <m:r>
                            <a:rPr lang="en-US" altLang="zh-CN" sz="2400" b="0" i="1" smtClean="0">
                              <a:latin typeface="Cambria Math" panose="02040503050406030204" pitchFamily="18" charset="0"/>
                              <a:ea typeface="Cambria Math" panose="02040503050406030204" pitchFamily="18" charset="0"/>
                            </a:rPr>
                            <m:t>        </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3</m:t>
                              </m:r>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6</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0</m:t>
                          </m:r>
                        </m:oMath>
                      </m:oMathPara>
                    </a14:m>
                    <a:endParaRPr lang="zh-CN" altLang="en-US" sz="2400" dirty="0"/>
                  </a:p>
                </p:txBody>
              </p:sp>
            </mc:Choice>
            <mc:Fallback>
              <p:sp>
                <p:nvSpPr>
                  <p:cNvPr id="12" name="文本框 11"/>
                  <p:cNvSpPr txBox="1">
                    <a:spLocks noRot="1" noChangeAspect="1" noMove="1" noResize="1" noEditPoints="1" noAdjustHandles="1" noChangeArrowheads="1" noChangeShapeType="1" noTextEdit="1"/>
                  </p:cNvSpPr>
                  <p:nvPr/>
                </p:nvSpPr>
                <p:spPr>
                  <a:xfrm>
                    <a:off x="640080" y="1490008"/>
                    <a:ext cx="3830320" cy="1569660"/>
                  </a:xfrm>
                  <a:prstGeom prst="rect">
                    <a:avLst/>
                  </a:prstGeom>
                  <a:blipFill rotWithShape="1">
                    <a:blip r:embed="rId2"/>
                  </a:blipFill>
                </p:spPr>
                <p:txBody>
                  <a:bodyPr/>
                  <a:lstStyle/>
                  <a:p>
                    <a:r>
                      <a:rPr lang="zh-CN" altLang="en-US">
                        <a:noFill/>
                      </a:rPr>
                      <a:t> </a:t>
                    </a:r>
                  </a:p>
                </p:txBody>
              </p:sp>
            </mc:Fallback>
          </mc:AlternateContent>
          <p:sp>
            <p:nvSpPr>
              <p:cNvPr id="13" name="左大括号 12"/>
              <p:cNvSpPr/>
              <p:nvPr/>
            </p:nvSpPr>
            <p:spPr>
              <a:xfrm>
                <a:off x="546101" y="2123440"/>
                <a:ext cx="426720" cy="1066800"/>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4" name="文本框 13"/>
              <p:cNvSpPr txBox="1"/>
              <p:nvPr/>
            </p:nvSpPr>
            <p:spPr>
              <a:xfrm>
                <a:off x="-101600" y="2377440"/>
                <a:ext cx="568960" cy="461665"/>
              </a:xfrm>
              <a:prstGeom prst="rect">
                <a:avLst/>
              </a:prstGeom>
              <a:noFill/>
            </p:spPr>
            <p:txBody>
              <a:bodyPr wrap="square" rtlCol="0">
                <a:spAutoFit/>
              </a:bodyPr>
              <a:lstStyle/>
              <a:p>
                <a:pPr algn="r"/>
                <a:r>
                  <a:rPr lang="en-US" altLang="zh-CN" sz="2400" dirty="0" err="1"/>
                  <a:t>s.t.</a:t>
                </a:r>
                <a:endParaRPr lang="zh-CN" altLang="en-US" sz="2400" dirty="0"/>
              </a:p>
            </p:txBody>
          </p:sp>
        </p:grpSp>
        <p:sp>
          <p:nvSpPr>
            <p:cNvPr id="11" name="矩形: 折角 10"/>
            <p:cNvSpPr/>
            <p:nvPr/>
          </p:nvSpPr>
          <p:spPr>
            <a:xfrm flipV="1">
              <a:off x="843280" y="1788160"/>
              <a:ext cx="533400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6009640" y="873760"/>
            <a:ext cx="6096000" cy="2098040"/>
            <a:chOff x="721360" y="1899920"/>
            <a:chExt cx="6096000" cy="2098040"/>
          </a:xfrm>
        </p:grpSpPr>
        <p:grpSp>
          <p:nvGrpSpPr>
            <p:cNvPr id="16" name="组合 15"/>
            <p:cNvGrpSpPr/>
            <p:nvPr/>
          </p:nvGrpSpPr>
          <p:grpSpPr>
            <a:xfrm>
              <a:off x="721360" y="1947208"/>
              <a:ext cx="6096000" cy="1938992"/>
              <a:chOff x="-101600" y="1490008"/>
              <a:chExt cx="4572000" cy="1938992"/>
            </a:xfrm>
          </p:grpSpPr>
          <mc:AlternateContent xmlns:mc="http://schemas.openxmlformats.org/markup-compatibility/2006">
            <mc:Choice xmlns:a14="http://schemas.microsoft.com/office/drawing/2010/main" Requires="a14">
              <p:sp>
                <p:nvSpPr>
                  <p:cNvPr id="18" name="文本框 17"/>
                  <p:cNvSpPr txBox="1"/>
                  <p:nvPr/>
                </p:nvSpPr>
                <p:spPr>
                  <a:xfrm>
                    <a:off x="640080" y="1490008"/>
                    <a:ext cx="3830320" cy="19389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max</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e>
                          </m:func>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10</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15</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12</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oMath>
                      </m:oMathPara>
                    </a14:m>
                    <a:endParaRPr lang="en-US" altLang="zh-CN" sz="240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5</m:t>
                              </m:r>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3</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9</m:t>
                          </m:r>
                          <m:r>
                            <a:rPr lang="en-US" altLang="zh-CN" sz="2400" b="0" i="1" smtClean="0">
                              <a:latin typeface="Cambria Math" panose="02040503050406030204" pitchFamily="18" charset="0"/>
                              <a:ea typeface="Cambria Math" panose="02040503050406030204" pitchFamily="18" charset="0"/>
                            </a:rPr>
                            <m:t>        </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5</m:t>
                              </m:r>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6</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15</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15</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5</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0</m:t>
                          </m:r>
                        </m:oMath>
                      </m:oMathPara>
                    </a14:m>
                    <a:endParaRPr lang="zh-CN" altLang="en-US" sz="2400" dirty="0"/>
                  </a:p>
                </p:txBody>
              </p:sp>
            </mc:Choice>
            <mc:Fallback>
              <p:sp>
                <p:nvSpPr>
                  <p:cNvPr id="18" name="文本框 17"/>
                  <p:cNvSpPr txBox="1">
                    <a:spLocks noRot="1" noChangeAspect="1" noMove="1" noResize="1" noEditPoints="1" noAdjustHandles="1" noChangeArrowheads="1" noChangeShapeType="1" noTextEdit="1"/>
                  </p:cNvSpPr>
                  <p:nvPr/>
                </p:nvSpPr>
                <p:spPr>
                  <a:xfrm>
                    <a:off x="640080" y="1490008"/>
                    <a:ext cx="3830320" cy="1938992"/>
                  </a:xfrm>
                  <a:prstGeom prst="rect">
                    <a:avLst/>
                  </a:prstGeom>
                  <a:blipFill rotWithShape="1">
                    <a:blip r:embed="rId3"/>
                  </a:blipFill>
                </p:spPr>
                <p:txBody>
                  <a:bodyPr/>
                  <a:lstStyle/>
                  <a:p>
                    <a:r>
                      <a:rPr lang="zh-CN" altLang="en-US">
                        <a:noFill/>
                      </a:rPr>
                      <a:t> </a:t>
                    </a:r>
                  </a:p>
                </p:txBody>
              </p:sp>
            </mc:Fallback>
          </mc:AlternateContent>
          <p:sp>
            <p:nvSpPr>
              <p:cNvPr id="19" name="左大括号 18"/>
              <p:cNvSpPr/>
              <p:nvPr/>
            </p:nvSpPr>
            <p:spPr>
              <a:xfrm>
                <a:off x="546101" y="2123440"/>
                <a:ext cx="426720" cy="1193800"/>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20" name="文本框 19"/>
              <p:cNvSpPr txBox="1"/>
              <p:nvPr/>
            </p:nvSpPr>
            <p:spPr>
              <a:xfrm>
                <a:off x="-101600" y="2377440"/>
                <a:ext cx="568960" cy="461665"/>
              </a:xfrm>
              <a:prstGeom prst="rect">
                <a:avLst/>
              </a:prstGeom>
              <a:noFill/>
            </p:spPr>
            <p:txBody>
              <a:bodyPr wrap="square" rtlCol="0">
                <a:spAutoFit/>
              </a:bodyPr>
              <a:lstStyle/>
              <a:p>
                <a:pPr algn="r"/>
                <a:r>
                  <a:rPr lang="en-US" altLang="zh-CN" sz="2400" dirty="0" err="1"/>
                  <a:t>s.t.</a:t>
                </a:r>
                <a:endParaRPr lang="zh-CN" altLang="en-US" sz="2400" dirty="0"/>
              </a:p>
            </p:txBody>
          </p:sp>
        </p:grpSp>
        <p:sp>
          <p:nvSpPr>
            <p:cNvPr id="17" name="矩形: 折角 16"/>
            <p:cNvSpPr/>
            <p:nvPr/>
          </p:nvSpPr>
          <p:spPr>
            <a:xfrm flipV="1">
              <a:off x="843280" y="1899920"/>
              <a:ext cx="559816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6009640" y="3269516"/>
            <a:ext cx="6096000" cy="2098040"/>
            <a:chOff x="721360" y="1899920"/>
            <a:chExt cx="6096000" cy="2098040"/>
          </a:xfrm>
        </p:grpSpPr>
        <p:grpSp>
          <p:nvGrpSpPr>
            <p:cNvPr id="22" name="组合 21"/>
            <p:cNvGrpSpPr/>
            <p:nvPr/>
          </p:nvGrpSpPr>
          <p:grpSpPr>
            <a:xfrm>
              <a:off x="721360" y="1947208"/>
              <a:ext cx="6096000" cy="1938992"/>
              <a:chOff x="-101600" y="1490008"/>
              <a:chExt cx="4572000" cy="1938992"/>
            </a:xfrm>
          </p:grpSpPr>
          <mc:AlternateContent xmlns:mc="http://schemas.openxmlformats.org/markup-compatibility/2006">
            <mc:Choice xmlns:a14="http://schemas.microsoft.com/office/drawing/2010/main" Requires="a14">
              <p:sp>
                <p:nvSpPr>
                  <p:cNvPr id="24" name="文本框 23"/>
                  <p:cNvSpPr txBox="1"/>
                  <p:nvPr/>
                </p:nvSpPr>
                <p:spPr>
                  <a:xfrm>
                    <a:off x="640080" y="1490008"/>
                    <a:ext cx="3830320" cy="19389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max</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e>
                          </m:func>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oMath>
                      </m:oMathPara>
                    </a14:m>
                    <a:endParaRPr lang="en-US" altLang="zh-CN" sz="240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16</m:t>
                          </m:r>
                          <m:r>
                            <a:rPr lang="en-US" altLang="zh-CN" sz="2400" b="0" i="1" smtClean="0">
                              <a:latin typeface="Cambria Math" panose="02040503050406030204" pitchFamily="18" charset="0"/>
                              <a:ea typeface="Cambria Math" panose="02040503050406030204" pitchFamily="18" charset="0"/>
                            </a:rPr>
                            <m:t>        </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2</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2</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0</m:t>
                          </m:r>
                        </m:oMath>
                      </m:oMathPara>
                    </a14:m>
                    <a:endParaRPr lang="zh-CN" altLang="en-US" sz="2400" dirty="0"/>
                  </a:p>
                </p:txBody>
              </p:sp>
            </mc:Choice>
            <mc:Fallback>
              <p:sp>
                <p:nvSpPr>
                  <p:cNvPr id="24" name="文本框 23"/>
                  <p:cNvSpPr txBox="1">
                    <a:spLocks noRot="1" noChangeAspect="1" noMove="1" noResize="1" noEditPoints="1" noAdjustHandles="1" noChangeArrowheads="1" noChangeShapeType="1" noTextEdit="1"/>
                  </p:cNvSpPr>
                  <p:nvPr/>
                </p:nvSpPr>
                <p:spPr>
                  <a:xfrm>
                    <a:off x="640080" y="1490008"/>
                    <a:ext cx="3830320" cy="1938992"/>
                  </a:xfrm>
                  <a:prstGeom prst="rect">
                    <a:avLst/>
                  </a:prstGeom>
                  <a:blipFill rotWithShape="1">
                    <a:blip r:embed="rId4"/>
                  </a:blipFill>
                </p:spPr>
                <p:txBody>
                  <a:bodyPr/>
                  <a:lstStyle/>
                  <a:p>
                    <a:r>
                      <a:rPr lang="zh-CN" altLang="en-US">
                        <a:noFill/>
                      </a:rPr>
                      <a:t> </a:t>
                    </a:r>
                  </a:p>
                </p:txBody>
              </p:sp>
            </mc:Fallback>
          </mc:AlternateContent>
          <p:sp>
            <p:nvSpPr>
              <p:cNvPr id="25" name="左大括号 24"/>
              <p:cNvSpPr/>
              <p:nvPr/>
            </p:nvSpPr>
            <p:spPr>
              <a:xfrm>
                <a:off x="546101" y="2123440"/>
                <a:ext cx="426720" cy="1193800"/>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26" name="文本框 25"/>
              <p:cNvSpPr txBox="1"/>
              <p:nvPr/>
            </p:nvSpPr>
            <p:spPr>
              <a:xfrm>
                <a:off x="-101600" y="2377440"/>
                <a:ext cx="568960" cy="461665"/>
              </a:xfrm>
              <a:prstGeom prst="rect">
                <a:avLst/>
              </a:prstGeom>
              <a:noFill/>
            </p:spPr>
            <p:txBody>
              <a:bodyPr wrap="square" rtlCol="0">
                <a:spAutoFit/>
              </a:bodyPr>
              <a:lstStyle/>
              <a:p>
                <a:pPr algn="r"/>
                <a:r>
                  <a:rPr lang="en-US" altLang="zh-CN" sz="2400" dirty="0" err="1"/>
                  <a:t>s.t.</a:t>
                </a:r>
                <a:endParaRPr lang="zh-CN" altLang="en-US" sz="2400" dirty="0"/>
              </a:p>
            </p:txBody>
          </p:sp>
        </p:grpSp>
        <p:sp>
          <p:nvSpPr>
            <p:cNvPr id="23" name="矩形: 折角 22"/>
            <p:cNvSpPr/>
            <p:nvPr/>
          </p:nvSpPr>
          <p:spPr>
            <a:xfrm flipV="1">
              <a:off x="843280" y="1899920"/>
              <a:ext cx="559816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3680" y="193040"/>
            <a:ext cx="11551920" cy="584775"/>
          </a:xfrm>
          <a:prstGeom prst="rect">
            <a:avLst/>
          </a:prstGeom>
          <a:noFill/>
        </p:spPr>
        <p:txBody>
          <a:bodyPr wrap="square" rtlCol="0">
            <a:spAutoFit/>
          </a:bodyPr>
          <a:lstStyle/>
          <a:p>
            <a:r>
              <a:rPr lang="zh-CN" altLang="en-US" sz="3200" dirty="0"/>
              <a:t>练习</a:t>
            </a:r>
            <a:r>
              <a:rPr lang="en-US" altLang="zh-CN" sz="3200" dirty="0"/>
              <a:t>33</a:t>
            </a:r>
            <a:r>
              <a:rPr lang="zh-CN" altLang="en-US" sz="3200" dirty="0"/>
              <a:t>用单纯形法求解</a:t>
            </a:r>
            <a:r>
              <a:rPr lang="en-US" altLang="zh-CN" sz="3200" dirty="0"/>
              <a:t>LPQ</a:t>
            </a:r>
            <a:endParaRPr lang="zh-CN" altLang="en-US" sz="3200" dirty="0"/>
          </a:p>
        </p:txBody>
      </p:sp>
      <p:grpSp>
        <p:nvGrpSpPr>
          <p:cNvPr id="3" name="组合 2"/>
          <p:cNvGrpSpPr/>
          <p:nvPr/>
        </p:nvGrpSpPr>
        <p:grpSpPr>
          <a:xfrm>
            <a:off x="1158240" y="1601768"/>
            <a:ext cx="4297680" cy="1569660"/>
            <a:chOff x="172720" y="1490008"/>
            <a:chExt cx="4297680" cy="1569660"/>
          </a:xfrm>
        </p:grpSpPr>
        <mc:AlternateContent xmlns:mc="http://schemas.openxmlformats.org/markup-compatibility/2006">
          <mc:Choice xmlns:a14="http://schemas.microsoft.com/office/drawing/2010/main" Requires="a14">
            <p:sp>
              <p:nvSpPr>
                <p:cNvPr id="4" name="文本框 3"/>
                <p:cNvSpPr txBox="1"/>
                <p:nvPr/>
              </p:nvSpPr>
              <p:spPr>
                <a:xfrm>
                  <a:off x="640080" y="1490008"/>
                  <a:ext cx="3830320" cy="156966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max</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e>
                        </m:func>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oMath>
                    </m:oMathPara>
                  </a14:m>
                  <a:endParaRPr lang="en-US" altLang="zh-CN" sz="2400" b="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3</m:t>
                            </m:r>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5</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15</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6</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24</m:t>
                        </m:r>
                        <m:r>
                          <a:rPr lang="en-US" altLang="zh-CN" sz="2400" b="0" i="1" smtClean="0">
                            <a:latin typeface="Cambria Math" panose="02040503050406030204" pitchFamily="18" charset="0"/>
                            <a:ea typeface="Cambria Math" panose="02040503050406030204" pitchFamily="18" charset="0"/>
                          </a:rPr>
                          <m:t>          </m:t>
                        </m:r>
                      </m:oMath>
                    </m:oMathPara>
                  </a14:m>
                  <a:endParaRPr lang="en-US" altLang="zh-CN" sz="2400" b="0" dirty="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en-US" altLang="zh-CN" sz="2400" b="0" i="1" smtClean="0">
                            <a:latin typeface="Cambria Math" panose="02040503050406030204" pitchFamily="18" charset="0"/>
                            <a:ea typeface="Cambria Math" panose="02040503050406030204" pitchFamily="18" charset="0"/>
                          </a:rPr>
                          <m:t>   </m:t>
                        </m:r>
                      </m:oMath>
                    </m:oMathPara>
                  </a14:m>
                  <a:endParaRPr lang="zh-CN" altLang="en-US" sz="2400" dirty="0"/>
                </a:p>
              </p:txBody>
            </p:sp>
          </mc:Choice>
          <mc:Fallback>
            <p:sp>
              <p:nvSpPr>
                <p:cNvPr id="4" name="文本框 3"/>
                <p:cNvSpPr txBox="1">
                  <a:spLocks noRot="1" noChangeAspect="1" noMove="1" noResize="1" noEditPoints="1" noAdjustHandles="1" noChangeArrowheads="1" noChangeShapeType="1" noTextEdit="1"/>
                </p:cNvSpPr>
                <p:nvPr/>
              </p:nvSpPr>
              <p:spPr>
                <a:xfrm>
                  <a:off x="640080" y="1490008"/>
                  <a:ext cx="3830320" cy="1569660"/>
                </a:xfrm>
                <a:prstGeom prst="rect">
                  <a:avLst/>
                </a:prstGeom>
                <a:blipFill rotWithShape="1">
                  <a:blip r:embed="rId1"/>
                </a:blipFill>
              </p:spPr>
              <p:txBody>
                <a:bodyPr/>
                <a:lstStyle/>
                <a:p>
                  <a:r>
                    <a:rPr lang="zh-CN" altLang="en-US">
                      <a:noFill/>
                    </a:rPr>
                    <a:t> </a:t>
                  </a:r>
                </a:p>
              </p:txBody>
            </p:sp>
          </mc:Fallback>
        </mc:AlternateContent>
        <p:sp>
          <p:nvSpPr>
            <p:cNvPr id="5" name="左大括号 4"/>
            <p:cNvSpPr/>
            <p:nvPr/>
          </p:nvSpPr>
          <p:spPr>
            <a:xfrm>
              <a:off x="782320" y="2123440"/>
              <a:ext cx="568960" cy="778411"/>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6" name="文本框 5"/>
            <p:cNvSpPr txBox="1"/>
            <p:nvPr/>
          </p:nvSpPr>
          <p:spPr>
            <a:xfrm>
              <a:off x="172720" y="2377440"/>
              <a:ext cx="568960" cy="461665"/>
            </a:xfrm>
            <a:prstGeom prst="rect">
              <a:avLst/>
            </a:prstGeom>
            <a:noFill/>
          </p:spPr>
          <p:txBody>
            <a:bodyPr wrap="square" rtlCol="0">
              <a:spAutoFit/>
            </a:bodyPr>
            <a:lstStyle/>
            <a:p>
              <a:pPr algn="r"/>
              <a:r>
                <a:rPr lang="en-US" altLang="zh-CN" sz="2400" dirty="0" err="1"/>
                <a:t>s.t.</a:t>
              </a:r>
              <a:endParaRPr lang="zh-CN" altLang="en-US" sz="2400" dirty="0"/>
            </a:p>
          </p:txBody>
        </p:sp>
      </p:grpSp>
      <p:grpSp>
        <p:nvGrpSpPr>
          <p:cNvPr id="7" name="组合 6"/>
          <p:cNvGrpSpPr/>
          <p:nvPr/>
        </p:nvGrpSpPr>
        <p:grpSpPr>
          <a:xfrm>
            <a:off x="6009640" y="1501954"/>
            <a:ext cx="4287520" cy="1938992"/>
            <a:chOff x="182880" y="1490008"/>
            <a:chExt cx="4287520" cy="1938992"/>
          </a:xfrm>
        </p:grpSpPr>
        <mc:AlternateContent xmlns:mc="http://schemas.openxmlformats.org/markup-compatibility/2006">
          <mc:Choice xmlns:a14="http://schemas.microsoft.com/office/drawing/2010/main" Requires="a14">
            <p:sp>
              <p:nvSpPr>
                <p:cNvPr id="8" name="文本框 7"/>
                <p:cNvSpPr txBox="1"/>
                <p:nvPr/>
              </p:nvSpPr>
              <p:spPr>
                <a:xfrm>
                  <a:off x="640080" y="1490008"/>
                  <a:ext cx="3830320" cy="19389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m:t>
                            </m:r>
                            <m:r>
                              <a:rPr lang="en-US" altLang="zh-CN" sz="2400" b="0" i="1" smtClean="0">
                                <a:latin typeface="Cambria Math" panose="02040503050406030204" pitchFamily="18" charset="0"/>
                              </a:rPr>
                              <m:t>𝑎𝑥</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e>
                        </m:func>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5</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oMath>
                    </m:oMathPara>
                  </a14:m>
                  <a:endParaRPr lang="en-US" altLang="zh-CN" sz="2400" b="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4</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2</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12</m:t>
                        </m:r>
                      </m:oMath>
                    </m:oMathPara>
                  </a14:m>
                  <a:endParaRPr lang="en-US" altLang="zh-CN" sz="24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18</m:t>
                        </m:r>
                        <m:r>
                          <a:rPr lang="en-US" altLang="zh-CN" sz="2400" b="0" i="1" smtClean="0">
                            <a:latin typeface="Cambria Math" panose="02040503050406030204" pitchFamily="18" charset="0"/>
                            <a:ea typeface="Cambria Math" panose="02040503050406030204" pitchFamily="18" charset="0"/>
                          </a:rPr>
                          <m:t>  </m:t>
                        </m:r>
                      </m:oMath>
                    </m:oMathPara>
                  </a14:m>
                  <a:endParaRPr lang="en-US" altLang="zh-CN" sz="2400" b="0" dirty="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0</m:t>
                        </m:r>
                      </m:oMath>
                    </m:oMathPara>
                  </a14:m>
                  <a:endParaRPr lang="zh-CN" altLang="en-US" sz="2400" dirty="0"/>
                </a:p>
              </p:txBody>
            </p:sp>
          </mc:Choice>
          <mc:Fallback>
            <p:sp>
              <p:nvSpPr>
                <p:cNvPr id="8" name="文本框 7"/>
                <p:cNvSpPr txBox="1">
                  <a:spLocks noRot="1" noChangeAspect="1" noMove="1" noResize="1" noEditPoints="1" noAdjustHandles="1" noChangeArrowheads="1" noChangeShapeType="1" noTextEdit="1"/>
                </p:cNvSpPr>
                <p:nvPr/>
              </p:nvSpPr>
              <p:spPr>
                <a:xfrm>
                  <a:off x="640080" y="1490008"/>
                  <a:ext cx="3830320" cy="1938992"/>
                </a:xfrm>
                <a:prstGeom prst="rect">
                  <a:avLst/>
                </a:prstGeom>
                <a:blipFill rotWithShape="1">
                  <a:blip r:embed="rId2"/>
                </a:blipFill>
              </p:spPr>
              <p:txBody>
                <a:bodyPr/>
                <a:lstStyle/>
                <a:p>
                  <a:r>
                    <a:rPr lang="zh-CN" altLang="en-US">
                      <a:noFill/>
                    </a:rPr>
                    <a:t> </a:t>
                  </a:r>
                </a:p>
              </p:txBody>
            </p:sp>
          </mc:Fallback>
        </mc:AlternateContent>
        <p:sp>
          <p:nvSpPr>
            <p:cNvPr id="9" name="左大括号 8"/>
            <p:cNvSpPr/>
            <p:nvPr/>
          </p:nvSpPr>
          <p:spPr>
            <a:xfrm>
              <a:off x="782320" y="2123440"/>
              <a:ext cx="426720" cy="812800"/>
            </a:xfrm>
            <a:prstGeom prst="leftBrace">
              <a:avLst>
                <a:gd name="adj1" fmla="val 33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0" name="文本框 9"/>
            <p:cNvSpPr txBox="1"/>
            <p:nvPr/>
          </p:nvSpPr>
          <p:spPr>
            <a:xfrm>
              <a:off x="182880" y="2255520"/>
              <a:ext cx="568960" cy="461665"/>
            </a:xfrm>
            <a:prstGeom prst="rect">
              <a:avLst/>
            </a:prstGeom>
            <a:noFill/>
          </p:spPr>
          <p:txBody>
            <a:bodyPr wrap="square" rtlCol="0">
              <a:spAutoFit/>
            </a:bodyPr>
            <a:lstStyle/>
            <a:p>
              <a:pPr algn="r"/>
              <a:r>
                <a:rPr lang="en-US" altLang="zh-CN" sz="2400" dirty="0" err="1"/>
                <a:t>s.t.</a:t>
              </a:r>
              <a:endParaRPr lang="zh-CN" altLang="en-US" sz="2400" dirty="0"/>
            </a:p>
          </p:txBody>
        </p:sp>
      </p:grpSp>
      <p:sp>
        <p:nvSpPr>
          <p:cNvPr id="11" name="矩形: 折角 10"/>
          <p:cNvSpPr/>
          <p:nvPr/>
        </p:nvSpPr>
        <p:spPr>
          <a:xfrm flipV="1">
            <a:off x="914400" y="1442720"/>
            <a:ext cx="443992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折角 11"/>
          <p:cNvSpPr/>
          <p:nvPr/>
        </p:nvSpPr>
        <p:spPr>
          <a:xfrm flipV="1">
            <a:off x="5857240" y="1445062"/>
            <a:ext cx="4439920" cy="209804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3680" y="193040"/>
            <a:ext cx="11551920" cy="4031873"/>
          </a:xfrm>
          <a:prstGeom prst="rect">
            <a:avLst/>
          </a:prstGeom>
          <a:noFill/>
        </p:spPr>
        <p:txBody>
          <a:bodyPr wrap="square" rtlCol="0">
            <a:spAutoFit/>
          </a:bodyPr>
          <a:lstStyle/>
          <a:p>
            <a:r>
              <a:rPr lang="zh-CN" altLang="en-US" sz="3200" dirty="0"/>
              <a:t>练习</a:t>
            </a:r>
            <a:r>
              <a:rPr lang="en-US" altLang="zh-CN" sz="3200" dirty="0"/>
              <a:t>34</a:t>
            </a:r>
            <a:r>
              <a:rPr lang="zh-CN" altLang="en-US" sz="3200" dirty="0"/>
              <a:t>下表中是某求极大化线性规划问题计算得到的单纯形表，表中无人工变量，</a:t>
            </a:r>
            <a:r>
              <a:rPr lang="en-US" altLang="zh-CN" sz="3200" dirty="0"/>
              <a:t>a1,a2,a3,d,c1,c2</a:t>
            </a:r>
            <a:r>
              <a:rPr lang="zh-CN" altLang="en-US" sz="3200" dirty="0"/>
              <a:t>为待定系数。试说明这些常数分别取何值时，以下结论成立。</a:t>
            </a:r>
            <a:endParaRPr lang="en-US" altLang="zh-CN" sz="3200" dirty="0"/>
          </a:p>
          <a:p>
            <a:r>
              <a:rPr lang="zh-CN" altLang="en-US" sz="3200" dirty="0"/>
              <a:t>（</a:t>
            </a:r>
            <a:r>
              <a:rPr lang="en-US" altLang="zh-CN" sz="3200" dirty="0"/>
              <a:t>1</a:t>
            </a:r>
            <a:r>
              <a:rPr lang="zh-CN" altLang="en-US" sz="3200" dirty="0"/>
              <a:t>）表中解为唯一最优解</a:t>
            </a:r>
            <a:endParaRPr lang="en-US" altLang="zh-CN" sz="3200" dirty="0"/>
          </a:p>
          <a:p>
            <a:r>
              <a:rPr lang="zh-CN" altLang="en-US" sz="3200" dirty="0"/>
              <a:t>（</a:t>
            </a:r>
            <a:r>
              <a:rPr lang="en-US" altLang="zh-CN" sz="3200" dirty="0"/>
              <a:t>2</a:t>
            </a:r>
            <a:r>
              <a:rPr lang="zh-CN" altLang="en-US" sz="3200" dirty="0"/>
              <a:t>）表中解为最优解，但存在无穷多最优解</a:t>
            </a:r>
            <a:endParaRPr lang="en-US" altLang="zh-CN" sz="3200" dirty="0"/>
          </a:p>
          <a:p>
            <a:r>
              <a:rPr lang="zh-CN" altLang="en-US" sz="3200" dirty="0"/>
              <a:t>（</a:t>
            </a:r>
            <a:r>
              <a:rPr lang="en-US" altLang="zh-CN" sz="3200" dirty="0"/>
              <a:t>3</a:t>
            </a:r>
            <a:r>
              <a:rPr lang="zh-CN" altLang="en-US" sz="3200" dirty="0"/>
              <a:t>）该线性规划问题具有无界解</a:t>
            </a:r>
            <a:endParaRPr lang="en-US" altLang="zh-CN" sz="3200" dirty="0"/>
          </a:p>
          <a:p>
            <a:r>
              <a:rPr lang="zh-CN" altLang="en-US" sz="3200" dirty="0"/>
              <a:t>（</a:t>
            </a:r>
            <a:r>
              <a:rPr lang="en-US" altLang="zh-CN" sz="3200" dirty="0"/>
              <a:t>4</a:t>
            </a:r>
            <a:r>
              <a:rPr lang="zh-CN" altLang="en-US" sz="3200" dirty="0"/>
              <a:t>）表中解非最优，为对解进行改进，换入变量为</a:t>
            </a:r>
            <a:r>
              <a:rPr lang="en-US" altLang="zh-CN" sz="3200" dirty="0"/>
              <a:t>x1,</a:t>
            </a:r>
            <a:r>
              <a:rPr lang="zh-CN" altLang="en-US" sz="3200" dirty="0"/>
              <a:t>换出变量为</a:t>
            </a:r>
            <a:r>
              <a:rPr lang="en-US" altLang="zh-CN" sz="3200" dirty="0"/>
              <a:t>x6.</a:t>
            </a:r>
            <a:endParaRPr lang="zh-CN" altLang="en-US" sz="3200" dirty="0"/>
          </a:p>
        </p:txBody>
      </p:sp>
      <p:graphicFrame>
        <p:nvGraphicFramePr>
          <p:cNvPr id="3" name="表格 3"/>
          <p:cNvGraphicFramePr>
            <a:graphicFrameLocks noGrp="1"/>
          </p:cNvGraphicFramePr>
          <p:nvPr/>
        </p:nvGraphicFramePr>
        <p:xfrm>
          <a:off x="1849120" y="4224913"/>
          <a:ext cx="8128000" cy="228600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gridCol w="1016000"/>
                <a:gridCol w="1016000"/>
              </a:tblGrid>
              <a:tr h="370840">
                <a:tc>
                  <a:txBody>
                    <a:bodyPr/>
                    <a:lstStyle/>
                    <a:p>
                      <a:r>
                        <a:rPr lang="zh-CN" altLang="en-US" sz="2400" dirty="0"/>
                        <a:t>基</a:t>
                      </a:r>
                      <a:endParaRPr lang="zh-CN" altLang="en-US" sz="2400" dirty="0"/>
                    </a:p>
                  </a:txBody>
                  <a:tcPr/>
                </a:tc>
                <a:tc>
                  <a:txBody>
                    <a:bodyPr/>
                    <a:lstStyle/>
                    <a:p>
                      <a:r>
                        <a:rPr lang="en-US" altLang="zh-CN" sz="2400" dirty="0"/>
                        <a:t>b</a:t>
                      </a:r>
                      <a:endParaRPr lang="zh-CN" altLang="en-US" sz="2400" dirty="0"/>
                    </a:p>
                  </a:txBody>
                  <a:tcPr/>
                </a:tc>
                <a:tc>
                  <a:txBody>
                    <a:bodyPr/>
                    <a:lstStyle/>
                    <a:p>
                      <a:r>
                        <a:rPr lang="en-US" altLang="zh-CN" sz="2400" dirty="0"/>
                        <a:t>X1</a:t>
                      </a:r>
                      <a:endParaRPr lang="zh-CN" altLang="en-US" sz="2400" dirty="0"/>
                    </a:p>
                  </a:txBody>
                  <a:tcPr/>
                </a:tc>
                <a:tc>
                  <a:txBody>
                    <a:bodyPr/>
                    <a:lstStyle/>
                    <a:p>
                      <a:r>
                        <a:rPr lang="en-US" altLang="zh-CN" sz="2400" dirty="0"/>
                        <a:t>x2</a:t>
                      </a:r>
                      <a:endParaRPr lang="zh-CN" altLang="en-US" sz="2400" dirty="0"/>
                    </a:p>
                  </a:txBody>
                  <a:tcPr/>
                </a:tc>
                <a:tc>
                  <a:txBody>
                    <a:bodyPr/>
                    <a:lstStyle/>
                    <a:p>
                      <a:r>
                        <a:rPr lang="en-US" altLang="zh-CN" sz="2400" dirty="0"/>
                        <a:t>x3</a:t>
                      </a:r>
                      <a:endParaRPr lang="zh-CN" altLang="en-US" sz="2400" dirty="0"/>
                    </a:p>
                  </a:txBody>
                  <a:tcPr/>
                </a:tc>
                <a:tc>
                  <a:txBody>
                    <a:bodyPr/>
                    <a:lstStyle/>
                    <a:p>
                      <a:r>
                        <a:rPr lang="en-US" altLang="zh-CN" sz="2400" dirty="0"/>
                        <a:t>x4</a:t>
                      </a:r>
                      <a:endParaRPr lang="zh-CN" altLang="en-US" sz="2400" dirty="0"/>
                    </a:p>
                  </a:txBody>
                  <a:tcPr/>
                </a:tc>
                <a:tc>
                  <a:txBody>
                    <a:bodyPr/>
                    <a:lstStyle/>
                    <a:p>
                      <a:r>
                        <a:rPr lang="en-US" altLang="zh-CN" sz="2400" dirty="0"/>
                        <a:t>x5</a:t>
                      </a:r>
                      <a:endParaRPr lang="zh-CN" altLang="en-US" sz="2400" dirty="0"/>
                    </a:p>
                  </a:txBody>
                  <a:tcPr/>
                </a:tc>
                <a:tc>
                  <a:txBody>
                    <a:bodyPr/>
                    <a:lstStyle/>
                    <a:p>
                      <a:r>
                        <a:rPr lang="en-US" altLang="zh-CN" sz="2400" dirty="0"/>
                        <a:t>x6</a:t>
                      </a:r>
                      <a:endParaRPr lang="zh-CN" altLang="en-US" sz="2400" dirty="0"/>
                    </a:p>
                  </a:txBody>
                  <a:tcPr/>
                </a:tc>
              </a:tr>
              <a:tr h="370840">
                <a:tc>
                  <a:txBody>
                    <a:bodyPr/>
                    <a:lstStyle/>
                    <a:p>
                      <a:r>
                        <a:rPr lang="en-US" altLang="zh-CN" sz="2400" dirty="0"/>
                        <a:t>X3</a:t>
                      </a:r>
                      <a:endParaRPr lang="zh-CN" altLang="en-US" sz="2400" dirty="0"/>
                    </a:p>
                  </a:txBody>
                  <a:tcPr/>
                </a:tc>
                <a:tc>
                  <a:txBody>
                    <a:bodyPr/>
                    <a:lstStyle/>
                    <a:p>
                      <a:r>
                        <a:rPr lang="en-US" altLang="zh-CN" sz="2400" dirty="0"/>
                        <a:t>d</a:t>
                      </a:r>
                      <a:endParaRPr lang="zh-CN" altLang="en-US" sz="2400" dirty="0"/>
                    </a:p>
                  </a:txBody>
                  <a:tcPr/>
                </a:tc>
                <a:tc>
                  <a:txBody>
                    <a:bodyPr/>
                    <a:lstStyle/>
                    <a:p>
                      <a:r>
                        <a:rPr lang="en-US" altLang="zh-CN" sz="2400" dirty="0"/>
                        <a:t>4</a:t>
                      </a:r>
                      <a:endParaRPr lang="zh-CN" altLang="en-US" sz="2400" dirty="0"/>
                    </a:p>
                  </a:txBody>
                  <a:tcPr/>
                </a:tc>
                <a:tc>
                  <a:txBody>
                    <a:bodyPr/>
                    <a:lstStyle/>
                    <a:p>
                      <a:r>
                        <a:rPr lang="en-US" altLang="zh-CN" sz="2400" dirty="0"/>
                        <a:t>a1</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0</a:t>
                      </a:r>
                      <a:endParaRPr lang="zh-CN" altLang="en-US" sz="2400" dirty="0"/>
                    </a:p>
                  </a:txBody>
                  <a:tcPr/>
                </a:tc>
                <a:tc>
                  <a:txBody>
                    <a:bodyPr/>
                    <a:lstStyle/>
                    <a:p>
                      <a:r>
                        <a:rPr lang="en-US" altLang="zh-CN" sz="2400" dirty="0"/>
                        <a:t>a2</a:t>
                      </a:r>
                      <a:endParaRPr lang="zh-CN" altLang="en-US" sz="2400" dirty="0"/>
                    </a:p>
                  </a:txBody>
                  <a:tcPr/>
                </a:tc>
                <a:tc>
                  <a:txBody>
                    <a:bodyPr/>
                    <a:lstStyle/>
                    <a:p>
                      <a:r>
                        <a:rPr lang="en-US" altLang="zh-CN" sz="2400" dirty="0"/>
                        <a:t>0</a:t>
                      </a:r>
                      <a:endParaRPr lang="zh-CN" altLang="en-US" sz="2400" dirty="0"/>
                    </a:p>
                  </a:txBody>
                  <a:tcPr/>
                </a:tc>
              </a:tr>
              <a:tr h="370840">
                <a:tc>
                  <a:txBody>
                    <a:bodyPr/>
                    <a:lstStyle/>
                    <a:p>
                      <a:r>
                        <a:rPr lang="en-US" altLang="zh-CN" sz="2400" dirty="0"/>
                        <a:t>X4</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-3</a:t>
                      </a:r>
                      <a:endParaRPr lang="zh-CN" altLang="en-US" sz="2400" dirty="0"/>
                    </a:p>
                  </a:txBody>
                  <a:tcPr/>
                </a:tc>
                <a:tc>
                  <a:txBody>
                    <a:bodyPr/>
                    <a:lstStyle/>
                    <a:p>
                      <a:r>
                        <a:rPr lang="en-US" altLang="zh-CN" sz="2400" dirty="0"/>
                        <a:t>0</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0</a:t>
                      </a:r>
                      <a:endParaRPr lang="zh-CN" altLang="en-US" sz="2400" dirty="0"/>
                    </a:p>
                  </a:txBody>
                  <a:tcPr/>
                </a:tc>
              </a:tr>
              <a:tr h="370840">
                <a:tc>
                  <a:txBody>
                    <a:bodyPr/>
                    <a:lstStyle/>
                    <a:p>
                      <a:r>
                        <a:rPr lang="en-US" altLang="zh-CN" sz="2400" dirty="0"/>
                        <a:t>x6</a:t>
                      </a:r>
                      <a:endParaRPr lang="zh-CN" altLang="en-US" sz="2400" dirty="0"/>
                    </a:p>
                  </a:txBody>
                  <a:tcPr/>
                </a:tc>
                <a:tc>
                  <a:txBody>
                    <a:bodyPr/>
                    <a:lstStyle/>
                    <a:p>
                      <a:r>
                        <a:rPr lang="en-US" altLang="zh-CN" sz="2400" dirty="0"/>
                        <a:t>3</a:t>
                      </a:r>
                      <a:endParaRPr lang="zh-CN" altLang="en-US" sz="2400" dirty="0"/>
                    </a:p>
                  </a:txBody>
                  <a:tcPr/>
                </a:tc>
                <a:tc>
                  <a:txBody>
                    <a:bodyPr/>
                    <a:lstStyle/>
                    <a:p>
                      <a:r>
                        <a:rPr lang="en-US" altLang="zh-CN" sz="2400" dirty="0"/>
                        <a:t>a3</a:t>
                      </a:r>
                      <a:endParaRPr lang="zh-CN" altLang="en-US" sz="2400" dirty="0"/>
                    </a:p>
                  </a:txBody>
                  <a:tcPr/>
                </a:tc>
                <a:tc>
                  <a:txBody>
                    <a:bodyPr/>
                    <a:lstStyle/>
                    <a:p>
                      <a:r>
                        <a:rPr lang="en-US" altLang="zh-CN" sz="2400" dirty="0"/>
                        <a:t>-5</a:t>
                      </a:r>
                      <a:endParaRPr lang="zh-CN" altLang="en-US" sz="2400" dirty="0"/>
                    </a:p>
                  </a:txBody>
                  <a:tcPr/>
                </a:tc>
                <a:tc>
                  <a:txBody>
                    <a:bodyPr/>
                    <a:lstStyle/>
                    <a:p>
                      <a:r>
                        <a:rPr lang="en-US" altLang="zh-CN" sz="2400" dirty="0"/>
                        <a:t>0</a:t>
                      </a:r>
                      <a:endParaRPr lang="zh-CN" altLang="en-US" sz="2400" dirty="0"/>
                    </a:p>
                  </a:txBody>
                  <a:tcPr/>
                </a:tc>
                <a:tc>
                  <a:txBody>
                    <a:bodyPr/>
                    <a:lstStyle/>
                    <a:p>
                      <a:r>
                        <a:rPr lang="en-US" altLang="zh-CN" sz="2400" dirty="0"/>
                        <a:t>0</a:t>
                      </a:r>
                      <a:endParaRPr lang="zh-CN" altLang="en-US" sz="2400" dirty="0"/>
                    </a:p>
                  </a:txBody>
                  <a:tcPr/>
                </a:tc>
                <a:tc>
                  <a:txBody>
                    <a:bodyPr/>
                    <a:lstStyle/>
                    <a:p>
                      <a:r>
                        <a:rPr lang="en-US" altLang="zh-CN" sz="2400" dirty="0"/>
                        <a:t>-4</a:t>
                      </a:r>
                      <a:endParaRPr lang="zh-CN" altLang="en-US" sz="2400" dirty="0"/>
                    </a:p>
                  </a:txBody>
                  <a:tcPr/>
                </a:tc>
                <a:tc>
                  <a:txBody>
                    <a:bodyPr/>
                    <a:lstStyle/>
                    <a:p>
                      <a:r>
                        <a:rPr lang="en-US" altLang="zh-CN" sz="2400" dirty="0"/>
                        <a:t>1</a:t>
                      </a:r>
                      <a:endParaRPr lang="zh-CN" altLang="en-US" sz="2400" dirty="0"/>
                    </a:p>
                  </a:txBody>
                  <a:tcPr/>
                </a:tc>
              </a:tr>
              <a:tr h="370840">
                <a:tc>
                  <a:txBody>
                    <a:bodyPr/>
                    <a:lstStyle/>
                    <a:p>
                      <a:endParaRPr lang="zh-CN" altLang="en-US" sz="2400"/>
                    </a:p>
                  </a:txBody>
                  <a:tcPr/>
                </a:tc>
                <a:tc>
                  <a:txBody>
                    <a:bodyPr/>
                    <a:lstStyle/>
                    <a:p>
                      <a:endParaRPr lang="zh-CN" altLang="en-US" sz="2400" dirty="0"/>
                    </a:p>
                  </a:txBody>
                  <a:tcPr/>
                </a:tc>
                <a:tc>
                  <a:txBody>
                    <a:bodyPr/>
                    <a:lstStyle/>
                    <a:p>
                      <a:r>
                        <a:rPr lang="en-US" altLang="zh-CN" sz="2400" dirty="0"/>
                        <a:t>c1</a:t>
                      </a:r>
                      <a:endParaRPr lang="zh-CN" altLang="en-US" sz="2400" dirty="0"/>
                    </a:p>
                  </a:txBody>
                  <a:tcPr/>
                </a:tc>
                <a:tc>
                  <a:txBody>
                    <a:bodyPr/>
                    <a:lstStyle/>
                    <a:p>
                      <a:r>
                        <a:rPr lang="en-US" altLang="zh-CN" sz="2400" dirty="0"/>
                        <a:t>c2</a:t>
                      </a:r>
                      <a:endParaRPr lang="zh-CN" altLang="en-US" sz="2400" dirty="0"/>
                    </a:p>
                  </a:txBody>
                  <a:tcPr/>
                </a:tc>
                <a:tc>
                  <a:txBody>
                    <a:bodyPr/>
                    <a:lstStyle/>
                    <a:p>
                      <a:r>
                        <a:rPr lang="en-US" altLang="zh-CN" sz="2400" dirty="0"/>
                        <a:t>0</a:t>
                      </a:r>
                      <a:endParaRPr lang="zh-CN" altLang="en-US" sz="2400" dirty="0"/>
                    </a:p>
                  </a:txBody>
                  <a:tcPr/>
                </a:tc>
                <a:tc>
                  <a:txBody>
                    <a:bodyPr/>
                    <a:lstStyle/>
                    <a:p>
                      <a:r>
                        <a:rPr lang="en-US" altLang="zh-CN" sz="2400" dirty="0"/>
                        <a:t>0</a:t>
                      </a:r>
                      <a:endParaRPr lang="zh-CN" altLang="en-US" sz="2400" dirty="0"/>
                    </a:p>
                  </a:txBody>
                  <a:tcPr/>
                </a:tc>
                <a:tc>
                  <a:txBody>
                    <a:bodyPr/>
                    <a:lstStyle/>
                    <a:p>
                      <a:r>
                        <a:rPr lang="en-US" altLang="zh-CN" sz="2400" dirty="0"/>
                        <a:t>-3</a:t>
                      </a:r>
                      <a:endParaRPr lang="zh-CN" altLang="en-US" sz="2400" dirty="0"/>
                    </a:p>
                  </a:txBody>
                  <a:tcPr/>
                </a:tc>
                <a:tc>
                  <a:txBody>
                    <a:bodyPr/>
                    <a:lstStyle/>
                    <a:p>
                      <a:r>
                        <a:rPr lang="en-US" altLang="zh-CN" sz="2400" dirty="0"/>
                        <a:t>0</a:t>
                      </a:r>
                      <a:endParaRPr lang="zh-CN" altLang="en-US" sz="2400" dirty="0"/>
                    </a:p>
                  </a:txBody>
                  <a:tcPr/>
                </a:tc>
              </a:tr>
            </a:tbl>
          </a:graphicData>
        </a:graphic>
      </p:graphicFrame>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3680" y="193040"/>
            <a:ext cx="11551920" cy="584775"/>
          </a:xfrm>
          <a:prstGeom prst="rect">
            <a:avLst/>
          </a:prstGeom>
          <a:noFill/>
        </p:spPr>
        <p:txBody>
          <a:bodyPr wrap="square" rtlCol="0">
            <a:spAutoFit/>
          </a:bodyPr>
          <a:lstStyle/>
          <a:p>
            <a:r>
              <a:rPr lang="zh-CN" altLang="en-US" sz="3200" dirty="0"/>
              <a:t>练习</a:t>
            </a:r>
            <a:r>
              <a:rPr lang="en-US" altLang="zh-CN" sz="3200" dirty="0"/>
              <a:t>35</a:t>
            </a:r>
            <a:r>
              <a:rPr lang="zh-CN" altLang="en-US" sz="3200" dirty="0">
                <a:solidFill>
                  <a:srgbClr val="060606"/>
                </a:solidFill>
              </a:rPr>
              <a:t>可选最优解</a:t>
            </a:r>
            <a:endParaRPr lang="zh-CN" altLang="en-US" sz="3200" dirty="0"/>
          </a:p>
        </p:txBody>
      </p:sp>
      <p:sp>
        <p:nvSpPr>
          <p:cNvPr id="4" name="文本框 3"/>
          <p:cNvSpPr txBox="1"/>
          <p:nvPr/>
        </p:nvSpPr>
        <p:spPr>
          <a:xfrm>
            <a:off x="417250" y="1216241"/>
            <a:ext cx="11368350" cy="3539430"/>
          </a:xfrm>
          <a:prstGeom prst="rect">
            <a:avLst/>
          </a:prstGeom>
          <a:noFill/>
        </p:spPr>
        <p:txBody>
          <a:bodyPr wrap="square">
            <a:spAutoFit/>
          </a:bodyPr>
          <a:lstStyle/>
          <a:p>
            <a:pPr>
              <a:buNone/>
            </a:pPr>
            <a:r>
              <a:rPr lang="zh-CN" altLang="en-US" sz="2800" dirty="0">
                <a:solidFill>
                  <a:srgbClr val="060606"/>
                </a:solidFill>
              </a:rPr>
              <a:t>一家汽车公司生产轿车和卡车。每辆汽车都必须在喷漆车间和车身装配车间进行处理。</a:t>
            </a:r>
            <a:endParaRPr lang="en-US" altLang="zh-CN" sz="2800" dirty="0">
              <a:solidFill>
                <a:srgbClr val="060606"/>
              </a:solidFill>
            </a:endParaRPr>
          </a:p>
          <a:p>
            <a:pPr>
              <a:buNone/>
            </a:pPr>
            <a:r>
              <a:rPr lang="zh-CN" altLang="en-US" sz="2800" dirty="0">
                <a:solidFill>
                  <a:srgbClr val="060606"/>
                </a:solidFill>
              </a:rPr>
              <a:t>如果喷漆车间只喷卡车，每天可以喷</a:t>
            </a:r>
            <a:r>
              <a:rPr lang="en-US" altLang="zh-CN" sz="2800" dirty="0">
                <a:solidFill>
                  <a:srgbClr val="060606"/>
                </a:solidFill>
              </a:rPr>
              <a:t>40</a:t>
            </a:r>
            <a:r>
              <a:rPr lang="zh-CN" altLang="en-US" sz="2800" dirty="0">
                <a:solidFill>
                  <a:srgbClr val="060606"/>
                </a:solidFill>
              </a:rPr>
              <a:t>辆卡车；如果喷漆车间只喷轿车，每天可以喷</a:t>
            </a:r>
            <a:r>
              <a:rPr lang="en-US" altLang="zh-CN" sz="2800" dirty="0">
                <a:solidFill>
                  <a:srgbClr val="060606"/>
                </a:solidFill>
              </a:rPr>
              <a:t>60</a:t>
            </a:r>
            <a:r>
              <a:rPr lang="zh-CN" altLang="en-US" sz="2800" dirty="0">
                <a:solidFill>
                  <a:srgbClr val="060606"/>
                </a:solidFill>
              </a:rPr>
              <a:t>辆轿车。</a:t>
            </a:r>
            <a:endParaRPr lang="en-US" altLang="zh-CN" sz="2800" dirty="0">
              <a:solidFill>
                <a:srgbClr val="060606"/>
              </a:solidFill>
            </a:endParaRPr>
          </a:p>
          <a:p>
            <a:pPr>
              <a:buNone/>
            </a:pPr>
            <a:r>
              <a:rPr lang="zh-CN" altLang="zh-CN" sz="2800" dirty="0">
                <a:solidFill>
                  <a:srgbClr val="060606"/>
                </a:solidFill>
              </a:rPr>
              <a:t>如果</a:t>
            </a:r>
            <a:r>
              <a:rPr lang="zh-CN" altLang="en-US" sz="2800" dirty="0">
                <a:solidFill>
                  <a:srgbClr val="060606"/>
                </a:solidFill>
              </a:rPr>
              <a:t>车身装配</a:t>
            </a:r>
            <a:r>
              <a:rPr lang="zh-CN" altLang="zh-CN" sz="2800" dirty="0">
                <a:solidFill>
                  <a:srgbClr val="060606"/>
                </a:solidFill>
              </a:rPr>
              <a:t>车间只</a:t>
            </a:r>
            <a:r>
              <a:rPr lang="zh-CN" altLang="en-US" sz="2800" dirty="0">
                <a:solidFill>
                  <a:srgbClr val="060606"/>
                </a:solidFill>
              </a:rPr>
              <a:t>装配</a:t>
            </a:r>
            <a:r>
              <a:rPr lang="zh-CN" altLang="zh-CN" sz="2800" dirty="0">
                <a:solidFill>
                  <a:srgbClr val="060606"/>
                </a:solidFill>
              </a:rPr>
              <a:t>卡车，每天可以</a:t>
            </a:r>
            <a:r>
              <a:rPr lang="zh-CN" altLang="en-US" sz="2800" dirty="0">
                <a:solidFill>
                  <a:srgbClr val="060606"/>
                </a:solidFill>
              </a:rPr>
              <a:t>装配</a:t>
            </a:r>
            <a:r>
              <a:rPr lang="en-US" altLang="zh-CN" sz="2800" dirty="0">
                <a:solidFill>
                  <a:srgbClr val="060606"/>
                </a:solidFill>
              </a:rPr>
              <a:t>50</a:t>
            </a:r>
            <a:r>
              <a:rPr lang="zh-CN" altLang="zh-CN" sz="2800" dirty="0">
                <a:solidFill>
                  <a:srgbClr val="060606"/>
                </a:solidFill>
              </a:rPr>
              <a:t>辆卡车；如果</a:t>
            </a:r>
            <a:r>
              <a:rPr lang="zh-CN" altLang="en-US" sz="2800" dirty="0">
                <a:solidFill>
                  <a:srgbClr val="060606"/>
                </a:solidFill>
              </a:rPr>
              <a:t>车身装配</a:t>
            </a:r>
            <a:r>
              <a:rPr lang="zh-CN" altLang="zh-CN" sz="2800" dirty="0">
                <a:solidFill>
                  <a:srgbClr val="060606"/>
                </a:solidFill>
              </a:rPr>
              <a:t>只</a:t>
            </a:r>
            <a:r>
              <a:rPr lang="zh-CN" altLang="en-US" sz="2800" dirty="0">
                <a:solidFill>
                  <a:srgbClr val="060606"/>
                </a:solidFill>
              </a:rPr>
              <a:t>装配</a:t>
            </a:r>
            <a:r>
              <a:rPr lang="zh-CN" altLang="zh-CN" sz="2800" dirty="0">
                <a:solidFill>
                  <a:srgbClr val="060606"/>
                </a:solidFill>
              </a:rPr>
              <a:t>轿车，每天可以</a:t>
            </a:r>
            <a:r>
              <a:rPr lang="zh-CN" altLang="en-US" sz="2800" dirty="0">
                <a:solidFill>
                  <a:srgbClr val="060606"/>
                </a:solidFill>
              </a:rPr>
              <a:t>装配</a:t>
            </a:r>
            <a:r>
              <a:rPr lang="en-US" altLang="zh-CN" sz="2800" dirty="0">
                <a:solidFill>
                  <a:srgbClr val="060606"/>
                </a:solidFill>
              </a:rPr>
              <a:t>50</a:t>
            </a:r>
            <a:r>
              <a:rPr lang="zh-CN" altLang="zh-CN" sz="2800" dirty="0">
                <a:solidFill>
                  <a:srgbClr val="060606"/>
                </a:solidFill>
              </a:rPr>
              <a:t>辆轿车</a:t>
            </a:r>
            <a:r>
              <a:rPr lang="zh-CN" altLang="en-US" sz="2800" dirty="0">
                <a:solidFill>
                  <a:srgbClr val="060606"/>
                </a:solidFill>
              </a:rPr>
              <a:t>。</a:t>
            </a:r>
            <a:endParaRPr lang="en-US" altLang="zh-CN" sz="2800" dirty="0">
              <a:solidFill>
                <a:srgbClr val="060606"/>
              </a:solidFill>
            </a:endParaRPr>
          </a:p>
          <a:p>
            <a:pPr>
              <a:buNone/>
            </a:pPr>
            <a:r>
              <a:rPr lang="zh-CN" altLang="en-US" sz="2800" dirty="0">
                <a:solidFill>
                  <a:srgbClr val="060606"/>
                </a:solidFill>
              </a:rPr>
              <a:t>每辆卡车的利润是</a:t>
            </a:r>
            <a:r>
              <a:rPr lang="en-US" altLang="zh-CN" sz="2800" dirty="0">
                <a:solidFill>
                  <a:srgbClr val="060606"/>
                </a:solidFill>
              </a:rPr>
              <a:t>300</a:t>
            </a:r>
            <a:r>
              <a:rPr lang="zh-CN" altLang="en-US" sz="2800" dirty="0">
                <a:solidFill>
                  <a:srgbClr val="060606"/>
                </a:solidFill>
              </a:rPr>
              <a:t>美元，每辆轿车的利润是</a:t>
            </a:r>
            <a:r>
              <a:rPr lang="en-US" altLang="zh-CN" sz="2800" dirty="0">
                <a:solidFill>
                  <a:srgbClr val="060606"/>
                </a:solidFill>
              </a:rPr>
              <a:t>200</a:t>
            </a:r>
            <a:r>
              <a:rPr lang="zh-CN" altLang="en-US" sz="2800" dirty="0">
                <a:solidFill>
                  <a:srgbClr val="060606"/>
                </a:solidFill>
              </a:rPr>
              <a:t>美元。</a:t>
            </a:r>
            <a:endParaRPr lang="en-US" altLang="zh-CN" sz="2800" dirty="0">
              <a:solidFill>
                <a:srgbClr val="060606"/>
              </a:solidFill>
            </a:endParaRPr>
          </a:p>
          <a:p>
            <a:pPr>
              <a:buNone/>
            </a:pPr>
            <a:r>
              <a:rPr lang="zh-CN" altLang="en-US" sz="2800" dirty="0">
                <a:solidFill>
                  <a:srgbClr val="060606"/>
                </a:solidFill>
              </a:rPr>
              <a:t>使用线性规划确定使利润最大化的每日生产计划。</a:t>
            </a:r>
            <a:endParaRPr lang="zh-CN" altLang="zh-CN" sz="2800" dirty="0">
              <a:solidFill>
                <a:srgbClr val="060606"/>
              </a:solidFill>
            </a:endParaRPr>
          </a:p>
        </p:txBody>
      </p:sp>
      <p:sp>
        <p:nvSpPr>
          <p:cNvPr id="3" name="矩形: 折角 2"/>
          <p:cNvSpPr/>
          <p:nvPr/>
        </p:nvSpPr>
        <p:spPr>
          <a:xfrm flipV="1">
            <a:off x="381740" y="1003177"/>
            <a:ext cx="11551920" cy="4181382"/>
          </a:xfrm>
          <a:prstGeom prst="foldedCorner">
            <a:avLst>
              <a:gd name="adj" fmla="val 923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2080" y="193040"/>
            <a:ext cx="5963920" cy="584775"/>
          </a:xfrm>
          <a:prstGeom prst="rect">
            <a:avLst/>
          </a:prstGeom>
          <a:noFill/>
        </p:spPr>
        <p:txBody>
          <a:bodyPr wrap="square" rtlCol="0">
            <a:spAutoFit/>
          </a:bodyPr>
          <a:lstStyle/>
          <a:p>
            <a:r>
              <a:rPr lang="zh-CN" altLang="en-US" sz="3200" dirty="0"/>
              <a:t>练习</a:t>
            </a:r>
            <a:r>
              <a:rPr lang="en-US" altLang="zh-CN" sz="3200" dirty="0"/>
              <a:t>37</a:t>
            </a:r>
            <a:r>
              <a:rPr lang="zh-CN" altLang="en-US" sz="3200" dirty="0">
                <a:solidFill>
                  <a:srgbClr val="060606"/>
                </a:solidFill>
              </a:rPr>
              <a:t>两阶段单纯形法求解</a:t>
            </a:r>
            <a:endParaRPr lang="zh-CN" altLang="en-US" sz="3200" dirty="0"/>
          </a:p>
        </p:txBody>
      </p:sp>
      <p:pic>
        <p:nvPicPr>
          <p:cNvPr id="6" name="图片 5"/>
          <p:cNvPicPr>
            <a:picLocks noChangeAspect="1"/>
          </p:cNvPicPr>
          <p:nvPr/>
        </p:nvPicPr>
        <p:blipFill>
          <a:blip r:embed="rId1"/>
          <a:stretch>
            <a:fillRect/>
          </a:stretch>
        </p:blipFill>
        <p:spPr>
          <a:xfrm>
            <a:off x="3143250" y="1400175"/>
            <a:ext cx="5905500" cy="4057650"/>
          </a:xfrm>
          <a:prstGeom prst="rect">
            <a:avLst/>
          </a:prstGeom>
        </p:spPr>
      </p:pic>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60" y="62379"/>
            <a:ext cx="8229600" cy="576064"/>
          </a:xfrm>
        </p:spPr>
        <p:txBody>
          <a:bodyPr>
            <a:noAutofit/>
          </a:bodyPr>
          <a:lstStyle/>
          <a:p>
            <a:r>
              <a:rPr lang="zh-CN" altLang="en-US" sz="3200" dirty="0">
                <a:solidFill>
                  <a:srgbClr val="060606"/>
                </a:solidFill>
              </a:rPr>
              <a:t>练习</a:t>
            </a:r>
            <a:r>
              <a:rPr lang="en-US" altLang="zh-CN" sz="3200" dirty="0">
                <a:solidFill>
                  <a:srgbClr val="060606"/>
                </a:solidFill>
              </a:rPr>
              <a:t>38.</a:t>
            </a:r>
            <a:r>
              <a:rPr lang="zh-CN" altLang="en-US" sz="3200" dirty="0">
                <a:solidFill>
                  <a:srgbClr val="060606"/>
                </a:solidFill>
              </a:rPr>
              <a:t>农场主</a:t>
            </a:r>
            <a:r>
              <a:rPr lang="en-US" altLang="zh-CN" sz="3200" dirty="0">
                <a:solidFill>
                  <a:srgbClr val="060606"/>
                </a:solidFill>
              </a:rPr>
              <a:t>2</a:t>
            </a:r>
            <a:endParaRPr lang="zh-CN" altLang="en-US" sz="3200" dirty="0">
              <a:solidFill>
                <a:srgbClr val="060606"/>
              </a:solidFill>
            </a:endParaRPr>
          </a:p>
        </p:txBody>
      </p:sp>
      <p:sp>
        <p:nvSpPr>
          <p:cNvPr id="3" name="内容占位符 2"/>
          <p:cNvSpPr>
            <a:spLocks noGrp="1"/>
          </p:cNvSpPr>
          <p:nvPr>
            <p:ph idx="1"/>
          </p:nvPr>
        </p:nvSpPr>
        <p:spPr>
          <a:xfrm>
            <a:off x="586392" y="1055694"/>
            <a:ext cx="10919068" cy="4270907"/>
          </a:xfrm>
        </p:spPr>
        <p:txBody>
          <a:bodyPr>
            <a:normAutofit/>
          </a:bodyPr>
          <a:lstStyle/>
          <a:p>
            <a:pPr>
              <a:buNone/>
            </a:pPr>
            <a:r>
              <a:rPr lang="zh-CN" altLang="en-US" dirty="0">
                <a:solidFill>
                  <a:srgbClr val="060606"/>
                </a:solidFill>
              </a:rPr>
              <a:t>农场主</a:t>
            </a:r>
            <a:r>
              <a:rPr lang="en-US" altLang="zh-CN" dirty="0">
                <a:solidFill>
                  <a:srgbClr val="060606"/>
                </a:solidFill>
              </a:rPr>
              <a:t>Jane</a:t>
            </a:r>
            <a:r>
              <a:rPr lang="zh-CN" altLang="en-US" dirty="0">
                <a:solidFill>
                  <a:srgbClr val="060606"/>
                </a:solidFill>
              </a:rPr>
              <a:t>有</a:t>
            </a:r>
            <a:r>
              <a:rPr lang="en-US" altLang="zh-CN" dirty="0">
                <a:solidFill>
                  <a:srgbClr val="060606"/>
                </a:solidFill>
              </a:rPr>
              <a:t>45</a:t>
            </a:r>
            <a:r>
              <a:rPr lang="zh-CN" altLang="en-US" dirty="0">
                <a:solidFill>
                  <a:srgbClr val="060606"/>
                </a:solidFill>
              </a:rPr>
              <a:t>亩土地。她打算在每英亩土地上种植玉米或小麦。每英亩小麦的利润是</a:t>
            </a:r>
            <a:r>
              <a:rPr lang="en-US" altLang="zh-CN" dirty="0">
                <a:solidFill>
                  <a:srgbClr val="060606"/>
                </a:solidFill>
              </a:rPr>
              <a:t>200</a:t>
            </a:r>
            <a:r>
              <a:rPr lang="zh-CN" altLang="en-US" dirty="0">
                <a:solidFill>
                  <a:srgbClr val="060606"/>
                </a:solidFill>
              </a:rPr>
              <a:t>美元；每英亩玉米的利润是</a:t>
            </a:r>
            <a:r>
              <a:rPr lang="en-US" altLang="zh-CN" dirty="0">
                <a:solidFill>
                  <a:srgbClr val="060606"/>
                </a:solidFill>
              </a:rPr>
              <a:t>300</a:t>
            </a:r>
            <a:r>
              <a:rPr lang="zh-CN" altLang="en-US" dirty="0">
                <a:solidFill>
                  <a:srgbClr val="060606"/>
                </a:solidFill>
              </a:rPr>
              <a:t>美元。下表列出了每英亩所需得劳动力和化肥。</a:t>
            </a: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endParaRPr lang="en-US" altLang="zh-CN" dirty="0">
              <a:solidFill>
                <a:srgbClr val="060606"/>
              </a:solidFill>
            </a:endParaRPr>
          </a:p>
          <a:p>
            <a:pPr>
              <a:buNone/>
            </a:pPr>
            <a:r>
              <a:rPr lang="zh-CN" altLang="en-US" dirty="0">
                <a:solidFill>
                  <a:srgbClr val="060606"/>
                </a:solidFill>
              </a:rPr>
              <a:t>现在有</a:t>
            </a:r>
            <a:r>
              <a:rPr lang="en-US" altLang="zh-CN" dirty="0">
                <a:solidFill>
                  <a:srgbClr val="060606"/>
                </a:solidFill>
              </a:rPr>
              <a:t>100</a:t>
            </a:r>
            <a:r>
              <a:rPr lang="zh-CN" altLang="en-US" dirty="0">
                <a:solidFill>
                  <a:srgbClr val="060606"/>
                </a:solidFill>
              </a:rPr>
              <a:t>名工人和</a:t>
            </a:r>
            <a:r>
              <a:rPr lang="en-US" altLang="zh-CN" dirty="0">
                <a:solidFill>
                  <a:srgbClr val="060606"/>
                </a:solidFill>
              </a:rPr>
              <a:t>120</a:t>
            </a:r>
            <a:r>
              <a:rPr lang="zh-CN" altLang="en-US" dirty="0">
                <a:solidFill>
                  <a:srgbClr val="060606"/>
                </a:solidFill>
              </a:rPr>
              <a:t>吨化肥可以使用。使用线性规划确定</a:t>
            </a:r>
            <a:r>
              <a:rPr lang="en-US" altLang="zh-CN" dirty="0">
                <a:solidFill>
                  <a:srgbClr val="060606"/>
                </a:solidFill>
              </a:rPr>
              <a:t>Jane</a:t>
            </a:r>
            <a:r>
              <a:rPr lang="zh-CN" altLang="en-US" dirty="0">
                <a:solidFill>
                  <a:srgbClr val="060606"/>
                </a:solidFill>
              </a:rPr>
              <a:t>如何使利润最大化？</a:t>
            </a:r>
            <a:r>
              <a:rPr lang="en-US" altLang="zh-CN" dirty="0">
                <a:solidFill>
                  <a:srgbClr val="060606"/>
                </a:solidFill>
              </a:rPr>
              <a:t>(</a:t>
            </a:r>
            <a:r>
              <a:rPr lang="zh-CN" altLang="en-US" dirty="0">
                <a:solidFill>
                  <a:srgbClr val="060606"/>
                </a:solidFill>
              </a:rPr>
              <a:t>建模后求解</a:t>
            </a:r>
            <a:r>
              <a:rPr lang="en-US" altLang="zh-CN" dirty="0">
                <a:solidFill>
                  <a:srgbClr val="060606"/>
                </a:solidFill>
              </a:rPr>
              <a:t>)</a:t>
            </a:r>
            <a:endParaRPr lang="zh-CN" altLang="en-US" dirty="0">
              <a:solidFill>
                <a:srgbClr val="060606"/>
              </a:solidFill>
            </a:endParaRPr>
          </a:p>
        </p:txBody>
      </p:sp>
      <p:graphicFrame>
        <p:nvGraphicFramePr>
          <p:cNvPr id="4" name="表格 3"/>
          <p:cNvGraphicFramePr>
            <a:graphicFrameLocks noGrp="1"/>
          </p:cNvGraphicFramePr>
          <p:nvPr/>
        </p:nvGraphicFramePr>
        <p:xfrm>
          <a:off x="2088945" y="2561108"/>
          <a:ext cx="8251314" cy="1280160"/>
        </p:xfrm>
        <a:graphic>
          <a:graphicData uri="http://schemas.openxmlformats.org/drawingml/2006/table">
            <a:tbl>
              <a:tblPr firstRow="1" bandRow="1">
                <a:tableStyleId>{5C22544A-7EE6-4342-B048-85BDC9FD1C3A}</a:tableStyleId>
              </a:tblPr>
              <a:tblGrid>
                <a:gridCol w="4125657"/>
                <a:gridCol w="4125657"/>
              </a:tblGrid>
              <a:tr h="370840">
                <a:tc>
                  <a:txBody>
                    <a:bodyPr/>
                    <a:lstStyle/>
                    <a:p>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dirty="0">
                          <a:solidFill>
                            <a:schemeClr val="tx1"/>
                          </a:solidFill>
                        </a:rPr>
                        <a:t>小麦</a:t>
                      </a:r>
                      <a:r>
                        <a:rPr lang="en-US" altLang="zh-CN" sz="2400" dirty="0">
                          <a:solidFill>
                            <a:schemeClr val="tx1"/>
                          </a:solidFill>
                        </a:rPr>
                        <a:t>		              </a:t>
                      </a:r>
                      <a:r>
                        <a:rPr lang="zh-CN" altLang="en-US" sz="2400" dirty="0">
                          <a:solidFill>
                            <a:schemeClr val="tx1"/>
                          </a:solidFill>
                        </a:rPr>
                        <a:t>玉米</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zh-CN" altLang="en-US" sz="2400" dirty="0">
                          <a:solidFill>
                            <a:schemeClr val="tx1"/>
                          </a:solidFill>
                        </a:rPr>
                        <a:t>劳动力</a:t>
                      </a:r>
                      <a:endParaRPr lang="en-US" altLang="zh-CN" sz="2400" dirty="0">
                        <a:solidFill>
                          <a:schemeClr val="tx1"/>
                        </a:solidFill>
                      </a:endParaRPr>
                    </a:p>
                    <a:p>
                      <a:r>
                        <a:rPr lang="zh-CN" altLang="en-US" sz="2400" dirty="0">
                          <a:solidFill>
                            <a:schemeClr val="tx1"/>
                          </a:solidFill>
                        </a:rPr>
                        <a:t>化肥</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a:solidFill>
                            <a:schemeClr val="tx1"/>
                          </a:solidFill>
                        </a:rPr>
                        <a:t>3</a:t>
                      </a:r>
                      <a:r>
                        <a:rPr lang="zh-CN" altLang="en-US" sz="2400" dirty="0">
                          <a:solidFill>
                            <a:schemeClr val="tx1"/>
                          </a:solidFill>
                        </a:rPr>
                        <a:t>个工人                    </a:t>
                      </a:r>
                      <a:r>
                        <a:rPr lang="en-US" altLang="zh-CN" sz="2400" dirty="0">
                          <a:solidFill>
                            <a:schemeClr val="tx1"/>
                          </a:solidFill>
                        </a:rPr>
                        <a:t>2</a:t>
                      </a:r>
                      <a:r>
                        <a:rPr lang="zh-CN" altLang="en-US" sz="2400" dirty="0">
                          <a:solidFill>
                            <a:schemeClr val="tx1"/>
                          </a:solidFill>
                        </a:rPr>
                        <a:t>个工人</a:t>
                      </a:r>
                      <a:endParaRPr lang="en-US" altLang="zh-CN" sz="2400" dirty="0">
                        <a:solidFill>
                          <a:schemeClr val="tx1"/>
                        </a:solidFill>
                      </a:endParaRPr>
                    </a:p>
                    <a:p>
                      <a:r>
                        <a:rPr lang="en-US" altLang="zh-CN" sz="2400" dirty="0">
                          <a:solidFill>
                            <a:schemeClr val="tx1"/>
                          </a:solidFill>
                        </a:rPr>
                        <a:t>2</a:t>
                      </a:r>
                      <a:r>
                        <a:rPr lang="zh-CN" altLang="en-US" sz="2400" dirty="0">
                          <a:solidFill>
                            <a:schemeClr val="tx1"/>
                          </a:solidFill>
                        </a:rPr>
                        <a:t>吨                                </a:t>
                      </a:r>
                      <a:r>
                        <a:rPr lang="en-US" altLang="zh-CN" sz="2400" dirty="0">
                          <a:solidFill>
                            <a:schemeClr val="tx1"/>
                          </a:solidFill>
                        </a:rPr>
                        <a:t>4</a:t>
                      </a:r>
                      <a:r>
                        <a:rPr lang="zh-CN" altLang="en-US" sz="2400" dirty="0">
                          <a:solidFill>
                            <a:schemeClr val="tx1"/>
                          </a:solidFill>
                        </a:rPr>
                        <a:t>吨</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5" name="矩形: 折角 4"/>
          <p:cNvSpPr/>
          <p:nvPr/>
        </p:nvSpPr>
        <p:spPr>
          <a:xfrm flipV="1">
            <a:off x="381740" y="834839"/>
            <a:ext cx="11551920" cy="4642683"/>
          </a:xfrm>
          <a:prstGeom prst="foldedCorner">
            <a:avLst>
              <a:gd name="adj" fmla="val 923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936104"/>
          </a:xfrm>
        </p:spPr>
        <p:txBody>
          <a:bodyPr/>
          <a:lstStyle/>
          <a:p>
            <a:r>
              <a:rPr lang="zh-CN" altLang="en-US" sz="3200" dirty="0">
                <a:solidFill>
                  <a:srgbClr val="060606"/>
                </a:solidFill>
              </a:rPr>
              <a:t>练习</a:t>
            </a:r>
            <a:r>
              <a:rPr lang="en-US" altLang="zh-CN" sz="3200" dirty="0">
                <a:solidFill>
                  <a:srgbClr val="060606"/>
                </a:solidFill>
              </a:rPr>
              <a:t>39.</a:t>
            </a:r>
            <a:r>
              <a:rPr lang="zh-CN" altLang="en-US" sz="3200" dirty="0">
                <a:solidFill>
                  <a:srgbClr val="060606"/>
                </a:solidFill>
              </a:rPr>
              <a:t>农场主</a:t>
            </a:r>
            <a:r>
              <a:rPr lang="en-US" altLang="zh-CN" sz="3200" dirty="0">
                <a:solidFill>
                  <a:srgbClr val="060606"/>
                </a:solidFill>
              </a:rPr>
              <a:t>1</a:t>
            </a:r>
            <a:endParaRPr lang="zh-CN" altLang="en-US" sz="3200" dirty="0">
              <a:solidFill>
                <a:srgbClr val="060606"/>
              </a:solidFill>
            </a:endParaRPr>
          </a:p>
        </p:txBody>
      </p:sp>
      <p:sp>
        <p:nvSpPr>
          <p:cNvPr id="3" name="内容占位符 2"/>
          <p:cNvSpPr>
            <a:spLocks noGrp="1"/>
          </p:cNvSpPr>
          <p:nvPr>
            <p:ph idx="1"/>
          </p:nvPr>
        </p:nvSpPr>
        <p:spPr>
          <a:xfrm>
            <a:off x="1587116" y="1559752"/>
            <a:ext cx="8856984" cy="3527154"/>
          </a:xfrm>
        </p:spPr>
        <p:txBody>
          <a:bodyPr/>
          <a:lstStyle/>
          <a:p>
            <a:pPr>
              <a:buNone/>
            </a:pPr>
            <a:r>
              <a:rPr lang="zh-CN" altLang="en-US" dirty="0">
                <a:solidFill>
                  <a:srgbClr val="060606"/>
                </a:solidFill>
              </a:rPr>
              <a:t>农场主</a:t>
            </a:r>
            <a:r>
              <a:rPr lang="en-US" altLang="zh-CN" dirty="0">
                <a:solidFill>
                  <a:srgbClr val="060606"/>
                </a:solidFill>
              </a:rPr>
              <a:t>Jones</a:t>
            </a:r>
            <a:r>
              <a:rPr lang="zh-CN" altLang="en-US" dirty="0">
                <a:solidFill>
                  <a:srgbClr val="060606"/>
                </a:solidFill>
              </a:rPr>
              <a:t>必须确定今年种植多少英亩玉米和小麦。种植一亩小麦能够产</a:t>
            </a:r>
            <a:r>
              <a:rPr lang="en-US" altLang="zh-CN" dirty="0">
                <a:solidFill>
                  <a:srgbClr val="060606"/>
                </a:solidFill>
              </a:rPr>
              <a:t>25</a:t>
            </a:r>
            <a:r>
              <a:rPr lang="zh-CN" altLang="en-US" dirty="0">
                <a:solidFill>
                  <a:srgbClr val="060606"/>
                </a:solidFill>
              </a:rPr>
              <a:t>蒲式耳小麦，每周需要</a:t>
            </a:r>
            <a:r>
              <a:rPr lang="en-US" altLang="zh-CN" dirty="0">
                <a:solidFill>
                  <a:srgbClr val="060606"/>
                </a:solidFill>
              </a:rPr>
              <a:t>10</a:t>
            </a:r>
            <a:r>
              <a:rPr lang="zh-CN" altLang="en-US" dirty="0">
                <a:solidFill>
                  <a:srgbClr val="060606"/>
                </a:solidFill>
              </a:rPr>
              <a:t>个小时得劳动。种植一亩玉米能够产</a:t>
            </a:r>
            <a:r>
              <a:rPr lang="en-US" altLang="zh-CN" dirty="0">
                <a:solidFill>
                  <a:srgbClr val="060606"/>
                </a:solidFill>
              </a:rPr>
              <a:t>10</a:t>
            </a:r>
            <a:r>
              <a:rPr lang="zh-CN" altLang="en-US" dirty="0">
                <a:solidFill>
                  <a:srgbClr val="060606"/>
                </a:solidFill>
              </a:rPr>
              <a:t>蒲式耳小麦，每周需要</a:t>
            </a:r>
            <a:r>
              <a:rPr lang="en-US" altLang="zh-CN" dirty="0">
                <a:solidFill>
                  <a:srgbClr val="060606"/>
                </a:solidFill>
              </a:rPr>
              <a:t>4</a:t>
            </a:r>
            <a:r>
              <a:rPr lang="zh-CN" altLang="en-US" dirty="0">
                <a:solidFill>
                  <a:srgbClr val="060606"/>
                </a:solidFill>
              </a:rPr>
              <a:t>个小时得劳动。小麦的价格为每蒲式耳</a:t>
            </a:r>
            <a:r>
              <a:rPr lang="en-US" altLang="zh-CN" dirty="0">
                <a:solidFill>
                  <a:srgbClr val="060606"/>
                </a:solidFill>
              </a:rPr>
              <a:t>4</a:t>
            </a:r>
            <a:r>
              <a:rPr lang="zh-CN" altLang="en-US" dirty="0">
                <a:solidFill>
                  <a:srgbClr val="060606"/>
                </a:solidFill>
              </a:rPr>
              <a:t>美元，玉米的价格为每蒲式耳</a:t>
            </a:r>
            <a:r>
              <a:rPr lang="en-US" altLang="zh-CN" dirty="0">
                <a:solidFill>
                  <a:srgbClr val="060606"/>
                </a:solidFill>
              </a:rPr>
              <a:t>3</a:t>
            </a:r>
            <a:r>
              <a:rPr lang="zh-CN" altLang="en-US" dirty="0">
                <a:solidFill>
                  <a:srgbClr val="060606"/>
                </a:solidFill>
              </a:rPr>
              <a:t>美元。土地一共有</a:t>
            </a:r>
            <a:r>
              <a:rPr lang="en-US" altLang="zh-CN" dirty="0">
                <a:solidFill>
                  <a:srgbClr val="060606"/>
                </a:solidFill>
              </a:rPr>
              <a:t>70</a:t>
            </a:r>
            <a:r>
              <a:rPr lang="zh-CN" altLang="en-US" dirty="0">
                <a:solidFill>
                  <a:srgbClr val="060606"/>
                </a:solidFill>
              </a:rPr>
              <a:t>英亩，每周可用劳动力为</a:t>
            </a:r>
            <a:r>
              <a:rPr lang="en-US" altLang="zh-CN" dirty="0">
                <a:solidFill>
                  <a:srgbClr val="060606"/>
                </a:solidFill>
              </a:rPr>
              <a:t>40</a:t>
            </a:r>
            <a:r>
              <a:rPr lang="zh-CN" altLang="en-US" dirty="0">
                <a:solidFill>
                  <a:srgbClr val="060606"/>
                </a:solidFill>
              </a:rPr>
              <a:t>小时。政府规定要求当年至少生产</a:t>
            </a:r>
            <a:r>
              <a:rPr lang="en-US" altLang="zh-CN" dirty="0">
                <a:solidFill>
                  <a:srgbClr val="060606"/>
                </a:solidFill>
              </a:rPr>
              <a:t>30</a:t>
            </a:r>
            <a:r>
              <a:rPr lang="zh-CN" altLang="en-US" dirty="0">
                <a:solidFill>
                  <a:srgbClr val="060606"/>
                </a:solidFill>
              </a:rPr>
              <a:t>蒲式耳玉米。问如何种植玉米和小麦才能使</a:t>
            </a:r>
            <a:r>
              <a:rPr lang="en-US" altLang="zh-CN" dirty="0">
                <a:solidFill>
                  <a:srgbClr val="060606"/>
                </a:solidFill>
              </a:rPr>
              <a:t>Jones</a:t>
            </a:r>
            <a:r>
              <a:rPr lang="zh-CN" altLang="en-US" dirty="0">
                <a:solidFill>
                  <a:srgbClr val="060606"/>
                </a:solidFill>
              </a:rPr>
              <a:t>得收入最大化？</a:t>
            </a:r>
            <a:endParaRPr lang="zh-CN" altLang="en-US" dirty="0">
              <a:solidFill>
                <a:srgbClr val="060606"/>
              </a:solidFill>
            </a:endParaRPr>
          </a:p>
        </p:txBody>
      </p:sp>
      <p:sp>
        <p:nvSpPr>
          <p:cNvPr id="4" name="矩形: 折角 3"/>
          <p:cNvSpPr/>
          <p:nvPr/>
        </p:nvSpPr>
        <p:spPr>
          <a:xfrm flipV="1">
            <a:off x="381740" y="1003177"/>
            <a:ext cx="11551920" cy="4181382"/>
          </a:xfrm>
          <a:prstGeom prst="foldedCorner">
            <a:avLst>
              <a:gd name="adj" fmla="val 923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70871</Words>
  <Application>WPS 演示</Application>
  <PresentationFormat>宽屏</PresentationFormat>
  <Paragraphs>5706</Paragraphs>
  <Slides>236</Slides>
  <Notes>30</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236</vt:i4>
      </vt:variant>
    </vt:vector>
  </HeadingPairs>
  <TitlesOfParts>
    <vt:vector size="259" baseType="lpstr">
      <vt:lpstr>Arial</vt:lpstr>
      <vt:lpstr>方正书宋_GBK</vt:lpstr>
      <vt:lpstr>Wingdings</vt:lpstr>
      <vt:lpstr>楷体</vt:lpstr>
      <vt:lpstr>汉仪楷体KW</vt:lpstr>
      <vt:lpstr>宋体</vt:lpstr>
      <vt:lpstr>Cambria Math</vt:lpstr>
      <vt:lpstr>等线</vt:lpstr>
      <vt:lpstr>汉仪中等线KW</vt:lpstr>
      <vt:lpstr>Times New Roman</vt:lpstr>
      <vt:lpstr>Kingsoft Math</vt:lpstr>
      <vt:lpstr>Britannic Bold</vt:lpstr>
      <vt:lpstr>Thonburi</vt:lpstr>
      <vt:lpstr>微软雅黑</vt:lpstr>
      <vt:lpstr>汉仪书宋二KW</vt:lpstr>
      <vt:lpstr>宋体</vt:lpstr>
      <vt:lpstr>等线 Light</vt:lpstr>
      <vt:lpstr>微软雅黑</vt:lpstr>
      <vt:lpstr>汉仪旗黑</vt:lpstr>
      <vt:lpstr>宋体</vt:lpstr>
      <vt:lpstr>Arial Unicode MS</vt:lpstr>
      <vt:lpstr>Apple Color Emoji</vt:lpstr>
      <vt:lpstr>Office 主题​​</vt:lpstr>
      <vt:lpstr>运筹学</vt:lpstr>
      <vt:lpstr>学习内容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第一部分，建立线性规划问题的数学模型</vt:lpstr>
      <vt:lpstr>PowerPoint 演示文稿</vt:lpstr>
      <vt:lpstr>PowerPoint 演示文稿</vt:lpstr>
      <vt:lpstr>PowerPoint 演示文稿</vt:lpstr>
      <vt:lpstr>例3.银行投资问题</vt:lpstr>
      <vt:lpstr>PowerPoint 演示文稿</vt:lpstr>
      <vt:lpstr>例4.饼干生产问题</vt:lpstr>
      <vt:lpstr>PowerPoint 演示文稿</vt:lpstr>
      <vt:lpstr>PowerPoint 演示文稿</vt:lpstr>
      <vt:lpstr>例5.产品组合问题【实践出真知】</vt:lpstr>
      <vt:lpstr>PowerPoint 演示文稿</vt:lpstr>
      <vt:lpstr>例6.合理下料问题</vt:lpstr>
      <vt:lpstr>PowerPoint 演示文稿</vt:lpstr>
      <vt:lpstr>PowerPoint 演示文稿</vt:lpstr>
      <vt:lpstr>PowerPoint 演示文稿</vt:lpstr>
      <vt:lpstr>例7.运输问题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比例性假定和可加性假定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至此，你认为建立线性规划问题的数学模型的方法是？ 请用“活动图+注释”的形式给出</vt:lpstr>
      <vt:lpstr>第二部分，求解线性规划问题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第一步:目标函数求最小值如何转换为求最大值?</vt:lpstr>
      <vt:lpstr>第二步.右端值为非负值?</vt:lpstr>
      <vt:lpstr>第三步：约束条件为不等式，如何转换为等式?</vt:lpstr>
      <vt:lpstr>第四步.变量如何转换为非负约束?</vt:lpstr>
      <vt:lpstr>PowerPoint 演示文稿</vt:lpstr>
      <vt:lpstr>PowerPoint 演示文稿</vt:lpstr>
      <vt:lpstr>PowerPoint 演示文稿</vt:lpstr>
      <vt:lpstr>PowerPoint 演示文稿</vt:lpstr>
      <vt:lpstr>举例来认识这些基本概念：写出产品组合问题的标准形式，及其基、基变量、基解、基可行解和可行基</vt:lpstr>
      <vt:lpstr>PowerPoint 演示文稿</vt:lpstr>
      <vt:lpstr>PowerPoint 演示文稿</vt:lpstr>
      <vt:lpstr>PowerPoint 演示文稿</vt:lpstr>
      <vt:lpstr>PowerPoint 演示文稿</vt:lpstr>
      <vt:lpstr>PowerPoint 演示文稿</vt:lpstr>
      <vt:lpstr>一，两个决策变量问题的图解法及其结论</vt:lpstr>
      <vt:lpstr>第1步：提出问题，并建模LPQ的数学模型</vt:lpstr>
      <vt:lpstr>第2步：现在以L为横轴，S为纵轴，作一平面直角坐标系。</vt:lpstr>
      <vt:lpstr>第3(1)步:考察约束条件,在直角坐标系中表示出来。 3.1s.t： L ≥0，S≥0               (4) 表示直角坐标系的第一象限。</vt:lpstr>
      <vt:lpstr>第3(2)步:考察约束条件,在直角坐标系中表示出来。 3.2s.t：L ≥30                        (3) 表示平行于S轴的直线L=30的右方。</vt:lpstr>
      <vt:lpstr>第3(3)步:考察约束条件,在直角坐标系中表示出来。 3.3s.t：L-3S ≤0                    (2) 表示直线L-3S=0的左上方。</vt:lpstr>
      <vt:lpstr>第3(4)步:考察约束条件,在直角坐标系中表示出来。 3.2s.t：L+S ≤100                 (1) 表示直线L+S =100的左下方。</vt:lpstr>
      <vt:lpstr>第4步:在直角坐标系中表示满足所有约束条件的部分，这部分即为可行域，为             。</vt:lpstr>
      <vt:lpstr>那么，最优解在哪里？ 第5步：在△ ABD中，找到令Z= 0.10L+0.05S为最大值的点(L，S)。 (1)令0.10L+0.05S = 常数 (2)调整上式得2L+S = C (C为常数) (3) 2L+S = C(C为常数)，表示 一条直线；当C取不同值时， 可得相互平行的不同直线， 是一系列目标等值C线。 (4)分别取△ABD中A、B、D三点， 可得3条平行线段 L1： 2L+S = 70； L2：2L+S = 130； L3：2L+S = 175； (5)根据LPQ的目标是求最大，沿着目标 值增大方向从L1向L3平行移动，可知 使z取最大值的点是D点， 即L-3S = 0和L+S =100的交点， 解得L = 75，S = 25。 (6)LPQ的最优解为 0.10 × 75 + 0.05 × 25 = 8.75(万元)。 </vt:lpstr>
      <vt:lpstr>这里，“最后”一条目标等值线与s.t.只交于一个D点，所以本问题有唯一最优解。</vt:lpstr>
      <vt:lpstr>讨论解的个数</vt:lpstr>
      <vt:lpstr>由图解法得到的结论</vt:lpstr>
      <vt:lpstr>由图解法得到的说明</vt:lpstr>
      <vt:lpstr>扩展引入线性规划的基本定理</vt:lpstr>
      <vt:lpstr>PowerPoint 演示文稿</vt:lpstr>
      <vt:lpstr>PowerPoint 演示文稿</vt:lpstr>
      <vt:lpstr>二，简单标准形的单纯形法</vt:lpstr>
      <vt:lpstr>什么是简单标准形的LPQ？</vt:lpstr>
      <vt:lpstr>从这里开始求解：简单标准形的LPQ</vt:lpstr>
      <vt:lpstr>PowerPoint 演示文稿</vt:lpstr>
      <vt:lpstr>单纯形法：代数形式(以产品组合问题介绍求解方法)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LPQ的单纯形方法的基本思路(源于图解法)</vt:lpstr>
      <vt:lpstr>三，单纯形法：借助表格(以产品组合问题介绍求解方法)</vt:lpstr>
      <vt:lpstr>PowerPoint 演示文稿</vt:lpstr>
      <vt:lpstr>PowerPoint 演示文稿</vt:lpstr>
      <vt:lpstr>PowerPoint 演示文稿</vt:lpstr>
      <vt:lpstr>PowerPoint 演示文稿</vt:lpstr>
      <vt:lpstr>PowerPoint 演示文稿</vt:lpstr>
      <vt:lpstr>PowerPoint 演示文稿</vt:lpstr>
      <vt:lpstr>练习28-1，Giapetto’s Woodcaring公司</vt:lpstr>
      <vt:lpstr>新增练习28-2：怎么理解约束条件中的“负数”？【理解最小比值换出原则】</vt:lpstr>
      <vt:lpstr>新增练习28-3，缺陷往往发生在边界处，理解上的偏差也往往发生在边界处</vt:lpstr>
      <vt:lpstr>总结</vt:lpstr>
      <vt:lpstr>四，其它标准形的大M法和两阶段法</vt:lpstr>
      <vt:lpstr>4.1其它标准形的大M法</vt:lpstr>
      <vt:lpstr>将其它非简单标准形的LPQ转换为简单标准形</vt:lpstr>
      <vt:lpstr>举例说明如何将其它非简单标准形的LPQ转换为简单标准形：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4.2其它标准形的两阶段法</vt:lpstr>
      <vt:lpstr>两阶段法步骤</vt:lpstr>
      <vt:lpstr>以例说明2阶段法</vt:lpstr>
      <vt:lpstr>PowerPoint 演示文稿</vt:lpstr>
      <vt:lpstr>用单纯形法求解第一阶段的简单标准形LPQ：</vt:lpstr>
      <vt:lpstr>PowerPoint 演示文稿</vt:lpstr>
      <vt:lpstr>第二阶段,从初始基可行解开始求解原问题</vt:lpstr>
      <vt:lpstr>PowerPoint 演示文稿</vt:lpstr>
      <vt:lpstr>PowerPoint 演示文稿</vt:lpstr>
      <vt:lpstr>PowerPoint 演示文稿</vt:lpstr>
      <vt:lpstr>五，线性规划解的讨论</vt:lpstr>
      <vt:lpstr>5.1退化现象</vt:lpstr>
      <vt:lpstr>Beale曾给出一个应用单纯形法出现退化的例子</vt:lpstr>
      <vt:lpstr>PowerPoint 演示文稿</vt:lpstr>
      <vt:lpstr>PowerPoint 演示文稿</vt:lpstr>
      <vt:lpstr>PowerPoint 演示文稿</vt:lpstr>
      <vt:lpstr>在退化出现循环现象时,如何处理?</vt:lpstr>
      <vt:lpstr>退化情形下的单纯形法(以例说明)</vt:lpstr>
      <vt:lpstr>转换为简单标准形LPQ</vt:lpstr>
      <vt:lpstr>PowerPoint 演示文稿</vt:lpstr>
      <vt:lpstr>PowerPoint 演示文稿</vt:lpstr>
      <vt:lpstr>方法一：改变换出变量法(用表格形式求解LPQ)</vt:lpstr>
      <vt:lpstr>方法二：摄动法(用表格形式求解LPQ)</vt:lpstr>
      <vt:lpstr>5.2无穷多最优解</vt:lpstr>
      <vt:lpstr>对于单纯形表有多个最优解的检测方法：</vt:lpstr>
      <vt:lpstr>多解实例</vt:lpstr>
      <vt:lpstr>PowerPoint 演示文稿</vt:lpstr>
      <vt:lpstr>5.3无界解</vt:lpstr>
      <vt:lpstr>无界解的检测方法：</vt:lpstr>
      <vt:lpstr>PowerPoint 演示文稿</vt:lpstr>
      <vt:lpstr>5.4无可行解</vt:lpstr>
      <vt:lpstr>无可行解的检测方法：</vt:lpstr>
      <vt:lpstr>无可行解实例</vt:lpstr>
      <vt:lpstr>六 总结</vt:lpstr>
      <vt:lpstr>单纯形解法总结从以下3个方面给出：</vt:lpstr>
      <vt:lpstr>1.各类线性规划问题化为简单标准形式(即含一个初始的单位矩阵)</vt:lpstr>
      <vt:lpstr>2.单纯形法求解步骤:</vt:lpstr>
      <vt:lpstr>3.图解法与单纯形法</vt:lpstr>
      <vt:lpstr>PowerPoint 演示文稿</vt:lpstr>
      <vt:lpstr>知识点1：矩阵和向量</vt:lpstr>
      <vt:lpstr>知识点2：矩阵转置</vt:lpstr>
      <vt:lpstr>知识点3：矩阵乘法及性质</vt:lpstr>
      <vt:lpstr>知识点4：线性方程组和线性方程组的矩阵</vt:lpstr>
      <vt:lpstr>知识点5：解线性方程组的高斯-约当方法</vt:lpstr>
      <vt:lpstr>单纯形法代数形式的矩阵小结</vt:lpstr>
      <vt:lpstr>定理：研究上表表明了单纯形法的以下2个基本性质</vt:lpstr>
      <vt:lpstr>单纯形法的矩阵方法应用举例</vt:lpstr>
      <vt:lpstr>PowerPoint 演示文稿</vt:lpstr>
      <vt:lpstr>PowerPoint 演示文稿</vt:lpstr>
      <vt:lpstr>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练习29. 使用单纯形法求下列LPQ的最优解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练习38.农场主2</vt:lpstr>
      <vt:lpstr>练习39.农场主1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运筹学</dc:title>
  <dc:creator>puwei@scu.edu.cn</dc:creator>
  <cp:lastModifiedBy>Alice</cp:lastModifiedBy>
  <cp:revision>390</cp:revision>
  <dcterms:created xsi:type="dcterms:W3CDTF">2025-10-11T08:36:31Z</dcterms:created>
  <dcterms:modified xsi:type="dcterms:W3CDTF">2025-10-11T08:36:31Z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2052-3.9.2.6301</vt:lpwstr>
  </property>
</Properties>
</file>