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f9b84cfc4d4c92" /><Relationship Type="http://schemas.openxmlformats.org/officeDocument/2006/relationships/extended-properties" Target="/docProps/app.xml" Id="Re465d104744749b7" /><Relationship Type="http://schemas.openxmlformats.org/officeDocument/2006/relationships/officeDocument" Target="/ppt/presentation.xml" Id="R85c83becf19e46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fc98ef87dc4bde"/>
  </p:sldMasterIdLst>
  <p:notesMasterIdLst>
    <p:notesMasterId xmlns:r="http://schemas.openxmlformats.org/officeDocument/2006/relationships" r:id="R0402e593186649f3"/>
  </p:notesMasterIdLst>
  <p:sldIdLst>
    <p:sldId xmlns:r="http://schemas.openxmlformats.org/officeDocument/2006/relationships" id="256" r:id="Ra192f870020e4c32"/>
    <p:sldId xmlns:r="http://schemas.openxmlformats.org/officeDocument/2006/relationships" id="257" r:id="Rd4c837968c1e4263"/>
    <p:sldId xmlns:r="http://schemas.openxmlformats.org/officeDocument/2006/relationships" id="258" r:id="Raaf1366acd1846a4"/>
    <p:sldId xmlns:r="http://schemas.openxmlformats.org/officeDocument/2006/relationships" id="259" r:id="Ra2375bae2dad4c9d"/>
    <p:sldId xmlns:r="http://schemas.openxmlformats.org/officeDocument/2006/relationships" id="260" r:id="R386639bed68c4dcf"/>
    <p:sldId xmlns:r="http://schemas.openxmlformats.org/officeDocument/2006/relationships" id="261" r:id="R3999b89b87804efc"/>
    <p:sldId xmlns:r="http://schemas.openxmlformats.org/officeDocument/2006/relationships" id="262" r:id="Re125805f396f42a1"/>
    <p:sldId xmlns:r="http://schemas.openxmlformats.org/officeDocument/2006/relationships" id="263" r:id="Rfd1436e7d0bc4142"/>
    <p:sldId xmlns:r="http://schemas.openxmlformats.org/officeDocument/2006/relationships" id="264" r:id="R0e13325495304da7"/>
    <p:sldId xmlns:r="http://schemas.openxmlformats.org/officeDocument/2006/relationships" id="265" r:id="Reebb2c29a15b4520"/>
    <p:sldId xmlns:r="http://schemas.openxmlformats.org/officeDocument/2006/relationships" id="266" r:id="Rd1b833003b4a40d0"/>
    <p:sldId xmlns:r="http://schemas.openxmlformats.org/officeDocument/2006/relationships" id="267" r:id="R5d21d366fc1c4315"/>
    <p:sldId xmlns:r="http://schemas.openxmlformats.org/officeDocument/2006/relationships" id="268" r:id="R9c18b01a67054b1d"/>
    <p:sldId xmlns:r="http://schemas.openxmlformats.org/officeDocument/2006/relationships" id="269" r:id="Rce0b8fb9a2c4430c"/>
    <p:sldId xmlns:r="http://schemas.openxmlformats.org/officeDocument/2006/relationships" id="270" r:id="R10a19c2aed70463b"/>
    <p:sldId xmlns:r="http://schemas.openxmlformats.org/officeDocument/2006/relationships" id="271" r:id="R02e0951772434e5b"/>
    <p:sldId xmlns:r="http://schemas.openxmlformats.org/officeDocument/2006/relationships" id="272" r:id="R862e33954b8b4c1b"/>
    <p:sldId xmlns:r="http://schemas.openxmlformats.org/officeDocument/2006/relationships" id="273" r:id="Rc96e3844848749e4"/>
    <p:sldId xmlns:r="http://schemas.openxmlformats.org/officeDocument/2006/relationships" id="274" r:id="R0e17e0c7fc7c4c03"/>
    <p:sldId xmlns:r="http://schemas.openxmlformats.org/officeDocument/2006/relationships" id="275" r:id="Rb47af9a71e3c4cb2"/>
    <p:sldId xmlns:r="http://schemas.openxmlformats.org/officeDocument/2006/relationships" id="276" r:id="Rf9fbdb1198f34672"/>
    <p:sldId xmlns:r="http://schemas.openxmlformats.org/officeDocument/2006/relationships" id="277" r:id="Rdabfde90029b4a85"/>
    <p:sldId xmlns:r="http://schemas.openxmlformats.org/officeDocument/2006/relationships" id="278" r:id="R661adebb3d8d4478"/>
    <p:sldId xmlns:r="http://schemas.openxmlformats.org/officeDocument/2006/relationships" id="279" r:id="Raa6c73c64cdd4719"/>
    <p:sldId xmlns:r="http://schemas.openxmlformats.org/officeDocument/2006/relationships" id="280" r:id="R856c459c856e40c3"/>
    <p:sldId xmlns:r="http://schemas.openxmlformats.org/officeDocument/2006/relationships" id="281" r:id="R9a64dd3afa4244c0"/>
    <p:sldId xmlns:r="http://schemas.openxmlformats.org/officeDocument/2006/relationships" id="282" r:id="R89ecff9b42b54ee8"/>
    <p:sldId xmlns:r="http://schemas.openxmlformats.org/officeDocument/2006/relationships" id="283" r:id="Rac56aa8ba5044168"/>
    <p:sldId xmlns:r="http://schemas.openxmlformats.org/officeDocument/2006/relationships" id="284" r:id="R8327588947c64cd4"/>
    <p:sldId xmlns:r="http://schemas.openxmlformats.org/officeDocument/2006/relationships" id="285" r:id="Rbb78cb5673094204"/>
    <p:sldId xmlns:r="http://schemas.openxmlformats.org/officeDocument/2006/relationships" id="286" r:id="Rf6abe8a8d2ac43c0"/>
    <p:sldId xmlns:r="http://schemas.openxmlformats.org/officeDocument/2006/relationships" id="287" r:id="R8668ef3692fe4cd4"/>
    <p:sldId xmlns:r="http://schemas.openxmlformats.org/officeDocument/2006/relationships" id="288" r:id="Rc7ff4d5fe795431c"/>
    <p:sldId xmlns:r="http://schemas.openxmlformats.org/officeDocument/2006/relationships" id="289" r:id="R462913807b6e49fa"/>
    <p:sldId xmlns:r="http://schemas.openxmlformats.org/officeDocument/2006/relationships" id="290" r:id="Rf504867ac74f4683"/>
    <p:sldId xmlns:r="http://schemas.openxmlformats.org/officeDocument/2006/relationships" id="291" r:id="Rb9373a892fff4e9d"/>
    <p:sldId xmlns:r="http://schemas.openxmlformats.org/officeDocument/2006/relationships" id="292" r:id="Ra71ae1ddab12410e"/>
    <p:sldId xmlns:r="http://schemas.openxmlformats.org/officeDocument/2006/relationships" id="293" r:id="R2087807aca0548ab"/>
    <p:sldId xmlns:r="http://schemas.openxmlformats.org/officeDocument/2006/relationships" id="294" r:id="R5fe22552ca4043cf"/>
    <p:sldId xmlns:r="http://schemas.openxmlformats.org/officeDocument/2006/relationships" id="295" r:id="R86d05b710f05446c"/>
    <p:sldId xmlns:r="http://schemas.openxmlformats.org/officeDocument/2006/relationships" id="296" r:id="Rd99a76b56bf7479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7ec74852bd4094" /><Relationship Type="http://schemas.openxmlformats.org/officeDocument/2006/relationships/slideMaster" Target="/ppt/slideMasters/slideMaster1.xml" Id="R3efc98ef87dc4bde" /><Relationship Type="http://schemas.openxmlformats.org/officeDocument/2006/relationships/notesMaster" Target="/ppt/notesMasters/notesMaster1.xml" Id="R0402e593186649f3" /><Relationship Type="http://schemas.openxmlformats.org/officeDocument/2006/relationships/presProps" Target="/ppt/presProps.xml" Id="Rd6f35feb41c8437b" /><Relationship Type="http://schemas.openxmlformats.org/officeDocument/2006/relationships/tableStyles" Target="/ppt/tableStyles.xml" Id="Re217b06a136f4ff7" /><Relationship Type="http://schemas.openxmlformats.org/officeDocument/2006/relationships/slide" Target="/ppt/slides/slide1.xml" Id="Ra192f870020e4c32" /><Relationship Type="http://schemas.openxmlformats.org/officeDocument/2006/relationships/slide" Target="/ppt/slides/slide2.xml" Id="Rd4c837968c1e4263" /><Relationship Type="http://schemas.openxmlformats.org/officeDocument/2006/relationships/slide" Target="/ppt/slides/slide3.xml" Id="Raaf1366acd1846a4" /><Relationship Type="http://schemas.openxmlformats.org/officeDocument/2006/relationships/slide" Target="/ppt/slides/slide4.xml" Id="Ra2375bae2dad4c9d" /><Relationship Type="http://schemas.openxmlformats.org/officeDocument/2006/relationships/slide" Target="/ppt/slides/slide5.xml" Id="R386639bed68c4dcf" /><Relationship Type="http://schemas.openxmlformats.org/officeDocument/2006/relationships/slide" Target="/ppt/slides/slide6.xml" Id="R3999b89b87804efc" /><Relationship Type="http://schemas.openxmlformats.org/officeDocument/2006/relationships/slide" Target="/ppt/slides/slide7.xml" Id="Re125805f396f42a1" /><Relationship Type="http://schemas.openxmlformats.org/officeDocument/2006/relationships/slide" Target="/ppt/slides/slide8.xml" Id="Rfd1436e7d0bc4142" /><Relationship Type="http://schemas.openxmlformats.org/officeDocument/2006/relationships/slide" Target="/ppt/slides/slide9.xml" Id="R0e13325495304da7" /><Relationship Type="http://schemas.openxmlformats.org/officeDocument/2006/relationships/slide" Target="/ppt/slides/slide10.xml" Id="Reebb2c29a15b4520" /><Relationship Type="http://schemas.openxmlformats.org/officeDocument/2006/relationships/slide" Target="/ppt/slides/slide11.xml" Id="Rd1b833003b4a40d0" /><Relationship Type="http://schemas.openxmlformats.org/officeDocument/2006/relationships/slide" Target="/ppt/slides/slide12.xml" Id="R5d21d366fc1c4315" /><Relationship Type="http://schemas.openxmlformats.org/officeDocument/2006/relationships/slide" Target="/ppt/slides/slide13.xml" Id="R9c18b01a67054b1d" /><Relationship Type="http://schemas.openxmlformats.org/officeDocument/2006/relationships/slide" Target="/ppt/slides/slide14.xml" Id="Rce0b8fb9a2c4430c" /><Relationship Type="http://schemas.openxmlformats.org/officeDocument/2006/relationships/slide" Target="/ppt/slides/slide15.xml" Id="R10a19c2aed70463b" /><Relationship Type="http://schemas.openxmlformats.org/officeDocument/2006/relationships/slide" Target="/ppt/slides/slide16.xml" Id="R02e0951772434e5b" /><Relationship Type="http://schemas.openxmlformats.org/officeDocument/2006/relationships/slide" Target="/ppt/slides/slide17.xml" Id="R862e33954b8b4c1b" /><Relationship Type="http://schemas.openxmlformats.org/officeDocument/2006/relationships/slide" Target="/ppt/slides/slide18.xml" Id="Rc96e3844848749e4" /><Relationship Type="http://schemas.openxmlformats.org/officeDocument/2006/relationships/slide" Target="/ppt/slides/slide19.xml" Id="R0e17e0c7fc7c4c03" /><Relationship Type="http://schemas.openxmlformats.org/officeDocument/2006/relationships/slide" Target="/ppt/slides/slide20.xml" Id="Rb47af9a71e3c4cb2" /><Relationship Type="http://schemas.openxmlformats.org/officeDocument/2006/relationships/slide" Target="/ppt/slides/slide21.xml" Id="Rf9fbdb1198f34672" /><Relationship Type="http://schemas.openxmlformats.org/officeDocument/2006/relationships/slide" Target="/ppt/slides/slide22.xml" Id="Rdabfde90029b4a85" /><Relationship Type="http://schemas.openxmlformats.org/officeDocument/2006/relationships/slide" Target="/ppt/slides/slide23.xml" Id="R661adebb3d8d4478" /><Relationship Type="http://schemas.openxmlformats.org/officeDocument/2006/relationships/slide" Target="/ppt/slides/slide24.xml" Id="Raa6c73c64cdd4719" /><Relationship Type="http://schemas.openxmlformats.org/officeDocument/2006/relationships/slide" Target="/ppt/slides/slide25.xml" Id="R856c459c856e40c3" /><Relationship Type="http://schemas.openxmlformats.org/officeDocument/2006/relationships/slide" Target="/ppt/slides/slide26.xml" Id="R9a64dd3afa4244c0" /><Relationship Type="http://schemas.openxmlformats.org/officeDocument/2006/relationships/slide" Target="/ppt/slides/slide27.xml" Id="R89ecff9b42b54ee8" /><Relationship Type="http://schemas.openxmlformats.org/officeDocument/2006/relationships/slide" Target="/ppt/slides/slide28.xml" Id="Rac56aa8ba5044168" /><Relationship Type="http://schemas.openxmlformats.org/officeDocument/2006/relationships/slide" Target="/ppt/slides/slide29.xml" Id="R8327588947c64cd4" /><Relationship Type="http://schemas.openxmlformats.org/officeDocument/2006/relationships/slide" Target="/ppt/slides/slide30.xml" Id="Rbb78cb5673094204" /><Relationship Type="http://schemas.openxmlformats.org/officeDocument/2006/relationships/slide" Target="/ppt/slides/slide31.xml" Id="Rf6abe8a8d2ac43c0" /><Relationship Type="http://schemas.openxmlformats.org/officeDocument/2006/relationships/slide" Target="/ppt/slides/slide32.xml" Id="R8668ef3692fe4cd4" /><Relationship Type="http://schemas.openxmlformats.org/officeDocument/2006/relationships/slide" Target="/ppt/slides/slide33.xml" Id="Rc7ff4d5fe795431c" /><Relationship Type="http://schemas.openxmlformats.org/officeDocument/2006/relationships/slide" Target="/ppt/slides/slide34.xml" Id="R462913807b6e49fa" /><Relationship Type="http://schemas.openxmlformats.org/officeDocument/2006/relationships/slide" Target="/ppt/slides/slide35.xml" Id="Rf504867ac74f4683" /><Relationship Type="http://schemas.openxmlformats.org/officeDocument/2006/relationships/slide" Target="/ppt/slides/slide36.xml" Id="Rb9373a892fff4e9d" /><Relationship Type="http://schemas.openxmlformats.org/officeDocument/2006/relationships/slide" Target="/ppt/slides/slide37.xml" Id="Ra71ae1ddab12410e" /><Relationship Type="http://schemas.openxmlformats.org/officeDocument/2006/relationships/slide" Target="/ppt/slides/slide38.xml" Id="R2087807aca0548ab" /><Relationship Type="http://schemas.openxmlformats.org/officeDocument/2006/relationships/slide" Target="/ppt/slides/slide39.xml" Id="R5fe22552ca4043cf" /><Relationship Type="http://schemas.openxmlformats.org/officeDocument/2006/relationships/slide" Target="/ppt/slides/slide40.xml" Id="R86d05b710f05446c" /><Relationship Type="http://schemas.openxmlformats.org/officeDocument/2006/relationships/slide" Target="/ppt/slides/slide41.xml" Id="Rd99a76b56bf747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1a44e7107842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7d777bfa7247e1" /><Relationship Type="http://schemas.openxmlformats.org/officeDocument/2006/relationships/notesMaster" Target="/ppt/notesMasters/notesMaster1.xml" Id="R3d4ad4bd93a143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86c37db2c34132" /><Relationship Type="http://schemas.openxmlformats.org/officeDocument/2006/relationships/notesMaster" Target="/ppt/notesMasters/notesMaster1.xml" Id="Re69edca7251b45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32cb4160f5412a" /><Relationship Type="http://schemas.openxmlformats.org/officeDocument/2006/relationships/notesMaster" Target="/ppt/notesMasters/notesMaster1.xml" Id="R26d032e4676642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df448505db404f" /><Relationship Type="http://schemas.openxmlformats.org/officeDocument/2006/relationships/notesMaster" Target="/ppt/notesMasters/notesMaster1.xml" Id="R55eb0e2371644b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e88e8071fb4714" /><Relationship Type="http://schemas.openxmlformats.org/officeDocument/2006/relationships/notesMaster" Target="/ppt/notesMasters/notesMaster1.xml" Id="R29479784e63d40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af7496193140db" /><Relationship Type="http://schemas.openxmlformats.org/officeDocument/2006/relationships/notesMaster" Target="/ppt/notesMasters/notesMaster1.xml" Id="R580dcd6c12f942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68f76be0b547ae" /><Relationship Type="http://schemas.openxmlformats.org/officeDocument/2006/relationships/notesMaster" Target="/ppt/notesMasters/notesMaster1.xml" Id="Reb8965a58a524b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5221abb5404ea4" /><Relationship Type="http://schemas.openxmlformats.org/officeDocument/2006/relationships/notesMaster" Target="/ppt/notesMasters/notesMaster1.xml" Id="R8689b70e330c4e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9ed6dceda74f47" /><Relationship Type="http://schemas.openxmlformats.org/officeDocument/2006/relationships/notesMaster" Target="/ppt/notesMasters/notesMaster1.xml" Id="Ra2655e98d1264b6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6bcbf305a44ad5" /><Relationship Type="http://schemas.openxmlformats.org/officeDocument/2006/relationships/notesMaster" Target="/ppt/notesMasters/notesMaster1.xml" Id="R9797c98e490d431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ad732ed071c49c6" /><Relationship Type="http://schemas.openxmlformats.org/officeDocument/2006/relationships/notesMaster" Target="/ppt/notesMasters/notesMaster1.xml" Id="R52fa341b2d3f45e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959a4d039e4819" /><Relationship Type="http://schemas.openxmlformats.org/officeDocument/2006/relationships/notesMaster" Target="/ppt/notesMasters/notesMaster1.xml" Id="Ra10e28bd27ce4a4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6a16addb7d04078" /><Relationship Type="http://schemas.openxmlformats.org/officeDocument/2006/relationships/notesMaster" Target="/ppt/notesMasters/notesMaster1.xml" Id="Rb637b5f2849a484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4bc81a9e6114bbb" /><Relationship Type="http://schemas.openxmlformats.org/officeDocument/2006/relationships/notesMaster" Target="/ppt/notesMasters/notesMaster1.xml" Id="Rcef089ca27b243f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51dc4a156d44eb1" /><Relationship Type="http://schemas.openxmlformats.org/officeDocument/2006/relationships/notesMaster" Target="/ppt/notesMasters/notesMaster1.xml" Id="Rcb11d54ced95445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5d224e74eb845d8" /><Relationship Type="http://schemas.openxmlformats.org/officeDocument/2006/relationships/notesMaster" Target="/ppt/notesMasters/notesMaster1.xml" Id="R2888d071a8d24ff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354448d11d84ab4" /><Relationship Type="http://schemas.openxmlformats.org/officeDocument/2006/relationships/notesMaster" Target="/ppt/notesMasters/notesMaster1.xml" Id="Rf629dc3a79c84ff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d5b17c17f0e4429" /><Relationship Type="http://schemas.openxmlformats.org/officeDocument/2006/relationships/notesMaster" Target="/ppt/notesMasters/notesMaster1.xml" Id="Rd97e6e488f524dd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8f049033ac14625" /><Relationship Type="http://schemas.openxmlformats.org/officeDocument/2006/relationships/notesMaster" Target="/ppt/notesMasters/notesMaster1.xml" Id="Ra38298e2bcbf432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f80639f3e574140" /><Relationship Type="http://schemas.openxmlformats.org/officeDocument/2006/relationships/notesMaster" Target="/ppt/notesMasters/notesMaster1.xml" Id="Rc99daa0d1eed4d9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2674574d6ae4859" /><Relationship Type="http://schemas.openxmlformats.org/officeDocument/2006/relationships/notesMaster" Target="/ppt/notesMasters/notesMaster1.xml" Id="R65aa9b0e48364e4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633be8bd1d5486c" /><Relationship Type="http://schemas.openxmlformats.org/officeDocument/2006/relationships/notesMaster" Target="/ppt/notesMasters/notesMaster1.xml" Id="R599e022990d14b6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981468aa7f143d7" /><Relationship Type="http://schemas.openxmlformats.org/officeDocument/2006/relationships/notesMaster" Target="/ppt/notesMasters/notesMaster1.xml" Id="Rbcb75ae2b66c483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a68986aa8404083" /><Relationship Type="http://schemas.openxmlformats.org/officeDocument/2006/relationships/notesMaster" Target="/ppt/notesMasters/notesMaster1.xml" Id="R593897773b994e3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9f790af6ab14537" /><Relationship Type="http://schemas.openxmlformats.org/officeDocument/2006/relationships/notesMaster" Target="/ppt/notesMasters/notesMaster1.xml" Id="R9d0cc47e9dc141b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88c187ec2e94f85" /><Relationship Type="http://schemas.openxmlformats.org/officeDocument/2006/relationships/notesMaster" Target="/ppt/notesMasters/notesMaster1.xml" Id="Rca0552b7dcb24b6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2085b6129a449ea" /><Relationship Type="http://schemas.openxmlformats.org/officeDocument/2006/relationships/notesMaster" Target="/ppt/notesMasters/notesMaster1.xml" Id="Rc85fa7cd77c2427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7a8d0a50aad4039" /><Relationship Type="http://schemas.openxmlformats.org/officeDocument/2006/relationships/notesMaster" Target="/ppt/notesMasters/notesMaster1.xml" Id="R9e41722ad4514b5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fef42882de44413" /><Relationship Type="http://schemas.openxmlformats.org/officeDocument/2006/relationships/notesMaster" Target="/ppt/notesMasters/notesMaster1.xml" Id="Rff9ef34ea472409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82a3368641e4c13" /><Relationship Type="http://schemas.openxmlformats.org/officeDocument/2006/relationships/notesMaster" Target="/ppt/notesMasters/notesMaster1.xml" Id="Re34f0e8b833b434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87bb0ec915a41b5" /><Relationship Type="http://schemas.openxmlformats.org/officeDocument/2006/relationships/notesMaster" Target="/ppt/notesMasters/notesMaster1.xml" Id="R539046ed86d44c8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dba8d49cfea4401" /><Relationship Type="http://schemas.openxmlformats.org/officeDocument/2006/relationships/notesMaster" Target="/ppt/notesMasters/notesMaster1.xml" Id="Ra181e156692b4cb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363be2ba80a4851" /><Relationship Type="http://schemas.openxmlformats.org/officeDocument/2006/relationships/notesMaster" Target="/ppt/notesMasters/notesMaster1.xml" Id="R19f6db85d14b444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380682224a54b18" /><Relationship Type="http://schemas.openxmlformats.org/officeDocument/2006/relationships/notesMaster" Target="/ppt/notesMasters/notesMaster1.xml" Id="R3c1eac2b42564e0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bbc6a4e755341bc" /><Relationship Type="http://schemas.openxmlformats.org/officeDocument/2006/relationships/notesMaster" Target="/ppt/notesMasters/notesMaster1.xml" Id="R18da932445944cf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9d2a5a2c3684266" /><Relationship Type="http://schemas.openxmlformats.org/officeDocument/2006/relationships/notesMaster" Target="/ppt/notesMasters/notesMaster1.xml" Id="R015e3ec034c14c9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d855a6422e64f91" /><Relationship Type="http://schemas.openxmlformats.org/officeDocument/2006/relationships/notesMaster" Target="/ppt/notesMasters/notesMaster1.xml" Id="R680380152026479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68dd7cc12cb4be1" /><Relationship Type="http://schemas.openxmlformats.org/officeDocument/2006/relationships/notesMaster" Target="/ppt/notesMasters/notesMaster1.xml" Id="R752cc8e0f1ca4c1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9682f8585dc462b" /><Relationship Type="http://schemas.openxmlformats.org/officeDocument/2006/relationships/notesMaster" Target="/ppt/notesMasters/notesMaster1.xml" Id="R29ef7ffe4afc40b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d0805fdfb4a4459" /><Relationship Type="http://schemas.openxmlformats.org/officeDocument/2006/relationships/notesMaster" Target="/ppt/notesMasters/notesMaster1.xml" Id="R52f8bfb17b3848b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aeaf50bee66c4489" /><Relationship Type="http://schemas.openxmlformats.org/officeDocument/2006/relationships/notesMaster" Target="/ppt/notesMasters/notesMaster1.xml" Id="Rbae2da9abed344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采用我的课程设计视角，忠实记录本次基于材料的需求整理、分析、设计、实现与验证。没有课堂访谈记录，不将假设写成老师口述回答。来源：《现代软件工程课程设计》课程安排.pptx第2～3页；课程设计报告（PPT）样本.pptx第2～11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依据：课程设计报告（PPT）样本.pptx第6页。老师原型在开发过程中补充，因此对范围与交互进行了修订；未虚构课程周次的实际参与记录。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来源：发现软件的故事.pdf第2～9页。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来源：发现软件的故事.pdf第1～2、6～9页；参考资料/教师群内图片1.png；参考资料/教师界面原型.png。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来源：《现代软件工程课程设计》课程安排.pptx第7页；参考资料/教师群内图片1.png；参考资料/教师界面原型.png。教师给的是调研问题和原型，没有完整访谈问答。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来源：教师群内问题图片 Q1、Q2 与界面原型。Q1、Q2 的以下回答来自原型解读，不是老师口述原文。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来源：教师群内问题图片 Q3 与界面原型。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来源：运筹学(线性规划).pptx第8～16、34～41页附近的建模与假设内容；教师 Q4、Q5。图示是我对方法的整理。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来源：教师界面原型。变量定义与系数按原型；计算值来自 source/test-solver.cjs 的 T03。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来源：发现软件的故事.pdf第4、6、8页。第4页图为5x1+4x2；第8页图为4x1+5x2，与文字利润和950美元不一致。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来源：运筹学(线性规划).pptx单纯形法、两阶段法与解的情形；source/solver.js。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来源：运筹学(线性规划).pptx的单纯形法与两阶段法；实现以 source/solver.js 为准。箭头终点为后继活动；异常分支在下方说明。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来源：source/solver.js 实际迭代记录；T03。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来源：教师 Q6、Q7。没有涉众部署偏好与业务范围的正式回答；以下为本次实现选择。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依据：故事与教师原型。使用故事是我基于材料构建的需求场景，不声称经过真实用户试用。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依据：教师原型；source/index.html、app.js、solver.js。标记“扩展”为我的工程选择。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来源：课程安排第7页要求写非功能性与可用性需求；具体门槛由本次设计提出。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依据：教师原型与需求 F01～F06。图中展示本系统用例与参与者之间的关联，外框为系统边界。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需求：F01～F03、F05；对应 ModelView 与 SolveController.build()。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需求：F04～F06；对应 SolveController.solve()、SimplexSolver.solve()、ModelView.showResult()。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来源：参考资料/教师界面原型.png。原型来自用户提供的教师群内图片。未把它当成已完成访谈记录。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来源：真实运行截图，output/playwright/易行LP-建模界面.png。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来源：教师原型与本次设计。连线表示包含或归属，标注两端的多重性；当前仅在内存保留一次结果，导出后可另存；所有求解结果均记录初始表，因此迭代记录至少1条。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用例 UC01、UC02。图中每一行是一次参与者操作及对应系统响应，系统内部设计留到后续页面。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实现依据：source/index.html、style.css、app.js、solver.js、examples.js。当前部署是假设而非涉众确认结论。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 source/solver.js 与 source/app.js 中实际类定义。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来源：source/app.js 与 source/solver.js。箭头表示调用或依赖；求解器方法内部的 pivot / simplex 是局部函数，不是公开接口。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来源：SolveController.solve() 实际调用流程。图中的消息按由上到下的顺序执行；省略创建对象和非关键返回。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方法：使用 Information Expert、Controller、低耦合与高内聚检查设计；这些是设计原则应用，不声称运行性能由模式自动保证。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实现：SolveController.invalidate()、build() 与 solve()。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实现：source/solver.js；测试 T05～T16 与100个二维顶点枚举算例。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路径相对于课程设计目录。所有类名与文件名均以本次交付源码为准。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摘自 source/app.js，以下片段压缩了展示格式，逻辑与实际实现一致。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实际验证记录：.build/solver-tests.json、.build/vertex-tests.json、.build/ui-tests.json。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来源：source/test-solver.cjs 与 .build/solver-tests.json。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来源：真实运行截图 output/playwright/易行LP-Tanner方案.png。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来源：故事第4、6～8页；T01、T02；实际运行截图。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源文件与测试均在 source/；UI检查记录在 .build/ui-tests.json。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依据：课程安排要求经评审后修改归档。目前尚未进行老师现场评审，因此本页是待评审清单。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总结来自本次材料阅读、设计、实现与验证，不虚构真实访谈、用户试用或老师评审。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来源均为用户提供的课程材料与本次实现文件。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a485b0b983410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1f1f160b0341b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26ae1b6694447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675e8c0aa541d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efae43cbe3416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e7916790b444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74946A-03D3-4300-8199-E99EB88155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AC9F640-9DBA-4439-8BC9-5594412A719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790BF6E-B509-46BF-B7D9-3420B66E47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DB143E-D8EE-4ABB-BB9E-3BBDFFB6E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9EBDF09-E707-461D-99C2-B8FEB8E1EA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647BAFC-F0EF-4846-BA66-BF690048D9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EEA8269-0686-46E3-8580-344D576E0E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5D177F6-AC7D-47D8-9494-975388036D3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00BF02-4A2B-4F02-844D-BDBC1BC809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14CA439-2A26-4E18-A7A0-499A5CB749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d32f9d92eb4d52" /><Relationship Type="http://schemas.openxmlformats.org/officeDocument/2006/relationships/slideLayout" Target="/ppt/slideLayouts/slideLayout1.xml" Id="R805cf23f04764859" /><Relationship Type="http://schemas.openxmlformats.org/officeDocument/2006/relationships/slideLayout" Target="/ppt/slideLayouts/slideLayout2.xml" Id="R50fb760b78e744b5" /><Relationship Type="http://schemas.openxmlformats.org/officeDocument/2006/relationships/slideLayout" Target="/ppt/slideLayouts/slideLayout3.xml" Id="Rdfd5756a9f6d475a" /><Relationship Type="http://schemas.openxmlformats.org/officeDocument/2006/relationships/slideLayout" Target="/ppt/slideLayouts/slideLayout4.xml" Id="Rb3709b2994cd4dab" /><Relationship Type="http://schemas.openxmlformats.org/officeDocument/2006/relationships/slideLayout" Target="/ppt/slideLayouts/slideLayout5.xml" Id="R1696ad4143324d05" /><Relationship Type="http://schemas.openxmlformats.org/officeDocument/2006/relationships/slideLayout" Target="/ppt/slideLayouts/slideLayout6.xml" Id="R79b04bede4d347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5cf23f04764859"/>
    <p:sldLayoutId xmlns:r="http://schemas.openxmlformats.org/officeDocument/2006/relationships" id="2147483650" r:id="R50fb760b78e744b5"/>
    <p:sldLayoutId xmlns:r="http://schemas.openxmlformats.org/officeDocument/2006/relationships" id="2147483651" r:id="Rdfd5756a9f6d475a"/>
    <p:sldLayoutId xmlns:r="http://schemas.openxmlformats.org/officeDocument/2006/relationships" id="2147483652" r:id="Rb3709b2994cd4dab"/>
    <p:sldLayoutId xmlns:r="http://schemas.openxmlformats.org/officeDocument/2006/relationships" id="2147483653" r:id="R1696ad4143324d05"/>
    <p:sldLayoutId xmlns:r="http://schemas.openxmlformats.org/officeDocument/2006/relationships" id="2147483654" r:id="R79b04bede4d347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003e62947b45af" /><Relationship Type="http://schemas.openxmlformats.org/officeDocument/2006/relationships/notesSlide" Target="/ppt/notesSlides/notesSlide1.xml" Id="R19b47bee086a40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60901768684ade" /><Relationship Type="http://schemas.openxmlformats.org/officeDocument/2006/relationships/notesSlide" Target="/ppt/notesSlides/notesSlide2.xml" Id="Rc8bd3ca198f74b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74847529bf4829" /><Relationship Type="http://schemas.openxmlformats.org/officeDocument/2006/relationships/notesSlide" Target="/ppt/notesSlides/notesSlide3.xml" Id="R1a97da3551c546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3617a001f54a5a" /><Relationship Type="http://schemas.openxmlformats.org/officeDocument/2006/relationships/notesSlide" Target="/ppt/notesSlides/notesSlide4.xml" Id="R7d212b8dfaba4b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96574ad56f4b06" /><Relationship Type="http://schemas.openxmlformats.org/officeDocument/2006/relationships/notesSlide" Target="/ppt/notesSlides/notesSlide5.xml" Id="R420f6d39d1c84f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78f853ae5a4007" /><Relationship Type="http://schemas.openxmlformats.org/officeDocument/2006/relationships/notesSlide" Target="/ppt/notesSlides/notesSlide6.xml" Id="Rac0233a783d440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51d383667245f7" /><Relationship Type="http://schemas.openxmlformats.org/officeDocument/2006/relationships/notesSlide" Target="/ppt/notesSlides/notesSlide7.xml" Id="R34115f7c96454e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6c8482d4f54462" /><Relationship Type="http://schemas.openxmlformats.org/officeDocument/2006/relationships/notesSlide" Target="/ppt/notesSlides/notesSlide8.xml" Id="R4e6833cdd2da415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8415ed30614079" /><Relationship Type="http://schemas.openxmlformats.org/officeDocument/2006/relationships/notesSlide" Target="/ppt/notesSlides/notesSlide9.xml" Id="R6147aa9e4e374cf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67b0554fec417f" /><Relationship Type="http://schemas.openxmlformats.org/officeDocument/2006/relationships/notesSlide" Target="/ppt/notesSlides/notesSlide10.xml" Id="R8842e7d5e944401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d1f6874bbd4101" /><Relationship Type="http://schemas.openxmlformats.org/officeDocument/2006/relationships/notesSlide" Target="/ppt/notesSlides/notesSlide11.xml" Id="Rdfc495b387464f7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f4fbfec2e44ef9" /><Relationship Type="http://schemas.openxmlformats.org/officeDocument/2006/relationships/notesSlide" Target="/ppt/notesSlides/notesSlide12.xml" Id="Rda682445e75d4c8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474cefdd7c47f9" /><Relationship Type="http://schemas.openxmlformats.org/officeDocument/2006/relationships/notesSlide" Target="/ppt/notesSlides/notesSlide13.xml" Id="Ra32ef39b7715423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a9bae38f4e4dc8" /><Relationship Type="http://schemas.openxmlformats.org/officeDocument/2006/relationships/notesSlide" Target="/ppt/notesSlides/notesSlide14.xml" Id="Rc8418f0dd6fb4b0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f639fbda2d4d08" /><Relationship Type="http://schemas.openxmlformats.org/officeDocument/2006/relationships/notesSlide" Target="/ppt/notesSlides/notesSlide15.xml" Id="R7a94eb07684d4c8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cf87264f684b25" /><Relationship Type="http://schemas.openxmlformats.org/officeDocument/2006/relationships/notesSlide" Target="/ppt/notesSlides/notesSlide16.xml" Id="R8b641eb9554740d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fa5cf235ff4456" /><Relationship Type="http://schemas.openxmlformats.org/officeDocument/2006/relationships/notesSlide" Target="/ppt/notesSlides/notesSlide17.xml" Id="R45d8c759db40419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8b01b09c454f28" /><Relationship Type="http://schemas.openxmlformats.org/officeDocument/2006/relationships/notesSlide" Target="/ppt/notesSlides/notesSlide18.xml" Id="R790da074e31e4d8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b79b6cb26741c1" /><Relationship Type="http://schemas.openxmlformats.org/officeDocument/2006/relationships/notesSlide" Target="/ppt/notesSlides/notesSlide19.xml" Id="Rfbf74c77ce704c6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eb7ac6e64b44c6" /><Relationship Type="http://schemas.openxmlformats.org/officeDocument/2006/relationships/notesSlide" Target="/ppt/notesSlides/notesSlide20.xml" Id="R5ac2564749b54a0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6f957aa57543bc" /><Relationship Type="http://schemas.openxmlformats.org/officeDocument/2006/relationships/image" Target="/ppt/media/image.png" Id="R035571e77bc74434" /><Relationship Type="http://schemas.openxmlformats.org/officeDocument/2006/relationships/notesSlide" Target="/ppt/notesSlides/notesSlide21.xml" Id="R7542a2fe27c44ad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7d5df211df4aa3" /><Relationship Type="http://schemas.openxmlformats.org/officeDocument/2006/relationships/image" Target="/ppt/media/image2.png" Id="Rc3ae58a71f284630" /><Relationship Type="http://schemas.openxmlformats.org/officeDocument/2006/relationships/notesSlide" Target="/ppt/notesSlides/notesSlide22.xml" Id="Ra5132621224c405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9b4a1722954b51" /><Relationship Type="http://schemas.openxmlformats.org/officeDocument/2006/relationships/notesSlide" Target="/ppt/notesSlides/notesSlide23.xml" Id="R30209e6f1ad94c5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90f1a5c70246cc" /><Relationship Type="http://schemas.openxmlformats.org/officeDocument/2006/relationships/notesSlide" Target="/ppt/notesSlides/notesSlide24.xml" Id="R1fc8001a311146c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55667349c8403d" /><Relationship Type="http://schemas.openxmlformats.org/officeDocument/2006/relationships/notesSlide" Target="/ppt/notesSlides/notesSlide25.xml" Id="R0f35b7b8cce8452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349fb4bd1947a2" /><Relationship Type="http://schemas.openxmlformats.org/officeDocument/2006/relationships/notesSlide" Target="/ppt/notesSlides/notesSlide26.xml" Id="R1c9761553c734c1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55bc836bb941b8" /><Relationship Type="http://schemas.openxmlformats.org/officeDocument/2006/relationships/notesSlide" Target="/ppt/notesSlides/notesSlide27.xml" Id="R76bcc3590e8b4ac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cd92b4b1d044a3" /><Relationship Type="http://schemas.openxmlformats.org/officeDocument/2006/relationships/notesSlide" Target="/ppt/notesSlides/notesSlide28.xml" Id="R94aae6c5bbec435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4ea1c404954324" /><Relationship Type="http://schemas.openxmlformats.org/officeDocument/2006/relationships/notesSlide" Target="/ppt/notesSlides/notesSlide29.xml" Id="Rdd12331b6dd346a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deb2b355fe4b2a" /><Relationship Type="http://schemas.openxmlformats.org/officeDocument/2006/relationships/notesSlide" Target="/ppt/notesSlides/notesSlide30.xml" Id="R77b925f019b84f4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90c43d226749a0" /><Relationship Type="http://schemas.openxmlformats.org/officeDocument/2006/relationships/notesSlide" Target="/ppt/notesSlides/notesSlide31.xml" Id="Rf84f330c77d3491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288197e8d44990" /><Relationship Type="http://schemas.openxmlformats.org/officeDocument/2006/relationships/notesSlide" Target="/ppt/notesSlides/notesSlide32.xml" Id="R366938c77d224b8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f077d5be6444f0" /><Relationship Type="http://schemas.openxmlformats.org/officeDocument/2006/relationships/notesSlide" Target="/ppt/notesSlides/notesSlide33.xml" Id="R52c7cc2adecb431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26beb83b17496b" /><Relationship Type="http://schemas.openxmlformats.org/officeDocument/2006/relationships/notesSlide" Target="/ppt/notesSlides/notesSlide34.xml" Id="Rfdccc9bdcfc148f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00d8f08e2644af" /><Relationship Type="http://schemas.openxmlformats.org/officeDocument/2006/relationships/notesSlide" Target="/ppt/notesSlides/notesSlide35.xml" Id="Rdf2e3937bdf445e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022d3f78434dc5" /><Relationship Type="http://schemas.openxmlformats.org/officeDocument/2006/relationships/image" Target="/ppt/media/image3.png" Id="Ra2ada35839c14e0b" /><Relationship Type="http://schemas.openxmlformats.org/officeDocument/2006/relationships/notesSlide" Target="/ppt/notesSlides/notesSlide36.xml" Id="Rdffecea9c2e348e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1176cf6e0c4fd5" /><Relationship Type="http://schemas.openxmlformats.org/officeDocument/2006/relationships/notesSlide" Target="/ppt/notesSlides/notesSlide37.xml" Id="R3626ff11c234477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64538cac2b4f9f" /><Relationship Type="http://schemas.openxmlformats.org/officeDocument/2006/relationships/notesSlide" Target="/ppt/notesSlides/notesSlide38.xml" Id="R4a51b53dd3bf464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74088b3f564d0e" /><Relationship Type="http://schemas.openxmlformats.org/officeDocument/2006/relationships/notesSlide" Target="/ppt/notesSlides/notesSlide39.xml" Id="R9c32e4e32ce2496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0d3c7a3a3e438f" /><Relationship Type="http://schemas.openxmlformats.org/officeDocument/2006/relationships/notesSlide" Target="/ppt/notesSlides/notesSlide40.xml" Id="R5ad15417169442b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ae36e07fee49f0" /><Relationship Type="http://schemas.openxmlformats.org/officeDocument/2006/relationships/notesSlide" Target="/ppt/notesSlides/notesSlide41.xml" Id="R7d2ce028778e4a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DFEB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易行 LP">
            <a:extLst xmlns:a="http://schemas.openxmlformats.org/drawingml/2006/main">
              <a:ext uri="{FF2B5EF4-FFF2-40B4-BE49-F238E27FC236}">
                <a16:creationId xmlns:a16="http://schemas.microsoft.com/office/drawing/2014/main" id="{5993D4E3-32E7-4BC6-A4B6-F9E9BDEC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易行 LP</a:t>
            </a:r>
          </a:p>
        </p:txBody>
      </p:sp>
      <p:sp>
        <p:nvSpPr>
          <p:cNvPr id="2" name="线性规划辅助建模与求解软件的设计和实现">
            <a:extLst xmlns:a="http://schemas.openxmlformats.org/drawingml/2006/main">
              <a:ext uri="{FF2B5EF4-FFF2-40B4-BE49-F238E27FC236}">
                <a16:creationId xmlns:a16="http://schemas.microsoft.com/office/drawing/2014/main" id="{FFF08911-1C6D-4A5C-A467-A00E7E18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线性规划辅助建模与求解软件的设计和实现</a:t>
            </a:r>
          </a:p>
        </p:txBody>
      </p:sp>
      <p:sp>
        <p:nvSpPr>
          <p:cNvPr id="3" name="01  /  易行 LP">
            <a:extLst xmlns:a="http://schemas.openxmlformats.org/drawingml/2006/main">
              <a:ext uri="{FF2B5EF4-FFF2-40B4-BE49-F238E27FC236}">
                <a16:creationId xmlns:a16="http://schemas.microsoft.com/office/drawing/2014/main" id="{72D448C3-8829-4FCF-8AAE-68948B85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01  /  易行 LP</a:t>
            </a:r>
          </a:p>
        </p:txBody>
      </p:sp>
      <p:sp>
        <p:nvSpPr>
          <p:cNvPr id="4" name="现代软件工程课程设计">
            <a:extLst xmlns:a="http://schemas.openxmlformats.org/drawingml/2006/main">
              <a:ext uri="{FF2B5EF4-FFF2-40B4-BE49-F238E27FC236}">
                <a16:creationId xmlns:a16="http://schemas.microsoft.com/office/drawing/2014/main" id="{7114E6D8-6E84-4CD2-81CB-EA139D74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12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2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2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2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2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2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2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2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2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2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rPr>
              <a:t>现代软件工程课程设计</a:t>
            </a:r>
          </a:p>
        </p:txBody>
      </p:sp>
      <p:sp>
        <p:nvSpPr>
          <p:cNvPr id="5" name="易治行  |  2023141220023">
            <a:extLst xmlns:a="http://schemas.openxmlformats.org/drawingml/2006/main">
              <a:ext uri="{FF2B5EF4-FFF2-40B4-BE49-F238E27FC236}">
                <a16:creationId xmlns:a16="http://schemas.microsoft.com/office/drawing/2014/main" id="{F7C8A55C-E909-4E5D-A7DB-A3C6793E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2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2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2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2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2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2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2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2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2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易治行  |  2023141220023</a:t>
            </a:r>
          </a:p>
        </p:txBody>
      </p:sp>
      <p:sp>
        <p:nvSpPr>
          <p:cNvPr id="6" name="从业务问题出发，形成可检查的模型与规划方案">
            <a:extLst xmlns:a="http://schemas.openxmlformats.org/drawingml/2006/main">
              <a:ext uri="{FF2B5EF4-FFF2-40B4-BE49-F238E27FC236}">
                <a16:creationId xmlns:a16="http://schemas.microsoft.com/office/drawing/2014/main" id="{D8930538-31EA-4D26-883F-A6158F6D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从业务问题出发，形成可检查的模型与规划方案</a:t>
            </a:r>
          </a:p>
        </p:txBody>
      </p:sp>
      <p:sp>
        <p:nvSpPr>
          <p:cNvPr id="7" name="材料整理与实现版本  ·  2026年10月26日">
            <a:extLst xmlns:a="http://schemas.openxmlformats.org/drawingml/2006/main">
              <a:ext uri="{FF2B5EF4-FFF2-40B4-BE49-F238E27FC236}">
                <a16:creationId xmlns:a16="http://schemas.microsoft.com/office/drawing/2014/main" id="{6EB4C4EB-EF30-4746-B018-260AE836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材料整理与实现版本  ·  2026年10月26日</a:t>
            </a:r>
          </a:p>
        </p:txBody>
      </p:sp>
    </p:spTree>
    <p:extLst>
      <p:ext uri="{BB962C8B-B14F-4D97-AF65-F5344CB8AC3E}">
        <p14:creationId xmlns:p14="http://schemas.microsoft.com/office/powerpoint/2010/main" val="3297677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5E951B-D4DD-4FD7-A43A-5B0A22A4D767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524750" y="411956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8B691C-70E7-47F9-AF4A-1FBCE4CB7C3A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714750" y="411956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6B5430-297E-4968-B7E0-76CD22AFB7A7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2238375" y="2714625"/>
            <a:ext cx="762000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3AE73A-7B8A-47D7-86DA-09718D53ECB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24750" y="230981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3BB3E3-4EF0-4002-BDFC-BD358F695B8A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714750" y="230981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sp>
        <p:nvSpPr>
          <p:cNvPr id="17" name="我的开发流程">
            <a:extLst xmlns:a="http://schemas.openxmlformats.org/drawingml/2006/main">
              <a:ext uri="{FF2B5EF4-FFF2-40B4-BE49-F238E27FC236}">
                <a16:creationId xmlns:a16="http://schemas.microsoft.com/office/drawing/2014/main" id="{2EB94526-A45B-4265-A7DE-E897E7C5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我的开发流程</a:t>
            </a:r>
          </a:p>
        </p:txBody>
      </p:sp>
      <p:sp>
        <p:nvSpPr>
          <p:cNvPr id="2" name="方法：先整理证据，再迭代实现；成果：本报告对应的实际开发流程">
            <a:extLst xmlns:a="http://schemas.openxmlformats.org/drawingml/2006/main">
              <a:ext uri="{FF2B5EF4-FFF2-40B4-BE49-F238E27FC236}">
                <a16:creationId xmlns:a16="http://schemas.microsoft.com/office/drawing/2014/main" id="{24332BB2-F75A-4C06-B876-92996B01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方法：先整理证据，再迭代实现；成果：本报告对应的实际开发流程</a:t>
            </a:r>
          </a:p>
        </p:txBody>
      </p:sp>
      <p:sp>
        <p:nvSpPr>
          <p:cNvPr id="3" name="02  /  易行 LP">
            <a:extLst xmlns:a="http://schemas.openxmlformats.org/drawingml/2006/main">
              <a:ext uri="{FF2B5EF4-FFF2-40B4-BE49-F238E27FC236}">
                <a16:creationId xmlns:a16="http://schemas.microsoft.com/office/drawing/2014/main" id="{2B8CB105-FF17-400B-A6EB-53962420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02  /  易行 LP</a:t>
            </a:r>
          </a:p>
        </p:txBody>
      </p:sp>
      <p:sp>
        <p:nvSpPr>
          <p:cNvPr id="4" name="故事阅读&#10;发现工作困难">
            <a:extLst xmlns:a="http://schemas.openxmlformats.org/drawingml/2006/main">
              <a:ext uri="{FF2B5EF4-FFF2-40B4-BE49-F238E27FC236}">
                <a16:creationId xmlns:a16="http://schemas.microsoft.com/office/drawing/2014/main" id="{2039D57B-A4BA-4479-9D50-3F7D6FD2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29527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故事阅读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发现工作困难</a:t>
            </a:r>
          </a:p>
        </p:txBody>
      </p:sp>
      <p:sp>
        <p:nvSpPr>
          <p:cNvPr id="5" name="材料式需求调研&#10;教师 Q1～Q7 与界面原型">
            <a:extLst xmlns:a="http://schemas.openxmlformats.org/drawingml/2006/main">
              <a:ext uri="{FF2B5EF4-FFF2-40B4-BE49-F238E27FC236}">
                <a16:creationId xmlns:a16="http://schemas.microsoft.com/office/drawing/2014/main" id="{7362AC76-F4F3-493C-8477-0911D3D3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05000"/>
            <a:ext cx="29527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材料式需求调研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教师 Q1～Q7 与界面原型</a:t>
            </a:r>
          </a:p>
        </p:txBody>
      </p:sp>
      <p:sp>
        <p:nvSpPr>
          <p:cNvPr id="6" name="领域学习&#10;建模与单纯形法">
            <a:extLst xmlns:a="http://schemas.openxmlformats.org/drawingml/2006/main">
              <a:ext uri="{FF2B5EF4-FFF2-40B4-BE49-F238E27FC236}">
                <a16:creationId xmlns:a16="http://schemas.microsoft.com/office/drawing/2014/main" id="{94E3944C-7BD8-4B5E-8F1F-3AA5909E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05000"/>
            <a:ext cx="29527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领域学习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建模与单纯形法</a:t>
            </a:r>
          </a:p>
        </p:txBody>
      </p:sp>
      <p:sp>
        <p:nvSpPr>
          <p:cNvPr id="7" name="需求与分析模型&#10;系统边界、用例、交互">
            <a:extLst xmlns:a="http://schemas.openxmlformats.org/drawingml/2006/main">
              <a:ext uri="{FF2B5EF4-FFF2-40B4-BE49-F238E27FC236}">
                <a16:creationId xmlns:a16="http://schemas.microsoft.com/office/drawing/2014/main" id="{4360ABB9-3C65-42CA-9DE8-08556C61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9527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需求与分析模型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系统边界、用例、交互</a:t>
            </a:r>
          </a:p>
        </p:txBody>
      </p:sp>
      <p:sp>
        <p:nvSpPr>
          <p:cNvPr id="8" name="软件设计与代码映射&#10;职责、类、算法">
            <a:extLst xmlns:a="http://schemas.openxmlformats.org/drawingml/2006/main">
              <a:ext uri="{FF2B5EF4-FFF2-40B4-BE49-F238E27FC236}">
                <a16:creationId xmlns:a16="http://schemas.microsoft.com/office/drawing/2014/main" id="{4D269C72-5A59-4854-8053-6632987D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14750"/>
            <a:ext cx="29527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软件设计与代码映射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职责、类、算法</a:t>
            </a:r>
          </a:p>
        </p:txBody>
      </p:sp>
      <p:sp>
        <p:nvSpPr>
          <p:cNvPr id="9" name="运行与验证&#10;回归测试、界面检查">
            <a:extLst xmlns:a="http://schemas.openxmlformats.org/drawingml/2006/main">
              <a:ext uri="{FF2B5EF4-FFF2-40B4-BE49-F238E27FC236}">
                <a16:creationId xmlns:a16="http://schemas.microsoft.com/office/drawing/2014/main" id="{370BC30F-14EC-4538-AE63-CBE0E8F7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9527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运行与验证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回归测试、界面检查</a:t>
            </a:r>
          </a:p>
        </p:txBody>
      </p:sp>
      <p:sp>
        <p:nvSpPr>
          <p:cNvPr id="15" name="迭代 1：从故事形成求解器核心；迭代 2：按教师原型补充辅助建模">
            <a:extLst xmlns:a="http://schemas.openxmlformats.org/drawingml/2006/main">
              <a:ext uri="{FF2B5EF4-FFF2-40B4-BE49-F238E27FC236}">
                <a16:creationId xmlns:a16="http://schemas.microsoft.com/office/drawing/2014/main" id="{DFEC2C9D-239D-4A69-A16F-9D23B56D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迭代 1：从故事形成求解器核心；迭代 2：按教师原型补充辅助建模与方案展示。</a:t>
            </a:r>
          </a:p>
        </p:txBody>
      </p:sp>
      <p:sp>
        <p:nvSpPr>
          <p:cNvPr id="16" name="每次改动同步维护：需求、设计、代码和测试之间的对应关系。">
            <a:extLst xmlns:a="http://schemas.openxmlformats.org/drawingml/2006/main">
              <a:ext uri="{FF2B5EF4-FFF2-40B4-BE49-F238E27FC236}">
                <a16:creationId xmlns:a16="http://schemas.microsoft.com/office/drawing/2014/main" id="{A2EBAFB3-ABEE-43D9-95BD-F8F42AF9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每次改动同步维护：需求、设计、代码和测试之间的对应关系。</a:t>
            </a:r>
          </a:p>
        </p:txBody>
      </p:sp>
    </p:spTree>
    <p:extLst>
      <p:ext uri="{BB962C8B-B14F-4D97-AF65-F5344CB8AC3E}">
        <p14:creationId xmlns:p14="http://schemas.microsoft.com/office/powerpoint/2010/main" val="11314891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第 1 步：发现软件">
            <a:extLst xmlns:a="http://schemas.openxmlformats.org/drawingml/2006/main">
              <a:ext uri="{FF2B5EF4-FFF2-40B4-BE49-F238E27FC236}">
                <a16:creationId xmlns:a16="http://schemas.microsoft.com/office/drawing/2014/main" id="{470CE0ED-782F-4295-97E7-90B56CD8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第 1 步：发现软件</a:t>
            </a:r>
          </a:p>
        </p:txBody>
      </p:sp>
      <p:sp>
        <p:nvSpPr>
          <p:cNvPr id="2" name="方法：梳理现有工作与责任；成果：找出软件可承担的职责">
            <a:extLst xmlns:a="http://schemas.openxmlformats.org/drawingml/2006/main">
              <a:ext uri="{FF2B5EF4-FFF2-40B4-BE49-F238E27FC236}">
                <a16:creationId xmlns:a16="http://schemas.microsoft.com/office/drawing/2014/main" id="{34D4DC13-0283-4195-9240-05B64AFA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方法：梳理现有工作与责任；成果：找出软件可承担的职责</a:t>
            </a:r>
          </a:p>
        </p:txBody>
      </p:sp>
      <p:sp>
        <p:nvSpPr>
          <p:cNvPr id="3" name="03  /  易行 LP">
            <a:extLst xmlns:a="http://schemas.openxmlformats.org/drawingml/2006/main">
              <a:ext uri="{FF2B5EF4-FFF2-40B4-BE49-F238E27FC236}">
                <a16:creationId xmlns:a16="http://schemas.microsoft.com/office/drawing/2014/main" id="{FCC0188F-5522-4276-8ED2-BC701FB5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03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FEC096-00D1-4102-92C8-067A5F810842}"/>
              </a:ext>
            </a:extLst>
          </p:cNvPr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3905250"/>
                <a:gridCol w="4200525"/>
              </a:tblGrid>
              <a:tr h="8096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现有活动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承担者与困难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我的判断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了解客户、建立模型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老张：需要判断假设与约束是否完整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保留人的业务判断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手工计算、检查算式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小明：换基复杂，易错且耗时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让软件封装计算逻辑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增加销量限制后重算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模型变化导致重复计算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支持编辑后重新求解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给客户反馈规划方案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需要理解计算结果的业务含义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同时展示变量值与资源余量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30313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12836D-9126-4C24-8E5D-75BFE457D9E6}"/>
              </a:ext>
            </a:extLst>
          </p:cNvPr>
          <p:cNvCxnSpPr>
            <a:stCxn xmlns:a="http://schemas.openxmlformats.org/drawingml/2006/main" id="6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7524750" y="266700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56E68F-4F25-4040-8C14-C8CB552BA63B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619500" y="266700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sp>
        <p:nvSpPr>
          <p:cNvPr id="12" name="软件边界与涉众">
            <a:extLst xmlns:a="http://schemas.openxmlformats.org/drawingml/2006/main">
              <a:ext uri="{FF2B5EF4-FFF2-40B4-BE49-F238E27FC236}">
                <a16:creationId xmlns:a16="http://schemas.microsoft.com/office/drawing/2014/main" id="{80D8F61B-F04F-4874-9799-B15A14D3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软件边界与涉众</a:t>
            </a:r>
          </a:p>
        </p:txBody>
      </p:sp>
      <p:sp>
        <p:nvSpPr>
          <p:cNvPr id="2" name="成果：我将软件定位为研究人员使用的辅助工具">
            <a:extLst xmlns:a="http://schemas.openxmlformats.org/drawingml/2006/main">
              <a:ext uri="{FF2B5EF4-FFF2-40B4-BE49-F238E27FC236}">
                <a16:creationId xmlns:a16="http://schemas.microsoft.com/office/drawing/2014/main" id="{D0C870B4-FA2D-4B7B-823E-1B6B0129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成果：我将软件定位为研究人员使用的辅助工具</a:t>
            </a:r>
          </a:p>
        </p:txBody>
      </p:sp>
      <p:sp>
        <p:nvSpPr>
          <p:cNvPr id="3" name="04  /  易行 LP">
            <a:extLst xmlns:a="http://schemas.openxmlformats.org/drawingml/2006/main">
              <a:ext uri="{FF2B5EF4-FFF2-40B4-BE49-F238E27FC236}">
                <a16:creationId xmlns:a16="http://schemas.microsoft.com/office/drawing/2014/main" id="{ACC685B7-C6B6-4D45-8988-3A49875D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04  /  易行 LP</a:t>
            </a:r>
          </a:p>
        </p:txBody>
      </p:sp>
      <p:sp>
        <p:nvSpPr>
          <p:cNvPr id="4" name="老张 / 小明&#10;录入、审核、解释">
            <a:extLst xmlns:a="http://schemas.openxmlformats.org/drawingml/2006/main">
              <a:ext uri="{FF2B5EF4-FFF2-40B4-BE49-F238E27FC236}">
                <a16:creationId xmlns:a16="http://schemas.microsoft.com/office/drawing/2014/main" id="{4B02345E-86E8-4E6D-B8D6-91313324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老张 / 小明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录入、审核、解释</a:t>
            </a:r>
          </a:p>
        </p:txBody>
      </p:sp>
      <p:sp>
        <p:nvSpPr>
          <p:cNvPr id="5" name="易行 LP&#10;建模向导、计算、结果">
            <a:extLst xmlns:a="http://schemas.openxmlformats.org/drawingml/2006/main">
              <a:ext uri="{FF2B5EF4-FFF2-40B4-BE49-F238E27FC236}">
                <a16:creationId xmlns:a16="http://schemas.microsoft.com/office/drawing/2014/main" id="{F4A2249A-78A0-455F-A01D-C31011CE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43125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易行 LP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建模向导、计算、结果</a:t>
            </a:r>
          </a:p>
        </p:txBody>
      </p:sp>
      <p:sp>
        <p:nvSpPr>
          <p:cNvPr id="6" name="咨询客户&#10;提供业务事实与限制">
            <a:extLst xmlns:a="http://schemas.openxmlformats.org/drawingml/2006/main">
              <a:ext uri="{FF2B5EF4-FFF2-40B4-BE49-F238E27FC236}">
                <a16:creationId xmlns:a16="http://schemas.microsoft.com/office/drawing/2014/main" id="{C6725A3E-35D4-48FF-A96F-D5EDC120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咨询客户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提供业务事实与限制</a:t>
            </a:r>
          </a:p>
        </p:txBody>
      </p:sp>
      <p:sp>
        <p:nvSpPr>
          <p:cNvPr id="9" name="系统承担：结构化录入、生成数学模型、求解与计算记录导出。">
            <a:extLst xmlns:a="http://schemas.openxmlformats.org/drawingml/2006/main">
              <a:ext uri="{FF2B5EF4-FFF2-40B4-BE49-F238E27FC236}">
                <a16:creationId xmlns:a16="http://schemas.microsoft.com/office/drawing/2014/main" id="{0A372CBD-1825-491D-BD12-38178FED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107061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系统承担：结构化录入、生成数学模型、求解与计算记录导出。</a:t>
            </a:r>
          </a:p>
        </p:txBody>
      </p:sp>
      <p:sp>
        <p:nvSpPr>
          <p:cNvPr id="10" name="涉众承担：确定业务目标、收集数据、核对线性假设并作出决策。">
            <a:extLst xmlns:a="http://schemas.openxmlformats.org/drawingml/2006/main">
              <a:ext uri="{FF2B5EF4-FFF2-40B4-BE49-F238E27FC236}">
                <a16:creationId xmlns:a16="http://schemas.microsoft.com/office/drawing/2014/main" id="{C79D4F15-5098-4C54-B333-2BC8A238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107061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涉众承担：确定业务目标、收集数据、核对线性假设并作出决策。</a:t>
            </a:r>
          </a:p>
        </p:txBody>
      </p:sp>
      <p:sp>
        <p:nvSpPr>
          <p:cNvPr id="11" name="范围外：自动销售预测、自然语言自动建模、整数规划与客户业务管理。">
            <a:extLst xmlns:a="http://schemas.openxmlformats.org/drawingml/2006/main">
              <a:ext uri="{FF2B5EF4-FFF2-40B4-BE49-F238E27FC236}">
                <a16:creationId xmlns:a16="http://schemas.microsoft.com/office/drawing/2014/main" id="{23EDC1D5-B7D4-4CDB-88F8-1E7E8B36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07061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范围外：自动销售预测、自然语言自动建模、整数规划与客户业务管理。</a:t>
            </a:r>
          </a:p>
        </p:txBody>
      </p:sp>
    </p:spTree>
    <p:extLst>
      <p:ext uri="{BB962C8B-B14F-4D97-AF65-F5344CB8AC3E}">
        <p14:creationId xmlns:p14="http://schemas.microsoft.com/office/powerpoint/2010/main" val="11486370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第 2 步：整理需求依据">
            <a:extLst xmlns:a="http://schemas.openxmlformats.org/drawingml/2006/main">
              <a:ext uri="{FF2B5EF4-FFF2-40B4-BE49-F238E27FC236}">
                <a16:creationId xmlns:a16="http://schemas.microsoft.com/office/drawing/2014/main" id="{97C6D25E-9470-4490-91FE-DC117C03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第 2 步：整理需求依据</a:t>
            </a:r>
          </a:p>
        </p:txBody>
      </p:sp>
      <p:sp>
        <p:nvSpPr>
          <p:cNvPr id="2" name="方法：为每项结论标记来源与确认程度；成果：需求依据清单">
            <a:extLst xmlns:a="http://schemas.openxmlformats.org/drawingml/2006/main">
              <a:ext uri="{FF2B5EF4-FFF2-40B4-BE49-F238E27FC236}">
                <a16:creationId xmlns:a16="http://schemas.microsoft.com/office/drawing/2014/main" id="{051FDB4B-2BC2-4959-AC0F-9C5A30EE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方法：为每项结论标记来源与确认程度；成果：需求依据清单</a:t>
            </a:r>
          </a:p>
        </p:txBody>
      </p:sp>
      <p:sp>
        <p:nvSpPr>
          <p:cNvPr id="3" name="05  /  易行 LP">
            <a:extLst xmlns:a="http://schemas.openxmlformats.org/drawingml/2006/main">
              <a:ext uri="{FF2B5EF4-FFF2-40B4-BE49-F238E27FC236}">
                <a16:creationId xmlns:a16="http://schemas.microsoft.com/office/drawing/2014/main" id="{4E8AA84E-5E46-45B7-B5B7-8906E0A6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05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6E76C-2D20-49B3-87B9-03F69F6D8F3C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381500"/>
                <a:gridCol w="4057650"/>
              </a:tblGrid>
              <a:tr h="8001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依据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能够确认的内容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仍不能直接确认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故事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存在手算与反复重算的困难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真实用户的全部操作偏好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教师 Q1～Q7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应调查交互、领域、部署与业务范围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各问题的涉众正式回答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教师界面原型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问题陈述、建模向导、建模、计算、方案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导入格式、规模与异常处理细节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我的设计假设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本地离线、JSON 保存、规模限制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需经老师评审后接受或修订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  <p:sp>
        <p:nvSpPr>
          <p:cNvPr id="5" name="我没有课堂访谈笔记，因此下面的 Q—A 是“材料式回答与待确认项">
            <a:extLst xmlns:a="http://schemas.openxmlformats.org/drawingml/2006/main">
              <a:ext uri="{FF2B5EF4-FFF2-40B4-BE49-F238E27FC236}">
                <a16:creationId xmlns:a16="http://schemas.microsoft.com/office/drawing/2014/main" id="{FC9C2CA3-FEA6-4682-873E-CAA3BB72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94611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650" b="0">
                <a:solidFill>
                  <a:srgbClr val="94611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650" b="0">
                <a:solidFill>
                  <a:srgbClr val="94611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650" b="0">
                <a:solidFill>
                  <a:srgbClr val="94611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650" b="0">
                <a:solidFill>
                  <a:srgbClr val="94611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650" b="0">
                <a:solidFill>
                  <a:srgbClr val="94611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650" b="0">
                <a:solidFill>
                  <a:srgbClr val="94611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650" b="0">
                <a:solidFill>
                  <a:srgbClr val="94611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650" b="0">
                <a:solidFill>
                  <a:srgbClr val="94611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650" b="0">
                <a:solidFill>
                  <a:srgbClr val="94611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94611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946116"/>
                </a:solidFill>
                <a:latin typeface="Hiragino Sans GB"/>
                <a:ea typeface="Hiragino Sans GB"/>
                <a:cs typeface="Hiragino Sans GB"/>
              </a:rPr>
              <a:t>我没有课堂访谈笔记，因此下面的 Q—A 是“材料式回答与待确认项”，不作为真实访谈纪要。</a:t>
            </a:r>
          </a:p>
        </p:txBody>
      </p:sp>
    </p:spTree>
    <p:extLst>
      <p:ext uri="{BB962C8B-B14F-4D97-AF65-F5344CB8AC3E}">
        <p14:creationId xmlns:p14="http://schemas.microsoft.com/office/powerpoint/2010/main" val="6870762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1、Q2：用户怎样发起计算">
            <a:extLst xmlns:a="http://schemas.openxmlformats.org/drawingml/2006/main">
              <a:ext uri="{FF2B5EF4-FFF2-40B4-BE49-F238E27FC236}">
                <a16:creationId xmlns:a16="http://schemas.microsoft.com/office/drawing/2014/main" id="{3F292CAA-42E8-4591-9160-289EA1E6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Q1、Q2：用户怎样发起计算</a:t>
            </a:r>
          </a:p>
        </p:txBody>
      </p:sp>
      <p:sp>
        <p:nvSpPr>
          <p:cNvPr id="2" name="成果：我采用辅助建模后计算的交互路线">
            <a:extLst xmlns:a="http://schemas.openxmlformats.org/drawingml/2006/main">
              <a:ext uri="{FF2B5EF4-FFF2-40B4-BE49-F238E27FC236}">
                <a16:creationId xmlns:a16="http://schemas.microsoft.com/office/drawing/2014/main" id="{2B0311E8-3FCB-4587-97CD-206E40AC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成果：我采用辅助建模后计算的交互路线</a:t>
            </a:r>
          </a:p>
        </p:txBody>
      </p:sp>
      <p:sp>
        <p:nvSpPr>
          <p:cNvPr id="3" name="06  /  易行 LP">
            <a:extLst xmlns:a="http://schemas.openxmlformats.org/drawingml/2006/main">
              <a:ext uri="{FF2B5EF4-FFF2-40B4-BE49-F238E27FC236}">
                <a16:creationId xmlns:a16="http://schemas.microsoft.com/office/drawing/2014/main" id="{F0B1573F-D9CF-441B-B943-BFC6814F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06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40687D-7218-4249-85A7-1B277301F3DF}"/>
              </a:ext>
            </a:extLst>
          </p:cNvPr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7200900"/>
              </a:tblGrid>
              <a:tr h="8763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调研问题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材料支持的回答 / 我的处理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Q1 计算服务的交互序列？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问题陈述 → 活动与资源 → 系数关系 → 建模 → 核对模型 → 计算 → 方案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Q2 辅助建模还是直接输入模型？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原型展示辅助建模：由结构化表格生成模型。我据此实现该路线。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待确认：还需直接输入代数式吗？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目前不实现自由代数式解析；用户直接编辑系数矩阵。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待确认：导入什么文件？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原型仅给出“导入”。我暂定 TXT 问题陈述、JSON 完整项目。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24849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3：辅助建模的详细交互">
            <a:extLst xmlns:a="http://schemas.openxmlformats.org/drawingml/2006/main">
              <a:ext uri="{FF2B5EF4-FFF2-40B4-BE49-F238E27FC236}">
                <a16:creationId xmlns:a16="http://schemas.microsoft.com/office/drawing/2014/main" id="{F84CC8D3-725C-4B72-9DEA-110E0628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Q3：辅助建模的详细交互</a:t>
            </a:r>
          </a:p>
        </p:txBody>
      </p:sp>
      <p:sp>
        <p:nvSpPr>
          <p:cNvPr id="2" name="成果：将原型中的输入项分解为可实现规则">
            <a:extLst xmlns:a="http://schemas.openxmlformats.org/drawingml/2006/main">
              <a:ext uri="{FF2B5EF4-FFF2-40B4-BE49-F238E27FC236}">
                <a16:creationId xmlns:a16="http://schemas.microsoft.com/office/drawing/2014/main" id="{E2D039A1-7A3B-49E5-A73E-94A7091B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成果：将原型中的输入项分解为可实现规则</a:t>
            </a:r>
          </a:p>
        </p:txBody>
      </p:sp>
      <p:sp>
        <p:nvSpPr>
          <p:cNvPr id="3" name="07  /  易行 LP">
            <a:extLst xmlns:a="http://schemas.openxmlformats.org/drawingml/2006/main">
              <a:ext uri="{FF2B5EF4-FFF2-40B4-BE49-F238E27FC236}">
                <a16:creationId xmlns:a16="http://schemas.microsoft.com/office/drawing/2014/main" id="{9FFD3CCF-240C-40D2-ACDF-2FC7A004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07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3C99C1-A8B3-4116-973B-74FD13251C92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7867650"/>
              </a:tblGrid>
              <a:tr h="7381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输入项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交互与规则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目标与竞争性活动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选择 max / min；增加、删除活动；名称与 x1…xn 对应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资源与关系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增加、删除约束；编辑资源名称、关系符和资源限制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关系表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编辑每单位活动的资源用量 aij 与利润 / 成本 cj，允许负系数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建模与计算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建模先校验并生成公式；计算读取已确认模型，弹出规划方案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修改后重算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任何输入变化使旧模型失效，须重新建模；不继续展示旧结果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10842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BDFFFF-6605-4BB6-AB95-466DCBD5003A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667625" y="44291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99D47D-8F31-41A0-9B25-B420005D290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905250" y="44291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04E37A-BEB6-4B63-A584-09A79D2A9D99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2333625" y="2952750"/>
            <a:ext cx="752475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19ABD6-1B24-4EB9-8648-7B24BA57376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667625" y="25241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D2FC54-D344-4CB2-853B-70070B76A44A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905250" y="25241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sp>
        <p:nvSpPr>
          <p:cNvPr id="16" name="Q4、Q5：我学习的建模方法">
            <a:extLst xmlns:a="http://schemas.openxmlformats.org/drawingml/2006/main">
              <a:ext uri="{FF2B5EF4-FFF2-40B4-BE49-F238E27FC236}">
                <a16:creationId xmlns:a16="http://schemas.microsoft.com/office/drawing/2014/main" id="{A94D02F2-ADC4-4864-AB24-6E49748F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Q4、Q5：我学习的建模方法</a:t>
            </a:r>
          </a:p>
        </p:txBody>
      </p:sp>
      <p:sp>
        <p:nvSpPr>
          <p:cNvPr id="2" name="方法：按业务含义提取变量、目标与约束；成果：可复用的建模步骤">
            <a:extLst xmlns:a="http://schemas.openxmlformats.org/drawingml/2006/main">
              <a:ext uri="{FF2B5EF4-FFF2-40B4-BE49-F238E27FC236}">
                <a16:creationId xmlns:a16="http://schemas.microsoft.com/office/drawing/2014/main" id="{3EC43797-BF13-40B0-A411-A81AB434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方法：按业务含义提取变量、目标与约束；成果：可复用的建模步骤</a:t>
            </a:r>
          </a:p>
        </p:txBody>
      </p:sp>
      <p:sp>
        <p:nvSpPr>
          <p:cNvPr id="3" name="08  /  易行 LP">
            <a:extLst xmlns:a="http://schemas.openxmlformats.org/drawingml/2006/main">
              <a:ext uri="{FF2B5EF4-FFF2-40B4-BE49-F238E27FC236}">
                <a16:creationId xmlns:a16="http://schemas.microsoft.com/office/drawing/2014/main" id="{8E655E43-C286-4F3E-B078-CE85038B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08  /  易行 LP</a:t>
            </a:r>
          </a:p>
        </p:txBody>
      </p:sp>
      <p:sp>
        <p:nvSpPr>
          <p:cNvPr id="4" name="识别竞争性活动&#10;确定活动水平 xj">
            <a:extLst xmlns:a="http://schemas.openxmlformats.org/drawingml/2006/main">
              <a:ext uri="{FF2B5EF4-FFF2-40B4-BE49-F238E27FC236}">
                <a16:creationId xmlns:a16="http://schemas.microsoft.com/office/drawing/2014/main" id="{4214254C-2688-4255-ADC6-F54BCF44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143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识别竞争性活动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确定活动水平 xj</a:t>
            </a:r>
          </a:p>
        </p:txBody>
      </p:sp>
      <p:sp>
        <p:nvSpPr>
          <p:cNvPr id="5" name="定义既定目标&#10;形成 Σcj xj">
            <a:extLst xmlns:a="http://schemas.openxmlformats.org/drawingml/2006/main">
              <a:ext uri="{FF2B5EF4-FFF2-40B4-BE49-F238E27FC236}">
                <a16:creationId xmlns:a16="http://schemas.microsoft.com/office/drawing/2014/main" id="{6EA55C6D-8590-4DA0-AF4E-7F658F7A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3143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定义既定目标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形成 Σcj xj</a:t>
            </a:r>
          </a:p>
        </p:txBody>
      </p:sp>
      <p:sp>
        <p:nvSpPr>
          <p:cNvPr id="6" name="识别有限资源&#10;形成 Σaij xj 与限制 bi">
            <a:extLst xmlns:a="http://schemas.openxmlformats.org/drawingml/2006/main">
              <a:ext uri="{FF2B5EF4-FFF2-40B4-BE49-F238E27FC236}">
                <a16:creationId xmlns:a16="http://schemas.microsoft.com/office/drawing/2014/main" id="{251226C2-12C1-4D4D-9683-5E9AA444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3143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识别有限资源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形成 Σaij xj 与限制 bi</a:t>
            </a:r>
          </a:p>
        </p:txBody>
      </p:sp>
      <p:sp>
        <p:nvSpPr>
          <p:cNvPr id="7" name="审核变量与量纲&#10;补充范围、非负限制">
            <a:extLst xmlns:a="http://schemas.openxmlformats.org/drawingml/2006/main">
              <a:ext uri="{FF2B5EF4-FFF2-40B4-BE49-F238E27FC236}">
                <a16:creationId xmlns:a16="http://schemas.microsoft.com/office/drawing/2014/main" id="{A763E0D2-C961-4F22-8E1E-7C365E3E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3143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审核变量与量纲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补充范围、非负限制</a:t>
            </a:r>
          </a:p>
        </p:txBody>
      </p:sp>
      <p:sp>
        <p:nvSpPr>
          <p:cNvPr id="8" name="审核线性假设&#10;可加性、比例性、可分性">
            <a:extLst xmlns:a="http://schemas.openxmlformats.org/drawingml/2006/main">
              <a:ext uri="{FF2B5EF4-FFF2-40B4-BE49-F238E27FC236}">
                <a16:creationId xmlns:a16="http://schemas.microsoft.com/office/drawing/2014/main" id="{5EB6D3E4-94F8-4531-B2F0-83B7CEA0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00500"/>
            <a:ext cx="3143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审核线性假设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可加性、比例性、可分性</a:t>
            </a:r>
          </a:p>
        </p:txBody>
      </p:sp>
      <p:sp>
        <p:nvSpPr>
          <p:cNvPr id="9" name="联系现实复核&#10;缺失条件则回到模型">
            <a:extLst xmlns:a="http://schemas.openxmlformats.org/drawingml/2006/main">
              <a:ext uri="{FF2B5EF4-FFF2-40B4-BE49-F238E27FC236}">
                <a16:creationId xmlns:a16="http://schemas.microsoft.com/office/drawing/2014/main" id="{1730304B-AC2E-44DC-9DCA-87233D47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3143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联系现实复核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缺失条件则回到模型</a:t>
            </a:r>
          </a:p>
        </p:txBody>
      </p:sp>
      <p:sp>
        <p:nvSpPr>
          <p:cNvPr id="15" name="一般形式：max / min z = Σ cj xj，满足 Σ ">
            <a:extLst xmlns:a="http://schemas.openxmlformats.org/drawingml/2006/main">
              <a:ext uri="{FF2B5EF4-FFF2-40B4-BE49-F238E27FC236}">
                <a16:creationId xmlns:a16="http://schemas.microsoft.com/office/drawing/2014/main" id="{12DFE26E-9B8B-45F7-B62A-732A4C91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一般形式：max / min z = Σ cj xj，满足 Σ aij xj ≤ / = / ≥ bi，xj ≥ 0。</a:t>
            </a:r>
          </a:p>
        </p:txBody>
      </p:sp>
    </p:spTree>
    <p:extLst>
      <p:ext uri="{BB962C8B-B14F-4D97-AF65-F5344CB8AC3E}">
        <p14:creationId xmlns:p14="http://schemas.microsoft.com/office/powerpoint/2010/main" val="12982919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建模练习：Tanner 玩具生产">
            <a:extLst xmlns:a="http://schemas.openxmlformats.org/drawingml/2006/main">
              <a:ext uri="{FF2B5EF4-FFF2-40B4-BE49-F238E27FC236}">
                <a16:creationId xmlns:a16="http://schemas.microsoft.com/office/drawing/2014/main" id="{4849CC92-B028-44CA-9370-8E71EB80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建模练习：Tanner 玩具生产</a:t>
            </a:r>
          </a:p>
        </p:txBody>
      </p:sp>
      <p:sp>
        <p:nvSpPr>
          <p:cNvPr id="2" name="成果：从教师原型提取含负系数的线性规划模型">
            <a:extLst xmlns:a="http://schemas.openxmlformats.org/drawingml/2006/main">
              <a:ext uri="{FF2B5EF4-FFF2-40B4-BE49-F238E27FC236}">
                <a16:creationId xmlns:a16="http://schemas.microsoft.com/office/drawing/2014/main" id="{CEDF0FE5-65E9-4576-BE8D-F27E2AC1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成果：从教师原型提取含负系数的线性规划模型</a:t>
            </a:r>
          </a:p>
        </p:txBody>
      </p:sp>
      <p:sp>
        <p:nvSpPr>
          <p:cNvPr id="3" name="09  /  易行 LP">
            <a:extLst xmlns:a="http://schemas.openxmlformats.org/drawingml/2006/main">
              <a:ext uri="{FF2B5EF4-FFF2-40B4-BE49-F238E27FC236}">
                <a16:creationId xmlns:a16="http://schemas.microsoft.com/office/drawing/2014/main" id="{091970AC-A462-4D2E-BBD5-FA12C990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09  /  易行 LP</a:t>
            </a:r>
          </a:p>
        </p:txBody>
      </p:sp>
      <p:sp>
        <p:nvSpPr>
          <p:cNvPr id="4" name="x1：玩具产量；x2：同时生产 A、B 各一个的组合部件组数。">
            <a:extLst xmlns:a="http://schemas.openxmlformats.org/drawingml/2006/main">
              <a:ext uri="{FF2B5EF4-FFF2-40B4-BE49-F238E27FC236}">
                <a16:creationId xmlns:a16="http://schemas.microsoft.com/office/drawing/2014/main" id="{F7501633-9A5D-4D7E-8671-01F56AE2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x1：玩具产量；x2：同时生产 A、B 各一个的组合部件组数。</a:t>
            </a:r>
          </a:p>
        </p:txBody>
      </p:sp>
      <p:sp>
        <p:nvSpPr>
          <p:cNvPr id="5" name="max z = 3x1 − 2.5x2&#10;2x1 − x2 ≤ 3">
            <a:extLst xmlns:a="http://schemas.openxmlformats.org/drawingml/2006/main">
              <a:ext uri="{FF2B5EF4-FFF2-40B4-BE49-F238E27FC236}">
                <a16:creationId xmlns:a16="http://schemas.microsoft.com/office/drawing/2014/main" id="{F4B9DDFF-4081-47EF-8FA4-6A6BCAF8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64770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max z = 3x1 − 2.5x2</a:t>
            </a:r>
          </a:p>
          <a:p xmlns:a="http://schemas.openxmlformats.org/drawingml/2006/main">
            <a: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2x1 − x2 ≤ 3000   （A 部件）</a:t>
            </a:r>
          </a:p>
          <a:p xmlns:a="http://schemas.openxmlformats.org/drawingml/2006/main">
            <a: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x1 − x2 ≤ 1000     （B 部件）</a:t>
            </a:r>
          </a:p>
          <a:p xmlns:a="http://schemas.openxmlformats.org/drawingml/2006/main">
            <a: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x1 ≥ 0，x2 ≥ 0</a:t>
            </a:r>
          </a:p>
        </p:txBody>
      </p:sp>
      <p:sp>
        <p:nvSpPr>
          <p:cNvPr id="6" name="负系数的含义&#10;&#10;生产组合部件增加资源，&#10;所以在资源净消耗中为 −">
            <a:extLst xmlns:a="http://schemas.openxmlformats.org/drawingml/2006/main">
              <a:ext uri="{FF2B5EF4-FFF2-40B4-BE49-F238E27FC236}">
                <a16:creationId xmlns:a16="http://schemas.microsoft.com/office/drawing/2014/main" id="{61DD5520-F729-492A-9C52-E783EA76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14600"/>
            <a:ext cx="3524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负系数的含义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生产组合部件增加资源，</a:t>
            </a:r>
          </a:p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所以在资源净消耗中为 −1。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组合成本从净利润中扣除。</a:t>
            </a:r>
          </a:p>
        </p:txBody>
      </p:sp>
      <p:sp>
        <p:nvSpPr>
          <p:cNvPr id="7" name="复核：x1 = 2000，x2 = 1000，z = 3500；">
            <a:extLst xmlns:a="http://schemas.openxmlformats.org/drawingml/2006/main">
              <a:ext uri="{FF2B5EF4-FFF2-40B4-BE49-F238E27FC236}">
                <a16:creationId xmlns:a16="http://schemas.microsoft.com/office/drawing/2014/main" id="{7F774461-75CB-4FFF-9C34-A39A4134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rPr>
              <a:t>复核：x1 = 2000，x2 = 1000，z = 3500；A、B 两条资源约束恰好取等号。</a:t>
            </a:r>
          </a:p>
        </p:txBody>
      </p:sp>
    </p:spTree>
    <p:extLst>
      <p:ext uri="{BB962C8B-B14F-4D97-AF65-F5344CB8AC3E}">
        <p14:creationId xmlns:p14="http://schemas.microsoft.com/office/powerpoint/2010/main" val="16139299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建模审核：发现故事中的不一致">
            <a:extLst xmlns:a="http://schemas.openxmlformats.org/drawingml/2006/main">
              <a:ext uri="{FF2B5EF4-FFF2-40B4-BE49-F238E27FC236}">
                <a16:creationId xmlns:a16="http://schemas.microsoft.com/office/drawing/2014/main" id="{9B7FFA63-FC4A-441E-8CFB-9816849F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建模审核：发现故事中的不一致</a:t>
            </a:r>
          </a:p>
        </p:txBody>
      </p:sp>
      <p:sp>
        <p:nvSpPr>
          <p:cNvPr id="2" name="成果：统一变量含义与利润系数，避免把材料笔误带入软件">
            <a:extLst xmlns:a="http://schemas.openxmlformats.org/drawingml/2006/main">
              <a:ext uri="{FF2B5EF4-FFF2-40B4-BE49-F238E27FC236}">
                <a16:creationId xmlns:a16="http://schemas.microsoft.com/office/drawing/2014/main" id="{D2C61793-76A7-4EB9-9546-066E6983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成果：统一变量含义与利润系数，避免把材料笔误带入软件</a:t>
            </a:r>
          </a:p>
        </p:txBody>
      </p:sp>
      <p:sp>
        <p:nvSpPr>
          <p:cNvPr id="3" name="10  /  易行 LP">
            <a:extLst xmlns:a="http://schemas.openxmlformats.org/drawingml/2006/main">
              <a:ext uri="{FF2B5EF4-FFF2-40B4-BE49-F238E27FC236}">
                <a16:creationId xmlns:a16="http://schemas.microsoft.com/office/drawing/2014/main" id="{7D45E00C-2584-463E-9940-6AEFCB95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10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1BF1A6-BEAE-495F-9394-727498BB0FDA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4381500"/>
                <a:gridCol w="4105275"/>
              </a:tblGrid>
              <a:tr h="7905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检查项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材料表现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我的处理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变量定义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第4页：x1 为鸭，x2 为鱼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全文固定该定义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单位利润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文字：鸭 5 美元、鱼 4 美元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目标函数采用 5x1 + 4x2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第8页目标函数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图中系数写成 4、5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记录差异，按第4页及文字校正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结果代入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150×5 + 50×4 = 950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与故事给出的950一致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  <p:sp>
        <p:nvSpPr>
          <p:cNvPr id="5" name="故事正文中的“鸭或鱼”应结合数学模型理解为一个同时包含两种产量的">
            <a:extLst xmlns:a="http://schemas.openxmlformats.org/drawingml/2006/main">
              <a:ext uri="{FF2B5EF4-FFF2-40B4-BE49-F238E27FC236}">
                <a16:creationId xmlns:a16="http://schemas.microsoft.com/office/drawing/2014/main" id="{F65EA484-9255-4C2B-8977-AFFE2A2A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故事正文中的“鸭或鱼”应结合数学模型理解为一个同时包含两种产量的生产组合。</a:t>
            </a:r>
          </a:p>
        </p:txBody>
      </p:sp>
    </p:spTree>
    <p:extLst>
      <p:ext uri="{BB962C8B-B14F-4D97-AF65-F5344CB8AC3E}">
        <p14:creationId xmlns:p14="http://schemas.microsoft.com/office/powerpoint/2010/main" val="6630049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Q4、Q5：我学习的计算方法">
            <a:extLst xmlns:a="http://schemas.openxmlformats.org/drawingml/2006/main">
              <a:ext uri="{FF2B5EF4-FFF2-40B4-BE49-F238E27FC236}">
                <a16:creationId xmlns:a16="http://schemas.microsoft.com/office/drawing/2014/main" id="{224608C9-7BA2-4D85-95AB-403A9059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Q4、Q5：我学习的计算方法</a:t>
            </a:r>
          </a:p>
        </p:txBody>
      </p:sp>
      <p:sp>
        <p:nvSpPr>
          <p:cNvPr id="2" name="成果：理解换基为什么能逐步改进目标值">
            <a:extLst xmlns:a="http://schemas.openxmlformats.org/drawingml/2006/main">
              <a:ext uri="{FF2B5EF4-FFF2-40B4-BE49-F238E27FC236}">
                <a16:creationId xmlns:a16="http://schemas.microsoft.com/office/drawing/2014/main" id="{5209FB45-37DB-4AE1-8032-D79D4146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成果：理解换基为什么能逐步改进目标值</a:t>
            </a:r>
          </a:p>
        </p:txBody>
      </p:sp>
      <p:sp>
        <p:nvSpPr>
          <p:cNvPr id="3" name="11  /  易行 LP">
            <a:extLst xmlns:a="http://schemas.openxmlformats.org/drawingml/2006/main">
              <a:ext uri="{FF2B5EF4-FFF2-40B4-BE49-F238E27FC236}">
                <a16:creationId xmlns:a16="http://schemas.microsoft.com/office/drawing/2014/main" id="{64C9E41E-3B8C-4E9A-9D17-E1ADFEFE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11  /  易行 LP</a:t>
            </a:r>
          </a:p>
        </p:txBody>
      </p:sp>
      <p:sp>
        <p:nvSpPr>
          <p:cNvPr id="4" name="标准化：min 转为 max 的相反目标；≥ 两边取负；= 拆成">
            <a:extLst xmlns:a="http://schemas.openxmlformats.org/drawingml/2006/main">
              <a:ext uri="{FF2B5EF4-FFF2-40B4-BE49-F238E27FC236}">
                <a16:creationId xmlns:a16="http://schemas.microsoft.com/office/drawing/2014/main" id="{21C1A3B7-11C6-4964-866A-5BE57264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706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标准化：min 转为 max 的相反目标；≥ 两边取负；= 拆成两条 ≤。</a:t>
            </a:r>
          </a:p>
        </p:txBody>
      </p:sp>
      <p:sp>
        <p:nvSpPr>
          <p:cNvPr id="5" name="可行性：加入松弛变量；若初始右端为负，使用人工变量与辅助目标找可">
            <a:extLst xmlns:a="http://schemas.openxmlformats.org/drawingml/2006/main">
              <a:ext uri="{FF2B5EF4-FFF2-40B4-BE49-F238E27FC236}">
                <a16:creationId xmlns:a16="http://schemas.microsoft.com/office/drawing/2014/main" id="{0EAB1BE6-832B-4AFF-B014-0A9DD7E8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0325"/>
            <a:ext cx="10706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可行性：加入松弛变量；若初始右端为负，使用人工变量与辅助目标找可行基。</a:t>
            </a:r>
          </a:p>
        </p:txBody>
      </p:sp>
      <p:sp>
        <p:nvSpPr>
          <p:cNvPr id="6" name="改进：选可改善目标的非基变量入基，用最小比值确定出基变量。">
            <a:extLst xmlns:a="http://schemas.openxmlformats.org/drawingml/2006/main">
              <a:ext uri="{FF2B5EF4-FFF2-40B4-BE49-F238E27FC236}">
                <a16:creationId xmlns:a16="http://schemas.microsoft.com/office/drawing/2014/main" id="{A1F93817-D3A7-4504-A992-A26ABA17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38525"/>
            <a:ext cx="10706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改进：选可改善目标的非基变量入基，用最小比值确定出基变量。</a:t>
            </a:r>
          </a:p>
        </p:txBody>
      </p:sp>
      <p:sp>
        <p:nvSpPr>
          <p:cNvPr id="7" name="更新：用 Gauss–Jordan 消元换基；没有改善方向时，读">
            <a:extLst xmlns:a="http://schemas.openxmlformats.org/drawingml/2006/main">
              <a:ext uri="{FF2B5EF4-FFF2-40B4-BE49-F238E27FC236}">
                <a16:creationId xmlns:a16="http://schemas.microsoft.com/office/drawing/2014/main" id="{5559611D-5024-4640-B26E-AE9C115C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76725"/>
            <a:ext cx="10706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更新：用 Gauss–Jordan 消元换基；没有改善方向时，读出当前最优解。</a:t>
            </a:r>
          </a:p>
        </p:txBody>
      </p:sp>
      <p:sp>
        <p:nvSpPr>
          <p:cNvPr id="8" name="边界：无可行解、目标无界与数值异常必须分别报告。">
            <a:extLst xmlns:a="http://schemas.openxmlformats.org/drawingml/2006/main">
              <a:ext uri="{FF2B5EF4-FFF2-40B4-BE49-F238E27FC236}">
                <a16:creationId xmlns:a16="http://schemas.microsoft.com/office/drawing/2014/main" id="{D9F4D0F5-3AB1-4911-BA04-C4D42A73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14925"/>
            <a:ext cx="10706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边界：无可行解、目标无界与数值异常必须分别报告。</a:t>
            </a:r>
          </a:p>
        </p:txBody>
      </p:sp>
    </p:spTree>
    <p:extLst>
      <p:ext uri="{BB962C8B-B14F-4D97-AF65-F5344CB8AC3E}">
        <p14:creationId xmlns:p14="http://schemas.microsoft.com/office/powerpoint/2010/main" val="8265758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71AD61-49DD-494B-AE1C-5633C0566B45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3714750" y="4238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D43C57-F45A-4C3D-A821-2530CED02A11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7524750" y="4238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5F264E-5C17-4B97-BF6F-DA21181CE81F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858375" y="2714625"/>
            <a:ext cx="0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EC6537-4970-491E-BC56-FACF4C77659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24750" y="2357438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78EFCA-BBCF-481A-A11C-E3DB5DDE961A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714750" y="2357438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sp>
        <p:nvSpPr>
          <p:cNvPr id="20" name="单纯形法活动流程">
            <a:extLst xmlns:a="http://schemas.openxmlformats.org/drawingml/2006/main">
              <a:ext uri="{FF2B5EF4-FFF2-40B4-BE49-F238E27FC236}">
                <a16:creationId xmlns:a16="http://schemas.microsoft.com/office/drawing/2014/main" id="{A0585301-E9F6-4462-88C5-8333B2DB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单纯形法活动流程</a:t>
            </a:r>
          </a:p>
        </p:txBody>
      </p:sp>
      <p:sp>
        <p:nvSpPr>
          <p:cNvPr id="2" name="方法：把数学步骤转化为控制流程；成果：算法活动模型">
            <a:extLst xmlns:a="http://schemas.openxmlformats.org/drawingml/2006/main">
              <a:ext uri="{FF2B5EF4-FFF2-40B4-BE49-F238E27FC236}">
                <a16:creationId xmlns:a16="http://schemas.microsoft.com/office/drawing/2014/main" id="{CBED0AE6-9498-4B8D-A71E-A44493AE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方法：把数学步骤转化为控制流程；成果：算法活动模型</a:t>
            </a:r>
          </a:p>
        </p:txBody>
      </p:sp>
      <p:sp>
        <p:nvSpPr>
          <p:cNvPr id="3" name="12  /  易行 LP">
            <a:extLst xmlns:a="http://schemas.openxmlformats.org/drawingml/2006/main">
              <a:ext uri="{FF2B5EF4-FFF2-40B4-BE49-F238E27FC236}">
                <a16:creationId xmlns:a16="http://schemas.microsoft.com/office/drawing/2014/main" id="{AF80356C-F44D-4456-9EDC-B79EB862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12  /  易行 LP</a:t>
            </a:r>
          </a:p>
        </p:txBody>
      </p:sp>
      <p:sp>
        <p:nvSpPr>
          <p:cNvPr id="4" name="校验与标准化">
            <a:extLst xmlns:a="http://schemas.openxmlformats.org/drawingml/2006/main">
              <a:ext uri="{FF2B5EF4-FFF2-40B4-BE49-F238E27FC236}">
                <a16:creationId xmlns:a16="http://schemas.microsoft.com/office/drawing/2014/main" id="{CCCA37BD-988B-4763-B3C9-30864AEC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95275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校验与标准化</a:t>
            </a:r>
          </a:p>
        </p:txBody>
      </p:sp>
      <p:sp>
        <p:nvSpPr>
          <p:cNvPr id="5" name="建立单纯形表">
            <a:extLst xmlns:a="http://schemas.openxmlformats.org/drawingml/2006/main">
              <a:ext uri="{FF2B5EF4-FFF2-40B4-BE49-F238E27FC236}">
                <a16:creationId xmlns:a16="http://schemas.microsoft.com/office/drawing/2014/main" id="{03342E49-041B-4B3A-94FB-4A4B51C4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295275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建立单纯形表</a:t>
            </a:r>
          </a:p>
        </p:txBody>
      </p:sp>
      <p:sp>
        <p:nvSpPr>
          <p:cNvPr id="6" name="阶段一：寻找可行基&#10;已有可行基则跳过">
            <a:extLst xmlns:a="http://schemas.openxmlformats.org/drawingml/2006/main">
              <a:ext uri="{FF2B5EF4-FFF2-40B4-BE49-F238E27FC236}">
                <a16:creationId xmlns:a16="http://schemas.microsoft.com/office/drawing/2014/main" id="{C9E0B226-5637-476F-BF92-547A4B9E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295275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阶段一：寻找可行基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已有可行基则跳过</a:t>
            </a:r>
          </a:p>
        </p:txBody>
      </p:sp>
      <p:sp>
        <p:nvSpPr>
          <p:cNvPr id="7" name="换基并记录表格&#10;返回入基选择继续判断">
            <a:extLst xmlns:a="http://schemas.openxmlformats.org/drawingml/2006/main">
              <a:ext uri="{FF2B5EF4-FFF2-40B4-BE49-F238E27FC236}">
                <a16:creationId xmlns:a16="http://schemas.microsoft.com/office/drawing/2014/main" id="{E3578996-CA1B-4260-8A37-472F3375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952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换基并记录表格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返回入基选择继续判断</a:t>
            </a:r>
          </a:p>
        </p:txBody>
      </p:sp>
      <p:sp>
        <p:nvSpPr>
          <p:cNvPr id="8" name="最小比值选出基变量&#10;无正系数则目标无界">
            <a:extLst xmlns:a="http://schemas.openxmlformats.org/drawingml/2006/main">
              <a:ext uri="{FF2B5EF4-FFF2-40B4-BE49-F238E27FC236}">
                <a16:creationId xmlns:a16="http://schemas.microsoft.com/office/drawing/2014/main" id="{E32CD41B-7AB9-43DB-BEBE-D1614C0B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10000"/>
            <a:ext cx="2952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最小比值选出基变量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无正系数则目标无界</a:t>
            </a:r>
          </a:p>
        </p:txBody>
      </p:sp>
      <p:sp>
        <p:nvSpPr>
          <p:cNvPr id="9" name="阶段二：选择入基变量&#10;无改善变量则最优">
            <a:extLst xmlns:a="http://schemas.openxmlformats.org/drawingml/2006/main">
              <a:ext uri="{FF2B5EF4-FFF2-40B4-BE49-F238E27FC236}">
                <a16:creationId xmlns:a16="http://schemas.microsoft.com/office/drawing/2014/main" id="{6BE15707-7BF9-4900-B4C4-2E561DE5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10000"/>
            <a:ext cx="2952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阶段二：选择入基变量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无改善变量则最优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7761F9-62E5-4C1A-A99C-0CEC96B73824}"/>
              </a:ext>
            </a:extLst>
          </p:cNvPr>
          <p:cNvCxnSpPr/>
          <p:nvPr/>
        </p:nvCxnSpPr>
        <p:spPr>
          <a:xfrm xmlns:a="http://schemas.openxmlformats.org/drawingml/2006/main">
            <a:off x="2238375" y="466725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5AEEBA-8223-4C45-A3CF-7078D1639489}"/>
              </a:ext>
            </a:extLst>
          </p:cNvPr>
          <p:cNvCxnSpPr/>
          <p:nvPr/>
        </p:nvCxnSpPr>
        <p:spPr>
          <a:xfrm xmlns:a="http://schemas.openxmlformats.org/drawingml/2006/main">
            <a:off x="2238375" y="4953000"/>
            <a:ext cx="7620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6D6155-5388-42FA-84F5-FE325AB19594}"/>
              </a:ext>
            </a:extLst>
          </p:cNvPr>
          <p:cNvCxnSpPr/>
          <p:nvPr/>
        </p:nvCxnSpPr>
        <p:spPr>
          <a:xfrm xmlns:a="http://schemas.openxmlformats.org/drawingml/2006/main">
            <a:off x="9858375" y="466725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  <a:headEnd type="triangle" w="sm" len="sm"/>
          </a:ln>
        </p:spPr>
      </p:cxnSp>
      <p:sp>
        <p:nvSpPr>
          <p:cNvPr id="18" name="阶段一结束辅助目标仍非零：无可行解。换基达到 2000 次：返回">
            <a:extLst xmlns:a="http://schemas.openxmlformats.org/drawingml/2006/main">
              <a:ext uri="{FF2B5EF4-FFF2-40B4-BE49-F238E27FC236}">
                <a16:creationId xmlns:a16="http://schemas.microsoft.com/office/drawing/2014/main" id="{D62CB027-8499-45D4-A56D-D056DF16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阶段一结束辅助目标仍非零：无可行解。换基达到 2000 次：返回“迭代上限”。</a:t>
            </a:r>
          </a:p>
        </p:txBody>
      </p:sp>
      <p:sp>
        <p:nvSpPr>
          <p:cNvPr id="19" name="实现按阶段二“选入基 → 选出基 → 换基 → 再判断”的循环执">
            <a:extLst xmlns:a="http://schemas.openxmlformats.org/drawingml/2006/main">
              <a:ext uri="{FF2B5EF4-FFF2-40B4-BE49-F238E27FC236}">
                <a16:creationId xmlns:a16="http://schemas.microsoft.com/office/drawing/2014/main" id="{985ADD0B-AB50-4E4F-A0C9-61130CA8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实现按阶段二“选入基 → 选出基 → 换基 → 再判断”的循环执行。</a:t>
            </a:r>
          </a:p>
        </p:txBody>
      </p:sp>
    </p:spTree>
    <p:extLst>
      <p:ext uri="{BB962C8B-B14F-4D97-AF65-F5344CB8AC3E}">
        <p14:creationId xmlns:p14="http://schemas.microsoft.com/office/powerpoint/2010/main" val="10755813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计算练习：Tanner 的两次换基">
            <a:extLst xmlns:a="http://schemas.openxmlformats.org/drawingml/2006/main">
              <a:ext uri="{FF2B5EF4-FFF2-40B4-BE49-F238E27FC236}">
                <a16:creationId xmlns:a16="http://schemas.microsoft.com/office/drawing/2014/main" id="{304046CF-80D1-4BE1-B555-84E734F9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计算练习：Tanner 的两次换基</a:t>
            </a:r>
          </a:p>
        </p:txBody>
      </p:sp>
      <p:sp>
        <p:nvSpPr>
          <p:cNvPr id="2" name="成果：把表格运算与具体的业务结果联系起来">
            <a:extLst xmlns:a="http://schemas.openxmlformats.org/drawingml/2006/main">
              <a:ext uri="{FF2B5EF4-FFF2-40B4-BE49-F238E27FC236}">
                <a16:creationId xmlns:a16="http://schemas.microsoft.com/office/drawing/2014/main" id="{B568C822-5579-4AEE-B3C2-6A2340A0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成果：把表格运算与具体的业务结果联系起来</a:t>
            </a:r>
          </a:p>
        </p:txBody>
      </p:sp>
      <p:sp>
        <p:nvSpPr>
          <p:cNvPr id="3" name="13  /  易行 LP">
            <a:extLst xmlns:a="http://schemas.openxmlformats.org/drawingml/2006/main">
              <a:ext uri="{FF2B5EF4-FFF2-40B4-BE49-F238E27FC236}">
                <a16:creationId xmlns:a16="http://schemas.microsoft.com/office/drawing/2014/main" id="{350A386B-630A-4F25-952B-3A0EB5AF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13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19D95E-CD84-4786-958F-EF7179475DAB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857500"/>
                <a:gridCol w="5867400"/>
              </a:tblGrid>
              <a:tr h="7810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步骤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入基 / 出基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结果与原因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初始可行解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基为 s1、s2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x1=x2=0，z=0；资源尚未使用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第1次换基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x1 入基，s2 出基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最小比值1000；x1=1000，z=3000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第2次换基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x2 入基，s1 出基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剩余A约束限制 x2=1000；同时 x1 增至2000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最优检查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没有可改善目标的非基变量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z=3×2000−2.5×1000=3500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  <p:sp>
        <p:nvSpPr>
          <p:cNvPr id="5" name="Bland 规则：按编号选择可改善变量；最小比值相同时按基变量编">
            <a:extLst xmlns:a="http://schemas.openxmlformats.org/drawingml/2006/main">
              <a:ext uri="{FF2B5EF4-FFF2-40B4-BE49-F238E27FC236}">
                <a16:creationId xmlns:a16="http://schemas.microsoft.com/office/drawing/2014/main" id="{04949356-BF78-4D3D-9086-C6402E4F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65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65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65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65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65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65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65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65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65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Bland 规则：按编号选择可改善变量；最小比值相同时按基变量编号选择。</a:t>
            </a:r>
          </a:p>
        </p:txBody>
      </p:sp>
    </p:spTree>
    <p:extLst>
      <p:ext uri="{BB962C8B-B14F-4D97-AF65-F5344CB8AC3E}">
        <p14:creationId xmlns:p14="http://schemas.microsoft.com/office/powerpoint/2010/main" val="12062052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6、Q7：部署方式与业务范围">
            <a:extLst xmlns:a="http://schemas.openxmlformats.org/drawingml/2006/main">
              <a:ext uri="{FF2B5EF4-FFF2-40B4-BE49-F238E27FC236}">
                <a16:creationId xmlns:a16="http://schemas.microsoft.com/office/drawing/2014/main" id="{65DC9505-1325-4DEE-9202-07DD2A6C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Q6、Q7：部署方式与业务范围</a:t>
            </a:r>
          </a:p>
        </p:txBody>
      </p:sp>
      <p:sp>
        <p:nvSpPr>
          <p:cNvPr id="2" name="成果：写清当前部署选择及其假设，保留扩展边界">
            <a:extLst xmlns:a="http://schemas.openxmlformats.org/drawingml/2006/main">
              <a:ext uri="{FF2B5EF4-FFF2-40B4-BE49-F238E27FC236}">
                <a16:creationId xmlns:a16="http://schemas.microsoft.com/office/drawing/2014/main" id="{29736676-057B-486F-8C46-5A0E6B72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成果：写清当前部署选择及其假设，保留扩展边界</a:t>
            </a:r>
          </a:p>
        </p:txBody>
      </p:sp>
      <p:sp>
        <p:nvSpPr>
          <p:cNvPr id="3" name="14  /  易行 LP">
            <a:extLst xmlns:a="http://schemas.openxmlformats.org/drawingml/2006/main">
              <a:ext uri="{FF2B5EF4-FFF2-40B4-BE49-F238E27FC236}">
                <a16:creationId xmlns:a16="http://schemas.microsoft.com/office/drawing/2014/main" id="{5CDC2CB6-C614-4BA6-B6C1-BEDAB898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14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5C00CC-1D91-4696-A417-75660F0EDA64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4095750"/>
                <a:gridCol w="3962400"/>
              </a:tblGrid>
              <a:tr h="8763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问题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我的当前选择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待确认 / 后续影响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Q6 基础设施如何部署？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单机浏览器运行，本地文件导入导出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若要求多人共享，再增加服务端、权限和存储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Q7 是否只做一种业务？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目前只支持连续线性规划；算法与界面解耦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如需其他运筹业务，新增模型与求解服务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为什么这样选择？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现有故事只有两位咨询人员，课程先验证核心流程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该选择是设计假设，不是访谈结论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部署成果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静态 HTML / CSS / JS，无账号、无后端依赖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不宣称已部署公网服务或实现多人协作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929024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系统陈述与用户使用故事">
            <a:extLst xmlns:a="http://schemas.openxmlformats.org/drawingml/2006/main">
              <a:ext uri="{FF2B5EF4-FFF2-40B4-BE49-F238E27FC236}">
                <a16:creationId xmlns:a16="http://schemas.microsoft.com/office/drawing/2014/main" id="{7D58A450-9EAC-4F8D-A27A-8D60AC85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系统陈述与用户使用故事</a:t>
            </a:r>
          </a:p>
        </p:txBody>
      </p:sp>
      <p:sp>
        <p:nvSpPr>
          <p:cNvPr id="2" name="成果：把软件目标、用户情境和成功条件写成需求">
            <a:extLst xmlns:a="http://schemas.openxmlformats.org/drawingml/2006/main">
              <a:ext uri="{FF2B5EF4-FFF2-40B4-BE49-F238E27FC236}">
                <a16:creationId xmlns:a16="http://schemas.microsoft.com/office/drawing/2014/main" id="{6D243C97-1A9F-4393-8BEF-FE093E88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成果：把软件目标、用户情境和成功条件写成需求</a:t>
            </a:r>
          </a:p>
        </p:txBody>
      </p:sp>
      <p:sp>
        <p:nvSpPr>
          <p:cNvPr id="3" name="15  /  易行 LP">
            <a:extLst xmlns:a="http://schemas.openxmlformats.org/drawingml/2006/main">
              <a:ext uri="{FF2B5EF4-FFF2-40B4-BE49-F238E27FC236}">
                <a16:creationId xmlns:a16="http://schemas.microsoft.com/office/drawing/2014/main" id="{5F0C06F8-4336-4CB2-A979-A8A87AD5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15  /  易行 LP</a:t>
            </a:r>
          </a:p>
        </p:txBody>
      </p:sp>
      <p:sp>
        <p:nvSpPr>
          <p:cNvPr id="4" name="系统陈述">
            <a:extLst xmlns:a="http://schemas.openxmlformats.org/drawingml/2006/main">
              <a:ext uri="{FF2B5EF4-FFF2-40B4-BE49-F238E27FC236}">
                <a16:creationId xmlns:a16="http://schemas.microsoft.com/office/drawing/2014/main" id="{F3952561-9215-4603-9802-1A26640F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rPr>
              <a:t>系统陈述</a:t>
            </a:r>
          </a:p>
        </p:txBody>
      </p:sp>
      <p:sp>
        <p:nvSpPr>
          <p:cNvPr id="5" name="我设计的易行 LP 面向运筹咨询研究人员，辅助将已理解的业务问题">
            <a:extLst xmlns:a="http://schemas.openxmlformats.org/drawingml/2006/main">
              <a:ext uri="{FF2B5EF4-FFF2-40B4-BE49-F238E27FC236}">
                <a16:creationId xmlns:a16="http://schemas.microsoft.com/office/drawing/2014/main" id="{58E2ABEA-49F9-49DE-B1E7-02C37115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我设计的易行 LP 面向运筹咨询研究人员，辅助将已理解的业务问题转成非负连续线性规划模型，完成求解、模型复核与规划方案输出。</a:t>
            </a:r>
          </a:p>
        </p:txBody>
      </p:sp>
      <p:sp>
        <p:nvSpPr>
          <p:cNvPr id="6" name="使用故事 1：初次规划">
            <a:extLst xmlns:a="http://schemas.openxmlformats.org/drawingml/2006/main">
              <a:ext uri="{FF2B5EF4-FFF2-40B4-BE49-F238E27FC236}">
                <a16:creationId xmlns:a16="http://schemas.microsoft.com/office/drawing/2014/main" id="{326EA2A3-29D9-440C-A6BF-3417B84B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rPr>
              <a:t>使用故事 1：初次规划</a:t>
            </a:r>
          </a:p>
        </p:txBody>
      </p:sp>
      <p:sp>
        <p:nvSpPr>
          <p:cNvPr id="7" name="老张录入 Tanner 问题与资源数据，借助活动—资源表生成模型">
            <a:extLst xmlns:a="http://schemas.openxmlformats.org/drawingml/2006/main">
              <a:ext uri="{FF2B5EF4-FFF2-40B4-BE49-F238E27FC236}">
                <a16:creationId xmlns:a16="http://schemas.microsoft.com/office/drawing/2014/main" id="{923FF54E-D358-434E-A545-15B7511E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老张录入 Tanner 问题与资源数据，借助活动—资源表生成模型；小明核对公式后发起计算，得到带业务名称的规划方案。</a:t>
            </a:r>
          </a:p>
        </p:txBody>
      </p:sp>
      <p:sp>
        <p:nvSpPr>
          <p:cNvPr id="8" name="使用故事 2：审核后修订">
            <a:extLst xmlns:a="http://schemas.openxmlformats.org/drawingml/2006/main">
              <a:ext uri="{FF2B5EF4-FFF2-40B4-BE49-F238E27FC236}">
                <a16:creationId xmlns:a16="http://schemas.microsoft.com/office/drawing/2014/main" id="{981EC4EB-38EC-4883-8888-F3214E1A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rPr>
              <a:t>使用故事 2：审核后修订</a:t>
            </a:r>
          </a:p>
        </p:txBody>
      </p:sp>
      <p:sp>
        <p:nvSpPr>
          <p:cNvPr id="9" name="老张发现漏掉销量上限后补充约束，软件使旧模型失效；重新建模和计算">
            <a:extLst xmlns:a="http://schemas.openxmlformats.org/drawingml/2006/main">
              <a:ext uri="{FF2B5EF4-FFF2-40B4-BE49-F238E27FC236}">
                <a16:creationId xmlns:a16="http://schemas.microsoft.com/office/drawing/2014/main" id="{4B68E74B-DFE1-4EDF-B35F-DF909D32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老张发现漏掉销量上限后补充约束，软件使旧模型失效；重新建模和计算后，研究人员检查新方案是否符合这些限制。</a:t>
            </a:r>
          </a:p>
        </p:txBody>
      </p:sp>
    </p:spTree>
    <p:extLst>
      <p:ext uri="{BB962C8B-B14F-4D97-AF65-F5344CB8AC3E}">
        <p14:creationId xmlns:p14="http://schemas.microsoft.com/office/powerpoint/2010/main" val="68198817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功能性需求基线">
            <a:extLst xmlns:a="http://schemas.openxmlformats.org/drawingml/2006/main">
              <a:ext uri="{FF2B5EF4-FFF2-40B4-BE49-F238E27FC236}">
                <a16:creationId xmlns:a16="http://schemas.microsoft.com/office/drawing/2014/main" id="{17B5B092-8D5F-4522-8EF9-039CE89F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功能性需求基线</a:t>
            </a:r>
          </a:p>
        </p:txBody>
      </p:sp>
      <p:sp>
        <p:nvSpPr>
          <p:cNvPr id="2" name="成果：把材料和设计选择编号，便于追踪">
            <a:extLst xmlns:a="http://schemas.openxmlformats.org/drawingml/2006/main">
              <a:ext uri="{FF2B5EF4-FFF2-40B4-BE49-F238E27FC236}">
                <a16:creationId xmlns:a16="http://schemas.microsoft.com/office/drawing/2014/main" id="{0A83AA92-90C1-4A49-A03A-C82004E6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成果：把材料和设计选择编号，便于追踪</a:t>
            </a:r>
          </a:p>
        </p:txBody>
      </p:sp>
      <p:sp>
        <p:nvSpPr>
          <p:cNvPr id="3" name="16  /  易行 LP">
            <a:extLst xmlns:a="http://schemas.openxmlformats.org/drawingml/2006/main">
              <a:ext uri="{FF2B5EF4-FFF2-40B4-BE49-F238E27FC236}">
                <a16:creationId xmlns:a16="http://schemas.microsoft.com/office/drawing/2014/main" id="{FC43D06F-51C0-4421-BF6F-CF1C31EB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16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15B44-3538-4443-A136-F1EC04EDBA7F}"/>
              </a:ext>
            </a:extLst>
          </p:cNvPr>
          <p:cNvGraphicFramePr/>
          <p:nvPr/>
        </p:nvGraphicFramePr>
        <p:xfrm>
          <a:off xmlns:a="http://schemas.openxmlformats.org/drawingml/2006/main" x="685800" y="1695450"/>
          <a:ext xmlns:a="http://schemas.openxmlformats.org/drawingml/2006/main" cx="1082040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7143750"/>
                <a:gridCol w="2628900"/>
              </a:tblGrid>
              <a:tr h="642257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编号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功能与验收条件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依据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F01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导入 TXT 问题陈述，允许继续编辑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原型“导入”；格式为我的假设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F02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编辑目标、活动、资源、系数和关系；增删时矩阵维数一致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教师原型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F03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点击建模生成公式；非法输入给出提示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原型建模；校验为设计细化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F04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点击计算显示目标值、变量值和资源余量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原型规划方案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F05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修改输入后必须重新建模才能计算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故事反复建模；设计细化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F06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查看迭代记录、导入导出完整项目与计算记录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可检查性与复用扩展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95116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非功能性需求与可用性">
            <a:extLst xmlns:a="http://schemas.openxmlformats.org/drawingml/2006/main">
              <a:ext uri="{FF2B5EF4-FFF2-40B4-BE49-F238E27FC236}">
                <a16:creationId xmlns:a16="http://schemas.microsoft.com/office/drawing/2014/main" id="{77A7B170-366E-4C61-99B9-C73A8CBE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非功能性需求与可用性</a:t>
            </a:r>
          </a:p>
        </p:txBody>
      </p:sp>
      <p:sp>
        <p:nvSpPr>
          <p:cNvPr id="2" name="成果：提出可检查的质量要求；数值门槛属于我的设计假设">
            <a:extLst xmlns:a="http://schemas.openxmlformats.org/drawingml/2006/main">
              <a:ext uri="{FF2B5EF4-FFF2-40B4-BE49-F238E27FC236}">
                <a16:creationId xmlns:a16="http://schemas.microsoft.com/office/drawing/2014/main" id="{4BA7CA4C-DFA0-4B92-8A41-D6E9BF29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成果：提出可检查的质量要求；数值门槛属于我的设计假设</a:t>
            </a:r>
          </a:p>
        </p:txBody>
      </p:sp>
      <p:sp>
        <p:nvSpPr>
          <p:cNvPr id="3" name="17  /  易行 LP">
            <a:extLst xmlns:a="http://schemas.openxmlformats.org/drawingml/2006/main">
              <a:ext uri="{FF2B5EF4-FFF2-40B4-BE49-F238E27FC236}">
                <a16:creationId xmlns:a16="http://schemas.microsoft.com/office/drawing/2014/main" id="{0FEDD42A-5F41-4EC9-B260-20B49753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17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86044E-D3F8-45E2-8E41-88B39345DF32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857750"/>
                <a:gridCol w="4152900"/>
              </a:tblGrid>
              <a:tr h="7381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编号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要求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验证方法 / 当前边界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N01 可检查性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输出与原模型一起保存；最优结果代回约束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检查计算记录与约束余量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N02 易用性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变量使用业务名称；错误能定位；900px宽度可操作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浏览器检查关键流程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N03 可移植性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静态文件本地运行，不依赖账号与外部接口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离线文件包与浏览器启动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N04 有界运行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1～20变量，1～40原始约束；最多2000次换基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尺寸与迭代上限校验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N05 数值处理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有限数输入，绝对值≤10⁹；EPS=10⁻⁹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边界校验、结果容差检查；不保证病态模型精度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527896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DE0235-03F1-4EE5-B569-BEA929703296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9" idx="2"/>
          </p:cNvCxnSpPr>
          <p:nvPr/>
        </p:nvCxnSpPr>
        <p:spPr>
          <a:xfrm xmlns:a="http://schemas.openxmlformats.org/drawingml/2006/main">
            <a:off x="2876550" y="3571875"/>
            <a:ext cx="1504950" cy="1166813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1B8416-9933-434D-A593-E2CF490080A8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2876550" y="3571875"/>
            <a:ext cx="1504950" cy="214313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476FFF-7D35-4CFB-9D6E-CC4192971F9C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2876550" y="2833688"/>
            <a:ext cx="1504950" cy="738188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</a:ln>
        </p:spPr>
      </p:cxnSp>
      <p:sp>
        <p:nvSpPr>
          <p:cNvPr id="14" name="第 3 步：软件分析">
            <a:extLst xmlns:a="http://schemas.openxmlformats.org/drawingml/2006/main">
              <a:ext uri="{FF2B5EF4-FFF2-40B4-BE49-F238E27FC236}">
                <a16:creationId xmlns:a16="http://schemas.microsoft.com/office/drawing/2014/main" id="{2ACBCE2C-F159-4E0C-8CF1-CC84E8A8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第 3 步：软件分析</a:t>
            </a:r>
          </a:p>
        </p:txBody>
      </p:sp>
      <p:sp>
        <p:nvSpPr>
          <p:cNvPr id="2" name="方法：从用户目标识别用例；成果：系统用例视图">
            <a:extLst xmlns:a="http://schemas.openxmlformats.org/drawingml/2006/main">
              <a:ext uri="{FF2B5EF4-FFF2-40B4-BE49-F238E27FC236}">
                <a16:creationId xmlns:a16="http://schemas.microsoft.com/office/drawing/2014/main" id="{166FD83A-6729-436F-B7CE-BD1926E0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方法：从用户目标识别用例；成果：系统用例视图</a:t>
            </a:r>
          </a:p>
        </p:txBody>
      </p:sp>
      <p:sp>
        <p:nvSpPr>
          <p:cNvPr id="3" name="18  /  易行 LP">
            <a:extLst xmlns:a="http://schemas.openxmlformats.org/drawingml/2006/main">
              <a:ext uri="{FF2B5EF4-FFF2-40B4-BE49-F238E27FC236}">
                <a16:creationId xmlns:a16="http://schemas.microsoft.com/office/drawing/2014/main" id="{0EE687A0-4971-4A22-9322-DA24B9C6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18  /  易行 LP</a:t>
            </a:r>
          </a:p>
        </p:txBody>
      </p:sp>
      <p:sp>
        <p:nvSpPr>
          <p:cNvPr id="4" name="老张 / 小明&#10;运筹学研究人员">
            <a:extLst xmlns:a="http://schemas.openxmlformats.org/drawingml/2006/main">
              <a:ext uri="{FF2B5EF4-FFF2-40B4-BE49-F238E27FC236}">
                <a16:creationId xmlns:a16="http://schemas.microsoft.com/office/drawing/2014/main" id="{AABBF71B-87CD-4808-9A6E-95681BEE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190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老张 / 小明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运筹学研究人员</a:t>
            </a:r>
          </a:p>
        </p:txBody>
      </p:sp>
      <p:sp>
        <p:nvSpPr>
          <p:cNvPr id="5" name="易行LP系统边界">
            <a:extLst xmlns:a="http://schemas.openxmlformats.org/drawingml/2006/main">
              <a:ext uri="{FF2B5EF4-FFF2-40B4-BE49-F238E27FC236}">
                <a16:creationId xmlns:a16="http://schemas.microsoft.com/office/drawing/2014/main" id="{AD42F1A1-4EF6-4336-99CC-A845738B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7810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6CBB9"/>
            </a:solidFill>
          </a:ln>
        </p:spPr>
      </p:sp>
      <p:sp>
        <p:nvSpPr>
          <p:cNvPr id="6" name="易行 LP 系统边界">
            <a:extLst xmlns:a="http://schemas.openxmlformats.org/drawingml/2006/main">
              <a:ext uri="{FF2B5EF4-FFF2-40B4-BE49-F238E27FC236}">
                <a16:creationId xmlns:a16="http://schemas.microsoft.com/office/drawing/2014/main" id="{D8CEAF13-E2D8-4202-9F90-218F4CAE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857375"/>
            <a:ext cx="685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rPr>
              <a:t>易行 LP 系统边界</a:t>
            </a:r>
          </a:p>
        </p:txBody>
      </p:sp>
      <p:sp>
        <p:nvSpPr>
          <p:cNvPr id="7" name="UC01 维护业务问题与模型">
            <a:extLst xmlns:a="http://schemas.openxmlformats.org/drawingml/2006/main">
              <a:ext uri="{FF2B5EF4-FFF2-40B4-BE49-F238E27FC236}">
                <a16:creationId xmlns:a16="http://schemas.microsoft.com/office/drawing/2014/main" id="{6FDF03DF-274B-40EC-9187-D61B86EC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24125"/>
            <a:ext cx="6096000" cy="61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UC01 维护业务问题与模型</a:t>
            </a:r>
          </a:p>
        </p:txBody>
      </p:sp>
      <p:sp>
        <p:nvSpPr>
          <p:cNvPr id="8" name="UC02 求解并查看规划方案">
            <a:extLst xmlns:a="http://schemas.openxmlformats.org/drawingml/2006/main">
              <a:ext uri="{FF2B5EF4-FFF2-40B4-BE49-F238E27FC236}">
                <a16:creationId xmlns:a16="http://schemas.microsoft.com/office/drawing/2014/main" id="{C72959C8-8202-43EE-BA17-A73E5229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76625"/>
            <a:ext cx="6096000" cy="61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UC02 求解并查看规划方案</a:t>
            </a:r>
          </a:p>
        </p:txBody>
      </p:sp>
      <p:sp>
        <p:nvSpPr>
          <p:cNvPr id="9" name="UC03 保存与重新载入项目">
            <a:extLst xmlns:a="http://schemas.openxmlformats.org/drawingml/2006/main">
              <a:ext uri="{FF2B5EF4-FFF2-40B4-BE49-F238E27FC236}">
                <a16:creationId xmlns:a16="http://schemas.microsoft.com/office/drawing/2014/main" id="{1C7F8C25-00BF-4395-BA52-7C8833FD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29125"/>
            <a:ext cx="6096000" cy="61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UC03 保存与重新载入项目</a:t>
            </a:r>
          </a:p>
        </p:txBody>
      </p:sp>
      <p:sp>
        <p:nvSpPr>
          <p:cNvPr id="13" name="系统外：客户业务数据的真实性、模型假设的批准与最终经营决策。">
            <a:extLst xmlns:a="http://schemas.openxmlformats.org/drawingml/2006/main">
              <a:ext uri="{FF2B5EF4-FFF2-40B4-BE49-F238E27FC236}">
                <a16:creationId xmlns:a16="http://schemas.microsoft.com/office/drawing/2014/main" id="{00547062-9628-46AB-9807-A8C9AF19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531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系统外：客户业务数据的真实性、模型假设的批准与最终经营决策。</a:t>
            </a:r>
          </a:p>
        </p:txBody>
      </p:sp>
    </p:spTree>
    <p:extLst>
      <p:ext uri="{BB962C8B-B14F-4D97-AF65-F5344CB8AC3E}">
        <p14:creationId xmlns:p14="http://schemas.microsoft.com/office/powerpoint/2010/main" val="200866811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UC01：维护并生成数学模型">
            <a:extLst xmlns:a="http://schemas.openxmlformats.org/drawingml/2006/main">
              <a:ext uri="{FF2B5EF4-FFF2-40B4-BE49-F238E27FC236}">
                <a16:creationId xmlns:a16="http://schemas.microsoft.com/office/drawing/2014/main" id="{9CE88DB9-37DE-4646-A860-F33B1133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UC01：维护并生成数学模型</a:t>
            </a:r>
          </a:p>
        </p:txBody>
      </p:sp>
      <p:sp>
        <p:nvSpPr>
          <p:cNvPr id="2" name="成果：用正常流程与异常流程明确交互责任">
            <a:extLst xmlns:a="http://schemas.openxmlformats.org/drawingml/2006/main">
              <a:ext uri="{FF2B5EF4-FFF2-40B4-BE49-F238E27FC236}">
                <a16:creationId xmlns:a16="http://schemas.microsoft.com/office/drawing/2014/main" id="{2A4D6014-34E3-460F-A3ED-82B3D0C2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成果：用正常流程与异常流程明确交互责任</a:t>
            </a:r>
          </a:p>
        </p:txBody>
      </p:sp>
      <p:sp>
        <p:nvSpPr>
          <p:cNvPr id="3" name="19  /  易行 LP">
            <a:extLst xmlns:a="http://schemas.openxmlformats.org/drawingml/2006/main">
              <a:ext uri="{FF2B5EF4-FFF2-40B4-BE49-F238E27FC236}">
                <a16:creationId xmlns:a16="http://schemas.microsoft.com/office/drawing/2014/main" id="{31931908-3800-43F6-951C-ECE11520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19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BD0B9-9948-4260-AC14-5586D8AA1E8B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8724900"/>
              </a:tblGrid>
              <a:tr h="63953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项目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规约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前置条件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用户已打开工具，准备了问题陈述和相关业务参数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主要流程 1～2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导入或输入问题陈述；确定目标和活动，填写业务名称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主要流程 3～4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维护资源、关系和系数；点击“建模”，系统校验维数和数字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主要流程 5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系统生成公式；用户核对目标函数、约束和变量含义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异常流程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非法数字、缺失输入或严格不等式：提示错误，不允许求解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后置条件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已生成可计算模型；任何编辑均回到“需要重新建模”状态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638305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UC02：求解并查看规划方案">
            <a:extLst xmlns:a="http://schemas.openxmlformats.org/drawingml/2006/main">
              <a:ext uri="{FF2B5EF4-FFF2-40B4-BE49-F238E27FC236}">
                <a16:creationId xmlns:a16="http://schemas.microsoft.com/office/drawing/2014/main" id="{BC97293E-17B6-4ADF-A8EB-126FFECE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UC02：求解并查看规划方案</a:t>
            </a:r>
          </a:p>
        </p:txBody>
      </p:sp>
      <p:sp>
        <p:nvSpPr>
          <p:cNvPr id="2" name="成果：把成功、异常和重新计算的行为写清楚">
            <a:extLst xmlns:a="http://schemas.openxmlformats.org/drawingml/2006/main">
              <a:ext uri="{FF2B5EF4-FFF2-40B4-BE49-F238E27FC236}">
                <a16:creationId xmlns:a16="http://schemas.microsoft.com/office/drawing/2014/main" id="{4C75E7EC-2A31-4385-9E38-1D14E8A5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成果：把成功、异常和重新计算的行为写清楚</a:t>
            </a:r>
          </a:p>
        </p:txBody>
      </p:sp>
      <p:sp>
        <p:nvSpPr>
          <p:cNvPr id="3" name="20  /  易行 LP">
            <a:extLst xmlns:a="http://schemas.openxmlformats.org/drawingml/2006/main">
              <a:ext uri="{FF2B5EF4-FFF2-40B4-BE49-F238E27FC236}">
                <a16:creationId xmlns:a16="http://schemas.microsoft.com/office/drawing/2014/main" id="{E878CF71-3AF1-40D0-A690-5C8B6ED3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20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B61DE-4881-4E93-9BEE-0F31AD63DADC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8724900"/>
              </a:tblGrid>
              <a:tr h="7381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项目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规约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前置条件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当前输入已经成功建模，尚未被修改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主要流程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用户点击计算；系统执行两阶段单纯形法，记录每次换基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最优结果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代回原约束检查后，显示目标值、活动水平与资源余量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其他结果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分别显示无可行解、无界、迭代上限或数值异常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后续动作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查看迭代、导出记录、关闭方案；必要时修改模型后重新建模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027477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教师原型与我的界面理解">
            <a:extLst xmlns:a="http://schemas.openxmlformats.org/drawingml/2006/main">
              <a:ext uri="{FF2B5EF4-FFF2-40B4-BE49-F238E27FC236}">
                <a16:creationId xmlns:a16="http://schemas.microsoft.com/office/drawing/2014/main" id="{D0405EC5-93B2-4A97-A7BB-FAE04FAF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教师原型与我的界面理解</a:t>
            </a:r>
          </a:p>
        </p:txBody>
      </p:sp>
      <p:sp>
        <p:nvSpPr>
          <p:cNvPr id="2" name="成果：保留问题陈述、建模向导、数学模型和规划方案的逻辑分区">
            <a:extLst xmlns:a="http://schemas.openxmlformats.org/drawingml/2006/main">
              <a:ext uri="{FF2B5EF4-FFF2-40B4-BE49-F238E27FC236}">
                <a16:creationId xmlns:a16="http://schemas.microsoft.com/office/drawing/2014/main" id="{DD2DC42C-D672-4A9D-B805-D8DD12FD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成果：保留问题陈述、建模向导、数学模型和规划方案的逻辑分区</a:t>
            </a:r>
          </a:p>
        </p:txBody>
      </p:sp>
      <p:sp>
        <p:nvSpPr>
          <p:cNvPr id="3" name="21  /  易行 LP">
            <a:extLst xmlns:a="http://schemas.openxmlformats.org/drawingml/2006/main">
              <a:ext uri="{FF2B5EF4-FFF2-40B4-BE49-F238E27FC236}">
                <a16:creationId xmlns:a16="http://schemas.microsoft.com/office/drawing/2014/main" id="{FAAB7218-DA04-47E3-80C6-DD87606C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21  /  易行 LP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D82215-DCF2-4E43-AAD6-7B68B8E479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5571e77bc74434"/>
          <a:stretch xmlns:a="http://schemas.openxmlformats.org/drawingml/2006/main"/>
        </p:blipFill>
        <p:spPr>
          <a:xfrm xmlns:a="http://schemas.openxmlformats.org/drawingml/2006/main">
            <a:off x="2177390" y="1695450"/>
            <a:ext cx="7837219" cy="447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33865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界面成果：辅助建模工作区">
            <a:extLst xmlns:a="http://schemas.openxmlformats.org/drawingml/2006/main">
              <a:ext uri="{FF2B5EF4-FFF2-40B4-BE49-F238E27FC236}">
                <a16:creationId xmlns:a16="http://schemas.microsoft.com/office/drawing/2014/main" id="{1CDD219B-54F4-4EDB-9781-BAD1D5F0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界面成果：辅助建模工作区</a:t>
            </a:r>
          </a:p>
        </p:txBody>
      </p:sp>
      <p:sp>
        <p:nvSpPr>
          <p:cNvPr id="2" name="成果：结构化表格生成模型，保留业务名称和审核记录">
            <a:extLst xmlns:a="http://schemas.openxmlformats.org/drawingml/2006/main">
              <a:ext uri="{FF2B5EF4-FFF2-40B4-BE49-F238E27FC236}">
                <a16:creationId xmlns:a16="http://schemas.microsoft.com/office/drawing/2014/main" id="{68023E70-A1AA-40B1-B095-888F50E6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成果：结构化表格生成模型，保留业务名称和审核记录</a:t>
            </a:r>
          </a:p>
        </p:txBody>
      </p:sp>
      <p:sp>
        <p:nvSpPr>
          <p:cNvPr id="3" name="22  /  易行 LP">
            <a:extLst xmlns:a="http://schemas.openxmlformats.org/drawingml/2006/main">
              <a:ext uri="{FF2B5EF4-FFF2-40B4-BE49-F238E27FC236}">
                <a16:creationId xmlns:a16="http://schemas.microsoft.com/office/drawing/2014/main" id="{CB9ED729-C5C0-4A28-AB01-BF221091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22  /  易行 LP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F8259-A718-4727-A47F-65E5D47266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ae58a71f284630"/>
          <a:stretch xmlns:a="http://schemas.openxmlformats.org/drawingml/2006/main"/>
        </p:blipFill>
        <p:spPr>
          <a:xfrm xmlns:a="http://schemas.openxmlformats.org/drawingml/2006/main">
            <a:off x="4386385" y="1714500"/>
            <a:ext cx="6657731" cy="4476750"/>
          </a:xfrm>
          <a:prstGeom xmlns:a="http://schemas.openxmlformats.org/drawingml/2006/main" prst="rect">
            <a:avLst/>
          </a:prstGeom>
        </p:spPr>
      </p:pic>
      <p:sp>
        <p:nvSpPr>
          <p:cNvPr id="5" name="辅助建模工作区">
            <a:extLst xmlns:a="http://schemas.openxmlformats.org/drawingml/2006/main">
              <a:ext uri="{FF2B5EF4-FFF2-40B4-BE49-F238E27FC236}">
                <a16:creationId xmlns:a16="http://schemas.microsoft.com/office/drawing/2014/main" id="{637D4BCE-AC1B-480A-9EEA-DC740CF3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rPr>
              <a:t>辅助建模工作区</a:t>
            </a:r>
          </a:p>
        </p:txBody>
      </p:sp>
      <p:sp>
        <p:nvSpPr>
          <p:cNvPr id="6" name="选择目标方向&#10;&#10;维护活动与业务名称&#10;&#10;编辑资源、关系与系数&#10;&#10;点">
            <a:extLst xmlns:a="http://schemas.openxmlformats.org/drawingml/2006/main">
              <a:ext uri="{FF2B5EF4-FFF2-40B4-BE49-F238E27FC236}">
                <a16:creationId xmlns:a16="http://schemas.microsoft.com/office/drawing/2014/main" id="{1F186713-F1CD-49BB-A6FC-2F30B2EC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30003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选择目标方向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维护活动与业务名称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编辑资源、关系与系数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点击建模生成公式</a:t>
            </a:r>
          </a:p>
        </p:txBody>
      </p:sp>
    </p:spTree>
    <p:extLst>
      <p:ext uri="{BB962C8B-B14F-4D97-AF65-F5344CB8AC3E}">
        <p14:creationId xmlns:p14="http://schemas.microsoft.com/office/powerpoint/2010/main" val="161196403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FFC3A2-0169-4C9E-AE58-FE3CA915DBF6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048375" y="2952750"/>
            <a:ext cx="381000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97F260-E830-4934-B9F1-74FAD345F2C7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762375" y="4667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312338-5F2A-4CDD-80EC-071B6E177EC4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238375" y="2952750"/>
            <a:ext cx="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C42FF2-69AB-4FA8-8CD4-12712EF509B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72375" y="24765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2FEC2F-551E-455B-9858-B3F977A319A8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762375" y="24765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</a:ln>
        </p:spPr>
      </p:cxnSp>
      <p:sp>
        <p:nvSpPr>
          <p:cNvPr id="22" name="分析模型：领域对象与关系">
            <a:extLst xmlns:a="http://schemas.openxmlformats.org/drawingml/2006/main">
              <a:ext uri="{FF2B5EF4-FFF2-40B4-BE49-F238E27FC236}">
                <a16:creationId xmlns:a16="http://schemas.microsoft.com/office/drawing/2014/main" id="{0004BF36-980B-4814-9D34-C17CBFC8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分析模型：领域对象与关系</a:t>
            </a:r>
          </a:p>
        </p:txBody>
      </p:sp>
      <p:sp>
        <p:nvSpPr>
          <p:cNvPr id="2" name="成果：用归属关系和多重性表达业务概念">
            <a:extLst xmlns:a="http://schemas.openxmlformats.org/drawingml/2006/main">
              <a:ext uri="{FF2B5EF4-FFF2-40B4-BE49-F238E27FC236}">
                <a16:creationId xmlns:a16="http://schemas.microsoft.com/office/drawing/2014/main" id="{446A36C4-2E3A-49BC-B22B-FB34BF6E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成果：用归属关系和多重性表达业务概念</a:t>
            </a:r>
          </a:p>
        </p:txBody>
      </p:sp>
      <p:sp>
        <p:nvSpPr>
          <p:cNvPr id="3" name="23  /  易行 LP">
            <a:extLst xmlns:a="http://schemas.openxmlformats.org/drawingml/2006/main">
              <a:ext uri="{FF2B5EF4-FFF2-40B4-BE49-F238E27FC236}">
                <a16:creationId xmlns:a16="http://schemas.microsoft.com/office/drawing/2014/main" id="{A1F523CB-55BB-4259-BBAC-8B856114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23  /  易行 LP</a:t>
            </a:r>
          </a:p>
        </p:txBody>
      </p:sp>
      <p:sp>
        <p:nvSpPr>
          <p:cNvPr id="4" name="问题项目&#10;陈述、假设、业务名称">
            <a:extLst xmlns:a="http://schemas.openxmlformats.org/drawingml/2006/main">
              <a:ext uri="{FF2B5EF4-FFF2-40B4-BE49-F238E27FC236}">
                <a16:creationId xmlns:a16="http://schemas.microsoft.com/office/drawing/2014/main" id="{B11186C2-97F0-4562-AB82-74C67C45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3048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问题项目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陈述、假设、业务名称</a:t>
            </a:r>
          </a:p>
        </p:txBody>
      </p:sp>
      <p:sp>
        <p:nvSpPr>
          <p:cNvPr id="5" name="线性规划模型&#10;目标方向、目标系数">
            <a:extLst xmlns:a="http://schemas.openxmlformats.org/drawingml/2006/main">
              <a:ext uri="{FF2B5EF4-FFF2-40B4-BE49-F238E27FC236}">
                <a16:creationId xmlns:a16="http://schemas.microsoft.com/office/drawing/2014/main" id="{5B3A3A6A-766E-487F-B59A-09D16729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3048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线性规划模型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目标方向、目标系数</a:t>
            </a:r>
          </a:p>
        </p:txBody>
      </p:sp>
      <p:sp>
        <p:nvSpPr>
          <p:cNvPr id="6" name="竞争性活动&#10;名称、非负活动水平">
            <a:extLst xmlns:a="http://schemas.openxmlformats.org/drawingml/2006/main">
              <a:ext uri="{FF2B5EF4-FFF2-40B4-BE49-F238E27FC236}">
                <a16:creationId xmlns:a16="http://schemas.microsoft.com/office/drawing/2014/main" id="{8022B3C5-1DB9-4DC3-8FAD-3BFD4A30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00250"/>
            <a:ext cx="3048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竞争性活动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名称、非负活动水平</a:t>
            </a:r>
          </a:p>
        </p:txBody>
      </p:sp>
      <p:sp>
        <p:nvSpPr>
          <p:cNvPr id="7" name="当前计算结果&#10;状态、目标值、活动值">
            <a:extLst xmlns:a="http://schemas.openxmlformats.org/drawingml/2006/main">
              <a:ext uri="{FF2B5EF4-FFF2-40B4-BE49-F238E27FC236}">
                <a16:creationId xmlns:a16="http://schemas.microsoft.com/office/drawing/2014/main" id="{FAF77111-36A2-41BE-8BB2-4DF196F1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91000"/>
            <a:ext cx="3048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当前计算结果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状态、目标值、活动值</a:t>
            </a:r>
          </a:p>
        </p:txBody>
      </p:sp>
      <p:sp>
        <p:nvSpPr>
          <p:cNvPr id="8" name="迭代记录&#10;阶段、基变量、表格">
            <a:extLst xmlns:a="http://schemas.openxmlformats.org/drawingml/2006/main">
              <a:ext uri="{FF2B5EF4-FFF2-40B4-BE49-F238E27FC236}">
                <a16:creationId xmlns:a16="http://schemas.microsoft.com/office/drawing/2014/main" id="{E815E31B-DF8F-4CBF-8C11-6133718A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191000"/>
            <a:ext cx="3048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迭代记录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阶段、基变量、表格</a:t>
            </a:r>
          </a:p>
        </p:txBody>
      </p:sp>
      <p:sp>
        <p:nvSpPr>
          <p:cNvPr id="9" name="约束&#10;系数、关系、右端值">
            <a:extLst xmlns:a="http://schemas.openxmlformats.org/drawingml/2006/main">
              <a:ext uri="{FF2B5EF4-FFF2-40B4-BE49-F238E27FC236}">
                <a16:creationId xmlns:a16="http://schemas.microsoft.com/office/drawing/2014/main" id="{4E0E850A-B164-4E7E-A730-9D0F1116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191000"/>
            <a:ext cx="3048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约束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系数、关系、右端值</a:t>
            </a:r>
          </a:p>
        </p:txBody>
      </p:sp>
      <p:sp>
        <p:nvSpPr>
          <p:cNvPr id="15" name="1 : 1">
            <a:extLst xmlns:a="http://schemas.openxmlformats.org/drawingml/2006/main">
              <a:ext uri="{FF2B5EF4-FFF2-40B4-BE49-F238E27FC236}">
                <a16:creationId xmlns:a16="http://schemas.microsoft.com/office/drawing/2014/main" id="{1FF2A61C-9F1C-4823-85A5-B378B58D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1240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3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3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3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3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3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3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3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3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3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1 : 1</a:t>
            </a:r>
          </a:p>
        </p:txBody>
      </p:sp>
      <p:sp>
        <p:nvSpPr>
          <p:cNvPr id="16" name="1 : 1..20">
            <a:extLst xmlns:a="http://schemas.openxmlformats.org/drawingml/2006/main">
              <a:ext uri="{FF2B5EF4-FFF2-40B4-BE49-F238E27FC236}">
                <a16:creationId xmlns:a16="http://schemas.microsoft.com/office/drawing/2014/main" id="{01D98D7D-9E65-4B07-8A1B-4965B84F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1240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1 : 1..20</a:t>
            </a:r>
          </a:p>
        </p:txBody>
      </p:sp>
      <p:sp>
        <p:nvSpPr>
          <p:cNvPr id="17" name="1 : 0..1">
            <a:extLst xmlns:a="http://schemas.openxmlformats.org/drawingml/2006/main">
              <a:ext uri="{FF2B5EF4-FFF2-40B4-BE49-F238E27FC236}">
                <a16:creationId xmlns:a16="http://schemas.microsoft.com/office/drawing/2014/main" id="{EAF757CA-B84D-4061-BC7F-77707460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38137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1 : 0..1</a:t>
            </a:r>
          </a:p>
        </p:txBody>
      </p:sp>
      <p:sp>
        <p:nvSpPr>
          <p:cNvPr id="18" name="1 : 1..*">
            <a:extLst xmlns:a="http://schemas.openxmlformats.org/drawingml/2006/main">
              <a:ext uri="{FF2B5EF4-FFF2-40B4-BE49-F238E27FC236}">
                <a16:creationId xmlns:a16="http://schemas.microsoft.com/office/drawing/2014/main" id="{EEC2148B-E0EA-4ADF-93EA-99341EAF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9577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4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4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4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4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4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4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4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4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4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1 : 1..*</a:t>
            </a:r>
          </a:p>
        </p:txBody>
      </p:sp>
      <p:sp>
        <p:nvSpPr>
          <p:cNvPr id="19" name="1 : 1..40">
            <a:extLst xmlns:a="http://schemas.openxmlformats.org/drawingml/2006/main">
              <a:ext uri="{FF2B5EF4-FFF2-40B4-BE49-F238E27FC236}">
                <a16:creationId xmlns:a16="http://schemas.microsoft.com/office/drawing/2014/main" id="{6F6FE690-95B0-4A79-AF88-D7CBC792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4800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1 : 1..40</a:t>
            </a:r>
          </a:p>
        </p:txBody>
      </p:sp>
      <p:sp>
        <p:nvSpPr>
          <p:cNvPr id="20" name="不变式：目标系数数量 = 活动数量；每条约束的系数向量长度 = ">
            <a:extLst xmlns:a="http://schemas.openxmlformats.org/drawingml/2006/main">
              <a:ext uri="{FF2B5EF4-FFF2-40B4-BE49-F238E27FC236}">
                <a16:creationId xmlns:a16="http://schemas.microsoft.com/office/drawing/2014/main" id="{448E1D5D-78A6-4AA7-A4FC-926311EB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不变式：目标系数数量 = 活动数量；每条约束的系数向量长度 = 活动数量。</a:t>
            </a:r>
          </a:p>
        </p:txBody>
      </p:sp>
      <p:sp>
        <p:nvSpPr>
          <p:cNvPr id="21" name="计算记录保存原项目快照，保证结果可以追溯到当时的输入与假设。">
            <a:extLst xmlns:a="http://schemas.openxmlformats.org/drawingml/2006/main">
              <a:ext uri="{FF2B5EF4-FFF2-40B4-BE49-F238E27FC236}">
                <a16:creationId xmlns:a16="http://schemas.microsoft.com/office/drawing/2014/main" id="{B5F5118B-424D-499F-AD05-FCD04BA9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483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计算记录保存原项目快照，保证结果可以追溯到当时的输入与假设。</a:t>
            </a:r>
          </a:p>
        </p:txBody>
      </p:sp>
    </p:spTree>
    <p:extLst>
      <p:ext uri="{BB962C8B-B14F-4D97-AF65-F5344CB8AC3E}">
        <p14:creationId xmlns:p14="http://schemas.microsoft.com/office/powerpoint/2010/main" val="134788422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系统顺序模型：建模与求解">
            <a:extLst xmlns:a="http://schemas.openxmlformats.org/drawingml/2006/main">
              <a:ext uri="{FF2B5EF4-FFF2-40B4-BE49-F238E27FC236}">
                <a16:creationId xmlns:a16="http://schemas.microsoft.com/office/drawing/2014/main" id="{14CC680A-FC27-413B-AFD9-92FF014E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系统顺序模型：建模与求解</a:t>
            </a:r>
          </a:p>
        </p:txBody>
      </p:sp>
      <p:sp>
        <p:nvSpPr>
          <p:cNvPr id="2" name="成果：以参与者—系统交互确定输入、输出和责任边界">
            <a:extLst xmlns:a="http://schemas.openxmlformats.org/drawingml/2006/main">
              <a:ext uri="{FF2B5EF4-FFF2-40B4-BE49-F238E27FC236}">
                <a16:creationId xmlns:a16="http://schemas.microsoft.com/office/drawing/2014/main" id="{052DB185-1D67-4350-8C2A-8D86BCFA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成果：以参与者—系统交互确定输入、输出和责任边界</a:t>
            </a:r>
          </a:p>
        </p:txBody>
      </p:sp>
      <p:sp>
        <p:nvSpPr>
          <p:cNvPr id="3" name="24  /  易行 LP">
            <a:extLst xmlns:a="http://schemas.openxmlformats.org/drawingml/2006/main">
              <a:ext uri="{FF2B5EF4-FFF2-40B4-BE49-F238E27FC236}">
                <a16:creationId xmlns:a16="http://schemas.microsoft.com/office/drawing/2014/main" id="{2B08E988-A749-4EDC-B5D0-030375E9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24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17C6B0-C683-41F1-BBEB-E13C4E2E561D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4762500"/>
                <a:gridCol w="5105400"/>
              </a:tblGrid>
              <a:tr h="7381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顺序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参与者发起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系统响应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提交目标、活动、资源与系数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保存输入草稿；使旧模型失效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请求 buildModel()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校验输入；生成数学模型；允许计算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请求 solve()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执行算法；校验最优结果；生成结果对象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请求 showPlan() / exportResult()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展示方案、原模型与迭代记录，或导出 JSON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5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修改约束并再次请求 buildModel()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废弃旧计算上下文；从新模型重新计算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513052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8DCFD2-26B9-4505-AA08-F81DA2FAAD47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6096000" y="3048000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B51B86-02B0-4B62-9429-067B59D0D49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667625" y="25241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B4E4E0-EE21-45C5-9064-E335B9A5EF4B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905250" y="25241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sp>
        <p:nvSpPr>
          <p:cNvPr id="13" name="第 4 步：逻辑架构与部署">
            <a:extLst xmlns:a="http://schemas.openxmlformats.org/drawingml/2006/main">
              <a:ext uri="{FF2B5EF4-FFF2-40B4-BE49-F238E27FC236}">
                <a16:creationId xmlns:a16="http://schemas.microsoft.com/office/drawing/2014/main" id="{2C8B20AD-B436-43B9-98DA-92A733A8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第 4 步：逻辑架构与部署</a:t>
            </a:r>
          </a:p>
        </p:txBody>
      </p:sp>
      <p:sp>
        <p:nvSpPr>
          <p:cNvPr id="2" name="方法：按变化原因分离界面、控制、领域和文件操作">
            <a:extLst xmlns:a="http://schemas.openxmlformats.org/drawingml/2006/main">
              <a:ext uri="{FF2B5EF4-FFF2-40B4-BE49-F238E27FC236}">
                <a16:creationId xmlns:a16="http://schemas.microsoft.com/office/drawing/2014/main" id="{8BB3F64A-9856-4150-87DA-A46005B4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方法：按变化原因分离界面、控制、领域和文件操作</a:t>
            </a:r>
          </a:p>
        </p:txBody>
      </p:sp>
      <p:sp>
        <p:nvSpPr>
          <p:cNvPr id="3" name="25  /  易行 LP">
            <a:extLst xmlns:a="http://schemas.openxmlformats.org/drawingml/2006/main">
              <a:ext uri="{FF2B5EF4-FFF2-40B4-BE49-F238E27FC236}">
                <a16:creationId xmlns:a16="http://schemas.microsoft.com/office/drawing/2014/main" id="{0C4E7371-9E8E-4879-A2B9-98184EE7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25  /  易行 LP</a:t>
            </a:r>
          </a:p>
        </p:txBody>
      </p:sp>
      <p:sp>
        <p:nvSpPr>
          <p:cNvPr id="4" name="表现层&#10;HTML / CSS / ModelView">
            <a:extLst xmlns:a="http://schemas.openxmlformats.org/drawingml/2006/main">
              <a:ext uri="{FF2B5EF4-FFF2-40B4-BE49-F238E27FC236}">
                <a16:creationId xmlns:a16="http://schemas.microsoft.com/office/drawing/2014/main" id="{A5F9D8E7-1B7A-4C7F-BE5A-0D3643CA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3143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表现层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HTML / CSS / ModelView</a:t>
            </a:r>
          </a:p>
        </p:txBody>
      </p:sp>
      <p:sp>
        <p:nvSpPr>
          <p:cNvPr id="5" name="应用层&#10;SolveController">
            <a:extLst xmlns:a="http://schemas.openxmlformats.org/drawingml/2006/main">
              <a:ext uri="{FF2B5EF4-FFF2-40B4-BE49-F238E27FC236}">
                <a16:creationId xmlns:a16="http://schemas.microsoft.com/office/drawing/2014/main" id="{9AC075CB-DD06-4259-B720-6919358F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3143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应用层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SolveController</a:t>
            </a:r>
          </a:p>
        </p:txBody>
      </p:sp>
      <p:sp>
        <p:nvSpPr>
          <p:cNvPr id="6" name="领域层&#10;LPModel / SimplexSolver">
            <a:extLst xmlns:a="http://schemas.openxmlformats.org/drawingml/2006/main">
              <a:ext uri="{FF2B5EF4-FFF2-40B4-BE49-F238E27FC236}">
                <a16:creationId xmlns:a16="http://schemas.microsoft.com/office/drawing/2014/main" id="{585C142C-B4D5-4651-AE4A-C04254D2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3143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领域层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LPModel / SimplexSolver</a:t>
            </a:r>
          </a:p>
        </p:txBody>
      </p:sp>
      <p:sp>
        <p:nvSpPr>
          <p:cNvPr id="7" name="本地文件适配&#10;ModelRepository">
            <a:extLst xmlns:a="http://schemas.openxmlformats.org/drawingml/2006/main">
              <a:ext uri="{FF2B5EF4-FFF2-40B4-BE49-F238E27FC236}">
                <a16:creationId xmlns:a16="http://schemas.microsoft.com/office/drawing/2014/main" id="{3196582F-0AF6-4A12-8B6F-BBF71EE2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957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本地文件适配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ModelRepository</a:t>
            </a:r>
          </a:p>
        </p:txBody>
      </p:sp>
      <p:sp>
        <p:nvSpPr>
          <p:cNvPr id="11" name="部署：浏览器中运行静态文件；TXT / JSON 从用户主动选择">
            <a:extLst xmlns:a="http://schemas.openxmlformats.org/drawingml/2006/main">
              <a:ext uri="{FF2B5EF4-FFF2-40B4-BE49-F238E27FC236}">
                <a16:creationId xmlns:a16="http://schemas.microsoft.com/office/drawing/2014/main" id="{A665662D-F9C0-4221-940F-C4F4F3F1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部署：浏览器中运行静态文件；TXT / JSON 从用户主动选择的本地文件读写。</a:t>
            </a:r>
          </a:p>
        </p:txBody>
      </p:sp>
      <p:sp>
        <p:nvSpPr>
          <p:cNvPr id="12" name="更换界面不改变求解算法；若未来采用服务端求解，可替换应用层的调用">
            <a:extLst xmlns:a="http://schemas.openxmlformats.org/drawingml/2006/main">
              <a:ext uri="{FF2B5EF4-FFF2-40B4-BE49-F238E27FC236}">
                <a16:creationId xmlns:a16="http://schemas.microsoft.com/office/drawing/2014/main" id="{E299144D-95AB-47EA-A78B-DDDBCE46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更换界面不改变求解算法；若未来采用服务端求解，可替换应用层的调用方式。</a:t>
            </a:r>
          </a:p>
        </p:txBody>
      </p:sp>
    </p:spTree>
    <p:extLst>
      <p:ext uri="{BB962C8B-B14F-4D97-AF65-F5344CB8AC3E}">
        <p14:creationId xmlns:p14="http://schemas.microsoft.com/office/powerpoint/2010/main" val="119447985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设计模型：类与职责分配">
            <a:extLst xmlns:a="http://schemas.openxmlformats.org/drawingml/2006/main">
              <a:ext uri="{FF2B5EF4-FFF2-40B4-BE49-F238E27FC236}">
                <a16:creationId xmlns:a16="http://schemas.microsoft.com/office/drawing/2014/main" id="{6F020307-FB30-4B86-8436-45601164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设计模型：类与职责分配</a:t>
            </a:r>
          </a:p>
        </p:txBody>
      </p:sp>
      <p:sp>
        <p:nvSpPr>
          <p:cNvPr id="2" name="成果：设计类与实际代码使用同名对象">
            <a:extLst xmlns:a="http://schemas.openxmlformats.org/drawingml/2006/main">
              <a:ext uri="{FF2B5EF4-FFF2-40B4-BE49-F238E27FC236}">
                <a16:creationId xmlns:a16="http://schemas.microsoft.com/office/drawing/2014/main" id="{4F415BD8-4667-4FC4-920D-E6D90C41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成果：设计类与实际代码使用同名对象</a:t>
            </a:r>
          </a:p>
        </p:txBody>
      </p:sp>
      <p:sp>
        <p:nvSpPr>
          <p:cNvPr id="3" name="26  /  易行 LP">
            <a:extLst xmlns:a="http://schemas.openxmlformats.org/drawingml/2006/main">
              <a:ext uri="{FF2B5EF4-FFF2-40B4-BE49-F238E27FC236}">
                <a16:creationId xmlns:a16="http://schemas.microsoft.com/office/drawing/2014/main" id="{612DEB8B-3C6F-47B1-8421-0E5ACF83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26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0160A-4266-4179-ABA8-4E1E68C9E7F4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6000750"/>
                <a:gridCol w="2343150"/>
              </a:tblGrid>
              <a:tr h="7381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类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主要职责与接口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依赖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LPModel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validate（构造校验）、standardize()、check(x)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不依赖界面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SimplexSolver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solve(model)、局部 simplex / pivot、trace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LPModel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SolveController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load()、invalidate()、build()、solve()、importProject()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视图、求解器、文件仓库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ModelView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render()、formula()、showResult()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DOM 与结果对象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ModelRepository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read(file)、download(name,data)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浏览器 File / Blob API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707183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EE0F64-A9B4-4491-BDE4-DA722B19D680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5762625" y="5119688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A7463B-435B-4703-B651-3F8865B387CE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119813" y="3476625"/>
            <a:ext cx="190500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F49E0D-ACEB-4760-9C27-665E3D7645BB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4167188" y="3476625"/>
            <a:ext cx="1952625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E267D3-C476-4051-85E4-C0A95071FA0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715250" y="2643188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F4E87B-57E3-4964-A616-B6C16F41D330}"/>
              </a:ext>
            </a:extLst>
          </p:cNvPr>
          <p:cNvCxnSpPr>
            <a:stCxn xmlns:a="http://schemas.openxmlformats.org/drawingml/2006/main" id="5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>
            <a:off x="3905250" y="2643188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sp>
        <p:nvSpPr>
          <p:cNvPr id="14" name="设计类图：属性、操作与依赖">
            <a:extLst xmlns:a="http://schemas.openxmlformats.org/drawingml/2006/main">
              <a:ext uri="{FF2B5EF4-FFF2-40B4-BE49-F238E27FC236}">
                <a16:creationId xmlns:a16="http://schemas.microsoft.com/office/drawing/2014/main" id="{51D6CDBB-9475-4FE2-ADD2-F4BD61F7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设计类图：属性、操作与依赖</a:t>
            </a:r>
          </a:p>
        </p:txBody>
      </p:sp>
      <p:sp>
        <p:nvSpPr>
          <p:cNvPr id="2" name="成果：把领域对象和控制职责转为实际代码中的类">
            <a:extLst xmlns:a="http://schemas.openxmlformats.org/drawingml/2006/main">
              <a:ext uri="{FF2B5EF4-FFF2-40B4-BE49-F238E27FC236}">
                <a16:creationId xmlns:a16="http://schemas.microsoft.com/office/drawing/2014/main" id="{1FB56B44-5549-4F60-819F-63DB07B1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成果：把领域对象和控制职责转为实际代码中的类</a:t>
            </a:r>
          </a:p>
        </p:txBody>
      </p:sp>
      <p:sp>
        <p:nvSpPr>
          <p:cNvPr id="3" name="27  /  易行 LP">
            <a:extLst xmlns:a="http://schemas.openxmlformats.org/drawingml/2006/main">
              <a:ext uri="{FF2B5EF4-FFF2-40B4-BE49-F238E27FC236}">
                <a16:creationId xmlns:a16="http://schemas.microsoft.com/office/drawing/2014/main" id="{A074F878-F71C-427C-B020-75A8B171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27  /  易行 LP</a:t>
            </a:r>
          </a:p>
        </p:txBody>
      </p:sp>
      <p:sp>
        <p:nvSpPr>
          <p:cNvPr id="4" name="ModelView&#10;render(project, onChange)&#10;formula(model)&#10;showResult(result, project)">
            <a:extLst xmlns:a="http://schemas.openxmlformats.org/drawingml/2006/main">
              <a:ext uri="{FF2B5EF4-FFF2-40B4-BE49-F238E27FC236}">
                <a16:creationId xmlns:a16="http://schemas.microsoft.com/office/drawing/2014/main" id="{2F0D730C-75E1-44AA-90B7-6AD72F68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319087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ModelView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render(project, onChange)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formula(model)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showResult(result, project)</a:t>
            </a:r>
          </a:p>
        </p:txBody>
      </p:sp>
      <p:sp>
        <p:nvSpPr>
          <p:cNvPr id="5" name="SolveController&#10;project / built / lastResult&#10;build() / solve() / invalidate()&#10;importProject(file)">
            <a:extLst xmlns:a="http://schemas.openxmlformats.org/drawingml/2006/main">
              <a:ext uri="{FF2B5EF4-FFF2-40B4-BE49-F238E27FC236}">
                <a16:creationId xmlns:a16="http://schemas.microsoft.com/office/drawing/2014/main" id="{16AE7EF4-9493-4BC8-BAA3-9DE3A6E8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319087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SolveController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project / built / lastResult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build() / solve() / invalidate()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importProject(file)</a:t>
            </a:r>
          </a:p>
        </p:txBody>
      </p:sp>
      <p:sp>
        <p:nvSpPr>
          <p:cNvPr id="6" name="ModelRepository&#10;read(file)&#10;download(name, data)">
            <a:extLst xmlns:a="http://schemas.openxmlformats.org/drawingml/2006/main">
              <a:ext uri="{FF2B5EF4-FFF2-40B4-BE49-F238E27FC236}">
                <a16:creationId xmlns:a16="http://schemas.microsoft.com/office/drawing/2014/main" id="{BE02147C-F96B-497B-9AB7-EB58A94F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19087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ModelRepository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read(file)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download(name, data)</a:t>
            </a:r>
          </a:p>
        </p:txBody>
      </p:sp>
      <p:sp>
        <p:nvSpPr>
          <p:cNvPr id="7" name="LPModel&#10;sense / c / constraints&#10;standardize() / check(x)&#10;toJSON()">
            <a:extLst xmlns:a="http://schemas.openxmlformats.org/drawingml/2006/main">
              <a:ext uri="{FF2B5EF4-FFF2-40B4-BE49-F238E27FC236}">
                <a16:creationId xmlns:a16="http://schemas.microsoft.com/office/drawing/2014/main" id="{C1D3751C-8441-4FFE-A56E-97B94EB1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33875"/>
            <a:ext cx="31908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LPModel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sense / c / constraints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standardize() / check(x)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toJSON()</a:t>
            </a:r>
          </a:p>
        </p:txBody>
      </p:sp>
      <p:sp>
        <p:nvSpPr>
          <p:cNvPr id="8" name="SimplexSolver&#10;solve(model, options)&#10;返回 status / x / trace">
            <a:extLst xmlns:a="http://schemas.openxmlformats.org/drawingml/2006/main">
              <a:ext uri="{FF2B5EF4-FFF2-40B4-BE49-F238E27FC236}">
                <a16:creationId xmlns:a16="http://schemas.microsoft.com/office/drawing/2014/main" id="{7093B626-8339-4E76-BD5E-5A26C6AF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33875"/>
            <a:ext cx="31908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SimplexSolver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solve(model, options)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返回 status / x / trace</a:t>
            </a:r>
          </a:p>
        </p:txBody>
      </p:sp>
    </p:spTree>
    <p:extLst>
      <p:ext uri="{BB962C8B-B14F-4D97-AF65-F5344CB8AC3E}">
        <p14:creationId xmlns:p14="http://schemas.microsoft.com/office/powerpoint/2010/main" val="212304483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设计交互：计算规划方案">
            <a:extLst xmlns:a="http://schemas.openxmlformats.org/drawingml/2006/main">
              <a:ext uri="{FF2B5EF4-FFF2-40B4-BE49-F238E27FC236}">
                <a16:creationId xmlns:a16="http://schemas.microsoft.com/office/drawing/2014/main" id="{649429AC-5455-4798-8F68-21F4D64F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设计交互：计算规划方案</a:t>
            </a:r>
          </a:p>
        </p:txBody>
      </p:sp>
      <p:sp>
        <p:nvSpPr>
          <p:cNvPr id="2" name="成果：用对象间消息细化 UC02，作为代码映射依据">
            <a:extLst xmlns:a="http://schemas.openxmlformats.org/drawingml/2006/main">
              <a:ext uri="{FF2B5EF4-FFF2-40B4-BE49-F238E27FC236}">
                <a16:creationId xmlns:a16="http://schemas.microsoft.com/office/drawing/2014/main" id="{03696EB1-05B1-4476-9372-19EB304A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成果：用对象间消息细化 UC02，作为代码映射依据</a:t>
            </a:r>
          </a:p>
        </p:txBody>
      </p:sp>
      <p:sp>
        <p:nvSpPr>
          <p:cNvPr id="3" name="28  /  易行 LP">
            <a:extLst xmlns:a="http://schemas.openxmlformats.org/drawingml/2006/main">
              <a:ext uri="{FF2B5EF4-FFF2-40B4-BE49-F238E27FC236}">
                <a16:creationId xmlns:a16="http://schemas.microsoft.com/office/drawing/2014/main" id="{4EE806DB-AF87-4A2F-9A60-06959DAA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28  /  易行 LP</a:t>
            </a:r>
          </a:p>
        </p:txBody>
      </p:sp>
      <p:sp>
        <p:nvSpPr>
          <p:cNvPr id="4" name="研究人员">
            <a:extLst xmlns:a="http://schemas.openxmlformats.org/drawingml/2006/main">
              <a:ext uri="{FF2B5EF4-FFF2-40B4-BE49-F238E27FC236}">
                <a16:creationId xmlns:a16="http://schemas.microsoft.com/office/drawing/2014/main" id="{AB9EB77E-BBC6-4956-BCBB-7DA64BD8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研究人员</a:t>
            </a:r>
          </a:p>
        </p:txBody>
      </p: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E868CE-995A-4228-9FDF-1B14737FE08D}"/>
              </a:ext>
            </a:extLst>
          </p:cNvPr>
          <p:cNvCxnSpPr/>
          <p:nvPr/>
        </p:nvCxnSpPr>
        <p:spPr>
          <a:xfrm xmlns:a="http://schemas.openxmlformats.org/drawingml/2006/main">
            <a:off x="1524000" y="2286000"/>
            <a:ext cx="0" cy="35718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6CBB9"/>
            </a:solidFill>
            <a:prstDash val="dash"/>
          </a:ln>
        </p:spPr>
      </p:cxnSp>
      <p:sp>
        <p:nvSpPr>
          <p:cNvPr id="6" name="ModelView / DOM">
            <a:extLst xmlns:a="http://schemas.openxmlformats.org/drawingml/2006/main">
              <a:ext uri="{FF2B5EF4-FFF2-40B4-BE49-F238E27FC236}">
                <a16:creationId xmlns:a16="http://schemas.microsoft.com/office/drawing/2014/main" id="{67C8E1C9-0E38-4445-9DE0-677C389C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1450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ModelView / DOM</a:t>
            </a:r>
          </a:p>
        </p:txBody>
      </p: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9F45B9-776F-4995-9D54-9883547118B2}"/>
              </a:ext>
            </a:extLst>
          </p:cNvPr>
          <p:cNvCxnSpPr/>
          <p:nvPr/>
        </p:nvCxnSpPr>
        <p:spPr>
          <a:xfrm xmlns:a="http://schemas.openxmlformats.org/drawingml/2006/main">
            <a:off x="3714750" y="2286000"/>
            <a:ext cx="0" cy="35718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6CBB9"/>
            </a:solidFill>
            <a:prstDash val="dash"/>
          </a:ln>
        </p:spPr>
      </p:cxnSp>
      <p:sp>
        <p:nvSpPr>
          <p:cNvPr id="8" name="SolveController">
            <a:extLst xmlns:a="http://schemas.openxmlformats.org/drawingml/2006/main">
              <a:ext uri="{FF2B5EF4-FFF2-40B4-BE49-F238E27FC236}">
                <a16:creationId xmlns:a16="http://schemas.microsoft.com/office/drawing/2014/main" id="{0BF5B3CC-AE2B-47D7-BCEA-15BEA39C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1450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SolveController</a:t>
            </a:r>
          </a:p>
        </p:txBody>
      </p: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D6FD57-2826-4E3C-A30B-FFF000E6ED12}"/>
              </a:ext>
            </a:extLst>
          </p:cNvPr>
          <p:cNvCxnSpPr/>
          <p:nvPr/>
        </p:nvCxnSpPr>
        <p:spPr>
          <a:xfrm xmlns:a="http://schemas.openxmlformats.org/drawingml/2006/main">
            <a:off x="6096000" y="2286000"/>
            <a:ext cx="0" cy="35718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6CBB9"/>
            </a:solidFill>
            <a:prstDash val="dash"/>
          </a:ln>
        </p:spPr>
      </p:cxnSp>
      <p:sp>
        <p:nvSpPr>
          <p:cNvPr id="10" name="SimplexSolver">
            <a:extLst xmlns:a="http://schemas.openxmlformats.org/drawingml/2006/main">
              <a:ext uri="{FF2B5EF4-FFF2-40B4-BE49-F238E27FC236}">
                <a16:creationId xmlns:a16="http://schemas.microsoft.com/office/drawing/2014/main" id="{6DBAA4A2-9C9F-44CA-AD0E-F185C149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1450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SimplexSolver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9E0A4C-CA2E-45AA-B339-24F2700EF332}"/>
              </a:ext>
            </a:extLst>
          </p:cNvPr>
          <p:cNvCxnSpPr/>
          <p:nvPr/>
        </p:nvCxnSpPr>
        <p:spPr>
          <a:xfrm xmlns:a="http://schemas.openxmlformats.org/drawingml/2006/main">
            <a:off x="8477250" y="2286000"/>
            <a:ext cx="0" cy="35718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6CBB9"/>
            </a:solidFill>
            <a:prstDash val="dash"/>
          </a:ln>
        </p:spPr>
      </p:cxnSp>
      <p:sp>
        <p:nvSpPr>
          <p:cNvPr id="12" name="LPModel">
            <a:extLst xmlns:a="http://schemas.openxmlformats.org/drawingml/2006/main">
              <a:ext uri="{FF2B5EF4-FFF2-40B4-BE49-F238E27FC236}">
                <a16:creationId xmlns:a16="http://schemas.microsoft.com/office/drawing/2014/main" id="{1712A553-3B78-445A-AA90-9E71A2FB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1450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LPModel</a:t>
            </a:r>
          </a:p>
        </p:txBody>
      </p: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F8D824-5FE8-4865-AFD5-7569F5642409}"/>
              </a:ext>
            </a:extLst>
          </p:cNvPr>
          <p:cNvCxnSpPr/>
          <p:nvPr/>
        </p:nvCxnSpPr>
        <p:spPr>
          <a:xfrm xmlns:a="http://schemas.openxmlformats.org/drawingml/2006/main">
            <a:off x="10763250" y="2286000"/>
            <a:ext cx="0" cy="35718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6CBB9"/>
            </a:solidFill>
            <a:prstDash val="dash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4D02D2-70EB-430D-848B-836813E25947}"/>
              </a:ext>
            </a:extLst>
          </p:cNvPr>
          <p:cNvCxnSpPr/>
          <p:nvPr/>
        </p:nvCxnSpPr>
        <p:spPr>
          <a:xfrm xmlns:a="http://schemas.openxmlformats.org/drawingml/2006/main">
            <a:off x="1524000" y="2667000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  <a:tailEnd type="triangle" w="med" len="med"/>
          </a:ln>
        </p:spPr>
      </p:cxnSp>
      <p:sp>
        <p:nvSpPr>
          <p:cNvPr id="15" name="点击计算">
            <a:extLst xmlns:a="http://schemas.openxmlformats.org/drawingml/2006/main">
              <a:ext uri="{FF2B5EF4-FFF2-40B4-BE49-F238E27FC236}">
                <a16:creationId xmlns:a16="http://schemas.microsoft.com/office/drawing/2014/main" id="{D8041073-6EFB-4588-9F22-D4AA1B38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4315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点击计算</a:t>
            </a:r>
          </a:p>
        </p:txBody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268C39-0968-4AE1-8D30-5C90DA6580D7}"/>
              </a:ext>
            </a:extLst>
          </p:cNvPr>
          <p:cNvCxnSpPr/>
          <p:nvPr/>
        </p:nvCxnSpPr>
        <p:spPr>
          <a:xfrm xmlns:a="http://schemas.openxmlformats.org/drawingml/2006/main">
            <a:off x="3714750" y="314325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  <a:tailEnd type="triangle" w="med" len="med"/>
          </a:ln>
        </p:spPr>
      </p:cxnSp>
      <p:sp>
        <p:nvSpPr>
          <p:cNvPr id="17" name="solve()">
            <a:extLst xmlns:a="http://schemas.openxmlformats.org/drawingml/2006/main">
              <a:ext uri="{FF2B5EF4-FFF2-40B4-BE49-F238E27FC236}">
                <a16:creationId xmlns:a16="http://schemas.microsoft.com/office/drawing/2014/main" id="{92D6240E-64DD-4C42-83DE-B10E63AE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1940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solve()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208EDE-A23F-4013-B949-6AD0689495A4}"/>
              </a:ext>
            </a:extLst>
          </p:cNvPr>
          <p:cNvCxnSpPr/>
          <p:nvPr/>
        </p:nvCxnSpPr>
        <p:spPr>
          <a:xfrm xmlns:a="http://schemas.openxmlformats.org/drawingml/2006/main">
            <a:off x="6096000" y="361950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  <a:tailEnd type="triangle" w="med" len="med"/>
          </a:ln>
        </p:spPr>
      </p:cxnSp>
      <p:sp>
        <p:nvSpPr>
          <p:cNvPr id="19" name="solve(built)">
            <a:extLst xmlns:a="http://schemas.openxmlformats.org/drawingml/2006/main">
              <a:ext uri="{FF2B5EF4-FFF2-40B4-BE49-F238E27FC236}">
                <a16:creationId xmlns:a16="http://schemas.microsoft.com/office/drawing/2014/main" id="{23631F5E-396F-4502-A11C-77E85D67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9565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solve(built)</a:t>
            </a:r>
          </a:p>
        </p:txBody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41F761-3EA7-42B2-AD24-5D1A7B660E39}"/>
              </a:ext>
            </a:extLst>
          </p:cNvPr>
          <p:cNvCxnSpPr/>
          <p:nvPr/>
        </p:nvCxnSpPr>
        <p:spPr>
          <a:xfrm xmlns:a="http://schemas.openxmlformats.org/drawingml/2006/main">
            <a:off x="8477250" y="4095750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  <a:tailEnd type="triangle" w="med" len="med"/>
          </a:ln>
        </p:spPr>
      </p:cxnSp>
      <p:sp>
        <p:nvSpPr>
          <p:cNvPr id="21" name="standardize()">
            <a:extLst xmlns:a="http://schemas.openxmlformats.org/drawingml/2006/main">
              <a:ext uri="{FF2B5EF4-FFF2-40B4-BE49-F238E27FC236}">
                <a16:creationId xmlns:a16="http://schemas.microsoft.com/office/drawing/2014/main" id="{83867B44-7D3E-4F0A-80C5-B7E6A5CB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7190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standardize()</a:t>
            </a:r>
          </a:p>
        </p:txBody>
      </p: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57A032-6C6E-4D41-A421-4B2BB703EB74}"/>
              </a:ext>
            </a:extLst>
          </p:cNvPr>
          <p:cNvCxnSpPr/>
          <p:nvPr/>
        </p:nvCxnSpPr>
        <p:spPr>
          <a:xfrm xmlns:a="http://schemas.openxmlformats.org/drawingml/2006/main">
            <a:off x="8477250" y="4572000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  <a:tailEnd type="triangle" w="med" len="med"/>
          </a:ln>
        </p:spPr>
      </p:cxnSp>
      <p:sp>
        <p:nvSpPr>
          <p:cNvPr id="23" name="check(x)">
            <a:extLst xmlns:a="http://schemas.openxmlformats.org/drawingml/2006/main">
              <a:ext uri="{FF2B5EF4-FFF2-40B4-BE49-F238E27FC236}">
                <a16:creationId xmlns:a16="http://schemas.microsoft.com/office/drawing/2014/main" id="{F42E671B-EE26-4061-999E-3193C576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4815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check(x)</a:t>
            </a:r>
          </a:p>
        </p:txBody>
      </p: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6A11BF-B3EA-4911-9D4B-F04AD8344F73}"/>
              </a:ext>
            </a:extLst>
          </p:cNvPr>
          <p:cNvCxnSpPr/>
          <p:nvPr/>
        </p:nvCxnSpPr>
        <p:spPr>
          <a:xfrm xmlns:a="http://schemas.openxmlformats.org/drawingml/2006/main">
            <a:off x="6096000" y="504825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  <a:headEnd type="triangle" w="med" len="med"/>
          </a:ln>
        </p:spPr>
      </p:cxnSp>
      <p:sp>
        <p:nvSpPr>
          <p:cNvPr id="25" name="返回结果对象">
            <a:extLst xmlns:a="http://schemas.openxmlformats.org/drawingml/2006/main">
              <a:ext uri="{FF2B5EF4-FFF2-40B4-BE49-F238E27FC236}">
                <a16:creationId xmlns:a16="http://schemas.microsoft.com/office/drawing/2014/main" id="{DAB01556-3B48-44E8-829A-D519E59D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2440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返回结果对象</a:t>
            </a:r>
          </a:p>
        </p:txBody>
      </p: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A07338-ED74-4F95-BB6D-02C357752930}"/>
              </a:ext>
            </a:extLst>
          </p:cNvPr>
          <p:cNvCxnSpPr/>
          <p:nvPr/>
        </p:nvCxnSpPr>
        <p:spPr>
          <a:xfrm xmlns:a="http://schemas.openxmlformats.org/drawingml/2006/main">
            <a:off x="3714750" y="552450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  <a:headEnd type="triangle" w="med" len="med"/>
          </a:ln>
        </p:spPr>
      </p:cxnSp>
      <p:sp>
        <p:nvSpPr>
          <p:cNvPr id="27" name="showResult(...)">
            <a:extLst xmlns:a="http://schemas.openxmlformats.org/drawingml/2006/main">
              <a:ext uri="{FF2B5EF4-FFF2-40B4-BE49-F238E27FC236}">
                <a16:creationId xmlns:a16="http://schemas.microsoft.com/office/drawing/2014/main" id="{6E183B57-7B9D-4B22-8C3E-45C4BA2A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20065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showResult(...)</a:t>
            </a:r>
          </a:p>
        </p:txBody>
      </p:sp>
    </p:spTree>
    <p:extLst>
      <p:ext uri="{BB962C8B-B14F-4D97-AF65-F5344CB8AC3E}">
        <p14:creationId xmlns:p14="http://schemas.microsoft.com/office/powerpoint/2010/main" val="179868921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设计理由：GRASP 与功能独立性">
            <a:extLst xmlns:a="http://schemas.openxmlformats.org/drawingml/2006/main">
              <a:ext uri="{FF2B5EF4-FFF2-40B4-BE49-F238E27FC236}">
                <a16:creationId xmlns:a16="http://schemas.microsoft.com/office/drawing/2014/main" id="{4DB40AB6-20CD-4656-A887-8E330F11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设计理由：GRASP 与功能独立性</a:t>
            </a:r>
          </a:p>
        </p:txBody>
      </p:sp>
      <p:sp>
        <p:nvSpPr>
          <p:cNvPr id="2" name="成果：解释职责为什么这样分配">
            <a:extLst xmlns:a="http://schemas.openxmlformats.org/drawingml/2006/main">
              <a:ext uri="{FF2B5EF4-FFF2-40B4-BE49-F238E27FC236}">
                <a16:creationId xmlns:a16="http://schemas.microsoft.com/office/drawing/2014/main" id="{1F897C44-3442-43DB-9F18-978ADEBA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成果：解释职责为什么这样分配</a:t>
            </a:r>
          </a:p>
        </p:txBody>
      </p:sp>
      <p:sp>
        <p:nvSpPr>
          <p:cNvPr id="3" name="29  /  易行 LP">
            <a:extLst xmlns:a="http://schemas.openxmlformats.org/drawingml/2006/main">
              <a:ext uri="{FF2B5EF4-FFF2-40B4-BE49-F238E27FC236}">
                <a16:creationId xmlns:a16="http://schemas.microsoft.com/office/drawing/2014/main" id="{43E170E3-B1A1-4D9A-931B-0FCD0C5D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29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82A7CE-D588-4D03-92DE-B82376E33C50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5715000"/>
                <a:gridCol w="3200400"/>
              </a:tblGrid>
              <a:tr h="7381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原则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我的应用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作用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信息专家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LPModel 掌握系数与约束，负责标准化与结果代回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避免在界面里重复数学规则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控制器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SolveController 接收建模、计算与导入操作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统一协调状态变化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高内聚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SimplexSolver 只处理数学模型与求解结果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能够脱离浏览器独立测试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低耦合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视图消费结果对象；文件操作集中在 Repository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界面、文件格式与算法分别变化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避免过度设计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当前一个求解器，不引入尚未需要的插件体系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业务扩展时再提取统一接口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943558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C211A8-289F-43C6-93ED-E79AE6AD602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24750" y="28575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869DB-AEA6-4456-AFD3-B1F7C7A5AAAD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714750" y="28575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sp>
        <p:nvSpPr>
          <p:cNvPr id="12" name="控制状态与错误恢复">
            <a:extLst xmlns:a="http://schemas.openxmlformats.org/drawingml/2006/main">
              <a:ext uri="{FF2B5EF4-FFF2-40B4-BE49-F238E27FC236}">
                <a16:creationId xmlns:a16="http://schemas.microsoft.com/office/drawing/2014/main" id="{B682B519-866A-469F-A271-7C484DB7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控制状态与错误恢复</a:t>
            </a:r>
          </a:p>
        </p:txBody>
      </p:sp>
      <p:sp>
        <p:nvSpPr>
          <p:cNvPr id="2" name="成果：避免用户修改参数后误用旧计算结果">
            <a:extLst xmlns:a="http://schemas.openxmlformats.org/drawingml/2006/main">
              <a:ext uri="{FF2B5EF4-FFF2-40B4-BE49-F238E27FC236}">
                <a16:creationId xmlns:a16="http://schemas.microsoft.com/office/drawing/2014/main" id="{6A5645DB-4028-4521-B46A-D066C4D6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成果：避免用户修改参数后误用旧计算结果</a:t>
            </a:r>
          </a:p>
        </p:txBody>
      </p:sp>
      <p:sp>
        <p:nvSpPr>
          <p:cNvPr id="3" name="30  /  易行 LP">
            <a:extLst xmlns:a="http://schemas.openxmlformats.org/drawingml/2006/main">
              <a:ext uri="{FF2B5EF4-FFF2-40B4-BE49-F238E27FC236}">
                <a16:creationId xmlns:a16="http://schemas.microsoft.com/office/drawing/2014/main" id="{04814178-376F-437B-AE82-31EF9E17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30  /  易行 LP</a:t>
            </a:r>
          </a:p>
        </p:txBody>
      </p:sp>
      <p:sp>
        <p:nvSpPr>
          <p:cNvPr id="4" name="编辑草稿&#10;计算按钮禁用">
            <a:extLst xmlns:a="http://schemas.openxmlformats.org/drawingml/2006/main">
              <a:ext uri="{FF2B5EF4-FFF2-40B4-BE49-F238E27FC236}">
                <a16:creationId xmlns:a16="http://schemas.microsoft.com/office/drawing/2014/main" id="{756EAFD3-5F16-4A27-9CD1-535976D0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952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编辑草稿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计算按钮禁用</a:t>
            </a:r>
          </a:p>
        </p:txBody>
      </p:sp>
      <p:sp>
        <p:nvSpPr>
          <p:cNvPr id="5" name="建模成功&#10;显示当前公式">
            <a:extLst xmlns:a="http://schemas.openxmlformats.org/drawingml/2006/main">
              <a:ext uri="{FF2B5EF4-FFF2-40B4-BE49-F238E27FC236}">
                <a16:creationId xmlns:a16="http://schemas.microsoft.com/office/drawing/2014/main" id="{3F4635C7-EF50-411B-B0B4-A4C49F0D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81250"/>
            <a:ext cx="2952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建模成功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显示当前公式</a:t>
            </a:r>
          </a:p>
        </p:txBody>
      </p:sp>
      <p:sp>
        <p:nvSpPr>
          <p:cNvPr id="6" name="计算完成&#10;弹出方案或异常状态">
            <a:extLst xmlns:a="http://schemas.openxmlformats.org/drawingml/2006/main">
              <a:ext uri="{FF2B5EF4-FFF2-40B4-BE49-F238E27FC236}">
                <a16:creationId xmlns:a16="http://schemas.microsoft.com/office/drawing/2014/main" id="{412AA416-C689-45AA-AA67-A5237C63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81250"/>
            <a:ext cx="2952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计算完成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弹出方案或异常状态</a:t>
            </a:r>
          </a:p>
        </p:txBody>
      </p:sp>
      <p:sp>
        <p:nvSpPr>
          <p:cNvPr id="9" name="校验失败：保留输入并提示，停留在编辑状态。">
            <a:extLst xmlns:a="http://schemas.openxmlformats.org/drawingml/2006/main">
              <a:ext uri="{FF2B5EF4-FFF2-40B4-BE49-F238E27FC236}">
                <a16:creationId xmlns:a16="http://schemas.microsoft.com/office/drawing/2014/main" id="{08ADDF11-B582-47EF-AFDC-3D9A6051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070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校验失败：保留输入并提示，停留在编辑状态。</a:t>
            </a:r>
          </a:p>
        </p:txBody>
      </p:sp>
      <p:sp>
        <p:nvSpPr>
          <p:cNvPr id="10" name="任何编辑：清除已生成模型与上次结果，重新点击“建模”后才能计算。">
            <a:extLst xmlns:a="http://schemas.openxmlformats.org/drawingml/2006/main">
              <a:ext uri="{FF2B5EF4-FFF2-40B4-BE49-F238E27FC236}">
                <a16:creationId xmlns:a16="http://schemas.microsoft.com/office/drawing/2014/main" id="{79FE811A-829A-4CD3-962F-EF095B08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70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任何编辑：清除已生成模型与上次结果，重新点击“建模”后才能计算。</a:t>
            </a:r>
          </a:p>
        </p:txBody>
      </p:sp>
      <p:sp>
        <p:nvSpPr>
          <p:cNvPr id="11" name="无解或无界：保留输入，允许关闭方案、修改约束并重新建模。">
            <a:extLst xmlns:a="http://schemas.openxmlformats.org/drawingml/2006/main">
              <a:ext uri="{FF2B5EF4-FFF2-40B4-BE49-F238E27FC236}">
                <a16:creationId xmlns:a16="http://schemas.microsoft.com/office/drawing/2014/main" id="{046EB5CC-FEDA-4AE2-AEC3-3F0ABC4E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070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无解或无界：保留输入，允许关闭方案、修改约束并重新建模。</a:t>
            </a:r>
          </a:p>
        </p:txBody>
      </p:sp>
    </p:spTree>
    <p:extLst>
      <p:ext uri="{BB962C8B-B14F-4D97-AF65-F5344CB8AC3E}">
        <p14:creationId xmlns:p14="http://schemas.microsoft.com/office/powerpoint/2010/main" val="44570484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算法实现中的数值与终止设计">
            <a:extLst xmlns:a="http://schemas.openxmlformats.org/drawingml/2006/main">
              <a:ext uri="{FF2B5EF4-FFF2-40B4-BE49-F238E27FC236}">
                <a16:creationId xmlns:a16="http://schemas.microsoft.com/office/drawing/2014/main" id="{E068BD10-AD95-4ABF-BD57-A17EA8AF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算法实现中的数值与终止设计</a:t>
            </a:r>
          </a:p>
        </p:txBody>
      </p:sp>
      <p:sp>
        <p:nvSpPr>
          <p:cNvPr id="2" name="成果：把数学过程转为有边界的软件行为">
            <a:extLst xmlns:a="http://schemas.openxmlformats.org/drawingml/2006/main">
              <a:ext uri="{FF2B5EF4-FFF2-40B4-BE49-F238E27FC236}">
                <a16:creationId xmlns:a16="http://schemas.microsoft.com/office/drawing/2014/main" id="{27F1203C-CB70-42E7-875C-B273CBDE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成果：把数学过程转为有边界的软件行为</a:t>
            </a:r>
          </a:p>
        </p:txBody>
      </p:sp>
      <p:sp>
        <p:nvSpPr>
          <p:cNvPr id="3" name="31  /  易行 LP">
            <a:extLst xmlns:a="http://schemas.openxmlformats.org/drawingml/2006/main">
              <a:ext uri="{FF2B5EF4-FFF2-40B4-BE49-F238E27FC236}">
                <a16:creationId xmlns:a16="http://schemas.microsoft.com/office/drawing/2014/main" id="{2F609C5E-4AAE-4A93-B300-03F8D42A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31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75AC0-B433-480E-9FB2-62C23DBA5126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8248650"/>
              </a:tblGrid>
              <a:tr h="7381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设计点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具体做法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两阶段法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使用一个人工变量建立辅助问题；阶段一结束后移出人工变量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选主元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入基按 Bland 编号规则；正系数行使用最小比值选择出基变量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可检查性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每次 pivot 保存阶段、入基/出基、基变量与表格快照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结果校验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按原目标重算目标值；代回原约束检查相对容差与非负限制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终止与限制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最多2000次换基；返回独立状态；病态模型可能需更可靠数值库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954991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第 5 步：从设计映射为代码">
            <a:extLst xmlns:a="http://schemas.openxmlformats.org/drawingml/2006/main">
              <a:ext uri="{FF2B5EF4-FFF2-40B4-BE49-F238E27FC236}">
                <a16:creationId xmlns:a16="http://schemas.microsoft.com/office/drawing/2014/main" id="{0771C1FF-B432-420C-B665-ECD43DDF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第 5 步：从设计映射为代码</a:t>
            </a:r>
          </a:p>
        </p:txBody>
      </p:sp>
      <p:sp>
        <p:nvSpPr>
          <p:cNvPr id="2" name="成果：模型、职责、方法与实际文件可以一一核对">
            <a:extLst xmlns:a="http://schemas.openxmlformats.org/drawingml/2006/main">
              <a:ext uri="{FF2B5EF4-FFF2-40B4-BE49-F238E27FC236}">
                <a16:creationId xmlns:a16="http://schemas.microsoft.com/office/drawing/2014/main" id="{C8421413-D310-4ED6-B6EC-559771E2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成果：模型、职责、方法与实际文件可以一一核对</a:t>
            </a:r>
          </a:p>
        </p:txBody>
      </p:sp>
      <p:sp>
        <p:nvSpPr>
          <p:cNvPr id="3" name="32  /  易行 LP">
            <a:extLst xmlns:a="http://schemas.openxmlformats.org/drawingml/2006/main">
              <a:ext uri="{FF2B5EF4-FFF2-40B4-BE49-F238E27FC236}">
                <a16:creationId xmlns:a16="http://schemas.microsoft.com/office/drawing/2014/main" id="{358CF390-9CE2-46C7-B2B8-D4A40FC7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32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DD743-F67B-45BE-86F5-B4EF2C73F4F9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3476625"/>
                <a:gridCol w="4676775"/>
              </a:tblGrid>
              <a:tr h="7381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设计对象 / 用例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代码位置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对应实现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领域模型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source/solver.js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class LPModel：校验、标准化、代回检查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算法活动流程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source/solver.js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class SimplexSolver：simplex 与 pivot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UC01 / UC02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source/app.js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class SolveController：build / solve / invalidate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界面与方案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source/index.html、style.css、app.js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class ModelView 与工作区、结果对话框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项目导入导出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source/app.js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class ModelRepository；schema=1 的 JSON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697902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代码映射示例：建模与状态失效">
            <a:extLst xmlns:a="http://schemas.openxmlformats.org/drawingml/2006/main">
              <a:ext uri="{FF2B5EF4-FFF2-40B4-BE49-F238E27FC236}">
                <a16:creationId xmlns:a16="http://schemas.microsoft.com/office/drawing/2014/main" id="{2414342C-B4D5-4BAC-9802-D370B5B1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代码映射示例：建模与状态失效</a:t>
            </a:r>
          </a:p>
        </p:txBody>
      </p:sp>
      <p:sp>
        <p:nvSpPr>
          <p:cNvPr id="2" name="成果：代码体现用例的前置条件与异常处理">
            <a:extLst xmlns:a="http://schemas.openxmlformats.org/drawingml/2006/main">
              <a:ext uri="{FF2B5EF4-FFF2-40B4-BE49-F238E27FC236}">
                <a16:creationId xmlns:a16="http://schemas.microsoft.com/office/drawing/2014/main" id="{80055258-DD06-4AD8-A256-B708357D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成果：代码体现用例的前置条件与异常处理</a:t>
            </a:r>
          </a:p>
        </p:txBody>
      </p:sp>
      <p:sp>
        <p:nvSpPr>
          <p:cNvPr id="3" name="33  /  易行 LP">
            <a:extLst xmlns:a="http://schemas.openxmlformats.org/drawingml/2006/main">
              <a:ext uri="{FF2B5EF4-FFF2-40B4-BE49-F238E27FC236}">
                <a16:creationId xmlns:a16="http://schemas.microsoft.com/office/drawing/2014/main" id="{1905C351-95D5-4623-B0A0-4191CFC7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33  /  易行 LP</a:t>
            </a:r>
          </a:p>
        </p:txBody>
      </p:sp>
      <p:sp>
        <p:nvSpPr>
          <p:cNvPr id="4" name="invalidate() {&#10;  this.built = nu">
            <a:extLst xmlns:a="http://schemas.openxmlformats.org/drawingml/2006/main">
              <a:ext uri="{FF2B5EF4-FFF2-40B4-BE49-F238E27FC236}">
                <a16:creationId xmlns:a16="http://schemas.microsoft.com/office/drawing/2014/main" id="{516FF746-048B-415B-87C7-523D5EFA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3822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invalidate() {</a:t>
            </a:r>
          </a:p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  this.built = null;</a:t>
            </a:r>
          </a:p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  this.lastResult = null;</a:t>
            </a:r>
          </a:p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  $("solve").disabled = true;</a:t>
            </a:r>
          </a:p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build() {</a:t>
            </a:r>
          </a:p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  // 严格不等式先提示，不自动替换</a:t>
            </a:r>
          </a:p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  this.built = new LPModel(this.project.model);</a:t>
            </a:r>
          </a:p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  $("modelText").textContent = this.view.formula(this.built);</a:t>
            </a:r>
          </a:p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  $("solve").disabled = false;</a:t>
            </a:r>
          </a:p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}</a:t>
            </a:r>
          </a:p>
        </p:txBody>
      </p:sp>
      <p:sp>
        <p:nvSpPr>
          <p:cNvPr id="5" name="对应：UC01 的输入校验；F05 的编辑后失效；UC02 的“">
            <a:extLst xmlns:a="http://schemas.openxmlformats.org/drawingml/2006/main">
              <a:ext uri="{FF2B5EF4-FFF2-40B4-BE49-F238E27FC236}">
                <a16:creationId xmlns:a16="http://schemas.microsoft.com/office/drawing/2014/main" id="{32B3412C-0F23-40B1-81E8-93AFF97C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578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0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0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0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0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0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0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0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0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0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rPr>
              <a:t>对应：UC01 的输入校验；F05 的编辑后失效；UC02 的“已成功建模”前置条件。</a:t>
            </a:r>
          </a:p>
        </p:txBody>
      </p:sp>
    </p:spTree>
    <p:extLst>
      <p:ext uri="{BB962C8B-B14F-4D97-AF65-F5344CB8AC3E}">
        <p14:creationId xmlns:p14="http://schemas.microsoft.com/office/powerpoint/2010/main" val="153364091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第 6 步：运行与验证">
            <a:extLst xmlns:a="http://schemas.openxmlformats.org/drawingml/2006/main">
              <a:ext uri="{FF2B5EF4-FFF2-40B4-BE49-F238E27FC236}">
                <a16:creationId xmlns:a16="http://schemas.microsoft.com/office/drawing/2014/main" id="{3C5E7EB3-0B43-4AD6-BCA2-3F250750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第 6 步：运行与验证</a:t>
            </a:r>
          </a:p>
        </p:txBody>
      </p:sp>
      <p:sp>
        <p:nvSpPr>
          <p:cNvPr id="2" name="方法：确定结果算例 + 独立方法交叉核对 + 浏览器操作">
            <a:extLst xmlns:a="http://schemas.openxmlformats.org/drawingml/2006/main">
              <a:ext uri="{FF2B5EF4-FFF2-40B4-BE49-F238E27FC236}">
                <a16:creationId xmlns:a16="http://schemas.microsoft.com/office/drawing/2014/main" id="{8C3978CC-634A-4D95-91F3-FF5720B6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方法：确定结果算例 + 独立方法交叉核对 + 浏览器操作</a:t>
            </a:r>
          </a:p>
        </p:txBody>
      </p:sp>
      <p:sp>
        <p:nvSpPr>
          <p:cNvPr id="3" name="34  /  易行 LP">
            <a:extLst xmlns:a="http://schemas.openxmlformats.org/drawingml/2006/main">
              <a:ext uri="{FF2B5EF4-FFF2-40B4-BE49-F238E27FC236}">
                <a16:creationId xmlns:a16="http://schemas.microsoft.com/office/drawing/2014/main" id="{45704B92-7C05-4975-8169-AB02A855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34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E24F9D-BAE0-472B-9EAC-75E4C8EC6DA6}"/>
              </a:ext>
            </a:extLst>
          </p:cNvPr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5953125"/>
                <a:gridCol w="2438400"/>
              </a:tblGrid>
              <a:tr h="838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验证层次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实际执行内容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结果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求解器回归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16个确定结果或状态测试；覆盖边界与异常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16 / 16 通过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独立交叉核对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固定随机种子；100个二维有界问题枚举可行顶点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100 / 100 目标值一致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浏览器流程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建模、计算、修改失效、严格不等式、文件与窗口适配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13项关键检查通过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验证局限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交叉核对仅覆盖二维；尚无真实涉众验收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不据此声称所有模型与设备均正确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697667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主要回归测试与预期结果">
            <a:extLst xmlns:a="http://schemas.openxmlformats.org/drawingml/2006/main">
              <a:ext uri="{FF2B5EF4-FFF2-40B4-BE49-F238E27FC236}">
                <a16:creationId xmlns:a16="http://schemas.microsoft.com/office/drawing/2014/main" id="{0FC968DC-77E7-4D5C-B9C6-D0726FBE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主要回归测试与预期结果</a:t>
            </a:r>
          </a:p>
        </p:txBody>
      </p:sp>
      <p:sp>
        <p:nvSpPr>
          <p:cNvPr id="2" name="成果：测试能区分结果正确与仅仅运行成功">
            <a:extLst xmlns:a="http://schemas.openxmlformats.org/drawingml/2006/main">
              <a:ext uri="{FF2B5EF4-FFF2-40B4-BE49-F238E27FC236}">
                <a16:creationId xmlns:a16="http://schemas.microsoft.com/office/drawing/2014/main" id="{5E27F256-C726-4290-B3F0-F8560E97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成果：测试能区分结果正确与仅仅运行成功</a:t>
            </a:r>
          </a:p>
        </p:txBody>
      </p:sp>
      <p:sp>
        <p:nvSpPr>
          <p:cNvPr id="3" name="35  /  易行 LP">
            <a:extLst xmlns:a="http://schemas.openxmlformats.org/drawingml/2006/main">
              <a:ext uri="{FF2B5EF4-FFF2-40B4-BE49-F238E27FC236}">
                <a16:creationId xmlns:a16="http://schemas.microsoft.com/office/drawing/2014/main" id="{8F146428-5669-461E-B619-8DB50533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35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95BC73-0B77-4731-BE92-01F099C339FC}"/>
              </a:ext>
            </a:extLst>
          </p:cNvPr>
          <p:cNvGraphicFramePr/>
          <p:nvPr/>
        </p:nvGraphicFramePr>
        <p:xfrm>
          <a:off xmlns:a="http://schemas.openxmlformats.org/drawingml/2006/main" x="685800" y="1685925"/>
          <a:ext xmlns:a="http://schemas.openxmlformats.org/drawingml/2006/main" cx="10820400" cy="4505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095750"/>
                <a:gridCol w="5010150"/>
              </a:tblGrid>
              <a:tr h="64361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测试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输入 / 关注点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预期与实测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643618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T01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故事初始模型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鸭400、鱼80；z=2320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3618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T02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补充销量上限150、50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鸭150、鱼50；z=950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643618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T03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教师 Tanner 模型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玩具2000、组合1000；z=3500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3618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T04～T06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min、=、负右端值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目标值2.25、6、5；均通过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643618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T07、T08</a:t>
                      </a:r>
                    </a:p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T14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矛盾约束、无界、零次换基上限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分别为 infeasible、unbounded、iteration_limit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3618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T09～T13</a:t>
                      </a:r>
                    </a:p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T15～T16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冗余、退化、非法数值、严格关系、零行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通过；非法输入拒绝，无可行情况正确区分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479337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运行成果：Tanner 规划方案">
            <a:extLst xmlns:a="http://schemas.openxmlformats.org/drawingml/2006/main">
              <a:ext uri="{FF2B5EF4-FFF2-40B4-BE49-F238E27FC236}">
                <a16:creationId xmlns:a16="http://schemas.microsoft.com/office/drawing/2014/main" id="{6D430D7A-C220-49F9-8028-6D775C19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运行成果：Tanner 规划方案</a:t>
            </a:r>
          </a:p>
        </p:txBody>
      </p:sp>
      <p:sp>
        <p:nvSpPr>
          <p:cNvPr id="2" name="成果：方案同时保留业务名称、资源检查和迭代记录">
            <a:extLst xmlns:a="http://schemas.openxmlformats.org/drawingml/2006/main">
              <a:ext uri="{FF2B5EF4-FFF2-40B4-BE49-F238E27FC236}">
                <a16:creationId xmlns:a16="http://schemas.microsoft.com/office/drawing/2014/main" id="{CCFE68B6-EFE2-43AF-8E1C-6FBA3C7E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成果：方案同时保留业务名称、资源检查和迭代记录</a:t>
            </a:r>
          </a:p>
        </p:txBody>
      </p:sp>
      <p:sp>
        <p:nvSpPr>
          <p:cNvPr id="3" name="36  /  易行 LP">
            <a:extLst xmlns:a="http://schemas.openxmlformats.org/drawingml/2006/main">
              <a:ext uri="{FF2B5EF4-FFF2-40B4-BE49-F238E27FC236}">
                <a16:creationId xmlns:a16="http://schemas.microsoft.com/office/drawing/2014/main" id="{40556794-AC59-44BE-948A-711D2BEF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36  /  易行 LP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7098DC-6E15-4586-9638-A663C98E24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ada35839c14e0b"/>
          <a:stretch xmlns:a="http://schemas.openxmlformats.org/drawingml/2006/main"/>
        </p:blipFill>
        <p:spPr>
          <a:xfrm xmlns:a="http://schemas.openxmlformats.org/drawingml/2006/main">
            <a:off x="3286125" y="1790700"/>
            <a:ext cx="8286750" cy="4143375"/>
          </a:xfrm>
          <a:prstGeom xmlns:a="http://schemas.openxmlformats.org/drawingml/2006/main" prst="rect">
            <a:avLst/>
          </a:prstGeom>
        </p:spPr>
      </p:pic>
      <p:sp>
        <p:nvSpPr>
          <p:cNvPr id="5" name="最优方案">
            <a:extLst xmlns:a="http://schemas.openxmlformats.org/drawingml/2006/main">
              <a:ext uri="{FF2B5EF4-FFF2-40B4-BE49-F238E27FC236}">
                <a16:creationId xmlns:a16="http://schemas.microsoft.com/office/drawing/2014/main" id="{384AD53E-7032-4F3F-AC6F-D2B65B1D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rPr>
              <a:t>最优方案</a:t>
            </a:r>
          </a:p>
        </p:txBody>
      </p:sp>
      <p:sp>
        <p:nvSpPr>
          <p:cNvPr id="6" name="玩具 2000&#10;&#10;组合部件 1000&#10;&#10;目标值 3500">
            <a:extLst xmlns:a="http://schemas.openxmlformats.org/drawingml/2006/main">
              <a:ext uri="{FF2B5EF4-FFF2-40B4-BE49-F238E27FC236}">
                <a16:creationId xmlns:a16="http://schemas.microsoft.com/office/drawing/2014/main" id="{EEDEEECA-235F-447E-9C69-0543189A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2476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玩具 2000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组合部件 1000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目标值 3500</a:t>
            </a:r>
          </a:p>
        </p:txBody>
      </p:sp>
      <p:sp>
        <p:nvSpPr>
          <p:cNvPr id="7" name="两条资源约束均取等号；迭代记录与完整方案见软件及导出记录。">
            <a:extLst xmlns:a="http://schemas.openxmlformats.org/drawingml/2006/main">
              <a:ext uri="{FF2B5EF4-FFF2-40B4-BE49-F238E27FC236}">
                <a16:creationId xmlns:a16="http://schemas.microsoft.com/office/drawing/2014/main" id="{7FBA6F53-8071-4F80-90DC-13FD4E52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483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两条资源约束均取等号；迭代记录与完整方案见软件及导出记录。</a:t>
            </a:r>
          </a:p>
        </p:txBody>
      </p:sp>
    </p:spTree>
    <p:extLst>
      <p:ext uri="{BB962C8B-B14F-4D97-AF65-F5344CB8AC3E}">
        <p14:creationId xmlns:p14="http://schemas.microsoft.com/office/powerpoint/2010/main" val="49433077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变更验证：补充销量约束后重算">
            <a:extLst xmlns:a="http://schemas.openxmlformats.org/drawingml/2006/main">
              <a:ext uri="{FF2B5EF4-FFF2-40B4-BE49-F238E27FC236}">
                <a16:creationId xmlns:a16="http://schemas.microsoft.com/office/drawing/2014/main" id="{41D1DA62-FFB0-4C6C-A0ED-3DEEA242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变更验证：补充销量约束后重算</a:t>
            </a:r>
          </a:p>
        </p:txBody>
      </p:sp>
      <p:sp>
        <p:nvSpPr>
          <p:cNvPr id="2" name="成果：用同一求解器处理模型迭代，避免把旧答案继续当成有效方案">
            <a:extLst xmlns:a="http://schemas.openxmlformats.org/drawingml/2006/main">
              <a:ext uri="{FF2B5EF4-FFF2-40B4-BE49-F238E27FC236}">
                <a16:creationId xmlns:a16="http://schemas.microsoft.com/office/drawing/2014/main" id="{06D6448C-AF12-4E15-9132-164F6710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成果：用同一求解器处理模型迭代，避免把旧答案继续当成有效方案</a:t>
            </a:r>
          </a:p>
        </p:txBody>
      </p:sp>
      <p:sp>
        <p:nvSpPr>
          <p:cNvPr id="3" name="37  /  易行 LP">
            <a:extLst xmlns:a="http://schemas.openxmlformats.org/drawingml/2006/main">
              <a:ext uri="{FF2B5EF4-FFF2-40B4-BE49-F238E27FC236}">
                <a16:creationId xmlns:a16="http://schemas.microsoft.com/office/drawing/2014/main" id="{0CA59B2A-D8E2-4BAC-870D-E5D5577A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37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9BA7DD-B216-4025-A4D6-ED793E90EBF5}"/>
              </a:ext>
            </a:extLst>
          </p:cNvPr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857500"/>
                <a:gridCol w="3905250"/>
                <a:gridCol w="1962150"/>
              </a:tblGrid>
              <a:tr h="838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模型版本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新增条件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最优活动水平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目标值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初始模型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尚未限定销量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鸭400，鱼80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2320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修订模型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鸭≤150，鱼≤50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鸭150，鱼50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950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  <p:sp>
        <p:nvSpPr>
          <p:cNvPr id="5" name="我的操作：载入故事模型 → 加入两条销量约束 → 重新建模 → ">
            <a:extLst xmlns:a="http://schemas.openxmlformats.org/drawingml/2006/main">
              <a:ext uri="{FF2B5EF4-FFF2-40B4-BE49-F238E27FC236}">
                <a16:creationId xmlns:a16="http://schemas.microsoft.com/office/drawing/2014/main" id="{F9B3EDFF-8606-4FC7-8378-42BFF56B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96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我的操作：载入故事模型 → 加入两条销量约束 → 重新建模 → 计算 → 代回检查。</a:t>
            </a:r>
          </a:p>
        </p:txBody>
      </p:sp>
      <p:sp>
        <p:nvSpPr>
          <p:cNvPr id="6" name="软件能够重算已给定的模型；销量上限是否可靠、模型假设是否完整，需">
            <a:extLst xmlns:a="http://schemas.openxmlformats.org/drawingml/2006/main">
              <a:ext uri="{FF2B5EF4-FFF2-40B4-BE49-F238E27FC236}">
                <a16:creationId xmlns:a16="http://schemas.microsoft.com/office/drawing/2014/main" id="{AC793ECF-AED8-4753-B199-78B97FA9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rPr>
              <a:t>软件能够重算已给定的模型；销量上限是否可靠、模型假设是否完整，需要研究人员审核。</a:t>
            </a:r>
          </a:p>
        </p:txBody>
      </p:sp>
    </p:spTree>
    <p:extLst>
      <p:ext uri="{BB962C8B-B14F-4D97-AF65-F5344CB8AC3E}">
        <p14:creationId xmlns:p14="http://schemas.microsoft.com/office/powerpoint/2010/main" val="197133850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需求—设计—代码—测试追踪">
            <a:extLst xmlns:a="http://schemas.openxmlformats.org/drawingml/2006/main">
              <a:ext uri="{FF2B5EF4-FFF2-40B4-BE49-F238E27FC236}">
                <a16:creationId xmlns:a16="http://schemas.microsoft.com/office/drawing/2014/main" id="{4245820C-537A-4926-968F-BBBE3595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需求—设计—代码—测试追踪</a:t>
            </a:r>
          </a:p>
        </p:txBody>
      </p:sp>
      <p:sp>
        <p:nvSpPr>
          <p:cNvPr id="2" name="成果：每项核心需求都有实现与验证依据">
            <a:extLst xmlns:a="http://schemas.openxmlformats.org/drawingml/2006/main">
              <a:ext uri="{FF2B5EF4-FFF2-40B4-BE49-F238E27FC236}">
                <a16:creationId xmlns:a16="http://schemas.microsoft.com/office/drawing/2014/main" id="{2C4E4A93-C2A4-4569-B574-6455FB06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成果：每项核心需求都有实现与验证依据</a:t>
            </a:r>
          </a:p>
        </p:txBody>
      </p:sp>
      <p:sp>
        <p:nvSpPr>
          <p:cNvPr id="3" name="38  /  易行 LP">
            <a:extLst xmlns:a="http://schemas.openxmlformats.org/drawingml/2006/main">
              <a:ext uri="{FF2B5EF4-FFF2-40B4-BE49-F238E27FC236}">
                <a16:creationId xmlns:a16="http://schemas.microsoft.com/office/drawing/2014/main" id="{1E72054C-CF1F-4F20-BC32-4516D91D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38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4ABF52-82A3-4390-B706-652EB1369E91}"/>
              </a:ext>
            </a:extLst>
          </p:cNvPr>
          <p:cNvGraphicFramePr/>
          <p:nvPr/>
        </p:nvGraphicFramePr>
        <p:xfrm>
          <a:off xmlns:a="http://schemas.openxmlformats.org/drawingml/2006/main" x="685800" y="1695450"/>
          <a:ext xmlns:a="http://schemas.openxmlformats.org/drawingml/2006/main" cx="10820400" cy="4467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5905500"/>
                <a:gridCol w="2486025"/>
              </a:tblGrid>
              <a:tr h="6381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需求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设计 / 代码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验证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F01 文本导入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Repository.read / textFile 回调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U11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F02 结构化建模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ModelView.render / 动态矩阵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U08、U09</a:t>
                      </a:r>
                    </a:p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T11、T12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F03 生成与校验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LPModel / Controller.build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U01、U04；T13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F04 计算与方案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SimplexSolver / showResult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T01～T10</a:t>
                      </a:r>
                    </a:p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U02、U05～U07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F05 修改后重算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Controller.invalidate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U03；T02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F06 保存与迭代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Repository / trace / JSON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U10、U13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381659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评审准备与尚待确认的问题">
            <a:extLst xmlns:a="http://schemas.openxmlformats.org/drawingml/2006/main">
              <a:ext uri="{FF2B5EF4-FFF2-40B4-BE49-F238E27FC236}">
                <a16:creationId xmlns:a16="http://schemas.microsoft.com/office/drawing/2014/main" id="{93FAAD8E-A137-43E3-8AC2-7565163F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评审准备与尚待确认的问题</a:t>
            </a:r>
          </a:p>
        </p:txBody>
      </p:sp>
      <p:sp>
        <p:nvSpPr>
          <p:cNvPr id="2" name="成果：将未确认事项显式列出，不虚构评审与访谈记录">
            <a:extLst xmlns:a="http://schemas.openxmlformats.org/drawingml/2006/main">
              <a:ext uri="{FF2B5EF4-FFF2-40B4-BE49-F238E27FC236}">
                <a16:creationId xmlns:a16="http://schemas.microsoft.com/office/drawing/2014/main" id="{B12ED217-7861-4177-B8CC-4A6F4A68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成果：将未确认事项显式列出，不虚构评审与访谈记录</a:t>
            </a:r>
          </a:p>
        </p:txBody>
      </p:sp>
      <p:sp>
        <p:nvSpPr>
          <p:cNvPr id="3" name="39  /  易行 LP">
            <a:extLst xmlns:a="http://schemas.openxmlformats.org/drawingml/2006/main">
              <a:ext uri="{FF2B5EF4-FFF2-40B4-BE49-F238E27FC236}">
                <a16:creationId xmlns:a16="http://schemas.microsoft.com/office/drawing/2014/main" id="{C9539170-5BDD-448F-8FA8-011C0179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39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3C47F7-2101-4C49-9794-DAF4A407B196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3714750"/>
                <a:gridCol w="4152900"/>
              </a:tblGrid>
              <a:tr h="7381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待确认事项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当前实现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评审后可能修改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输入方式与导入格式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辅助建模；TXT 与 JSON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增加代数式解析或指定格式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严格不等式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菜单保留 &lt;、&gt;；阻止直接计算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需确认精度语义或整数语义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变量是否必须为整数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仅支持连续变量，结果中明确提示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如需整数最优，增加整数规划算法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部署与公司业务范围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本地单机，当前专注 LP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根据 Q6、Q7 答复调整架构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评审记录与修改归档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尚无正式评审意见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收到意见后记录问题、修改和复验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528373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项目总结">
            <a:extLst xmlns:a="http://schemas.openxmlformats.org/drawingml/2006/main">
              <a:ext uri="{FF2B5EF4-FFF2-40B4-BE49-F238E27FC236}">
                <a16:creationId xmlns:a16="http://schemas.microsoft.com/office/drawing/2014/main" id="{D8F40546-CE51-4D6B-8F88-5CD9BCDC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项目总结</a:t>
            </a:r>
          </a:p>
        </p:txBody>
      </p:sp>
      <p:sp>
        <p:nvSpPr>
          <p:cNvPr id="2" name="我的收获：把业务困难、领域知识和软件实现连接起来">
            <a:extLst xmlns:a="http://schemas.openxmlformats.org/drawingml/2006/main">
              <a:ext uri="{FF2B5EF4-FFF2-40B4-BE49-F238E27FC236}">
                <a16:creationId xmlns:a16="http://schemas.microsoft.com/office/drawing/2014/main" id="{F5564911-624F-4BE8-BCB3-7E9FC952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我的收获：把业务困难、领域知识和软件实现连接起来</a:t>
            </a:r>
          </a:p>
        </p:txBody>
      </p:sp>
      <p:sp>
        <p:nvSpPr>
          <p:cNvPr id="3" name="40  /  易行 LP">
            <a:extLst xmlns:a="http://schemas.openxmlformats.org/drawingml/2006/main">
              <a:ext uri="{FF2B5EF4-FFF2-40B4-BE49-F238E27FC236}">
                <a16:creationId xmlns:a16="http://schemas.microsoft.com/office/drawing/2014/main" id="{BEF62060-B9FD-406C-B88C-714AC513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40  /  易行 LP</a:t>
            </a:r>
          </a:p>
        </p:txBody>
      </p:sp>
      <p:sp>
        <p:nvSpPr>
          <p:cNvPr id="4" name="我从“小明反复手算”发现计算辅助需求，并明确人和软件各自承担的责">
            <a:extLst xmlns:a="http://schemas.openxmlformats.org/drawingml/2006/main">
              <a:ext uri="{FF2B5EF4-FFF2-40B4-BE49-F238E27FC236}">
                <a16:creationId xmlns:a16="http://schemas.microsoft.com/office/drawing/2014/main" id="{0D6722E9-D511-4F43-AC8E-8D0DA2CC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我从“小明反复手算”发现计算辅助需求，并明确人和软件各自承担的责任。</a:t>
            </a:r>
          </a:p>
        </p:txBody>
      </p:sp>
      <p:sp>
        <p:nvSpPr>
          <p:cNvPr id="5" name="我通过教师原型细化辅助建模交互，学习将活动、资源与目标转换为线性">
            <a:extLst xmlns:a="http://schemas.openxmlformats.org/drawingml/2006/main">
              <a:ext uri="{FF2B5EF4-FFF2-40B4-BE49-F238E27FC236}">
                <a16:creationId xmlns:a16="http://schemas.microsoft.com/office/drawing/2014/main" id="{3669A9D9-EF72-492B-AF0D-799F6DB1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我通过教师原型细化辅助建模交互，学习将活动、资源与目标转换为线性模型。</a:t>
            </a:r>
          </a:p>
        </p:txBody>
      </p:sp>
      <p:sp>
        <p:nvSpPr>
          <p:cNvPr id="6" name="我将分析模型逐步落实为职责、类与代码，并通过回归测试和界面操作验">
            <a:extLst xmlns:a="http://schemas.openxmlformats.org/drawingml/2006/main">
              <a:ext uri="{FF2B5EF4-FFF2-40B4-BE49-F238E27FC236}">
                <a16:creationId xmlns:a16="http://schemas.microsoft.com/office/drawing/2014/main" id="{206947AF-CE17-4B33-A372-40C71B32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我将分析模型逐步落实为职责、类与代码，并通过回归测试和界面操作验证。</a:t>
            </a:r>
          </a:p>
        </p:txBody>
      </p:sp>
      <p:sp>
        <p:nvSpPr>
          <p:cNvPr id="7" name="我认识到：模型正确性与求解正确性需要分别检查，材料本身也应交叉核">
            <a:extLst xmlns:a="http://schemas.openxmlformats.org/drawingml/2006/main">
              <a:ext uri="{FF2B5EF4-FFF2-40B4-BE49-F238E27FC236}">
                <a16:creationId xmlns:a16="http://schemas.microsoft.com/office/drawing/2014/main" id="{A02A1258-4459-4CD9-940F-C0023F47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95775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我认识到：模型正确性与求解正确性需要分别检查，材料本身也应交叉核对。</a:t>
            </a:r>
          </a:p>
        </p:txBody>
      </p:sp>
      <p:sp>
        <p:nvSpPr>
          <p:cNvPr id="8" name="后续工作：完成涉众调研与现场评审，再按意见修改、复验并归档。">
            <a:extLst xmlns:a="http://schemas.openxmlformats.org/drawingml/2006/main">
              <a:ext uri="{FF2B5EF4-FFF2-40B4-BE49-F238E27FC236}">
                <a16:creationId xmlns:a16="http://schemas.microsoft.com/office/drawing/2014/main" id="{41E1DD6E-DC8C-42CC-B3F8-EF225892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后续工作：完成涉众调研与现场评审，再按意见修改、复验并归档。</a:t>
            </a:r>
          </a:p>
        </p:txBody>
      </p:sp>
    </p:spTree>
    <p:extLst>
      <p:ext uri="{BB962C8B-B14F-4D97-AF65-F5344CB8AC3E}">
        <p14:creationId xmlns:p14="http://schemas.microsoft.com/office/powerpoint/2010/main" val="150507809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参考材料与交付内容">
            <a:extLst xmlns:a="http://schemas.openxmlformats.org/drawingml/2006/main">
              <a:ext uri="{FF2B5EF4-FFF2-40B4-BE49-F238E27FC236}">
                <a16:creationId xmlns:a16="http://schemas.microsoft.com/office/drawing/2014/main" id="{A393E726-F680-48E2-97D6-E80D360E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参考材料与交付内容</a:t>
            </a:r>
          </a:p>
        </p:txBody>
      </p:sp>
      <p:sp>
        <p:nvSpPr>
          <p:cNvPr id="2" name="成果：来源可追溯，程序可复现，报告与实现对应">
            <a:extLst xmlns:a="http://schemas.openxmlformats.org/drawingml/2006/main">
              <a:ext uri="{FF2B5EF4-FFF2-40B4-BE49-F238E27FC236}">
                <a16:creationId xmlns:a16="http://schemas.microsoft.com/office/drawing/2014/main" id="{61612468-A7A3-407E-960C-CE70FECD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成果：来源可追溯，程序可复现，报告与实现对应</a:t>
            </a:r>
          </a:p>
        </p:txBody>
      </p:sp>
      <p:sp>
        <p:nvSpPr>
          <p:cNvPr id="3" name="41  /  易行 LP">
            <a:extLst xmlns:a="http://schemas.openxmlformats.org/drawingml/2006/main">
              <a:ext uri="{FF2B5EF4-FFF2-40B4-BE49-F238E27FC236}">
                <a16:creationId xmlns:a16="http://schemas.microsoft.com/office/drawing/2014/main" id="{239D25B4-1CFA-4038-94E0-B071C510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41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671874-ABC9-48D7-9DE9-D3FCDED30CA3}"/>
              </a:ext>
            </a:extLst>
          </p:cNvPr>
          <p:cNvGraphicFramePr/>
          <p:nvPr/>
        </p:nvGraphicFramePr>
        <p:xfrm>
          <a:off xmlns:a="http://schemas.openxmlformats.org/drawingml/2006/main" x="685800" y="1695450"/>
          <a:ext xmlns:a="http://schemas.openxmlformats.org/drawingml/2006/main" cx="1082040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8629650"/>
              </a:tblGrid>
              <a:tr h="642257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类别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材料 / 文件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课程任务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《现代软件工程课程设计》课程安排.pptx；课程设计报告（PPT）样本.pptx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领域与故事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发现软件的故事.pdf；运筹学(线性规划).pptx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教师补充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参考资料/教师群内图片1.png（Q1～Q7）；教师界面原型.png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可运行软件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source/index.html、style.css、solver.js、app.js、examples.js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复现测试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node source/test-solver.cjs；node source/test-vertices.cjs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提交与说明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交付目录中的报告 PPT / PDF、软件源码压缩包与使用说明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42930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2026-10-26T10:00:33.3390000Z</dcterms:created>
  <dcterms:modified xsi:type="dcterms:W3CDTF">2026-10-26T10:00:33.3390000Z</dcterms:modified>
</coreProperties>
</file>