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ee1f7e742d44e1" /><Relationship Type="http://schemas.openxmlformats.org/officeDocument/2006/relationships/extended-properties" Target="/docProps/app.xml" Id="Rfad4ae2d68814cd1" /><Relationship Type="http://schemas.openxmlformats.org/officeDocument/2006/relationships/officeDocument" Target="/ppt/presentation.xml" Id="Ra5c05a28faee45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fc2f23bf94dc9"/>
  </p:sldMasterIdLst>
  <p:notesMasterIdLst>
    <p:notesMasterId xmlns:r="http://schemas.openxmlformats.org/officeDocument/2006/relationships" r:id="R15e5dd04aba34d33"/>
  </p:notesMasterIdLst>
  <p:sldIdLst>
    <p:sldId xmlns:r="http://schemas.openxmlformats.org/officeDocument/2006/relationships" id="256" r:id="R1ce5b888d526404b"/>
    <p:sldId xmlns:r="http://schemas.openxmlformats.org/officeDocument/2006/relationships" id="257" r:id="R47a72be5c9964cd8"/>
    <p:sldId xmlns:r="http://schemas.openxmlformats.org/officeDocument/2006/relationships" id="258" r:id="Rc416ee40a91e4f60"/>
    <p:sldId xmlns:r="http://schemas.openxmlformats.org/officeDocument/2006/relationships" id="259" r:id="Ra6d8fed7ac7d4d9e"/>
    <p:sldId xmlns:r="http://schemas.openxmlformats.org/officeDocument/2006/relationships" id="260" r:id="Rf9bff21acc194044"/>
    <p:sldId xmlns:r="http://schemas.openxmlformats.org/officeDocument/2006/relationships" id="261" r:id="R59f69297226e465d"/>
    <p:sldId xmlns:r="http://schemas.openxmlformats.org/officeDocument/2006/relationships" id="262" r:id="R127024d2fb9149f9"/>
    <p:sldId xmlns:r="http://schemas.openxmlformats.org/officeDocument/2006/relationships" id="263" r:id="Rf4efb36584d747b2"/>
    <p:sldId xmlns:r="http://schemas.openxmlformats.org/officeDocument/2006/relationships" id="264" r:id="R320a2f78c62b4e46"/>
    <p:sldId xmlns:r="http://schemas.openxmlformats.org/officeDocument/2006/relationships" id="265" r:id="Rcea86eeb96f34a86"/>
    <p:sldId xmlns:r="http://schemas.openxmlformats.org/officeDocument/2006/relationships" id="266" r:id="R2895c73c70114a53"/>
    <p:sldId xmlns:r="http://schemas.openxmlformats.org/officeDocument/2006/relationships" id="267" r:id="Rf7dff9a0acf74716"/>
    <p:sldId xmlns:r="http://schemas.openxmlformats.org/officeDocument/2006/relationships" id="268" r:id="R251dc9b02bbb4be8"/>
    <p:sldId xmlns:r="http://schemas.openxmlformats.org/officeDocument/2006/relationships" id="269" r:id="R5411e57741534a6c"/>
    <p:sldId xmlns:r="http://schemas.openxmlformats.org/officeDocument/2006/relationships" id="270" r:id="R1a6e24a3a2d64e56"/>
    <p:sldId xmlns:r="http://schemas.openxmlformats.org/officeDocument/2006/relationships" id="271" r:id="R3b072f5bee3a4afd"/>
    <p:sldId xmlns:r="http://schemas.openxmlformats.org/officeDocument/2006/relationships" id="272" r:id="R1e24f8e10f6a4126"/>
    <p:sldId xmlns:r="http://schemas.openxmlformats.org/officeDocument/2006/relationships" id="273" r:id="R55531983ea9d40dc"/>
    <p:sldId xmlns:r="http://schemas.openxmlformats.org/officeDocument/2006/relationships" id="274" r:id="R6eef4be9503a4240"/>
    <p:sldId xmlns:r="http://schemas.openxmlformats.org/officeDocument/2006/relationships" id="275" r:id="R6b0c64951bb34334"/>
    <p:sldId xmlns:r="http://schemas.openxmlformats.org/officeDocument/2006/relationships" id="276" r:id="Rf62a3a984f654448"/>
    <p:sldId xmlns:r="http://schemas.openxmlformats.org/officeDocument/2006/relationships" id="277" r:id="R49e61387d5e74642"/>
    <p:sldId xmlns:r="http://schemas.openxmlformats.org/officeDocument/2006/relationships" id="278" r:id="Rb40a8505cef24b2a"/>
    <p:sldId xmlns:r="http://schemas.openxmlformats.org/officeDocument/2006/relationships" id="279" r:id="R88fabc5d2d304043"/>
    <p:sldId xmlns:r="http://schemas.openxmlformats.org/officeDocument/2006/relationships" id="280" r:id="Rdd59fba63a7b4537"/>
    <p:sldId xmlns:r="http://schemas.openxmlformats.org/officeDocument/2006/relationships" id="281" r:id="Rdd01a8f149784c92"/>
    <p:sldId xmlns:r="http://schemas.openxmlformats.org/officeDocument/2006/relationships" id="282" r:id="R7af3d67860064c41"/>
    <p:sldId xmlns:r="http://schemas.openxmlformats.org/officeDocument/2006/relationships" id="283" r:id="Rdb02e45908d941a6"/>
    <p:sldId xmlns:r="http://schemas.openxmlformats.org/officeDocument/2006/relationships" id="284" r:id="Re660939c31814879"/>
    <p:sldId xmlns:r="http://schemas.openxmlformats.org/officeDocument/2006/relationships" id="285" r:id="Rb335d32ccc91409e"/>
    <p:sldId xmlns:r="http://schemas.openxmlformats.org/officeDocument/2006/relationships" id="286" r:id="R13649549fca24f1f"/>
    <p:sldId xmlns:r="http://schemas.openxmlformats.org/officeDocument/2006/relationships" id="287" r:id="Refef3ead448040af"/>
    <p:sldId xmlns:r="http://schemas.openxmlformats.org/officeDocument/2006/relationships" id="288" r:id="R2510472368ee4e6a"/>
    <p:sldId xmlns:r="http://schemas.openxmlformats.org/officeDocument/2006/relationships" id="289" r:id="R8a16b2c6dc7145d4"/>
    <p:sldId xmlns:r="http://schemas.openxmlformats.org/officeDocument/2006/relationships" id="290" r:id="R6b101daa26a54f8b"/>
    <p:sldId xmlns:r="http://schemas.openxmlformats.org/officeDocument/2006/relationships" id="291" r:id="R5125a8b146bb4137"/>
    <p:sldId xmlns:r="http://schemas.openxmlformats.org/officeDocument/2006/relationships" id="292" r:id="Rc0316a608ed44b31"/>
    <p:sldId xmlns:r="http://schemas.openxmlformats.org/officeDocument/2006/relationships" id="293" r:id="R798e149179c649b0"/>
    <p:sldId xmlns:r="http://schemas.openxmlformats.org/officeDocument/2006/relationships" id="294" r:id="Rd7b6f59138414a92"/>
    <p:sldId xmlns:r="http://schemas.openxmlformats.org/officeDocument/2006/relationships" id="295" r:id="R61c826653f7c403d"/>
    <p:sldId xmlns:r="http://schemas.openxmlformats.org/officeDocument/2006/relationships" id="296" r:id="R4e2181073b8645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6c6fc5932e4eb3" /><Relationship Type="http://schemas.openxmlformats.org/officeDocument/2006/relationships/slideMaster" Target="/ppt/slideMasters/slideMaster1.xml" Id="R5cefc2f23bf94dc9" /><Relationship Type="http://schemas.openxmlformats.org/officeDocument/2006/relationships/notesMaster" Target="/ppt/notesMasters/notesMaster1.xml" Id="R15e5dd04aba34d33" /><Relationship Type="http://schemas.openxmlformats.org/officeDocument/2006/relationships/presProps" Target="/ppt/presProps.xml" Id="R6a1b984261bf4753" /><Relationship Type="http://schemas.openxmlformats.org/officeDocument/2006/relationships/tableStyles" Target="/ppt/tableStyles.xml" Id="Rc1b03aad6985476f" /><Relationship Type="http://schemas.openxmlformats.org/officeDocument/2006/relationships/slide" Target="/ppt/slides/slide1.xml" Id="R1ce5b888d526404b" /><Relationship Type="http://schemas.openxmlformats.org/officeDocument/2006/relationships/slide" Target="/ppt/slides/slide2.xml" Id="R47a72be5c9964cd8" /><Relationship Type="http://schemas.openxmlformats.org/officeDocument/2006/relationships/slide" Target="/ppt/slides/slide3.xml" Id="Rc416ee40a91e4f60" /><Relationship Type="http://schemas.openxmlformats.org/officeDocument/2006/relationships/slide" Target="/ppt/slides/slide4.xml" Id="Ra6d8fed7ac7d4d9e" /><Relationship Type="http://schemas.openxmlformats.org/officeDocument/2006/relationships/slide" Target="/ppt/slides/slide5.xml" Id="Rf9bff21acc194044" /><Relationship Type="http://schemas.openxmlformats.org/officeDocument/2006/relationships/slide" Target="/ppt/slides/slide6.xml" Id="R59f69297226e465d" /><Relationship Type="http://schemas.openxmlformats.org/officeDocument/2006/relationships/slide" Target="/ppt/slides/slide7.xml" Id="R127024d2fb9149f9" /><Relationship Type="http://schemas.openxmlformats.org/officeDocument/2006/relationships/slide" Target="/ppt/slides/slide8.xml" Id="Rf4efb36584d747b2" /><Relationship Type="http://schemas.openxmlformats.org/officeDocument/2006/relationships/slide" Target="/ppt/slides/slide9.xml" Id="R320a2f78c62b4e46" /><Relationship Type="http://schemas.openxmlformats.org/officeDocument/2006/relationships/slide" Target="/ppt/slides/slide10.xml" Id="Rcea86eeb96f34a86" /><Relationship Type="http://schemas.openxmlformats.org/officeDocument/2006/relationships/slide" Target="/ppt/slides/slide11.xml" Id="R2895c73c70114a53" /><Relationship Type="http://schemas.openxmlformats.org/officeDocument/2006/relationships/slide" Target="/ppt/slides/slide12.xml" Id="Rf7dff9a0acf74716" /><Relationship Type="http://schemas.openxmlformats.org/officeDocument/2006/relationships/slide" Target="/ppt/slides/slide13.xml" Id="R251dc9b02bbb4be8" /><Relationship Type="http://schemas.openxmlformats.org/officeDocument/2006/relationships/slide" Target="/ppt/slides/slide14.xml" Id="R5411e57741534a6c" /><Relationship Type="http://schemas.openxmlformats.org/officeDocument/2006/relationships/slide" Target="/ppt/slides/slide15.xml" Id="R1a6e24a3a2d64e56" /><Relationship Type="http://schemas.openxmlformats.org/officeDocument/2006/relationships/slide" Target="/ppt/slides/slide16.xml" Id="R3b072f5bee3a4afd" /><Relationship Type="http://schemas.openxmlformats.org/officeDocument/2006/relationships/slide" Target="/ppt/slides/slide17.xml" Id="R1e24f8e10f6a4126" /><Relationship Type="http://schemas.openxmlformats.org/officeDocument/2006/relationships/slide" Target="/ppt/slides/slide18.xml" Id="R55531983ea9d40dc" /><Relationship Type="http://schemas.openxmlformats.org/officeDocument/2006/relationships/slide" Target="/ppt/slides/slide19.xml" Id="R6eef4be9503a4240" /><Relationship Type="http://schemas.openxmlformats.org/officeDocument/2006/relationships/slide" Target="/ppt/slides/slide20.xml" Id="R6b0c64951bb34334" /><Relationship Type="http://schemas.openxmlformats.org/officeDocument/2006/relationships/slide" Target="/ppt/slides/slide21.xml" Id="Rf62a3a984f654448" /><Relationship Type="http://schemas.openxmlformats.org/officeDocument/2006/relationships/slide" Target="/ppt/slides/slide22.xml" Id="R49e61387d5e74642" /><Relationship Type="http://schemas.openxmlformats.org/officeDocument/2006/relationships/slide" Target="/ppt/slides/slide23.xml" Id="Rb40a8505cef24b2a" /><Relationship Type="http://schemas.openxmlformats.org/officeDocument/2006/relationships/slide" Target="/ppt/slides/slide24.xml" Id="R88fabc5d2d304043" /><Relationship Type="http://schemas.openxmlformats.org/officeDocument/2006/relationships/slide" Target="/ppt/slides/slide25.xml" Id="Rdd59fba63a7b4537" /><Relationship Type="http://schemas.openxmlformats.org/officeDocument/2006/relationships/slide" Target="/ppt/slides/slide26.xml" Id="Rdd01a8f149784c92" /><Relationship Type="http://schemas.openxmlformats.org/officeDocument/2006/relationships/slide" Target="/ppt/slides/slide27.xml" Id="R7af3d67860064c41" /><Relationship Type="http://schemas.openxmlformats.org/officeDocument/2006/relationships/slide" Target="/ppt/slides/slide28.xml" Id="Rdb02e45908d941a6" /><Relationship Type="http://schemas.openxmlformats.org/officeDocument/2006/relationships/slide" Target="/ppt/slides/slide29.xml" Id="Re660939c31814879" /><Relationship Type="http://schemas.openxmlformats.org/officeDocument/2006/relationships/slide" Target="/ppt/slides/slide30.xml" Id="Rb335d32ccc91409e" /><Relationship Type="http://schemas.openxmlformats.org/officeDocument/2006/relationships/slide" Target="/ppt/slides/slide31.xml" Id="R13649549fca24f1f" /><Relationship Type="http://schemas.openxmlformats.org/officeDocument/2006/relationships/slide" Target="/ppt/slides/slide32.xml" Id="Refef3ead448040af" /><Relationship Type="http://schemas.openxmlformats.org/officeDocument/2006/relationships/slide" Target="/ppt/slides/slide33.xml" Id="R2510472368ee4e6a" /><Relationship Type="http://schemas.openxmlformats.org/officeDocument/2006/relationships/slide" Target="/ppt/slides/slide34.xml" Id="R8a16b2c6dc7145d4" /><Relationship Type="http://schemas.openxmlformats.org/officeDocument/2006/relationships/slide" Target="/ppt/slides/slide35.xml" Id="R6b101daa26a54f8b" /><Relationship Type="http://schemas.openxmlformats.org/officeDocument/2006/relationships/slide" Target="/ppt/slides/slide36.xml" Id="R5125a8b146bb4137" /><Relationship Type="http://schemas.openxmlformats.org/officeDocument/2006/relationships/slide" Target="/ppt/slides/slide37.xml" Id="Rc0316a608ed44b31" /><Relationship Type="http://schemas.openxmlformats.org/officeDocument/2006/relationships/slide" Target="/ppt/slides/slide38.xml" Id="R798e149179c649b0" /><Relationship Type="http://schemas.openxmlformats.org/officeDocument/2006/relationships/slide" Target="/ppt/slides/slide39.xml" Id="Rd7b6f59138414a92" /><Relationship Type="http://schemas.openxmlformats.org/officeDocument/2006/relationships/slide" Target="/ppt/slides/slide40.xml" Id="R61c826653f7c403d" /><Relationship Type="http://schemas.openxmlformats.org/officeDocument/2006/relationships/slide" Target="/ppt/slides/slide41.xml" Id="R4e2181073b8645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2c764f983a4a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824cbd902c45c4" /><Relationship Type="http://schemas.openxmlformats.org/officeDocument/2006/relationships/notesMaster" Target="/ppt/notesMasters/notesMaster1.xml" Id="R44c776dc6d4b45f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ffc7a6a582421a" /><Relationship Type="http://schemas.openxmlformats.org/officeDocument/2006/relationships/notesMaster" Target="/ppt/notesMasters/notesMaster1.xml" Id="R85636105b93547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c3c13d2b0a4fcf" /><Relationship Type="http://schemas.openxmlformats.org/officeDocument/2006/relationships/notesMaster" Target="/ppt/notesMasters/notesMaster1.xml" Id="R0c82aecf545145b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b80b0b94c34181" /><Relationship Type="http://schemas.openxmlformats.org/officeDocument/2006/relationships/notesMaster" Target="/ppt/notesMasters/notesMaster1.xml" Id="R44469fcf38a2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193ea877e24cd1" /><Relationship Type="http://schemas.openxmlformats.org/officeDocument/2006/relationships/notesMaster" Target="/ppt/notesMasters/notesMaster1.xml" Id="R258e74bfefdd4a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0e51ea3e8e468d" /><Relationship Type="http://schemas.openxmlformats.org/officeDocument/2006/relationships/notesMaster" Target="/ppt/notesMasters/notesMaster1.xml" Id="R38d8a8e2f21b41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af0d7c186554ffe" /><Relationship Type="http://schemas.openxmlformats.org/officeDocument/2006/relationships/notesMaster" Target="/ppt/notesMasters/notesMaster1.xml" Id="R408547f649cb422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a4330db66d4c67" /><Relationship Type="http://schemas.openxmlformats.org/officeDocument/2006/relationships/notesMaster" Target="/ppt/notesMasters/notesMaster1.xml" Id="R9440657509ff42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e2d7167d744c38" /><Relationship Type="http://schemas.openxmlformats.org/officeDocument/2006/relationships/notesMaster" Target="/ppt/notesMasters/notesMaster1.xml" Id="R918eefa7ce88423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e4048e09ef4d44" /><Relationship Type="http://schemas.openxmlformats.org/officeDocument/2006/relationships/notesMaster" Target="/ppt/notesMasters/notesMaster1.xml" Id="Re7a48117ee114b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cabcf009ac046cb" /><Relationship Type="http://schemas.openxmlformats.org/officeDocument/2006/relationships/notesMaster" Target="/ppt/notesMasters/notesMaster1.xml" Id="Rf07c4eeb1761481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b8b77c6e44f4e1f" /><Relationship Type="http://schemas.openxmlformats.org/officeDocument/2006/relationships/notesMaster" Target="/ppt/notesMasters/notesMaster1.xml" Id="R26908eb12921477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22f24b5f854798" /><Relationship Type="http://schemas.openxmlformats.org/officeDocument/2006/relationships/notesMaster" Target="/ppt/notesMasters/notesMaster1.xml" Id="Rff72c50b9f7f46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a6174dfdb4f46cb" /><Relationship Type="http://schemas.openxmlformats.org/officeDocument/2006/relationships/notesMaster" Target="/ppt/notesMasters/notesMaster1.xml" Id="Rd2be4f84fed7423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2a0d0782f445aa" /><Relationship Type="http://schemas.openxmlformats.org/officeDocument/2006/relationships/notesMaster" Target="/ppt/notesMasters/notesMaster1.xml" Id="R3d2b035332a143d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949d815456741ff" /><Relationship Type="http://schemas.openxmlformats.org/officeDocument/2006/relationships/notesMaster" Target="/ppt/notesMasters/notesMaster1.xml" Id="R2ec969aff87849c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4d8058f0604932" /><Relationship Type="http://schemas.openxmlformats.org/officeDocument/2006/relationships/notesMaster" Target="/ppt/notesMasters/notesMaster1.xml" Id="Redc00ccd880446d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17538589802462c" /><Relationship Type="http://schemas.openxmlformats.org/officeDocument/2006/relationships/notesMaster" Target="/ppt/notesMasters/notesMaster1.xml" Id="Rb0e4c76d9723445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269b2e76b6e416a" /><Relationship Type="http://schemas.openxmlformats.org/officeDocument/2006/relationships/notesMaster" Target="/ppt/notesMasters/notesMaster1.xml" Id="Rfb32a435e69141c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4c477dffe4b439b" /><Relationship Type="http://schemas.openxmlformats.org/officeDocument/2006/relationships/notesMaster" Target="/ppt/notesMasters/notesMaster1.xml" Id="R4db33c1295464cc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f11e0fe07ec4a72" /><Relationship Type="http://schemas.openxmlformats.org/officeDocument/2006/relationships/notesMaster" Target="/ppt/notesMasters/notesMaster1.xml" Id="R4c1ccc8f3dbf46d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a8c42c905054543" /><Relationship Type="http://schemas.openxmlformats.org/officeDocument/2006/relationships/notesMaster" Target="/ppt/notesMasters/notesMaster1.xml" Id="Rdbddd05396d24dc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44b74e590e9d43b8" /><Relationship Type="http://schemas.openxmlformats.org/officeDocument/2006/relationships/notesMaster" Target="/ppt/notesMasters/notesMaster1.xml" Id="Rdd313a17fdd241a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f458048795a471c" /><Relationship Type="http://schemas.openxmlformats.org/officeDocument/2006/relationships/notesMaster" Target="/ppt/notesMasters/notesMaster1.xml" Id="Rdc0f8492723b408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36487c081f14a67" /><Relationship Type="http://schemas.openxmlformats.org/officeDocument/2006/relationships/notesMaster" Target="/ppt/notesMasters/notesMaster1.xml" Id="R2c9b85fff2a646b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faf0791f1ae4174" /><Relationship Type="http://schemas.openxmlformats.org/officeDocument/2006/relationships/notesMaster" Target="/ppt/notesMasters/notesMaster1.xml" Id="R65f4da8e5ec949a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71730223ba74e53" /><Relationship Type="http://schemas.openxmlformats.org/officeDocument/2006/relationships/notesMaster" Target="/ppt/notesMasters/notesMaster1.xml" Id="Re0f1449768c0498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b79c82e445b434f" /><Relationship Type="http://schemas.openxmlformats.org/officeDocument/2006/relationships/notesMaster" Target="/ppt/notesMasters/notesMaster1.xml" Id="R02bb9a78fbf14bb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bc1b318fb1414f79" /><Relationship Type="http://schemas.openxmlformats.org/officeDocument/2006/relationships/notesMaster" Target="/ppt/notesMasters/notesMaster1.xml" Id="R60bef5a0ca4441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b617e58db8e4d2b" /><Relationship Type="http://schemas.openxmlformats.org/officeDocument/2006/relationships/notesMaster" Target="/ppt/notesMasters/notesMaster1.xml" Id="R691ae7134597438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a9fdca3ba504945" /><Relationship Type="http://schemas.openxmlformats.org/officeDocument/2006/relationships/notesMaster" Target="/ppt/notesMasters/notesMaster1.xml" Id="R4a648ee6900842ee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89b5ccee4ec4401" /><Relationship Type="http://schemas.openxmlformats.org/officeDocument/2006/relationships/notesMaster" Target="/ppt/notesMasters/notesMaster1.xml" Id="Rdfd28fa219f04d99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89cdd27f9f342f1" /><Relationship Type="http://schemas.openxmlformats.org/officeDocument/2006/relationships/notesMaster" Target="/ppt/notesMasters/notesMaster1.xml" Id="R80fcfc82b3044c09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4dfddae95af4061" /><Relationship Type="http://schemas.openxmlformats.org/officeDocument/2006/relationships/notesMaster" Target="/ppt/notesMasters/notesMaster1.xml" Id="R737c63561fb44a9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ffa35b0fbcd4424" /><Relationship Type="http://schemas.openxmlformats.org/officeDocument/2006/relationships/notesMaster" Target="/ppt/notesMasters/notesMaster1.xml" Id="R4c02440da05a45a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8b1d12925dc8419b" /><Relationship Type="http://schemas.openxmlformats.org/officeDocument/2006/relationships/notesMaster" Target="/ppt/notesMasters/notesMaster1.xml" Id="R0b697fcb940444a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e932a841c81425b" /><Relationship Type="http://schemas.openxmlformats.org/officeDocument/2006/relationships/notesMaster" Target="/ppt/notesMasters/notesMaster1.xml" Id="R80b207960bbb46d4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cde950c202ed4a2f" /><Relationship Type="http://schemas.openxmlformats.org/officeDocument/2006/relationships/notesMaster" Target="/ppt/notesMasters/notesMaster1.xml" Id="R6724fa1e35a5477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06529d90e024fc8" /><Relationship Type="http://schemas.openxmlformats.org/officeDocument/2006/relationships/notesMaster" Target="/ppt/notesMasters/notesMaster1.xml" Id="Rab6dca7e4ef5469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9c4c73de7fe473b" /><Relationship Type="http://schemas.openxmlformats.org/officeDocument/2006/relationships/notesMaster" Target="/ppt/notesMasters/notesMaster1.xml" Id="Rc591dd89e334440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41ea04b06d84ca7" /><Relationship Type="http://schemas.openxmlformats.org/officeDocument/2006/relationships/notesMaster" Target="/ppt/notesMasters/notesMaster1.xml" Id="Rfb88225701c8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采用我的课程设计视角，忠实记录本次基于材料的需求整理、分析、设计、实现与验证。没有课堂访谈记录，不将假设写成老师口述回答。来源：《现代软件工程课程设计》课程安排.pptx第2～3页；课程设计报告（PPT）样本.pptx第2～11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依据：课程设计报告（PPT）样本.pptx第6页。老师原型在开发过程中补充，因此对范围与交互进行了修订；未虚构课程周次的实际参与记录。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来源：发现软件的故事.pdf第2～9页。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来源：发现软件的故事.pdf第1～2、6～9页；参考资料/教师群内图片1.png；参考资料/教师界面原型.png。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来源：《现代软件工程课程设计》课程安排.pptx第7页；参考资料/教师群内图片1.png；参考资料/教师界面原型.png。教师给的是调研问题和原型，没有完整访谈问答。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Q1、Q2 与界面原型。Q1、Q2 的以下回答来自原型解读，不是老师口述原文。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来源：教师群内问题图片 Q3 与界面原型。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来源：运筹学(线性规划).pptx第8～16、34～41页附近的建模与假设内容；教师 Q4、Q5。图示是我对方法的整理。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来源：教师界面原型。变量定义与系数按原型；计算值来自 source/test-solver.cjs 的 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来源：发现软件的故事.pdf第4、6、8页。第4页图为5x1+4x2；第8页图为4x1+5x2，与文字利润和950美元不一致。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来源：运筹学(线性规划).pptx单纯形法、两阶段法与解的情形；source/solver.js。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来源：运筹学(线性规划).pptx的单纯形法与两阶段法；实现以 source/solver.js 为准。箭头终点为后继活动；异常分支在下方说明。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来源：source/solver.js 实际迭代记录；T03。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 Q6、Q7。没有涉众部署偏好与业务范围的正式回答；以下为本次实现选择。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依据：故事与教师原型。使用故事是我基于材料构建的需求场景，不声称经过真实用户试用。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依据：教师原型；source/index.html、app.js、solver.js。标记“扩展”为我的工程选择。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来源：课程安排第7页要求写非功能性与可用性需求；具体门槛由本次设计提出。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依据：教师原型与需求 F01～F06。图中展示本系统用例与参与者之间的关联，外框为系统边界。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需求：F01～F03、F05；对应 ModelView 与 SolveController.build()。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需求：F04～F06；对应 SolveController.solve()、SimplexSolver.solve()、ModelView.showResult()。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来源：参考资料/教师界面原型.png。原型来自用户提供的教师群内图片。未把它当成已完成访谈记录。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来源：真实运行截图，output/playwright/易行LP-建模界面.png。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来源：教师原型与本次设计。连线表示包含或归属，标注两端的多重性；当前仅在内存保留一次结果，导出后可另存；所有求解结果均记录初始表，因此迭代记录至少1条。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用例 UC01、UC02。图中每一行是一次参与者操作及对应系统响应，系统内部设计留到后续页面。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实现依据：source/index.html、style.css、app.js、solver.js、examples.js。当前部署是假设而非涉众确认结论。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对应 source/solver.js 与 source/app.js 中实际类定义。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来源：source/app.js 与 source/solver.js。箭头表示调用或依赖；求解器方法内部的 pivot / simplex 是局部函数，不是公开接口。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来源：SolveController.solve() 实际调用流程。图中的消息按由上到下的顺序执行；省略创建对象和非关键返回。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方法：使用 Information Expert、Controller、低耦合与高内聚检查设计；这些是设计原则应用，不声称运行性能由模式自动保证。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实现：SolveController.invalidate()、build() 与 solve()。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实现：source/solver.js；测试 T05～T16 与100个二维顶点枚举算例。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路径相对于课程设计目录。所有类名与文件名均以本次交付源码为准。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摘自 source/app.js，以下片段压缩了展示格式，逻辑与实际实现一致。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实际验证记录：.build/solver-tests.json、.build/vertex-tests.json、.build/ui-tests.json。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来源：source/test-solver.cjs 与 .build/solver-tests.json。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来源：真实运行截图 output/playwright/易行LP-Tanner方案.png。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来源：故事第4、6～8页；T01、T02；实际运行截图。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源文件与测试均在 source/；UI检查记录在 .build/ui-tests.json。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依据：课程安排要求经评审后修改归档。目前尚未进行老师现场评审，因此本页是待评审清单。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总结来自本次材料阅读、设计、实现与验证，不虚构真实访谈、用户试用或老师评审。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来源均为用户提供的课程材料与本次实现文件。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3c07cd7274c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c616d39b294b1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5df9ce856e40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8dbf4b37ac4ae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8868d551cb4e1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6428c5d48841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0C5B1B-DD55-4FE5-906B-C2EE0DC874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E04EF8-68A6-43FF-828D-47CAB64147D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AD5B569-3579-4F44-9BE3-17A92230F8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1215CB-2344-4006-BF62-855F7E89C8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53CFE4-94F7-464E-8B0F-CBA6E2AB45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B0B194-23F8-4E52-8BC3-BB65200430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CDACB85-7E5C-40E2-98BF-CD6F112AA43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4D89670-C0E4-488E-A93E-43E2C8021D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D0D1E9-A283-416B-804E-6B33E2752A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EDC4CAD-E779-400D-8881-8F6373AA07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3b24b44dd09456b" /><Relationship Type="http://schemas.openxmlformats.org/officeDocument/2006/relationships/slideLayout" Target="/ppt/slideLayouts/slideLayout1.xml" Id="Ra45c6c2010ba44dc" /><Relationship Type="http://schemas.openxmlformats.org/officeDocument/2006/relationships/slideLayout" Target="/ppt/slideLayouts/slideLayout2.xml" Id="R2661172e26624fa7" /><Relationship Type="http://schemas.openxmlformats.org/officeDocument/2006/relationships/slideLayout" Target="/ppt/slideLayouts/slideLayout3.xml" Id="Rf7f632c79cb14dd1" /><Relationship Type="http://schemas.openxmlformats.org/officeDocument/2006/relationships/slideLayout" Target="/ppt/slideLayouts/slideLayout4.xml" Id="R5a762dae1fac461a" /><Relationship Type="http://schemas.openxmlformats.org/officeDocument/2006/relationships/slideLayout" Target="/ppt/slideLayouts/slideLayout5.xml" Id="R1100dc27145f4b35" /><Relationship Type="http://schemas.openxmlformats.org/officeDocument/2006/relationships/slideLayout" Target="/ppt/slideLayouts/slideLayout6.xml" Id="R78353edfa18f4f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45c6c2010ba44dc"/>
    <p:sldLayoutId xmlns:r="http://schemas.openxmlformats.org/officeDocument/2006/relationships" id="2147483650" r:id="R2661172e26624fa7"/>
    <p:sldLayoutId xmlns:r="http://schemas.openxmlformats.org/officeDocument/2006/relationships" id="2147483651" r:id="Rf7f632c79cb14dd1"/>
    <p:sldLayoutId xmlns:r="http://schemas.openxmlformats.org/officeDocument/2006/relationships" id="2147483652" r:id="R5a762dae1fac461a"/>
    <p:sldLayoutId xmlns:r="http://schemas.openxmlformats.org/officeDocument/2006/relationships" id="2147483653" r:id="R1100dc27145f4b35"/>
    <p:sldLayoutId xmlns:r="http://schemas.openxmlformats.org/officeDocument/2006/relationships" id="2147483654" r:id="R78353edfa18f4f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52d1c06dde43ba" /><Relationship Type="http://schemas.openxmlformats.org/officeDocument/2006/relationships/notesSlide" Target="/ppt/notesSlides/notesSlide1.xml" Id="R3a551385f0624c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2b8ba19fa74d43" /><Relationship Type="http://schemas.openxmlformats.org/officeDocument/2006/relationships/notesSlide" Target="/ppt/notesSlides/notesSlide2.xml" Id="Refa1cc66324841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f4003e04144de" /><Relationship Type="http://schemas.openxmlformats.org/officeDocument/2006/relationships/notesSlide" Target="/ppt/notesSlides/notesSlide3.xml" Id="R7b825bf4d5514e0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bfc4530a3d4c65" /><Relationship Type="http://schemas.openxmlformats.org/officeDocument/2006/relationships/notesSlide" Target="/ppt/notesSlides/notesSlide4.xml" Id="R5b2f7e767c7e457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9c663ef1f54740" /><Relationship Type="http://schemas.openxmlformats.org/officeDocument/2006/relationships/notesSlide" Target="/ppt/notesSlides/notesSlide5.xml" Id="Rc0068097002a49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88e619c40a4e8e" /><Relationship Type="http://schemas.openxmlformats.org/officeDocument/2006/relationships/notesSlide" Target="/ppt/notesSlides/notesSlide6.xml" Id="R78a965c7dd8e4c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ee6ec9d6db4319" /><Relationship Type="http://schemas.openxmlformats.org/officeDocument/2006/relationships/notesSlide" Target="/ppt/notesSlides/notesSlide7.xml" Id="R0e310d0c300345b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f02ec341a4b64" /><Relationship Type="http://schemas.openxmlformats.org/officeDocument/2006/relationships/notesSlide" Target="/ppt/notesSlides/notesSlide8.xml" Id="R0e0470ad49e94e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8d415b1c184175" /><Relationship Type="http://schemas.openxmlformats.org/officeDocument/2006/relationships/notesSlide" Target="/ppt/notesSlides/notesSlide9.xml" Id="R47c4f8046a8c435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987110c9904c09" /><Relationship Type="http://schemas.openxmlformats.org/officeDocument/2006/relationships/notesSlide" Target="/ppt/notesSlides/notesSlide10.xml" Id="R0aa0abc9f9dc4d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ad65fe26b04b01" /><Relationship Type="http://schemas.openxmlformats.org/officeDocument/2006/relationships/notesSlide" Target="/ppt/notesSlides/notesSlide11.xml" Id="Rb59646cc72d8472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aaad02bad94139" /><Relationship Type="http://schemas.openxmlformats.org/officeDocument/2006/relationships/notesSlide" Target="/ppt/notesSlides/notesSlide12.xml" Id="R3596f959104646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99be2941404b58" /><Relationship Type="http://schemas.openxmlformats.org/officeDocument/2006/relationships/notesSlide" Target="/ppt/notesSlides/notesSlide13.xml" Id="R148e709e74a24cb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05df533fec4da2" /><Relationship Type="http://schemas.openxmlformats.org/officeDocument/2006/relationships/notesSlide" Target="/ppt/notesSlides/notesSlide14.xml" Id="R437e77a5efed4f2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c6dcbeed6f47c0" /><Relationship Type="http://schemas.openxmlformats.org/officeDocument/2006/relationships/notesSlide" Target="/ppt/notesSlides/notesSlide15.xml" Id="R7d31d07de8aa4b8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45223d50c442b5" /><Relationship Type="http://schemas.openxmlformats.org/officeDocument/2006/relationships/notesSlide" Target="/ppt/notesSlides/notesSlide16.xml" Id="R786ff7e9b450412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1aef98637b46d9" /><Relationship Type="http://schemas.openxmlformats.org/officeDocument/2006/relationships/notesSlide" Target="/ppt/notesSlides/notesSlide17.xml" Id="Rc0f5b9fdd5044a7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16644a4774a05" /><Relationship Type="http://schemas.openxmlformats.org/officeDocument/2006/relationships/notesSlide" Target="/ppt/notesSlides/notesSlide18.xml" Id="R50162d309ff644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31f9471d7db44b9" /><Relationship Type="http://schemas.openxmlformats.org/officeDocument/2006/relationships/notesSlide" Target="/ppt/notesSlides/notesSlide19.xml" Id="R8e4002bc3c9548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db9d7af3de4b27" /><Relationship Type="http://schemas.openxmlformats.org/officeDocument/2006/relationships/notesSlide" Target="/ppt/notesSlides/notesSlide20.xml" Id="Rc11420fa56da4b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6a481f74040aa" /><Relationship Type="http://schemas.openxmlformats.org/officeDocument/2006/relationships/image" Target="/ppt/media/image.png" Id="R9d1a2d7cf1de4cbd" /><Relationship Type="http://schemas.openxmlformats.org/officeDocument/2006/relationships/notesSlide" Target="/ppt/notesSlides/notesSlide21.xml" Id="Rf63735f29add4b2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7551dbe88040ab" /><Relationship Type="http://schemas.openxmlformats.org/officeDocument/2006/relationships/image" Target="/ppt/media/image2.png" Id="Re957065520b64462" /><Relationship Type="http://schemas.openxmlformats.org/officeDocument/2006/relationships/notesSlide" Target="/ppt/notesSlides/notesSlide22.xml" Id="R21e50b06ff8343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74917d449e4b71" /><Relationship Type="http://schemas.openxmlformats.org/officeDocument/2006/relationships/notesSlide" Target="/ppt/notesSlides/notesSlide23.xml" Id="R541617ee8d5a40a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0cd138386041c3" /><Relationship Type="http://schemas.openxmlformats.org/officeDocument/2006/relationships/notesSlide" Target="/ppt/notesSlides/notesSlide24.xml" Id="R136a31b7c451489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dc0f7e0cf949ad" /><Relationship Type="http://schemas.openxmlformats.org/officeDocument/2006/relationships/notesSlide" Target="/ppt/notesSlides/notesSlide25.xml" Id="Rd608c20ea3af4b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f0001e62a74aff" /><Relationship Type="http://schemas.openxmlformats.org/officeDocument/2006/relationships/notesSlide" Target="/ppt/notesSlides/notesSlide26.xml" Id="R2cf87cfd93114f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a9472484ca4b9a" /><Relationship Type="http://schemas.openxmlformats.org/officeDocument/2006/relationships/notesSlide" Target="/ppt/notesSlides/notesSlide27.xml" Id="Rcb075a7e06ae4d0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bda8215cee4b82" /><Relationship Type="http://schemas.openxmlformats.org/officeDocument/2006/relationships/notesSlide" Target="/ppt/notesSlides/notesSlide28.xml" Id="Rdc27ad5a05b84b6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e4c347b186442c" /><Relationship Type="http://schemas.openxmlformats.org/officeDocument/2006/relationships/notesSlide" Target="/ppt/notesSlides/notesSlide29.xml" Id="R0463d0ad4a98426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2ed91f64574e6e" /><Relationship Type="http://schemas.openxmlformats.org/officeDocument/2006/relationships/notesSlide" Target="/ppt/notesSlides/notesSlide30.xml" Id="Rec485258d6ce4f7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9fd774b8264256" /><Relationship Type="http://schemas.openxmlformats.org/officeDocument/2006/relationships/notesSlide" Target="/ppt/notesSlides/notesSlide31.xml" Id="Rc02840c0abb9421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065b035752348bf" /><Relationship Type="http://schemas.openxmlformats.org/officeDocument/2006/relationships/notesSlide" Target="/ppt/notesSlides/notesSlide32.xml" Id="Rba4682c808c44ae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cd149d8a4e4107" /><Relationship Type="http://schemas.openxmlformats.org/officeDocument/2006/relationships/notesSlide" Target="/ppt/notesSlides/notesSlide33.xml" Id="Rf1f794c3430d47d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8a7223702443ac" /><Relationship Type="http://schemas.openxmlformats.org/officeDocument/2006/relationships/notesSlide" Target="/ppt/notesSlides/notesSlide34.xml" Id="R6069c73c96c342f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618365f39d473a" /><Relationship Type="http://schemas.openxmlformats.org/officeDocument/2006/relationships/notesSlide" Target="/ppt/notesSlides/notesSlide35.xml" Id="R1f430a825caf4d1c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a338b25a144bab" /><Relationship Type="http://schemas.openxmlformats.org/officeDocument/2006/relationships/image" Target="/ppt/media/image3.png" Id="Rf859ed61dc714a40" /><Relationship Type="http://schemas.openxmlformats.org/officeDocument/2006/relationships/notesSlide" Target="/ppt/notesSlides/notesSlide36.xml" Id="R19a06aa7eee749a3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32844f60ee487f" /><Relationship Type="http://schemas.openxmlformats.org/officeDocument/2006/relationships/notesSlide" Target="/ppt/notesSlides/notesSlide37.xml" Id="R864619a217ea4ae9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5f26d751ef4452" /><Relationship Type="http://schemas.openxmlformats.org/officeDocument/2006/relationships/notesSlide" Target="/ppt/notesSlides/notesSlide38.xml" Id="R9074c51334dc4c77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e46a1658b7422c" /><Relationship Type="http://schemas.openxmlformats.org/officeDocument/2006/relationships/notesSlide" Target="/ppt/notesSlides/notesSlide39.xml" Id="R431ea1b543254585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c54010d37b4359" /><Relationship Type="http://schemas.openxmlformats.org/officeDocument/2006/relationships/notesSlide" Target="/ppt/notesSlides/notesSlide40.xml" Id="R63fd3d7ada7642a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099dd0df114e92" /><Relationship Type="http://schemas.openxmlformats.org/officeDocument/2006/relationships/notesSlide" Target="/ppt/notesSlides/notesSlide41.xml" Id="R475e09257a7643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DFEBD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易行 LP">
            <a:extLst xmlns:a="http://schemas.openxmlformats.org/drawingml/2006/main">
              <a:ext uri="{FF2B5EF4-FFF2-40B4-BE49-F238E27FC236}">
                <a16:creationId xmlns:a16="http://schemas.microsoft.com/office/drawing/2014/main" id="{324BA537-EFAE-43D1-86A1-4C7A6806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</p:txBody>
      </p:sp>
      <p:sp>
        <p:nvSpPr>
          <p:cNvPr id="2" name="线性规划辅助建模与求解软件的设计和实现">
            <a:extLst xmlns:a="http://schemas.openxmlformats.org/drawingml/2006/main">
              <a:ext uri="{FF2B5EF4-FFF2-40B4-BE49-F238E27FC236}">
                <a16:creationId xmlns:a16="http://schemas.microsoft.com/office/drawing/2014/main" id="{F74A4963-BB88-42A4-A47F-C903B185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线性规划辅助建模与求解软件的设计和实现</a:t>
            </a:r>
          </a:p>
        </p:txBody>
      </p:sp>
      <p:sp>
        <p:nvSpPr>
          <p:cNvPr id="3" name="01  /  易行 LP">
            <a:extLst xmlns:a="http://schemas.openxmlformats.org/drawingml/2006/main">
              <a:ext uri="{FF2B5EF4-FFF2-40B4-BE49-F238E27FC236}">
                <a16:creationId xmlns:a16="http://schemas.microsoft.com/office/drawing/2014/main" id="{3F13497A-1FCD-42B4-8B80-CDD1314A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01  /  易行 LP</a:t>
            </a:r>
          </a:p>
        </p:txBody>
      </p:sp>
      <p:sp>
        <p:nvSpPr>
          <p:cNvPr id="4" name="现代软件工程课程设计">
            <a:extLst xmlns:a="http://schemas.openxmlformats.org/drawingml/2006/main">
              <a:ext uri="{FF2B5EF4-FFF2-40B4-BE49-F238E27FC236}">
                <a16:creationId xmlns:a16="http://schemas.microsoft.com/office/drawing/2014/main" id="{8E97A9D8-4803-4FDC-BC62-D1508159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现代软件工程课程设计</a:t>
            </a:r>
          </a:p>
        </p:txBody>
      </p:sp>
      <p:sp>
        <p:nvSpPr>
          <p:cNvPr id="5" name="易治行  |  2023141220023">
            <a:extLst xmlns:a="http://schemas.openxmlformats.org/drawingml/2006/main">
              <a:ext uri="{FF2B5EF4-FFF2-40B4-BE49-F238E27FC236}">
                <a16:creationId xmlns:a16="http://schemas.microsoft.com/office/drawing/2014/main" id="{5AE2FA36-C552-407E-8ACC-1F9E4D6C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易治行  |  2023141220023</a:t>
            </a:r>
          </a:p>
        </p:txBody>
      </p:sp>
      <p:sp>
        <p:nvSpPr>
          <p:cNvPr id="6" name="从业务问题出发，形成可检查的模型与规划方案">
            <a:extLst xmlns:a="http://schemas.openxmlformats.org/drawingml/2006/main">
              <a:ext uri="{FF2B5EF4-FFF2-40B4-BE49-F238E27FC236}">
                <a16:creationId xmlns:a16="http://schemas.microsoft.com/office/drawing/2014/main" id="{1A943BD0-734B-4371-9923-C6D844CF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从业务问题出发，形成可检查的模型与规划方案</a:t>
            </a:r>
          </a:p>
        </p:txBody>
      </p:sp>
      <p:sp>
        <p:nvSpPr>
          <p:cNvPr id="7" name="材料整理与实现版本  ·  2026年10月26日">
            <a:extLst xmlns:a="http://schemas.openxmlformats.org/drawingml/2006/main">
              <a:ext uri="{FF2B5EF4-FFF2-40B4-BE49-F238E27FC236}">
                <a16:creationId xmlns:a16="http://schemas.microsoft.com/office/drawing/2014/main" id="{635F22FA-2876-411B-953E-B14168D5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材料整理与实现版本  ·  2026年10月26日</a:t>
            </a:r>
          </a:p>
        </p:txBody>
      </p:sp>
    </p:spTree>
    <p:extLst>
      <p:ext uri="{BB962C8B-B14F-4D97-AF65-F5344CB8AC3E}">
        <p14:creationId xmlns:p14="http://schemas.microsoft.com/office/powerpoint/2010/main" val="143163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FBA17-878A-4E88-BD3F-228543578E96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2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F8708-0419-4BB0-B9BC-DC4485C5505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14750" y="411956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36F36-CA54-4BB8-A77C-2D0B48333BE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238375" y="2714625"/>
            <a:ext cx="762000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274BF-77C2-4ED7-9543-40B0D6206D8C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4D16-19FE-4EDB-93A3-EBE732C4C3A7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09813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7" name="我的开发流程">
            <a:extLst xmlns:a="http://schemas.openxmlformats.org/drawingml/2006/main">
              <a:ext uri="{FF2B5EF4-FFF2-40B4-BE49-F238E27FC236}">
                <a16:creationId xmlns:a16="http://schemas.microsoft.com/office/drawing/2014/main" id="{90550B68-7A0B-4447-B0A0-E3EF95D64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我的开发流程</a:t>
            </a:r>
          </a:p>
        </p:txBody>
      </p:sp>
      <p:sp>
        <p:nvSpPr>
          <p:cNvPr id="2" name="方法：先整理证据，再迭代实现；成果：本报告对应的实际开发流程">
            <a:extLst xmlns:a="http://schemas.openxmlformats.org/drawingml/2006/main">
              <a:ext uri="{FF2B5EF4-FFF2-40B4-BE49-F238E27FC236}">
                <a16:creationId xmlns:a16="http://schemas.microsoft.com/office/drawing/2014/main" id="{DBBA9A38-3F68-436F-A3A4-8BD2FC70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方法：先整理证据，再迭代实现；成果：本报告对应的实际开发流程</a:t>
            </a:r>
          </a:p>
        </p:txBody>
      </p:sp>
      <p:sp>
        <p:nvSpPr>
          <p:cNvPr id="3" name="02  /  易行 LP">
            <a:extLst xmlns:a="http://schemas.openxmlformats.org/drawingml/2006/main">
              <a:ext uri="{FF2B5EF4-FFF2-40B4-BE49-F238E27FC236}">
                <a16:creationId xmlns:a16="http://schemas.microsoft.com/office/drawing/2014/main" id="{EF27F404-88CC-4584-AF44-6B75F98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02  /  易行 LP</a:t>
            </a:r>
          </a:p>
        </p:txBody>
      </p:sp>
      <p:sp>
        <p:nvSpPr>
          <p:cNvPr id="4" name="故事阅读&#10;发现工作困难">
            <a:extLst xmlns:a="http://schemas.openxmlformats.org/drawingml/2006/main">
              <a:ext uri="{FF2B5EF4-FFF2-40B4-BE49-F238E27FC236}">
                <a16:creationId xmlns:a16="http://schemas.microsoft.com/office/drawing/2014/main" id="{C7321BDB-0B76-46E3-81BF-A39F4840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故事阅读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发现工作困难</a:t>
            </a:r>
          </a:p>
        </p:txBody>
      </p:sp>
      <p:sp>
        <p:nvSpPr>
          <p:cNvPr id="5" name="材料式需求调研&#10;教师 Q1～Q7 与界面原型">
            <a:extLst xmlns:a="http://schemas.openxmlformats.org/drawingml/2006/main">
              <a:ext uri="{FF2B5EF4-FFF2-40B4-BE49-F238E27FC236}">
                <a16:creationId xmlns:a16="http://schemas.microsoft.com/office/drawing/2014/main" id="{CBFBF388-41EE-457B-A3A9-62A69A8F3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材料式需求调研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 Q1～Q7 与界面原型</a:t>
            </a:r>
          </a:p>
        </p:txBody>
      </p:sp>
      <p:sp>
        <p:nvSpPr>
          <p:cNvPr id="6" name="领域学习&#10;建模与单纯形法">
            <a:extLst xmlns:a="http://schemas.openxmlformats.org/drawingml/2006/main">
              <a:ext uri="{FF2B5EF4-FFF2-40B4-BE49-F238E27FC236}">
                <a16:creationId xmlns:a16="http://schemas.microsoft.com/office/drawing/2014/main" id="{6B756181-11C9-4FDF-93FC-EBEE4E5A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90500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领域学习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建模与单纯形法</a:t>
            </a:r>
          </a:p>
        </p:txBody>
      </p:sp>
      <p:sp>
        <p:nvSpPr>
          <p:cNvPr id="7" name="需求与分析模型&#10;系统边界、用例、交互">
            <a:extLst xmlns:a="http://schemas.openxmlformats.org/drawingml/2006/main">
              <a:ext uri="{FF2B5EF4-FFF2-40B4-BE49-F238E27FC236}">
                <a16:creationId xmlns:a16="http://schemas.microsoft.com/office/drawing/2014/main" id="{A2309C5A-D88C-4227-83C0-79835E6A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需求与分析模型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系统边界、用例、交互</a:t>
            </a:r>
          </a:p>
        </p:txBody>
      </p:sp>
      <p:sp>
        <p:nvSpPr>
          <p:cNvPr id="8" name="软件设计与代码映射&#10;职责、类、算法">
            <a:extLst xmlns:a="http://schemas.openxmlformats.org/drawingml/2006/main">
              <a:ext uri="{FF2B5EF4-FFF2-40B4-BE49-F238E27FC236}">
                <a16:creationId xmlns:a16="http://schemas.microsoft.com/office/drawing/2014/main" id="{2E9B1CAB-5C26-4830-A201-61179D31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软件设计与代码映射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职责、类、算法</a:t>
            </a:r>
          </a:p>
        </p:txBody>
      </p:sp>
      <p:sp>
        <p:nvSpPr>
          <p:cNvPr id="9" name="运行与验证&#10;回归测试、界面检查">
            <a:extLst xmlns:a="http://schemas.openxmlformats.org/drawingml/2006/main">
              <a:ext uri="{FF2B5EF4-FFF2-40B4-BE49-F238E27FC236}">
                <a16:creationId xmlns:a16="http://schemas.microsoft.com/office/drawing/2014/main" id="{4977B842-8C59-4A68-B779-7C97BCEA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9527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运行与验证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回归测试、界面检查</a:t>
            </a:r>
          </a:p>
        </p:txBody>
      </p:sp>
      <p:sp>
        <p:nvSpPr>
          <p:cNvPr id="15" name="迭代 1：从故事形成求解器核心；迭代 2：按教师原型补充辅助建模">
            <a:extLst xmlns:a="http://schemas.openxmlformats.org/drawingml/2006/main">
              <a:ext uri="{FF2B5EF4-FFF2-40B4-BE49-F238E27FC236}">
                <a16:creationId xmlns:a16="http://schemas.microsoft.com/office/drawing/2014/main" id="{F2B9A58F-26CE-464B-B298-2E770EA3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 1：从故事形成求解器核心；迭代 2：按教师原型补充辅助建模与方案展示。</a:t>
            </a:r>
          </a:p>
        </p:txBody>
      </p:sp>
      <p:sp>
        <p:nvSpPr>
          <p:cNvPr id="16" name="每次改动同步维护：需求、设计、代码和测试之间的对应关系。">
            <a:extLst xmlns:a="http://schemas.openxmlformats.org/drawingml/2006/main">
              <a:ext uri="{FF2B5EF4-FFF2-40B4-BE49-F238E27FC236}">
                <a16:creationId xmlns:a16="http://schemas.microsoft.com/office/drawing/2014/main" id="{E372736C-6BFF-453C-966A-097B32C3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787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每次改动同步维护：需求、设计、代码和测试之间的对应关系。</a:t>
            </a:r>
          </a:p>
        </p:txBody>
      </p:sp>
    </p:spTree>
    <p:extLst>
      <p:ext uri="{BB962C8B-B14F-4D97-AF65-F5344CB8AC3E}">
        <p14:creationId xmlns:p14="http://schemas.microsoft.com/office/powerpoint/2010/main" val="18880358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1 步：发现软件">
            <a:extLst xmlns:a="http://schemas.openxmlformats.org/drawingml/2006/main">
              <a:ext uri="{FF2B5EF4-FFF2-40B4-BE49-F238E27FC236}">
                <a16:creationId xmlns:a16="http://schemas.microsoft.com/office/drawing/2014/main" id="{2F92A3AA-7AA8-420A-B89A-F1DA5132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1 步：发现软件</a:t>
            </a:r>
          </a:p>
        </p:txBody>
      </p:sp>
      <p:sp>
        <p:nvSpPr>
          <p:cNvPr id="2" name="方法：梳理现有工作与责任；成果：找出软件可承担的职责">
            <a:extLst xmlns:a="http://schemas.openxmlformats.org/drawingml/2006/main">
              <a:ext uri="{FF2B5EF4-FFF2-40B4-BE49-F238E27FC236}">
                <a16:creationId xmlns:a16="http://schemas.microsoft.com/office/drawing/2014/main" id="{7EB40F26-AA5F-440F-B9E1-E09C9E33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方法：梳理现有工作与责任；成果：找出软件可承担的职责</a:t>
            </a:r>
          </a:p>
        </p:txBody>
      </p:sp>
      <p:sp>
        <p:nvSpPr>
          <p:cNvPr id="3" name="03  /  易行 LP">
            <a:extLst xmlns:a="http://schemas.openxmlformats.org/drawingml/2006/main">
              <a:ext uri="{FF2B5EF4-FFF2-40B4-BE49-F238E27FC236}">
                <a16:creationId xmlns:a16="http://schemas.microsoft.com/office/drawing/2014/main" id="{B5A7EED6-B719-460A-A5E0-EB4153DCB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CC5CD1-5429-44E0-9336-596BB42836B4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905250"/>
                <a:gridCol w="4200525"/>
              </a:tblGrid>
              <a:tr h="8096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承担者与困难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了解客户、建立模型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老张：需要判断假设与约束是否完整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保留人的业务判断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手工计算、检查算式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小明：换基复杂，易错且耗时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让软件封装计算逻辑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增加销量限制后重算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模型变化导致重复计算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支持编辑后重新求解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给客户反馈规划方案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需要理解计算结果的业务含义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同时展示变量值与资源余量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5133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35CD09-E2BF-4B8E-B3E1-C6E295D0C9F8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752475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92FAD3-ACE2-43BD-B39D-83837BDCD860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619500" y="2667000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软件边界与涉众">
            <a:extLst xmlns:a="http://schemas.openxmlformats.org/drawingml/2006/main">
              <a:ext uri="{FF2B5EF4-FFF2-40B4-BE49-F238E27FC236}">
                <a16:creationId xmlns:a16="http://schemas.microsoft.com/office/drawing/2014/main" id="{992D169A-D2D4-437F-ACBF-1EB100BBD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软件边界与涉众</a:t>
            </a:r>
          </a:p>
        </p:txBody>
      </p:sp>
      <p:sp>
        <p:nvSpPr>
          <p:cNvPr id="2" name="成果：我将软件定位为研究人员使用的辅助工具">
            <a:extLst xmlns:a="http://schemas.openxmlformats.org/drawingml/2006/main">
              <a:ext uri="{FF2B5EF4-FFF2-40B4-BE49-F238E27FC236}">
                <a16:creationId xmlns:a16="http://schemas.microsoft.com/office/drawing/2014/main" id="{77CA5BF5-6625-44C6-B92F-D6613CBD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成果：我将软件定位为研究人员使用的辅助工具</a:t>
            </a:r>
          </a:p>
        </p:txBody>
      </p:sp>
      <p:sp>
        <p:nvSpPr>
          <p:cNvPr id="3" name="04  /  易行 LP">
            <a:extLst xmlns:a="http://schemas.openxmlformats.org/drawingml/2006/main">
              <a:ext uri="{FF2B5EF4-FFF2-40B4-BE49-F238E27FC236}">
                <a16:creationId xmlns:a16="http://schemas.microsoft.com/office/drawing/2014/main" id="{13BFEFD4-860F-44BF-BBBF-87DE9708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04  /  易行 LP</a:t>
            </a:r>
          </a:p>
        </p:txBody>
      </p:sp>
      <p:sp>
        <p:nvSpPr>
          <p:cNvPr id="4" name="老张 / 小明&#10;录入、审核、解释">
            <a:extLst xmlns:a="http://schemas.openxmlformats.org/drawingml/2006/main">
              <a:ext uri="{FF2B5EF4-FFF2-40B4-BE49-F238E27FC236}">
                <a16:creationId xmlns:a16="http://schemas.microsoft.com/office/drawing/2014/main" id="{EE5B4EED-1B31-4B6D-96FD-C2A7A59B2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录入、审核、解释</a:t>
            </a:r>
          </a:p>
        </p:txBody>
      </p:sp>
      <p:sp>
        <p:nvSpPr>
          <p:cNvPr id="5" name="易行 LP&#10;建模向导、计算、结果">
            <a:extLst xmlns:a="http://schemas.openxmlformats.org/drawingml/2006/main">
              <a:ext uri="{FF2B5EF4-FFF2-40B4-BE49-F238E27FC236}">
                <a16:creationId xmlns:a16="http://schemas.microsoft.com/office/drawing/2014/main" id="{55C78EE9-1CAB-4989-A0CF-9FB8DBB8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易行 LP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建模向导、计算、结果</a:t>
            </a:r>
          </a:p>
        </p:txBody>
      </p:sp>
      <p:sp>
        <p:nvSpPr>
          <p:cNvPr id="6" name="咨询客户&#10;提供业务事实与限制">
            <a:extLst xmlns:a="http://schemas.openxmlformats.org/drawingml/2006/main">
              <a:ext uri="{FF2B5EF4-FFF2-40B4-BE49-F238E27FC236}">
                <a16:creationId xmlns:a16="http://schemas.microsoft.com/office/drawing/2014/main" id="{10610CFF-1F29-4EF8-9D12-4C22BFAB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857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咨询客户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提供业务事实与限制</a:t>
            </a:r>
          </a:p>
        </p:txBody>
      </p:sp>
      <p:sp>
        <p:nvSpPr>
          <p:cNvPr id="9" name="系统承担：结构化录入、生成数学模型、求解与计算记录导出。">
            <a:extLst xmlns:a="http://schemas.openxmlformats.org/drawingml/2006/main">
              <a:ext uri="{FF2B5EF4-FFF2-40B4-BE49-F238E27FC236}">
                <a16:creationId xmlns:a16="http://schemas.microsoft.com/office/drawing/2014/main" id="{EA5C4014-218A-4994-9A33-1CECF811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系统承担：结构化录入、生成数学模型、求解与计算记录导出。</a:t>
            </a:r>
          </a:p>
        </p:txBody>
      </p:sp>
      <p:sp>
        <p:nvSpPr>
          <p:cNvPr id="10" name="涉众承担：确定业务目标、收集数据、核对线性假设并作出决策。">
            <a:extLst xmlns:a="http://schemas.openxmlformats.org/drawingml/2006/main">
              <a:ext uri="{FF2B5EF4-FFF2-40B4-BE49-F238E27FC236}">
                <a16:creationId xmlns:a16="http://schemas.microsoft.com/office/drawing/2014/main" id="{B27501B4-C8A4-4F21-B5D1-05A754061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涉众承担：确定业务目标、收集数据、核对线性假设并作出决策。</a:t>
            </a:r>
          </a:p>
        </p:txBody>
      </p:sp>
      <p:sp>
        <p:nvSpPr>
          <p:cNvPr id="11" name="范围外：自动销售预测、自然语言自动建模、整数规划与客户业务管理。">
            <a:extLst xmlns:a="http://schemas.openxmlformats.org/drawingml/2006/main">
              <a:ext uri="{FF2B5EF4-FFF2-40B4-BE49-F238E27FC236}">
                <a16:creationId xmlns:a16="http://schemas.microsoft.com/office/drawing/2014/main" id="{9E91B502-4CED-4BB4-AF51-5DF203073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061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范围外：自动销售预测、自然语言自动建模、整数规划与客户业务管理。</a:t>
            </a:r>
          </a:p>
        </p:txBody>
      </p:sp>
    </p:spTree>
    <p:extLst>
      <p:ext uri="{BB962C8B-B14F-4D97-AF65-F5344CB8AC3E}">
        <p14:creationId xmlns:p14="http://schemas.microsoft.com/office/powerpoint/2010/main" val="10092787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第 2 步：整理需求依据">
            <a:extLst xmlns:a="http://schemas.openxmlformats.org/drawingml/2006/main">
              <a:ext uri="{FF2B5EF4-FFF2-40B4-BE49-F238E27FC236}">
                <a16:creationId xmlns:a16="http://schemas.microsoft.com/office/drawing/2014/main" id="{F33F7C92-57B9-4C9B-82CA-BB1B25CF7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2 步：整理需求依据</a:t>
            </a:r>
          </a:p>
        </p:txBody>
      </p:sp>
      <p:sp>
        <p:nvSpPr>
          <p:cNvPr id="2" name="方法：为每项结论标记来源与确认程度；成果：需求依据清单">
            <a:extLst xmlns:a="http://schemas.openxmlformats.org/drawingml/2006/main">
              <a:ext uri="{FF2B5EF4-FFF2-40B4-BE49-F238E27FC236}">
                <a16:creationId xmlns:a16="http://schemas.microsoft.com/office/drawing/2014/main" id="{1386FE50-BA03-4A55-B561-680C6942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方法：为每项结论标记来源与确认程度；成果：需求依据清单</a:t>
            </a:r>
          </a:p>
        </p:txBody>
      </p:sp>
      <p:sp>
        <p:nvSpPr>
          <p:cNvPr id="3" name="05  /  易行 LP">
            <a:extLst xmlns:a="http://schemas.openxmlformats.org/drawingml/2006/main">
              <a:ext uri="{FF2B5EF4-FFF2-40B4-BE49-F238E27FC236}">
                <a16:creationId xmlns:a16="http://schemas.microsoft.com/office/drawing/2014/main" id="{38E43157-C752-445D-9E61-3FB97E84A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BC2C6-6660-462B-8A93-813BE63507A5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381500"/>
                <a:gridCol w="4057650"/>
              </a:tblGrid>
              <a:tr h="800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能够确认的内容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仍不能直接确认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存在手算与反复重算的困难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真实用户的全部操作偏好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Q1～Q7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应调查交互、领域、部署与业务范围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各问题的涉众正式回答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教师界面原型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问题陈述、建模向导、建模、计算、方案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导入格式、规模与异常处理细节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我的设计假设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本地离线、JSON 保存、规模限制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需经老师评审后接受或修订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没有课堂访谈笔记，因此下面的 Q—A 是“材料式回答与待确认项">
            <a:extLst xmlns:a="http://schemas.openxmlformats.org/drawingml/2006/main">
              <a:ext uri="{FF2B5EF4-FFF2-40B4-BE49-F238E27FC236}">
                <a16:creationId xmlns:a16="http://schemas.microsoft.com/office/drawing/2014/main" id="{294F2B78-7EE9-4F56-8B70-B6BB905E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946116"/>
                </a:solidFill>
                <a:latin typeface="Hiragino Sans GB"/>
                <a:ea typeface="Hiragino Sans GB"/>
                <a:cs typeface="Hiragino Sans GB"/>
              </a:rPr>
              <a:t>我没有课堂访谈笔记，因此下面的 Q—A 是“材料式回答与待确认项”，不作为真实访谈纪要。</a:t>
            </a:r>
          </a:p>
        </p:txBody>
      </p:sp>
    </p:spTree>
    <p:extLst>
      <p:ext uri="{BB962C8B-B14F-4D97-AF65-F5344CB8AC3E}">
        <p14:creationId xmlns:p14="http://schemas.microsoft.com/office/powerpoint/2010/main" val="13066670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1、Q2：用户怎样发起计算">
            <a:extLst xmlns:a="http://schemas.openxmlformats.org/drawingml/2006/main">
              <a:ext uri="{FF2B5EF4-FFF2-40B4-BE49-F238E27FC236}">
                <a16:creationId xmlns:a16="http://schemas.microsoft.com/office/drawing/2014/main" id="{D09EEFB3-4996-42BA-B671-1819430CC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Q1、Q2：用户怎样发起计算</a:t>
            </a:r>
          </a:p>
        </p:txBody>
      </p:sp>
      <p:sp>
        <p:nvSpPr>
          <p:cNvPr id="2" name="成果：我采用辅助建模后计算的交互路线">
            <a:extLst xmlns:a="http://schemas.openxmlformats.org/drawingml/2006/main">
              <a:ext uri="{FF2B5EF4-FFF2-40B4-BE49-F238E27FC236}">
                <a16:creationId xmlns:a16="http://schemas.microsoft.com/office/drawing/2014/main" id="{D00F9A85-7932-4DBB-B7EE-D93125C8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成果：我采用辅助建模后计算的交互路线</a:t>
            </a:r>
          </a:p>
        </p:txBody>
      </p:sp>
      <p:sp>
        <p:nvSpPr>
          <p:cNvPr id="3" name="06  /  易行 LP">
            <a:extLst xmlns:a="http://schemas.openxmlformats.org/drawingml/2006/main">
              <a:ext uri="{FF2B5EF4-FFF2-40B4-BE49-F238E27FC236}">
                <a16:creationId xmlns:a16="http://schemas.microsoft.com/office/drawing/2014/main" id="{1CFE813F-1D09-4648-92E8-349C826F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746C3-B959-40F6-B8CC-88E25B42DAAA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8763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调研问题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材料支持的回答 / 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Q1 计算服务的交互序列？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问题陈述 → 活动与资源 → 系数关系 → 建模 → 核对模型 → 计算 → 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Q2 辅助建模还是直接输入模型？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原型展示辅助建模：由结构化表格生成模型。我据此实现该路线。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待确认：还需直接输入代数式吗？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目前不实现自由代数式解析；用户直接编辑系数矩阵。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待确认：导入什么文件？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原型仅给出“导入”。我暂定 TXT 问题陈述、JSON 完整项目。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4294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3：辅助建模的详细交互">
            <a:extLst xmlns:a="http://schemas.openxmlformats.org/drawingml/2006/main">
              <a:ext uri="{FF2B5EF4-FFF2-40B4-BE49-F238E27FC236}">
                <a16:creationId xmlns:a16="http://schemas.microsoft.com/office/drawing/2014/main" id="{CC65C0E9-5333-41E2-AF0A-89524316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Q3：辅助建模的详细交互</a:t>
            </a:r>
          </a:p>
        </p:txBody>
      </p:sp>
      <p:sp>
        <p:nvSpPr>
          <p:cNvPr id="2" name="成果：将原型中的输入项分解为可实现规则">
            <a:extLst xmlns:a="http://schemas.openxmlformats.org/drawingml/2006/main">
              <a:ext uri="{FF2B5EF4-FFF2-40B4-BE49-F238E27FC236}">
                <a16:creationId xmlns:a16="http://schemas.microsoft.com/office/drawing/2014/main" id="{B70CFE84-3A46-420E-9410-FB2BCADC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成果：将原型中的输入项分解为可实现规则</a:t>
            </a:r>
          </a:p>
        </p:txBody>
      </p:sp>
      <p:sp>
        <p:nvSpPr>
          <p:cNvPr id="3" name="07  /  易行 LP">
            <a:extLst xmlns:a="http://schemas.openxmlformats.org/drawingml/2006/main">
              <a:ext uri="{FF2B5EF4-FFF2-40B4-BE49-F238E27FC236}">
                <a16:creationId xmlns:a16="http://schemas.microsoft.com/office/drawing/2014/main" id="{AF3B2A51-6708-402D-A96A-AE2617E5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B8402-7FFE-469F-9FC9-7457FC152FA1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交互与规则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目标与竞争性活动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选择 max / min；增加、删除活动；名称与 x1…xn 对应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资源与关系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增加、删除约束；编辑资源名称、关系符和资源限制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关系表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编辑每单位活动的资源用量 aij 与利润 / 成本 cj，允许负系数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建模与计算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建模先校验并生成公式；计算读取已确认模型，弹出规划方案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任何输入变化使旧模型失效，须重新建模；不继续展示旧结果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572128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DB428-32C2-4DEF-A423-2F41810E1B11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667625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A82BE2-B671-4D8E-B0BE-1715BCFE7C2F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05250" y="4429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A1189-4C26-465A-BB90-135B2B5789A1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2333625" y="2952750"/>
            <a:ext cx="752475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39871B-4B63-440F-B8F5-E49CBB444B75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A75340-2274-4260-BD4A-1D9F2C6F2ED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6" name="Q4、Q5：我学习的建模方法">
            <a:extLst xmlns:a="http://schemas.openxmlformats.org/drawingml/2006/main">
              <a:ext uri="{FF2B5EF4-FFF2-40B4-BE49-F238E27FC236}">
                <a16:creationId xmlns:a16="http://schemas.microsoft.com/office/drawing/2014/main" id="{D949AD5E-B11A-4DEF-B5D2-E3FABB3F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Q4、Q5：我学习的建模方法</a:t>
            </a:r>
          </a:p>
        </p:txBody>
      </p:sp>
      <p:sp>
        <p:nvSpPr>
          <p:cNvPr id="2" name="方法：按业务含义提取变量、目标与约束；成果：可复用的建模步骤">
            <a:extLst xmlns:a="http://schemas.openxmlformats.org/drawingml/2006/main">
              <a:ext uri="{FF2B5EF4-FFF2-40B4-BE49-F238E27FC236}">
                <a16:creationId xmlns:a16="http://schemas.microsoft.com/office/drawing/2014/main" id="{073B0963-F264-4D12-8501-2C13082B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方法：按业务含义提取变量、目标与约束；成果：可复用的建模步骤</a:t>
            </a:r>
          </a:p>
        </p:txBody>
      </p:sp>
      <p:sp>
        <p:nvSpPr>
          <p:cNvPr id="3" name="08  /  易行 LP">
            <a:extLst xmlns:a="http://schemas.openxmlformats.org/drawingml/2006/main">
              <a:ext uri="{FF2B5EF4-FFF2-40B4-BE49-F238E27FC236}">
                <a16:creationId xmlns:a16="http://schemas.microsoft.com/office/drawing/2014/main" id="{DD69F29A-3D0F-462D-824A-EB540FBA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08  /  易行 LP</a:t>
            </a:r>
          </a:p>
        </p:txBody>
      </p:sp>
      <p:sp>
        <p:nvSpPr>
          <p:cNvPr id="4" name="识别竞争性活动&#10;确定活动水平 xj">
            <a:extLst xmlns:a="http://schemas.openxmlformats.org/drawingml/2006/main">
              <a:ext uri="{FF2B5EF4-FFF2-40B4-BE49-F238E27FC236}">
                <a16:creationId xmlns:a16="http://schemas.microsoft.com/office/drawing/2014/main" id="{A4A1E86D-40C8-4700-B623-9B905C26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确定活动水平 xj</a:t>
            </a:r>
          </a:p>
        </p:txBody>
      </p:sp>
      <p:sp>
        <p:nvSpPr>
          <p:cNvPr id="5" name="定义既定目标&#10;形成 Σcj xj">
            <a:extLst xmlns:a="http://schemas.openxmlformats.org/drawingml/2006/main">
              <a:ext uri="{FF2B5EF4-FFF2-40B4-BE49-F238E27FC236}">
                <a16:creationId xmlns:a16="http://schemas.microsoft.com/office/drawing/2014/main" id="{8A2461AE-238D-4E4C-9F44-35509F3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定义既定目标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Σcj xj</a:t>
            </a:r>
          </a:p>
        </p:txBody>
      </p:sp>
      <p:sp>
        <p:nvSpPr>
          <p:cNvPr id="6" name="识别有限资源&#10;形成 Σaij xj 与限制 bi">
            <a:extLst xmlns:a="http://schemas.openxmlformats.org/drawingml/2006/main">
              <a:ext uri="{FF2B5EF4-FFF2-40B4-BE49-F238E27FC236}">
                <a16:creationId xmlns:a16="http://schemas.microsoft.com/office/drawing/2014/main" id="{4C1E07EE-5E45-45A3-81FA-415FF22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识别有限资源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形成 Σaij xj 与限制 bi</a:t>
            </a:r>
          </a:p>
        </p:txBody>
      </p:sp>
      <p:sp>
        <p:nvSpPr>
          <p:cNvPr id="7" name="审核变量与量纲&#10;补充范围、非负限制">
            <a:extLst xmlns:a="http://schemas.openxmlformats.org/drawingml/2006/main">
              <a:ext uri="{FF2B5EF4-FFF2-40B4-BE49-F238E27FC236}">
                <a16:creationId xmlns:a16="http://schemas.microsoft.com/office/drawing/2014/main" id="{AD018EDC-B8D0-467A-BD86-6333180B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审核变量与量纲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补充范围、非负限制</a:t>
            </a:r>
          </a:p>
        </p:txBody>
      </p:sp>
      <p:sp>
        <p:nvSpPr>
          <p:cNvPr id="8" name="审核线性假设&#10;可加性、比例性、可分性">
            <a:extLst xmlns:a="http://schemas.openxmlformats.org/drawingml/2006/main">
              <a:ext uri="{FF2B5EF4-FFF2-40B4-BE49-F238E27FC236}">
                <a16:creationId xmlns:a16="http://schemas.microsoft.com/office/drawing/2014/main" id="{19F5A6AF-FFFE-4DDA-A586-AA58317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审核线性假设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可加性、比例性、可分性</a:t>
            </a:r>
          </a:p>
        </p:txBody>
      </p:sp>
      <p:sp>
        <p:nvSpPr>
          <p:cNvPr id="9" name="联系现实复核&#10;缺失条件则回到模型">
            <a:extLst xmlns:a="http://schemas.openxmlformats.org/drawingml/2006/main">
              <a:ext uri="{FF2B5EF4-FFF2-40B4-BE49-F238E27FC236}">
                <a16:creationId xmlns:a16="http://schemas.microsoft.com/office/drawing/2014/main" id="{004C45C9-308E-47AA-B931-32925B5CE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联系现实复核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缺失条件则回到模型</a:t>
            </a:r>
          </a:p>
        </p:txBody>
      </p:sp>
      <p:sp>
        <p:nvSpPr>
          <p:cNvPr id="15" name="一般形式：max / min z = Σ cj xj，满足 Σ ">
            <a:extLst xmlns:a="http://schemas.openxmlformats.org/drawingml/2006/main">
              <a:ext uri="{FF2B5EF4-FFF2-40B4-BE49-F238E27FC236}">
                <a16:creationId xmlns:a16="http://schemas.microsoft.com/office/drawing/2014/main" id="{5DCEECD0-700E-45EB-9087-C21554BD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一般形式：max / min z = Σ cj xj，满足 Σ aij xj ≤ / = / ≥ bi，xj ≥ 0。</a:t>
            </a:r>
          </a:p>
        </p:txBody>
      </p:sp>
    </p:spTree>
    <p:extLst>
      <p:ext uri="{BB962C8B-B14F-4D97-AF65-F5344CB8AC3E}">
        <p14:creationId xmlns:p14="http://schemas.microsoft.com/office/powerpoint/2010/main" val="14603819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建模练习：Tanner 玩具生产">
            <a:extLst xmlns:a="http://schemas.openxmlformats.org/drawingml/2006/main">
              <a:ext uri="{FF2B5EF4-FFF2-40B4-BE49-F238E27FC236}">
                <a16:creationId xmlns:a16="http://schemas.microsoft.com/office/drawing/2014/main" id="{840DE1BC-919E-484E-B122-EF6458A7D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建模练习：Tanner 玩具生产</a:t>
            </a:r>
          </a:p>
        </p:txBody>
      </p:sp>
      <p:sp>
        <p:nvSpPr>
          <p:cNvPr id="2" name="成果：从教师原型提取含负系数的线性规划模型">
            <a:extLst xmlns:a="http://schemas.openxmlformats.org/drawingml/2006/main">
              <a:ext uri="{FF2B5EF4-FFF2-40B4-BE49-F238E27FC236}">
                <a16:creationId xmlns:a16="http://schemas.microsoft.com/office/drawing/2014/main" id="{48467E21-0661-4F13-9227-CA7D1CDD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成果：从教师原型提取含负系数的线性规划模型</a:t>
            </a:r>
          </a:p>
        </p:txBody>
      </p:sp>
      <p:sp>
        <p:nvSpPr>
          <p:cNvPr id="3" name="09  /  易行 LP">
            <a:extLst xmlns:a="http://schemas.openxmlformats.org/drawingml/2006/main">
              <a:ext uri="{FF2B5EF4-FFF2-40B4-BE49-F238E27FC236}">
                <a16:creationId xmlns:a16="http://schemas.microsoft.com/office/drawing/2014/main" id="{585325D8-84C0-4E5C-8CAF-A7C6FE6AA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09  /  易行 LP</a:t>
            </a:r>
          </a:p>
        </p:txBody>
      </p:sp>
      <p:sp>
        <p:nvSpPr>
          <p:cNvPr id="4" name="x1：玩具产量；x2：同时生产 A、B 各一个的组合部件组数。">
            <a:extLst xmlns:a="http://schemas.openxmlformats.org/drawingml/2006/main">
              <a:ext uri="{FF2B5EF4-FFF2-40B4-BE49-F238E27FC236}">
                <a16:creationId xmlns:a16="http://schemas.microsoft.com/office/drawing/2014/main" id="{152BFB50-8DF8-450A-BAEB-B90A8FCE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x1：玩具产量；x2：同时生产 A、B 各一个的组合部件组数。</a:t>
            </a:r>
          </a:p>
        </p:txBody>
      </p:sp>
      <p:sp>
        <p:nvSpPr>
          <p:cNvPr id="5" name="max z = 3x1 − 2.5x2&#10;2x1 − x2 ≤ 3">
            <a:extLst xmlns:a="http://schemas.openxmlformats.org/drawingml/2006/main">
              <a:ext uri="{FF2B5EF4-FFF2-40B4-BE49-F238E27FC236}">
                <a16:creationId xmlns:a16="http://schemas.microsoft.com/office/drawing/2014/main" id="{E5D9BEEF-EF7A-44B6-9D6C-07EBC3AF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64770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max z = 3x1 − 2.5x2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2x1 − x2 ≤ 3000   （A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x1 − x2 ≤ 1000     （B 部件）</a:t>
            </a:r>
          </a:p>
          <a:p xmlns:a="http://schemas.openxmlformats.org/drawingml/2006/main">
            <a:pPr>
              <a:def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x1 ≥ 0，x2 ≥ 0</a:t>
            </a:r>
          </a:p>
        </p:txBody>
      </p:sp>
      <p:sp>
        <p:nvSpPr>
          <p:cNvPr id="6" name="负系数的含义&#10;&#10;生产组合部件增加资源，&#10;所以在资源净消耗中为 −">
            <a:extLst xmlns:a="http://schemas.openxmlformats.org/drawingml/2006/main">
              <a:ext uri="{FF2B5EF4-FFF2-40B4-BE49-F238E27FC236}">
                <a16:creationId xmlns:a16="http://schemas.microsoft.com/office/drawing/2014/main" id="{CA19B9A6-5347-4B45-B613-E3329119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14600"/>
            <a:ext cx="3524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负系数的含义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生产组合部件增加资源，</a:t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所以在资源净消耗中为 −1。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组合成本从净利润中扣除。</a:t>
            </a:r>
          </a:p>
        </p:txBody>
      </p:sp>
      <p:sp>
        <p:nvSpPr>
          <p:cNvPr id="7" name="复核：x1 = 2000，x2 = 1000，z = 3500；">
            <a:extLst xmlns:a="http://schemas.openxmlformats.org/drawingml/2006/main">
              <a:ext uri="{FF2B5EF4-FFF2-40B4-BE49-F238E27FC236}">
                <a16:creationId xmlns:a16="http://schemas.microsoft.com/office/drawing/2014/main" id="{427029B0-7386-4661-B22D-A4A278E9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1500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复核：x1 = 2000，x2 = 1000，z = 3500；A、B 两条资源约束恰好取等号。</a:t>
            </a:r>
          </a:p>
        </p:txBody>
      </p:sp>
    </p:spTree>
    <p:extLst>
      <p:ext uri="{BB962C8B-B14F-4D97-AF65-F5344CB8AC3E}">
        <p14:creationId xmlns:p14="http://schemas.microsoft.com/office/powerpoint/2010/main" val="157637697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建模审核：发现故事中的不一致">
            <a:extLst xmlns:a="http://schemas.openxmlformats.org/drawingml/2006/main">
              <a:ext uri="{FF2B5EF4-FFF2-40B4-BE49-F238E27FC236}">
                <a16:creationId xmlns:a16="http://schemas.microsoft.com/office/drawing/2014/main" id="{346000B8-19DE-4409-BAF3-3FDAEE29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建模审核：发现故事中的不一致</a:t>
            </a:r>
          </a:p>
        </p:txBody>
      </p:sp>
      <p:sp>
        <p:nvSpPr>
          <p:cNvPr id="2" name="成果：统一变量含义与利润系数，避免把材料笔误带入软件">
            <a:extLst xmlns:a="http://schemas.openxmlformats.org/drawingml/2006/main">
              <a:ext uri="{FF2B5EF4-FFF2-40B4-BE49-F238E27FC236}">
                <a16:creationId xmlns:a16="http://schemas.microsoft.com/office/drawing/2014/main" id="{BF2DA687-A681-4792-BB4F-A3C09EDC6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成果：统一变量含义与利润系数，避免把材料笔误带入软件</a:t>
            </a:r>
          </a:p>
        </p:txBody>
      </p:sp>
      <p:sp>
        <p:nvSpPr>
          <p:cNvPr id="3" name="10  /  易行 LP">
            <a:extLst xmlns:a="http://schemas.openxmlformats.org/drawingml/2006/main">
              <a:ext uri="{FF2B5EF4-FFF2-40B4-BE49-F238E27FC236}">
                <a16:creationId xmlns:a16="http://schemas.microsoft.com/office/drawing/2014/main" id="{2CDC36FE-723C-4528-AA4D-21AC961D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97E068-7CDE-4D88-B896-8E50F2E21FC2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10527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材料表现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我的处理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变量定义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第4页：x1 为鸭，x2 为鱼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全文固定该定义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单位利润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文字：鸭 5 美元、鱼 4 美元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目标函数采用 5x1 + 4x2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第8页目标函数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图中系数写成 4、5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记录差异，按第4页及文字校正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结果代入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150×5 + 50×4 = 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与故事给出的950一致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故事正文中的“鸭或鱼”应结合数学模型理解为一个同时包含两种产量的">
            <a:extLst xmlns:a="http://schemas.openxmlformats.org/drawingml/2006/main">
              <a:ext uri="{FF2B5EF4-FFF2-40B4-BE49-F238E27FC236}">
                <a16:creationId xmlns:a16="http://schemas.microsoft.com/office/drawing/2014/main" id="{8C8F7A25-B927-44F3-B902-03BC3338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故事正文中的“鸭或鱼”应结合数学模型理解为一个同时包含两种产量的生产组合。</a:t>
            </a:r>
          </a:p>
        </p:txBody>
      </p:sp>
    </p:spTree>
    <p:extLst>
      <p:ext uri="{BB962C8B-B14F-4D97-AF65-F5344CB8AC3E}">
        <p14:creationId xmlns:p14="http://schemas.microsoft.com/office/powerpoint/2010/main" val="12950419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Q4、Q5：我学习的计算方法">
            <a:extLst xmlns:a="http://schemas.openxmlformats.org/drawingml/2006/main">
              <a:ext uri="{FF2B5EF4-FFF2-40B4-BE49-F238E27FC236}">
                <a16:creationId xmlns:a16="http://schemas.microsoft.com/office/drawing/2014/main" id="{EC1A655D-B0C6-4E4E-91B2-09F237D34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Q4、Q5：我学习的计算方法</a:t>
            </a:r>
          </a:p>
        </p:txBody>
      </p:sp>
      <p:sp>
        <p:nvSpPr>
          <p:cNvPr id="2" name="成果：理解换基为什么能逐步改进目标值">
            <a:extLst xmlns:a="http://schemas.openxmlformats.org/drawingml/2006/main">
              <a:ext uri="{FF2B5EF4-FFF2-40B4-BE49-F238E27FC236}">
                <a16:creationId xmlns:a16="http://schemas.microsoft.com/office/drawing/2014/main" id="{F53E5F4F-C066-4104-B699-86E3B0C6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成果：理解换基为什么能逐步改进目标值</a:t>
            </a:r>
          </a:p>
        </p:txBody>
      </p:sp>
      <p:sp>
        <p:nvSpPr>
          <p:cNvPr id="3" name="11  /  易行 LP">
            <a:extLst xmlns:a="http://schemas.openxmlformats.org/drawingml/2006/main">
              <a:ext uri="{FF2B5EF4-FFF2-40B4-BE49-F238E27FC236}">
                <a16:creationId xmlns:a16="http://schemas.microsoft.com/office/drawing/2014/main" id="{4E51EF18-BB28-4F18-88FD-4CCD28E8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11  /  易行 LP</a:t>
            </a:r>
          </a:p>
        </p:txBody>
      </p:sp>
      <p:sp>
        <p:nvSpPr>
          <p:cNvPr id="4" name="标准化：min 转为 max 的相反目标；≥ 两边取负；= 拆成">
            <a:extLst xmlns:a="http://schemas.openxmlformats.org/drawingml/2006/main">
              <a:ext uri="{FF2B5EF4-FFF2-40B4-BE49-F238E27FC236}">
                <a16:creationId xmlns:a16="http://schemas.microsoft.com/office/drawing/2014/main" id="{0E84FEE9-75B3-4620-8E63-79125C1C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621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标准化：min 转为 max 的相反目标；≥ 两边取负；= 拆成两条 ≤。</a:t>
            </a:r>
          </a:p>
        </p:txBody>
      </p:sp>
      <p:sp>
        <p:nvSpPr>
          <p:cNvPr id="5" name="可行性：加入松弛变量；若初始右端为负，使用人工变量与辅助目标找可">
            <a:extLst xmlns:a="http://schemas.openxmlformats.org/drawingml/2006/main">
              <a:ext uri="{FF2B5EF4-FFF2-40B4-BE49-F238E27FC236}">
                <a16:creationId xmlns:a16="http://schemas.microsoft.com/office/drawing/2014/main" id="{AE98F03F-A435-462F-863B-12833F8A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03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可行性：加入松弛变量；若初始右端为负，使用人工变量与辅助目标找可行基。</a:t>
            </a:r>
          </a:p>
        </p:txBody>
      </p:sp>
      <p:sp>
        <p:nvSpPr>
          <p:cNvPr id="6" name="改进：选可改善目标的非基变量入基，用最小比值确定出基变量。">
            <a:extLst xmlns:a="http://schemas.openxmlformats.org/drawingml/2006/main">
              <a:ext uri="{FF2B5EF4-FFF2-40B4-BE49-F238E27FC236}">
                <a16:creationId xmlns:a16="http://schemas.microsoft.com/office/drawing/2014/main" id="{6DEB45F4-54FE-4EF4-A36C-62C402A1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385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改进：选可改善目标的非基变量入基，用最小比值确定出基变量。</a:t>
            </a:r>
          </a:p>
        </p:txBody>
      </p:sp>
      <p:sp>
        <p:nvSpPr>
          <p:cNvPr id="7" name="更新：用 Gauss–Jordan 消元换基；没有改善方向时，读">
            <a:extLst xmlns:a="http://schemas.openxmlformats.org/drawingml/2006/main">
              <a:ext uri="{FF2B5EF4-FFF2-40B4-BE49-F238E27FC236}">
                <a16:creationId xmlns:a16="http://schemas.microsoft.com/office/drawing/2014/main" id="{88CA4686-8E25-4D7A-8F49-3CF5AB97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更新：用 Gauss–Jordan 消元换基；没有改善方向时，读出当前最优解。</a:t>
            </a:r>
          </a:p>
        </p:txBody>
      </p:sp>
      <p:sp>
        <p:nvSpPr>
          <p:cNvPr id="8" name="边界：无可行解、目标无界与数值异常必须分别报告。">
            <a:extLst xmlns:a="http://schemas.openxmlformats.org/drawingml/2006/main">
              <a:ext uri="{FF2B5EF4-FFF2-40B4-BE49-F238E27FC236}">
                <a16:creationId xmlns:a16="http://schemas.microsoft.com/office/drawing/2014/main" id="{73375625-EF29-4DF7-A1E4-D605E28F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107061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边界：无可行解、目标无界与数值异常必须分别报告。</a:t>
            </a:r>
          </a:p>
        </p:txBody>
      </p:sp>
    </p:spTree>
    <p:extLst>
      <p:ext uri="{BB962C8B-B14F-4D97-AF65-F5344CB8AC3E}">
        <p14:creationId xmlns:p14="http://schemas.microsoft.com/office/powerpoint/2010/main" val="15431535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DFC9F-0699-422F-805E-032E2BAD086B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238375" y="4667250"/>
            <a:ext cx="7620000" cy="228600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206650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3D5D8-0852-44DC-8A11-48B62B3622D1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14CB4-00F2-472E-822B-9FF53C176AE5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7524750" y="42386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D781C-C063-4B88-9B04-BBF353CA31D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9858375" y="2714625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A5BF2-7391-4FCA-869D-ECC4C2552892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A87565-3B17-41AE-A01B-3CD5FAF17D3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35743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8" name="单纯形法活动流程">
            <a:extLst xmlns:a="http://schemas.openxmlformats.org/drawingml/2006/main">
              <a:ext uri="{FF2B5EF4-FFF2-40B4-BE49-F238E27FC236}">
                <a16:creationId xmlns:a16="http://schemas.microsoft.com/office/drawing/2014/main" id="{CEB22588-3554-4D07-AC52-DAD006CA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单纯形法活动流程</a:t>
            </a:r>
          </a:p>
        </p:txBody>
      </p:sp>
      <p:sp>
        <p:nvSpPr>
          <p:cNvPr id="2" name="方法：把数学步骤转化为控制流程；成果：算法活动模型">
            <a:extLst xmlns:a="http://schemas.openxmlformats.org/drawingml/2006/main">
              <a:ext uri="{FF2B5EF4-FFF2-40B4-BE49-F238E27FC236}">
                <a16:creationId xmlns:a16="http://schemas.microsoft.com/office/drawing/2014/main" id="{BDFD8000-8A89-49AE-8151-C0A1EFEC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方法：把数学步骤转化为控制流程；成果：算法活动模型</a:t>
            </a:r>
          </a:p>
        </p:txBody>
      </p:sp>
      <p:sp>
        <p:nvSpPr>
          <p:cNvPr id="3" name="12  /  易行 LP">
            <a:extLst xmlns:a="http://schemas.openxmlformats.org/drawingml/2006/main">
              <a:ext uri="{FF2B5EF4-FFF2-40B4-BE49-F238E27FC236}">
                <a16:creationId xmlns:a16="http://schemas.microsoft.com/office/drawing/2014/main" id="{02689BA0-5FBA-443B-B07B-E5A669CF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12  /  易行 LP</a:t>
            </a:r>
          </a:p>
        </p:txBody>
      </p:sp>
      <p:sp>
        <p:nvSpPr>
          <p:cNvPr id="4" name="校验与标准化">
            <a:extLst xmlns:a="http://schemas.openxmlformats.org/drawingml/2006/main">
              <a:ext uri="{FF2B5EF4-FFF2-40B4-BE49-F238E27FC236}">
                <a16:creationId xmlns:a16="http://schemas.microsoft.com/office/drawing/2014/main" id="{26EB543B-327D-446B-AD91-A23DBF1D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校验与标准化</a:t>
            </a:r>
          </a:p>
        </p:txBody>
      </p:sp>
      <p:sp>
        <p:nvSpPr>
          <p:cNvPr id="5" name="建立单纯形表">
            <a:extLst xmlns:a="http://schemas.openxmlformats.org/drawingml/2006/main">
              <a:ext uri="{FF2B5EF4-FFF2-40B4-BE49-F238E27FC236}">
                <a16:creationId xmlns:a16="http://schemas.microsoft.com/office/drawing/2014/main" id="{AE28B8B0-BD14-443F-9FA2-3A8BC3BE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建立单纯形表</a:t>
            </a:r>
          </a:p>
        </p:txBody>
      </p:sp>
      <p:sp>
        <p:nvSpPr>
          <p:cNvPr id="6" name="阶段一：寻找可行基&#10;已有可行基则跳过">
            <a:extLst xmlns:a="http://schemas.openxmlformats.org/drawingml/2006/main">
              <a:ext uri="{FF2B5EF4-FFF2-40B4-BE49-F238E27FC236}">
                <a16:creationId xmlns:a16="http://schemas.microsoft.com/office/drawing/2014/main" id="{82E3FBDF-0FAD-40C4-AA9C-43FFC6A3F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295275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阶段一：寻找可行基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已有可行基则跳过</a:t>
            </a:r>
          </a:p>
        </p:txBody>
      </p:sp>
      <p:sp>
        <p:nvSpPr>
          <p:cNvPr id="7" name="换基并记录表格&#10;返回入基选择继续判断">
            <a:extLst xmlns:a="http://schemas.openxmlformats.org/drawingml/2006/main">
              <a:ext uri="{FF2B5EF4-FFF2-40B4-BE49-F238E27FC236}">
                <a16:creationId xmlns:a16="http://schemas.microsoft.com/office/drawing/2014/main" id="{8569E65B-5F33-4352-B526-745DD28C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换基并记录表格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返回入基选择继续判断</a:t>
            </a:r>
          </a:p>
        </p:txBody>
      </p:sp>
      <p:sp>
        <p:nvSpPr>
          <p:cNvPr id="8" name="最小比值选出基变量&#10;无正系数则目标无界">
            <a:extLst xmlns:a="http://schemas.openxmlformats.org/drawingml/2006/main">
              <a:ext uri="{FF2B5EF4-FFF2-40B4-BE49-F238E27FC236}">
                <a16:creationId xmlns:a16="http://schemas.microsoft.com/office/drawing/2014/main" id="{B8327A6D-A2CB-4B7A-B8AF-850F46A3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最小比值选出基变量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无正系数则目标无界</a:t>
            </a:r>
          </a:p>
        </p:txBody>
      </p:sp>
      <p:sp>
        <p:nvSpPr>
          <p:cNvPr id="9" name="阶段二：选择入基变量&#10;无改善变量则最优">
            <a:extLst xmlns:a="http://schemas.openxmlformats.org/drawingml/2006/main">
              <a:ext uri="{FF2B5EF4-FFF2-40B4-BE49-F238E27FC236}">
                <a16:creationId xmlns:a16="http://schemas.microsoft.com/office/drawing/2014/main" id="{87172159-0E90-441C-BEEE-EC48CCA6B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10000"/>
            <a:ext cx="2952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阶段二：选择入基变量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无改善变量则最优</a:t>
            </a:r>
          </a:p>
        </p:txBody>
      </p:sp>
      <p:sp>
        <p:nvSpPr>
          <p:cNvPr id="16" name="阶段一结束辅助目标仍非零：无可行解。换基达到 2000 次：返回">
            <a:extLst xmlns:a="http://schemas.openxmlformats.org/drawingml/2006/main">
              <a:ext uri="{FF2B5EF4-FFF2-40B4-BE49-F238E27FC236}">
                <a16:creationId xmlns:a16="http://schemas.microsoft.com/office/drawing/2014/main" id="{39ABBF44-5BEB-4FAD-8B8F-0C886C83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阶段一结束辅助目标仍非零：无可行解。换基达到 2000 次：返回“迭代上限”。</a:t>
            </a:r>
          </a:p>
        </p:txBody>
      </p:sp>
      <p:sp>
        <p:nvSpPr>
          <p:cNvPr id="17" name="实现按阶段二“选入基 → 选出基 → 换基 → 再判断”的循环执">
            <a:extLst xmlns:a="http://schemas.openxmlformats.org/drawingml/2006/main">
              <a:ext uri="{FF2B5EF4-FFF2-40B4-BE49-F238E27FC236}">
                <a16:creationId xmlns:a16="http://schemas.microsoft.com/office/drawing/2014/main" id="{6C260B24-6D0D-449D-9E01-1ABB909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626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实现按阶段二“选入基 → 选出基 → 换基 → 再判断”的循环执行。</a:t>
            </a:r>
          </a:p>
        </p:txBody>
      </p:sp>
    </p:spTree>
    <p:extLst>
      <p:ext uri="{BB962C8B-B14F-4D97-AF65-F5344CB8AC3E}">
        <p14:creationId xmlns:p14="http://schemas.microsoft.com/office/powerpoint/2010/main" val="575473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计算练习：Tanner 的两次换基">
            <a:extLst xmlns:a="http://schemas.openxmlformats.org/drawingml/2006/main">
              <a:ext uri="{FF2B5EF4-FFF2-40B4-BE49-F238E27FC236}">
                <a16:creationId xmlns:a16="http://schemas.microsoft.com/office/drawing/2014/main" id="{EBC29ACF-B942-499B-BE4C-8DF5931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计算练习：Tanner 的两次换基</a:t>
            </a:r>
          </a:p>
        </p:txBody>
      </p:sp>
      <p:sp>
        <p:nvSpPr>
          <p:cNvPr id="2" name="成果：把表格运算与具体的业务结果联系起来">
            <a:extLst xmlns:a="http://schemas.openxmlformats.org/drawingml/2006/main">
              <a:ext uri="{FF2B5EF4-FFF2-40B4-BE49-F238E27FC236}">
                <a16:creationId xmlns:a16="http://schemas.microsoft.com/office/drawing/2014/main" id="{261CED43-45EF-41D4-AF68-0DF16A70A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成果：把表格运算与具体的业务结果联系起来</a:t>
            </a:r>
          </a:p>
        </p:txBody>
      </p:sp>
      <p:sp>
        <p:nvSpPr>
          <p:cNvPr id="3" name="13  /  易行 LP">
            <a:extLst xmlns:a="http://schemas.openxmlformats.org/drawingml/2006/main">
              <a:ext uri="{FF2B5EF4-FFF2-40B4-BE49-F238E27FC236}">
                <a16:creationId xmlns:a16="http://schemas.microsoft.com/office/drawing/2014/main" id="{EBF07999-0F1B-4DDB-86A8-02D3D796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13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557C35-4B5F-4A2C-9099-43086213661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5867400"/>
              </a:tblGrid>
              <a:tr h="7810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步骤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 /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结果与原因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初始可行解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基为 s1、s2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x1=x2=0，z=0；资源尚未使用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第1次换基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x1 入基，s2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最小比值1000；x1=1000，z=3000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第2次换基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x2 入基，s1 出基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剩余A约束限制 x2=1000；同时 x1 增至2000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最优检查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没有可改善目标的非基变量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z=3×2000−2.5×1000=3500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Bland 规则：按编号选择可改善变量；最小比值相同时按基变量编">
            <a:extLst xmlns:a="http://schemas.openxmlformats.org/drawingml/2006/main">
              <a:ext uri="{FF2B5EF4-FFF2-40B4-BE49-F238E27FC236}">
                <a16:creationId xmlns:a16="http://schemas.microsoft.com/office/drawing/2014/main" id="{1BB02A4E-D5B4-480C-8285-0BCF6FF9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Bland 规则：按编号选择可改善变量；最小比值相同时按基变量编号选择。</a:t>
            </a:r>
          </a:p>
        </p:txBody>
      </p:sp>
    </p:spTree>
    <p:extLst>
      <p:ext uri="{BB962C8B-B14F-4D97-AF65-F5344CB8AC3E}">
        <p14:creationId xmlns:p14="http://schemas.microsoft.com/office/powerpoint/2010/main" val="13107306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6、Q7：部署方式与业务范围">
            <a:extLst xmlns:a="http://schemas.openxmlformats.org/drawingml/2006/main">
              <a:ext uri="{FF2B5EF4-FFF2-40B4-BE49-F238E27FC236}">
                <a16:creationId xmlns:a16="http://schemas.microsoft.com/office/drawing/2014/main" id="{51A42D29-00F0-424E-A0F4-014854E1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Q6、Q7：部署方式与业务范围</a:t>
            </a:r>
          </a:p>
        </p:txBody>
      </p:sp>
      <p:sp>
        <p:nvSpPr>
          <p:cNvPr id="2" name="成果：写清当前部署选择及其假设，保留扩展边界">
            <a:extLst xmlns:a="http://schemas.openxmlformats.org/drawingml/2006/main">
              <a:ext uri="{FF2B5EF4-FFF2-40B4-BE49-F238E27FC236}">
                <a16:creationId xmlns:a16="http://schemas.microsoft.com/office/drawing/2014/main" id="{1E1A90C8-BDA0-4C22-8FF3-414AA21A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成果：写清当前部署选择及其假设，保留扩展边界</a:t>
            </a:r>
          </a:p>
        </p:txBody>
      </p:sp>
      <p:sp>
        <p:nvSpPr>
          <p:cNvPr id="3" name="14  /  易行 LP">
            <a:extLst xmlns:a="http://schemas.openxmlformats.org/drawingml/2006/main">
              <a:ext uri="{FF2B5EF4-FFF2-40B4-BE49-F238E27FC236}">
                <a16:creationId xmlns:a16="http://schemas.microsoft.com/office/drawing/2014/main" id="{4003908B-2614-490E-BF80-CCEC4366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C7F37-E90E-45E0-8150-72B1799E8FC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4095750"/>
                <a:gridCol w="3962400"/>
              </a:tblGrid>
              <a:tr h="8763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我的当前选择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 / 后续影响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Q6 基础设施如何部署？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单机浏览器运行，本地文件导入导出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若要求多人共享，再增加服务端、权限和存储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Q7 是否只做一种业务？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目前只支持连续线性规划；算法与界面解耦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如需其他运筹业务，新增模型与求解服务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为什么这样选择？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现有故事只有两位咨询人员，课程先验证核心流程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该选择是设计假设，不是访谈结论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部署成果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 HTML / CSS / JS，无账号、无后端依赖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不宣称已部署公网服务或实现多人协作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760090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系统陈述与用户使用故事">
            <a:extLst xmlns:a="http://schemas.openxmlformats.org/drawingml/2006/main">
              <a:ext uri="{FF2B5EF4-FFF2-40B4-BE49-F238E27FC236}">
                <a16:creationId xmlns:a16="http://schemas.microsoft.com/office/drawing/2014/main" id="{E92C35D3-A271-4E4C-AEAE-976FFD7C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系统陈述与用户使用故事</a:t>
            </a:r>
          </a:p>
        </p:txBody>
      </p:sp>
      <p:sp>
        <p:nvSpPr>
          <p:cNvPr id="2" name="成果：把软件目标、用户情境和成功条件写成需求">
            <a:extLst xmlns:a="http://schemas.openxmlformats.org/drawingml/2006/main">
              <a:ext uri="{FF2B5EF4-FFF2-40B4-BE49-F238E27FC236}">
                <a16:creationId xmlns:a16="http://schemas.microsoft.com/office/drawing/2014/main" id="{160C4C85-601B-42ED-BC53-0D5956B9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成果：把软件目标、用户情境和成功条件写成需求</a:t>
            </a:r>
          </a:p>
        </p:txBody>
      </p:sp>
      <p:sp>
        <p:nvSpPr>
          <p:cNvPr id="3" name="15  /  易行 LP">
            <a:extLst xmlns:a="http://schemas.openxmlformats.org/drawingml/2006/main">
              <a:ext uri="{FF2B5EF4-FFF2-40B4-BE49-F238E27FC236}">
                <a16:creationId xmlns:a16="http://schemas.microsoft.com/office/drawing/2014/main" id="{268832CC-FD6B-4889-833E-55B57D402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15  /  易行 LP</a:t>
            </a:r>
          </a:p>
        </p:txBody>
      </p:sp>
      <p:sp>
        <p:nvSpPr>
          <p:cNvPr id="4" name="系统陈述">
            <a:extLst xmlns:a="http://schemas.openxmlformats.org/drawingml/2006/main">
              <a:ext uri="{FF2B5EF4-FFF2-40B4-BE49-F238E27FC236}">
                <a16:creationId xmlns:a16="http://schemas.microsoft.com/office/drawing/2014/main" id="{E00AC8A9-491B-4FE2-ABAB-33F01BAE9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系统陈述</a:t>
            </a:r>
          </a:p>
        </p:txBody>
      </p:sp>
      <p:sp>
        <p:nvSpPr>
          <p:cNvPr id="5" name="我设计的易行 LP 面向运筹咨询研究人员，辅助将已理解的业务问题">
            <a:extLst xmlns:a="http://schemas.openxmlformats.org/drawingml/2006/main">
              <a:ext uri="{FF2B5EF4-FFF2-40B4-BE49-F238E27FC236}">
                <a16:creationId xmlns:a16="http://schemas.microsoft.com/office/drawing/2014/main" id="{5B931EAE-72DB-4AD2-B149-03CD2E3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我设计的易行 LP 面向运筹咨询研究人员，辅助将已理解的业务问题转成非负连续线性规划模型，完成求解、模型复核与规划方案输出。</a:t>
            </a:r>
          </a:p>
        </p:txBody>
      </p:sp>
      <p:sp>
        <p:nvSpPr>
          <p:cNvPr id="6" name="使用故事 1：初次规划">
            <a:extLst xmlns:a="http://schemas.openxmlformats.org/drawingml/2006/main">
              <a:ext uri="{FF2B5EF4-FFF2-40B4-BE49-F238E27FC236}">
                <a16:creationId xmlns:a16="http://schemas.microsoft.com/office/drawing/2014/main" id="{EED9E85F-CF87-4B86-AABB-ABCDABA6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7662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1：初次规划</a:t>
            </a:r>
          </a:p>
        </p:txBody>
      </p:sp>
      <p:sp>
        <p:nvSpPr>
          <p:cNvPr id="7" name="老张录入 Tanner 问题与资源数据，借助活动—资源表生成模型">
            <a:extLst xmlns:a="http://schemas.openxmlformats.org/drawingml/2006/main">
              <a:ext uri="{FF2B5EF4-FFF2-40B4-BE49-F238E27FC236}">
                <a16:creationId xmlns:a16="http://schemas.microsoft.com/office/drawing/2014/main" id="{6B01C045-8A16-4BCC-B809-233FA79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老张录入 Tanner 问题与资源数据，借助活动—资源表生成模型；小明核对公式后发起计算，得到带业务名称的规划方案。</a:t>
            </a:r>
          </a:p>
        </p:txBody>
      </p:sp>
      <p:sp>
        <p:nvSpPr>
          <p:cNvPr id="8" name="使用故事 2：审核后修订">
            <a:extLst xmlns:a="http://schemas.openxmlformats.org/drawingml/2006/main">
              <a:ext uri="{FF2B5EF4-FFF2-40B4-BE49-F238E27FC236}">
                <a16:creationId xmlns:a16="http://schemas.microsoft.com/office/drawing/2014/main" id="{6D5C21CE-7F9F-40E1-82FE-0FB92361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使用故事 2：审核后修订</a:t>
            </a:r>
          </a:p>
        </p:txBody>
      </p:sp>
      <p:sp>
        <p:nvSpPr>
          <p:cNvPr id="9" name="老张发现漏掉销量上限后补充约束，软件使旧模型失效；重新建模和计算">
            <a:extLst xmlns:a="http://schemas.openxmlformats.org/drawingml/2006/main">
              <a:ext uri="{FF2B5EF4-FFF2-40B4-BE49-F238E27FC236}">
                <a16:creationId xmlns:a16="http://schemas.microsoft.com/office/drawing/2014/main" id="{E5CC60D2-8F7A-489B-9332-2A83EFBB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76875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老张发现漏掉销量上限后补充约束，软件使旧模型失效；重新建模和计算后，研究人员检查新方案是否符合这些限制。</a:t>
            </a:r>
          </a:p>
        </p:txBody>
      </p:sp>
    </p:spTree>
    <p:extLst>
      <p:ext uri="{BB962C8B-B14F-4D97-AF65-F5344CB8AC3E}">
        <p14:creationId xmlns:p14="http://schemas.microsoft.com/office/powerpoint/2010/main" val="1015861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功能性需求基线">
            <a:extLst xmlns:a="http://schemas.openxmlformats.org/drawingml/2006/main">
              <a:ext uri="{FF2B5EF4-FFF2-40B4-BE49-F238E27FC236}">
                <a16:creationId xmlns:a16="http://schemas.microsoft.com/office/drawing/2014/main" id="{C864EA8C-91BD-42B8-8D26-3213EA7B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功能性需求基线</a:t>
            </a:r>
          </a:p>
        </p:txBody>
      </p:sp>
      <p:sp>
        <p:nvSpPr>
          <p:cNvPr id="2" name="成果：把材料和设计选择编号，便于追踪">
            <a:extLst xmlns:a="http://schemas.openxmlformats.org/drawingml/2006/main">
              <a:ext uri="{FF2B5EF4-FFF2-40B4-BE49-F238E27FC236}">
                <a16:creationId xmlns:a16="http://schemas.microsoft.com/office/drawing/2014/main" id="{19021FA7-71BE-4400-ABE2-5839281F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成果：把材料和设计选择编号，便于追踪</a:t>
            </a:r>
          </a:p>
        </p:txBody>
      </p:sp>
      <p:sp>
        <p:nvSpPr>
          <p:cNvPr id="3" name="16  /  易行 LP">
            <a:extLst xmlns:a="http://schemas.openxmlformats.org/drawingml/2006/main">
              <a:ext uri="{FF2B5EF4-FFF2-40B4-BE49-F238E27FC236}">
                <a16:creationId xmlns:a16="http://schemas.microsoft.com/office/drawing/2014/main" id="{68E73594-2E32-4669-A8D9-B4425D43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4C135-F5ED-4A18-BC86-B2AB79DE0A00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47750"/>
                <a:gridCol w="7143750"/>
                <a:gridCol w="2628900"/>
              </a:tblGrid>
              <a:tr h="642257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功能与验收条件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 TXT 问题陈述，允许继续编辑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原型“导入”；格式为我的假设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编辑目标、活动、资源、系数和关系；增删时矩阵维数一致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教师原型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点击建模生成公式；非法输入给出提示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原型建模；校验为设计细化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点击计算显示目标值、变量值和资源余量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原型规划方案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修改输入后必须重新建模才能计算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故事反复建模；设计细化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查看迭代记录、导入导出完整项目与计算记录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可检查性与复用扩展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35799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非功能性需求与可用性">
            <a:extLst xmlns:a="http://schemas.openxmlformats.org/drawingml/2006/main">
              <a:ext uri="{FF2B5EF4-FFF2-40B4-BE49-F238E27FC236}">
                <a16:creationId xmlns:a16="http://schemas.microsoft.com/office/drawing/2014/main" id="{D6F059C1-03CE-4720-918C-DCBE7A90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非功能性需求与可用性</a:t>
            </a:r>
          </a:p>
        </p:txBody>
      </p:sp>
      <p:sp>
        <p:nvSpPr>
          <p:cNvPr id="2" name="成果：提出可检查的质量要求；数值门槛属于我的设计假设">
            <a:extLst xmlns:a="http://schemas.openxmlformats.org/drawingml/2006/main">
              <a:ext uri="{FF2B5EF4-FFF2-40B4-BE49-F238E27FC236}">
                <a16:creationId xmlns:a16="http://schemas.microsoft.com/office/drawing/2014/main" id="{170002A6-636F-49B4-974D-8926EA40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成果：提出可检查的质量要求；数值门槛属于我的设计假设</a:t>
            </a:r>
          </a:p>
        </p:txBody>
      </p:sp>
      <p:sp>
        <p:nvSpPr>
          <p:cNvPr id="3" name="17  /  易行 LP">
            <a:extLst xmlns:a="http://schemas.openxmlformats.org/drawingml/2006/main">
              <a:ext uri="{FF2B5EF4-FFF2-40B4-BE49-F238E27FC236}">
                <a16:creationId xmlns:a16="http://schemas.microsoft.com/office/drawing/2014/main" id="{E7D27BB4-E1CA-4663-8F98-5ECA13BE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14EE42-4D00-4B59-9484-2111347EF6CF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9750"/>
                <a:gridCol w="4857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编号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要求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验证方法 / 当前边界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N01 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输出与原模型一起保存；最优结果代回约束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检查计算记录与约束余量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N02 易用性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变量使用业务名称；错误能定位；900px宽度可操作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浏览器检查关键流程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N03 可移植性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静态文件本地运行，不依赖账号与外部接口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离线文件包与浏览器启动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N04 有界运行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1～20变量，1～40原始约束；最多2000次换基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尺寸与迭代上限校验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N05 数值处理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有限数输入，绝对值≤10⁹；EPS=10⁻⁹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边界校验、结果容差检查；不保证病态模型精度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00403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A2D4E-93B1-474B-9826-931535074BC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2876550" y="3571875"/>
            <a:ext cx="1504950" cy="11668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11D51-9E24-4C2D-B4E9-C86D6CAAEF9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2876550" y="3571875"/>
            <a:ext cx="1504950" cy="214313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BBD89-2DCE-49DB-BD8F-A24892E713E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2876550" y="2833688"/>
            <a:ext cx="1504950" cy="738188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14" name="第 3 步：软件分析">
            <a:extLst xmlns:a="http://schemas.openxmlformats.org/drawingml/2006/main">
              <a:ext uri="{FF2B5EF4-FFF2-40B4-BE49-F238E27FC236}">
                <a16:creationId xmlns:a16="http://schemas.microsoft.com/office/drawing/2014/main" id="{4962C4B2-F775-4F96-9572-2F6FB8E4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3 步：软件分析</a:t>
            </a:r>
          </a:p>
        </p:txBody>
      </p:sp>
      <p:sp>
        <p:nvSpPr>
          <p:cNvPr id="2" name="方法：从用户目标识别用例；成果：系统用例视图">
            <a:extLst xmlns:a="http://schemas.openxmlformats.org/drawingml/2006/main">
              <a:ext uri="{FF2B5EF4-FFF2-40B4-BE49-F238E27FC236}">
                <a16:creationId xmlns:a16="http://schemas.microsoft.com/office/drawing/2014/main" id="{866691FA-A725-41DA-A01F-2E76E9CC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方法：从用户目标识别用例；成果：系统用例视图</a:t>
            </a:r>
          </a:p>
        </p:txBody>
      </p:sp>
      <p:sp>
        <p:nvSpPr>
          <p:cNvPr id="3" name="18  /  易行 LP">
            <a:extLst xmlns:a="http://schemas.openxmlformats.org/drawingml/2006/main">
              <a:ext uri="{FF2B5EF4-FFF2-40B4-BE49-F238E27FC236}">
                <a16:creationId xmlns:a16="http://schemas.microsoft.com/office/drawing/2014/main" id="{AEEB0DDC-B7D3-450E-833F-E4374801F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18  /  易行 LP</a:t>
            </a:r>
          </a:p>
        </p:txBody>
      </p:sp>
      <p:sp>
        <p:nvSpPr>
          <p:cNvPr id="4" name="老张 / 小明&#10;运筹学研究人员">
            <a:extLst xmlns:a="http://schemas.openxmlformats.org/drawingml/2006/main">
              <a:ext uri="{FF2B5EF4-FFF2-40B4-BE49-F238E27FC236}">
                <a16:creationId xmlns:a16="http://schemas.microsoft.com/office/drawing/2014/main" id="{FDEB6316-536B-42F0-B0D4-C484296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21907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老张 / 小明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运筹学研究人员</a:t>
            </a:r>
          </a:p>
        </p:txBody>
      </p:sp>
      <p:sp>
        <p:nvSpPr>
          <p:cNvPr id="5" name="易行LP系统边界">
            <a:extLst xmlns:a="http://schemas.openxmlformats.org/drawingml/2006/main">
              <a:ext uri="{FF2B5EF4-FFF2-40B4-BE49-F238E27FC236}">
                <a16:creationId xmlns:a16="http://schemas.microsoft.com/office/drawing/2014/main" id="{AC5295C7-6C5B-49FC-B649-B1857AA6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714500"/>
            <a:ext cx="7810500" cy="400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6CBB9"/>
            </a:solidFill>
          </a:ln>
        </p:spPr>
      </p:sp>
      <p:sp>
        <p:nvSpPr>
          <p:cNvPr id="6" name="易行 LP 系统边界">
            <a:extLst xmlns:a="http://schemas.openxmlformats.org/drawingml/2006/main">
              <a:ext uri="{FF2B5EF4-FFF2-40B4-BE49-F238E27FC236}">
                <a16:creationId xmlns:a16="http://schemas.microsoft.com/office/drawing/2014/main" id="{67712DEE-E194-43AA-8D36-020EB9F7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857375"/>
            <a:ext cx="685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易行 LP 系统边界</a:t>
            </a:r>
          </a:p>
        </p:txBody>
      </p:sp>
      <p:sp>
        <p:nvSpPr>
          <p:cNvPr id="7" name="UC01 维护业务问题与模型">
            <a:extLst xmlns:a="http://schemas.openxmlformats.org/drawingml/2006/main">
              <a:ext uri="{FF2B5EF4-FFF2-40B4-BE49-F238E27FC236}">
                <a16:creationId xmlns:a16="http://schemas.microsoft.com/office/drawing/2014/main" id="{03E84FC6-04B8-48AF-B449-25ADCE9AF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24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 维护业务问题与模型</a:t>
            </a:r>
          </a:p>
        </p:txBody>
      </p:sp>
      <p:sp>
        <p:nvSpPr>
          <p:cNvPr id="8" name="UC02 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FDD53FCD-3F22-486E-A76E-6E18A3D6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 求解并查看规划方案</a:t>
            </a:r>
          </a:p>
        </p:txBody>
      </p:sp>
      <p:sp>
        <p:nvSpPr>
          <p:cNvPr id="9" name="UC03 保存与重新载入项目">
            <a:extLst xmlns:a="http://schemas.openxmlformats.org/drawingml/2006/main">
              <a:ext uri="{FF2B5EF4-FFF2-40B4-BE49-F238E27FC236}">
                <a16:creationId xmlns:a16="http://schemas.microsoft.com/office/drawing/2014/main" id="{B7007848-FA54-4DC7-8709-7E7C16B1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6096000" cy="619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UC03 保存与重新载入项目</a:t>
            </a:r>
          </a:p>
        </p:txBody>
      </p:sp>
      <p:sp>
        <p:nvSpPr>
          <p:cNvPr id="13" name="系统外：客户业务数据的真实性、模型假设的批准与最终经营决策。">
            <a:extLst xmlns:a="http://schemas.openxmlformats.org/drawingml/2006/main">
              <a:ext uri="{FF2B5EF4-FFF2-40B4-BE49-F238E27FC236}">
                <a16:creationId xmlns:a16="http://schemas.microsoft.com/office/drawing/2014/main" id="{AB1B5058-E92C-452B-BD8D-C3183DB6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53125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系统外：客户业务数据的真实性、模型假设的批准与最终经营决策。</a:t>
            </a:r>
          </a:p>
        </p:txBody>
      </p:sp>
    </p:spTree>
    <p:extLst>
      <p:ext uri="{BB962C8B-B14F-4D97-AF65-F5344CB8AC3E}">
        <p14:creationId xmlns:p14="http://schemas.microsoft.com/office/powerpoint/2010/main" val="195712456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1：维护并生成数学模型">
            <a:extLst xmlns:a="http://schemas.openxmlformats.org/drawingml/2006/main">
              <a:ext uri="{FF2B5EF4-FFF2-40B4-BE49-F238E27FC236}">
                <a16:creationId xmlns:a16="http://schemas.microsoft.com/office/drawing/2014/main" id="{B0E09F3F-0DA0-4C3C-ACA7-FF0ED98F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UC01：维护并生成数学模型</a:t>
            </a:r>
          </a:p>
        </p:txBody>
      </p:sp>
      <p:sp>
        <p:nvSpPr>
          <p:cNvPr id="2" name="成果：用正常流程与异常流程明确交互责任">
            <a:extLst xmlns:a="http://schemas.openxmlformats.org/drawingml/2006/main">
              <a:ext uri="{FF2B5EF4-FFF2-40B4-BE49-F238E27FC236}">
                <a16:creationId xmlns:a16="http://schemas.microsoft.com/office/drawing/2014/main" id="{067FFD35-14C7-4E00-8FA5-077F133C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成果：用正常流程与异常流程明确交互责任</a:t>
            </a:r>
          </a:p>
        </p:txBody>
      </p:sp>
      <p:sp>
        <p:nvSpPr>
          <p:cNvPr id="3" name="19  /  易行 LP">
            <a:extLst xmlns:a="http://schemas.openxmlformats.org/drawingml/2006/main">
              <a:ext uri="{FF2B5EF4-FFF2-40B4-BE49-F238E27FC236}">
                <a16:creationId xmlns:a16="http://schemas.microsoft.com/office/drawing/2014/main" id="{EE852D7F-5119-485B-B665-A2DD9338A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19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B2C6E7-DE02-4C6F-99CD-1C7CFBBEA30E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4476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63953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用户已打开工具，准备了问题陈述和相关业务参数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1～2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导入或输入问题陈述；确定目标和活动，填写业务名称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3～4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维护资源、关系和系数；点击“建模”，系统校验维数和数字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 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系统生成公式；用户核对目标函数、约束和变量含义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异常流程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非法数字、缺失输入或严格不等式：提示错误，不允许求解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9536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已生成可计算模型；任何编辑均回到“需要重新建模”状态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624994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UC02：求解并查看规划方案">
            <a:extLst xmlns:a="http://schemas.openxmlformats.org/drawingml/2006/main">
              <a:ext uri="{FF2B5EF4-FFF2-40B4-BE49-F238E27FC236}">
                <a16:creationId xmlns:a16="http://schemas.microsoft.com/office/drawing/2014/main" id="{086C7396-0A23-47E3-894D-67C8C52AF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UC02：求解并查看规划方案</a:t>
            </a:r>
          </a:p>
        </p:txBody>
      </p:sp>
      <p:sp>
        <p:nvSpPr>
          <p:cNvPr id="2" name="成果：把成功、异常和重新计算的行为写清楚">
            <a:extLst xmlns:a="http://schemas.openxmlformats.org/drawingml/2006/main">
              <a:ext uri="{FF2B5EF4-FFF2-40B4-BE49-F238E27FC236}">
                <a16:creationId xmlns:a16="http://schemas.microsoft.com/office/drawing/2014/main" id="{FD87076E-FEA0-45F4-AB2F-4216BC24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成果：把成功、异常和重新计算的行为写清楚</a:t>
            </a:r>
          </a:p>
        </p:txBody>
      </p:sp>
      <p:sp>
        <p:nvSpPr>
          <p:cNvPr id="3" name="20  /  易行 LP">
            <a:extLst xmlns:a="http://schemas.openxmlformats.org/drawingml/2006/main">
              <a:ext uri="{FF2B5EF4-FFF2-40B4-BE49-F238E27FC236}">
                <a16:creationId xmlns:a16="http://schemas.microsoft.com/office/drawing/2014/main" id="{9B225E0C-7B02-4CAA-A947-E9C48EF4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20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B74A24-8B86-4A16-8E76-258161583D3C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8724900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规约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前置条件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当前输入已经成功建模，尚未被修改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用户点击计算；系统执行两阶段单纯形法，记录每次换基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代回原约束检查后，显示目标值、活动水平与资源余量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其他结果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分别显示无可行解、无界、迭代上限或数值异常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后续动作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查看迭代、导出记录、关闭方案；必要时修改模型后重新建模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3025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教师原型与我的界面理解">
            <a:extLst xmlns:a="http://schemas.openxmlformats.org/drawingml/2006/main">
              <a:ext uri="{FF2B5EF4-FFF2-40B4-BE49-F238E27FC236}">
                <a16:creationId xmlns:a16="http://schemas.microsoft.com/office/drawing/2014/main" id="{9F4CFE65-D9CE-466F-B4FE-C4489FCD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教师原型与我的界面理解</a:t>
            </a:r>
          </a:p>
        </p:txBody>
      </p:sp>
      <p:sp>
        <p:nvSpPr>
          <p:cNvPr id="2" name="成果：保留问题陈述、建模向导、数学模型和规划方案的逻辑分区">
            <a:extLst xmlns:a="http://schemas.openxmlformats.org/drawingml/2006/main">
              <a:ext uri="{FF2B5EF4-FFF2-40B4-BE49-F238E27FC236}">
                <a16:creationId xmlns:a16="http://schemas.microsoft.com/office/drawing/2014/main" id="{06B5E017-62AB-42C9-B372-9DC6D7E2F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成果：保留问题陈述、建模向导、数学模型和规划方案的逻辑分区</a:t>
            </a:r>
          </a:p>
        </p:txBody>
      </p:sp>
      <p:sp>
        <p:nvSpPr>
          <p:cNvPr id="3" name="21  /  易行 LP">
            <a:extLst xmlns:a="http://schemas.openxmlformats.org/drawingml/2006/main">
              <a:ext uri="{FF2B5EF4-FFF2-40B4-BE49-F238E27FC236}">
                <a16:creationId xmlns:a16="http://schemas.microsoft.com/office/drawing/2014/main" id="{BA779486-2550-4CAF-935F-094F923F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21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F7B4C-60EC-4A00-AE76-D2274DC68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a2d7cf1de4cbd"/>
          <a:stretch xmlns:a="http://schemas.openxmlformats.org/drawingml/2006/main"/>
        </p:blipFill>
        <p:spPr>
          <a:xfrm xmlns:a="http://schemas.openxmlformats.org/drawingml/2006/main">
            <a:off x="2177390" y="1695450"/>
            <a:ext cx="7837219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80062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界面成果：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96FDFA0A-6070-4022-A829-B7FDDE157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界面成果：辅助建模工作区</a:t>
            </a:r>
          </a:p>
        </p:txBody>
      </p:sp>
      <p:sp>
        <p:nvSpPr>
          <p:cNvPr id="2" name="成果：结构化表格生成模型，保留业务名称和审核记录">
            <a:extLst xmlns:a="http://schemas.openxmlformats.org/drawingml/2006/main">
              <a:ext uri="{FF2B5EF4-FFF2-40B4-BE49-F238E27FC236}">
                <a16:creationId xmlns:a16="http://schemas.microsoft.com/office/drawing/2014/main" id="{76C07524-B47E-4A68-8ADD-08FD1E174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成果：结构化表格生成模型，保留业务名称和审核记录</a:t>
            </a:r>
          </a:p>
        </p:txBody>
      </p:sp>
      <p:sp>
        <p:nvSpPr>
          <p:cNvPr id="3" name="22  /  易行 LP">
            <a:extLst xmlns:a="http://schemas.openxmlformats.org/drawingml/2006/main">
              <a:ext uri="{FF2B5EF4-FFF2-40B4-BE49-F238E27FC236}">
                <a16:creationId xmlns:a16="http://schemas.microsoft.com/office/drawing/2014/main" id="{155A009D-F64C-4DE4-9392-F86B6298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22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EB667-89F0-405F-B0C4-7928F5E64E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57065520b64462"/>
          <a:stretch xmlns:a="http://schemas.openxmlformats.org/drawingml/2006/main"/>
        </p:blipFill>
        <p:spPr>
          <a:xfrm xmlns:a="http://schemas.openxmlformats.org/drawingml/2006/main">
            <a:off x="4386385" y="1714500"/>
            <a:ext cx="6657731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辅助建模工作区">
            <a:extLst xmlns:a="http://schemas.openxmlformats.org/drawingml/2006/main">
              <a:ext uri="{FF2B5EF4-FFF2-40B4-BE49-F238E27FC236}">
                <a16:creationId xmlns:a16="http://schemas.microsoft.com/office/drawing/2014/main" id="{702C7A70-37BE-4279-AFFB-3FCB6E24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2952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辅助建模工作区</a:t>
            </a:r>
          </a:p>
        </p:txBody>
      </p:sp>
      <p:sp>
        <p:nvSpPr>
          <p:cNvPr id="6" name="选择目标方向&#10;&#10;维护活动与业务名称&#10;&#10;编辑资源、关系与系数&#10;&#10;点">
            <a:extLst xmlns:a="http://schemas.openxmlformats.org/drawingml/2006/main">
              <a:ext uri="{FF2B5EF4-FFF2-40B4-BE49-F238E27FC236}">
                <a16:creationId xmlns:a16="http://schemas.microsoft.com/office/drawing/2014/main" id="{6D47C15F-E47A-4643-8D07-F7B972AA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67000"/>
            <a:ext cx="3000375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选择目标方向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维护活动与业务名称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编辑资源、关系与系数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点击建模生成公式</a:t>
            </a:r>
          </a:p>
        </p:txBody>
      </p:sp>
    </p:spTree>
    <p:extLst>
      <p:ext uri="{BB962C8B-B14F-4D97-AF65-F5344CB8AC3E}">
        <p14:creationId xmlns:p14="http://schemas.microsoft.com/office/powerpoint/2010/main" val="21302374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053801-278A-4707-A3BA-FDC788E938B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6048375" y="2952750"/>
            <a:ext cx="381000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DD776C-B01B-40F4-887C-4A1560CC4917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762375" y="466725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3EABB5-48E4-45F6-8CAE-801A6194BAF9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2238375" y="2952750"/>
            <a:ext cx="0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9A7F8E-44A5-4663-8E6F-2725304DF4F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7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FCFD6F-D031-49E0-8454-4A2E9295F66B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62375" y="24765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</a:ln>
        </p:spPr>
      </p:cxnSp>
      <p:sp>
        <p:nvSpPr>
          <p:cNvPr id="22" name="分析模型：领域对象与关系">
            <a:extLst xmlns:a="http://schemas.openxmlformats.org/drawingml/2006/main">
              <a:ext uri="{FF2B5EF4-FFF2-40B4-BE49-F238E27FC236}">
                <a16:creationId xmlns:a16="http://schemas.microsoft.com/office/drawing/2014/main" id="{304B16FC-D8E4-42B3-AE78-192172CD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分析模型：领域对象与关系</a:t>
            </a:r>
          </a:p>
        </p:txBody>
      </p:sp>
      <p:sp>
        <p:nvSpPr>
          <p:cNvPr id="2" name="成果：用归属关系和多重性表达业务概念">
            <a:extLst xmlns:a="http://schemas.openxmlformats.org/drawingml/2006/main">
              <a:ext uri="{FF2B5EF4-FFF2-40B4-BE49-F238E27FC236}">
                <a16:creationId xmlns:a16="http://schemas.microsoft.com/office/drawing/2014/main" id="{3E414476-0FA7-42CB-920F-105B2C16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成果：用归属关系和多重性表达业务概念</a:t>
            </a:r>
          </a:p>
        </p:txBody>
      </p:sp>
      <p:sp>
        <p:nvSpPr>
          <p:cNvPr id="3" name="23  /  易行 LP">
            <a:extLst xmlns:a="http://schemas.openxmlformats.org/drawingml/2006/main">
              <a:ext uri="{FF2B5EF4-FFF2-40B4-BE49-F238E27FC236}">
                <a16:creationId xmlns:a16="http://schemas.microsoft.com/office/drawing/2014/main" id="{03FEBA18-E438-47CD-9468-3F35E2DC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23  /  易行 LP</a:t>
            </a:r>
          </a:p>
        </p:txBody>
      </p:sp>
      <p:sp>
        <p:nvSpPr>
          <p:cNvPr id="4" name="问题项目&#10;陈述、假设、业务名称">
            <a:extLst xmlns:a="http://schemas.openxmlformats.org/drawingml/2006/main">
              <a:ext uri="{FF2B5EF4-FFF2-40B4-BE49-F238E27FC236}">
                <a16:creationId xmlns:a16="http://schemas.microsoft.com/office/drawing/2014/main" id="{276AAE7E-A99D-4C66-892F-010F3F48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问题项目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陈述、假设、业务名称</a:t>
            </a:r>
          </a:p>
        </p:txBody>
      </p:sp>
      <p:sp>
        <p:nvSpPr>
          <p:cNvPr id="5" name="线性规划模型&#10;目标方向、目标系数">
            <a:extLst xmlns:a="http://schemas.openxmlformats.org/drawingml/2006/main">
              <a:ext uri="{FF2B5EF4-FFF2-40B4-BE49-F238E27FC236}">
                <a16:creationId xmlns:a16="http://schemas.microsoft.com/office/drawing/2014/main" id="{8989754F-CDC6-4EF4-A0BE-70C62927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线性规划模型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目标方向、目标系数</a:t>
            </a:r>
          </a:p>
        </p:txBody>
      </p:sp>
      <p:sp>
        <p:nvSpPr>
          <p:cNvPr id="6" name="竞争性活动&#10;名称、非负活动水平">
            <a:extLst xmlns:a="http://schemas.openxmlformats.org/drawingml/2006/main">
              <a:ext uri="{FF2B5EF4-FFF2-40B4-BE49-F238E27FC236}">
                <a16:creationId xmlns:a16="http://schemas.microsoft.com/office/drawing/2014/main" id="{87F44BD6-59D4-4EED-A7F6-9F757790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00025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竞争性活动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名称、非负活动水平</a:t>
            </a:r>
          </a:p>
        </p:txBody>
      </p:sp>
      <p:sp>
        <p:nvSpPr>
          <p:cNvPr id="7" name="当前计算结果&#10;状态、目标值、活动值">
            <a:extLst xmlns:a="http://schemas.openxmlformats.org/drawingml/2006/main">
              <a:ext uri="{FF2B5EF4-FFF2-40B4-BE49-F238E27FC236}">
                <a16:creationId xmlns:a16="http://schemas.microsoft.com/office/drawing/2014/main" id="{09B28E6E-D665-45DF-B02F-8E90C0E7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当前计算结果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状态、目标值、活动值</a:t>
            </a:r>
          </a:p>
        </p:txBody>
      </p:sp>
      <p:sp>
        <p:nvSpPr>
          <p:cNvPr id="8" name="迭代记录&#10;阶段、基变量、表格">
            <a:extLst xmlns:a="http://schemas.openxmlformats.org/drawingml/2006/main">
              <a:ext uri="{FF2B5EF4-FFF2-40B4-BE49-F238E27FC236}">
                <a16:creationId xmlns:a16="http://schemas.microsoft.com/office/drawing/2014/main" id="{F006F14B-F44C-48D9-AD01-35EAB2CA2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迭代记录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阶段、基变量、表格</a:t>
            </a:r>
          </a:p>
        </p:txBody>
      </p:sp>
      <p:sp>
        <p:nvSpPr>
          <p:cNvPr id="9" name="约束&#10;系数、关系、右端值">
            <a:extLst xmlns:a="http://schemas.openxmlformats.org/drawingml/2006/main">
              <a:ext uri="{FF2B5EF4-FFF2-40B4-BE49-F238E27FC236}">
                <a16:creationId xmlns:a16="http://schemas.microsoft.com/office/drawing/2014/main" id="{43A1091A-E1A1-4814-BF68-131331D0C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约束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系数、关系、右端值</a:t>
            </a:r>
          </a:p>
        </p:txBody>
      </p:sp>
      <p:sp>
        <p:nvSpPr>
          <p:cNvPr id="15" name="1 : 1">
            <a:extLst xmlns:a="http://schemas.openxmlformats.org/drawingml/2006/main">
              <a:ext uri="{FF2B5EF4-FFF2-40B4-BE49-F238E27FC236}">
                <a16:creationId xmlns:a16="http://schemas.microsoft.com/office/drawing/2014/main" id="{7DFAB4CE-8D78-482B-A10F-25E8E24A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124075"/>
            <a:ext cx="619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</a:t>
            </a:r>
          </a:p>
        </p:txBody>
      </p:sp>
      <p:sp>
        <p:nvSpPr>
          <p:cNvPr id="16" name="1 : 1..20">
            <a:extLst xmlns:a="http://schemas.openxmlformats.org/drawingml/2006/main">
              <a:ext uri="{FF2B5EF4-FFF2-40B4-BE49-F238E27FC236}">
                <a16:creationId xmlns:a16="http://schemas.microsoft.com/office/drawing/2014/main" id="{72E384FB-61A6-47D6-A998-BD5A008C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12407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1..20</a:t>
            </a:r>
          </a:p>
        </p:txBody>
      </p:sp>
      <p:sp>
        <p:nvSpPr>
          <p:cNvPr id="17" name="1 : 0..1">
            <a:extLst xmlns:a="http://schemas.openxmlformats.org/drawingml/2006/main">
              <a:ext uri="{FF2B5EF4-FFF2-40B4-BE49-F238E27FC236}">
                <a16:creationId xmlns:a16="http://schemas.microsoft.com/office/drawing/2014/main" id="{4E1E3444-C5C6-4C1F-A074-F848C6AF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813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0..1</a:t>
            </a:r>
          </a:p>
        </p:txBody>
      </p:sp>
      <p:sp>
        <p:nvSpPr>
          <p:cNvPr id="18" name="1 : 1..*">
            <a:extLst xmlns:a="http://schemas.openxmlformats.org/drawingml/2006/main">
              <a:ext uri="{FF2B5EF4-FFF2-40B4-BE49-F238E27FC236}">
                <a16:creationId xmlns:a16="http://schemas.microsoft.com/office/drawing/2014/main" id="{8AAF15F6-7C19-467C-9671-5B5805D7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95775"/>
            <a:ext cx="85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1..*</a:t>
            </a:r>
          </a:p>
        </p:txBody>
      </p:sp>
      <p:sp>
        <p:nvSpPr>
          <p:cNvPr id="19" name="1 : 1..40">
            <a:extLst xmlns:a="http://schemas.openxmlformats.org/drawingml/2006/main">
              <a:ext uri="{FF2B5EF4-FFF2-40B4-BE49-F238E27FC236}">
                <a16:creationId xmlns:a16="http://schemas.microsoft.com/office/drawing/2014/main" id="{2DD9512F-AC5A-4470-B381-EF730B8F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1 : 1..40</a:t>
            </a:r>
          </a:p>
        </p:txBody>
      </p:sp>
      <p:sp>
        <p:nvSpPr>
          <p:cNvPr id="20" name="不变式：目标系数数量 = 活动数量；每条约束的系数向量长度 = ">
            <a:extLst xmlns:a="http://schemas.openxmlformats.org/drawingml/2006/main">
              <a:ext uri="{FF2B5EF4-FFF2-40B4-BE49-F238E27FC236}">
                <a16:creationId xmlns:a16="http://schemas.microsoft.com/office/drawing/2014/main" id="{B12EE24D-F3C6-4F7A-BD19-0C960397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不变式：目标系数数量 = 活动数量；每条约束的系数向量长度 = 活动数量。</a:t>
            </a:r>
          </a:p>
        </p:txBody>
      </p:sp>
      <p:sp>
        <p:nvSpPr>
          <p:cNvPr id="21" name="计算记录保存原项目快照，保证结果可以追溯到当时的输入与假设。">
            <a:extLst xmlns:a="http://schemas.openxmlformats.org/drawingml/2006/main">
              <a:ext uri="{FF2B5EF4-FFF2-40B4-BE49-F238E27FC236}">
                <a16:creationId xmlns:a16="http://schemas.microsoft.com/office/drawing/2014/main" id="{2BAE2C17-5EA2-4BB3-8601-A048BCEA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计算记录保存原项目快照，保证结果可以追溯到当时的输入与假设。</a:t>
            </a:r>
          </a:p>
        </p:txBody>
      </p:sp>
    </p:spTree>
    <p:extLst>
      <p:ext uri="{BB962C8B-B14F-4D97-AF65-F5344CB8AC3E}">
        <p14:creationId xmlns:p14="http://schemas.microsoft.com/office/powerpoint/2010/main" val="25104799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系统顺序模型：建模与求解">
            <a:extLst xmlns:a="http://schemas.openxmlformats.org/drawingml/2006/main">
              <a:ext uri="{FF2B5EF4-FFF2-40B4-BE49-F238E27FC236}">
                <a16:creationId xmlns:a16="http://schemas.microsoft.com/office/drawing/2014/main" id="{59FA7979-1EC9-49DB-84E5-6B05395B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系统顺序模型：建模与求解</a:t>
            </a:r>
          </a:p>
        </p:txBody>
      </p:sp>
      <p:sp>
        <p:nvSpPr>
          <p:cNvPr id="2" name="成果：以参与者—系统交互确定输入、输出和责任边界">
            <a:extLst xmlns:a="http://schemas.openxmlformats.org/drawingml/2006/main">
              <a:ext uri="{FF2B5EF4-FFF2-40B4-BE49-F238E27FC236}">
                <a16:creationId xmlns:a16="http://schemas.microsoft.com/office/drawing/2014/main" id="{A35F0AAA-3736-4FB5-9338-D827502B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成果：以参与者—系统交互确定输入、输出和责任边界</a:t>
            </a:r>
          </a:p>
        </p:txBody>
      </p:sp>
      <p:sp>
        <p:nvSpPr>
          <p:cNvPr id="3" name="24  /  易行 LP">
            <a:extLst xmlns:a="http://schemas.openxmlformats.org/drawingml/2006/main">
              <a:ext uri="{FF2B5EF4-FFF2-40B4-BE49-F238E27FC236}">
                <a16:creationId xmlns:a16="http://schemas.microsoft.com/office/drawing/2014/main" id="{CFF9745B-F588-46ED-B336-580386F5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4C757-5044-4D3E-ACB5-E4BF9E49252A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4762500"/>
                <a:gridCol w="5105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顺序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参与者发起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系统响应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提交目标、活动、资源与系数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保存输入草稿；使旧模型失效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校验输入；生成数学模型；允许计算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solve()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执行算法；校验最优结果；生成结果对象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请求 showPlan() / exportResult()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展示方案、原模型与迭代记录，或导出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修改约束并再次请求 buildModel()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废弃旧计算上下文；从新模型重新计算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102121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35079C-8120-487A-A530-4E7990D022D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30480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F744A-973D-46E5-97B5-7992A80D66FD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667625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F6CC1-3324-4062-A1B3-EC2148DAB33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2524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3" name="第 4 步：逻辑架构与部署">
            <a:extLst xmlns:a="http://schemas.openxmlformats.org/drawingml/2006/main">
              <a:ext uri="{FF2B5EF4-FFF2-40B4-BE49-F238E27FC236}">
                <a16:creationId xmlns:a16="http://schemas.microsoft.com/office/drawing/2014/main" id="{EEAF7C98-C53B-4B1E-9D92-1F3055A3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4 步：逻辑架构与部署</a:t>
            </a:r>
          </a:p>
        </p:txBody>
      </p:sp>
      <p:sp>
        <p:nvSpPr>
          <p:cNvPr id="2" name="方法：按变化原因分离界面、控制、领域和文件操作">
            <a:extLst xmlns:a="http://schemas.openxmlformats.org/drawingml/2006/main">
              <a:ext uri="{FF2B5EF4-FFF2-40B4-BE49-F238E27FC236}">
                <a16:creationId xmlns:a16="http://schemas.microsoft.com/office/drawing/2014/main" id="{9776FE30-3BC9-43A7-8769-1E9A8142A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方法：按变化原因分离界面、控制、领域和文件操作</a:t>
            </a:r>
          </a:p>
        </p:txBody>
      </p:sp>
      <p:sp>
        <p:nvSpPr>
          <p:cNvPr id="3" name="25  /  易行 LP">
            <a:extLst xmlns:a="http://schemas.openxmlformats.org/drawingml/2006/main">
              <a:ext uri="{FF2B5EF4-FFF2-40B4-BE49-F238E27FC236}">
                <a16:creationId xmlns:a16="http://schemas.microsoft.com/office/drawing/2014/main" id="{76D94C01-1580-4BAD-9C9E-A6E1628A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25  /  易行 LP</a:t>
            </a:r>
          </a:p>
        </p:txBody>
      </p:sp>
      <p:sp>
        <p:nvSpPr>
          <p:cNvPr id="4" name="表现层&#10;HTML / CSS / ModelView">
            <a:extLst xmlns:a="http://schemas.openxmlformats.org/drawingml/2006/main">
              <a:ext uri="{FF2B5EF4-FFF2-40B4-BE49-F238E27FC236}">
                <a16:creationId xmlns:a16="http://schemas.microsoft.com/office/drawing/2014/main" id="{F39BF426-9F5E-481E-BC4D-33712609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表现层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HTML / CSS / ModelView</a:t>
            </a:r>
          </a:p>
        </p:txBody>
      </p:sp>
      <p:sp>
        <p:nvSpPr>
          <p:cNvPr id="5" name="应用层&#10;SolveController">
            <a:extLst xmlns:a="http://schemas.openxmlformats.org/drawingml/2006/main">
              <a:ext uri="{FF2B5EF4-FFF2-40B4-BE49-F238E27FC236}">
                <a16:creationId xmlns:a16="http://schemas.microsoft.com/office/drawing/2014/main" id="{B6734715-2D6D-41EE-BE5F-7EA83E8E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应用层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sp>
        <p:nvSpPr>
          <p:cNvPr id="6" name="领域层&#10;LPModel / SimplexSolver">
            <a:extLst xmlns:a="http://schemas.openxmlformats.org/drawingml/2006/main">
              <a:ext uri="{FF2B5EF4-FFF2-40B4-BE49-F238E27FC236}">
                <a16:creationId xmlns:a16="http://schemas.microsoft.com/office/drawing/2014/main" id="{6CD3189A-5EB4-4C4A-8115-1BC8CE2B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领域层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 / SimplexSolver</a:t>
            </a:r>
          </a:p>
        </p:txBody>
      </p:sp>
      <p:sp>
        <p:nvSpPr>
          <p:cNvPr id="7" name="本地文件适配&#10;ModelRepository">
            <a:extLst xmlns:a="http://schemas.openxmlformats.org/drawingml/2006/main">
              <a:ext uri="{FF2B5EF4-FFF2-40B4-BE49-F238E27FC236}">
                <a16:creationId xmlns:a16="http://schemas.microsoft.com/office/drawing/2014/main" id="{05A23287-7FC0-462E-A2D8-718F4262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957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本地文件适配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</p:txBody>
      </p:sp>
      <p:sp>
        <p:nvSpPr>
          <p:cNvPr id="11" name="部署：浏览器中运行静态文件；TXT / JSON 从用户主动选择">
            <a:extLst xmlns:a="http://schemas.openxmlformats.org/drawingml/2006/main">
              <a:ext uri="{FF2B5EF4-FFF2-40B4-BE49-F238E27FC236}">
                <a16:creationId xmlns:a16="http://schemas.microsoft.com/office/drawing/2014/main" id="{1A885499-CA34-4470-B316-CA793191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部署：浏览器中运行静态文件；TXT / JSON 从用户主动选择的本地文件读写。</a:t>
            </a:r>
          </a:p>
        </p:txBody>
      </p:sp>
      <p:sp>
        <p:nvSpPr>
          <p:cNvPr id="12" name="更换界面不改变求解算法；若未来采用服务端求解，可替换应用层的调用">
            <a:extLst xmlns:a="http://schemas.openxmlformats.org/drawingml/2006/main">
              <a:ext uri="{FF2B5EF4-FFF2-40B4-BE49-F238E27FC236}">
                <a16:creationId xmlns:a16="http://schemas.microsoft.com/office/drawing/2014/main" id="{7BF8AB0C-24DE-4B2E-B738-C8CB9FD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5312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更换界面不改变求解算法；若未来采用服务端求解，可替换应用层的调用方式。</a:t>
            </a:r>
          </a:p>
        </p:txBody>
      </p:sp>
    </p:spTree>
    <p:extLst>
      <p:ext uri="{BB962C8B-B14F-4D97-AF65-F5344CB8AC3E}">
        <p14:creationId xmlns:p14="http://schemas.microsoft.com/office/powerpoint/2010/main" val="183072333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模型：类与职责分配">
            <a:extLst xmlns:a="http://schemas.openxmlformats.org/drawingml/2006/main">
              <a:ext uri="{FF2B5EF4-FFF2-40B4-BE49-F238E27FC236}">
                <a16:creationId xmlns:a16="http://schemas.microsoft.com/office/drawing/2014/main" id="{437830FC-B673-478A-A995-7F8033EB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设计模型：类与职责分配</a:t>
            </a:r>
          </a:p>
        </p:txBody>
      </p:sp>
      <p:sp>
        <p:nvSpPr>
          <p:cNvPr id="2" name="成果：设计类与实际代码使用同名对象">
            <a:extLst xmlns:a="http://schemas.openxmlformats.org/drawingml/2006/main">
              <a:ext uri="{FF2B5EF4-FFF2-40B4-BE49-F238E27FC236}">
                <a16:creationId xmlns:a16="http://schemas.microsoft.com/office/drawing/2014/main" id="{AE55C35E-EED6-4C53-8ACC-23B64829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成果：设计类与实际代码使用同名对象</a:t>
            </a:r>
          </a:p>
        </p:txBody>
      </p:sp>
      <p:sp>
        <p:nvSpPr>
          <p:cNvPr id="3" name="26  /  易行 LP">
            <a:extLst xmlns:a="http://schemas.openxmlformats.org/drawingml/2006/main">
              <a:ext uri="{FF2B5EF4-FFF2-40B4-BE49-F238E27FC236}">
                <a16:creationId xmlns:a16="http://schemas.microsoft.com/office/drawing/2014/main" id="{83E3997C-0FA0-4609-9292-84D504CFF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26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FB9AD-B953-4671-9BED-509552821FCA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6000750"/>
                <a:gridCol w="23431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主要职责与接口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依赖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validate（构造校验）、standardize()、check(x)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不依赖界面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solve(model)、局部 simplex / pivot、trace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load()、invalidate()、build()、solve()、importProject()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视图、求解器、文件仓库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render()、formula()、showResult()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DOM 与结果对象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ModelRepository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read(file)、download(name,data)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 File / Blob API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815498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A7C2F3-094C-419E-95F4-F561068801CF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762625" y="5119688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3965D-D96A-444B-B499-D6243FE5077B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6119813" y="3476625"/>
            <a:ext cx="190500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236C0B-DC53-4CA6-8CF8-34B760F382C2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4167188" y="3476625"/>
            <a:ext cx="195262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3FA81-BDF7-4372-B9F3-9F48BB7B95E6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71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E7648-CAFD-48C2-9149-9B57B6476576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905250" y="2643188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4" name="设计类图：属性、操作与依赖">
            <a:extLst xmlns:a="http://schemas.openxmlformats.org/drawingml/2006/main">
              <a:ext uri="{FF2B5EF4-FFF2-40B4-BE49-F238E27FC236}">
                <a16:creationId xmlns:a16="http://schemas.microsoft.com/office/drawing/2014/main" id="{2D4647D5-1F53-4BA7-A40A-A889787D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设计类图：属性、操作与依赖</a:t>
            </a:r>
          </a:p>
        </p:txBody>
      </p:sp>
      <p:sp>
        <p:nvSpPr>
          <p:cNvPr id="2" name="成果：把领域对象和控制职责转为实际代码中的类">
            <a:extLst xmlns:a="http://schemas.openxmlformats.org/drawingml/2006/main">
              <a:ext uri="{FF2B5EF4-FFF2-40B4-BE49-F238E27FC236}">
                <a16:creationId xmlns:a16="http://schemas.microsoft.com/office/drawing/2014/main" id="{95FE2468-1E14-4E25-92E6-2DA18E26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成果：把领域对象和控制职责转为实际代码中的类</a:t>
            </a:r>
          </a:p>
        </p:txBody>
      </p:sp>
      <p:sp>
        <p:nvSpPr>
          <p:cNvPr id="3" name="27  /  易行 LP">
            <a:extLst xmlns:a="http://schemas.openxmlformats.org/drawingml/2006/main">
              <a:ext uri="{FF2B5EF4-FFF2-40B4-BE49-F238E27FC236}">
                <a16:creationId xmlns:a16="http://schemas.microsoft.com/office/drawing/2014/main" id="{7AFB20E8-676C-4DAD-AC4F-41BFEF1C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27  /  易行 LP</a:t>
            </a:r>
          </a:p>
        </p:txBody>
      </p:sp>
      <p:sp>
        <p:nvSpPr>
          <p:cNvPr id="4" name="ModelView&#10;render(project, onChange)&#10;formula(model)&#10;showResult(result, project)">
            <a:extLst xmlns:a="http://schemas.openxmlformats.org/drawingml/2006/main">
              <a:ext uri="{FF2B5EF4-FFF2-40B4-BE49-F238E27FC236}">
                <a16:creationId xmlns:a16="http://schemas.microsoft.com/office/drawing/2014/main" id="{7BD9E63E-5590-4134-8238-7B201AD6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render(project, onChange)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formula(model)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showResult(result, project)</a:t>
            </a:r>
          </a:p>
        </p:txBody>
      </p:sp>
      <p:sp>
        <p:nvSpPr>
          <p:cNvPr id="5" name="SolveController&#10;project / built / lastResult&#10;build() / solve() / invalidate()&#10;importProject(file)">
            <a:extLst xmlns:a="http://schemas.openxmlformats.org/drawingml/2006/main">
              <a:ext uri="{FF2B5EF4-FFF2-40B4-BE49-F238E27FC236}">
                <a16:creationId xmlns:a16="http://schemas.microsoft.com/office/drawing/2014/main" id="{7B383990-C99F-4AD7-B7BC-95014EB8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project / built / lastResult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/ solve() / invalidate()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importProject(file)</a:t>
            </a:r>
          </a:p>
        </p:txBody>
      </p:sp>
      <p:sp>
        <p:nvSpPr>
          <p:cNvPr id="6" name="ModelRepository&#10;read(file)&#10;download(name, data)">
            <a:extLst xmlns:a="http://schemas.openxmlformats.org/drawingml/2006/main">
              <a:ext uri="{FF2B5EF4-FFF2-40B4-BE49-F238E27FC236}">
                <a16:creationId xmlns:a16="http://schemas.microsoft.com/office/drawing/2014/main" id="{06765DB4-30FD-41C2-A931-51598D72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190875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ModelRepository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read(file)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download(name, data)</a:t>
            </a:r>
          </a:p>
        </p:txBody>
      </p:sp>
      <p:sp>
        <p:nvSpPr>
          <p:cNvPr id="7" name="LPModel&#10;sense / c / constraints&#10;standardize() / check(x)&#10;toJSON()">
            <a:extLst xmlns:a="http://schemas.openxmlformats.org/drawingml/2006/main">
              <a:ext uri="{FF2B5EF4-FFF2-40B4-BE49-F238E27FC236}">
                <a16:creationId xmlns:a16="http://schemas.microsoft.com/office/drawing/2014/main" id="{AC915514-9FBF-4EFD-BF19-43A55B3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sense / c / constraints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 / check(x)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toJSON()</a:t>
            </a:r>
          </a:p>
        </p:txBody>
      </p:sp>
      <p:sp>
        <p:nvSpPr>
          <p:cNvPr id="8" name="SimplexSolver&#10;solve(model, options)&#10;返回 status / x / trace">
            <a:extLst xmlns:a="http://schemas.openxmlformats.org/drawingml/2006/main">
              <a:ext uri="{FF2B5EF4-FFF2-40B4-BE49-F238E27FC236}">
                <a16:creationId xmlns:a16="http://schemas.microsoft.com/office/drawing/2014/main" id="{F489C9F2-0AEA-4179-8060-75718EF9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33875"/>
            <a:ext cx="3190875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solve(model, options)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 status / x / trace</a:t>
            </a:r>
          </a:p>
        </p:txBody>
      </p:sp>
    </p:spTree>
    <p:extLst>
      <p:ext uri="{BB962C8B-B14F-4D97-AF65-F5344CB8AC3E}">
        <p14:creationId xmlns:p14="http://schemas.microsoft.com/office/powerpoint/2010/main" val="195859706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设计交互：计算规划方案">
            <a:extLst xmlns:a="http://schemas.openxmlformats.org/drawingml/2006/main">
              <a:ext uri="{FF2B5EF4-FFF2-40B4-BE49-F238E27FC236}">
                <a16:creationId xmlns:a16="http://schemas.microsoft.com/office/drawing/2014/main" id="{FB2005A2-AADF-4E4E-B476-3D909DDD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设计交互：计算规划方案</a:t>
            </a:r>
          </a:p>
        </p:txBody>
      </p:sp>
      <p:sp>
        <p:nvSpPr>
          <p:cNvPr id="2" name="成果：用对象间消息细化 UC02，作为代码映射依据">
            <a:extLst xmlns:a="http://schemas.openxmlformats.org/drawingml/2006/main">
              <a:ext uri="{FF2B5EF4-FFF2-40B4-BE49-F238E27FC236}">
                <a16:creationId xmlns:a16="http://schemas.microsoft.com/office/drawing/2014/main" id="{1CFE561E-3808-410E-AD90-F56ED4E4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成果：用对象间消息细化 UC02，作为代码映射依据</a:t>
            </a:r>
          </a:p>
        </p:txBody>
      </p:sp>
      <p:sp>
        <p:nvSpPr>
          <p:cNvPr id="3" name="28  /  易行 LP">
            <a:extLst xmlns:a="http://schemas.openxmlformats.org/drawingml/2006/main">
              <a:ext uri="{FF2B5EF4-FFF2-40B4-BE49-F238E27FC236}">
                <a16:creationId xmlns:a16="http://schemas.microsoft.com/office/drawing/2014/main" id="{1927D153-45A0-4425-8EFC-D42783C9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28  /  易行 LP</a:t>
            </a:r>
          </a:p>
        </p:txBody>
      </p:sp>
      <p:sp>
        <p:nvSpPr>
          <p:cNvPr id="4" name="研究人员">
            <a:extLst xmlns:a="http://schemas.openxmlformats.org/drawingml/2006/main">
              <a:ext uri="{FF2B5EF4-FFF2-40B4-BE49-F238E27FC236}">
                <a16:creationId xmlns:a16="http://schemas.microsoft.com/office/drawing/2014/main" id="{AF87C045-3C99-4537-8DC4-093A4563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研究人员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982C1-433A-4C2C-9E09-3F267956F434}"/>
              </a:ext>
            </a:extLst>
          </p:cNvPr>
          <p:cNvCxnSpPr/>
          <p:nvPr/>
        </p:nvCxnSpPr>
        <p:spPr>
          <a:xfrm xmlns:a="http://schemas.openxmlformats.org/drawingml/2006/main">
            <a:off x="1524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6" name="ModelView / DOM">
            <a:extLst xmlns:a="http://schemas.openxmlformats.org/drawingml/2006/main">
              <a:ext uri="{FF2B5EF4-FFF2-40B4-BE49-F238E27FC236}">
                <a16:creationId xmlns:a16="http://schemas.microsoft.com/office/drawing/2014/main" id="{248194D0-405E-43DF-B681-0C6B9376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ModelView / DOM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07F23-20D8-4C79-94DB-660D621FC64B}"/>
              </a:ext>
            </a:extLst>
          </p:cNvPr>
          <p:cNvCxnSpPr/>
          <p:nvPr/>
        </p:nvCxnSpPr>
        <p:spPr>
          <a:xfrm xmlns:a="http://schemas.openxmlformats.org/drawingml/2006/main">
            <a:off x="37147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8" name="SolveController">
            <a:extLst xmlns:a="http://schemas.openxmlformats.org/drawingml/2006/main">
              <a:ext uri="{FF2B5EF4-FFF2-40B4-BE49-F238E27FC236}">
                <a16:creationId xmlns:a16="http://schemas.microsoft.com/office/drawing/2014/main" id="{1AB0739B-AB44-4682-B54C-3D395006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SolveController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7F0F30-A2EB-4688-945B-12D8739B9693}"/>
              </a:ext>
            </a:extLst>
          </p:cNvPr>
          <p:cNvCxnSpPr/>
          <p:nvPr/>
        </p:nvCxnSpPr>
        <p:spPr>
          <a:xfrm xmlns:a="http://schemas.openxmlformats.org/drawingml/2006/main">
            <a:off x="609600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0" name="SimplexSolver">
            <a:extLst xmlns:a="http://schemas.openxmlformats.org/drawingml/2006/main">
              <a:ext uri="{FF2B5EF4-FFF2-40B4-BE49-F238E27FC236}">
                <a16:creationId xmlns:a16="http://schemas.microsoft.com/office/drawing/2014/main" id="{19325E4D-4935-4534-84E4-C06A2DCA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SimplexSolver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035E8-A567-4549-85E2-E61644713768}"/>
              </a:ext>
            </a:extLst>
          </p:cNvPr>
          <p:cNvCxnSpPr/>
          <p:nvPr/>
        </p:nvCxnSpPr>
        <p:spPr>
          <a:xfrm xmlns:a="http://schemas.openxmlformats.org/drawingml/2006/main">
            <a:off x="8477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sp>
        <p:nvSpPr>
          <p:cNvPr id="12" name="LPModel">
            <a:extLst xmlns:a="http://schemas.openxmlformats.org/drawingml/2006/main">
              <a:ext uri="{FF2B5EF4-FFF2-40B4-BE49-F238E27FC236}">
                <a16:creationId xmlns:a16="http://schemas.microsoft.com/office/drawing/2014/main" id="{B4E4AE8D-B06E-440E-B50D-BB2B0336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714500"/>
            <a:ext cx="1714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LPModel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82BB6-4FBE-40BB-8766-B9303905DBE6}"/>
              </a:ext>
            </a:extLst>
          </p:cNvPr>
          <p:cNvCxnSpPr/>
          <p:nvPr/>
        </p:nvCxnSpPr>
        <p:spPr>
          <a:xfrm xmlns:a="http://schemas.openxmlformats.org/drawingml/2006/main">
            <a:off x="10763250" y="2286000"/>
            <a:ext cx="0" cy="3571875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B6CBB9"/>
            </a:solidFill>
            <a:prstDash val="dash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21932-880A-4863-B2F6-B1605F19DF52}"/>
              </a:ext>
            </a:extLst>
          </p:cNvPr>
          <p:cNvCxnSpPr/>
          <p:nvPr/>
        </p:nvCxnSpPr>
        <p:spPr>
          <a:xfrm xmlns:a="http://schemas.openxmlformats.org/drawingml/2006/main">
            <a:off x="1524000" y="26670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5" name="点击计算">
            <a:extLst xmlns:a="http://schemas.openxmlformats.org/drawingml/2006/main">
              <a:ext uri="{FF2B5EF4-FFF2-40B4-BE49-F238E27FC236}">
                <a16:creationId xmlns:a16="http://schemas.microsoft.com/office/drawing/2014/main" id="{A6DDB741-40BB-42C9-9CFB-6B722285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43150"/>
            <a:ext cx="2076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点击计算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F6080-CD78-4443-8244-3AB07317FD5C}"/>
              </a:ext>
            </a:extLst>
          </p:cNvPr>
          <p:cNvCxnSpPr/>
          <p:nvPr/>
        </p:nvCxnSpPr>
        <p:spPr>
          <a:xfrm xmlns:a="http://schemas.openxmlformats.org/drawingml/2006/main">
            <a:off x="3714750" y="3143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7" name="solve()">
            <a:extLst xmlns:a="http://schemas.openxmlformats.org/drawingml/2006/main">
              <a:ext uri="{FF2B5EF4-FFF2-40B4-BE49-F238E27FC236}">
                <a16:creationId xmlns:a16="http://schemas.microsoft.com/office/drawing/2014/main" id="{0E141F4E-D320-4CC1-B546-5E052DBA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19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solve()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D4664F-46E1-4B76-B5E2-4496240B8CA9}"/>
              </a:ext>
            </a:extLst>
          </p:cNvPr>
          <p:cNvCxnSpPr/>
          <p:nvPr/>
        </p:nvCxnSpPr>
        <p:spPr>
          <a:xfrm xmlns:a="http://schemas.openxmlformats.org/drawingml/2006/main">
            <a:off x="6096000" y="3619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19" name="solve(built)">
            <a:extLst xmlns:a="http://schemas.openxmlformats.org/drawingml/2006/main">
              <a:ext uri="{FF2B5EF4-FFF2-40B4-BE49-F238E27FC236}">
                <a16:creationId xmlns:a16="http://schemas.microsoft.com/office/drawing/2014/main" id="{71BC4D28-ABEE-435F-8C70-13806836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95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solve(built)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95AD0A-EC3B-4DF6-98D0-97F8ADA85ABD}"/>
              </a:ext>
            </a:extLst>
          </p:cNvPr>
          <p:cNvCxnSpPr/>
          <p:nvPr/>
        </p:nvCxnSpPr>
        <p:spPr>
          <a:xfrm xmlns:a="http://schemas.openxmlformats.org/drawingml/2006/main">
            <a:off x="8477250" y="409575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1" name="standardize()">
            <a:extLst xmlns:a="http://schemas.openxmlformats.org/drawingml/2006/main">
              <a:ext uri="{FF2B5EF4-FFF2-40B4-BE49-F238E27FC236}">
                <a16:creationId xmlns:a16="http://schemas.microsoft.com/office/drawing/2014/main" id="{834EA5BF-4E07-4482-90E3-02E776D3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77190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standardize()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D6EE0-9E4D-46C0-8EDC-32FBE3C11AB7}"/>
              </a:ext>
            </a:extLst>
          </p:cNvPr>
          <p:cNvCxnSpPr/>
          <p:nvPr/>
        </p:nvCxnSpPr>
        <p:spPr>
          <a:xfrm xmlns:a="http://schemas.openxmlformats.org/drawingml/2006/main">
            <a:off x="8477250" y="4572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tailEnd type="triangle" w="med" len="med"/>
          </a:ln>
        </p:spPr>
      </p:cxnSp>
      <p:sp>
        <p:nvSpPr>
          <p:cNvPr id="23" name="check(x)">
            <a:extLst xmlns:a="http://schemas.openxmlformats.org/drawingml/2006/main">
              <a:ext uri="{FF2B5EF4-FFF2-40B4-BE49-F238E27FC236}">
                <a16:creationId xmlns:a16="http://schemas.microsoft.com/office/drawing/2014/main" id="{9176CCFC-DFCF-48C6-BEB8-B13D65AD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48150"/>
            <a:ext cx="2171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check(x)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6B497-11F0-4AE6-BB5F-2FF91DFB7F2F}"/>
              </a:ext>
            </a:extLst>
          </p:cNvPr>
          <p:cNvCxnSpPr/>
          <p:nvPr/>
        </p:nvCxnSpPr>
        <p:spPr>
          <a:xfrm xmlns:a="http://schemas.openxmlformats.org/drawingml/2006/main">
            <a:off x="6096000" y="504825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5" name="返回结果对象">
            <a:extLst xmlns:a="http://schemas.openxmlformats.org/drawingml/2006/main">
              <a:ext uri="{FF2B5EF4-FFF2-40B4-BE49-F238E27FC236}">
                <a16:creationId xmlns:a16="http://schemas.microsoft.com/office/drawing/2014/main" id="{B978208D-EE34-4E7B-B7E6-3149ECAF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2440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返回结果对象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D3FEDA-A818-48F8-A261-54F3A780EB8F}"/>
              </a:ext>
            </a:extLst>
          </p:cNvPr>
          <p:cNvCxnSpPr/>
          <p:nvPr/>
        </p:nvCxnSpPr>
        <p:spPr>
          <a:xfrm xmlns:a="http://schemas.openxmlformats.org/drawingml/2006/main">
            <a:off x="3714750" y="5524500"/>
            <a:ext cx="238125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206650"/>
            </a:solidFill>
            <a:headEnd type="triangle" w="med" len="med"/>
          </a:ln>
        </p:spPr>
      </p:cxnSp>
      <p:sp>
        <p:nvSpPr>
          <p:cNvPr id="27" name="showResult(...)">
            <a:extLst xmlns:a="http://schemas.openxmlformats.org/drawingml/2006/main">
              <a:ext uri="{FF2B5EF4-FFF2-40B4-BE49-F238E27FC236}">
                <a16:creationId xmlns:a16="http://schemas.microsoft.com/office/drawing/2014/main" id="{B604323B-E49E-4C17-A363-09F419F1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200650"/>
            <a:ext cx="2266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showResult(...)</a:t>
            </a:r>
          </a:p>
        </p:txBody>
      </p:sp>
    </p:spTree>
    <p:extLst>
      <p:ext uri="{BB962C8B-B14F-4D97-AF65-F5344CB8AC3E}">
        <p14:creationId xmlns:p14="http://schemas.microsoft.com/office/powerpoint/2010/main" val="46137244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设计理由：GRASP 与功能独立性">
            <a:extLst xmlns:a="http://schemas.openxmlformats.org/drawingml/2006/main">
              <a:ext uri="{FF2B5EF4-FFF2-40B4-BE49-F238E27FC236}">
                <a16:creationId xmlns:a16="http://schemas.microsoft.com/office/drawing/2014/main" id="{FE4236A6-7046-403F-B276-00796F55C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设计理由：GRASP 与功能独立性</a:t>
            </a:r>
          </a:p>
        </p:txBody>
      </p:sp>
      <p:sp>
        <p:nvSpPr>
          <p:cNvPr id="2" name="成果：解释职责为什么这样分配">
            <a:extLst xmlns:a="http://schemas.openxmlformats.org/drawingml/2006/main">
              <a:ext uri="{FF2B5EF4-FFF2-40B4-BE49-F238E27FC236}">
                <a16:creationId xmlns:a16="http://schemas.microsoft.com/office/drawing/2014/main" id="{82709F18-5685-4E1F-AE4C-21BE2657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成果：解释职责为什么这样分配</a:t>
            </a:r>
          </a:p>
        </p:txBody>
      </p:sp>
      <p:sp>
        <p:nvSpPr>
          <p:cNvPr id="3" name="29  /  易行 LP">
            <a:extLst xmlns:a="http://schemas.openxmlformats.org/drawingml/2006/main">
              <a:ext uri="{FF2B5EF4-FFF2-40B4-BE49-F238E27FC236}">
                <a16:creationId xmlns:a16="http://schemas.microsoft.com/office/drawing/2014/main" id="{758E4955-DE52-4483-AB39-482FC0A9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29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2175E-725C-4542-973E-70E014EC26AE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05000"/>
                <a:gridCol w="5715000"/>
                <a:gridCol w="32004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原则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我的应用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作用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信息专家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掌握系数与约束，负责标准化与结果代回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避免在界面里重复数学规则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控制器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SolveController 接收建模、计算与导入操作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统一协调状态变化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高内聚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只处理数学模型与求解结果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能够脱离浏览器独立测试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低耦合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视图消费结果对象；文件操作集中在 Repository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界面、文件格式与算法分别变化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避免过度设计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当前一个求解器，不引入尚未需要的插件体系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业务扩展时再提取统一接口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874591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0B23DB-EC96-4B92-B7F4-7D7076D16E2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752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14AAD-F5B7-4F54-BF28-292CCF1431F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714750" y="28575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06650"/>
            </a:solidFill>
            <a:tailEnd type="triangle" w="sm" len="sm"/>
          </a:ln>
        </p:spPr>
      </p:cxnSp>
      <p:sp>
        <p:nvSpPr>
          <p:cNvPr id="12" name="控制状态与错误恢复">
            <a:extLst xmlns:a="http://schemas.openxmlformats.org/drawingml/2006/main">
              <a:ext uri="{FF2B5EF4-FFF2-40B4-BE49-F238E27FC236}">
                <a16:creationId xmlns:a16="http://schemas.microsoft.com/office/drawing/2014/main" id="{26085A7F-6166-4008-94EC-63371DCE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控制状态与错误恢复</a:t>
            </a:r>
          </a:p>
        </p:txBody>
      </p:sp>
      <p:sp>
        <p:nvSpPr>
          <p:cNvPr id="2" name="成果：避免用户修改参数后误用旧计算结果">
            <a:extLst xmlns:a="http://schemas.openxmlformats.org/drawingml/2006/main">
              <a:ext uri="{FF2B5EF4-FFF2-40B4-BE49-F238E27FC236}">
                <a16:creationId xmlns:a16="http://schemas.microsoft.com/office/drawing/2014/main" id="{9D07E08D-9D22-4EAE-B88D-7A345E8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成果：避免用户修改参数后误用旧计算结果</a:t>
            </a:r>
          </a:p>
        </p:txBody>
      </p:sp>
      <p:sp>
        <p:nvSpPr>
          <p:cNvPr id="3" name="30  /  易行 LP">
            <a:extLst xmlns:a="http://schemas.openxmlformats.org/drawingml/2006/main">
              <a:ext uri="{FF2B5EF4-FFF2-40B4-BE49-F238E27FC236}">
                <a16:creationId xmlns:a16="http://schemas.microsoft.com/office/drawing/2014/main" id="{0D96D1AF-F7A7-4479-9CE2-B5BD0DBAF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30  /  易行 LP</a:t>
            </a:r>
          </a:p>
        </p:txBody>
      </p:sp>
      <p:sp>
        <p:nvSpPr>
          <p:cNvPr id="4" name="编辑草稿&#10;计算按钮禁用">
            <a:extLst xmlns:a="http://schemas.openxmlformats.org/drawingml/2006/main">
              <a:ext uri="{FF2B5EF4-FFF2-40B4-BE49-F238E27FC236}">
                <a16:creationId xmlns:a16="http://schemas.microsoft.com/office/drawing/2014/main" id="{8809A520-0A94-4E78-90BB-7FFAC1764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编辑草稿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计算按钮禁用</a:t>
            </a:r>
          </a:p>
        </p:txBody>
      </p:sp>
      <p:sp>
        <p:nvSpPr>
          <p:cNvPr id="5" name="建模成功&#10;显示当前公式">
            <a:extLst xmlns:a="http://schemas.openxmlformats.org/drawingml/2006/main">
              <a:ext uri="{FF2B5EF4-FFF2-40B4-BE49-F238E27FC236}">
                <a16:creationId xmlns:a16="http://schemas.microsoft.com/office/drawing/2014/main" id="{4AD2624A-362E-4D07-8560-85161A38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建模成功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显示当前公式</a:t>
            </a:r>
          </a:p>
        </p:txBody>
      </p:sp>
      <p:sp>
        <p:nvSpPr>
          <p:cNvPr id="6" name="计算完成&#10;弹出方案或异常状态">
            <a:extLst xmlns:a="http://schemas.openxmlformats.org/drawingml/2006/main">
              <a:ext uri="{FF2B5EF4-FFF2-40B4-BE49-F238E27FC236}">
                <a16:creationId xmlns:a16="http://schemas.microsoft.com/office/drawing/2014/main" id="{E4BDEADC-7273-4EE0-A9FC-4AE9EB58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6EFE4"/>
          </a:solidFill>
          <a:ln xmlns:a="http://schemas.openxmlformats.org/drawingml/2006/main" w="13335">
            <a:solidFill>
              <a:srgbClr val="B6CBB9"/>
            </a:solidFill>
          </a:ln>
        </p:spPr>
        <p:txBody>
          <a:bodyPr xmlns:a="http://schemas.openxmlformats.org/drawingml/2006/main" lIns="76200" tIns="76200" rIns="76200" bIns="76200" anchor="ctr"/>
          <a:lstStyle xmlns:a="http://schemas.openxmlformats.org/drawingml/2006/main">
            <a:def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计算完成</a:t>
            </a:r>
          </a:p>
          <a:p xmlns:a="http://schemas.openxmlformats.org/drawingml/2006/main">
            <a:pPr algn="ctr">
              <a:def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弹出方案或异常状态</a:t>
            </a:r>
          </a:p>
        </p:txBody>
      </p:sp>
      <p:sp>
        <p:nvSpPr>
          <p:cNvPr id="9" name="校验失败：保留输入并提示，停留在编辑状态。">
            <a:extLst xmlns:a="http://schemas.openxmlformats.org/drawingml/2006/main">
              <a:ext uri="{FF2B5EF4-FFF2-40B4-BE49-F238E27FC236}">
                <a16:creationId xmlns:a16="http://schemas.microsoft.com/office/drawing/2014/main" id="{2AD03907-A7C7-4620-BEE8-B1B6D4A6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校验失败：保留输入并提示，停留在编辑状态。</a:t>
            </a:r>
          </a:p>
        </p:txBody>
      </p:sp>
      <p:sp>
        <p:nvSpPr>
          <p:cNvPr id="10" name="任何编辑：清除已生成模型与上次结果，重新点击“建模”后才能计算。">
            <a:extLst xmlns:a="http://schemas.openxmlformats.org/drawingml/2006/main">
              <a:ext uri="{FF2B5EF4-FFF2-40B4-BE49-F238E27FC236}">
                <a16:creationId xmlns:a16="http://schemas.microsoft.com/office/drawing/2014/main" id="{5E53BE46-D5C8-45DA-B025-B4807423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任何编辑：清除已生成模型与上次结果，重新点击“建模”后才能计算。</a:t>
            </a:r>
          </a:p>
        </p:txBody>
      </p:sp>
      <p:sp>
        <p:nvSpPr>
          <p:cNvPr id="11" name="无解或无界：保留输入，允许关闭方案、修改约束并重新建模。">
            <a:extLst xmlns:a="http://schemas.openxmlformats.org/drawingml/2006/main">
              <a:ext uri="{FF2B5EF4-FFF2-40B4-BE49-F238E27FC236}">
                <a16:creationId xmlns:a16="http://schemas.microsoft.com/office/drawing/2014/main" id="{487D4740-7897-443D-AC59-FF84C5C8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70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无解或无界：保留输入，允许关闭方案、修改约束并重新建模。</a:t>
            </a:r>
          </a:p>
        </p:txBody>
      </p:sp>
    </p:spTree>
    <p:extLst>
      <p:ext uri="{BB962C8B-B14F-4D97-AF65-F5344CB8AC3E}">
        <p14:creationId xmlns:p14="http://schemas.microsoft.com/office/powerpoint/2010/main" val="17149989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算法实现中的数值与终止设计">
            <a:extLst xmlns:a="http://schemas.openxmlformats.org/drawingml/2006/main">
              <a:ext uri="{FF2B5EF4-FFF2-40B4-BE49-F238E27FC236}">
                <a16:creationId xmlns:a16="http://schemas.microsoft.com/office/drawing/2014/main" id="{C0269EC1-9EA5-448E-A38A-5BC8218B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算法实现中的数值与终止设计</a:t>
            </a:r>
          </a:p>
        </p:txBody>
      </p:sp>
      <p:sp>
        <p:nvSpPr>
          <p:cNvPr id="2" name="成果：把数学过程转为有边界的软件行为">
            <a:extLst xmlns:a="http://schemas.openxmlformats.org/drawingml/2006/main">
              <a:ext uri="{FF2B5EF4-FFF2-40B4-BE49-F238E27FC236}">
                <a16:creationId xmlns:a16="http://schemas.microsoft.com/office/drawing/2014/main" id="{8AFF1D93-A703-4CC7-ABDB-A107D0C3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成果：把数学过程转为有边界的软件行为</a:t>
            </a:r>
          </a:p>
        </p:txBody>
      </p:sp>
      <p:sp>
        <p:nvSpPr>
          <p:cNvPr id="3" name="31  /  易行 LP">
            <a:extLst xmlns:a="http://schemas.openxmlformats.org/drawingml/2006/main">
              <a:ext uri="{FF2B5EF4-FFF2-40B4-BE49-F238E27FC236}">
                <a16:creationId xmlns:a16="http://schemas.microsoft.com/office/drawing/2014/main" id="{5E435D30-2D46-484B-9A85-59950D02C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540EC-F0BA-4ACE-8CB4-637B52CAC7BB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824865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具体做法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两阶段法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使用一个人工变量建立辅助问题；阶段一结束后移出人工变量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选主元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入基按 Bland 编号规则；正系数行使用最小比值选择出基变量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可检查性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每次 pivot 保存阶段、入基/出基、基变量与表格快照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按原目标重算目标值；代回原约束检查相对容差与非负限制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终止与限制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最多2000次换基；返回独立状态；病态模型可能需更可靠数值库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2427001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5 步：从设计映射为代码">
            <a:extLst xmlns:a="http://schemas.openxmlformats.org/drawingml/2006/main">
              <a:ext uri="{FF2B5EF4-FFF2-40B4-BE49-F238E27FC236}">
                <a16:creationId xmlns:a16="http://schemas.microsoft.com/office/drawing/2014/main" id="{14F24D29-CE38-4329-8C2A-0ABFD1CD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5 步：从设计映射为代码</a:t>
            </a:r>
          </a:p>
        </p:txBody>
      </p:sp>
      <p:sp>
        <p:nvSpPr>
          <p:cNvPr id="2" name="成果：模型、职责、方法与实际文件可以一一核对">
            <a:extLst xmlns:a="http://schemas.openxmlformats.org/drawingml/2006/main">
              <a:ext uri="{FF2B5EF4-FFF2-40B4-BE49-F238E27FC236}">
                <a16:creationId xmlns:a16="http://schemas.microsoft.com/office/drawing/2014/main" id="{58BA0DBA-3AB6-4960-B030-2508C2AB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成果：模型、职责、方法与实际文件可以一一核对</a:t>
            </a:r>
          </a:p>
        </p:txBody>
      </p:sp>
      <p:sp>
        <p:nvSpPr>
          <p:cNvPr id="3" name="32  /  易行 LP">
            <a:extLst xmlns:a="http://schemas.openxmlformats.org/drawingml/2006/main">
              <a:ext uri="{FF2B5EF4-FFF2-40B4-BE49-F238E27FC236}">
                <a16:creationId xmlns:a16="http://schemas.microsoft.com/office/drawing/2014/main" id="{1403A5C6-29DB-4B22-A4C3-9B83D6304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32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622C-2731-4088-802E-0D42C2CB68D2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476625"/>
                <a:gridCol w="4676775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设计对象 / 用例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代码位置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对应实现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LPModel：校验、标准化、代回检查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算法活动流程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source/solver.js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SimplexSolver：simplex 与 pivot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UC01 / UC02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SolveController：build / solve / 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界面与方案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ModelView 与工作区、结果对话框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项目导入导出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source/app.js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class ModelRepository；schema=1 的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0488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代码映射示例：建模与状态失效">
            <a:extLst xmlns:a="http://schemas.openxmlformats.org/drawingml/2006/main">
              <a:ext uri="{FF2B5EF4-FFF2-40B4-BE49-F238E27FC236}">
                <a16:creationId xmlns:a16="http://schemas.microsoft.com/office/drawing/2014/main" id="{B1E72E40-1F1B-408A-A67D-76F9F3D4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代码映射示例：建模与状态失效</a:t>
            </a:r>
          </a:p>
        </p:txBody>
      </p:sp>
      <p:sp>
        <p:nvSpPr>
          <p:cNvPr id="2" name="成果：代码体现用例的前置条件与异常处理">
            <a:extLst xmlns:a="http://schemas.openxmlformats.org/drawingml/2006/main">
              <a:ext uri="{FF2B5EF4-FFF2-40B4-BE49-F238E27FC236}">
                <a16:creationId xmlns:a16="http://schemas.microsoft.com/office/drawing/2014/main" id="{8BC3BF58-89F1-4FC0-A0F8-DDD69E00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成果：代码体现用例的前置条件与异常处理</a:t>
            </a:r>
          </a:p>
        </p:txBody>
      </p:sp>
      <p:sp>
        <p:nvSpPr>
          <p:cNvPr id="3" name="33  /  易行 LP">
            <a:extLst xmlns:a="http://schemas.openxmlformats.org/drawingml/2006/main">
              <a:ext uri="{FF2B5EF4-FFF2-40B4-BE49-F238E27FC236}">
                <a16:creationId xmlns:a16="http://schemas.microsoft.com/office/drawing/2014/main" id="{3EA6C7FE-C619-4ACF-B102-C5FE7845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33  /  易行 LP</a:t>
            </a:r>
          </a:p>
        </p:txBody>
      </p:sp>
      <p:sp>
        <p:nvSpPr>
          <p:cNvPr id="4" name="invalidate() {&#10;  this.built = nu">
            <a:extLst xmlns:a="http://schemas.openxmlformats.org/drawingml/2006/main">
              <a:ext uri="{FF2B5EF4-FFF2-40B4-BE49-F238E27FC236}">
                <a16:creationId xmlns:a16="http://schemas.microsoft.com/office/drawing/2014/main" id="{F29AA36F-4DB5-4424-ADFC-9E1B3C06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10382250" cy="3857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invalidate()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this.lastResult = null;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true;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build() {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// 严格不等式先提示，不自动替换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this.built = new LPModel(this.project.model);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$("modelText").textContent = this.view.formula(this.built);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  $("solve").disabled = false;</a:t>
            </a:r>
          </a:p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5" name="对应：UC01 的输入校验；F05 的编辑后失效；UC02 的“">
            <a:extLst xmlns:a="http://schemas.openxmlformats.org/drawingml/2006/main">
              <a:ext uri="{FF2B5EF4-FFF2-40B4-BE49-F238E27FC236}">
                <a16:creationId xmlns:a16="http://schemas.microsoft.com/office/drawing/2014/main" id="{CD795E67-2773-4069-B045-BC480D7E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578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对应：UC01 的输入校验；F05 的编辑后失效；UC02 的“已成功建模”前置条件。</a:t>
            </a:r>
          </a:p>
        </p:txBody>
      </p:sp>
    </p:spTree>
    <p:extLst>
      <p:ext uri="{BB962C8B-B14F-4D97-AF65-F5344CB8AC3E}">
        <p14:creationId xmlns:p14="http://schemas.microsoft.com/office/powerpoint/2010/main" val="205996738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第 6 步：运行与验证">
            <a:extLst xmlns:a="http://schemas.openxmlformats.org/drawingml/2006/main">
              <a:ext uri="{FF2B5EF4-FFF2-40B4-BE49-F238E27FC236}">
                <a16:creationId xmlns:a16="http://schemas.microsoft.com/office/drawing/2014/main" id="{A932F76F-C30D-46EA-A70B-4A7767E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第 6 步：运行与验证</a:t>
            </a:r>
          </a:p>
        </p:txBody>
      </p:sp>
      <p:sp>
        <p:nvSpPr>
          <p:cNvPr id="2" name="方法：确定结果算例 + 独立方法交叉核对 + 浏览器操作">
            <a:extLst xmlns:a="http://schemas.openxmlformats.org/drawingml/2006/main">
              <a:ext uri="{FF2B5EF4-FFF2-40B4-BE49-F238E27FC236}">
                <a16:creationId xmlns:a16="http://schemas.microsoft.com/office/drawing/2014/main" id="{E76E43B4-2EFF-4726-9FE8-CA862821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方法：确定结果算例 + 独立方法交叉核对 + 浏览器操作</a:t>
            </a:r>
          </a:p>
        </p:txBody>
      </p:sp>
      <p:sp>
        <p:nvSpPr>
          <p:cNvPr id="3" name="34  /  易行 LP">
            <a:extLst xmlns:a="http://schemas.openxmlformats.org/drawingml/2006/main">
              <a:ext uri="{FF2B5EF4-FFF2-40B4-BE49-F238E27FC236}">
                <a16:creationId xmlns:a16="http://schemas.microsoft.com/office/drawing/2014/main" id="{F301AF6C-DA09-4463-8536-955AB252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34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6AADE-0326-4ABB-BDA3-1959812B9F79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53125"/>
                <a:gridCol w="2438400"/>
              </a:tblGrid>
              <a:tr h="838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验证层次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实际执行内容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结果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求解器回归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16个确定结果或状态测试；覆盖边界与异常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 / 16 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独立交叉核对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固定随机种子；100个二维有界问题枚举可行顶点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100 / 100 目标值一致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浏览器流程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建模、计算、修改失效、严格不等式、文件与窗口适配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13项关键检查通过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验证局限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交叉核对仅覆盖二维；尚无真实涉众验收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不据此声称所有模型与设备均正确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25920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主要回归测试与预期结果">
            <a:extLst xmlns:a="http://schemas.openxmlformats.org/drawingml/2006/main">
              <a:ext uri="{FF2B5EF4-FFF2-40B4-BE49-F238E27FC236}">
                <a16:creationId xmlns:a16="http://schemas.microsoft.com/office/drawing/2014/main" id="{9A81EE09-97E7-432E-B834-973AAEC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主要回归测试与预期结果</a:t>
            </a:r>
          </a:p>
        </p:txBody>
      </p:sp>
      <p:sp>
        <p:nvSpPr>
          <p:cNvPr id="2" name="成果：测试能区分结果正确与仅仅运行成功">
            <a:extLst xmlns:a="http://schemas.openxmlformats.org/drawingml/2006/main">
              <a:ext uri="{FF2B5EF4-FFF2-40B4-BE49-F238E27FC236}">
                <a16:creationId xmlns:a16="http://schemas.microsoft.com/office/drawing/2014/main" id="{A2AA03D4-4D58-468C-9383-9D8F6D7B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成果：测试能区分结果正确与仅仅运行成功</a:t>
            </a:r>
          </a:p>
        </p:txBody>
      </p:sp>
      <p:sp>
        <p:nvSpPr>
          <p:cNvPr id="3" name="35  /  易行 LP">
            <a:extLst xmlns:a="http://schemas.openxmlformats.org/drawingml/2006/main">
              <a:ext uri="{FF2B5EF4-FFF2-40B4-BE49-F238E27FC236}">
                <a16:creationId xmlns:a16="http://schemas.microsoft.com/office/drawing/2014/main" id="{6BE71C15-A64C-48CF-9B97-B726E76E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35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E9A46E-774C-4395-A23C-54596C8AB42B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4505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4095750"/>
                <a:gridCol w="5010150"/>
              </a:tblGrid>
              <a:tr h="64361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 / 关注点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预期与实测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故事初始模型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鸭400、鱼80；z=2320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T02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补充销量上限150、50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鸭150、鱼50；z=950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T03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 Tanner 模型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玩具2000、组合1000；z=3500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T04～T06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min、=、负右端值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目标值2.25、6、5；均通过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T07、T08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T14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矛盾约束、无界、零次换基上限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分别为 infeasible、unbounded、iteration_limit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3618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T09～T13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T15～T16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冗余、退化、非法数值、严格关系、零行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通过；非法输入拒绝，无可行情况正确区分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8549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运行成果：Tanner 规划方案">
            <a:extLst xmlns:a="http://schemas.openxmlformats.org/drawingml/2006/main">
              <a:ext uri="{FF2B5EF4-FFF2-40B4-BE49-F238E27FC236}">
                <a16:creationId xmlns:a16="http://schemas.microsoft.com/office/drawing/2014/main" id="{5BA47B74-9156-4A45-9969-495AE611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运行成果：Tanner 规划方案</a:t>
            </a:r>
          </a:p>
        </p:txBody>
      </p:sp>
      <p:sp>
        <p:nvSpPr>
          <p:cNvPr id="2" name="成果：方案同时保留业务名称、资源检查和迭代记录">
            <a:extLst xmlns:a="http://schemas.openxmlformats.org/drawingml/2006/main">
              <a:ext uri="{FF2B5EF4-FFF2-40B4-BE49-F238E27FC236}">
                <a16:creationId xmlns:a16="http://schemas.microsoft.com/office/drawing/2014/main" id="{90F9E69B-AF32-4655-90FC-1C5DC118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成果：方案同时保留业务名称、资源检查和迭代记录</a:t>
            </a:r>
          </a:p>
        </p:txBody>
      </p:sp>
      <p:sp>
        <p:nvSpPr>
          <p:cNvPr id="3" name="36  /  易行 LP">
            <a:extLst xmlns:a="http://schemas.openxmlformats.org/drawingml/2006/main">
              <a:ext uri="{FF2B5EF4-FFF2-40B4-BE49-F238E27FC236}">
                <a16:creationId xmlns:a16="http://schemas.microsoft.com/office/drawing/2014/main" id="{3397CB43-7FC4-4B50-A728-1C4A62A4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36  /  易行 LP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7D04A-B6C2-4728-B284-3D66D0F67BF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9ed61dc714a40"/>
          <a:stretch xmlns:a="http://schemas.openxmlformats.org/drawingml/2006/main"/>
        </p:blipFill>
        <p:spPr>
          <a:xfrm xmlns:a="http://schemas.openxmlformats.org/drawingml/2006/main">
            <a:off x="3286125" y="1790700"/>
            <a:ext cx="8286750" cy="4143375"/>
          </a:xfrm>
          <a:prstGeom xmlns:a="http://schemas.openxmlformats.org/drawingml/2006/main" prst="rect">
            <a:avLst/>
          </a:prstGeom>
        </p:spPr>
      </p:pic>
      <p:sp>
        <p:nvSpPr>
          <p:cNvPr id="5" name="最优方案">
            <a:extLst xmlns:a="http://schemas.openxmlformats.org/drawingml/2006/main">
              <a:ext uri="{FF2B5EF4-FFF2-40B4-BE49-F238E27FC236}">
                <a16:creationId xmlns:a16="http://schemas.microsoft.com/office/drawing/2014/main" id="{FFE4449B-BBD5-4EC4-B022-A4F2BB916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最优方案</a:t>
            </a:r>
          </a:p>
        </p:txBody>
      </p:sp>
      <p:sp>
        <p:nvSpPr>
          <p:cNvPr id="6" name="玩具 2000&#10;&#10;组合部件 1000&#10;&#10;目标值 3500">
            <a:extLst xmlns:a="http://schemas.openxmlformats.org/drawingml/2006/main">
              <a:ext uri="{FF2B5EF4-FFF2-40B4-BE49-F238E27FC236}">
                <a16:creationId xmlns:a16="http://schemas.microsoft.com/office/drawing/2014/main" id="{CD2EAF06-95CB-4F7E-9CD7-EF4894822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247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玩具 2000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组合部件 1000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目标值 3500</a:t>
            </a:r>
          </a:p>
        </p:txBody>
      </p:sp>
      <p:sp>
        <p:nvSpPr>
          <p:cNvPr id="7" name="两条资源约束均取等号；迭代记录与完整方案见软件及导出记录。">
            <a:extLst xmlns:a="http://schemas.openxmlformats.org/drawingml/2006/main">
              <a:ext uri="{FF2B5EF4-FFF2-40B4-BE49-F238E27FC236}">
                <a16:creationId xmlns:a16="http://schemas.microsoft.com/office/drawing/2014/main" id="{85EA234F-4C3E-484B-BA63-87A3BDF4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048375"/>
            <a:ext cx="1066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两条资源约束均取等号；迭代记录与完整方案见软件及导出记录。</a:t>
            </a:r>
          </a:p>
        </p:txBody>
      </p:sp>
    </p:spTree>
    <p:extLst>
      <p:ext uri="{BB962C8B-B14F-4D97-AF65-F5344CB8AC3E}">
        <p14:creationId xmlns:p14="http://schemas.microsoft.com/office/powerpoint/2010/main" val="181847597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变更验证：补充销量约束后重算">
            <a:extLst xmlns:a="http://schemas.openxmlformats.org/drawingml/2006/main">
              <a:ext uri="{FF2B5EF4-FFF2-40B4-BE49-F238E27FC236}">
                <a16:creationId xmlns:a16="http://schemas.microsoft.com/office/drawing/2014/main" id="{BBEB722E-80CB-450F-8D6E-ED8B9C28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变更验证：补充销量约束后重算</a:t>
            </a:r>
          </a:p>
        </p:txBody>
      </p:sp>
      <p:sp>
        <p:nvSpPr>
          <p:cNvPr id="2" name="成果：用同一求解器处理模型迭代，避免把旧答案继续当成有效方案">
            <a:extLst xmlns:a="http://schemas.openxmlformats.org/drawingml/2006/main">
              <a:ext uri="{FF2B5EF4-FFF2-40B4-BE49-F238E27FC236}">
                <a16:creationId xmlns:a16="http://schemas.microsoft.com/office/drawing/2014/main" id="{ED0ADBE6-DD11-4CD9-85AE-5E2030DC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成果：用同一求解器处理模型迭代，避免把旧答案继续当成有效方案</a:t>
            </a:r>
          </a:p>
        </p:txBody>
      </p:sp>
      <p:sp>
        <p:nvSpPr>
          <p:cNvPr id="3" name="37  /  易行 LP">
            <a:extLst xmlns:a="http://schemas.openxmlformats.org/drawingml/2006/main">
              <a:ext uri="{FF2B5EF4-FFF2-40B4-BE49-F238E27FC236}">
                <a16:creationId xmlns:a16="http://schemas.microsoft.com/office/drawing/2014/main" id="{3F6C2233-512A-4D98-93E2-CD39172A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37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4F4F2-6BAB-45C8-9322-5FCF08818F61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514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857500"/>
                <a:gridCol w="3905250"/>
                <a:gridCol w="1962150"/>
              </a:tblGrid>
              <a:tr h="838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模型版本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新增条件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最优活动水平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目标值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初始模型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尚未限定销量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鸭400，鱼80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2320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修订模型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鸭≤150，鱼≤50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鸭150，鱼50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950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  <p:sp>
        <p:nvSpPr>
          <p:cNvPr id="5" name="我的操作：载入故事模型 → 加入两条销量约束 → 重新建模 → ">
            <a:extLst xmlns:a="http://schemas.openxmlformats.org/drawingml/2006/main">
              <a:ext uri="{FF2B5EF4-FFF2-40B4-BE49-F238E27FC236}">
                <a16:creationId xmlns:a16="http://schemas.microsoft.com/office/drawing/2014/main" id="{3BB2DD2D-1F3A-40E7-84F4-F21D1B08D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我的操作：载入故事模型 → 加入两条销量约束 → 重新建模 → 计算 → 代回检查。</a:t>
            </a:r>
          </a:p>
        </p:txBody>
      </p:sp>
      <p:sp>
        <p:nvSpPr>
          <p:cNvPr id="6" name="软件能够重算已给定的模型；销量上限是否可靠、模型假设是否完整，需">
            <a:extLst xmlns:a="http://schemas.openxmlformats.org/drawingml/2006/main">
              <a:ext uri="{FF2B5EF4-FFF2-40B4-BE49-F238E27FC236}">
                <a16:creationId xmlns:a16="http://schemas.microsoft.com/office/drawing/2014/main" id="{BAB9D44A-1862-45D5-A311-57695E6D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1066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6650"/>
                </a:solidFill>
                <a:latin typeface="Hiragino Sans GB"/>
                <a:ea typeface="Hiragino Sans GB"/>
                <a:cs typeface="Hiragino Sans GB"/>
              </a:rPr>
              <a:t>软件能够重算已给定的模型；销量上限是否可靠、模型假设是否完整，需要研究人员审核。</a:t>
            </a:r>
          </a:p>
        </p:txBody>
      </p:sp>
    </p:spTree>
    <p:extLst>
      <p:ext uri="{BB962C8B-B14F-4D97-AF65-F5344CB8AC3E}">
        <p14:creationId xmlns:p14="http://schemas.microsoft.com/office/powerpoint/2010/main" val="153524848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需求—设计—代码—测试追踪">
            <a:extLst xmlns:a="http://schemas.openxmlformats.org/drawingml/2006/main">
              <a:ext uri="{FF2B5EF4-FFF2-40B4-BE49-F238E27FC236}">
                <a16:creationId xmlns:a16="http://schemas.microsoft.com/office/drawing/2014/main" id="{42127A46-30EC-4D71-A05A-DE747081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需求—设计—代码—测试追踪</a:t>
            </a:r>
          </a:p>
        </p:txBody>
      </p:sp>
      <p:sp>
        <p:nvSpPr>
          <p:cNvPr id="2" name="成果：每项核心需求都有实现与验证依据">
            <a:extLst xmlns:a="http://schemas.openxmlformats.org/drawingml/2006/main">
              <a:ext uri="{FF2B5EF4-FFF2-40B4-BE49-F238E27FC236}">
                <a16:creationId xmlns:a16="http://schemas.microsoft.com/office/drawing/2014/main" id="{4B623A11-D583-4B76-9C70-4AC4DD983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成果：每项核心需求都有实现与验证依据</a:t>
            </a:r>
          </a:p>
        </p:txBody>
      </p:sp>
      <p:sp>
        <p:nvSpPr>
          <p:cNvPr id="3" name="38  /  易行 LP">
            <a:extLst xmlns:a="http://schemas.openxmlformats.org/drawingml/2006/main">
              <a:ext uri="{FF2B5EF4-FFF2-40B4-BE49-F238E27FC236}">
                <a16:creationId xmlns:a16="http://schemas.microsoft.com/office/drawing/2014/main" id="{50D00662-9287-4289-9602-B085F222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38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B71A5-0979-4983-BB9F-4939907ABCE3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67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5905500"/>
                <a:gridCol w="2486025"/>
              </a:tblGrid>
              <a:tr h="63817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设计 / 代码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验证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F01 文本导入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Repository.read / textFile 回调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U11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F02 结构化建模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ModelView.render / 动态矩阵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U08、U09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T11、T12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F03 生成与校验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LPModel / Controller.build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U01、U04；T13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F04 计算与方案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SimplexSolver / showResult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T01～T10</a:t>
                      </a:r>
                    </a:p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U02、U05～U07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F05 修改后重算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Controller.invalidate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U03；T02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F06 保存与迭代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Repository / trace /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U10、U13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5603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评审准备与尚待确认的问题">
            <a:extLst xmlns:a="http://schemas.openxmlformats.org/drawingml/2006/main">
              <a:ext uri="{FF2B5EF4-FFF2-40B4-BE49-F238E27FC236}">
                <a16:creationId xmlns:a16="http://schemas.microsoft.com/office/drawing/2014/main" id="{A1CD727A-A8D4-45CC-B566-D1A5334D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评审准备与尚待确认的问题</a:t>
            </a:r>
          </a:p>
        </p:txBody>
      </p:sp>
      <p:sp>
        <p:nvSpPr>
          <p:cNvPr id="2" name="成果：将未确认事项显式列出，不虚构评审与访谈记录">
            <a:extLst xmlns:a="http://schemas.openxmlformats.org/drawingml/2006/main">
              <a:ext uri="{FF2B5EF4-FFF2-40B4-BE49-F238E27FC236}">
                <a16:creationId xmlns:a16="http://schemas.microsoft.com/office/drawing/2014/main" id="{16E41CDD-2303-4448-9B2F-961CA435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成果：将未确认事项显式列出，不虚构评审与访谈记录</a:t>
            </a:r>
          </a:p>
        </p:txBody>
      </p:sp>
      <p:sp>
        <p:nvSpPr>
          <p:cNvPr id="3" name="39  /  易行 LP">
            <a:extLst xmlns:a="http://schemas.openxmlformats.org/drawingml/2006/main">
              <a:ext uri="{FF2B5EF4-FFF2-40B4-BE49-F238E27FC236}">
                <a16:creationId xmlns:a16="http://schemas.microsoft.com/office/drawing/2014/main" id="{DBC6CA96-699C-46A6-9878-438E74EB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39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CD4A3-EC63-47BB-B137-E2922B92F278}"/>
              </a:ext>
            </a:extLst>
          </p:cNvPr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4429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152900"/>
              </a:tblGrid>
              <a:tr h="7381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待确认事项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当前实现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评审后可能修改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输入方式与导入格式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辅助建模；TXT 与 JSON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增加代数式解析或指定格式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严格不等式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菜单保留 &lt;、&gt;；阻止直接计算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需确认精度语义或整数语义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变量是否必须为整数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仅支持连续变量，结果中明确提示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如需整数最优，增加整数规划算法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部署与公司业务范围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本地单机，当前专注 LP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根据 Q6、Q7 答复调整架构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评审记录与修改归档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尚无正式评审意见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收到意见后记录问题、修改和复验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67721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项目总结">
            <a:extLst xmlns:a="http://schemas.openxmlformats.org/drawingml/2006/main">
              <a:ext uri="{FF2B5EF4-FFF2-40B4-BE49-F238E27FC236}">
                <a16:creationId xmlns:a16="http://schemas.microsoft.com/office/drawing/2014/main" id="{DAE69A4C-E6BE-4EAB-B16B-82CB71B0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项目总结</a:t>
            </a:r>
          </a:p>
        </p:txBody>
      </p:sp>
      <p:sp>
        <p:nvSpPr>
          <p:cNvPr id="2" name="我的收获：把业务困难、领域知识和软件实现连接起来">
            <a:extLst xmlns:a="http://schemas.openxmlformats.org/drawingml/2006/main">
              <a:ext uri="{FF2B5EF4-FFF2-40B4-BE49-F238E27FC236}">
                <a16:creationId xmlns:a16="http://schemas.microsoft.com/office/drawing/2014/main" id="{1EC3EEEB-D088-4466-BE8F-BB9FF653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我的收获：把业务困难、领域知识和软件实现连接起来</a:t>
            </a:r>
          </a:p>
        </p:txBody>
      </p:sp>
      <p:sp>
        <p:nvSpPr>
          <p:cNvPr id="3" name="40  /  易行 LP">
            <a:extLst xmlns:a="http://schemas.openxmlformats.org/drawingml/2006/main">
              <a:ext uri="{FF2B5EF4-FFF2-40B4-BE49-F238E27FC236}">
                <a16:creationId xmlns:a16="http://schemas.microsoft.com/office/drawing/2014/main" id="{48E8E337-0CA4-44B4-8D78-97341018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40  /  易行 LP</a:t>
            </a:r>
          </a:p>
        </p:txBody>
      </p:sp>
      <p:sp>
        <p:nvSpPr>
          <p:cNvPr id="4" name="我从“小明反复手算”发现计算辅助需求，并明确人和软件各自承担的责">
            <a:extLst xmlns:a="http://schemas.openxmlformats.org/drawingml/2006/main">
              <a:ext uri="{FF2B5EF4-FFF2-40B4-BE49-F238E27FC236}">
                <a16:creationId xmlns:a16="http://schemas.microsoft.com/office/drawing/2014/main" id="{34CE72E8-2C9B-49D1-BAD5-BDB76396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我从“小明反复手算”发现计算辅助需求，并明确人和软件各自承担的责任。</a:t>
            </a:r>
          </a:p>
        </p:txBody>
      </p:sp>
      <p:sp>
        <p:nvSpPr>
          <p:cNvPr id="5" name="我通过教师原型细化辅助建模交互，学习将活动、资源与目标转换为线性">
            <a:extLst xmlns:a="http://schemas.openxmlformats.org/drawingml/2006/main">
              <a:ext uri="{FF2B5EF4-FFF2-40B4-BE49-F238E27FC236}">
                <a16:creationId xmlns:a16="http://schemas.microsoft.com/office/drawing/2014/main" id="{1953FC44-177C-4A7A-94B8-D0E7A774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我通过教师原型细化辅助建模交互，学习将活动、资源与目标转换为线性模型。</a:t>
            </a:r>
          </a:p>
        </p:txBody>
      </p:sp>
      <p:sp>
        <p:nvSpPr>
          <p:cNvPr id="6" name="我将分析模型逐步落实为职责、类与代码，并通过回归测试和界面操作验">
            <a:extLst xmlns:a="http://schemas.openxmlformats.org/drawingml/2006/main">
              <a:ext uri="{FF2B5EF4-FFF2-40B4-BE49-F238E27FC236}">
                <a16:creationId xmlns:a16="http://schemas.microsoft.com/office/drawing/2014/main" id="{4FCC1015-4AC0-4AAE-A426-03F7DB4E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6710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我将分析模型逐步落实为职责、类与代码，并通过回归测试和界面操作验证。</a:t>
            </a:r>
          </a:p>
        </p:txBody>
      </p:sp>
      <p:sp>
        <p:nvSpPr>
          <p:cNvPr id="7" name="我认识到：模型正确性与求解正确性需要分别检查，材料本身也应交叉核">
            <a:extLst xmlns:a="http://schemas.openxmlformats.org/drawingml/2006/main">
              <a:ext uri="{FF2B5EF4-FFF2-40B4-BE49-F238E27FC236}">
                <a16:creationId xmlns:a16="http://schemas.microsoft.com/office/drawing/2014/main" id="{6AA60560-5BA5-4ABA-A82D-34AD7F6C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95775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我认识到：模型正确性与求解正确性需要分别检查，材料本身也应交叉核对。</a:t>
            </a:r>
          </a:p>
        </p:txBody>
      </p:sp>
      <p:sp>
        <p:nvSpPr>
          <p:cNvPr id="8" name="后续工作：完成涉众调研与现场评审，再按意见修改、复验并归档。">
            <a:extLst xmlns:a="http://schemas.openxmlformats.org/drawingml/2006/main">
              <a:ext uri="{FF2B5EF4-FFF2-40B4-BE49-F238E27FC236}">
                <a16:creationId xmlns:a16="http://schemas.microsoft.com/office/drawing/2014/main" id="{F10FCDC7-B80D-4881-AF40-E7BA2A93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24450"/>
            <a:ext cx="107061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后续工作：完成涉众调研与现场评审，再按意见修改、复验并归档。</a:t>
            </a:r>
          </a:p>
        </p:txBody>
      </p:sp>
    </p:spTree>
    <p:extLst>
      <p:ext uri="{BB962C8B-B14F-4D97-AF65-F5344CB8AC3E}">
        <p14:creationId xmlns:p14="http://schemas.microsoft.com/office/powerpoint/2010/main" val="35034848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参考材料与交付内容">
            <a:extLst xmlns:a="http://schemas.openxmlformats.org/drawingml/2006/main">
              <a:ext uri="{FF2B5EF4-FFF2-40B4-BE49-F238E27FC236}">
                <a16:creationId xmlns:a16="http://schemas.microsoft.com/office/drawing/2014/main" id="{BCE9CA18-DF39-4673-A131-4C46B6F9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173D34"/>
                </a:solidFill>
                <a:latin typeface="Hiragino Sans GB"/>
                <a:ea typeface="Hiragino Sans GB"/>
                <a:cs typeface="Hiragino Sans GB"/>
              </a:rPr>
              <a:t>参考材料与交付内容</a:t>
            </a:r>
          </a:p>
        </p:txBody>
      </p:sp>
      <p:sp>
        <p:nvSpPr>
          <p:cNvPr id="2" name="成果：来源可追溯，程序可复现，报告与实现对应">
            <a:extLst xmlns:a="http://schemas.openxmlformats.org/drawingml/2006/main">
              <a:ext uri="{FF2B5EF4-FFF2-40B4-BE49-F238E27FC236}">
                <a16:creationId xmlns:a16="http://schemas.microsoft.com/office/drawing/2014/main" id="{9676C361-D698-4A7A-B9F5-B37E1DE43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04900"/>
            <a:ext cx="10820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成果：来源可追溯，程序可复现，报告与实现对应</a:t>
            </a:r>
          </a:p>
        </p:txBody>
      </p:sp>
      <p:sp>
        <p:nvSpPr>
          <p:cNvPr id="3" name="41  /  易行 LP">
            <a:extLst xmlns:a="http://schemas.openxmlformats.org/drawingml/2006/main">
              <a:ext uri="{FF2B5EF4-FFF2-40B4-BE49-F238E27FC236}">
                <a16:creationId xmlns:a16="http://schemas.microsoft.com/office/drawing/2014/main" id="{1D5E643F-040C-4514-99CF-43E8AC2E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6429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defPPr>
            <a:lvl1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1pPr>
            <a:lvl2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2pPr>
            <a:lvl3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3pPr>
            <a:lvl4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4pPr>
            <a:lvl5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5pPr>
            <a:lvl6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6pPr>
            <a:lvl7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7pPr>
            <a:lvl8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8pPr>
            <a:lvl9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96D"/>
                </a:solidFill>
                <a:latin typeface="Hiragino Sans GB"/>
                <a:ea typeface="Hiragino Sans GB"/>
                <a:cs typeface="Hiragino Sans GB"/>
              </a:rPr>
              <a:t>41  /  易行 LP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7CC804-341C-4EDF-902D-AC0E3D5C49D9}"/>
              </a:ext>
            </a:extLst>
          </p:cNvPr>
          <p:cNvGraphicFramePr/>
          <p:nvPr/>
        </p:nvGraphicFramePr>
        <p:xfrm>
          <a:off xmlns:a="http://schemas.openxmlformats.org/drawingml/2006/main" x="685800" y="1695450"/>
          <a:ext xmlns:a="http://schemas.openxmlformats.org/drawingml/2006/main" cx="10820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642257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类别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 / 文件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T w="6668">
                      <a:solidFill>
                        <a:srgbClr val="B6CBB9"/>
                      </a:solidFill>
                      <a:prstDash val="solid"/>
                    </a:lnT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206650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课程任务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《现代软件工程课程设计》课程安排.pptx；课程设计报告（PPT）样本.pptx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领域与故事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发现软件的故事.pdf；运筹学(线性规划).pptx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教师补充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参考资料/教师群内图片1.png（Q1～Q7）；教师界面原型.png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可运行软件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source/index.html、style.css、solver.js、app.js、examples.js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复现测试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node source/test-solver.cjs；node source/test-vertices.cjs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257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提交与说明</a:t>
                      </a:r>
                    </a:p>
                  </a:txBody>
                  <a:tcPr marL="123825" marR="123825" marT="104775" marB="85725" anchor="ctr">
                    <a:lnL w="6668">
                      <a:solidFill>
                        <a:srgbClr val="B6CBB9"/>
                      </a:solidFill>
                      <a:prstDash val="solid"/>
                    </a:lnL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73D3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交付目录中的报告 PPT / PDF、软件源码压缩包与使用说明</a:t>
                      </a:r>
                    </a:p>
                  </a:txBody>
                  <a:tcPr marL="123825" marR="123825" marT="104775" marB="85725" anchor="ctr">
                    <a:lnR w="6668">
                      <a:solidFill>
                        <a:srgbClr val="B6CBB9"/>
                      </a:solidFill>
                      <a:prstDash val="solid"/>
                    </a:lnR>
                    <a:lnB w="6668">
                      <a:solidFill>
                        <a:srgbClr val="B6CBB9"/>
                      </a:solidFill>
                      <a:prstDash val="solid"/>
                    </a:lnB>
                    <a:solidFill>
                      <a:srgbClr val="EFF4E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706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2026-10-26T09:52:12.1490000Z</dcterms:created>
  <dcterms:modified xsi:type="dcterms:W3CDTF">2026-10-26T09:52:12.1490000Z</dcterms:modified>
</coreProperties>
</file>