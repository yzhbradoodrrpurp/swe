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df94df0be3433a" /><Relationship Type="http://schemas.openxmlformats.org/officeDocument/2006/relationships/extended-properties" Target="/docProps/app.xml" Id="R2d59bf0816aa4c16" /><Relationship Type="http://schemas.openxmlformats.org/officeDocument/2006/relationships/officeDocument" Target="/ppt/presentation.xml" Id="Rae0c7b737d2e40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746478dcc48d8"/>
  </p:sldMasterIdLst>
  <p:notesMasterIdLst>
    <p:notesMasterId xmlns:r="http://schemas.openxmlformats.org/officeDocument/2006/relationships" r:id="Re66dc21e1b8848d4"/>
  </p:notesMasterIdLst>
  <p:sldIdLst>
    <p:sldId xmlns:r="http://schemas.openxmlformats.org/officeDocument/2006/relationships" id="256" r:id="R0ccbea1f344e4ad8"/>
    <p:sldId xmlns:r="http://schemas.openxmlformats.org/officeDocument/2006/relationships" id="257" r:id="R0ec6aae7cf354d19"/>
    <p:sldId xmlns:r="http://schemas.openxmlformats.org/officeDocument/2006/relationships" id="258" r:id="Rcc71816220e94f8c"/>
    <p:sldId xmlns:r="http://schemas.openxmlformats.org/officeDocument/2006/relationships" id="259" r:id="R1185bf20dd62452a"/>
    <p:sldId xmlns:r="http://schemas.openxmlformats.org/officeDocument/2006/relationships" id="260" r:id="Ra58382911e00447c"/>
    <p:sldId xmlns:r="http://schemas.openxmlformats.org/officeDocument/2006/relationships" id="261" r:id="R97cf1da500dc47a4"/>
    <p:sldId xmlns:r="http://schemas.openxmlformats.org/officeDocument/2006/relationships" id="262" r:id="Rd9812ffbbd384c64"/>
    <p:sldId xmlns:r="http://schemas.openxmlformats.org/officeDocument/2006/relationships" id="263" r:id="R1f029934435e479d"/>
    <p:sldId xmlns:r="http://schemas.openxmlformats.org/officeDocument/2006/relationships" id="264" r:id="R2312e43764ea43c0"/>
    <p:sldId xmlns:r="http://schemas.openxmlformats.org/officeDocument/2006/relationships" id="265" r:id="Rf7a1d1dc88ef4d24"/>
    <p:sldId xmlns:r="http://schemas.openxmlformats.org/officeDocument/2006/relationships" id="266" r:id="R662fbdd27b044b8a"/>
    <p:sldId xmlns:r="http://schemas.openxmlformats.org/officeDocument/2006/relationships" id="267" r:id="R1a5ff8e9f3ec4abd"/>
    <p:sldId xmlns:r="http://schemas.openxmlformats.org/officeDocument/2006/relationships" id="268" r:id="R1ae63ccd19314819"/>
    <p:sldId xmlns:r="http://schemas.openxmlformats.org/officeDocument/2006/relationships" id="269" r:id="R2771abd95e9e44d0"/>
    <p:sldId xmlns:r="http://schemas.openxmlformats.org/officeDocument/2006/relationships" id="270" r:id="R4875f26087b740d7"/>
    <p:sldId xmlns:r="http://schemas.openxmlformats.org/officeDocument/2006/relationships" id="271" r:id="R1eeaf8a6f22548c8"/>
    <p:sldId xmlns:r="http://schemas.openxmlformats.org/officeDocument/2006/relationships" id="272" r:id="R5bb50e07134a4c47"/>
    <p:sldId xmlns:r="http://schemas.openxmlformats.org/officeDocument/2006/relationships" id="273" r:id="Rf1e90eb42d2a45eb"/>
    <p:sldId xmlns:r="http://schemas.openxmlformats.org/officeDocument/2006/relationships" id="274" r:id="R5325beae6fec48f2"/>
    <p:sldId xmlns:r="http://schemas.openxmlformats.org/officeDocument/2006/relationships" id="275" r:id="Rcf6e27cb5d0247a7"/>
    <p:sldId xmlns:r="http://schemas.openxmlformats.org/officeDocument/2006/relationships" id="276" r:id="R674c357c8134457f"/>
    <p:sldId xmlns:r="http://schemas.openxmlformats.org/officeDocument/2006/relationships" id="277" r:id="Ra3f41a2928dc415c"/>
    <p:sldId xmlns:r="http://schemas.openxmlformats.org/officeDocument/2006/relationships" id="278" r:id="Re6fcf74895324057"/>
    <p:sldId xmlns:r="http://schemas.openxmlformats.org/officeDocument/2006/relationships" id="279" r:id="Rf101b8943237408a"/>
    <p:sldId xmlns:r="http://schemas.openxmlformats.org/officeDocument/2006/relationships" id="280" r:id="R278c162c136546f5"/>
    <p:sldId xmlns:r="http://schemas.openxmlformats.org/officeDocument/2006/relationships" id="281" r:id="R9aa37bc3b6774254"/>
    <p:sldId xmlns:r="http://schemas.openxmlformats.org/officeDocument/2006/relationships" id="282" r:id="Rd8edaa1500a44f58"/>
    <p:sldId xmlns:r="http://schemas.openxmlformats.org/officeDocument/2006/relationships" id="283" r:id="Re8301b54fd444a4f"/>
    <p:sldId xmlns:r="http://schemas.openxmlformats.org/officeDocument/2006/relationships" id="284" r:id="Rdd634b3f8aac4e28"/>
    <p:sldId xmlns:r="http://schemas.openxmlformats.org/officeDocument/2006/relationships" id="285" r:id="R6caf1a474765486f"/>
    <p:sldId xmlns:r="http://schemas.openxmlformats.org/officeDocument/2006/relationships" id="286" r:id="R70e4c385036b4c23"/>
    <p:sldId xmlns:r="http://schemas.openxmlformats.org/officeDocument/2006/relationships" id="287" r:id="R6c2e67575f494770"/>
    <p:sldId xmlns:r="http://schemas.openxmlformats.org/officeDocument/2006/relationships" id="288" r:id="R18a4f228c31b4f5f"/>
    <p:sldId xmlns:r="http://schemas.openxmlformats.org/officeDocument/2006/relationships" id="289" r:id="R4ee6543f03b94557"/>
    <p:sldId xmlns:r="http://schemas.openxmlformats.org/officeDocument/2006/relationships" id="290" r:id="Re3587f0ad6b04244"/>
    <p:sldId xmlns:r="http://schemas.openxmlformats.org/officeDocument/2006/relationships" id="291" r:id="R4999bd54b32e4e53"/>
    <p:sldId xmlns:r="http://schemas.openxmlformats.org/officeDocument/2006/relationships" id="292" r:id="R12d2344465c34ede"/>
    <p:sldId xmlns:r="http://schemas.openxmlformats.org/officeDocument/2006/relationships" id="293" r:id="R4da234a7e018459c"/>
    <p:sldId xmlns:r="http://schemas.openxmlformats.org/officeDocument/2006/relationships" id="294" r:id="R1217c02e50914b2c"/>
    <p:sldId xmlns:r="http://schemas.openxmlformats.org/officeDocument/2006/relationships" id="295" r:id="Rd39ec204d52343d4"/>
    <p:sldId xmlns:r="http://schemas.openxmlformats.org/officeDocument/2006/relationships" id="296" r:id="R93b85ef4519a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22cbd90afe4bc3" /><Relationship Type="http://schemas.openxmlformats.org/officeDocument/2006/relationships/slideMaster" Target="/ppt/slideMasters/slideMaster1.xml" Id="Ra73746478dcc48d8" /><Relationship Type="http://schemas.openxmlformats.org/officeDocument/2006/relationships/notesMaster" Target="/ppt/notesMasters/notesMaster1.xml" Id="Re66dc21e1b8848d4" /><Relationship Type="http://schemas.openxmlformats.org/officeDocument/2006/relationships/presProps" Target="/ppt/presProps.xml" Id="R16e6f264832a48b7" /><Relationship Type="http://schemas.openxmlformats.org/officeDocument/2006/relationships/tableStyles" Target="/ppt/tableStyles.xml" Id="R948968cf0b5946ab" /><Relationship Type="http://schemas.openxmlformats.org/officeDocument/2006/relationships/slide" Target="/ppt/slides/slide1.xml" Id="R0ccbea1f344e4ad8" /><Relationship Type="http://schemas.openxmlformats.org/officeDocument/2006/relationships/slide" Target="/ppt/slides/slide2.xml" Id="R0ec6aae7cf354d19" /><Relationship Type="http://schemas.openxmlformats.org/officeDocument/2006/relationships/slide" Target="/ppt/slides/slide3.xml" Id="Rcc71816220e94f8c" /><Relationship Type="http://schemas.openxmlformats.org/officeDocument/2006/relationships/slide" Target="/ppt/slides/slide4.xml" Id="R1185bf20dd62452a" /><Relationship Type="http://schemas.openxmlformats.org/officeDocument/2006/relationships/slide" Target="/ppt/slides/slide5.xml" Id="Ra58382911e00447c" /><Relationship Type="http://schemas.openxmlformats.org/officeDocument/2006/relationships/slide" Target="/ppt/slides/slide6.xml" Id="R97cf1da500dc47a4" /><Relationship Type="http://schemas.openxmlformats.org/officeDocument/2006/relationships/slide" Target="/ppt/slides/slide7.xml" Id="Rd9812ffbbd384c64" /><Relationship Type="http://schemas.openxmlformats.org/officeDocument/2006/relationships/slide" Target="/ppt/slides/slide8.xml" Id="R1f029934435e479d" /><Relationship Type="http://schemas.openxmlformats.org/officeDocument/2006/relationships/slide" Target="/ppt/slides/slide9.xml" Id="R2312e43764ea43c0" /><Relationship Type="http://schemas.openxmlformats.org/officeDocument/2006/relationships/slide" Target="/ppt/slides/slide10.xml" Id="Rf7a1d1dc88ef4d24" /><Relationship Type="http://schemas.openxmlformats.org/officeDocument/2006/relationships/slide" Target="/ppt/slides/slide11.xml" Id="R662fbdd27b044b8a" /><Relationship Type="http://schemas.openxmlformats.org/officeDocument/2006/relationships/slide" Target="/ppt/slides/slide12.xml" Id="R1a5ff8e9f3ec4abd" /><Relationship Type="http://schemas.openxmlformats.org/officeDocument/2006/relationships/slide" Target="/ppt/slides/slide13.xml" Id="R1ae63ccd19314819" /><Relationship Type="http://schemas.openxmlformats.org/officeDocument/2006/relationships/slide" Target="/ppt/slides/slide14.xml" Id="R2771abd95e9e44d0" /><Relationship Type="http://schemas.openxmlformats.org/officeDocument/2006/relationships/slide" Target="/ppt/slides/slide15.xml" Id="R4875f26087b740d7" /><Relationship Type="http://schemas.openxmlformats.org/officeDocument/2006/relationships/slide" Target="/ppt/slides/slide16.xml" Id="R1eeaf8a6f22548c8" /><Relationship Type="http://schemas.openxmlformats.org/officeDocument/2006/relationships/slide" Target="/ppt/slides/slide17.xml" Id="R5bb50e07134a4c47" /><Relationship Type="http://schemas.openxmlformats.org/officeDocument/2006/relationships/slide" Target="/ppt/slides/slide18.xml" Id="Rf1e90eb42d2a45eb" /><Relationship Type="http://schemas.openxmlformats.org/officeDocument/2006/relationships/slide" Target="/ppt/slides/slide19.xml" Id="R5325beae6fec48f2" /><Relationship Type="http://schemas.openxmlformats.org/officeDocument/2006/relationships/slide" Target="/ppt/slides/slide20.xml" Id="Rcf6e27cb5d0247a7" /><Relationship Type="http://schemas.openxmlformats.org/officeDocument/2006/relationships/slide" Target="/ppt/slides/slide21.xml" Id="R674c357c8134457f" /><Relationship Type="http://schemas.openxmlformats.org/officeDocument/2006/relationships/slide" Target="/ppt/slides/slide22.xml" Id="Ra3f41a2928dc415c" /><Relationship Type="http://schemas.openxmlformats.org/officeDocument/2006/relationships/slide" Target="/ppt/slides/slide23.xml" Id="Re6fcf74895324057" /><Relationship Type="http://schemas.openxmlformats.org/officeDocument/2006/relationships/slide" Target="/ppt/slides/slide24.xml" Id="Rf101b8943237408a" /><Relationship Type="http://schemas.openxmlformats.org/officeDocument/2006/relationships/slide" Target="/ppt/slides/slide25.xml" Id="R278c162c136546f5" /><Relationship Type="http://schemas.openxmlformats.org/officeDocument/2006/relationships/slide" Target="/ppt/slides/slide26.xml" Id="R9aa37bc3b6774254" /><Relationship Type="http://schemas.openxmlformats.org/officeDocument/2006/relationships/slide" Target="/ppt/slides/slide27.xml" Id="Rd8edaa1500a44f58" /><Relationship Type="http://schemas.openxmlformats.org/officeDocument/2006/relationships/slide" Target="/ppt/slides/slide28.xml" Id="Re8301b54fd444a4f" /><Relationship Type="http://schemas.openxmlformats.org/officeDocument/2006/relationships/slide" Target="/ppt/slides/slide29.xml" Id="Rdd634b3f8aac4e28" /><Relationship Type="http://schemas.openxmlformats.org/officeDocument/2006/relationships/slide" Target="/ppt/slides/slide30.xml" Id="R6caf1a474765486f" /><Relationship Type="http://schemas.openxmlformats.org/officeDocument/2006/relationships/slide" Target="/ppt/slides/slide31.xml" Id="R70e4c385036b4c23" /><Relationship Type="http://schemas.openxmlformats.org/officeDocument/2006/relationships/slide" Target="/ppt/slides/slide32.xml" Id="R6c2e67575f494770" /><Relationship Type="http://schemas.openxmlformats.org/officeDocument/2006/relationships/slide" Target="/ppt/slides/slide33.xml" Id="R18a4f228c31b4f5f" /><Relationship Type="http://schemas.openxmlformats.org/officeDocument/2006/relationships/slide" Target="/ppt/slides/slide34.xml" Id="R4ee6543f03b94557" /><Relationship Type="http://schemas.openxmlformats.org/officeDocument/2006/relationships/slide" Target="/ppt/slides/slide35.xml" Id="Re3587f0ad6b04244" /><Relationship Type="http://schemas.openxmlformats.org/officeDocument/2006/relationships/slide" Target="/ppt/slides/slide36.xml" Id="R4999bd54b32e4e53" /><Relationship Type="http://schemas.openxmlformats.org/officeDocument/2006/relationships/slide" Target="/ppt/slides/slide37.xml" Id="R12d2344465c34ede" /><Relationship Type="http://schemas.openxmlformats.org/officeDocument/2006/relationships/slide" Target="/ppt/slides/slide38.xml" Id="R4da234a7e018459c" /><Relationship Type="http://schemas.openxmlformats.org/officeDocument/2006/relationships/slide" Target="/ppt/slides/slide39.xml" Id="R1217c02e50914b2c" /><Relationship Type="http://schemas.openxmlformats.org/officeDocument/2006/relationships/slide" Target="/ppt/slides/slide40.xml" Id="Rd39ec204d52343d4" /><Relationship Type="http://schemas.openxmlformats.org/officeDocument/2006/relationships/slide" Target="/ppt/slides/slide41.xml" Id="R93b85ef4519a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abe57ff6f54a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af8db966146ac" /><Relationship Type="http://schemas.openxmlformats.org/officeDocument/2006/relationships/notesMaster" Target="/ppt/notesMasters/notesMaster1.xml" Id="R43562f1ce60042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a9c85a2b54ccb" /><Relationship Type="http://schemas.openxmlformats.org/officeDocument/2006/relationships/notesMaster" Target="/ppt/notesMasters/notesMaster1.xml" Id="R012ec76b20174b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d0336f07b64500" /><Relationship Type="http://schemas.openxmlformats.org/officeDocument/2006/relationships/notesMaster" Target="/ppt/notesMasters/notesMaster1.xml" Id="Rca37dae9641043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f2023909942fe" /><Relationship Type="http://schemas.openxmlformats.org/officeDocument/2006/relationships/notesMaster" Target="/ppt/notesMasters/notesMaster1.xml" Id="R839bad4a025d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88f4d3916b4702" /><Relationship Type="http://schemas.openxmlformats.org/officeDocument/2006/relationships/notesMaster" Target="/ppt/notesMasters/notesMaster1.xml" Id="R64c0a4e28529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e5ac42d314496" /><Relationship Type="http://schemas.openxmlformats.org/officeDocument/2006/relationships/notesMaster" Target="/ppt/notesMasters/notesMaster1.xml" Id="Rbdc90f332ffa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a71d48e9f44d52" /><Relationship Type="http://schemas.openxmlformats.org/officeDocument/2006/relationships/notesMaster" Target="/ppt/notesMasters/notesMaster1.xml" Id="R6a59c765e1d340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3b6236b1f840ec" /><Relationship Type="http://schemas.openxmlformats.org/officeDocument/2006/relationships/notesMaster" Target="/ppt/notesMasters/notesMaster1.xml" Id="R5fcc7a51395941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15dd30eaae4c8b" /><Relationship Type="http://schemas.openxmlformats.org/officeDocument/2006/relationships/notesMaster" Target="/ppt/notesMasters/notesMaster1.xml" Id="R6a09e53764b945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595d5d90134350" /><Relationship Type="http://schemas.openxmlformats.org/officeDocument/2006/relationships/notesMaster" Target="/ppt/notesMasters/notesMaster1.xml" Id="R2d5758e7d7b540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72bbec4a5499d" /><Relationship Type="http://schemas.openxmlformats.org/officeDocument/2006/relationships/notesMaster" Target="/ppt/notesMasters/notesMaster1.xml" Id="R6ebd9b8f1dca46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47149b033741a0" /><Relationship Type="http://schemas.openxmlformats.org/officeDocument/2006/relationships/notesMaster" Target="/ppt/notesMasters/notesMaster1.xml" Id="Rdbdf5ef8403544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31d82d8f94960" /><Relationship Type="http://schemas.openxmlformats.org/officeDocument/2006/relationships/notesMaster" Target="/ppt/notesMasters/notesMaster1.xml" Id="R3b2821b897a24d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8353887f364fcd" /><Relationship Type="http://schemas.openxmlformats.org/officeDocument/2006/relationships/notesMaster" Target="/ppt/notesMasters/notesMaster1.xml" Id="R0c75203a9f594c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a532d5ee6e4e53" /><Relationship Type="http://schemas.openxmlformats.org/officeDocument/2006/relationships/notesMaster" Target="/ppt/notesMasters/notesMaster1.xml" Id="R35c6bdbefdd441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86ca98a14e4c93" /><Relationship Type="http://schemas.openxmlformats.org/officeDocument/2006/relationships/notesMaster" Target="/ppt/notesMasters/notesMaster1.xml" Id="R7d4794bd477448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69b020871e4611" /><Relationship Type="http://schemas.openxmlformats.org/officeDocument/2006/relationships/notesMaster" Target="/ppt/notesMasters/notesMaster1.xml" Id="Rb5e48e9401714b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3ec86e0977453f" /><Relationship Type="http://schemas.openxmlformats.org/officeDocument/2006/relationships/notesMaster" Target="/ppt/notesMasters/notesMaster1.xml" Id="R723e0c051ac349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9dff9aa4624efe" /><Relationship Type="http://schemas.openxmlformats.org/officeDocument/2006/relationships/notesMaster" Target="/ppt/notesMasters/notesMaster1.xml" Id="R8ab42bf408e64c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2316110b804d29" /><Relationship Type="http://schemas.openxmlformats.org/officeDocument/2006/relationships/notesMaster" Target="/ppt/notesMasters/notesMaster1.xml" Id="Rfdad3d4dc21a4f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6866ad3d5245d0" /><Relationship Type="http://schemas.openxmlformats.org/officeDocument/2006/relationships/notesMaster" Target="/ppt/notesMasters/notesMaster1.xml" Id="R136b6111f58144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5ae6f556894252" /><Relationship Type="http://schemas.openxmlformats.org/officeDocument/2006/relationships/notesMaster" Target="/ppt/notesMasters/notesMaster1.xml" Id="R499f151d58b54e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f397260a8d4ab7" /><Relationship Type="http://schemas.openxmlformats.org/officeDocument/2006/relationships/notesMaster" Target="/ppt/notesMasters/notesMaster1.xml" Id="R92fddac7641e48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9ef06fa1a24270" /><Relationship Type="http://schemas.openxmlformats.org/officeDocument/2006/relationships/notesMaster" Target="/ppt/notesMasters/notesMaster1.xml" Id="R28cf1f06174348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dfcd04223447aa" /><Relationship Type="http://schemas.openxmlformats.org/officeDocument/2006/relationships/notesMaster" Target="/ppt/notesMasters/notesMaster1.xml" Id="R388ff123333a4e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51cf8bfc4f4f12" /><Relationship Type="http://schemas.openxmlformats.org/officeDocument/2006/relationships/notesMaster" Target="/ppt/notesMasters/notesMaster1.xml" Id="Rcf34995b135446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ba1f9f1324042ce" /><Relationship Type="http://schemas.openxmlformats.org/officeDocument/2006/relationships/notesMaster" Target="/ppt/notesMasters/notesMaster1.xml" Id="R060ee348990347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2ef22fbf587472b" /><Relationship Type="http://schemas.openxmlformats.org/officeDocument/2006/relationships/notesMaster" Target="/ppt/notesMasters/notesMaster1.xml" Id="R85524362365e43d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fdf5803f3f4a5c" /><Relationship Type="http://schemas.openxmlformats.org/officeDocument/2006/relationships/notesMaster" Target="/ppt/notesMasters/notesMaster1.xml" Id="R79e71aa8c92747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04f0d2938004e0b" /><Relationship Type="http://schemas.openxmlformats.org/officeDocument/2006/relationships/notesMaster" Target="/ppt/notesMasters/notesMaster1.xml" Id="R582116db0f694e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c2fa142d0604e6a" /><Relationship Type="http://schemas.openxmlformats.org/officeDocument/2006/relationships/notesMaster" Target="/ppt/notesMasters/notesMaster1.xml" Id="R529d38a7dc7f467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1056d13ee2d4741" /><Relationship Type="http://schemas.openxmlformats.org/officeDocument/2006/relationships/notesMaster" Target="/ppt/notesMasters/notesMaster1.xml" Id="R7052913f8a5c44c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a288509b784761" /><Relationship Type="http://schemas.openxmlformats.org/officeDocument/2006/relationships/notesMaster" Target="/ppt/notesMasters/notesMaster1.xml" Id="R207a81913d3247f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b3f102a1d3486d" /><Relationship Type="http://schemas.openxmlformats.org/officeDocument/2006/relationships/notesMaster" Target="/ppt/notesMasters/notesMaster1.xml" Id="R0e832d3c14b746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dd3e6a153e402a" /><Relationship Type="http://schemas.openxmlformats.org/officeDocument/2006/relationships/notesMaster" Target="/ppt/notesMasters/notesMaster1.xml" Id="R434936e6ba1e4ae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5000366a0d14421" /><Relationship Type="http://schemas.openxmlformats.org/officeDocument/2006/relationships/notesMaster" Target="/ppt/notesMasters/notesMaster1.xml" Id="R2963efe4312d4a0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673de5118e4298" /><Relationship Type="http://schemas.openxmlformats.org/officeDocument/2006/relationships/notesMaster" Target="/ppt/notesMasters/notesMaster1.xml" Id="Rc15ec789acb145e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5065863f81745b4" /><Relationship Type="http://schemas.openxmlformats.org/officeDocument/2006/relationships/notesMaster" Target="/ppt/notesMasters/notesMaster1.xml" Id="R16af1b83d60f46f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26d9bb95c80485b" /><Relationship Type="http://schemas.openxmlformats.org/officeDocument/2006/relationships/notesMaster" Target="/ppt/notesMasters/notesMaster1.xml" Id="R8f211f69c77e43c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99a653e66ed4e29" /><Relationship Type="http://schemas.openxmlformats.org/officeDocument/2006/relationships/notesMaster" Target="/ppt/notesMasters/notesMaster1.xml" Id="R8e32a4f70181400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e40013f6414d65" /><Relationship Type="http://schemas.openxmlformats.org/officeDocument/2006/relationships/notesMaster" Target="/ppt/notesMasters/notesMaster1.xml" Id="R0216f98f00f34e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采用我的课程设计视角，忠实记录本次基于材料的需求整理、分析、设计、实现与验证。没有课堂访谈记录，不将假设写成老师口述回答。来源：《现代软件工程课程设计》课程安排.pptx第2～3页；课程设计报告（PPT）样本.pptx第2～11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依据：课程设计报告（PPT）样本.pptx第6页。老师原型在开发过程中补充，因此对范围与交互进行了修订；未虚构课程周次的实际参与记录。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来源：发现软件的故事.pdf第2～9页。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来源：发现软件的故事.pdf第1～2、6～9页；参考资料/教师群内图片1.png；参考资料/教师界面原型.png。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来源：《现代软件工程课程设计》课程安排.pptx第7页；参考资料/教师群内图片1.png；参考资料/教师界面原型.png。教师给的是调研问题和原型，没有完整访谈问答。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Q1、Q2 与界面原型。Q1、Q2 的以下回答来自原型解读，不是老师口述原文。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Q3 与界面原型。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来源：运筹学(线性规划).pptx第8～16、34～41页附近的建模与假设内容；教师 Q4、Q5。图示是我对方法的整理。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来源：教师界面原型。变量定义与系数按原型；计算值来自 source/test-solver.cjs 的 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来源：发现软件的故事.pdf第4、6、8页。第4页图为5x1+4x2；第8页图为4x1+5x2，与文字利润和950美元不一致。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来源：运筹学(线性规划).pptx单纯形法、两阶段法与解的情形；source/solver.js。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来源：运筹学(线性规划).pptx的单纯形法与两阶段法；实现以 source/solver.js 为准。箭头终点为后继活动；异常分支在下方说明。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来源：source/solver.js 实际迭代记录；T03。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 Q6、Q7。没有涉众部署偏好与业务范围的正式回答；以下为本次实现选择。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依据：故事与教师原型。使用故事是我基于材料构建的需求场景，不声称经过真实用户试用。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依据：教师原型；source/index.html、app.js、solver.js。标记“扩展”为我的工程选择。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来源：课程安排第7页要求写非功能性与可用性需求；具体门槛由本次设计提出。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依据：教师原型与需求 F01～F06。图中展示本系统用例与参与者之间的关联，外框为系统边界。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需求：F01～F03、F05；对应 ModelView 与 SolveController.build()。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需求：F04～F06；对应 SolveController.solve()、SimplexSolver.solve()、ModelView.showResult()。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来源：参考资料/教师界面原型.png。原型来自用户提供的教师群内图片。未把它当成已完成访谈记录。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来源：真实运行截图，output/playwright/易行LP-建模界面.png。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来源：教师原型与本次设计。连线表示包含或归属，标注两端的多重性；当前仅在内存保留一次结果，导出后可另存。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 UC01、UC02。图中每一行是一次参与者操作及对应系统响应，系统内部设计留到后续页面。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实现依据：source/index.html、style.css、app.js、solver.js、examples.js。当前部署是假设而非涉众确认结论。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source/solver.js 与 source/app.js 中实际类定义。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来源：source/app.js 与 source/solver.js。箭头表示调用或依赖；求解器方法内部的 pivot / simplex 是局部函数，不是公开接口。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来源：SolveController.solve() 实际调用流程。图中的消息按由上到下的顺序执行；省略创建对象和非关键返回。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方法：使用 Information Expert、Controller、低耦合与高内聚检查设计；这些是设计原则应用，不声称运行性能由模式自动保证。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实现：SolveController.invalidate()、build() 与 solve()。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实现：source/solver.js；测试 T05～T16 与100个二维顶点枚举算例。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路径相对于课程设计目录。所有类名与文件名均以本次交付源码为准。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摘自 source/app.js，以下片段压缩了展示格式，逻辑与实际实现一致。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实际验证记录：.build/solver-tests.json、.build/vertex-tests.json、.build/ui-tests.json。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来源：source/test-solver.cjs 与 .build/solver-tests.json。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 output/playwright/易行LP-Tanner方案.png。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来源：故事第4、6～8页；T01、T02；实际运行截图。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源文件与测试均在 source/；UI检查记录在 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依据：课程安排要求经评审后修改归档。目前尚未进行老师现场评审，因此本页是待评审清单。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总结来自本次材料阅读、设计、实现与验证，不虚构真实访谈、用户试用或老师评审。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来源均为用户提供的课程材料与本次实现文件。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4055a306944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5744152bb44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7db5c5c7a47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ab4af130540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d0d66fc3740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5d4e9c2c74c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BC1072-DD09-4193-A5A9-77AD370576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403F0E-AD9E-41D7-99B9-9B555CC826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5EEB17-7A37-4899-B012-F21D5537B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9BDE85-1A39-44AF-A658-D31D0FC44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8A904C-E9BD-476E-BF95-79F653455F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628470-4AD3-462D-9F71-893857CDE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1DA5DE-4CCD-4031-B896-AA658673C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AE34F9-D98F-4A46-A86A-4A1D1B5B3D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499C1E-D026-43B7-AFD5-A089391D5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128151-7AEF-4F42-BF20-58B9BDDA6A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86ecc9579448e" /><Relationship Type="http://schemas.openxmlformats.org/officeDocument/2006/relationships/slideLayout" Target="/ppt/slideLayouts/slideLayout1.xml" Id="R8390ab17eca14b9b" /><Relationship Type="http://schemas.openxmlformats.org/officeDocument/2006/relationships/slideLayout" Target="/ppt/slideLayouts/slideLayout2.xml" Id="R0092f71975564289" /><Relationship Type="http://schemas.openxmlformats.org/officeDocument/2006/relationships/slideLayout" Target="/ppt/slideLayouts/slideLayout3.xml" Id="Rd5ade992c47e4258" /><Relationship Type="http://schemas.openxmlformats.org/officeDocument/2006/relationships/slideLayout" Target="/ppt/slideLayouts/slideLayout4.xml" Id="R1a498735fc0a46aa" /><Relationship Type="http://schemas.openxmlformats.org/officeDocument/2006/relationships/slideLayout" Target="/ppt/slideLayouts/slideLayout5.xml" Id="Rc6056ac15a8b456d" /><Relationship Type="http://schemas.openxmlformats.org/officeDocument/2006/relationships/slideLayout" Target="/ppt/slideLayouts/slideLayout6.xml" Id="R998136f06bae46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0ab17eca14b9b"/>
    <p:sldLayoutId xmlns:r="http://schemas.openxmlformats.org/officeDocument/2006/relationships" id="2147483650" r:id="R0092f71975564289"/>
    <p:sldLayoutId xmlns:r="http://schemas.openxmlformats.org/officeDocument/2006/relationships" id="2147483651" r:id="Rd5ade992c47e4258"/>
    <p:sldLayoutId xmlns:r="http://schemas.openxmlformats.org/officeDocument/2006/relationships" id="2147483652" r:id="R1a498735fc0a46aa"/>
    <p:sldLayoutId xmlns:r="http://schemas.openxmlformats.org/officeDocument/2006/relationships" id="2147483653" r:id="Rc6056ac15a8b456d"/>
    <p:sldLayoutId xmlns:r="http://schemas.openxmlformats.org/officeDocument/2006/relationships" id="2147483654" r:id="R998136f06bae46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fc97d7bbe4162" /><Relationship Type="http://schemas.openxmlformats.org/officeDocument/2006/relationships/notesSlide" Target="/ppt/notesSlides/notesSlide1.xml" Id="R0b81378a1e52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1cdb6ece14efc" /><Relationship Type="http://schemas.openxmlformats.org/officeDocument/2006/relationships/notesSlide" Target="/ppt/notesSlides/notesSlide2.xml" Id="R9c5a4572684647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dcdf494af4843" /><Relationship Type="http://schemas.openxmlformats.org/officeDocument/2006/relationships/notesSlide" Target="/ppt/notesSlides/notesSlide3.xml" Id="R0f680d62454445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9da09cc014a6f" /><Relationship Type="http://schemas.openxmlformats.org/officeDocument/2006/relationships/notesSlide" Target="/ppt/notesSlides/notesSlide4.xml" Id="R0ce979b2721b4d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0956bbee74df7" /><Relationship Type="http://schemas.openxmlformats.org/officeDocument/2006/relationships/notesSlide" Target="/ppt/notesSlides/notesSlide5.xml" Id="R1921a2c4d5ac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6b1d26ce1464e" /><Relationship Type="http://schemas.openxmlformats.org/officeDocument/2006/relationships/notesSlide" Target="/ppt/notesSlides/notesSlide6.xml" Id="R6cb8ff1be9084d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aa06cc0ff433a" /><Relationship Type="http://schemas.openxmlformats.org/officeDocument/2006/relationships/notesSlide" Target="/ppt/notesSlides/notesSlide7.xml" Id="R5f2fc6afc1a4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b0c84a0a24fb2" /><Relationship Type="http://schemas.openxmlformats.org/officeDocument/2006/relationships/notesSlide" Target="/ppt/notesSlides/notesSlide8.xml" Id="R5776eb5d7c9940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f8bb4f1bd4f89" /><Relationship Type="http://schemas.openxmlformats.org/officeDocument/2006/relationships/notesSlide" Target="/ppt/notesSlides/notesSlide9.xml" Id="Rbb2e1ed9c4c545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0448da3f44824" /><Relationship Type="http://schemas.openxmlformats.org/officeDocument/2006/relationships/notesSlide" Target="/ppt/notesSlides/notesSlide10.xml" Id="R1327a9da5b2d4e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2c9d740f24bd2" /><Relationship Type="http://schemas.openxmlformats.org/officeDocument/2006/relationships/notesSlide" Target="/ppt/notesSlides/notesSlide11.xml" Id="Raec5054aeacd45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dca95f893487e" /><Relationship Type="http://schemas.openxmlformats.org/officeDocument/2006/relationships/notesSlide" Target="/ppt/notesSlides/notesSlide12.xml" Id="R816d4320325c4d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db39b34c94d3d" /><Relationship Type="http://schemas.openxmlformats.org/officeDocument/2006/relationships/notesSlide" Target="/ppt/notesSlides/notesSlide13.xml" Id="R573ad3d378c644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f00bcaae04ac3" /><Relationship Type="http://schemas.openxmlformats.org/officeDocument/2006/relationships/notesSlide" Target="/ppt/notesSlides/notesSlide14.xml" Id="Rc9faa3f34e7f4e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cf9f6f48c487e" /><Relationship Type="http://schemas.openxmlformats.org/officeDocument/2006/relationships/notesSlide" Target="/ppt/notesSlides/notesSlide15.xml" Id="Rf12a3b5843b640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cba88a083485f" /><Relationship Type="http://schemas.openxmlformats.org/officeDocument/2006/relationships/notesSlide" Target="/ppt/notesSlides/notesSlide16.xml" Id="R3ab7900256dd45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70e29222248b5" /><Relationship Type="http://schemas.openxmlformats.org/officeDocument/2006/relationships/notesSlide" Target="/ppt/notesSlides/notesSlide17.xml" Id="Re08be851877546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7cc6558694114" /><Relationship Type="http://schemas.openxmlformats.org/officeDocument/2006/relationships/notesSlide" Target="/ppt/notesSlides/notesSlide18.xml" Id="Rb55b8c4b5fe041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c3c9619ff4e4e" /><Relationship Type="http://schemas.openxmlformats.org/officeDocument/2006/relationships/notesSlide" Target="/ppt/notesSlides/notesSlide19.xml" Id="R4907c1db675a43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a87b966754f94" /><Relationship Type="http://schemas.openxmlformats.org/officeDocument/2006/relationships/notesSlide" Target="/ppt/notesSlides/notesSlide20.xml" Id="Ra016d67e229f44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b6e55439647ca" /><Relationship Type="http://schemas.openxmlformats.org/officeDocument/2006/relationships/image" Target="/ppt/media/image.png" Id="Rab2b740cdd2040ee" /><Relationship Type="http://schemas.openxmlformats.org/officeDocument/2006/relationships/notesSlide" Target="/ppt/notesSlides/notesSlide21.xml" Id="R617572ecc54642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39d9394e94ae8" /><Relationship Type="http://schemas.openxmlformats.org/officeDocument/2006/relationships/image" Target="/ppt/media/image2.png" Id="R6e2e85d6a88146db" /><Relationship Type="http://schemas.openxmlformats.org/officeDocument/2006/relationships/notesSlide" Target="/ppt/notesSlides/notesSlide22.xml" Id="R8070921ea3e94e5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40112eeb14a3e" /><Relationship Type="http://schemas.openxmlformats.org/officeDocument/2006/relationships/notesSlide" Target="/ppt/notesSlides/notesSlide23.xml" Id="R65159db8c8154d9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b812fc5e54e35" /><Relationship Type="http://schemas.openxmlformats.org/officeDocument/2006/relationships/notesSlide" Target="/ppt/notesSlides/notesSlide24.xml" Id="R89d200d8fe474a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afb28ee5c4632" /><Relationship Type="http://schemas.openxmlformats.org/officeDocument/2006/relationships/notesSlide" Target="/ppt/notesSlides/notesSlide25.xml" Id="R552d0ecf0abe4e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c252098864799" /><Relationship Type="http://schemas.openxmlformats.org/officeDocument/2006/relationships/notesSlide" Target="/ppt/notesSlides/notesSlide26.xml" Id="Rab7eadfb663d4f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5e4f233854b82" /><Relationship Type="http://schemas.openxmlformats.org/officeDocument/2006/relationships/notesSlide" Target="/ppt/notesSlides/notesSlide27.xml" Id="R2ea30ace11f343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2c785b6304844" /><Relationship Type="http://schemas.openxmlformats.org/officeDocument/2006/relationships/notesSlide" Target="/ppt/notesSlides/notesSlide28.xml" Id="R5b957166248a4b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a276a7b204fa4" /><Relationship Type="http://schemas.openxmlformats.org/officeDocument/2006/relationships/notesSlide" Target="/ppt/notesSlides/notesSlide29.xml" Id="R0ca3904b110240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a43d3b712491b" /><Relationship Type="http://schemas.openxmlformats.org/officeDocument/2006/relationships/notesSlide" Target="/ppt/notesSlides/notesSlide30.xml" Id="Rdb678b12bba640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cbd509d8d4cb9" /><Relationship Type="http://schemas.openxmlformats.org/officeDocument/2006/relationships/notesSlide" Target="/ppt/notesSlides/notesSlide31.xml" Id="Rb34b89aa2e56437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1a26ba9084c35" /><Relationship Type="http://schemas.openxmlformats.org/officeDocument/2006/relationships/notesSlide" Target="/ppt/notesSlides/notesSlide32.xml" Id="R04029d33ed7c4c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3a7645a144df3" /><Relationship Type="http://schemas.openxmlformats.org/officeDocument/2006/relationships/notesSlide" Target="/ppt/notesSlides/notesSlide33.xml" Id="R75c043d41bc34af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fddfcb7f64a1c" /><Relationship Type="http://schemas.openxmlformats.org/officeDocument/2006/relationships/notesSlide" Target="/ppt/notesSlides/notesSlide34.xml" Id="Rbe41db92f19e48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3f5718a284706" /><Relationship Type="http://schemas.openxmlformats.org/officeDocument/2006/relationships/notesSlide" Target="/ppt/notesSlides/notesSlide35.xml" Id="R64a2d50fe41c400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590329f28488c" /><Relationship Type="http://schemas.openxmlformats.org/officeDocument/2006/relationships/image" Target="/ppt/media/image3.png" Id="Ra8ea8f8ec30a4a27" /><Relationship Type="http://schemas.openxmlformats.org/officeDocument/2006/relationships/notesSlide" Target="/ppt/notesSlides/notesSlide36.xml" Id="R1dc2139f820047b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2db4814304015" /><Relationship Type="http://schemas.openxmlformats.org/officeDocument/2006/relationships/notesSlide" Target="/ppt/notesSlides/notesSlide37.xml" Id="R8d65ce21112f4a0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d8dc3bbd547ac" /><Relationship Type="http://schemas.openxmlformats.org/officeDocument/2006/relationships/notesSlide" Target="/ppt/notesSlides/notesSlide38.xml" Id="R40c3565093174ea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f4add49fb443b" /><Relationship Type="http://schemas.openxmlformats.org/officeDocument/2006/relationships/notesSlide" Target="/ppt/notesSlides/notesSlide39.xml" Id="R184ae4d56ad240e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f85ccef944197" /><Relationship Type="http://schemas.openxmlformats.org/officeDocument/2006/relationships/notesSlide" Target="/ppt/notesSlides/notesSlide40.xml" Id="Rfd609247c1c1419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0b3d8952941ad" /><Relationship Type="http://schemas.openxmlformats.org/officeDocument/2006/relationships/notesSlide" Target="/ppt/notesSlides/notesSlide41.xml" Id="Rf43712765dab47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FEB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易行 LP">
            <a:extLst xmlns:a="http://schemas.openxmlformats.org/drawingml/2006/main">
              <a:ext uri="{FF2B5EF4-FFF2-40B4-BE49-F238E27FC236}">
                <a16:creationId xmlns:a16="http://schemas.microsoft.com/office/drawing/2014/main" id="{3D03366F-78DB-4F73-90FE-C050F73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</p:txBody>
      </p:sp>
      <p:sp>
        <p:nvSpPr>
          <p:cNvPr id="2" name="线性规划辅助建模与求解软件的设计和实现">
            <a:extLst xmlns:a="http://schemas.openxmlformats.org/drawingml/2006/main">
              <a:ext uri="{FF2B5EF4-FFF2-40B4-BE49-F238E27FC236}">
                <a16:creationId xmlns:a16="http://schemas.microsoft.com/office/drawing/2014/main" id="{7FD5DBE2-41A4-408D-AA5E-ECF012A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线性规划辅助建模与求解软件的设计和实现</a:t>
            </a:r>
          </a:p>
        </p:txBody>
      </p:sp>
      <p:sp>
        <p:nvSpPr>
          <p:cNvPr id="3" name="01  /  易行 LP">
            <a:extLst xmlns:a="http://schemas.openxmlformats.org/drawingml/2006/main">
              <a:ext uri="{FF2B5EF4-FFF2-40B4-BE49-F238E27FC236}">
                <a16:creationId xmlns:a16="http://schemas.microsoft.com/office/drawing/2014/main" id="{01E3D2AB-6F6F-4C4E-8C66-187A5524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01  /  易行 LP</a:t>
            </a:r>
          </a:p>
        </p:txBody>
      </p:sp>
      <p:sp>
        <p:nvSpPr>
          <p:cNvPr id="4" name="现代软件工程课程设计">
            <a:extLst xmlns:a="http://schemas.openxmlformats.org/drawingml/2006/main">
              <a:ext uri="{FF2B5EF4-FFF2-40B4-BE49-F238E27FC236}">
                <a16:creationId xmlns:a16="http://schemas.microsoft.com/office/drawing/2014/main" id="{25BF1857-3124-4F03-8AFA-73AA688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现代软件工程课程设计</a:t>
            </a:r>
          </a:p>
        </p:txBody>
      </p:sp>
      <p:sp>
        <p:nvSpPr>
          <p:cNvPr id="5" name="易治行  |  2023141220023">
            <a:extLst xmlns:a="http://schemas.openxmlformats.org/drawingml/2006/main">
              <a:ext uri="{FF2B5EF4-FFF2-40B4-BE49-F238E27FC236}">
                <a16:creationId xmlns:a16="http://schemas.microsoft.com/office/drawing/2014/main" id="{1373D85E-FF8C-4D2E-838F-0DCDF5E0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易治行  |  2023141220023</a:t>
            </a:r>
          </a:p>
        </p:txBody>
      </p:sp>
      <p:sp>
        <p:nvSpPr>
          <p:cNvPr id="6" name="从业务问题出发，形成可检查的模型与规划方案">
            <a:extLst xmlns:a="http://schemas.openxmlformats.org/drawingml/2006/main">
              <a:ext uri="{FF2B5EF4-FFF2-40B4-BE49-F238E27FC236}">
                <a16:creationId xmlns:a16="http://schemas.microsoft.com/office/drawing/2014/main" id="{608D3F5C-E7E0-4736-B804-B23CEC2F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从业务问题出发，形成可检查的模型与规划方案</a:t>
            </a:r>
          </a:p>
        </p:txBody>
      </p:sp>
      <p:sp>
        <p:nvSpPr>
          <p:cNvPr id="7" name="材料整理与实现版本  ·  2026年10月26日">
            <a:extLst xmlns:a="http://schemas.openxmlformats.org/drawingml/2006/main">
              <a:ext uri="{FF2B5EF4-FFF2-40B4-BE49-F238E27FC236}">
                <a16:creationId xmlns:a16="http://schemas.microsoft.com/office/drawing/2014/main" id="{0FB11CB4-7C8A-4FF6-A69D-1CFECFB6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材料整理与实现版本  ·  2026年10月26日</a:t>
            </a:r>
          </a:p>
        </p:txBody>
      </p:sp>
    </p:spTree>
    <p:extLst>
      <p:ext uri="{BB962C8B-B14F-4D97-AF65-F5344CB8AC3E}">
        <p14:creationId xmlns:p14="http://schemas.microsoft.com/office/powerpoint/2010/main" val="441722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20C70-F1F4-4ED2-8742-26BDF7A56AC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9E83C-BFA4-4FF4-BE79-4BEA1A596F1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6E61-105E-4D47-AA1E-F1C39E0C4DD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38375" y="2714625"/>
            <a:ext cx="76200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2ECFB-4BAB-4922-81D3-DB564FD8CF4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6C03B-1E04-435D-9E57-9CC3725CD36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7" name="我的开发流程">
            <a:extLst xmlns:a="http://schemas.openxmlformats.org/drawingml/2006/main">
              <a:ext uri="{FF2B5EF4-FFF2-40B4-BE49-F238E27FC236}">
                <a16:creationId xmlns:a16="http://schemas.microsoft.com/office/drawing/2014/main" id="{169D214D-F092-4EBF-B38B-B7E51C2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我的开发流程</a:t>
            </a:r>
          </a:p>
        </p:txBody>
      </p:sp>
      <p:sp>
        <p:nvSpPr>
          <p:cNvPr id="2" name="方法：先整理证据，再迭代实现；成果：本报告对应的实际开发流程">
            <a:extLst xmlns:a="http://schemas.openxmlformats.org/drawingml/2006/main">
              <a:ext uri="{FF2B5EF4-FFF2-40B4-BE49-F238E27FC236}">
                <a16:creationId xmlns:a16="http://schemas.microsoft.com/office/drawing/2014/main" id="{416AA1F1-297B-4791-B04B-3115448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方法：先整理证据，再迭代实现；成果：本报告对应的实际开发流程</a:t>
            </a:r>
          </a:p>
        </p:txBody>
      </p:sp>
      <p:sp>
        <p:nvSpPr>
          <p:cNvPr id="3" name="02  /  易行 LP">
            <a:extLst xmlns:a="http://schemas.openxmlformats.org/drawingml/2006/main">
              <a:ext uri="{FF2B5EF4-FFF2-40B4-BE49-F238E27FC236}">
                <a16:creationId xmlns:a16="http://schemas.microsoft.com/office/drawing/2014/main" id="{8D1A843C-1B5A-4685-BF54-CC9395B0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02  /  易行 LP</a:t>
            </a:r>
          </a:p>
        </p:txBody>
      </p:sp>
      <p:sp>
        <p:nvSpPr>
          <p:cNvPr id="4" name="故事阅读&#10;发现工作困难">
            <a:extLst xmlns:a="http://schemas.openxmlformats.org/drawingml/2006/main">
              <a:ext uri="{FF2B5EF4-FFF2-40B4-BE49-F238E27FC236}">
                <a16:creationId xmlns:a16="http://schemas.microsoft.com/office/drawing/2014/main" id="{EE18F916-7CD5-4BFE-8623-68065E6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故事阅读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发现工作困难</a:t>
            </a:r>
          </a:p>
        </p:txBody>
      </p:sp>
      <p:sp>
        <p:nvSpPr>
          <p:cNvPr id="5" name="材料式需求调研&#10;教师 Q1～Q7 与界面原型">
            <a:extLst xmlns:a="http://schemas.openxmlformats.org/drawingml/2006/main">
              <a:ext uri="{FF2B5EF4-FFF2-40B4-BE49-F238E27FC236}">
                <a16:creationId xmlns:a16="http://schemas.microsoft.com/office/drawing/2014/main" id="{5461E033-77F5-4684-A9B6-35A2FE19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材料式需求调研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 Q1～Q7 与界面原型</a:t>
            </a:r>
          </a:p>
        </p:txBody>
      </p:sp>
      <p:sp>
        <p:nvSpPr>
          <p:cNvPr id="6" name="领域学习&#10;建模与单纯形法">
            <a:extLst xmlns:a="http://schemas.openxmlformats.org/drawingml/2006/main">
              <a:ext uri="{FF2B5EF4-FFF2-40B4-BE49-F238E27FC236}">
                <a16:creationId xmlns:a16="http://schemas.microsoft.com/office/drawing/2014/main" id="{F31E79C6-E848-48FD-95CA-EFDAFB51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领域学习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建模与单纯形法</a:t>
            </a:r>
          </a:p>
        </p:txBody>
      </p:sp>
      <p:sp>
        <p:nvSpPr>
          <p:cNvPr id="7" name="需求与分析模型&#10;系统边界、用例、交互">
            <a:extLst xmlns:a="http://schemas.openxmlformats.org/drawingml/2006/main">
              <a:ext uri="{FF2B5EF4-FFF2-40B4-BE49-F238E27FC236}">
                <a16:creationId xmlns:a16="http://schemas.microsoft.com/office/drawing/2014/main" id="{3C70D19E-D025-490E-9C27-B916518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需求与分析模型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系统边界、用例、交互</a:t>
            </a:r>
          </a:p>
        </p:txBody>
      </p:sp>
      <p:sp>
        <p:nvSpPr>
          <p:cNvPr id="8" name="软件设计与代码映射&#10;职责、类、算法">
            <a:extLst xmlns:a="http://schemas.openxmlformats.org/drawingml/2006/main">
              <a:ext uri="{FF2B5EF4-FFF2-40B4-BE49-F238E27FC236}">
                <a16:creationId xmlns:a16="http://schemas.microsoft.com/office/drawing/2014/main" id="{D2D3A0ED-6E8D-4A6F-BC28-1FED884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软件设计与代码映射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职责、类、算法</a:t>
            </a:r>
          </a:p>
        </p:txBody>
      </p:sp>
      <p:sp>
        <p:nvSpPr>
          <p:cNvPr id="9" name="运行与验证&#10;回归测试、界面检查">
            <a:extLst xmlns:a="http://schemas.openxmlformats.org/drawingml/2006/main">
              <a:ext uri="{FF2B5EF4-FFF2-40B4-BE49-F238E27FC236}">
                <a16:creationId xmlns:a16="http://schemas.microsoft.com/office/drawing/2014/main" id="{83BB92F9-D9FB-48EC-AF28-82844E3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运行与验证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回归测试、界面检查</a:t>
            </a:r>
          </a:p>
        </p:txBody>
      </p:sp>
      <p:sp>
        <p:nvSpPr>
          <p:cNvPr id="15" name="迭代 1：从故事形成求解器核心；迭代 2：按教师原型补充辅助建模">
            <a:extLst xmlns:a="http://schemas.openxmlformats.org/drawingml/2006/main">
              <a:ext uri="{FF2B5EF4-FFF2-40B4-BE49-F238E27FC236}">
                <a16:creationId xmlns:a16="http://schemas.microsoft.com/office/drawing/2014/main" id="{77BC8575-54EE-4CA8-AC35-1FB0A37B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 1：从故事形成求解器核心；迭代 2：按教师原型补充辅助建模与方案展示。</a:t>
            </a:r>
          </a:p>
        </p:txBody>
      </p:sp>
      <p:sp>
        <p:nvSpPr>
          <p:cNvPr id="16" name="每次改动同步维护：需求、设计、代码和测试之间的对应关系。">
            <a:extLst xmlns:a="http://schemas.openxmlformats.org/drawingml/2006/main">
              <a:ext uri="{FF2B5EF4-FFF2-40B4-BE49-F238E27FC236}">
                <a16:creationId xmlns:a16="http://schemas.microsoft.com/office/drawing/2014/main" id="{05A254B0-C41D-4B3F-94C5-2BB05095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每次改动同步维护：需求、设计、代码和测试之间的对应关系。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630490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1 步：发现软件">
            <a:extLst xmlns:a="http://schemas.openxmlformats.org/drawingml/2006/main">
              <a:ext uri="{FF2B5EF4-FFF2-40B4-BE49-F238E27FC236}">
                <a16:creationId xmlns:a16="http://schemas.microsoft.com/office/drawing/2014/main" id="{38BFC9A6-B153-4193-AFEB-A5237F1D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1 步：发现软件</a:t>
            </a:r>
          </a:p>
        </p:txBody>
      </p:sp>
      <p:sp>
        <p:nvSpPr>
          <p:cNvPr id="2" name="方法：梳理现有工作与责任；成果：找出软件可承担的职责">
            <a:extLst xmlns:a="http://schemas.openxmlformats.org/drawingml/2006/main">
              <a:ext uri="{FF2B5EF4-FFF2-40B4-BE49-F238E27FC236}">
                <a16:creationId xmlns:a16="http://schemas.microsoft.com/office/drawing/2014/main" id="{C611BE29-BBFC-402C-B98D-7993E27A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方法：梳理现有工作与责任；成果：找出软件可承担的职责</a:t>
            </a:r>
          </a:p>
        </p:txBody>
      </p:sp>
      <p:sp>
        <p:nvSpPr>
          <p:cNvPr id="3" name="03  /  易行 LP">
            <a:extLst xmlns:a="http://schemas.openxmlformats.org/drawingml/2006/main">
              <a:ext uri="{FF2B5EF4-FFF2-40B4-BE49-F238E27FC236}">
                <a16:creationId xmlns:a16="http://schemas.microsoft.com/office/drawing/2014/main" id="{A44E4BF1-994A-4008-A147-2C60F15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DDC49-BE47-4B26-98AC-D25D96EE55DC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905250"/>
                <a:gridCol w="420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承担者与困难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了解客户、建立模型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老张：需要判断假设与约束是否完整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保留人的业务判断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手工计算、检查算式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小明：换基复杂，易错且耗时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让软件封装计算逻辑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增加销量限制后重算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模型变化导致重复计算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支持编辑后重新求解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给客户反馈规划方案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需要理解计算结果的业务含义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同时展示变量值与资源余量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207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153F7-B7FB-411E-A3CA-8914FAAE9754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52475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7790E-650D-49F9-B61C-96A2B5ED8E5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195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软件边界与涉众">
            <a:extLst xmlns:a="http://schemas.openxmlformats.org/drawingml/2006/main">
              <a:ext uri="{FF2B5EF4-FFF2-40B4-BE49-F238E27FC236}">
                <a16:creationId xmlns:a16="http://schemas.microsoft.com/office/drawing/2014/main" id="{E5E02BF4-F6FB-46DD-A48F-FB7629DD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软件边界与涉众</a:t>
            </a:r>
          </a:p>
        </p:txBody>
      </p:sp>
      <p:sp>
        <p:nvSpPr>
          <p:cNvPr id="2" name="成果：我将软件定位为研究人员使用的辅助工具">
            <a:extLst xmlns:a="http://schemas.openxmlformats.org/drawingml/2006/main">
              <a:ext uri="{FF2B5EF4-FFF2-40B4-BE49-F238E27FC236}">
                <a16:creationId xmlns:a16="http://schemas.microsoft.com/office/drawing/2014/main" id="{674EB5B4-24A4-4D67-9C6F-F4B32E4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成果：我将软件定位为研究人员使用的辅助工具</a:t>
            </a:r>
          </a:p>
        </p:txBody>
      </p:sp>
      <p:sp>
        <p:nvSpPr>
          <p:cNvPr id="3" name="04  /  易行 LP">
            <a:extLst xmlns:a="http://schemas.openxmlformats.org/drawingml/2006/main">
              <a:ext uri="{FF2B5EF4-FFF2-40B4-BE49-F238E27FC236}">
                <a16:creationId xmlns:a16="http://schemas.microsoft.com/office/drawing/2014/main" id="{7AD903EA-A287-4356-9D9E-BEE7C70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04  /  易行 LP</a:t>
            </a:r>
          </a:p>
        </p:txBody>
      </p:sp>
      <p:sp>
        <p:nvSpPr>
          <p:cNvPr id="4" name="老张 / 小明&#10;录入、审核、解释">
            <a:extLst xmlns:a="http://schemas.openxmlformats.org/drawingml/2006/main">
              <a:ext uri="{FF2B5EF4-FFF2-40B4-BE49-F238E27FC236}">
                <a16:creationId xmlns:a16="http://schemas.microsoft.com/office/drawing/2014/main" id="{02D2CB3C-0DA1-4A67-A842-D17DEE37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录入、审核、解释</a:t>
            </a:r>
          </a:p>
        </p:txBody>
      </p:sp>
      <p:sp>
        <p:nvSpPr>
          <p:cNvPr id="5" name="易行 LP&#10;建模向导、计算、结果">
            <a:extLst xmlns:a="http://schemas.openxmlformats.org/drawingml/2006/main">
              <a:ext uri="{FF2B5EF4-FFF2-40B4-BE49-F238E27FC236}">
                <a16:creationId xmlns:a16="http://schemas.microsoft.com/office/drawing/2014/main" id="{9E619364-85CB-4711-88E7-1630305F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建模向导、计算、结果</a:t>
            </a:r>
          </a:p>
        </p:txBody>
      </p:sp>
      <p:sp>
        <p:nvSpPr>
          <p:cNvPr id="6" name="咨询客户&#10;提供业务事实与限制">
            <a:extLst xmlns:a="http://schemas.openxmlformats.org/drawingml/2006/main">
              <a:ext uri="{FF2B5EF4-FFF2-40B4-BE49-F238E27FC236}">
                <a16:creationId xmlns:a16="http://schemas.microsoft.com/office/drawing/2014/main" id="{1987C5A1-307C-4A90-97E5-0818F8D4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咨询客户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提供业务事实与限制</a:t>
            </a:r>
          </a:p>
        </p:txBody>
      </p:sp>
      <p:sp>
        <p:nvSpPr>
          <p:cNvPr id="9" name="系统承担：结构化录入、生成数学模型、求解与计算记录导出。">
            <a:extLst xmlns:a="http://schemas.openxmlformats.org/drawingml/2006/main">
              <a:ext uri="{FF2B5EF4-FFF2-40B4-BE49-F238E27FC236}">
                <a16:creationId xmlns:a16="http://schemas.microsoft.com/office/drawing/2014/main" id="{F18E1E0E-7FB6-4A34-A663-2D45BFEC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系统承担：结构化录入、生成数学模型、求解与计算记录导出。</a:t>
            </a:r>
          </a:p>
        </p:txBody>
      </p:sp>
      <p:sp>
        <p:nvSpPr>
          <p:cNvPr id="10" name="涉众承担：确定业务目标、收集数据、核对线性假设并作出决策。">
            <a:extLst xmlns:a="http://schemas.openxmlformats.org/drawingml/2006/main">
              <a:ext uri="{FF2B5EF4-FFF2-40B4-BE49-F238E27FC236}">
                <a16:creationId xmlns:a16="http://schemas.microsoft.com/office/drawing/2014/main" id="{630C194A-1E22-40B8-BB36-966660A9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涉众承担：确定业务目标、收集数据、核对线性假设并作出决策。</a:t>
            </a:r>
          </a:p>
        </p:txBody>
      </p:sp>
      <p:sp>
        <p:nvSpPr>
          <p:cNvPr id="11" name="范围外：自动销售预测、自然语言自动建模、整数规划与客户业务管理。">
            <a:extLst xmlns:a="http://schemas.openxmlformats.org/drawingml/2006/main">
              <a:ext uri="{FF2B5EF4-FFF2-40B4-BE49-F238E27FC236}">
                <a16:creationId xmlns:a16="http://schemas.microsoft.com/office/drawing/2014/main" id="{EC1DE103-6557-4210-B9C5-4357249E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范围外：自动销售预测、自然语言自动建模、整数规划与客户业务管理。</a:t>
            </a:r>
          </a:p>
        </p:txBody>
      </p:sp>
    </p:spTree>
    <p:extLst>
      <p:ext uri="{BB962C8B-B14F-4D97-AF65-F5344CB8AC3E}">
        <p14:creationId xmlns:p14="http://schemas.microsoft.com/office/powerpoint/2010/main" val="646486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 2 步：整理需求依据">
            <a:extLst xmlns:a="http://schemas.openxmlformats.org/drawingml/2006/main">
              <a:ext uri="{FF2B5EF4-FFF2-40B4-BE49-F238E27FC236}">
                <a16:creationId xmlns:a16="http://schemas.microsoft.com/office/drawing/2014/main" id="{13A1CF71-0918-4096-8B4D-B9C144E8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2 步：整理需求依据</a:t>
            </a:r>
          </a:p>
        </p:txBody>
      </p:sp>
      <p:sp>
        <p:nvSpPr>
          <p:cNvPr id="2" name="方法：为每项结论标记来源与确认程度；成果：需求依据清单">
            <a:extLst xmlns:a="http://schemas.openxmlformats.org/drawingml/2006/main">
              <a:ext uri="{FF2B5EF4-FFF2-40B4-BE49-F238E27FC236}">
                <a16:creationId xmlns:a16="http://schemas.microsoft.com/office/drawing/2014/main" id="{7D189C22-B969-419C-ADC9-AD7532AF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方法：为每项结论标记来源与确认程度；成果：需求依据清单</a:t>
            </a:r>
          </a:p>
        </p:txBody>
      </p:sp>
      <p:sp>
        <p:nvSpPr>
          <p:cNvPr id="3" name="05  /  易行 LP">
            <a:extLst xmlns:a="http://schemas.openxmlformats.org/drawingml/2006/main">
              <a:ext uri="{FF2B5EF4-FFF2-40B4-BE49-F238E27FC236}">
                <a16:creationId xmlns:a16="http://schemas.microsoft.com/office/drawing/2014/main" id="{DC5669A1-6227-4F5C-9C0E-0D913AD3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BF440-52FD-40D8-8247-95DC38B5629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5765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能够确认的内容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仍不能直接确认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存在手算与反复重算的困难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真实用户的全部操作偏好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Q1～Q7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应调查交互、领域、部署与业务范围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各问题的涉众正式回答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教师界面原型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问题陈述、建模向导、建模、计算、方案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导入格式、规模与异常处理细节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我的设计假设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本地离线、JSON 保存、规模限制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需经老师评审后接受或修订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没有课堂访谈笔记，因此下面的 Q—A 是“材料式回答与待确认项">
            <a:extLst xmlns:a="http://schemas.openxmlformats.org/drawingml/2006/main">
              <a:ext uri="{FF2B5EF4-FFF2-40B4-BE49-F238E27FC236}">
                <a16:creationId xmlns:a16="http://schemas.microsoft.com/office/drawing/2014/main" id="{45DA5BD5-F0A0-4BFC-9963-6CBB8F4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rPr>
              <a:t>我没有课堂访谈笔记，因此下面的 Q—A 是“材料式回答与待确认项”，不作为真实访谈纪要。</a:t>
            </a:r>
          </a:p>
        </p:txBody>
      </p:sp>
    </p:spTree>
    <p:extLst>
      <p:ext uri="{BB962C8B-B14F-4D97-AF65-F5344CB8AC3E}">
        <p14:creationId xmlns:p14="http://schemas.microsoft.com/office/powerpoint/2010/main" val="944327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1、Q2：用户怎样发起计算">
            <a:extLst xmlns:a="http://schemas.openxmlformats.org/drawingml/2006/main">
              <a:ext uri="{FF2B5EF4-FFF2-40B4-BE49-F238E27FC236}">
                <a16:creationId xmlns:a16="http://schemas.microsoft.com/office/drawing/2014/main" id="{D7D9EB52-ACFA-4D6D-8916-AB7EC96C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Q1、Q2：用户怎样发起计算</a:t>
            </a:r>
          </a:p>
        </p:txBody>
      </p:sp>
      <p:sp>
        <p:nvSpPr>
          <p:cNvPr id="2" name="成果：我采用辅助建模后计算的交互路线">
            <a:extLst xmlns:a="http://schemas.openxmlformats.org/drawingml/2006/main">
              <a:ext uri="{FF2B5EF4-FFF2-40B4-BE49-F238E27FC236}">
                <a16:creationId xmlns:a16="http://schemas.microsoft.com/office/drawing/2014/main" id="{3AD51C18-7655-4EE4-B897-17367304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成果：我采用辅助建模后计算的交互路线</a:t>
            </a:r>
          </a:p>
        </p:txBody>
      </p:sp>
      <p:sp>
        <p:nvSpPr>
          <p:cNvPr id="3" name="06  /  易行 LP">
            <a:extLst xmlns:a="http://schemas.openxmlformats.org/drawingml/2006/main">
              <a:ext uri="{FF2B5EF4-FFF2-40B4-BE49-F238E27FC236}">
                <a16:creationId xmlns:a16="http://schemas.microsoft.com/office/drawing/2014/main" id="{97B72A09-35BF-4D98-8880-4E86B9C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8457D-7506-4483-977B-5FE7AB020762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876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调研问题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材料支持的回答 / 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Q1 计算服务的交互序列？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 → 活动与资源 → 系数关系 → 建模 → 核对模型 → 计算 → 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Q2 辅助建模还是直接输入模型？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原型展示辅助建模：由结构化表格生成模型。我据此实现该路线。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待确认：还需直接输入代数式吗？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目前不实现自由代数式解析；用户直接编辑系数矩阵。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待确认：导入什么文件？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原型仅给出“导入”。我暂定 TXT 问题陈述、JSON 完整项目。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998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3：辅助建模的详细交互">
            <a:extLst xmlns:a="http://schemas.openxmlformats.org/drawingml/2006/main">
              <a:ext uri="{FF2B5EF4-FFF2-40B4-BE49-F238E27FC236}">
                <a16:creationId xmlns:a16="http://schemas.microsoft.com/office/drawing/2014/main" id="{1FA8EEDB-3ABB-4BC7-980D-B97CB6D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Q3：辅助建模的详细交互</a:t>
            </a:r>
          </a:p>
        </p:txBody>
      </p:sp>
      <p:sp>
        <p:nvSpPr>
          <p:cNvPr id="2" name="成果：将原型中的输入项分解为可实现规则">
            <a:extLst xmlns:a="http://schemas.openxmlformats.org/drawingml/2006/main">
              <a:ext uri="{FF2B5EF4-FFF2-40B4-BE49-F238E27FC236}">
                <a16:creationId xmlns:a16="http://schemas.microsoft.com/office/drawing/2014/main" id="{E87A6B15-D510-4C0E-B12C-76A12041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成果：将原型中的输入项分解为可实现规则</a:t>
            </a:r>
          </a:p>
        </p:txBody>
      </p:sp>
      <p:sp>
        <p:nvSpPr>
          <p:cNvPr id="3" name="07  /  易行 LP">
            <a:extLst xmlns:a="http://schemas.openxmlformats.org/drawingml/2006/main">
              <a:ext uri="{FF2B5EF4-FFF2-40B4-BE49-F238E27FC236}">
                <a16:creationId xmlns:a16="http://schemas.microsoft.com/office/drawing/2014/main" id="{7ABB79FC-EC82-4CB2-A674-8791A636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28893-AFD5-446A-BA52-1640F619E380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交互与规则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目标与竞争性活动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 max / min；增加、删除活动；名称与 x1…xn 对应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资源与关系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增加、删除约束；编辑资源名称、关系符和资源限制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编辑每单位活动的资源用量 aij 与利润 / 成本 cj，允许负系数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建模与计算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建模先校验并生成公式；计算读取已确认模型，弹出规划方案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任何输入变化使旧模型失效，须重新建模；不继续展示旧结果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364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60D97-92CB-491A-B3B8-CBAF5EF7583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15A82-37AB-4242-B480-1B3AB333896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D031A-9721-4282-9254-DA6923AD14D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333625" y="2952750"/>
            <a:ext cx="7524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BBAD7-4638-4E66-8C04-0C7F5FCE10D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4E68F-05C0-4719-893B-2D79D346028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6" name="Q4、Q5：我学习的建模方法">
            <a:extLst xmlns:a="http://schemas.openxmlformats.org/drawingml/2006/main">
              <a:ext uri="{FF2B5EF4-FFF2-40B4-BE49-F238E27FC236}">
                <a16:creationId xmlns:a16="http://schemas.microsoft.com/office/drawing/2014/main" id="{695C77FF-4124-491A-8584-0543AFB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Q4、Q5：我学习的建模方法</a:t>
            </a:r>
          </a:p>
        </p:txBody>
      </p:sp>
      <p:sp>
        <p:nvSpPr>
          <p:cNvPr id="2" name="方法：按业务含义提取变量、目标与约束；成果：可复用的建模步骤">
            <a:extLst xmlns:a="http://schemas.openxmlformats.org/drawingml/2006/main">
              <a:ext uri="{FF2B5EF4-FFF2-40B4-BE49-F238E27FC236}">
                <a16:creationId xmlns:a16="http://schemas.microsoft.com/office/drawing/2014/main" id="{DE395709-9595-4AF0-B98B-5DFBAC7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方法：按业务含义提取变量、目标与约束；成果：可复用的建模步骤</a:t>
            </a:r>
          </a:p>
        </p:txBody>
      </p:sp>
      <p:sp>
        <p:nvSpPr>
          <p:cNvPr id="3" name="08  /  易行 LP">
            <a:extLst xmlns:a="http://schemas.openxmlformats.org/drawingml/2006/main">
              <a:ext uri="{FF2B5EF4-FFF2-40B4-BE49-F238E27FC236}">
                <a16:creationId xmlns:a16="http://schemas.microsoft.com/office/drawing/2014/main" id="{520980AE-56BC-47EF-AC75-D31D2B82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08  /  易行 LP</a:t>
            </a:r>
          </a:p>
        </p:txBody>
      </p:sp>
      <p:sp>
        <p:nvSpPr>
          <p:cNvPr id="4" name="识别竞争性活动&#10;确定活动水平 xj">
            <a:extLst xmlns:a="http://schemas.openxmlformats.org/drawingml/2006/main">
              <a:ext uri="{FF2B5EF4-FFF2-40B4-BE49-F238E27FC236}">
                <a16:creationId xmlns:a16="http://schemas.microsoft.com/office/drawing/2014/main" id="{785E1CCE-6435-4151-9BBF-8BF83A5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确定活动水平 xj</a:t>
            </a:r>
          </a:p>
        </p:txBody>
      </p:sp>
      <p:sp>
        <p:nvSpPr>
          <p:cNvPr id="5" name="定义既定目标&#10;形成 Σcj xj">
            <a:extLst xmlns:a="http://schemas.openxmlformats.org/drawingml/2006/main">
              <a:ext uri="{FF2B5EF4-FFF2-40B4-BE49-F238E27FC236}">
                <a16:creationId xmlns:a16="http://schemas.microsoft.com/office/drawing/2014/main" id="{B1803E9F-62A1-4A0C-8982-F61EC442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定义既定目标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Σcj xj</a:t>
            </a:r>
          </a:p>
        </p:txBody>
      </p:sp>
      <p:sp>
        <p:nvSpPr>
          <p:cNvPr id="6" name="识别有限资源&#10;形成 Σaij xj 与限制 bi">
            <a:extLst xmlns:a="http://schemas.openxmlformats.org/drawingml/2006/main">
              <a:ext uri="{FF2B5EF4-FFF2-40B4-BE49-F238E27FC236}">
                <a16:creationId xmlns:a16="http://schemas.microsoft.com/office/drawing/2014/main" id="{A89904BF-0ECC-41DF-89F4-68529BC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识别有限资源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Σaij xj 与限制 bi</a:t>
            </a:r>
          </a:p>
        </p:txBody>
      </p:sp>
      <p:sp>
        <p:nvSpPr>
          <p:cNvPr id="7" name="审核变量与量纲&#10;补充范围、非负限制">
            <a:extLst xmlns:a="http://schemas.openxmlformats.org/drawingml/2006/main">
              <a:ext uri="{FF2B5EF4-FFF2-40B4-BE49-F238E27FC236}">
                <a16:creationId xmlns:a16="http://schemas.microsoft.com/office/drawing/2014/main" id="{B3E4357E-A1E6-433D-BEFC-1D7C8C1B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审核变量与量纲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补充范围、非负限制</a:t>
            </a:r>
          </a:p>
        </p:txBody>
      </p:sp>
      <p:sp>
        <p:nvSpPr>
          <p:cNvPr id="8" name="审核线性假设&#10;可加性、比例性、可分性">
            <a:extLst xmlns:a="http://schemas.openxmlformats.org/drawingml/2006/main">
              <a:ext uri="{FF2B5EF4-FFF2-40B4-BE49-F238E27FC236}">
                <a16:creationId xmlns:a16="http://schemas.microsoft.com/office/drawing/2014/main" id="{E2BDCFE8-4EA5-442D-B053-87C76959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审核线性假设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可加性、比例性、可分性</a:t>
            </a:r>
          </a:p>
        </p:txBody>
      </p:sp>
      <p:sp>
        <p:nvSpPr>
          <p:cNvPr id="9" name="联系现实复核&#10;缺失条件则回到模型">
            <a:extLst xmlns:a="http://schemas.openxmlformats.org/drawingml/2006/main">
              <a:ext uri="{FF2B5EF4-FFF2-40B4-BE49-F238E27FC236}">
                <a16:creationId xmlns:a16="http://schemas.microsoft.com/office/drawing/2014/main" id="{588BDB30-0A26-4B02-9594-B9AF300D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联系现实复核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缺失条件则回到模型</a:t>
            </a:r>
          </a:p>
        </p:txBody>
      </p:sp>
      <p:sp>
        <p:nvSpPr>
          <p:cNvPr id="15" name="一般形式：max / min z = Σ cj xj，满足 Σ ">
            <a:extLst xmlns:a="http://schemas.openxmlformats.org/drawingml/2006/main">
              <a:ext uri="{FF2B5EF4-FFF2-40B4-BE49-F238E27FC236}">
                <a16:creationId xmlns:a16="http://schemas.microsoft.com/office/drawing/2014/main" id="{8CAB1844-CFAD-4D85-BEA0-C52C3681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一般形式：max / min z = Σ cj xj，满足 Σ aij xj ≤ / = / ≥ bi，xj ≥ 0。</a:t>
            </a:r>
          </a:p>
        </p:txBody>
      </p:sp>
    </p:spTree>
    <p:extLst>
      <p:ext uri="{BB962C8B-B14F-4D97-AF65-F5344CB8AC3E}">
        <p14:creationId xmlns:p14="http://schemas.microsoft.com/office/powerpoint/2010/main" val="1934492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建模练习：Tanner 玩具生产">
            <a:extLst xmlns:a="http://schemas.openxmlformats.org/drawingml/2006/main">
              <a:ext uri="{FF2B5EF4-FFF2-40B4-BE49-F238E27FC236}">
                <a16:creationId xmlns:a16="http://schemas.microsoft.com/office/drawing/2014/main" id="{5FAC8A4D-07C5-4268-8B09-0772DA7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建模练习：Tanner 玩具生产</a:t>
            </a:r>
          </a:p>
        </p:txBody>
      </p:sp>
      <p:sp>
        <p:nvSpPr>
          <p:cNvPr id="2" name="成果：从教师原型提取含负系数的线性规划模型">
            <a:extLst xmlns:a="http://schemas.openxmlformats.org/drawingml/2006/main">
              <a:ext uri="{FF2B5EF4-FFF2-40B4-BE49-F238E27FC236}">
                <a16:creationId xmlns:a16="http://schemas.microsoft.com/office/drawing/2014/main" id="{BEF602E5-DB71-4FD6-82E1-7A869934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成果：从教师原型提取含负系数的线性规划模型</a:t>
            </a:r>
          </a:p>
        </p:txBody>
      </p:sp>
      <p:sp>
        <p:nvSpPr>
          <p:cNvPr id="3" name="09  /  易行 LP">
            <a:extLst xmlns:a="http://schemas.openxmlformats.org/drawingml/2006/main">
              <a:ext uri="{FF2B5EF4-FFF2-40B4-BE49-F238E27FC236}">
                <a16:creationId xmlns:a16="http://schemas.microsoft.com/office/drawing/2014/main" id="{1A77EE23-3BA8-4056-A0C2-218DA15D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09  /  易行 LP</a:t>
            </a:r>
          </a:p>
        </p:txBody>
      </p:sp>
      <p:sp>
        <p:nvSpPr>
          <p:cNvPr id="4" name="x1：玩具产量；x2：同时生产 A、B 各一个的组合部件组数。">
            <a:extLst xmlns:a="http://schemas.openxmlformats.org/drawingml/2006/main">
              <a:ext uri="{FF2B5EF4-FFF2-40B4-BE49-F238E27FC236}">
                <a16:creationId xmlns:a16="http://schemas.microsoft.com/office/drawing/2014/main" id="{28B5FA95-6132-45B4-877B-CB70E37B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x1：玩具产量；x2：同时生产 A、B 各一个的组合部件组数。</a:t>
            </a:r>
          </a:p>
        </p:txBody>
      </p:sp>
      <p:sp>
        <p:nvSpPr>
          <p:cNvPr id="5" name="max z = 3x1 − 2.5x2&#10;2x1 − x2 ≤ 3">
            <a:extLst xmlns:a="http://schemas.openxmlformats.org/drawingml/2006/main">
              <a:ext uri="{FF2B5EF4-FFF2-40B4-BE49-F238E27FC236}">
                <a16:creationId xmlns:a16="http://schemas.microsoft.com/office/drawing/2014/main" id="{AB594C4C-3F09-44F7-BB81-FB576D62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647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max z = 3x1 − 2.5x2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2x1 − x2 ≤ 3000   （A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x1 − x2 ≤ 1000     （B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≥ 0，x2 ≥ 0</a:t>
            </a:r>
          </a:p>
        </p:txBody>
      </p:sp>
      <p:sp>
        <p:nvSpPr>
          <p:cNvPr id="6" name="负系数的含义&#10;&#10;生产组合部件增加资源，&#10;所以在资源净消耗中为 −">
            <a:extLst xmlns:a="http://schemas.openxmlformats.org/drawingml/2006/main">
              <a:ext uri="{FF2B5EF4-FFF2-40B4-BE49-F238E27FC236}">
                <a16:creationId xmlns:a16="http://schemas.microsoft.com/office/drawing/2014/main" id="{B2EAEC5C-AA1D-4D1E-BE11-E0104387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负系数的含义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生产组合部件增加资源，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所以在资源净消耗中为 −1。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组合成本从净利润中扣除。</a:t>
            </a:r>
          </a:p>
        </p:txBody>
      </p:sp>
      <p:sp>
        <p:nvSpPr>
          <p:cNvPr id="7" name="复核：x1 = 2000，x2 = 1000，z = 3500；">
            <a:extLst xmlns:a="http://schemas.openxmlformats.org/drawingml/2006/main">
              <a:ext uri="{FF2B5EF4-FFF2-40B4-BE49-F238E27FC236}">
                <a16:creationId xmlns:a16="http://schemas.microsoft.com/office/drawing/2014/main" id="{2C4F5757-12B6-47D9-8656-E12F16D9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复核：x1 = 2000，x2 = 1000，z = 3500；A、B 两条资源约束恰好取等号。</a:t>
            </a:r>
          </a:p>
        </p:txBody>
      </p:sp>
    </p:spTree>
    <p:extLst>
      <p:ext uri="{BB962C8B-B14F-4D97-AF65-F5344CB8AC3E}">
        <p14:creationId xmlns:p14="http://schemas.microsoft.com/office/powerpoint/2010/main" val="814089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模审核：发现故事中的不一致">
            <a:extLst xmlns:a="http://schemas.openxmlformats.org/drawingml/2006/main">
              <a:ext uri="{FF2B5EF4-FFF2-40B4-BE49-F238E27FC236}">
                <a16:creationId xmlns:a16="http://schemas.microsoft.com/office/drawing/2014/main" id="{A15884CC-0A01-488F-9E75-0311E756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建模审核：发现故事中的不一致</a:t>
            </a:r>
          </a:p>
        </p:txBody>
      </p:sp>
      <p:sp>
        <p:nvSpPr>
          <p:cNvPr id="2" name="成果：统一变量含义与利润系数，避免把材料笔误带入软件">
            <a:extLst xmlns:a="http://schemas.openxmlformats.org/drawingml/2006/main">
              <a:ext uri="{FF2B5EF4-FFF2-40B4-BE49-F238E27FC236}">
                <a16:creationId xmlns:a16="http://schemas.microsoft.com/office/drawing/2014/main" id="{393707A0-04FA-405B-87C2-DA88F23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成果：统一变量含义与利润系数，避免把材料笔误带入软件</a:t>
            </a:r>
          </a:p>
        </p:txBody>
      </p:sp>
      <p:sp>
        <p:nvSpPr>
          <p:cNvPr id="3" name="10  /  易行 LP">
            <a:extLst xmlns:a="http://schemas.openxmlformats.org/drawingml/2006/main">
              <a:ext uri="{FF2B5EF4-FFF2-40B4-BE49-F238E27FC236}">
                <a16:creationId xmlns:a16="http://schemas.microsoft.com/office/drawing/2014/main" id="{681C479E-4B5A-41CE-A2A2-95F65167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7915-11B4-4D45-8CB2-4256A76ABE5B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1052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材料表现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变量定义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第4页：x1 为鸭，x2 为鱼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全文固定该定义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单位利润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文字：鸭 5 美元、鱼 4 美元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目标函数采用 5x1 + 4x2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第8页目标函数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图中系数写成 4、5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记录差异，按第4页及文字校正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结果代入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150×5 + 50×4 = 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与故事给出的950一致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故事正文中的“鸭或鱼”应结合数学模型理解为一个同时包含两种产量的">
            <a:extLst xmlns:a="http://schemas.openxmlformats.org/drawingml/2006/main">
              <a:ext uri="{FF2B5EF4-FFF2-40B4-BE49-F238E27FC236}">
                <a16:creationId xmlns:a16="http://schemas.microsoft.com/office/drawing/2014/main" id="{03C369BB-A850-49C6-B996-B064E677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故事正文中的“鸭或鱼”应结合数学模型理解为一个同时包含两种产量的生产组合。</a:t>
            </a:r>
          </a:p>
        </p:txBody>
      </p:sp>
    </p:spTree>
    <p:extLst>
      <p:ext uri="{BB962C8B-B14F-4D97-AF65-F5344CB8AC3E}">
        <p14:creationId xmlns:p14="http://schemas.microsoft.com/office/powerpoint/2010/main" val="338253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4、Q5：我学习的计算方法">
            <a:extLst xmlns:a="http://schemas.openxmlformats.org/drawingml/2006/main">
              <a:ext uri="{FF2B5EF4-FFF2-40B4-BE49-F238E27FC236}">
                <a16:creationId xmlns:a16="http://schemas.microsoft.com/office/drawing/2014/main" id="{BF6124CC-4124-40EC-B950-78181839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Q4、Q5：我学习的计算方法</a:t>
            </a:r>
          </a:p>
        </p:txBody>
      </p:sp>
      <p:sp>
        <p:nvSpPr>
          <p:cNvPr id="2" name="成果：理解换基为什么能逐步改进目标值">
            <a:extLst xmlns:a="http://schemas.openxmlformats.org/drawingml/2006/main">
              <a:ext uri="{FF2B5EF4-FFF2-40B4-BE49-F238E27FC236}">
                <a16:creationId xmlns:a16="http://schemas.microsoft.com/office/drawing/2014/main" id="{BB57F5F8-3C11-4DDE-8833-3A1740E3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成果：理解换基为什么能逐步改进目标值</a:t>
            </a:r>
          </a:p>
        </p:txBody>
      </p:sp>
      <p:sp>
        <p:nvSpPr>
          <p:cNvPr id="3" name="11  /  易行 LP">
            <a:extLst xmlns:a="http://schemas.openxmlformats.org/drawingml/2006/main">
              <a:ext uri="{FF2B5EF4-FFF2-40B4-BE49-F238E27FC236}">
                <a16:creationId xmlns:a16="http://schemas.microsoft.com/office/drawing/2014/main" id="{87250500-55BA-4A8B-9216-FF3F81EF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11  /  易行 LP</a:t>
            </a:r>
          </a:p>
        </p:txBody>
      </p:sp>
      <p:sp>
        <p:nvSpPr>
          <p:cNvPr id="4" name="标准化：min 转为 max 的相反目标；≥ 两边取负；= 拆成">
            <a:extLst xmlns:a="http://schemas.openxmlformats.org/drawingml/2006/main">
              <a:ext uri="{FF2B5EF4-FFF2-40B4-BE49-F238E27FC236}">
                <a16:creationId xmlns:a16="http://schemas.microsoft.com/office/drawing/2014/main" id="{D4920CB6-C009-47E1-B823-C718BF5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标准化：min 转为 max 的相反目标；≥ 两边取负；= 拆成两条 ≤。</a:t>
            </a:r>
          </a:p>
        </p:txBody>
      </p:sp>
      <p:sp>
        <p:nvSpPr>
          <p:cNvPr id="5" name="可行性：加入松弛变量；若初始右端为负，使用人工变量与辅助目标找可">
            <a:extLst xmlns:a="http://schemas.openxmlformats.org/drawingml/2006/main">
              <a:ext uri="{FF2B5EF4-FFF2-40B4-BE49-F238E27FC236}">
                <a16:creationId xmlns:a16="http://schemas.microsoft.com/office/drawing/2014/main" id="{B5FA865E-1E8F-4D73-AAC4-B49DDCFD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可行性：加入松弛变量；若初始右端为负，使用人工变量与辅助目标找可行基。</a:t>
            </a:r>
          </a:p>
        </p:txBody>
      </p:sp>
      <p:sp>
        <p:nvSpPr>
          <p:cNvPr id="6" name="改进：选可改善目标的非基变量入基，用最小比值确定出基变量。">
            <a:extLst xmlns:a="http://schemas.openxmlformats.org/drawingml/2006/main">
              <a:ext uri="{FF2B5EF4-FFF2-40B4-BE49-F238E27FC236}">
                <a16:creationId xmlns:a16="http://schemas.microsoft.com/office/drawing/2014/main" id="{98B47456-2B34-4C1A-A4D2-82108EE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改进：选可改善目标的非基变量入基，用最小比值确定出基变量。</a:t>
            </a:r>
          </a:p>
        </p:txBody>
      </p:sp>
      <p:sp>
        <p:nvSpPr>
          <p:cNvPr id="7" name="更新：用 Gauss–Jordan 消元换基；没有改善方向时，读">
            <a:extLst xmlns:a="http://schemas.openxmlformats.org/drawingml/2006/main">
              <a:ext uri="{FF2B5EF4-FFF2-40B4-BE49-F238E27FC236}">
                <a16:creationId xmlns:a16="http://schemas.microsoft.com/office/drawing/2014/main" id="{3E83FDEE-69DF-4F77-9696-2C999C2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更新：用 Gauss–Jordan 消元换基；没有改善方向时，读出当前最优解。</a:t>
            </a:r>
          </a:p>
        </p:txBody>
      </p:sp>
      <p:sp>
        <p:nvSpPr>
          <p:cNvPr id="8" name="边界：无可行解、目标无界与数值异常必须分别报告。">
            <a:extLst xmlns:a="http://schemas.openxmlformats.org/drawingml/2006/main">
              <a:ext uri="{FF2B5EF4-FFF2-40B4-BE49-F238E27FC236}">
                <a16:creationId xmlns:a16="http://schemas.microsoft.com/office/drawing/2014/main" id="{CEEFD063-E51C-4A18-9531-C26E9E4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边界：无可行解、目标无界与数值异常必须分别报告。</a:t>
            </a:r>
          </a:p>
        </p:txBody>
      </p:sp>
    </p:spTree>
    <p:extLst>
      <p:ext uri="{BB962C8B-B14F-4D97-AF65-F5344CB8AC3E}">
        <p14:creationId xmlns:p14="http://schemas.microsoft.com/office/powerpoint/2010/main" val="7318402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9656A-487A-46F4-A7C7-315F590B496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238375" y="46672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06650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6F1B2-61F4-46BF-B725-97566BBCCD08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2F8F6-C2C7-4D41-BAC7-F85ADD6A403C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52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40327-E540-46A8-A79B-42A06792760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58375" y="2714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F4FB9-EFA4-4113-90FC-7FD5132139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B2683-E8C9-4B2C-BA68-AE33EFB7A40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8" name="单纯形法活动流程">
            <a:extLst xmlns:a="http://schemas.openxmlformats.org/drawingml/2006/main">
              <a:ext uri="{FF2B5EF4-FFF2-40B4-BE49-F238E27FC236}">
                <a16:creationId xmlns:a16="http://schemas.microsoft.com/office/drawing/2014/main" id="{CE56B3AF-8D49-4DA5-888C-DA2EF842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单纯形法活动流程</a:t>
            </a:r>
          </a:p>
        </p:txBody>
      </p:sp>
      <p:sp>
        <p:nvSpPr>
          <p:cNvPr id="2" name="方法：把数学步骤转化为控制流程；成果：算法活动模型">
            <a:extLst xmlns:a="http://schemas.openxmlformats.org/drawingml/2006/main">
              <a:ext uri="{FF2B5EF4-FFF2-40B4-BE49-F238E27FC236}">
                <a16:creationId xmlns:a16="http://schemas.microsoft.com/office/drawing/2014/main" id="{8817B75F-BDE0-4E75-94B6-31DF07B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方法：把数学步骤转化为控制流程；成果：算法活动模型</a:t>
            </a:r>
          </a:p>
        </p:txBody>
      </p:sp>
      <p:sp>
        <p:nvSpPr>
          <p:cNvPr id="3" name="12  /  易行 LP">
            <a:extLst xmlns:a="http://schemas.openxmlformats.org/drawingml/2006/main">
              <a:ext uri="{FF2B5EF4-FFF2-40B4-BE49-F238E27FC236}">
                <a16:creationId xmlns:a16="http://schemas.microsoft.com/office/drawing/2014/main" id="{33C2CBA0-5F46-416C-917F-E832BE2A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12  /  易行 LP</a:t>
            </a:r>
          </a:p>
        </p:txBody>
      </p:sp>
      <p:sp>
        <p:nvSpPr>
          <p:cNvPr id="4" name="校验与标准化">
            <a:extLst xmlns:a="http://schemas.openxmlformats.org/drawingml/2006/main">
              <a:ext uri="{FF2B5EF4-FFF2-40B4-BE49-F238E27FC236}">
                <a16:creationId xmlns:a16="http://schemas.microsoft.com/office/drawing/2014/main" id="{DE38428B-8AA8-433C-BE68-CA95450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校验与标准化</a:t>
            </a:r>
          </a:p>
        </p:txBody>
      </p:sp>
      <p:sp>
        <p:nvSpPr>
          <p:cNvPr id="5" name="建立单纯形表">
            <a:extLst xmlns:a="http://schemas.openxmlformats.org/drawingml/2006/main">
              <a:ext uri="{FF2B5EF4-FFF2-40B4-BE49-F238E27FC236}">
                <a16:creationId xmlns:a16="http://schemas.microsoft.com/office/drawing/2014/main" id="{03B6ABC9-FBD4-4FE0-8087-86FD07A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建立单纯形表</a:t>
            </a:r>
          </a:p>
        </p:txBody>
      </p:sp>
      <p:sp>
        <p:nvSpPr>
          <p:cNvPr id="6" name="阶段一：寻找可行基&#10;已有可行基则跳过">
            <a:extLst xmlns:a="http://schemas.openxmlformats.org/drawingml/2006/main">
              <a:ext uri="{FF2B5EF4-FFF2-40B4-BE49-F238E27FC236}">
                <a16:creationId xmlns:a16="http://schemas.microsoft.com/office/drawing/2014/main" id="{B1E0C219-43CE-4948-82AC-9CCCA4A4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阶段一：寻找可行基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已有可行基则跳过</a:t>
            </a:r>
          </a:p>
        </p:txBody>
      </p:sp>
      <p:sp>
        <p:nvSpPr>
          <p:cNvPr id="7" name="换基并记录表格&#10;返回入基选择继续判断">
            <a:extLst xmlns:a="http://schemas.openxmlformats.org/drawingml/2006/main">
              <a:ext uri="{FF2B5EF4-FFF2-40B4-BE49-F238E27FC236}">
                <a16:creationId xmlns:a16="http://schemas.microsoft.com/office/drawing/2014/main" id="{BC808C8C-1257-4093-95BD-EEFD31A5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换基并记录表格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返回入基选择继续判断</a:t>
            </a:r>
          </a:p>
        </p:txBody>
      </p:sp>
      <p:sp>
        <p:nvSpPr>
          <p:cNvPr id="8" name="最小比值选出基变量&#10;无正系数则目标无界">
            <a:extLst xmlns:a="http://schemas.openxmlformats.org/drawingml/2006/main">
              <a:ext uri="{FF2B5EF4-FFF2-40B4-BE49-F238E27FC236}">
                <a16:creationId xmlns:a16="http://schemas.microsoft.com/office/drawing/2014/main" id="{30EB03B0-F9FA-46B9-A4F9-79801C18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最小比值选出基变量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无正系数则目标无界</a:t>
            </a:r>
          </a:p>
        </p:txBody>
      </p:sp>
      <p:sp>
        <p:nvSpPr>
          <p:cNvPr id="9" name="阶段二：选择入基变量&#10;无改善变量则最优">
            <a:extLst xmlns:a="http://schemas.openxmlformats.org/drawingml/2006/main">
              <a:ext uri="{FF2B5EF4-FFF2-40B4-BE49-F238E27FC236}">
                <a16:creationId xmlns:a16="http://schemas.microsoft.com/office/drawing/2014/main" id="{3F299F92-B379-4BC8-BE15-35A80B4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阶段二：选择入基变量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无改善变量则最优</a:t>
            </a:r>
          </a:p>
        </p:txBody>
      </p:sp>
      <p:sp>
        <p:nvSpPr>
          <p:cNvPr id="16" name="阶段一结束辅助目标仍非零：无可行解。换基达到 2000 次：返回">
            <a:extLst xmlns:a="http://schemas.openxmlformats.org/drawingml/2006/main">
              <a:ext uri="{FF2B5EF4-FFF2-40B4-BE49-F238E27FC236}">
                <a16:creationId xmlns:a16="http://schemas.microsoft.com/office/drawing/2014/main" id="{91C33FD9-EEBB-407A-A11C-4B183430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阶段一结束辅助目标仍非零：无可行解。换基达到 2000 次：返回“迭代上限”。</a:t>
            </a:r>
          </a:p>
        </p:txBody>
      </p:sp>
      <p:sp>
        <p:nvSpPr>
          <p:cNvPr id="17" name="实现按阶段二“选入基 → 选出基 → 换基 → 再判断”的循环执">
            <a:extLst xmlns:a="http://schemas.openxmlformats.org/drawingml/2006/main">
              <a:ext uri="{FF2B5EF4-FFF2-40B4-BE49-F238E27FC236}">
                <a16:creationId xmlns:a16="http://schemas.microsoft.com/office/drawing/2014/main" id="{73DF0A0D-E023-4BE5-8CD1-BEAAE779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实现按阶段二“选入基 → 选出基 → 换基 → 再判断”的循环执行。</a:t>
            </a:r>
          </a:p>
        </p:txBody>
      </p:sp>
    </p:spTree>
    <p:extLst>
      <p:ext uri="{BB962C8B-B14F-4D97-AF65-F5344CB8AC3E}">
        <p14:creationId xmlns:p14="http://schemas.microsoft.com/office/powerpoint/2010/main" val="1902010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计算练习：Tanner 的两次换基">
            <a:extLst xmlns:a="http://schemas.openxmlformats.org/drawingml/2006/main">
              <a:ext uri="{FF2B5EF4-FFF2-40B4-BE49-F238E27FC236}">
                <a16:creationId xmlns:a16="http://schemas.microsoft.com/office/drawing/2014/main" id="{7311D4B7-C1AD-49CA-851D-3ED0C63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计算练习：Tanner 的两次换基</a:t>
            </a:r>
          </a:p>
        </p:txBody>
      </p:sp>
      <p:sp>
        <p:nvSpPr>
          <p:cNvPr id="2" name="成果：把表格运算与具体的业务结果联系起来">
            <a:extLst xmlns:a="http://schemas.openxmlformats.org/drawingml/2006/main">
              <a:ext uri="{FF2B5EF4-FFF2-40B4-BE49-F238E27FC236}">
                <a16:creationId xmlns:a16="http://schemas.microsoft.com/office/drawing/2014/main" id="{279BA1F6-85B0-4110-B6DB-FE471902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成果：把表格运算与具体的业务结果联系起来</a:t>
            </a:r>
          </a:p>
        </p:txBody>
      </p:sp>
      <p:sp>
        <p:nvSpPr>
          <p:cNvPr id="3" name="13  /  易行 LP">
            <a:extLst xmlns:a="http://schemas.openxmlformats.org/drawingml/2006/main">
              <a:ext uri="{FF2B5EF4-FFF2-40B4-BE49-F238E27FC236}">
                <a16:creationId xmlns:a16="http://schemas.microsoft.com/office/drawing/2014/main" id="{C12DD32C-2114-4A6C-AFC3-B0AF595F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716D4-DDAA-434C-9926-23EFA5852528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586740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 /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结果与原因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初始可行解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基为 s1、s2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x1=x2=0，z=0；资源尚未使用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第1次换基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 入基，s2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最小比值1000；x1=1000，z=3000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第2次换基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x2 入基，s1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剩余A约束限制 x2=1000；同时 x1 增至2000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最优检查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没有可改善目标的非基变量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z=3×2000−2.5×1000=3500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Bland 规则：按编号选择可改善变量；最小比值相同时按基变量编">
            <a:extLst xmlns:a="http://schemas.openxmlformats.org/drawingml/2006/main">
              <a:ext uri="{FF2B5EF4-FFF2-40B4-BE49-F238E27FC236}">
                <a16:creationId xmlns:a16="http://schemas.microsoft.com/office/drawing/2014/main" id="{0555D6AE-E53C-4A3B-9B7D-512F272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Bland 规则：按编号选择可改善变量；最小比值相同时按基变量编号选择。</a:t>
            </a:r>
          </a:p>
        </p:txBody>
      </p:sp>
    </p:spTree>
    <p:extLst>
      <p:ext uri="{BB962C8B-B14F-4D97-AF65-F5344CB8AC3E}">
        <p14:creationId xmlns:p14="http://schemas.microsoft.com/office/powerpoint/2010/main" val="4065317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6、Q7：部署方式与业务范围">
            <a:extLst xmlns:a="http://schemas.openxmlformats.org/drawingml/2006/main">
              <a:ext uri="{FF2B5EF4-FFF2-40B4-BE49-F238E27FC236}">
                <a16:creationId xmlns:a16="http://schemas.microsoft.com/office/drawing/2014/main" id="{EA5C71C6-25C1-4582-AA46-34BF8989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Q6、Q7：部署方式与业务范围</a:t>
            </a:r>
          </a:p>
        </p:txBody>
      </p:sp>
      <p:sp>
        <p:nvSpPr>
          <p:cNvPr id="2" name="成果：写清当前部署选择及其假设，保留扩展边界">
            <a:extLst xmlns:a="http://schemas.openxmlformats.org/drawingml/2006/main">
              <a:ext uri="{FF2B5EF4-FFF2-40B4-BE49-F238E27FC236}">
                <a16:creationId xmlns:a16="http://schemas.microsoft.com/office/drawing/2014/main" id="{8535257C-22CD-43E8-874D-D544CE54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成果：写清当前部署选择及其假设，保留扩展边界</a:t>
            </a:r>
          </a:p>
        </p:txBody>
      </p:sp>
      <p:sp>
        <p:nvSpPr>
          <p:cNvPr id="3" name="14  /  易行 LP">
            <a:extLst xmlns:a="http://schemas.openxmlformats.org/drawingml/2006/main">
              <a:ext uri="{FF2B5EF4-FFF2-40B4-BE49-F238E27FC236}">
                <a16:creationId xmlns:a16="http://schemas.microsoft.com/office/drawing/2014/main" id="{8D7699FC-D315-4C16-8D51-62A24484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B1977-F2B4-454A-A31F-89BC681A7469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3962400"/>
              </a:tblGrid>
              <a:tr h="876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我的当前选择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 / 后续影响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Q6 基础设施如何部署？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单机浏览器运行，本地文件导入导出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若要求多人共享，再增加服务端、权限和存储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Q7 是否只做一种业务？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目前只支持连续线性规划；算法与界面解耦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如需其他运筹业务，新增模型与求解服务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为什么这样选择？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现有故事只有两位咨询人员，课程先验证核心流程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该选择是设计假设，不是访谈结论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部署成果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 HTML / CSS / JS，无账号、无后端依赖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不宣称已部署公网服务或实现多人协作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281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系统陈述与用户使用故事">
            <a:extLst xmlns:a="http://schemas.openxmlformats.org/drawingml/2006/main">
              <a:ext uri="{FF2B5EF4-FFF2-40B4-BE49-F238E27FC236}">
                <a16:creationId xmlns:a16="http://schemas.microsoft.com/office/drawing/2014/main" id="{FAB2A551-6AD2-417C-9C8F-39DB4F8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系统陈述与用户使用故事</a:t>
            </a:r>
          </a:p>
        </p:txBody>
      </p:sp>
      <p:sp>
        <p:nvSpPr>
          <p:cNvPr id="2" name="成果：把软件目标、用户情境和成功条件写成需求">
            <a:extLst xmlns:a="http://schemas.openxmlformats.org/drawingml/2006/main">
              <a:ext uri="{FF2B5EF4-FFF2-40B4-BE49-F238E27FC236}">
                <a16:creationId xmlns:a16="http://schemas.microsoft.com/office/drawing/2014/main" id="{CFA9D7BF-A945-40F9-A91A-54CCE06B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成果：把软件目标、用户情境和成功条件写成需求</a:t>
            </a:r>
          </a:p>
        </p:txBody>
      </p:sp>
      <p:sp>
        <p:nvSpPr>
          <p:cNvPr id="3" name="15  /  易行 LP">
            <a:extLst xmlns:a="http://schemas.openxmlformats.org/drawingml/2006/main">
              <a:ext uri="{FF2B5EF4-FFF2-40B4-BE49-F238E27FC236}">
                <a16:creationId xmlns:a16="http://schemas.microsoft.com/office/drawing/2014/main" id="{7FB92494-0880-43F6-BC46-6B9C52E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15  /  易行 LP</a:t>
            </a:r>
          </a:p>
        </p:txBody>
      </p:sp>
      <p:sp>
        <p:nvSpPr>
          <p:cNvPr id="4" name="系统陈述">
            <a:extLst xmlns:a="http://schemas.openxmlformats.org/drawingml/2006/main">
              <a:ext uri="{FF2B5EF4-FFF2-40B4-BE49-F238E27FC236}">
                <a16:creationId xmlns:a16="http://schemas.microsoft.com/office/drawing/2014/main" id="{5F61A28C-8B22-44C8-A27E-7980D8E0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系统陈述</a:t>
            </a:r>
          </a:p>
        </p:txBody>
      </p:sp>
      <p:sp>
        <p:nvSpPr>
          <p:cNvPr id="5" name="我设计的易行 LP 面向运筹咨询研究人员，辅助将已理解的业务问题">
            <a:extLst xmlns:a="http://schemas.openxmlformats.org/drawingml/2006/main">
              <a:ext uri="{FF2B5EF4-FFF2-40B4-BE49-F238E27FC236}">
                <a16:creationId xmlns:a16="http://schemas.microsoft.com/office/drawing/2014/main" id="{8C10A235-FB74-4FEA-B6E0-98A03B06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我设计的易行 LP 面向运筹咨询研究人员，辅助将已理解的业务问题转成非负连续线性规划模型，完成求解、模型复核与规划方案输出。</a:t>
            </a:r>
          </a:p>
        </p:txBody>
      </p:sp>
      <p:sp>
        <p:nvSpPr>
          <p:cNvPr id="6" name="使用故事 1：初次规划">
            <a:extLst xmlns:a="http://schemas.openxmlformats.org/drawingml/2006/main">
              <a:ext uri="{FF2B5EF4-FFF2-40B4-BE49-F238E27FC236}">
                <a16:creationId xmlns:a16="http://schemas.microsoft.com/office/drawing/2014/main" id="{67613E35-28E7-43FA-B705-912F86B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1：初次规划</a:t>
            </a:r>
          </a:p>
        </p:txBody>
      </p:sp>
      <p:sp>
        <p:nvSpPr>
          <p:cNvPr id="7" name="老张录入 Tanner 问题与资源数据，借助活动—资源表生成模型">
            <a:extLst xmlns:a="http://schemas.openxmlformats.org/drawingml/2006/main">
              <a:ext uri="{FF2B5EF4-FFF2-40B4-BE49-F238E27FC236}">
                <a16:creationId xmlns:a16="http://schemas.microsoft.com/office/drawing/2014/main" id="{235B9D6B-B6F1-4F70-B2A4-8944CB3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老张录入 Tanner 问题与资源数据，借助活动—资源表生成模型；小明核对公式后发起计算，得到带业务名称的规划方案。</a:t>
            </a:r>
          </a:p>
        </p:txBody>
      </p:sp>
      <p:sp>
        <p:nvSpPr>
          <p:cNvPr id="8" name="使用故事 2：审核后修订">
            <a:extLst xmlns:a="http://schemas.openxmlformats.org/drawingml/2006/main">
              <a:ext uri="{FF2B5EF4-FFF2-40B4-BE49-F238E27FC236}">
                <a16:creationId xmlns:a16="http://schemas.microsoft.com/office/drawing/2014/main" id="{0A4A5062-967C-4C03-B7F4-6F11E5B9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2：审核后修订</a:t>
            </a:r>
          </a:p>
        </p:txBody>
      </p:sp>
      <p:sp>
        <p:nvSpPr>
          <p:cNvPr id="9" name="老张发现漏掉销量上限后补充约束，软件使旧模型失效；重新建模和计算">
            <a:extLst xmlns:a="http://schemas.openxmlformats.org/drawingml/2006/main">
              <a:ext uri="{FF2B5EF4-FFF2-40B4-BE49-F238E27FC236}">
                <a16:creationId xmlns:a16="http://schemas.microsoft.com/office/drawing/2014/main" id="{A7903062-38C8-438E-9DB2-47D74EE5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老张发现漏掉销量上限后补充约束，软件使旧模型失效；重新建模和计算后，研究人员检查新方案是否符合这些限制。</a:t>
            </a:r>
          </a:p>
        </p:txBody>
      </p:sp>
    </p:spTree>
    <p:extLst>
      <p:ext uri="{BB962C8B-B14F-4D97-AF65-F5344CB8AC3E}">
        <p14:creationId xmlns:p14="http://schemas.microsoft.com/office/powerpoint/2010/main" val="17700129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功能性需求基线">
            <a:extLst xmlns:a="http://schemas.openxmlformats.org/drawingml/2006/main">
              <a:ext uri="{FF2B5EF4-FFF2-40B4-BE49-F238E27FC236}">
                <a16:creationId xmlns:a16="http://schemas.microsoft.com/office/drawing/2014/main" id="{111BAB38-FA27-4697-B41A-B88472F9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功能性需求基线</a:t>
            </a:r>
          </a:p>
        </p:txBody>
      </p:sp>
      <p:sp>
        <p:nvSpPr>
          <p:cNvPr id="2" name="成果：把材料和设计选择编号，便于追踪">
            <a:extLst xmlns:a="http://schemas.openxmlformats.org/drawingml/2006/main">
              <a:ext uri="{FF2B5EF4-FFF2-40B4-BE49-F238E27FC236}">
                <a16:creationId xmlns:a16="http://schemas.microsoft.com/office/drawing/2014/main" id="{0433B4B4-66C8-462F-81AA-7D3BF11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成果：把材料和设计选择编号，便于追踪</a:t>
            </a:r>
          </a:p>
        </p:txBody>
      </p:sp>
      <p:sp>
        <p:nvSpPr>
          <p:cNvPr id="3" name="16  /  易行 LP">
            <a:extLst xmlns:a="http://schemas.openxmlformats.org/drawingml/2006/main">
              <a:ext uri="{FF2B5EF4-FFF2-40B4-BE49-F238E27FC236}">
                <a16:creationId xmlns:a16="http://schemas.microsoft.com/office/drawing/2014/main" id="{AA2F153C-E654-40FC-9A7A-65F8642F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FBB9F-D101-4C63-9FB9-6CCE63A9E08B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7143750"/>
                <a:gridCol w="2628900"/>
              </a:tblGrid>
              <a:tr h="64225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功能与验收条件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 TXT 问题陈述，允许继续编辑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原型“导入”；格式为我的假设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编辑目标、活动、资源、系数和关系；增删时矩阵维数一致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教师原型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点击建模生成公式；非法输入给出提示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原型建模；校验为设计细化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点击计算显示目标值、变量值和资源余量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修改输入后必须重新建模才能计算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故事反复建模；设计细化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查看迭代记录、导入导出完整项目与计算记录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可检查性与复用扩展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514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非功能性需求与可用性">
            <a:extLst xmlns:a="http://schemas.openxmlformats.org/drawingml/2006/main">
              <a:ext uri="{FF2B5EF4-FFF2-40B4-BE49-F238E27FC236}">
                <a16:creationId xmlns:a16="http://schemas.microsoft.com/office/drawing/2014/main" id="{18B5A944-467F-4A62-89FC-1E4164B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非功能性需求与可用性</a:t>
            </a:r>
          </a:p>
        </p:txBody>
      </p:sp>
      <p:sp>
        <p:nvSpPr>
          <p:cNvPr id="2" name="成果：提出可检查的质量要求；数值门槛属于我的设计假设">
            <a:extLst xmlns:a="http://schemas.openxmlformats.org/drawingml/2006/main">
              <a:ext uri="{FF2B5EF4-FFF2-40B4-BE49-F238E27FC236}">
                <a16:creationId xmlns:a16="http://schemas.microsoft.com/office/drawing/2014/main" id="{9F6CBFDA-8BAC-4533-9061-B063E132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成果：提出可检查的质量要求；数值门槛属于我的设计假设</a:t>
            </a:r>
          </a:p>
        </p:txBody>
      </p:sp>
      <p:sp>
        <p:nvSpPr>
          <p:cNvPr id="3" name="17  /  易行 LP">
            <a:extLst xmlns:a="http://schemas.openxmlformats.org/drawingml/2006/main">
              <a:ext uri="{FF2B5EF4-FFF2-40B4-BE49-F238E27FC236}">
                <a16:creationId xmlns:a16="http://schemas.microsoft.com/office/drawing/2014/main" id="{0DF02F99-9532-49AE-AF9D-09026B93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94C46-5D04-4198-AB4A-00D49EFAF1A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857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验证方法 / 当前边界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N01 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输出与原模型一起保存；最优结果代回约束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检查计算记录与约束余量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N02 易用性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变量使用业务名称；错误能定位；900px宽度可操作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浏览器检查关键流程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N03 可移植性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静态文件本地运行，不依赖账号与外部接口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离线文件包与浏览器启动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N04 有界运行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1～20变量，1～40原始约束；最多2000次换基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尺寸与迭代上限校验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N05 数值处理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有限数输入，绝对值≤10⁹；EPS=10⁻⁹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边界校验、结果容差检查；不保证病态模型精度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7065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D2A52-72AD-463F-949A-3F3E632753B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876550" y="3571875"/>
            <a:ext cx="1504950" cy="11668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8FB06-423A-41A5-B880-91E46F785DC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876550" y="3571875"/>
            <a:ext cx="15049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19102-AE39-4737-89EA-82B13A02533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876550" y="2833688"/>
            <a:ext cx="150495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14" name="第 3 步：软件分析">
            <a:extLst xmlns:a="http://schemas.openxmlformats.org/drawingml/2006/main">
              <a:ext uri="{FF2B5EF4-FFF2-40B4-BE49-F238E27FC236}">
                <a16:creationId xmlns:a16="http://schemas.microsoft.com/office/drawing/2014/main" id="{97A0C307-85F9-4A70-A8B2-351ABB18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3 步：软件分析</a:t>
            </a:r>
          </a:p>
        </p:txBody>
      </p:sp>
      <p:sp>
        <p:nvSpPr>
          <p:cNvPr id="2" name="方法：从用户目标识别用例；成果：系统用例视图">
            <a:extLst xmlns:a="http://schemas.openxmlformats.org/drawingml/2006/main">
              <a:ext uri="{FF2B5EF4-FFF2-40B4-BE49-F238E27FC236}">
                <a16:creationId xmlns:a16="http://schemas.microsoft.com/office/drawing/2014/main" id="{71D0E9F7-A573-4E9A-9762-E8D0DFC7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方法：从用户目标识别用例；成果：系统用例视图</a:t>
            </a:r>
          </a:p>
        </p:txBody>
      </p:sp>
      <p:sp>
        <p:nvSpPr>
          <p:cNvPr id="3" name="18  /  易行 LP">
            <a:extLst xmlns:a="http://schemas.openxmlformats.org/drawingml/2006/main">
              <a:ext uri="{FF2B5EF4-FFF2-40B4-BE49-F238E27FC236}">
                <a16:creationId xmlns:a16="http://schemas.microsoft.com/office/drawing/2014/main" id="{2A8628F5-707D-4E5C-B64E-3EE02B3D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18  /  易行 LP</a:t>
            </a:r>
          </a:p>
        </p:txBody>
      </p:sp>
      <p:sp>
        <p:nvSpPr>
          <p:cNvPr id="4" name="老张 / 小明&#10;运筹学研究人员">
            <a:extLst xmlns:a="http://schemas.openxmlformats.org/drawingml/2006/main">
              <a:ext uri="{FF2B5EF4-FFF2-40B4-BE49-F238E27FC236}">
                <a16:creationId xmlns:a16="http://schemas.microsoft.com/office/drawing/2014/main" id="{B085281F-B145-4C8A-AF25-D995A1B5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运筹学研究人员</a:t>
            </a:r>
          </a:p>
        </p:txBody>
      </p:sp>
      <p:sp>
        <p:nvSpPr>
          <p:cNvPr id="5" name="易行LP系统边界">
            <a:extLst xmlns:a="http://schemas.openxmlformats.org/drawingml/2006/main">
              <a:ext uri="{FF2B5EF4-FFF2-40B4-BE49-F238E27FC236}">
                <a16:creationId xmlns:a16="http://schemas.microsoft.com/office/drawing/2014/main" id="{80EA06CC-AC4F-4C92-A162-D19724A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81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BB9"/>
            </a:solidFill>
          </a:ln>
        </p:spPr>
      </p:sp>
      <p:sp>
        <p:nvSpPr>
          <p:cNvPr id="6" name="易行 LP 系统边界">
            <a:extLst xmlns:a="http://schemas.openxmlformats.org/drawingml/2006/main">
              <a:ext uri="{FF2B5EF4-FFF2-40B4-BE49-F238E27FC236}">
                <a16:creationId xmlns:a16="http://schemas.microsoft.com/office/drawing/2014/main" id="{66B6117B-CE1C-41D2-B5C5-6F9A3486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易行 LP 系统边界</a:t>
            </a:r>
          </a:p>
        </p:txBody>
      </p:sp>
      <p:sp>
        <p:nvSpPr>
          <p:cNvPr id="7" name="UC01 维护业务问题与模型">
            <a:extLst xmlns:a="http://schemas.openxmlformats.org/drawingml/2006/main">
              <a:ext uri="{FF2B5EF4-FFF2-40B4-BE49-F238E27FC236}">
                <a16:creationId xmlns:a16="http://schemas.microsoft.com/office/drawing/2014/main" id="{E8507D9A-EE94-4688-A608-66F96CD8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 维护业务问题与模型</a:t>
            </a:r>
          </a:p>
        </p:txBody>
      </p:sp>
      <p:sp>
        <p:nvSpPr>
          <p:cNvPr id="8" name="UC02 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1C2063AA-E10C-440B-9D43-213D316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 求解并查看规划方案</a:t>
            </a:r>
          </a:p>
        </p:txBody>
      </p:sp>
      <p:sp>
        <p:nvSpPr>
          <p:cNvPr id="9" name="UC03 保存与重新载入项目">
            <a:extLst xmlns:a="http://schemas.openxmlformats.org/drawingml/2006/main">
              <a:ext uri="{FF2B5EF4-FFF2-40B4-BE49-F238E27FC236}">
                <a16:creationId xmlns:a16="http://schemas.microsoft.com/office/drawing/2014/main" id="{B2EC73F5-7DCB-45A4-BAAE-BCFE0E8C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UC03 保存与重新载入项目</a:t>
            </a:r>
          </a:p>
        </p:txBody>
      </p:sp>
      <p:sp>
        <p:nvSpPr>
          <p:cNvPr id="13" name="系统外：客户业务数据的真实性、模型假设的批准与最终经营决策。">
            <a:extLst xmlns:a="http://schemas.openxmlformats.org/drawingml/2006/main">
              <a:ext uri="{FF2B5EF4-FFF2-40B4-BE49-F238E27FC236}">
                <a16:creationId xmlns:a16="http://schemas.microsoft.com/office/drawing/2014/main" id="{F55C96C0-B94D-423E-9900-900F63ED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系统外：客户业务数据的真实性、模型假设的批准与最终经营决策。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7246581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1：维护并生成数学模型">
            <a:extLst xmlns:a="http://schemas.openxmlformats.org/drawingml/2006/main">
              <a:ext uri="{FF2B5EF4-FFF2-40B4-BE49-F238E27FC236}">
                <a16:creationId xmlns:a16="http://schemas.microsoft.com/office/drawing/2014/main" id="{B86C9EA9-558B-49DF-98A3-D1431C6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UC01：维护并生成数学模型</a:t>
            </a:r>
          </a:p>
        </p:txBody>
      </p:sp>
      <p:sp>
        <p:nvSpPr>
          <p:cNvPr id="2" name="成果：用正常流程与异常流程明确交互责任">
            <a:extLst xmlns:a="http://schemas.openxmlformats.org/drawingml/2006/main">
              <a:ext uri="{FF2B5EF4-FFF2-40B4-BE49-F238E27FC236}">
                <a16:creationId xmlns:a16="http://schemas.microsoft.com/office/drawing/2014/main" id="{F802711A-D706-42BB-A0CB-F45746A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成果：用正常流程与异常流程明确交互责任</a:t>
            </a:r>
          </a:p>
        </p:txBody>
      </p:sp>
      <p:sp>
        <p:nvSpPr>
          <p:cNvPr id="3" name="19  /  易行 LP">
            <a:extLst xmlns:a="http://schemas.openxmlformats.org/drawingml/2006/main">
              <a:ext uri="{FF2B5EF4-FFF2-40B4-BE49-F238E27FC236}">
                <a16:creationId xmlns:a16="http://schemas.microsoft.com/office/drawing/2014/main" id="{E1941B87-74CD-45E7-9BDE-32085FC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96678-81AA-4913-AE5A-2F14483CDC53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6395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用户已打开工具，准备了问题陈述和相关业务参数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1～2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导入或输入问题陈述；确定目标和活动，填写业务名称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3～4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维护资源、关系和系数；点击“建模”，系统校验维数和数字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系统生成公式；用户核对目标函数、约束和变量含义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非法数字、缺失输入或严格不等式：提示错误，不允许求解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已生成可计算模型；任何编辑均回到“需要重新建模”状态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4250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2：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D66638E0-E5B2-427E-BE24-454E3B4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UC02：求解并查看规划方案</a:t>
            </a:r>
          </a:p>
        </p:txBody>
      </p:sp>
      <p:sp>
        <p:nvSpPr>
          <p:cNvPr id="2" name="成果：把成功、异常和重新计算的行为写清楚">
            <a:extLst xmlns:a="http://schemas.openxmlformats.org/drawingml/2006/main">
              <a:ext uri="{FF2B5EF4-FFF2-40B4-BE49-F238E27FC236}">
                <a16:creationId xmlns:a16="http://schemas.microsoft.com/office/drawing/2014/main" id="{DACAD5AB-44C8-4BC5-B1DA-3B20AA6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成果：把成功、异常和重新计算的行为写清楚</a:t>
            </a:r>
          </a:p>
        </p:txBody>
      </p:sp>
      <p:sp>
        <p:nvSpPr>
          <p:cNvPr id="3" name="20  /  易行 LP">
            <a:extLst xmlns:a="http://schemas.openxmlformats.org/drawingml/2006/main">
              <a:ext uri="{FF2B5EF4-FFF2-40B4-BE49-F238E27FC236}">
                <a16:creationId xmlns:a16="http://schemas.microsoft.com/office/drawing/2014/main" id="{CD3AB725-9941-47DD-9559-53B4BAF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093A1-0579-481F-A69D-331D7F974876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当前输入已经成功建模，尚未被修改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用户点击计算；系统执行两阶段单纯形法，记录每次换基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代回原约束检查后，显示目标值、活动水平与资源余量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其他结果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分别显示无可行解、无界、迭代上限或数值异常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后续动作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查看迭代、导出记录、关闭方案；必要时修改模型后重新建模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1359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教师原型与我的界面理解">
            <a:extLst xmlns:a="http://schemas.openxmlformats.org/drawingml/2006/main">
              <a:ext uri="{FF2B5EF4-FFF2-40B4-BE49-F238E27FC236}">
                <a16:creationId xmlns:a16="http://schemas.microsoft.com/office/drawing/2014/main" id="{95398F1E-079A-4CB7-A984-BBC1862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教师原型与我的界面理解</a:t>
            </a:r>
          </a:p>
        </p:txBody>
      </p:sp>
      <p:sp>
        <p:nvSpPr>
          <p:cNvPr id="2" name="成果：保留问题陈述、建模向导、数学模型和规划方案的逻辑分区">
            <a:extLst xmlns:a="http://schemas.openxmlformats.org/drawingml/2006/main">
              <a:ext uri="{FF2B5EF4-FFF2-40B4-BE49-F238E27FC236}">
                <a16:creationId xmlns:a16="http://schemas.microsoft.com/office/drawing/2014/main" id="{52E24243-5ED1-43FB-8997-43E47C1E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成果：保留问题陈述、建模向导、数学模型和规划方案的逻辑分区</a:t>
            </a:r>
          </a:p>
        </p:txBody>
      </p:sp>
      <p:sp>
        <p:nvSpPr>
          <p:cNvPr id="3" name="21  /  易行 LP">
            <a:extLst xmlns:a="http://schemas.openxmlformats.org/drawingml/2006/main">
              <a:ext uri="{FF2B5EF4-FFF2-40B4-BE49-F238E27FC236}">
                <a16:creationId xmlns:a16="http://schemas.microsoft.com/office/drawing/2014/main" id="{ED0DCD02-83C1-450B-A422-EF41D8E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21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1FFF3-6021-4234-B5B5-1BD121391F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b740cdd2040ee"/>
          <a:stretch xmlns:a="http://schemas.openxmlformats.org/drawingml/2006/main"/>
        </p:blipFill>
        <p:spPr>
          <a:xfrm xmlns:a="http://schemas.openxmlformats.org/drawingml/2006/main">
            <a:off x="2177390" y="1695450"/>
            <a:ext cx="78372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208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界面成果：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99E3E8F7-A0E1-4480-94A5-D1C7975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界面成果：辅助建模工作区</a:t>
            </a:r>
          </a:p>
        </p:txBody>
      </p:sp>
      <p:sp>
        <p:nvSpPr>
          <p:cNvPr id="2" name="成果：结构化表格生成模型，保留业务名称和审核记录">
            <a:extLst xmlns:a="http://schemas.openxmlformats.org/drawingml/2006/main">
              <a:ext uri="{FF2B5EF4-FFF2-40B4-BE49-F238E27FC236}">
                <a16:creationId xmlns:a16="http://schemas.microsoft.com/office/drawing/2014/main" id="{0167C88C-43B0-4297-906D-54EA1199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成果：结构化表格生成模型，保留业务名称和审核记录</a:t>
            </a:r>
          </a:p>
        </p:txBody>
      </p:sp>
      <p:sp>
        <p:nvSpPr>
          <p:cNvPr id="3" name="22  /  易行 LP">
            <a:extLst xmlns:a="http://schemas.openxmlformats.org/drawingml/2006/main">
              <a:ext uri="{FF2B5EF4-FFF2-40B4-BE49-F238E27FC236}">
                <a16:creationId xmlns:a16="http://schemas.microsoft.com/office/drawing/2014/main" id="{2A75E87E-1480-48E4-9FC8-28EB6905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22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4D085-F921-4D20-8258-9D989359F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e85d6a88146db"/>
          <a:stretch xmlns:a="http://schemas.openxmlformats.org/drawingml/2006/main"/>
        </p:blipFill>
        <p:spPr>
          <a:xfrm xmlns:a="http://schemas.openxmlformats.org/drawingml/2006/main">
            <a:off x="4386385" y="1714500"/>
            <a:ext cx="6657731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BFB2D420-A525-4C64-91C5-E258CC3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辅助建模工作区</a:t>
            </a:r>
          </a:p>
        </p:txBody>
      </p:sp>
      <p:sp>
        <p:nvSpPr>
          <p:cNvPr id="6" name="选择目标方向&#10;&#10;维护活动与业务名称&#10;&#10;编辑资源、关系与系数&#10;&#10;点">
            <a:extLst xmlns:a="http://schemas.openxmlformats.org/drawingml/2006/main">
              <a:ext uri="{FF2B5EF4-FFF2-40B4-BE49-F238E27FC236}">
                <a16:creationId xmlns:a16="http://schemas.microsoft.com/office/drawing/2014/main" id="{2CF00041-0CF3-4EEA-B62B-DB850343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000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选择目标方向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维护活动与业务名称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编辑资源、关系与系数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点击建模生成公式</a:t>
            </a:r>
          </a:p>
        </p:txBody>
      </p:sp>
    </p:spTree>
    <p:extLst>
      <p:ext uri="{BB962C8B-B14F-4D97-AF65-F5344CB8AC3E}">
        <p14:creationId xmlns:p14="http://schemas.microsoft.com/office/powerpoint/2010/main" val="9274613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40FF5-F358-4C57-8B47-125C6F22FD9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48375" y="2952750"/>
            <a:ext cx="3810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8B9A6-F452-4A2F-9074-E678015AAFD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62375" y="466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A9969-F523-4699-B6E1-AC91BE61AA9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238375" y="2952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A4F7F-C0D7-485B-A0FC-E432C9DB5C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7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AFC3D-4207-43F4-9870-B00677958C4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6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22" name="分析模型：领域对象与关系">
            <a:extLst xmlns:a="http://schemas.openxmlformats.org/drawingml/2006/main">
              <a:ext uri="{FF2B5EF4-FFF2-40B4-BE49-F238E27FC236}">
                <a16:creationId xmlns:a16="http://schemas.microsoft.com/office/drawing/2014/main" id="{9C1300FC-D1AE-4446-87E8-7DFED52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分析模型：领域对象与关系</a:t>
            </a:r>
          </a:p>
        </p:txBody>
      </p:sp>
      <p:sp>
        <p:nvSpPr>
          <p:cNvPr id="2" name="成果：用归属关系和多重性表达业务概念">
            <a:extLst xmlns:a="http://schemas.openxmlformats.org/drawingml/2006/main">
              <a:ext uri="{FF2B5EF4-FFF2-40B4-BE49-F238E27FC236}">
                <a16:creationId xmlns:a16="http://schemas.microsoft.com/office/drawing/2014/main" id="{65B9948F-E40C-4AB4-987C-F5D7D9D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成果：用归属关系和多重性表达业务概念</a:t>
            </a:r>
          </a:p>
        </p:txBody>
      </p:sp>
      <p:sp>
        <p:nvSpPr>
          <p:cNvPr id="3" name="23  /  易行 LP">
            <a:extLst xmlns:a="http://schemas.openxmlformats.org/drawingml/2006/main">
              <a:ext uri="{FF2B5EF4-FFF2-40B4-BE49-F238E27FC236}">
                <a16:creationId xmlns:a16="http://schemas.microsoft.com/office/drawing/2014/main" id="{3F36B57B-A626-4938-9C88-F24733A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23  /  易行 LP</a:t>
            </a:r>
          </a:p>
        </p:txBody>
      </p:sp>
      <p:sp>
        <p:nvSpPr>
          <p:cNvPr id="4" name="问题项目&#10;陈述、假设、业务名称">
            <a:extLst xmlns:a="http://schemas.openxmlformats.org/drawingml/2006/main">
              <a:ext uri="{FF2B5EF4-FFF2-40B4-BE49-F238E27FC236}">
                <a16:creationId xmlns:a16="http://schemas.microsoft.com/office/drawing/2014/main" id="{46AF3DCE-4F11-4921-A690-2FAA931D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问题项目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陈述、假设、业务名称</a:t>
            </a:r>
          </a:p>
        </p:txBody>
      </p:sp>
      <p:sp>
        <p:nvSpPr>
          <p:cNvPr id="5" name="线性规划模型&#10;目标方向、目标系数">
            <a:extLst xmlns:a="http://schemas.openxmlformats.org/drawingml/2006/main">
              <a:ext uri="{FF2B5EF4-FFF2-40B4-BE49-F238E27FC236}">
                <a16:creationId xmlns:a16="http://schemas.microsoft.com/office/drawing/2014/main" id="{11D17E62-DF0B-4AC7-BF91-E9D8003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线性规划模型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目标方向、目标系数</a:t>
            </a:r>
          </a:p>
        </p:txBody>
      </p:sp>
      <p:sp>
        <p:nvSpPr>
          <p:cNvPr id="6" name="竞争性活动&#10;名称、非负活动水平">
            <a:extLst xmlns:a="http://schemas.openxmlformats.org/drawingml/2006/main">
              <a:ext uri="{FF2B5EF4-FFF2-40B4-BE49-F238E27FC236}">
                <a16:creationId xmlns:a16="http://schemas.microsoft.com/office/drawing/2014/main" id="{5F77D9DB-28B0-4A5D-A923-080D045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名称、非负活动水平</a:t>
            </a:r>
          </a:p>
        </p:txBody>
      </p:sp>
      <p:sp>
        <p:nvSpPr>
          <p:cNvPr id="7" name="当前计算结果&#10;状态、目标值、活动值">
            <a:extLst xmlns:a="http://schemas.openxmlformats.org/drawingml/2006/main">
              <a:ext uri="{FF2B5EF4-FFF2-40B4-BE49-F238E27FC236}">
                <a16:creationId xmlns:a16="http://schemas.microsoft.com/office/drawing/2014/main" id="{9E4CBFD0-2DA8-4ED6-91F1-F09F2EDA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当前计算结果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状态、目标值、活动值</a:t>
            </a:r>
          </a:p>
        </p:txBody>
      </p:sp>
      <p:sp>
        <p:nvSpPr>
          <p:cNvPr id="8" name="迭代记录&#10;阶段、基变量、表格">
            <a:extLst xmlns:a="http://schemas.openxmlformats.org/drawingml/2006/main">
              <a:ext uri="{FF2B5EF4-FFF2-40B4-BE49-F238E27FC236}">
                <a16:creationId xmlns:a16="http://schemas.microsoft.com/office/drawing/2014/main" id="{838214EA-090C-4688-8334-F2FDA9CE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迭代记录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阶段、基变量、表格</a:t>
            </a:r>
          </a:p>
        </p:txBody>
      </p:sp>
      <p:sp>
        <p:nvSpPr>
          <p:cNvPr id="9" name="约束&#10;系数、关系、右端值">
            <a:extLst xmlns:a="http://schemas.openxmlformats.org/drawingml/2006/main">
              <a:ext uri="{FF2B5EF4-FFF2-40B4-BE49-F238E27FC236}">
                <a16:creationId xmlns:a16="http://schemas.microsoft.com/office/drawing/2014/main" id="{C61556AF-444C-4898-B03F-E6ECEC53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约束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系数、关系、右端值</a:t>
            </a:r>
          </a:p>
        </p:txBody>
      </p:sp>
      <p:sp>
        <p:nvSpPr>
          <p:cNvPr id="15" name="1 : 1">
            <a:extLst xmlns:a="http://schemas.openxmlformats.org/drawingml/2006/main">
              <a:ext uri="{FF2B5EF4-FFF2-40B4-BE49-F238E27FC236}">
                <a16:creationId xmlns:a16="http://schemas.microsoft.com/office/drawing/2014/main" id="{A9205E3C-703B-402A-B635-38B0B1C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16" name="1 : 1..20">
            <a:extLst xmlns:a="http://schemas.openxmlformats.org/drawingml/2006/main">
              <a:ext uri="{FF2B5EF4-FFF2-40B4-BE49-F238E27FC236}">
                <a16:creationId xmlns:a16="http://schemas.microsoft.com/office/drawing/2014/main" id="{75EF2E55-D0E8-4CCF-9372-ACDF95D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24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1..20</a:t>
            </a:r>
          </a:p>
        </p:txBody>
      </p:sp>
      <p:sp>
        <p:nvSpPr>
          <p:cNvPr id="17" name="1 : 0..1">
            <a:extLst xmlns:a="http://schemas.openxmlformats.org/drawingml/2006/main">
              <a:ext uri="{FF2B5EF4-FFF2-40B4-BE49-F238E27FC236}">
                <a16:creationId xmlns:a16="http://schemas.microsoft.com/office/drawing/2014/main" id="{994934E0-3A14-45EE-A06F-E0EA75E3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81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0..1</a:t>
            </a:r>
          </a:p>
        </p:txBody>
      </p:sp>
      <p:sp>
        <p:nvSpPr>
          <p:cNvPr id="18" name="1 : 1..*">
            <a:extLst xmlns:a="http://schemas.openxmlformats.org/drawingml/2006/main">
              <a:ext uri="{FF2B5EF4-FFF2-40B4-BE49-F238E27FC236}">
                <a16:creationId xmlns:a16="http://schemas.microsoft.com/office/drawing/2014/main" id="{1CD9786D-E6F0-457B-89EA-2C4E6102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957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1..*</a:t>
            </a:r>
          </a:p>
        </p:txBody>
      </p:sp>
      <p:sp>
        <p:nvSpPr>
          <p:cNvPr id="19" name="1 : 1..40">
            <a:extLst xmlns:a="http://schemas.openxmlformats.org/drawingml/2006/main">
              <a:ext uri="{FF2B5EF4-FFF2-40B4-BE49-F238E27FC236}">
                <a16:creationId xmlns:a16="http://schemas.microsoft.com/office/drawing/2014/main" id="{83ACA7CB-B215-483B-9062-957F075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1..40</a:t>
            </a:r>
          </a:p>
        </p:txBody>
      </p:sp>
      <p:sp>
        <p:nvSpPr>
          <p:cNvPr id="20" name="不变式：目标系数数量 = 活动数量；每条约束的系数向量长度 = ">
            <a:extLst xmlns:a="http://schemas.openxmlformats.org/drawingml/2006/main">
              <a:ext uri="{FF2B5EF4-FFF2-40B4-BE49-F238E27FC236}">
                <a16:creationId xmlns:a16="http://schemas.microsoft.com/office/drawing/2014/main" id="{4F96BB09-25CE-456A-B5B7-E1908642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不变式：目标系数数量 = 活动数量；每条约束的系数向量长度 = 活动数量。</a:t>
            </a:r>
          </a:p>
        </p:txBody>
      </p:sp>
      <p:sp>
        <p:nvSpPr>
          <p:cNvPr id="21" name="计算记录保存原项目快照，保证结果可以追溯到当时的输入与假设。">
            <a:extLst xmlns:a="http://schemas.openxmlformats.org/drawingml/2006/main">
              <a:ext uri="{FF2B5EF4-FFF2-40B4-BE49-F238E27FC236}">
                <a16:creationId xmlns:a16="http://schemas.microsoft.com/office/drawing/2014/main" id="{28E64B9C-3438-4536-A968-54F8837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计算记录保存原项目快照，保证结果可以追溯到当时的输入与假设。</a:t>
            </a:r>
          </a:p>
        </p:txBody>
      </p:sp>
    </p:spTree>
    <p:extLst>
      <p:ext uri="{BB962C8B-B14F-4D97-AF65-F5344CB8AC3E}">
        <p14:creationId xmlns:p14="http://schemas.microsoft.com/office/powerpoint/2010/main" val="8408365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系统顺序模型：建模与求解">
            <a:extLst xmlns:a="http://schemas.openxmlformats.org/drawingml/2006/main">
              <a:ext uri="{FF2B5EF4-FFF2-40B4-BE49-F238E27FC236}">
                <a16:creationId xmlns:a16="http://schemas.microsoft.com/office/drawing/2014/main" id="{2040D172-B52C-453C-89F1-BA469A3D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系统顺序模型：建模与求解</a:t>
            </a:r>
          </a:p>
        </p:txBody>
      </p:sp>
      <p:sp>
        <p:nvSpPr>
          <p:cNvPr id="2" name="成果：以参与者—系统交互确定输入、输出和责任边界">
            <a:extLst xmlns:a="http://schemas.openxmlformats.org/drawingml/2006/main">
              <a:ext uri="{FF2B5EF4-FFF2-40B4-BE49-F238E27FC236}">
                <a16:creationId xmlns:a16="http://schemas.microsoft.com/office/drawing/2014/main" id="{A742EB85-1B2D-426E-BBDA-9BE80908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成果：以参与者—系统交互确定输入、输出和责任边界</a:t>
            </a:r>
          </a:p>
        </p:txBody>
      </p:sp>
      <p:sp>
        <p:nvSpPr>
          <p:cNvPr id="3" name="24  /  易行 LP">
            <a:extLst xmlns:a="http://schemas.openxmlformats.org/drawingml/2006/main">
              <a:ext uri="{FF2B5EF4-FFF2-40B4-BE49-F238E27FC236}">
                <a16:creationId xmlns:a16="http://schemas.microsoft.com/office/drawing/2014/main" id="{DFB198F1-1DC5-4E3F-8A2C-40838C8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22F56-2F0B-42CA-8BAF-122B86DDBCAB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762500"/>
                <a:gridCol w="5105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参与者发起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系统响应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提交目标、活动、资源与系数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保存输入草稿；使旧模型失效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校验输入；生成数学模型；允许计算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solve()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执行算法；校验最优结果；生成结果对象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showPlan() / exportResult()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展示方案、原模型与迭代记录，或导出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修改约束并再次请求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废弃旧计算上下文；从新模型重新计算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1084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CED2A-F1AD-4784-9334-4738295D63B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DA52C-A5E9-4B71-A629-B8948B71DC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7BDAD-241E-4746-86D2-D11C281221C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3" name="第 4 步：逻辑架构与部署">
            <a:extLst xmlns:a="http://schemas.openxmlformats.org/drawingml/2006/main">
              <a:ext uri="{FF2B5EF4-FFF2-40B4-BE49-F238E27FC236}">
                <a16:creationId xmlns:a16="http://schemas.microsoft.com/office/drawing/2014/main" id="{119A3E9F-374A-4027-A336-9304AC9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4 步：逻辑架构与部署</a:t>
            </a:r>
          </a:p>
        </p:txBody>
      </p:sp>
      <p:sp>
        <p:nvSpPr>
          <p:cNvPr id="2" name="方法：按变化原因分离界面、控制、领域和文件操作">
            <a:extLst xmlns:a="http://schemas.openxmlformats.org/drawingml/2006/main">
              <a:ext uri="{FF2B5EF4-FFF2-40B4-BE49-F238E27FC236}">
                <a16:creationId xmlns:a16="http://schemas.microsoft.com/office/drawing/2014/main" id="{52CB123C-8763-4531-81FB-7D27A15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方法：按变化原因分离界面、控制、领域和文件操作</a:t>
            </a:r>
          </a:p>
        </p:txBody>
      </p:sp>
      <p:sp>
        <p:nvSpPr>
          <p:cNvPr id="3" name="25  /  易行 LP">
            <a:extLst xmlns:a="http://schemas.openxmlformats.org/drawingml/2006/main">
              <a:ext uri="{FF2B5EF4-FFF2-40B4-BE49-F238E27FC236}">
                <a16:creationId xmlns:a16="http://schemas.microsoft.com/office/drawing/2014/main" id="{FE4A6EFF-0AA8-42B1-8823-ED07CD2D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25  /  易行 LP</a:t>
            </a:r>
          </a:p>
        </p:txBody>
      </p:sp>
      <p:sp>
        <p:nvSpPr>
          <p:cNvPr id="4" name="表现层&#10;HTML / CSS / ModelView">
            <a:extLst xmlns:a="http://schemas.openxmlformats.org/drawingml/2006/main">
              <a:ext uri="{FF2B5EF4-FFF2-40B4-BE49-F238E27FC236}">
                <a16:creationId xmlns:a16="http://schemas.microsoft.com/office/drawing/2014/main" id="{32157F30-F591-4D0C-BFE5-5DF5042A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表现层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HTML / CSS / ModelView</a:t>
            </a:r>
          </a:p>
        </p:txBody>
      </p:sp>
      <p:sp>
        <p:nvSpPr>
          <p:cNvPr id="5" name="应用层&#10;SolveController">
            <a:extLst xmlns:a="http://schemas.openxmlformats.org/drawingml/2006/main">
              <a:ext uri="{FF2B5EF4-FFF2-40B4-BE49-F238E27FC236}">
                <a16:creationId xmlns:a16="http://schemas.microsoft.com/office/drawing/2014/main" id="{D754D553-5BD7-4ECA-8288-30A8ACA3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应用层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sp>
        <p:nvSpPr>
          <p:cNvPr id="6" name="领域层&#10;LPModel / SimplexSolver">
            <a:extLst xmlns:a="http://schemas.openxmlformats.org/drawingml/2006/main">
              <a:ext uri="{FF2B5EF4-FFF2-40B4-BE49-F238E27FC236}">
                <a16:creationId xmlns:a16="http://schemas.microsoft.com/office/drawing/2014/main" id="{7331FE90-0D2B-44ED-A7C2-5FB22A68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 / SimplexSolver</a:t>
            </a:r>
          </a:p>
        </p:txBody>
      </p:sp>
      <p:sp>
        <p:nvSpPr>
          <p:cNvPr id="7" name="本地文件适配&#10;ModelRepository">
            <a:extLst xmlns:a="http://schemas.openxmlformats.org/drawingml/2006/main">
              <a:ext uri="{FF2B5EF4-FFF2-40B4-BE49-F238E27FC236}">
                <a16:creationId xmlns:a16="http://schemas.microsoft.com/office/drawing/2014/main" id="{B436F387-D2FC-49CE-92AC-9CDE356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本地文件适配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</p:txBody>
      </p:sp>
      <p:sp>
        <p:nvSpPr>
          <p:cNvPr id="11" name="部署：浏览器中运行静态文件；TXT / JSON 从用户主动选择">
            <a:extLst xmlns:a="http://schemas.openxmlformats.org/drawingml/2006/main">
              <a:ext uri="{FF2B5EF4-FFF2-40B4-BE49-F238E27FC236}">
                <a16:creationId xmlns:a16="http://schemas.microsoft.com/office/drawing/2014/main" id="{941C5605-DC9A-4EB6-A59E-28272691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部署：浏览器中运行静态文件；TXT / JSON 从用户主动选择的本地文件读写。</a:t>
            </a:r>
          </a:p>
        </p:txBody>
      </p:sp>
      <p:sp>
        <p:nvSpPr>
          <p:cNvPr id="12" name="更换界面不改变求解算法；若未来采用服务端求解，可替换应用层的调用">
            <a:extLst xmlns:a="http://schemas.openxmlformats.org/drawingml/2006/main">
              <a:ext uri="{FF2B5EF4-FFF2-40B4-BE49-F238E27FC236}">
                <a16:creationId xmlns:a16="http://schemas.microsoft.com/office/drawing/2014/main" id="{30775D87-A38A-426F-89BF-EE48CCCA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更换界面不改变求解算法；若未来采用服务端求解，可替换应用层的调用方式。</a:t>
            </a:r>
          </a:p>
        </p:txBody>
      </p:sp>
    </p:spTree>
    <p:extLst>
      <p:ext uri="{BB962C8B-B14F-4D97-AF65-F5344CB8AC3E}">
        <p14:creationId xmlns:p14="http://schemas.microsoft.com/office/powerpoint/2010/main" val="15110377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模型：类与职责分配">
            <a:extLst xmlns:a="http://schemas.openxmlformats.org/drawingml/2006/main">
              <a:ext uri="{FF2B5EF4-FFF2-40B4-BE49-F238E27FC236}">
                <a16:creationId xmlns:a16="http://schemas.microsoft.com/office/drawing/2014/main" id="{F4A5209E-1949-45FF-88E2-3ADF791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设计模型：类与职责分配</a:t>
            </a:r>
          </a:p>
        </p:txBody>
      </p:sp>
      <p:sp>
        <p:nvSpPr>
          <p:cNvPr id="2" name="成果：设计类与实际代码使用同名对象">
            <a:extLst xmlns:a="http://schemas.openxmlformats.org/drawingml/2006/main">
              <a:ext uri="{FF2B5EF4-FFF2-40B4-BE49-F238E27FC236}">
                <a16:creationId xmlns:a16="http://schemas.microsoft.com/office/drawing/2014/main" id="{A40E67A8-AF63-4F8A-B08A-7D431AE2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成果：设计类与实际代码使用同名对象</a:t>
            </a:r>
          </a:p>
        </p:txBody>
      </p:sp>
      <p:sp>
        <p:nvSpPr>
          <p:cNvPr id="3" name="26  /  易行 LP">
            <a:extLst xmlns:a="http://schemas.openxmlformats.org/drawingml/2006/main">
              <a:ext uri="{FF2B5EF4-FFF2-40B4-BE49-F238E27FC236}">
                <a16:creationId xmlns:a16="http://schemas.microsoft.com/office/drawing/2014/main" id="{88FCE901-ECE8-43BE-9BA5-9A60A3C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62D98-5E17-441D-8B09-5B243046E4EF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00750"/>
                <a:gridCol w="23431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主要职责与接口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validate（构造校验）、standardize()、check(x)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不依赖界面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solve(model)、局部 simplex / pivot、trace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load()、invalidate()、build()、solve()、importProject()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视图、求解器、文件仓库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render()、formula()、showResult()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DOM 与结果对象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ModelRepository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read(file)、download(name,data)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 File / Blob API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098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DDA9D-F0C6-457D-B241-0DD562E5B6F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762625" y="5119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5D75D-9C06-4597-BC54-866EFF557E3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19813" y="3476625"/>
            <a:ext cx="19050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2CD83-E6D3-4F3F-8E10-CBDC59FDA44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4167188" y="3476625"/>
            <a:ext cx="1952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5C0D7-F362-4484-B973-C514AFCDDD6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1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3440C-73FA-4F82-AE53-084852D38D89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90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4" name="设计类图：属性、操作与依赖">
            <a:extLst xmlns:a="http://schemas.openxmlformats.org/drawingml/2006/main">
              <a:ext uri="{FF2B5EF4-FFF2-40B4-BE49-F238E27FC236}">
                <a16:creationId xmlns:a16="http://schemas.microsoft.com/office/drawing/2014/main" id="{81111591-682F-4190-B82F-F85BE7A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设计类图：属性、操作与依赖</a:t>
            </a:r>
          </a:p>
        </p:txBody>
      </p:sp>
      <p:sp>
        <p:nvSpPr>
          <p:cNvPr id="2" name="成果：把领域对象和控制职责转为实际代码中的类">
            <a:extLst xmlns:a="http://schemas.openxmlformats.org/drawingml/2006/main">
              <a:ext uri="{FF2B5EF4-FFF2-40B4-BE49-F238E27FC236}">
                <a16:creationId xmlns:a16="http://schemas.microsoft.com/office/drawing/2014/main" id="{8910CA38-A550-4EA4-B79E-52964CF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成果：把领域对象和控制职责转为实际代码中的类</a:t>
            </a:r>
          </a:p>
        </p:txBody>
      </p:sp>
      <p:sp>
        <p:nvSpPr>
          <p:cNvPr id="3" name="27  /  易行 LP">
            <a:extLst xmlns:a="http://schemas.openxmlformats.org/drawingml/2006/main">
              <a:ext uri="{FF2B5EF4-FFF2-40B4-BE49-F238E27FC236}">
                <a16:creationId xmlns:a16="http://schemas.microsoft.com/office/drawing/2014/main" id="{AA1287C6-7F7E-4D33-A289-494E74C6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27  /  易行 LP</a:t>
            </a:r>
          </a:p>
        </p:txBody>
      </p:sp>
      <p:sp>
        <p:nvSpPr>
          <p:cNvPr id="4" name="ModelView&#10;render(project, onChange)&#10;formula(model)&#10;showResult(result, project)">
            <a:extLst xmlns:a="http://schemas.openxmlformats.org/drawingml/2006/main">
              <a:ext uri="{FF2B5EF4-FFF2-40B4-BE49-F238E27FC236}">
                <a16:creationId xmlns:a16="http://schemas.microsoft.com/office/drawing/2014/main" id="{553E952A-2B85-4C0B-9738-5E6879E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render(project, onChange)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formula(model)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showResult(result, project)</a:t>
            </a:r>
          </a:p>
        </p:txBody>
      </p:sp>
      <p:sp>
        <p:nvSpPr>
          <p:cNvPr id="5" name="SolveController&#10;project / built / lastResult&#10;build() / solve() / invalidate()&#10;importProject(file)">
            <a:extLst xmlns:a="http://schemas.openxmlformats.org/drawingml/2006/main">
              <a:ext uri="{FF2B5EF4-FFF2-40B4-BE49-F238E27FC236}">
                <a16:creationId xmlns:a16="http://schemas.microsoft.com/office/drawing/2014/main" id="{0A18A24E-DD53-49D9-8ABE-51916DD3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project / built / lastResult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/ solve() / invalidate()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importProject(file)</a:t>
            </a:r>
          </a:p>
        </p:txBody>
      </p:sp>
      <p:sp>
        <p:nvSpPr>
          <p:cNvPr id="6" name="ModelRepository&#10;read(file)&#10;download(name, data)">
            <a:extLst xmlns:a="http://schemas.openxmlformats.org/drawingml/2006/main">
              <a:ext uri="{FF2B5EF4-FFF2-40B4-BE49-F238E27FC236}">
                <a16:creationId xmlns:a16="http://schemas.microsoft.com/office/drawing/2014/main" id="{9B9F243D-E7D9-4804-8768-B617A632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read(file)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download(name, data)</a:t>
            </a:r>
          </a:p>
        </p:txBody>
      </p:sp>
      <p:sp>
        <p:nvSpPr>
          <p:cNvPr id="7" name="LPModel&#10;sense / c / constraints&#10;standardize() / check(x)&#10;toJSON()">
            <a:extLst xmlns:a="http://schemas.openxmlformats.org/drawingml/2006/main">
              <a:ext uri="{FF2B5EF4-FFF2-40B4-BE49-F238E27FC236}">
                <a16:creationId xmlns:a16="http://schemas.microsoft.com/office/drawing/2014/main" id="{9C9F539A-692A-432B-AF74-B8640D6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sense / c / constraints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 / check(x)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toJSON()</a:t>
            </a:r>
          </a:p>
        </p:txBody>
      </p:sp>
      <p:sp>
        <p:nvSpPr>
          <p:cNvPr id="8" name="SimplexSolver&#10;solve(model, options)&#10;返回 status / x / trace">
            <a:extLst xmlns:a="http://schemas.openxmlformats.org/drawingml/2006/main">
              <a:ext uri="{FF2B5EF4-FFF2-40B4-BE49-F238E27FC236}">
                <a16:creationId xmlns:a16="http://schemas.microsoft.com/office/drawing/2014/main" id="{F7ED2CAB-3800-4F74-AC47-E6A03B8D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solve(model, options)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 status / x / trace</a:t>
            </a:r>
          </a:p>
        </p:txBody>
      </p:sp>
    </p:spTree>
    <p:extLst>
      <p:ext uri="{BB962C8B-B14F-4D97-AF65-F5344CB8AC3E}">
        <p14:creationId xmlns:p14="http://schemas.microsoft.com/office/powerpoint/2010/main" val="119557035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设计交互：计算规划方案">
            <a:extLst xmlns:a="http://schemas.openxmlformats.org/drawingml/2006/main">
              <a:ext uri="{FF2B5EF4-FFF2-40B4-BE49-F238E27FC236}">
                <a16:creationId xmlns:a16="http://schemas.microsoft.com/office/drawing/2014/main" id="{2D5FDF66-1B6D-47BF-97A4-44EB1EF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设计交互：计算规划方案</a:t>
            </a:r>
          </a:p>
        </p:txBody>
      </p:sp>
      <p:sp>
        <p:nvSpPr>
          <p:cNvPr id="2" name="成果：用对象间消息细化 UC02，作为代码映射依据">
            <a:extLst xmlns:a="http://schemas.openxmlformats.org/drawingml/2006/main">
              <a:ext uri="{FF2B5EF4-FFF2-40B4-BE49-F238E27FC236}">
                <a16:creationId xmlns:a16="http://schemas.microsoft.com/office/drawing/2014/main" id="{4711C6E3-BC67-401E-81A4-B3E3D1B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成果：用对象间消息细化 UC02，作为代码映射依据</a:t>
            </a:r>
          </a:p>
        </p:txBody>
      </p:sp>
      <p:sp>
        <p:nvSpPr>
          <p:cNvPr id="3" name="28  /  易行 LP">
            <a:extLst xmlns:a="http://schemas.openxmlformats.org/drawingml/2006/main">
              <a:ext uri="{FF2B5EF4-FFF2-40B4-BE49-F238E27FC236}">
                <a16:creationId xmlns:a16="http://schemas.microsoft.com/office/drawing/2014/main" id="{798EE865-061C-4000-9186-B81BD04B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28  /  易行 LP</a:t>
            </a:r>
          </a:p>
        </p:txBody>
      </p:sp>
      <p:sp>
        <p:nvSpPr>
          <p:cNvPr id="4" name="研究人员">
            <a:extLst xmlns:a="http://schemas.openxmlformats.org/drawingml/2006/main">
              <a:ext uri="{FF2B5EF4-FFF2-40B4-BE49-F238E27FC236}">
                <a16:creationId xmlns:a16="http://schemas.microsoft.com/office/drawing/2014/main" id="{4C52AF11-3D31-46A4-BA45-F4ED329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研究人员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A1DA4-4B73-4B1C-99EC-E8F5FE2DC1C3}"/>
              </a:ext>
            </a:extLst>
          </p:cNvPr>
          <p:cNvCxnSpPr/>
          <p:nvPr/>
        </p:nvCxnSpPr>
        <p:spPr>
          <a:xfrm xmlns:a="http://schemas.openxmlformats.org/drawingml/2006/main">
            <a:off x="1524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6" name="ModelView / DOM">
            <a:extLst xmlns:a="http://schemas.openxmlformats.org/drawingml/2006/main">
              <a:ext uri="{FF2B5EF4-FFF2-40B4-BE49-F238E27FC236}">
                <a16:creationId xmlns:a16="http://schemas.microsoft.com/office/drawing/2014/main" id="{FCCC9B41-ACFC-4531-8C44-C6F018C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 / DOM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79D5D-FF74-44A3-9D3D-6DCBCC15BBF8}"/>
              </a:ext>
            </a:extLst>
          </p:cNvPr>
          <p:cNvCxnSpPr/>
          <p:nvPr/>
        </p:nvCxnSpPr>
        <p:spPr>
          <a:xfrm xmlns:a="http://schemas.openxmlformats.org/drawingml/2006/main">
            <a:off x="37147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8" name="SolveController">
            <a:extLst xmlns:a="http://schemas.openxmlformats.org/drawingml/2006/main">
              <a:ext uri="{FF2B5EF4-FFF2-40B4-BE49-F238E27FC236}">
                <a16:creationId xmlns:a16="http://schemas.microsoft.com/office/drawing/2014/main" id="{1F6DAD6A-25BB-4048-8BD9-5D90216A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57839-A4DB-4692-B8CB-939E1952FAF2}"/>
              </a:ext>
            </a:extLst>
          </p:cNvPr>
          <p:cNvCxnSpPr/>
          <p:nvPr/>
        </p:nvCxnSpPr>
        <p:spPr>
          <a:xfrm xmlns:a="http://schemas.openxmlformats.org/drawingml/2006/main">
            <a:off x="6096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0" name="SimplexSolver">
            <a:extLst xmlns:a="http://schemas.openxmlformats.org/drawingml/2006/main">
              <a:ext uri="{FF2B5EF4-FFF2-40B4-BE49-F238E27FC236}">
                <a16:creationId xmlns:a16="http://schemas.microsoft.com/office/drawing/2014/main" id="{B3CFB69B-7424-4F25-B465-80B8CBB9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F128-127A-4D8E-A408-CACE08A23BC9}"/>
              </a:ext>
            </a:extLst>
          </p:cNvPr>
          <p:cNvCxnSpPr/>
          <p:nvPr/>
        </p:nvCxnSpPr>
        <p:spPr>
          <a:xfrm xmlns:a="http://schemas.openxmlformats.org/drawingml/2006/main">
            <a:off x="8477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2" name="LPModel">
            <a:extLst xmlns:a="http://schemas.openxmlformats.org/drawingml/2006/main">
              <a:ext uri="{FF2B5EF4-FFF2-40B4-BE49-F238E27FC236}">
                <a16:creationId xmlns:a16="http://schemas.microsoft.com/office/drawing/2014/main" id="{27E58A7D-3F39-49AB-852B-80BDEEFE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F1AD9-2660-4000-92CA-D1C091F653F2}"/>
              </a:ext>
            </a:extLst>
          </p:cNvPr>
          <p:cNvCxnSpPr/>
          <p:nvPr/>
        </p:nvCxnSpPr>
        <p:spPr>
          <a:xfrm xmlns:a="http://schemas.openxmlformats.org/drawingml/2006/main">
            <a:off x="10763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B667C-B61E-45F5-99BB-E8D46FB200A1}"/>
              </a:ext>
            </a:extLst>
          </p:cNvPr>
          <p:cNvCxnSpPr/>
          <p:nvPr/>
        </p:nvCxnSpPr>
        <p:spPr>
          <a:xfrm xmlns:a="http://schemas.openxmlformats.org/drawingml/2006/main">
            <a:off x="1524000" y="26670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5" name="点击计算">
            <a:extLst xmlns:a="http://schemas.openxmlformats.org/drawingml/2006/main">
              <a:ext uri="{FF2B5EF4-FFF2-40B4-BE49-F238E27FC236}">
                <a16:creationId xmlns:a16="http://schemas.microsoft.com/office/drawing/2014/main" id="{D58EDF70-C4F9-4F9F-B168-D2E0F57D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点击计算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8F481-6550-4058-BB00-DE590E0713FC}"/>
              </a:ext>
            </a:extLst>
          </p:cNvPr>
          <p:cNvCxnSpPr/>
          <p:nvPr/>
        </p:nvCxnSpPr>
        <p:spPr>
          <a:xfrm xmlns:a="http://schemas.openxmlformats.org/drawingml/2006/main">
            <a:off x="3714750" y="3143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7" name="solve()">
            <a:extLst xmlns:a="http://schemas.openxmlformats.org/drawingml/2006/main">
              <a:ext uri="{FF2B5EF4-FFF2-40B4-BE49-F238E27FC236}">
                <a16:creationId xmlns:a16="http://schemas.microsoft.com/office/drawing/2014/main" id="{9700A435-FD8C-4CFC-80AA-B955A45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solve()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127CC-3212-479A-ADC8-8010CAFD854D}"/>
              </a:ext>
            </a:extLst>
          </p:cNvPr>
          <p:cNvCxnSpPr/>
          <p:nvPr/>
        </p:nvCxnSpPr>
        <p:spPr>
          <a:xfrm xmlns:a="http://schemas.openxmlformats.org/drawingml/2006/main">
            <a:off x="6096000" y="3619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9" name="solve(built)">
            <a:extLst xmlns:a="http://schemas.openxmlformats.org/drawingml/2006/main">
              <a:ext uri="{FF2B5EF4-FFF2-40B4-BE49-F238E27FC236}">
                <a16:creationId xmlns:a16="http://schemas.microsoft.com/office/drawing/2014/main" id="{099D8594-BF6D-44FE-9525-C54C1B6B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solve(built)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2C850-F517-4A28-8604-965AA8425501}"/>
              </a:ext>
            </a:extLst>
          </p:cNvPr>
          <p:cNvCxnSpPr/>
          <p:nvPr/>
        </p:nvCxnSpPr>
        <p:spPr>
          <a:xfrm xmlns:a="http://schemas.openxmlformats.org/drawingml/2006/main">
            <a:off x="8477250" y="4095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1" name="standardize()">
            <a:extLst xmlns:a="http://schemas.openxmlformats.org/drawingml/2006/main">
              <a:ext uri="{FF2B5EF4-FFF2-40B4-BE49-F238E27FC236}">
                <a16:creationId xmlns:a16="http://schemas.microsoft.com/office/drawing/2014/main" id="{FBFB3738-29CF-4306-B504-EA42FA1E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8A1F4-D17E-48B1-83F6-1BA5F801DA6B}"/>
              </a:ext>
            </a:extLst>
          </p:cNvPr>
          <p:cNvCxnSpPr/>
          <p:nvPr/>
        </p:nvCxnSpPr>
        <p:spPr>
          <a:xfrm xmlns:a="http://schemas.openxmlformats.org/drawingml/2006/main">
            <a:off x="8477250" y="4572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3" name="check(x)">
            <a:extLst xmlns:a="http://schemas.openxmlformats.org/drawingml/2006/main">
              <a:ext uri="{FF2B5EF4-FFF2-40B4-BE49-F238E27FC236}">
                <a16:creationId xmlns:a16="http://schemas.microsoft.com/office/drawing/2014/main" id="{414B6131-4BC4-418F-8E80-0538450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check(x)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B69CB-ACA5-45DA-B216-272A3CD926C9}"/>
              </a:ext>
            </a:extLst>
          </p:cNvPr>
          <p:cNvCxnSpPr/>
          <p:nvPr/>
        </p:nvCxnSpPr>
        <p:spPr>
          <a:xfrm xmlns:a="http://schemas.openxmlformats.org/drawingml/2006/main">
            <a:off x="6096000" y="5048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5" name="返回结果对象">
            <a:extLst xmlns:a="http://schemas.openxmlformats.org/drawingml/2006/main">
              <a:ext uri="{FF2B5EF4-FFF2-40B4-BE49-F238E27FC236}">
                <a16:creationId xmlns:a16="http://schemas.microsoft.com/office/drawing/2014/main" id="{4291E2EF-7B63-4D72-8ED6-CB8EEC76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返回结果对象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B7D0C-0D9A-435F-8F11-FC0D4FCFAB2C}"/>
              </a:ext>
            </a:extLst>
          </p:cNvPr>
          <p:cNvCxnSpPr/>
          <p:nvPr/>
        </p:nvCxnSpPr>
        <p:spPr>
          <a:xfrm xmlns:a="http://schemas.openxmlformats.org/drawingml/2006/main">
            <a:off x="3714750" y="5524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7" name="showResult(...)">
            <a:extLst xmlns:a="http://schemas.openxmlformats.org/drawingml/2006/main">
              <a:ext uri="{FF2B5EF4-FFF2-40B4-BE49-F238E27FC236}">
                <a16:creationId xmlns:a16="http://schemas.microsoft.com/office/drawing/2014/main" id="{982218F0-F647-42A2-919C-A998A5C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00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showResult(...)</a:t>
            </a:r>
          </a:p>
        </p:txBody>
      </p:sp>
    </p:spTree>
    <p:extLst>
      <p:ext uri="{BB962C8B-B14F-4D97-AF65-F5344CB8AC3E}">
        <p14:creationId xmlns:p14="http://schemas.microsoft.com/office/powerpoint/2010/main" val="2304699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理由：GRASP 与功能独立性">
            <a:extLst xmlns:a="http://schemas.openxmlformats.org/drawingml/2006/main">
              <a:ext uri="{FF2B5EF4-FFF2-40B4-BE49-F238E27FC236}">
                <a16:creationId xmlns:a16="http://schemas.microsoft.com/office/drawing/2014/main" id="{019B01F2-7844-4EA2-9F76-3354F8F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设计理由：GRASP 与功能独立性</a:t>
            </a:r>
          </a:p>
        </p:txBody>
      </p:sp>
      <p:sp>
        <p:nvSpPr>
          <p:cNvPr id="2" name="成果：解释职责为什么这样分配">
            <a:extLst xmlns:a="http://schemas.openxmlformats.org/drawingml/2006/main">
              <a:ext uri="{FF2B5EF4-FFF2-40B4-BE49-F238E27FC236}">
                <a16:creationId xmlns:a16="http://schemas.microsoft.com/office/drawing/2014/main" id="{6261CB06-240D-4701-952C-E436A741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成果：解释职责为什么这样分配</a:t>
            </a:r>
          </a:p>
        </p:txBody>
      </p:sp>
      <p:sp>
        <p:nvSpPr>
          <p:cNvPr id="3" name="29  /  易行 LP">
            <a:extLst xmlns:a="http://schemas.openxmlformats.org/drawingml/2006/main">
              <a:ext uri="{FF2B5EF4-FFF2-40B4-BE49-F238E27FC236}">
                <a16:creationId xmlns:a16="http://schemas.microsoft.com/office/drawing/2014/main" id="{55B76A9F-97AC-42E3-84BB-F5BA9C46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B50CC-EA9F-41D6-952A-BDB135CDE61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  <a:gridCol w="3200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原则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我的应用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信息专家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掌握系数与约束，负责标准化与结果代回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避免在界面里重复数学规则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控制器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 接收建模、计算与导入操作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统一协调状态变化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高内聚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只处理数学模型与求解结果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能够脱离浏览器独立测试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低耦合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视图消费结果对象；文件操作集中在 Repository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界面、文件格式与算法分别变化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避免过度设计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当前一个求解器，不引入尚未需要的插件体系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业务扩展时再提取统一接口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744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423BE-B6EA-471D-9722-3C6AFB137E4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0FF6E-22B3-4D74-B8D6-B1315E55910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控制状态与错误恢复">
            <a:extLst xmlns:a="http://schemas.openxmlformats.org/drawingml/2006/main">
              <a:ext uri="{FF2B5EF4-FFF2-40B4-BE49-F238E27FC236}">
                <a16:creationId xmlns:a16="http://schemas.microsoft.com/office/drawing/2014/main" id="{E25681C3-37B9-4E6A-88C1-C23B480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控制状态与错误恢复</a:t>
            </a:r>
          </a:p>
        </p:txBody>
      </p:sp>
      <p:sp>
        <p:nvSpPr>
          <p:cNvPr id="2" name="成果：避免用户修改参数后误用旧计算结果">
            <a:extLst xmlns:a="http://schemas.openxmlformats.org/drawingml/2006/main">
              <a:ext uri="{FF2B5EF4-FFF2-40B4-BE49-F238E27FC236}">
                <a16:creationId xmlns:a16="http://schemas.microsoft.com/office/drawing/2014/main" id="{79DDCC33-6E1A-449F-ADF0-6E3D4DB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成果：避免用户修改参数后误用旧计算结果</a:t>
            </a:r>
          </a:p>
        </p:txBody>
      </p:sp>
      <p:sp>
        <p:nvSpPr>
          <p:cNvPr id="3" name="30  /  易行 LP">
            <a:extLst xmlns:a="http://schemas.openxmlformats.org/drawingml/2006/main">
              <a:ext uri="{FF2B5EF4-FFF2-40B4-BE49-F238E27FC236}">
                <a16:creationId xmlns:a16="http://schemas.microsoft.com/office/drawing/2014/main" id="{7123E75D-D974-4910-B9CE-142A0EE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30  /  易行 LP</a:t>
            </a:r>
          </a:p>
        </p:txBody>
      </p:sp>
      <p:sp>
        <p:nvSpPr>
          <p:cNvPr id="4" name="编辑草稿&#10;计算按钮禁用">
            <a:extLst xmlns:a="http://schemas.openxmlformats.org/drawingml/2006/main">
              <a:ext uri="{FF2B5EF4-FFF2-40B4-BE49-F238E27FC236}">
                <a16:creationId xmlns:a16="http://schemas.microsoft.com/office/drawing/2014/main" id="{30A0FA84-1F86-48F3-B899-AC8EF91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编辑草稿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计算按钮禁用</a:t>
            </a:r>
          </a:p>
        </p:txBody>
      </p:sp>
      <p:sp>
        <p:nvSpPr>
          <p:cNvPr id="5" name="建模成功&#10;显示当前公式">
            <a:extLst xmlns:a="http://schemas.openxmlformats.org/drawingml/2006/main">
              <a:ext uri="{FF2B5EF4-FFF2-40B4-BE49-F238E27FC236}">
                <a16:creationId xmlns:a16="http://schemas.microsoft.com/office/drawing/2014/main" id="{8067B821-84B4-4B33-9E94-1118847B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建模成功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显示当前公式</a:t>
            </a:r>
          </a:p>
        </p:txBody>
      </p:sp>
      <p:sp>
        <p:nvSpPr>
          <p:cNvPr id="6" name="计算完成&#10;弹出方案或异常状态">
            <a:extLst xmlns:a="http://schemas.openxmlformats.org/drawingml/2006/main">
              <a:ext uri="{FF2B5EF4-FFF2-40B4-BE49-F238E27FC236}">
                <a16:creationId xmlns:a16="http://schemas.microsoft.com/office/drawing/2014/main" id="{B0EE72A5-36EF-4029-AB33-C88B991F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计算完成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弹出方案或异常状态</a:t>
            </a:r>
          </a:p>
        </p:txBody>
      </p:sp>
      <p:sp>
        <p:nvSpPr>
          <p:cNvPr id="9" name="校验失败：保留输入并提示，停留在编辑状态。">
            <a:extLst xmlns:a="http://schemas.openxmlformats.org/drawingml/2006/main">
              <a:ext uri="{FF2B5EF4-FFF2-40B4-BE49-F238E27FC236}">
                <a16:creationId xmlns:a16="http://schemas.microsoft.com/office/drawing/2014/main" id="{1D85314B-0D6E-4FDB-8C00-E00ADBC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校验失败：保留输入并提示，停留在编辑状态。</a:t>
            </a:r>
          </a:p>
        </p:txBody>
      </p:sp>
      <p:sp>
        <p:nvSpPr>
          <p:cNvPr id="10" name="任何编辑：清除已生成模型与上次结果，重新点击“建模”后才能计算。">
            <a:extLst xmlns:a="http://schemas.openxmlformats.org/drawingml/2006/main">
              <a:ext uri="{FF2B5EF4-FFF2-40B4-BE49-F238E27FC236}">
                <a16:creationId xmlns:a16="http://schemas.microsoft.com/office/drawing/2014/main" id="{89988886-52E5-484D-9E4B-CB204704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任何编辑：清除已生成模型与上次结果，重新点击“建模”后才能计算。</a:t>
            </a:r>
          </a:p>
        </p:txBody>
      </p:sp>
      <p:sp>
        <p:nvSpPr>
          <p:cNvPr id="11" name="无解或无界：保留输入，允许关闭方案、修改约束并重新建模。">
            <a:extLst xmlns:a="http://schemas.openxmlformats.org/drawingml/2006/main">
              <a:ext uri="{FF2B5EF4-FFF2-40B4-BE49-F238E27FC236}">
                <a16:creationId xmlns:a16="http://schemas.microsoft.com/office/drawing/2014/main" id="{12C24820-CCAF-4C7F-A8A6-65235AB2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无解或无界：保留输入，允许关闭方案、修改约束并重新建模。</a:t>
            </a:r>
          </a:p>
        </p:txBody>
      </p:sp>
    </p:spTree>
    <p:extLst>
      <p:ext uri="{BB962C8B-B14F-4D97-AF65-F5344CB8AC3E}">
        <p14:creationId xmlns:p14="http://schemas.microsoft.com/office/powerpoint/2010/main" val="8434143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算法实现中的数值与终止设计">
            <a:extLst xmlns:a="http://schemas.openxmlformats.org/drawingml/2006/main">
              <a:ext uri="{FF2B5EF4-FFF2-40B4-BE49-F238E27FC236}">
                <a16:creationId xmlns:a16="http://schemas.microsoft.com/office/drawing/2014/main" id="{636BC3B2-AA2B-46E2-BB2E-9982B62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算法实现中的数值与终止设计</a:t>
            </a:r>
          </a:p>
        </p:txBody>
      </p:sp>
      <p:sp>
        <p:nvSpPr>
          <p:cNvPr id="2" name="成果：把数学过程转为有边界的软件行为">
            <a:extLst xmlns:a="http://schemas.openxmlformats.org/drawingml/2006/main">
              <a:ext uri="{FF2B5EF4-FFF2-40B4-BE49-F238E27FC236}">
                <a16:creationId xmlns:a16="http://schemas.microsoft.com/office/drawing/2014/main" id="{FCA8532B-68FD-4724-A084-4D2F10A1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成果：把数学过程转为有边界的软件行为</a:t>
            </a:r>
          </a:p>
        </p:txBody>
      </p:sp>
      <p:sp>
        <p:nvSpPr>
          <p:cNvPr id="3" name="31  /  易行 LP">
            <a:extLst xmlns:a="http://schemas.openxmlformats.org/drawingml/2006/main">
              <a:ext uri="{FF2B5EF4-FFF2-40B4-BE49-F238E27FC236}">
                <a16:creationId xmlns:a16="http://schemas.microsoft.com/office/drawing/2014/main" id="{AC27AB49-FF41-4FCC-8472-0952E25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B544E-EE6A-4C73-916A-14A1103E97A7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248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具体做法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两阶段法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使用一个人工变量建立辅助问题；阶段一结束后移出人工变量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选主元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入基按 Bland 编号规则；正系数行使用最小比值选择出基变量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每次 pivot 保存阶段、入基/出基、基变量与表格快照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按原目标重算目标值；代回原约束检查相对容差与非负限制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终止与限制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最多2000次换基；返回独立状态；病态模型可能需更可靠数值库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7985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5 步：从设计映射为代码">
            <a:extLst xmlns:a="http://schemas.openxmlformats.org/drawingml/2006/main">
              <a:ext uri="{FF2B5EF4-FFF2-40B4-BE49-F238E27FC236}">
                <a16:creationId xmlns:a16="http://schemas.microsoft.com/office/drawing/2014/main" id="{CF9C9890-23EF-46D1-BA84-7B0142EF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5 步：从设计映射为代码</a:t>
            </a:r>
          </a:p>
        </p:txBody>
      </p:sp>
      <p:sp>
        <p:nvSpPr>
          <p:cNvPr id="2" name="成果：模型、职责、方法与实际文件可以一一核对">
            <a:extLst xmlns:a="http://schemas.openxmlformats.org/drawingml/2006/main">
              <a:ext uri="{FF2B5EF4-FFF2-40B4-BE49-F238E27FC236}">
                <a16:creationId xmlns:a16="http://schemas.microsoft.com/office/drawing/2014/main" id="{E87D226F-1F91-446D-8F9D-17A05B5A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成果：模型、职责、方法与实际文件可以一一核对</a:t>
            </a:r>
          </a:p>
        </p:txBody>
      </p:sp>
      <p:sp>
        <p:nvSpPr>
          <p:cNvPr id="3" name="32  /  易行 LP">
            <a:extLst xmlns:a="http://schemas.openxmlformats.org/drawingml/2006/main">
              <a:ext uri="{FF2B5EF4-FFF2-40B4-BE49-F238E27FC236}">
                <a16:creationId xmlns:a16="http://schemas.microsoft.com/office/drawing/2014/main" id="{81CBE64B-884C-4B41-B81F-9DBE6AF0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32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DDD08-4F56-488C-BA6F-5780E2380877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76625"/>
                <a:gridCol w="4676775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设计对象 / 用例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代码位置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LPModel：校验、标准化、代回检查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算法活动流程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SimplexSolver：simplex 与 pivot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UC01 / UC02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SolveController：build / solve / 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ModelView 与工作区、结果对话框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项目导入导出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ModelRepository；schema=1 的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5162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代码映射示例：建模与状态失效">
            <a:extLst xmlns:a="http://schemas.openxmlformats.org/drawingml/2006/main">
              <a:ext uri="{FF2B5EF4-FFF2-40B4-BE49-F238E27FC236}">
                <a16:creationId xmlns:a16="http://schemas.microsoft.com/office/drawing/2014/main" id="{DAC35EC5-79A4-47C5-A6BC-E6BBD62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代码映射示例：建模与状态失效</a:t>
            </a:r>
          </a:p>
        </p:txBody>
      </p:sp>
      <p:sp>
        <p:nvSpPr>
          <p:cNvPr id="2" name="成果：代码体现用例的前置条件与异常处理">
            <a:extLst xmlns:a="http://schemas.openxmlformats.org/drawingml/2006/main">
              <a:ext uri="{FF2B5EF4-FFF2-40B4-BE49-F238E27FC236}">
                <a16:creationId xmlns:a16="http://schemas.microsoft.com/office/drawing/2014/main" id="{A1DA718F-EA1D-4D03-9FFB-6B3632F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成果：代码体现用例的前置条件与异常处理</a:t>
            </a:r>
          </a:p>
        </p:txBody>
      </p:sp>
      <p:sp>
        <p:nvSpPr>
          <p:cNvPr id="3" name="33  /  易行 LP">
            <a:extLst xmlns:a="http://schemas.openxmlformats.org/drawingml/2006/main">
              <a:ext uri="{FF2B5EF4-FFF2-40B4-BE49-F238E27FC236}">
                <a16:creationId xmlns:a16="http://schemas.microsoft.com/office/drawing/2014/main" id="{96AA335A-4FE3-4E44-B9A5-569BFD9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33  /  易行 LP</a:t>
            </a:r>
          </a:p>
        </p:txBody>
      </p:sp>
      <p:sp>
        <p:nvSpPr>
          <p:cNvPr id="4" name="invalidate() {&#10;  this.built = nu">
            <a:extLst xmlns:a="http://schemas.openxmlformats.org/drawingml/2006/main">
              <a:ext uri="{FF2B5EF4-FFF2-40B4-BE49-F238E27FC236}">
                <a16:creationId xmlns:a16="http://schemas.microsoft.com/office/drawing/2014/main" id="{295E8A33-B2B6-4990-9C0F-428C87A3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invalidate()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this.lastResult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true;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// 严格不等式先提示，不自动替换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new LPModel(this.project.model);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$("modelText").textContent = this.view.formula(this.built);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false;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5" name="对应：UC01 的输入校验；F05 的编辑后失效；UC02 的“">
            <a:extLst xmlns:a="http://schemas.openxmlformats.org/drawingml/2006/main">
              <a:ext uri="{FF2B5EF4-FFF2-40B4-BE49-F238E27FC236}">
                <a16:creationId xmlns:a16="http://schemas.microsoft.com/office/drawing/2014/main" id="{49B8CF70-AD12-41D2-AF3B-1DDA0A3A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对应：UC01 的输入校验；F05 的编辑后失效；UC02 的“已成功建模”前置条件。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3360332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6 步：运行与验证">
            <a:extLst xmlns:a="http://schemas.openxmlformats.org/drawingml/2006/main">
              <a:ext uri="{FF2B5EF4-FFF2-40B4-BE49-F238E27FC236}">
                <a16:creationId xmlns:a16="http://schemas.microsoft.com/office/drawing/2014/main" id="{E0CEEEAA-D133-48F1-8993-1BEB815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6 步：运行与验证</a:t>
            </a:r>
          </a:p>
        </p:txBody>
      </p:sp>
      <p:sp>
        <p:nvSpPr>
          <p:cNvPr id="2" name="方法：确定结果算例 + 独立方法交叉核对 + 浏览器操作">
            <a:extLst xmlns:a="http://schemas.openxmlformats.org/drawingml/2006/main">
              <a:ext uri="{FF2B5EF4-FFF2-40B4-BE49-F238E27FC236}">
                <a16:creationId xmlns:a16="http://schemas.microsoft.com/office/drawing/2014/main" id="{4AECF312-644F-4028-9485-99A84357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方法：确定结果算例 + 独立方法交叉核对 + 浏览器操作</a:t>
            </a:r>
          </a:p>
        </p:txBody>
      </p:sp>
      <p:sp>
        <p:nvSpPr>
          <p:cNvPr id="3" name="34  /  易行 LP">
            <a:extLst xmlns:a="http://schemas.openxmlformats.org/drawingml/2006/main">
              <a:ext uri="{FF2B5EF4-FFF2-40B4-BE49-F238E27FC236}">
                <a16:creationId xmlns:a16="http://schemas.microsoft.com/office/drawing/2014/main" id="{299667D3-4F9B-462C-BB66-42E9FF95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AEA2-10B5-41E3-A90B-66B0CE5C3FDF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53125"/>
                <a:gridCol w="2438400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验证层次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求解器回归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16个确定结果或状态测试；覆盖边界与异常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16 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独立交叉核对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固定随机种子；100个二维有界问题枚举可行顶点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/ 100 目标值一致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建模、计算、修改失效、严格不等式、文件与窗口适配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13项关键检查通过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验证局限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交叉核对仅覆盖二维；尚无真实涉众验收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不据此声称所有模型与设备均正确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628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主要回归测试与预期结果">
            <a:extLst xmlns:a="http://schemas.openxmlformats.org/drawingml/2006/main">
              <a:ext uri="{FF2B5EF4-FFF2-40B4-BE49-F238E27FC236}">
                <a16:creationId xmlns:a16="http://schemas.microsoft.com/office/drawing/2014/main" id="{C9A9333B-333D-4A33-9DC2-9D9F791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主要回归测试与预期结果</a:t>
            </a:r>
          </a:p>
        </p:txBody>
      </p:sp>
      <p:sp>
        <p:nvSpPr>
          <p:cNvPr id="2" name="成果：测试能区分结果正确与仅仅运行成功">
            <a:extLst xmlns:a="http://schemas.openxmlformats.org/drawingml/2006/main">
              <a:ext uri="{FF2B5EF4-FFF2-40B4-BE49-F238E27FC236}">
                <a16:creationId xmlns:a16="http://schemas.microsoft.com/office/drawing/2014/main" id="{1E80FEAA-2465-4069-A1E1-10490246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成果：测试能区分结果正确与仅仅运行成功</a:t>
            </a:r>
          </a:p>
        </p:txBody>
      </p:sp>
      <p:sp>
        <p:nvSpPr>
          <p:cNvPr id="3" name="35  /  易行 LP">
            <a:extLst xmlns:a="http://schemas.openxmlformats.org/drawingml/2006/main">
              <a:ext uri="{FF2B5EF4-FFF2-40B4-BE49-F238E27FC236}">
                <a16:creationId xmlns:a16="http://schemas.microsoft.com/office/drawing/2014/main" id="{0949F14A-679A-42D0-B351-B9284FA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6AE0B-CED0-4E8D-8A2E-FB2D3BB47B73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4505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95750"/>
                <a:gridCol w="5010150"/>
              </a:tblGrid>
              <a:tr h="6436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 / 关注点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预期与实测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故事初始模型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鸭400、鱼80；z=2320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补充销量上限150、50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鸭150、鱼50；z=950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Tanner 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玩具2000、组合1000；z=3500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T04～T06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min、=、负右端值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目标值2.25、6、5；均通过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T07、T08、T14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矛盾约束、无界、零次换基上限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分别为 infeasible、unbounded、iteration_limit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T09～T13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T15～T16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冗余、退化、非法数值、严格关系、零行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通过；非法输入拒绝，无可行情况正确区分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6479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运行成果：Tanner 规划方案">
            <a:extLst xmlns:a="http://schemas.openxmlformats.org/drawingml/2006/main">
              <a:ext uri="{FF2B5EF4-FFF2-40B4-BE49-F238E27FC236}">
                <a16:creationId xmlns:a16="http://schemas.microsoft.com/office/drawing/2014/main" id="{2E27E6D4-FB41-415C-A38B-F5F59AD0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运行成果：Tanner 规划方案</a:t>
            </a:r>
          </a:p>
        </p:txBody>
      </p:sp>
      <p:sp>
        <p:nvSpPr>
          <p:cNvPr id="2" name="成果：方案同时保留业务名称、资源检查和迭代记录">
            <a:extLst xmlns:a="http://schemas.openxmlformats.org/drawingml/2006/main">
              <a:ext uri="{FF2B5EF4-FFF2-40B4-BE49-F238E27FC236}">
                <a16:creationId xmlns:a16="http://schemas.microsoft.com/office/drawing/2014/main" id="{0A7C2081-A2A5-4130-BA3F-505AFD0D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成果：方案同时保留业务名称、资源检查和迭代记录</a:t>
            </a:r>
          </a:p>
        </p:txBody>
      </p:sp>
      <p:sp>
        <p:nvSpPr>
          <p:cNvPr id="3" name="36  /  易行 LP">
            <a:extLst xmlns:a="http://schemas.openxmlformats.org/drawingml/2006/main">
              <a:ext uri="{FF2B5EF4-FFF2-40B4-BE49-F238E27FC236}">
                <a16:creationId xmlns:a16="http://schemas.microsoft.com/office/drawing/2014/main" id="{F2619FE5-BB08-4F61-9CED-9717FAD3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36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B487F-8E9B-43F9-A43F-D29C64D58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a8f8ec30a4a27"/>
          <a:stretch xmlns:a="http://schemas.openxmlformats.org/drawingml/2006/main"/>
        </p:blipFill>
        <p:spPr>
          <a:xfrm xmlns:a="http://schemas.openxmlformats.org/drawingml/2006/main">
            <a:off x="3286125" y="1698625"/>
            <a:ext cx="8286750" cy="4327525"/>
          </a:xfrm>
          <a:prstGeom xmlns:a="http://schemas.openxmlformats.org/drawingml/2006/main" prst="rect">
            <a:avLst/>
          </a:prstGeom>
        </p:spPr>
      </p:pic>
      <p:sp>
        <p:nvSpPr>
          <p:cNvPr id="5" name="最优方案">
            <a:extLst xmlns:a="http://schemas.openxmlformats.org/drawingml/2006/main">
              <a:ext uri="{FF2B5EF4-FFF2-40B4-BE49-F238E27FC236}">
                <a16:creationId xmlns:a16="http://schemas.microsoft.com/office/drawing/2014/main" id="{D396A551-1734-4C1F-8EE5-D6523BA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最优方案</a:t>
            </a:r>
          </a:p>
        </p:txBody>
      </p:sp>
      <p:sp>
        <p:nvSpPr>
          <p:cNvPr id="6" name="玩具 2000&#10;&#10;组合部件 1000&#10;&#10;目标值 3500">
            <a:extLst xmlns:a="http://schemas.openxmlformats.org/drawingml/2006/main">
              <a:ext uri="{FF2B5EF4-FFF2-40B4-BE49-F238E27FC236}">
                <a16:creationId xmlns:a16="http://schemas.microsoft.com/office/drawing/2014/main" id="{18D12672-C271-4963-82FB-57C2A9E1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玩具 2000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组合部件 1000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目标值 3500</a:t>
            </a:r>
          </a:p>
        </p:txBody>
      </p:sp>
      <p:sp>
        <p:nvSpPr>
          <p:cNvPr id="7" name="两条资源约束均取等号；迭代记录与完整方案见软件及导出记录。">
            <a:extLst xmlns:a="http://schemas.openxmlformats.org/drawingml/2006/main">
              <a:ext uri="{FF2B5EF4-FFF2-40B4-BE49-F238E27FC236}">
                <a16:creationId xmlns:a16="http://schemas.microsoft.com/office/drawing/2014/main" id="{32392408-F592-4078-B9D6-B94D7AC6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两条资源约束均取等号；迭代记录与完整方案见软件及导出记录。</a:t>
            </a:r>
          </a:p>
        </p:txBody>
      </p:sp>
    </p:spTree>
    <p:extLst>
      <p:ext uri="{BB962C8B-B14F-4D97-AF65-F5344CB8AC3E}">
        <p14:creationId xmlns:p14="http://schemas.microsoft.com/office/powerpoint/2010/main" val="4024247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变更验证：补充销量约束后重算">
            <a:extLst xmlns:a="http://schemas.openxmlformats.org/drawingml/2006/main">
              <a:ext uri="{FF2B5EF4-FFF2-40B4-BE49-F238E27FC236}">
                <a16:creationId xmlns:a16="http://schemas.microsoft.com/office/drawing/2014/main" id="{9FAF3BF9-E9F7-46C6-9339-5411AC6E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变更验证：补充销量约束后重算</a:t>
            </a:r>
          </a:p>
        </p:txBody>
      </p:sp>
      <p:sp>
        <p:nvSpPr>
          <p:cNvPr id="2" name="成果：用同一求解器处理模型迭代，避免把旧答案继续当成有效方案">
            <a:extLst xmlns:a="http://schemas.openxmlformats.org/drawingml/2006/main">
              <a:ext uri="{FF2B5EF4-FFF2-40B4-BE49-F238E27FC236}">
                <a16:creationId xmlns:a16="http://schemas.microsoft.com/office/drawing/2014/main" id="{5F8C3920-823A-4A9E-94B6-B57DA229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成果：用同一求解器处理模型迭代，避免把旧答案继续当成有效方案</a:t>
            </a:r>
          </a:p>
        </p:txBody>
      </p:sp>
      <p:sp>
        <p:nvSpPr>
          <p:cNvPr id="3" name="37  /  易行 LP">
            <a:extLst xmlns:a="http://schemas.openxmlformats.org/drawingml/2006/main">
              <a:ext uri="{FF2B5EF4-FFF2-40B4-BE49-F238E27FC236}">
                <a16:creationId xmlns:a16="http://schemas.microsoft.com/office/drawing/2014/main" id="{4868933B-D4E0-4835-BB56-4CA9F5F0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35A4F-CDFF-44D9-B05B-CC7E7045E3AD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3905250"/>
                <a:gridCol w="1962150"/>
              </a:tblGrid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模型版本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新增条件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最优活动水平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尚未限定销量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鸭400，鱼80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修订模型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鸭≤150，鱼≤50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鸭150，鱼50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的操作：载入故事模型 → 加入两条销量约束 → 重新建模 → ">
            <a:extLst xmlns:a="http://schemas.openxmlformats.org/drawingml/2006/main">
              <a:ext uri="{FF2B5EF4-FFF2-40B4-BE49-F238E27FC236}">
                <a16:creationId xmlns:a16="http://schemas.microsoft.com/office/drawing/2014/main" id="{6B20B972-6C7C-48A9-9F94-5820D424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我的操作：载入故事模型 → 加入两条销量约束 → 重新建模 → 计算 → 代回检查。</a:t>
            </a:r>
          </a:p>
        </p:txBody>
      </p:sp>
      <p:sp>
        <p:nvSpPr>
          <p:cNvPr id="6" name="软件能够重算已给定的模型；销量上限是否可靠、模型假设是否完整，需">
            <a:extLst xmlns:a="http://schemas.openxmlformats.org/drawingml/2006/main">
              <a:ext uri="{FF2B5EF4-FFF2-40B4-BE49-F238E27FC236}">
                <a16:creationId xmlns:a16="http://schemas.microsoft.com/office/drawing/2014/main" id="{1181E3D0-B1DC-49F5-99E8-6A0888E9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软件能够重算已给定的模型；销量上限是否可靠、模型假设是否完整，需要研究人员审核。</a:t>
            </a:r>
          </a:p>
        </p:txBody>
      </p:sp>
    </p:spTree>
    <p:extLst>
      <p:ext uri="{BB962C8B-B14F-4D97-AF65-F5344CB8AC3E}">
        <p14:creationId xmlns:p14="http://schemas.microsoft.com/office/powerpoint/2010/main" val="9818424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需求—设计—代码—测试追踪">
            <a:extLst xmlns:a="http://schemas.openxmlformats.org/drawingml/2006/main">
              <a:ext uri="{FF2B5EF4-FFF2-40B4-BE49-F238E27FC236}">
                <a16:creationId xmlns:a16="http://schemas.microsoft.com/office/drawing/2014/main" id="{711E707D-483D-4888-AD26-60646C8E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需求—设计—代码—测试追踪</a:t>
            </a:r>
          </a:p>
        </p:txBody>
      </p:sp>
      <p:sp>
        <p:nvSpPr>
          <p:cNvPr id="2" name="成果：每项核心需求都有实现与验证依据">
            <a:extLst xmlns:a="http://schemas.openxmlformats.org/drawingml/2006/main">
              <a:ext uri="{FF2B5EF4-FFF2-40B4-BE49-F238E27FC236}">
                <a16:creationId xmlns:a16="http://schemas.microsoft.com/office/drawing/2014/main" id="{CCA925B9-A528-4D97-8097-15BBDC4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成果：每项核心需求都有实现与验证依据</a:t>
            </a:r>
          </a:p>
        </p:txBody>
      </p:sp>
      <p:sp>
        <p:nvSpPr>
          <p:cNvPr id="3" name="38  /  易行 LP">
            <a:extLst xmlns:a="http://schemas.openxmlformats.org/drawingml/2006/main">
              <a:ext uri="{FF2B5EF4-FFF2-40B4-BE49-F238E27FC236}">
                <a16:creationId xmlns:a16="http://schemas.microsoft.com/office/drawing/2014/main" id="{0378EEC7-7433-4339-82AB-665DEA6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38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E0EEA-E82B-430C-A0A2-E1FD0312E9B0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05500"/>
                <a:gridCol w="2486025"/>
              </a:tblGrid>
              <a:tr h="6422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 / 代码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 文本导入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Repository.read / textFile 回调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U11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 结构化建模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ModelView.render / 动态矩阵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U08、U09</a:t>
                      </a:r>
                    </a:p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T11、T12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 生成与校验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/ Controller.build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U01、U04；T13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 计算与方案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/ showResult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T01～T10</a:t>
                      </a:r>
                    </a:p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U02、U05～U07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 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Controller.invalidate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U03；T02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 保存与迭代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 / trace /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U10、U13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1261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评审准备与尚待确认的问题">
            <a:extLst xmlns:a="http://schemas.openxmlformats.org/drawingml/2006/main">
              <a:ext uri="{FF2B5EF4-FFF2-40B4-BE49-F238E27FC236}">
                <a16:creationId xmlns:a16="http://schemas.microsoft.com/office/drawing/2014/main" id="{1AB30BA9-AC97-4E0C-B908-6944F19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评审准备与尚待确认的问题</a:t>
            </a:r>
          </a:p>
        </p:txBody>
      </p:sp>
      <p:sp>
        <p:nvSpPr>
          <p:cNvPr id="2" name="成果：将未确认事项显式列出，不虚构评审与访谈记录">
            <a:extLst xmlns:a="http://schemas.openxmlformats.org/drawingml/2006/main">
              <a:ext uri="{FF2B5EF4-FFF2-40B4-BE49-F238E27FC236}">
                <a16:creationId xmlns:a16="http://schemas.microsoft.com/office/drawing/2014/main" id="{6947AC15-6428-492C-BC17-7561910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成果：将未确认事项显式列出，不虚构评审与访谈记录</a:t>
            </a:r>
          </a:p>
        </p:txBody>
      </p:sp>
      <p:sp>
        <p:nvSpPr>
          <p:cNvPr id="3" name="39  /  易行 LP">
            <a:extLst xmlns:a="http://schemas.openxmlformats.org/drawingml/2006/main">
              <a:ext uri="{FF2B5EF4-FFF2-40B4-BE49-F238E27FC236}">
                <a16:creationId xmlns:a16="http://schemas.microsoft.com/office/drawing/2014/main" id="{5FA0A9A0-982A-45BE-B60A-CB0105CF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53677-FDF3-4826-A0ED-ED098A1FC314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待确认事项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评审后可能修改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输入方式与导入格式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辅助建模；TXT 与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增加代数式解析或指定格式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严格不等式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菜单保留 &lt;、&gt;；阻止直接计算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需确认精度语义或整数语义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变量是否必须为整数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仅支持连续变量，结果中明确提示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如需整数最优，增加整数规划算法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部署与公司业务范围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本地单机，当前专注 LP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根据 Q6、Q7 答复调整架构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评审记录与修改归档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尚无正式评审意见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收到意见后记录问题、修改和复验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5476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总结">
            <a:extLst xmlns:a="http://schemas.openxmlformats.org/drawingml/2006/main">
              <a:ext uri="{FF2B5EF4-FFF2-40B4-BE49-F238E27FC236}">
                <a16:creationId xmlns:a16="http://schemas.microsoft.com/office/drawing/2014/main" id="{E96FC571-662E-4EB1-AE32-9F39835A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项目总结</a:t>
            </a:r>
          </a:p>
        </p:txBody>
      </p:sp>
      <p:sp>
        <p:nvSpPr>
          <p:cNvPr id="2" name="我的收获：把业务困难、领域知识和软件实现连接起来">
            <a:extLst xmlns:a="http://schemas.openxmlformats.org/drawingml/2006/main">
              <a:ext uri="{FF2B5EF4-FFF2-40B4-BE49-F238E27FC236}">
                <a16:creationId xmlns:a16="http://schemas.microsoft.com/office/drawing/2014/main" id="{B4DE0BBA-A367-4186-AB64-A8DEBA3F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我的收获：把业务困难、领域知识和软件实现连接起来</a:t>
            </a:r>
          </a:p>
        </p:txBody>
      </p:sp>
      <p:sp>
        <p:nvSpPr>
          <p:cNvPr id="3" name="40  /  易行 LP">
            <a:extLst xmlns:a="http://schemas.openxmlformats.org/drawingml/2006/main">
              <a:ext uri="{FF2B5EF4-FFF2-40B4-BE49-F238E27FC236}">
                <a16:creationId xmlns:a16="http://schemas.microsoft.com/office/drawing/2014/main" id="{5B80E1DE-F0F6-46F7-B81E-4898A444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40  /  易行 LP</a:t>
            </a:r>
          </a:p>
        </p:txBody>
      </p:sp>
      <p:sp>
        <p:nvSpPr>
          <p:cNvPr id="4" name="我从“小明反复手算”发现计算辅助需求，并明确人和软件各自承担的责">
            <a:extLst xmlns:a="http://schemas.openxmlformats.org/drawingml/2006/main">
              <a:ext uri="{FF2B5EF4-FFF2-40B4-BE49-F238E27FC236}">
                <a16:creationId xmlns:a16="http://schemas.microsoft.com/office/drawing/2014/main" id="{FD1B4F4A-9BD0-49AE-9F07-63BE465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我从“小明反复手算”发现计算辅助需求，并明确人和软件各自承担的责任。</a:t>
            </a:r>
          </a:p>
        </p:txBody>
      </p:sp>
      <p:sp>
        <p:nvSpPr>
          <p:cNvPr id="5" name="我通过教师原型细化辅助建模交互，学习将活动、资源与目标转换为线性">
            <a:extLst xmlns:a="http://schemas.openxmlformats.org/drawingml/2006/main">
              <a:ext uri="{FF2B5EF4-FFF2-40B4-BE49-F238E27FC236}">
                <a16:creationId xmlns:a16="http://schemas.microsoft.com/office/drawing/2014/main" id="{0D1368D5-6FBF-489B-B4E8-42C33C1A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我通过教师原型细化辅助建模交互，学习将活动、资源与目标转换为线性模型。</a:t>
            </a:r>
          </a:p>
        </p:txBody>
      </p:sp>
      <p:sp>
        <p:nvSpPr>
          <p:cNvPr id="6" name="我将分析模型逐步落实为职责、类与代码，并通过回归测试和界面操作验">
            <a:extLst xmlns:a="http://schemas.openxmlformats.org/drawingml/2006/main">
              <a:ext uri="{FF2B5EF4-FFF2-40B4-BE49-F238E27FC236}">
                <a16:creationId xmlns:a16="http://schemas.microsoft.com/office/drawing/2014/main" id="{96DB0447-173C-4FA4-A1ED-99D6C4A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我将分析模型逐步落实为职责、类与代码，并通过回归测试和界面操作验证。</a:t>
            </a:r>
          </a:p>
        </p:txBody>
      </p:sp>
      <p:sp>
        <p:nvSpPr>
          <p:cNvPr id="7" name="我认识到：模型正确性与求解正确性需要分别检查，材料本身也应交叉核">
            <a:extLst xmlns:a="http://schemas.openxmlformats.org/drawingml/2006/main">
              <a:ext uri="{FF2B5EF4-FFF2-40B4-BE49-F238E27FC236}">
                <a16:creationId xmlns:a16="http://schemas.microsoft.com/office/drawing/2014/main" id="{394B4A8A-88CC-4649-872A-452ECE93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我认识到：模型正确性与求解正确性需要分别检查，材料本身也应交叉核对。</a:t>
            </a:r>
          </a:p>
        </p:txBody>
      </p:sp>
      <p:sp>
        <p:nvSpPr>
          <p:cNvPr id="8" name="后续工作：完成涉众调研与现场评审，再按意见修改、复验并归档。">
            <a:extLst xmlns:a="http://schemas.openxmlformats.org/drawingml/2006/main">
              <a:ext uri="{FF2B5EF4-FFF2-40B4-BE49-F238E27FC236}">
                <a16:creationId xmlns:a16="http://schemas.microsoft.com/office/drawing/2014/main" id="{BC43A1A7-DDDC-43B9-9389-A69D385C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后续工作：完成涉众调研与现场评审，再按意见修改、复验并归档。</a:t>
            </a:r>
          </a:p>
        </p:txBody>
      </p:sp>
    </p:spTree>
    <p:extLst>
      <p:ext uri="{BB962C8B-B14F-4D97-AF65-F5344CB8AC3E}">
        <p14:creationId xmlns:p14="http://schemas.microsoft.com/office/powerpoint/2010/main" val="5245791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参考材料与交付内容">
            <a:extLst xmlns:a="http://schemas.openxmlformats.org/drawingml/2006/main">
              <a:ext uri="{FF2B5EF4-FFF2-40B4-BE49-F238E27FC236}">
                <a16:creationId xmlns:a16="http://schemas.microsoft.com/office/drawing/2014/main" id="{20CD9B71-BA2D-49BE-AE0F-9FC1B639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参考材料与交付内容</a:t>
            </a:r>
          </a:p>
        </p:txBody>
      </p:sp>
      <p:sp>
        <p:nvSpPr>
          <p:cNvPr id="2" name="成果：来源可追溯，程序可复现，报告与实现对应">
            <a:extLst xmlns:a="http://schemas.openxmlformats.org/drawingml/2006/main">
              <a:ext uri="{FF2B5EF4-FFF2-40B4-BE49-F238E27FC236}">
                <a16:creationId xmlns:a16="http://schemas.microsoft.com/office/drawing/2014/main" id="{775BF407-E73F-4D6D-9045-95C3AFFB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成果：来源可追溯，程序可复现，报告与实现对应</a:t>
            </a:r>
          </a:p>
        </p:txBody>
      </p:sp>
      <p:sp>
        <p:nvSpPr>
          <p:cNvPr id="3" name="41  /  易行 LP">
            <a:extLst xmlns:a="http://schemas.openxmlformats.org/drawingml/2006/main">
              <a:ext uri="{FF2B5EF4-FFF2-40B4-BE49-F238E27FC236}">
                <a16:creationId xmlns:a16="http://schemas.microsoft.com/office/drawing/2014/main" id="{5DE13E8E-EEDB-4E31-AE50-1B1F3816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7518-6B8A-4A65-9E3E-51303C60A1B2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422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类别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 / 文件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课程任务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《现代软件工程课程设计》课程安排.pptx；课程设计报告（PPT）样本.pptx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领域与故事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发现软件的故事.pdf；运筹学(线性规划).pptx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教师补充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参考资料/教师群内图片1.png（Q1～Q7）；教师界面原型.png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可运行软件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source/index.html、style.css、solver.js、app.js、examples.js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source/test-solver.cjs；node source/test-vertices.cjs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提交与说明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交付目录中的报告 PPT / PDF、软件源码压缩包与使用说明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246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2026-10-26T09:39:34.5590000Z</dcterms:created>
  <dcterms:modified xsi:type="dcterms:W3CDTF">2026-10-26T09:39:34.5590000Z</dcterms:modified>
</coreProperties>
</file>