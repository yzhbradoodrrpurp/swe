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e9e24dafe4c34" /><Relationship Type="http://schemas.openxmlformats.org/officeDocument/2006/relationships/extended-properties" Target="/docProps/app.xml" Id="R17f527d31bb1428c" /><Relationship Type="http://schemas.openxmlformats.org/officeDocument/2006/relationships/officeDocument" Target="/ppt/presentation.xml" Id="Rc2446b437d76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313e16c294bfe"/>
  </p:sldMasterIdLst>
  <p:notesMasterIdLst>
    <p:notesMasterId xmlns:r="http://schemas.openxmlformats.org/officeDocument/2006/relationships" r:id="Rd72256ecbf424adc"/>
  </p:notesMasterIdLst>
  <p:sldIdLst>
    <p:sldId xmlns:r="http://schemas.openxmlformats.org/officeDocument/2006/relationships" id="256" r:id="R7ea9e085f5de47fa"/>
    <p:sldId xmlns:r="http://schemas.openxmlformats.org/officeDocument/2006/relationships" id="257" r:id="Rbc32639aa5e94e57"/>
    <p:sldId xmlns:r="http://schemas.openxmlformats.org/officeDocument/2006/relationships" id="258" r:id="R054fd1cc8f8041e2"/>
    <p:sldId xmlns:r="http://schemas.openxmlformats.org/officeDocument/2006/relationships" id="259" r:id="R29c7c93183394b0c"/>
    <p:sldId xmlns:r="http://schemas.openxmlformats.org/officeDocument/2006/relationships" id="260" r:id="R383d589d06ee4f93"/>
    <p:sldId xmlns:r="http://schemas.openxmlformats.org/officeDocument/2006/relationships" id="261" r:id="R218834aa2af84eda"/>
    <p:sldId xmlns:r="http://schemas.openxmlformats.org/officeDocument/2006/relationships" id="262" r:id="R9120fb203c504dc5"/>
    <p:sldId xmlns:r="http://schemas.openxmlformats.org/officeDocument/2006/relationships" id="263" r:id="R82cb68ec7a9c4534"/>
    <p:sldId xmlns:r="http://schemas.openxmlformats.org/officeDocument/2006/relationships" id="264" r:id="R14980c54397a4f1c"/>
    <p:sldId xmlns:r="http://schemas.openxmlformats.org/officeDocument/2006/relationships" id="265" r:id="Re4061b42058e4310"/>
    <p:sldId xmlns:r="http://schemas.openxmlformats.org/officeDocument/2006/relationships" id="266" r:id="Rc787395e330747f1"/>
    <p:sldId xmlns:r="http://schemas.openxmlformats.org/officeDocument/2006/relationships" id="267" r:id="R07877e8ec3a64888"/>
    <p:sldId xmlns:r="http://schemas.openxmlformats.org/officeDocument/2006/relationships" id="268" r:id="Rf9b1eddd55664878"/>
    <p:sldId xmlns:r="http://schemas.openxmlformats.org/officeDocument/2006/relationships" id="269" r:id="R66aa515a91504b38"/>
    <p:sldId xmlns:r="http://schemas.openxmlformats.org/officeDocument/2006/relationships" id="270" r:id="Re8f7454e4066420e"/>
    <p:sldId xmlns:r="http://schemas.openxmlformats.org/officeDocument/2006/relationships" id="271" r:id="R53a27d5bb51b4844"/>
    <p:sldId xmlns:r="http://schemas.openxmlformats.org/officeDocument/2006/relationships" id="272" r:id="R2755d93210ac4a36"/>
    <p:sldId xmlns:r="http://schemas.openxmlformats.org/officeDocument/2006/relationships" id="273" r:id="R97fa184be8a34239"/>
    <p:sldId xmlns:r="http://schemas.openxmlformats.org/officeDocument/2006/relationships" id="274" r:id="R65c964781fa24a54"/>
    <p:sldId xmlns:r="http://schemas.openxmlformats.org/officeDocument/2006/relationships" id="275" r:id="R2a5efb39bfa048a6"/>
    <p:sldId xmlns:r="http://schemas.openxmlformats.org/officeDocument/2006/relationships" id="276" r:id="R96d0394652b74308"/>
    <p:sldId xmlns:r="http://schemas.openxmlformats.org/officeDocument/2006/relationships" id="277" r:id="R937139a360644912"/>
    <p:sldId xmlns:r="http://schemas.openxmlformats.org/officeDocument/2006/relationships" id="278" r:id="R152e0909e736459e"/>
    <p:sldId xmlns:r="http://schemas.openxmlformats.org/officeDocument/2006/relationships" id="279" r:id="R3017f57737a2488f"/>
    <p:sldId xmlns:r="http://schemas.openxmlformats.org/officeDocument/2006/relationships" id="280" r:id="Rbc994cbc228344f1"/>
    <p:sldId xmlns:r="http://schemas.openxmlformats.org/officeDocument/2006/relationships" id="281" r:id="R81cee6bd8cf64721"/>
    <p:sldId xmlns:r="http://schemas.openxmlformats.org/officeDocument/2006/relationships" id="282" r:id="R9622924b8d58494c"/>
    <p:sldId xmlns:r="http://schemas.openxmlformats.org/officeDocument/2006/relationships" id="283" r:id="R6281a59a74a74d21"/>
    <p:sldId xmlns:r="http://schemas.openxmlformats.org/officeDocument/2006/relationships" id="284" r:id="R9e05fb16b29d4795"/>
    <p:sldId xmlns:r="http://schemas.openxmlformats.org/officeDocument/2006/relationships" id="285" r:id="Ra9b471abbfe34354"/>
    <p:sldId xmlns:r="http://schemas.openxmlformats.org/officeDocument/2006/relationships" id="286" r:id="R7abc89bb66dd433f"/>
    <p:sldId xmlns:r="http://schemas.openxmlformats.org/officeDocument/2006/relationships" id="287" r:id="R410cc2a07e7c4aae"/>
    <p:sldId xmlns:r="http://schemas.openxmlformats.org/officeDocument/2006/relationships" id="288" r:id="R9c65f5c8a6284dd0"/>
    <p:sldId xmlns:r="http://schemas.openxmlformats.org/officeDocument/2006/relationships" id="289" r:id="R41d7eb1658a542dd"/>
    <p:sldId xmlns:r="http://schemas.openxmlformats.org/officeDocument/2006/relationships" id="290" r:id="Rda9864e112ef40da"/>
    <p:sldId xmlns:r="http://schemas.openxmlformats.org/officeDocument/2006/relationships" id="291" r:id="Rdcc2b628be974265"/>
    <p:sldId xmlns:r="http://schemas.openxmlformats.org/officeDocument/2006/relationships" id="292" r:id="R0334c3da7f3048fd"/>
    <p:sldId xmlns:r="http://schemas.openxmlformats.org/officeDocument/2006/relationships" id="293" r:id="R8e6c22371fcd4778"/>
    <p:sldId xmlns:r="http://schemas.openxmlformats.org/officeDocument/2006/relationships" id="294" r:id="Rbe6c3f5bb3904f63"/>
    <p:sldId xmlns:r="http://schemas.openxmlformats.org/officeDocument/2006/relationships" id="295" r:id="Rc7d67e0c6b464cde"/>
    <p:sldId xmlns:r="http://schemas.openxmlformats.org/officeDocument/2006/relationships" id="296" r:id="R40d3449395e749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83875b8594d08" /><Relationship Type="http://schemas.openxmlformats.org/officeDocument/2006/relationships/slideMaster" Target="/ppt/slideMasters/slideMaster1.xml" Id="R56e313e16c294bfe" /><Relationship Type="http://schemas.openxmlformats.org/officeDocument/2006/relationships/notesMaster" Target="/ppt/notesMasters/notesMaster1.xml" Id="Rd72256ecbf424adc" /><Relationship Type="http://schemas.openxmlformats.org/officeDocument/2006/relationships/presProps" Target="/ppt/presProps.xml" Id="Rb715faa0b8d34334" /><Relationship Type="http://schemas.openxmlformats.org/officeDocument/2006/relationships/tableStyles" Target="/ppt/tableStyles.xml" Id="Re1648f33f6554347" /><Relationship Type="http://schemas.openxmlformats.org/officeDocument/2006/relationships/slide" Target="/ppt/slides/slide1.xml" Id="R7ea9e085f5de47fa" /><Relationship Type="http://schemas.openxmlformats.org/officeDocument/2006/relationships/slide" Target="/ppt/slides/slide2.xml" Id="Rbc32639aa5e94e57" /><Relationship Type="http://schemas.openxmlformats.org/officeDocument/2006/relationships/slide" Target="/ppt/slides/slide3.xml" Id="R054fd1cc8f8041e2" /><Relationship Type="http://schemas.openxmlformats.org/officeDocument/2006/relationships/slide" Target="/ppt/slides/slide4.xml" Id="R29c7c93183394b0c" /><Relationship Type="http://schemas.openxmlformats.org/officeDocument/2006/relationships/slide" Target="/ppt/slides/slide5.xml" Id="R383d589d06ee4f93" /><Relationship Type="http://schemas.openxmlformats.org/officeDocument/2006/relationships/slide" Target="/ppt/slides/slide6.xml" Id="R218834aa2af84eda" /><Relationship Type="http://schemas.openxmlformats.org/officeDocument/2006/relationships/slide" Target="/ppt/slides/slide7.xml" Id="R9120fb203c504dc5" /><Relationship Type="http://schemas.openxmlformats.org/officeDocument/2006/relationships/slide" Target="/ppt/slides/slide8.xml" Id="R82cb68ec7a9c4534" /><Relationship Type="http://schemas.openxmlformats.org/officeDocument/2006/relationships/slide" Target="/ppt/slides/slide9.xml" Id="R14980c54397a4f1c" /><Relationship Type="http://schemas.openxmlformats.org/officeDocument/2006/relationships/slide" Target="/ppt/slides/slide10.xml" Id="Re4061b42058e4310" /><Relationship Type="http://schemas.openxmlformats.org/officeDocument/2006/relationships/slide" Target="/ppt/slides/slide11.xml" Id="Rc787395e330747f1" /><Relationship Type="http://schemas.openxmlformats.org/officeDocument/2006/relationships/slide" Target="/ppt/slides/slide12.xml" Id="R07877e8ec3a64888" /><Relationship Type="http://schemas.openxmlformats.org/officeDocument/2006/relationships/slide" Target="/ppt/slides/slide13.xml" Id="Rf9b1eddd55664878" /><Relationship Type="http://schemas.openxmlformats.org/officeDocument/2006/relationships/slide" Target="/ppt/slides/slide14.xml" Id="R66aa515a91504b38" /><Relationship Type="http://schemas.openxmlformats.org/officeDocument/2006/relationships/slide" Target="/ppt/slides/slide15.xml" Id="Re8f7454e4066420e" /><Relationship Type="http://schemas.openxmlformats.org/officeDocument/2006/relationships/slide" Target="/ppt/slides/slide16.xml" Id="R53a27d5bb51b4844" /><Relationship Type="http://schemas.openxmlformats.org/officeDocument/2006/relationships/slide" Target="/ppt/slides/slide17.xml" Id="R2755d93210ac4a36" /><Relationship Type="http://schemas.openxmlformats.org/officeDocument/2006/relationships/slide" Target="/ppt/slides/slide18.xml" Id="R97fa184be8a34239" /><Relationship Type="http://schemas.openxmlformats.org/officeDocument/2006/relationships/slide" Target="/ppt/slides/slide19.xml" Id="R65c964781fa24a54" /><Relationship Type="http://schemas.openxmlformats.org/officeDocument/2006/relationships/slide" Target="/ppt/slides/slide20.xml" Id="R2a5efb39bfa048a6" /><Relationship Type="http://schemas.openxmlformats.org/officeDocument/2006/relationships/slide" Target="/ppt/slides/slide21.xml" Id="R96d0394652b74308" /><Relationship Type="http://schemas.openxmlformats.org/officeDocument/2006/relationships/slide" Target="/ppt/slides/slide22.xml" Id="R937139a360644912" /><Relationship Type="http://schemas.openxmlformats.org/officeDocument/2006/relationships/slide" Target="/ppt/slides/slide23.xml" Id="R152e0909e736459e" /><Relationship Type="http://schemas.openxmlformats.org/officeDocument/2006/relationships/slide" Target="/ppt/slides/slide24.xml" Id="R3017f57737a2488f" /><Relationship Type="http://schemas.openxmlformats.org/officeDocument/2006/relationships/slide" Target="/ppt/slides/slide25.xml" Id="Rbc994cbc228344f1" /><Relationship Type="http://schemas.openxmlformats.org/officeDocument/2006/relationships/slide" Target="/ppt/slides/slide26.xml" Id="R81cee6bd8cf64721" /><Relationship Type="http://schemas.openxmlformats.org/officeDocument/2006/relationships/slide" Target="/ppt/slides/slide27.xml" Id="R9622924b8d58494c" /><Relationship Type="http://schemas.openxmlformats.org/officeDocument/2006/relationships/slide" Target="/ppt/slides/slide28.xml" Id="R6281a59a74a74d21" /><Relationship Type="http://schemas.openxmlformats.org/officeDocument/2006/relationships/slide" Target="/ppt/slides/slide29.xml" Id="R9e05fb16b29d4795" /><Relationship Type="http://schemas.openxmlformats.org/officeDocument/2006/relationships/slide" Target="/ppt/slides/slide30.xml" Id="Ra9b471abbfe34354" /><Relationship Type="http://schemas.openxmlformats.org/officeDocument/2006/relationships/slide" Target="/ppt/slides/slide31.xml" Id="R7abc89bb66dd433f" /><Relationship Type="http://schemas.openxmlformats.org/officeDocument/2006/relationships/slide" Target="/ppt/slides/slide32.xml" Id="R410cc2a07e7c4aae" /><Relationship Type="http://schemas.openxmlformats.org/officeDocument/2006/relationships/slide" Target="/ppt/slides/slide33.xml" Id="R9c65f5c8a6284dd0" /><Relationship Type="http://schemas.openxmlformats.org/officeDocument/2006/relationships/slide" Target="/ppt/slides/slide34.xml" Id="R41d7eb1658a542dd" /><Relationship Type="http://schemas.openxmlformats.org/officeDocument/2006/relationships/slide" Target="/ppt/slides/slide35.xml" Id="Rda9864e112ef40da" /><Relationship Type="http://schemas.openxmlformats.org/officeDocument/2006/relationships/slide" Target="/ppt/slides/slide36.xml" Id="Rdcc2b628be974265" /><Relationship Type="http://schemas.openxmlformats.org/officeDocument/2006/relationships/slide" Target="/ppt/slides/slide37.xml" Id="R0334c3da7f3048fd" /><Relationship Type="http://schemas.openxmlformats.org/officeDocument/2006/relationships/slide" Target="/ppt/slides/slide38.xml" Id="R8e6c22371fcd4778" /><Relationship Type="http://schemas.openxmlformats.org/officeDocument/2006/relationships/slide" Target="/ppt/slides/slide39.xml" Id="Rbe6c3f5bb3904f63" /><Relationship Type="http://schemas.openxmlformats.org/officeDocument/2006/relationships/slide" Target="/ppt/slides/slide40.xml" Id="Rc7d67e0c6b464cde" /><Relationship Type="http://schemas.openxmlformats.org/officeDocument/2006/relationships/slide" Target="/ppt/slides/slide41.xml" Id="R40d3449395e749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4e9d816b84c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d650a2fb14b67" /><Relationship Type="http://schemas.openxmlformats.org/officeDocument/2006/relationships/notesMaster" Target="/ppt/notesMasters/notesMaster1.xml" Id="Re313250d743846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7e50cf0d444da" /><Relationship Type="http://schemas.openxmlformats.org/officeDocument/2006/relationships/notesMaster" Target="/ppt/notesMasters/notesMaster1.xml" Id="Re479d0854b52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e41b5b58f4ca3" /><Relationship Type="http://schemas.openxmlformats.org/officeDocument/2006/relationships/notesMaster" Target="/ppt/notesMasters/notesMaster1.xml" Id="Rddaa3d91a19f4e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65c0c31a84193" /><Relationship Type="http://schemas.openxmlformats.org/officeDocument/2006/relationships/notesMaster" Target="/ppt/notesMasters/notesMaster1.xml" Id="Rae140763eff94f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4a3e24ad9e4347" /><Relationship Type="http://schemas.openxmlformats.org/officeDocument/2006/relationships/notesMaster" Target="/ppt/notesMasters/notesMaster1.xml" Id="R76ff47c1bcaf41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d49048fcad49af" /><Relationship Type="http://schemas.openxmlformats.org/officeDocument/2006/relationships/notesMaster" Target="/ppt/notesMasters/notesMaster1.xml" Id="Rade817afb0ab4c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5adbe0eadc4cc8" /><Relationship Type="http://schemas.openxmlformats.org/officeDocument/2006/relationships/notesMaster" Target="/ppt/notesMasters/notesMaster1.xml" Id="R96e4addf5c9043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782b54f13b4037" /><Relationship Type="http://schemas.openxmlformats.org/officeDocument/2006/relationships/notesMaster" Target="/ppt/notesMasters/notesMaster1.xml" Id="Rfa2848e0740d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ef462b06f47a6" /><Relationship Type="http://schemas.openxmlformats.org/officeDocument/2006/relationships/notesMaster" Target="/ppt/notesMasters/notesMaster1.xml" Id="R475d2fb116d846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d182d57dbb46e9" /><Relationship Type="http://schemas.openxmlformats.org/officeDocument/2006/relationships/notesMaster" Target="/ppt/notesMasters/notesMaster1.xml" Id="R0f06db515c0744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5138e668524d11" /><Relationship Type="http://schemas.openxmlformats.org/officeDocument/2006/relationships/notesMaster" Target="/ppt/notesMasters/notesMaster1.xml" Id="R1d171ad5057f4b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9772a6df5044f6" /><Relationship Type="http://schemas.openxmlformats.org/officeDocument/2006/relationships/notesMaster" Target="/ppt/notesMasters/notesMaster1.xml" Id="R9d9eb0d72e1b48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c9d96eb44a4b00" /><Relationship Type="http://schemas.openxmlformats.org/officeDocument/2006/relationships/notesMaster" Target="/ppt/notesMasters/notesMaster1.xml" Id="R6d35651c0e564d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be2493319e4524" /><Relationship Type="http://schemas.openxmlformats.org/officeDocument/2006/relationships/notesMaster" Target="/ppt/notesMasters/notesMaster1.xml" Id="R681634841a8641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e12190a7b546c8" /><Relationship Type="http://schemas.openxmlformats.org/officeDocument/2006/relationships/notesMaster" Target="/ppt/notesMasters/notesMaster1.xml" Id="R1851d8551ad043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89624697b74ab0" /><Relationship Type="http://schemas.openxmlformats.org/officeDocument/2006/relationships/notesMaster" Target="/ppt/notesMasters/notesMaster1.xml" Id="R540ada431ac549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62214bf4d24d31" /><Relationship Type="http://schemas.openxmlformats.org/officeDocument/2006/relationships/notesMaster" Target="/ppt/notesMasters/notesMaster1.xml" Id="R3de94393290248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f1b50926bf4507" /><Relationship Type="http://schemas.openxmlformats.org/officeDocument/2006/relationships/notesMaster" Target="/ppt/notesMasters/notesMaster1.xml" Id="Re2b282bbda6b42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6df2b627914dff" /><Relationship Type="http://schemas.openxmlformats.org/officeDocument/2006/relationships/notesMaster" Target="/ppt/notesMasters/notesMaster1.xml" Id="R78ae4ed70c944b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2286c0ae074b55" /><Relationship Type="http://schemas.openxmlformats.org/officeDocument/2006/relationships/notesMaster" Target="/ppt/notesMasters/notesMaster1.xml" Id="Rdd0b7158e99245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20f4b620d2462a" /><Relationship Type="http://schemas.openxmlformats.org/officeDocument/2006/relationships/notesMaster" Target="/ppt/notesMasters/notesMaster1.xml" Id="R691970f4095d46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abbde54bb84442" /><Relationship Type="http://schemas.openxmlformats.org/officeDocument/2006/relationships/notesMaster" Target="/ppt/notesMasters/notesMaster1.xml" Id="R44133f7d5aba47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9a380cd769489d" /><Relationship Type="http://schemas.openxmlformats.org/officeDocument/2006/relationships/notesMaster" Target="/ppt/notesMasters/notesMaster1.xml" Id="R9981871a73bd44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9005bd467b24105" /><Relationship Type="http://schemas.openxmlformats.org/officeDocument/2006/relationships/notesMaster" Target="/ppt/notesMasters/notesMaster1.xml" Id="R1524141d1e9f43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01026d73e04200" /><Relationship Type="http://schemas.openxmlformats.org/officeDocument/2006/relationships/notesMaster" Target="/ppt/notesMasters/notesMaster1.xml" Id="Rd8d4d1f0896544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21cb87eace4e2a" /><Relationship Type="http://schemas.openxmlformats.org/officeDocument/2006/relationships/notesMaster" Target="/ppt/notesMasters/notesMaster1.xml" Id="Rc729a374706d4b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e7ad0d3a9c4b67" /><Relationship Type="http://schemas.openxmlformats.org/officeDocument/2006/relationships/notesMaster" Target="/ppt/notesMasters/notesMaster1.xml" Id="R098f26c2ee954e1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5ee8d355a646a8" /><Relationship Type="http://schemas.openxmlformats.org/officeDocument/2006/relationships/notesMaster" Target="/ppt/notesMasters/notesMaster1.xml" Id="Rf5f3b199a9bf4a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9aa4cc3d7a486a" /><Relationship Type="http://schemas.openxmlformats.org/officeDocument/2006/relationships/notesMaster" Target="/ppt/notesMasters/notesMaster1.xml" Id="R7a7fe37f485440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5c7ad8954e4cc6" /><Relationship Type="http://schemas.openxmlformats.org/officeDocument/2006/relationships/notesMaster" Target="/ppt/notesMasters/notesMaster1.xml" Id="R2b530aa913594d8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f3a22528124c7a" /><Relationship Type="http://schemas.openxmlformats.org/officeDocument/2006/relationships/notesMaster" Target="/ppt/notesMasters/notesMaster1.xml" Id="Rabdf5c492ecc4b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d314dfdaa44e3e" /><Relationship Type="http://schemas.openxmlformats.org/officeDocument/2006/relationships/notesMaster" Target="/ppt/notesMasters/notesMaster1.xml" Id="Recccefd84de24e8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8633f18f594809" /><Relationship Type="http://schemas.openxmlformats.org/officeDocument/2006/relationships/notesMaster" Target="/ppt/notesMasters/notesMaster1.xml" Id="Raadbdb45e0f841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a08ee2f08cb4df7" /><Relationship Type="http://schemas.openxmlformats.org/officeDocument/2006/relationships/notesMaster" Target="/ppt/notesMasters/notesMaster1.xml" Id="Rc4a16e240a0a42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4440bf15d004ff3" /><Relationship Type="http://schemas.openxmlformats.org/officeDocument/2006/relationships/notesMaster" Target="/ppt/notesMasters/notesMaster1.xml" Id="Rd4943c36982a4d1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552a2fdb714ad7" /><Relationship Type="http://schemas.openxmlformats.org/officeDocument/2006/relationships/notesMaster" Target="/ppt/notesMasters/notesMaster1.xml" Id="R5fdb075569ac43b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dc068fb2631478e" /><Relationship Type="http://schemas.openxmlformats.org/officeDocument/2006/relationships/notesMaster" Target="/ppt/notesMasters/notesMaster1.xml" Id="R88fff17d6a0c477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bec6466664449d9" /><Relationship Type="http://schemas.openxmlformats.org/officeDocument/2006/relationships/notesMaster" Target="/ppt/notesMasters/notesMaster1.xml" Id="R0a45662637f842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7a4bb86c9eb4b94" /><Relationship Type="http://schemas.openxmlformats.org/officeDocument/2006/relationships/notesMaster" Target="/ppt/notesMasters/notesMaster1.xml" Id="Rf1881af6f0764ba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2013a2485004f14" /><Relationship Type="http://schemas.openxmlformats.org/officeDocument/2006/relationships/notesMaster" Target="/ppt/notesMasters/notesMaster1.xml" Id="R25564181afd94c0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7b714c6b24743ad" /><Relationship Type="http://schemas.openxmlformats.org/officeDocument/2006/relationships/notesMaster" Target="/ppt/notesMasters/notesMaster1.xml" Id="Reba959439ac5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采用我的课程设计视角，忠实记录本次基于材料的需求整理、分析、设计、实现与验证。没有课堂访谈记录，不将假设写成老师口述回答。来源：《现代软件工程课程设计》课程安排.pptx第2～3页；课程设计报告（PPT）样本.pptx第2～11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依据：课程设计报告（PPT）样本.pptx第6页。老师原型在开发过程中补充，因此对范围与交互进行了修订；未虚构课程周次的实际参与记录。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来源：发现软件的故事.pdf第2～9页。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来源：发现软件的故事.pdf第1～2、6～9页；参考资料/教师群内图片1.png；参考资料/教师界面原型.png。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来源：《现代软件工程课程设计》课程安排.pptx第7页；参考资料/教师群内图片1.png；参考资料/教师界面原型.png。教师给的是调研问题和原型，没有完整访谈问答。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Q1、Q2 与界面原型。Q1、Q2 的以下回答来自原型解读，不是老师口述原文。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Q3 与界面原型。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来源：运筹学(线性规划).pptx第8～16、34～41页附近的建模与假设内容；教师 Q4、Q5。图示是我对方法的整理。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来源：教师界面原型。变量定义与系数按原型；计算值来自 source/test-solver.cjs 的 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来源：发现软件的故事.pdf第4、6、8页。第4页图为5x1+4x2；第8页图为4x1+5x2，与文字利润和950美元不一致。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来源：运筹学(线性规划).pptx单纯形法、两阶段法与解的情形；source/solver.js。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来源：运筹学(线性规划).pptx的单纯形法与两阶段法；实现以 source/solver.js 为准。箭头终点为后继活动；异常分支在下方说明。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来源：source/solver.js 实际迭代记录；T03。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 Q6、Q7。没有涉众部署偏好与业务范围的正式回答；以下为本次实现选择。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依据：故事与教师原型。使用故事是我基于材料构建的需求场景，不声称经过真实用户试用。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依据：教师原型；source/index.html、app.js、solver.js。标记“扩展”为我的工程选择。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来源：课程安排第7页要求写非功能性与可用性需求；具体门槛由本次设计提出。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依据：教师原型与需求 F01～F06。图中展示本系统用例与参与者之间的关联，外框为系统边界。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需求：F01～F03、F05；对应 ModelView 与 SolveController.build()。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需求：F04～F06；对应 SolveController.solve()、SimplexSolver.solve()、ModelView.showResult()。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来源：参考资料/教师界面原型.png。原型来自用户提供的教师群内图片。未把它当成已完成访谈记录。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来源：真实运行截图，output/playwright/易行LP-建模界面.png。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来源：教师原型与本次设计。连线表示包含或归属，标注两端的多重性；当前仅在内存保留一次结果，导出后可另存；所有求解结果均记录初始表，因此迭代记录至少1条。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 UC01、UC02。图中每一行是一次参与者操作及对应系统响应，系统内部设计留到后续页面。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实现依据：source/index.html、style.css、app.js、solver.js、examples.js。当前部署是假设而非涉众确认结论。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source/solver.js 与 source/app.js 中实际类定义。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来源：source/app.js 与 source/solver.js。箭头表示调用或依赖；求解器方法内部的 pivot / simplex 是局部函数，不是公开接口。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来源：SolveController.solve() 实际调用流程。图中的消息按由上到下的顺序执行；省略创建对象和非关键返回。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方法：使用 Information Expert、Controller、低耦合与高内聚检查设计；这些是设计原则应用，不声称运行性能由模式自动保证。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实现：SolveController.invalidate()、build() 与 solve()。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实现：source/solver.js；测试 T05～T16 与100个二维顶点枚举算例。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路径相对于课程设计目录。所有类名与文件名均以本次交付源码为准。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摘自 source/app.js，以下片段压缩了展示格式，逻辑与实际实现一致。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实际验证记录：.build/solver-tests.json、.build/vertex-tests.json、.build/ui-tests.json。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来源：source/test-solver.cjs 与 .build/solver-tests.json。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 output/playwright/易行LP-Tanner方案.png。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来源：故事第4、6～8页；T01、T02；实际运行截图。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源文件与测试均在 source/；UI检查记录在 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依据：课程安排要求经评审后修改归档。目前尚未进行老师现场评审，因此本页是待评审清单。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总结来自本次材料阅读、设计、实现与验证，不虚构真实访谈、用户试用或老师评审。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来源均为用户提供的课程材料与本次实现文件。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4bc61ac6d44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ca2e864d749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13d3604524f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0a16b59fe41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02996ac6f49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6b3d49da7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3C37B4-4241-42A9-9DB6-C6E7D74F6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04F018-0EA1-4FBC-897A-30F7A0D373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10B3EB-B6A9-4912-A30E-468D6F4D7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14ACBC-55D1-4687-B5BD-17E16CC778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97D2DE-9605-4521-9684-D61D3D53A8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47038-D770-4C90-9FC0-2D8EBFB2E6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C46BCC-97B6-4FB5-9515-9D6B5F8FC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B7D151-BD69-427C-B949-596D5C3778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43B39B-114E-4153-A910-BEC900E97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B2B71D-BA4D-4E37-9737-7B9C90E33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7276fdf3064391" /><Relationship Type="http://schemas.openxmlformats.org/officeDocument/2006/relationships/slideLayout" Target="/ppt/slideLayouts/slideLayout1.xml" Id="Re7fffb789b814696" /><Relationship Type="http://schemas.openxmlformats.org/officeDocument/2006/relationships/slideLayout" Target="/ppt/slideLayouts/slideLayout2.xml" Id="R417ad276a4814e6b" /><Relationship Type="http://schemas.openxmlformats.org/officeDocument/2006/relationships/slideLayout" Target="/ppt/slideLayouts/slideLayout3.xml" Id="R89e88473941e4719" /><Relationship Type="http://schemas.openxmlformats.org/officeDocument/2006/relationships/slideLayout" Target="/ppt/slideLayouts/slideLayout4.xml" Id="R162ae086340b4e53" /><Relationship Type="http://schemas.openxmlformats.org/officeDocument/2006/relationships/slideLayout" Target="/ppt/slideLayouts/slideLayout5.xml" Id="R570e9f00341947e2" /><Relationship Type="http://schemas.openxmlformats.org/officeDocument/2006/relationships/slideLayout" Target="/ppt/slideLayouts/slideLayout6.xml" Id="R86b7ab6d5d9a42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ffb789b814696"/>
    <p:sldLayoutId xmlns:r="http://schemas.openxmlformats.org/officeDocument/2006/relationships" id="2147483650" r:id="R417ad276a4814e6b"/>
    <p:sldLayoutId xmlns:r="http://schemas.openxmlformats.org/officeDocument/2006/relationships" id="2147483651" r:id="R89e88473941e4719"/>
    <p:sldLayoutId xmlns:r="http://schemas.openxmlformats.org/officeDocument/2006/relationships" id="2147483652" r:id="R162ae086340b4e53"/>
    <p:sldLayoutId xmlns:r="http://schemas.openxmlformats.org/officeDocument/2006/relationships" id="2147483653" r:id="R570e9f00341947e2"/>
    <p:sldLayoutId xmlns:r="http://schemas.openxmlformats.org/officeDocument/2006/relationships" id="2147483654" r:id="R86b7ab6d5d9a42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45267c7064a0f" /><Relationship Type="http://schemas.openxmlformats.org/officeDocument/2006/relationships/notesSlide" Target="/ppt/notesSlides/notesSlide1.xml" Id="R5770da6449c6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8207959de4850" /><Relationship Type="http://schemas.openxmlformats.org/officeDocument/2006/relationships/notesSlide" Target="/ppt/notesSlides/notesSlide2.xml" Id="R1baa05a5eeba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bda9545604454" /><Relationship Type="http://schemas.openxmlformats.org/officeDocument/2006/relationships/notesSlide" Target="/ppt/notesSlides/notesSlide3.xml" Id="R5dc3957707a4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3589e08ea4363" /><Relationship Type="http://schemas.openxmlformats.org/officeDocument/2006/relationships/notesSlide" Target="/ppt/notesSlides/notesSlide4.xml" Id="R3323d57ebe2f4c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01bf8f47843d3" /><Relationship Type="http://schemas.openxmlformats.org/officeDocument/2006/relationships/notesSlide" Target="/ppt/notesSlides/notesSlide5.xml" Id="R4bbc7d6df6ec4a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5af2959084dec" /><Relationship Type="http://schemas.openxmlformats.org/officeDocument/2006/relationships/notesSlide" Target="/ppt/notesSlides/notesSlide6.xml" Id="R49cde15ff31e41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0d3645ae545cd" /><Relationship Type="http://schemas.openxmlformats.org/officeDocument/2006/relationships/notesSlide" Target="/ppt/notesSlides/notesSlide7.xml" Id="R6bdb5c8bc04e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4f9deb8d9436d" /><Relationship Type="http://schemas.openxmlformats.org/officeDocument/2006/relationships/notesSlide" Target="/ppt/notesSlides/notesSlide8.xml" Id="R0570a5a0b88840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8c224af5743bb" /><Relationship Type="http://schemas.openxmlformats.org/officeDocument/2006/relationships/notesSlide" Target="/ppt/notesSlides/notesSlide9.xml" Id="R8c34383b7dff47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3e01ab4514d47" /><Relationship Type="http://schemas.openxmlformats.org/officeDocument/2006/relationships/notesSlide" Target="/ppt/notesSlides/notesSlide10.xml" Id="R5b59f9e522ed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8ef7cf1514ace" /><Relationship Type="http://schemas.openxmlformats.org/officeDocument/2006/relationships/notesSlide" Target="/ppt/notesSlides/notesSlide11.xml" Id="Rde5298bd654c4a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54ec47dae4138" /><Relationship Type="http://schemas.openxmlformats.org/officeDocument/2006/relationships/notesSlide" Target="/ppt/notesSlides/notesSlide12.xml" Id="R66c0e7dae98442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67b9f22774001" /><Relationship Type="http://schemas.openxmlformats.org/officeDocument/2006/relationships/notesSlide" Target="/ppt/notesSlides/notesSlide13.xml" Id="Rde1734f727cd45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f508f935f4915" /><Relationship Type="http://schemas.openxmlformats.org/officeDocument/2006/relationships/notesSlide" Target="/ppt/notesSlides/notesSlide14.xml" Id="R648b8ccc0b144a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bb5c1d5054805" /><Relationship Type="http://schemas.openxmlformats.org/officeDocument/2006/relationships/notesSlide" Target="/ppt/notesSlides/notesSlide15.xml" Id="R1e9f48ff319f4b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c55bfe7ee4265" /><Relationship Type="http://schemas.openxmlformats.org/officeDocument/2006/relationships/notesSlide" Target="/ppt/notesSlides/notesSlide16.xml" Id="R42069d65ce534e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5a58f86694fbc" /><Relationship Type="http://schemas.openxmlformats.org/officeDocument/2006/relationships/notesSlide" Target="/ppt/notesSlides/notesSlide17.xml" Id="Rabdc06e80fc44e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2944ce5e046a0" /><Relationship Type="http://schemas.openxmlformats.org/officeDocument/2006/relationships/notesSlide" Target="/ppt/notesSlides/notesSlide18.xml" Id="R7535e033b0a14c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6fb343d794ca5" /><Relationship Type="http://schemas.openxmlformats.org/officeDocument/2006/relationships/notesSlide" Target="/ppt/notesSlides/notesSlide19.xml" Id="R15de54dbd6104d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42de81fb844b8" /><Relationship Type="http://schemas.openxmlformats.org/officeDocument/2006/relationships/notesSlide" Target="/ppt/notesSlides/notesSlide20.xml" Id="R57fe913969dc48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59e2bf36842d3" /><Relationship Type="http://schemas.openxmlformats.org/officeDocument/2006/relationships/image" Target="/ppt/media/image.png" Id="R9b536c17d9fb417f" /><Relationship Type="http://schemas.openxmlformats.org/officeDocument/2006/relationships/notesSlide" Target="/ppt/notesSlides/notesSlide21.xml" Id="Re0627731f69f4b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0a0c1532149e3" /><Relationship Type="http://schemas.openxmlformats.org/officeDocument/2006/relationships/image" Target="/ppt/media/image2.png" Id="Re9b453942590446c" /><Relationship Type="http://schemas.openxmlformats.org/officeDocument/2006/relationships/notesSlide" Target="/ppt/notesSlides/notesSlide22.xml" Id="R998c56f71d9344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08300daf54bcb" /><Relationship Type="http://schemas.openxmlformats.org/officeDocument/2006/relationships/notesSlide" Target="/ppt/notesSlides/notesSlide23.xml" Id="R8c5998acd28148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8a6e9bc934f4d" /><Relationship Type="http://schemas.openxmlformats.org/officeDocument/2006/relationships/notesSlide" Target="/ppt/notesSlides/notesSlide24.xml" Id="Re8aaf948531047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fc4ee40d14b50" /><Relationship Type="http://schemas.openxmlformats.org/officeDocument/2006/relationships/notesSlide" Target="/ppt/notesSlides/notesSlide25.xml" Id="Reb3166fa4be942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fb9ee11734b22" /><Relationship Type="http://schemas.openxmlformats.org/officeDocument/2006/relationships/notesSlide" Target="/ppt/notesSlides/notesSlide26.xml" Id="Rb751febb18464d0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9305c21354027" /><Relationship Type="http://schemas.openxmlformats.org/officeDocument/2006/relationships/notesSlide" Target="/ppt/notesSlides/notesSlide27.xml" Id="R431954651ba14b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2998f0ade4fa7" /><Relationship Type="http://schemas.openxmlformats.org/officeDocument/2006/relationships/notesSlide" Target="/ppt/notesSlides/notesSlide28.xml" Id="Rb91b503ab47f4e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f0c7fbbe84c79" /><Relationship Type="http://schemas.openxmlformats.org/officeDocument/2006/relationships/notesSlide" Target="/ppt/notesSlides/notesSlide29.xml" Id="Rbae723e883b849f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25785134f4b53" /><Relationship Type="http://schemas.openxmlformats.org/officeDocument/2006/relationships/notesSlide" Target="/ppt/notesSlides/notesSlide30.xml" Id="Rb8c980f5ee754e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5232ebb284e69" /><Relationship Type="http://schemas.openxmlformats.org/officeDocument/2006/relationships/notesSlide" Target="/ppt/notesSlides/notesSlide31.xml" Id="Rb95c2b7445a4410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fc148120147c8" /><Relationship Type="http://schemas.openxmlformats.org/officeDocument/2006/relationships/notesSlide" Target="/ppt/notesSlides/notesSlide32.xml" Id="R7fbb7c5b66ce4d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61ea3a5e84884" /><Relationship Type="http://schemas.openxmlformats.org/officeDocument/2006/relationships/notesSlide" Target="/ppt/notesSlides/notesSlide33.xml" Id="Rf76b4443a2f3448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2768266054061" /><Relationship Type="http://schemas.openxmlformats.org/officeDocument/2006/relationships/notesSlide" Target="/ppt/notesSlides/notesSlide34.xml" Id="R4bb9c13b257c47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459d3607542b4" /><Relationship Type="http://schemas.openxmlformats.org/officeDocument/2006/relationships/notesSlide" Target="/ppt/notesSlides/notesSlide35.xml" Id="Red27d898d696420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bad8aa49e4e21" /><Relationship Type="http://schemas.openxmlformats.org/officeDocument/2006/relationships/image" Target="/ppt/media/image3.png" Id="Rbaf92d180fe04d91" /><Relationship Type="http://schemas.openxmlformats.org/officeDocument/2006/relationships/notesSlide" Target="/ppt/notesSlides/notesSlide36.xml" Id="R47d87e18baa24e6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04634a419404c" /><Relationship Type="http://schemas.openxmlformats.org/officeDocument/2006/relationships/notesSlide" Target="/ppt/notesSlides/notesSlide37.xml" Id="R4be14d74836d423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203c031b74ff4" /><Relationship Type="http://schemas.openxmlformats.org/officeDocument/2006/relationships/notesSlide" Target="/ppt/notesSlides/notesSlide38.xml" Id="Ra174e3d46182416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0875e490e41c7" /><Relationship Type="http://schemas.openxmlformats.org/officeDocument/2006/relationships/notesSlide" Target="/ppt/notesSlides/notesSlide39.xml" Id="R42458fa174d8441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6f1639a704cef" /><Relationship Type="http://schemas.openxmlformats.org/officeDocument/2006/relationships/notesSlide" Target="/ppt/notesSlides/notesSlide40.xml" Id="R67eb74025d5a48e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e280071874933" /><Relationship Type="http://schemas.openxmlformats.org/officeDocument/2006/relationships/notesSlide" Target="/ppt/notesSlides/notesSlide41.xml" Id="Ra08298d8ac774b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FE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易行 LP">
            <a:extLst xmlns:a="http://schemas.openxmlformats.org/drawingml/2006/main">
              <a:ext uri="{FF2B5EF4-FFF2-40B4-BE49-F238E27FC236}">
                <a16:creationId xmlns:a16="http://schemas.microsoft.com/office/drawing/2014/main" id="{F4773A99-A7A8-4C72-8BB0-101EF25E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</p:txBody>
      </p:sp>
      <p:sp>
        <p:nvSpPr>
          <p:cNvPr id="2" name="线性规划辅助建模与求解软件的设计和实现">
            <a:extLst xmlns:a="http://schemas.openxmlformats.org/drawingml/2006/main">
              <a:ext uri="{FF2B5EF4-FFF2-40B4-BE49-F238E27FC236}">
                <a16:creationId xmlns:a16="http://schemas.microsoft.com/office/drawing/2014/main" id="{5B269668-97C2-470B-85E7-270DDF8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线性规划辅助建模与求解软件的设计和实现</a:t>
            </a:r>
          </a:p>
        </p:txBody>
      </p:sp>
      <p:sp>
        <p:nvSpPr>
          <p:cNvPr id="3" name="01  /  易行 LP">
            <a:extLst xmlns:a="http://schemas.openxmlformats.org/drawingml/2006/main">
              <a:ext uri="{FF2B5EF4-FFF2-40B4-BE49-F238E27FC236}">
                <a16:creationId xmlns:a16="http://schemas.microsoft.com/office/drawing/2014/main" id="{F5DCE438-0CC7-4AF3-B150-20BF6521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01  /  易行 LP</a:t>
            </a:r>
          </a:p>
        </p:txBody>
      </p:sp>
      <p:sp>
        <p:nvSpPr>
          <p:cNvPr id="4" name="现代软件工程课程设计">
            <a:extLst xmlns:a="http://schemas.openxmlformats.org/drawingml/2006/main">
              <a:ext uri="{FF2B5EF4-FFF2-40B4-BE49-F238E27FC236}">
                <a16:creationId xmlns:a16="http://schemas.microsoft.com/office/drawing/2014/main" id="{743C55DF-8AA0-451F-A155-CBEFBC0F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现代软件工程课程设计</a:t>
            </a:r>
          </a:p>
        </p:txBody>
      </p:sp>
      <p:sp>
        <p:nvSpPr>
          <p:cNvPr id="5" name="易治行  |  2023141220023">
            <a:extLst xmlns:a="http://schemas.openxmlformats.org/drawingml/2006/main">
              <a:ext uri="{FF2B5EF4-FFF2-40B4-BE49-F238E27FC236}">
                <a16:creationId xmlns:a16="http://schemas.microsoft.com/office/drawing/2014/main" id="{BF9B7DDB-3757-42BA-A1F6-1A37DE4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易治行  |  2023141220023</a:t>
            </a:r>
          </a:p>
        </p:txBody>
      </p:sp>
      <p:sp>
        <p:nvSpPr>
          <p:cNvPr id="6" name="从业务问题出发，形成可检查的模型与规划方案">
            <a:extLst xmlns:a="http://schemas.openxmlformats.org/drawingml/2006/main">
              <a:ext uri="{FF2B5EF4-FFF2-40B4-BE49-F238E27FC236}">
                <a16:creationId xmlns:a16="http://schemas.microsoft.com/office/drawing/2014/main" id="{7DB7108B-ECA5-479A-B154-C237C58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从业务问题出发，形成可检查的模型与规划方案</a:t>
            </a:r>
          </a:p>
        </p:txBody>
      </p:sp>
      <p:sp>
        <p:nvSpPr>
          <p:cNvPr id="7" name="材料整理与实现版本  ·  2026年10月26日">
            <a:extLst xmlns:a="http://schemas.openxmlformats.org/drawingml/2006/main">
              <a:ext uri="{FF2B5EF4-FFF2-40B4-BE49-F238E27FC236}">
                <a16:creationId xmlns:a16="http://schemas.microsoft.com/office/drawing/2014/main" id="{13E884E2-1444-4217-8214-7D0208D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材料整理与实现版本  ·  2026年10月26日</a:t>
            </a:r>
          </a:p>
        </p:txBody>
      </p:sp>
    </p:spTree>
    <p:extLst>
      <p:ext uri="{BB962C8B-B14F-4D97-AF65-F5344CB8AC3E}">
        <p14:creationId xmlns:p14="http://schemas.microsoft.com/office/powerpoint/2010/main" val="56752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FDB6E-06A8-40AF-B839-2E5BFE635EB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47EF2-E39A-4A0C-A192-C48885EC39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AC17-4E59-4C2E-8FA6-790BE5A3132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38375" y="2714625"/>
            <a:ext cx="7620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1D0A0-DFDD-4E5A-AD1F-C125CFAD6A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6A224-E550-4FDE-B286-B714E1EB22B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7" name="我的开发流程">
            <a:extLst xmlns:a="http://schemas.openxmlformats.org/drawingml/2006/main">
              <a:ext uri="{FF2B5EF4-FFF2-40B4-BE49-F238E27FC236}">
                <a16:creationId xmlns:a16="http://schemas.microsoft.com/office/drawing/2014/main" id="{43A84377-DC71-4FAB-9465-6AD5CECF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我的开发流程</a:t>
            </a:r>
          </a:p>
        </p:txBody>
      </p:sp>
      <p:sp>
        <p:nvSpPr>
          <p:cNvPr id="2" name="方法：先整理证据，再迭代实现；成果：本报告对应的实际开发流程">
            <a:extLst xmlns:a="http://schemas.openxmlformats.org/drawingml/2006/main">
              <a:ext uri="{FF2B5EF4-FFF2-40B4-BE49-F238E27FC236}">
                <a16:creationId xmlns:a16="http://schemas.microsoft.com/office/drawing/2014/main" id="{A3E143A9-42C7-4BCA-9568-C9705BFD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方法：先整理证据，再迭代实现；成果：本报告对应的实际开发流程</a:t>
            </a:r>
          </a:p>
        </p:txBody>
      </p:sp>
      <p:sp>
        <p:nvSpPr>
          <p:cNvPr id="3" name="02  /  易行 LP">
            <a:extLst xmlns:a="http://schemas.openxmlformats.org/drawingml/2006/main">
              <a:ext uri="{FF2B5EF4-FFF2-40B4-BE49-F238E27FC236}">
                <a16:creationId xmlns:a16="http://schemas.microsoft.com/office/drawing/2014/main" id="{B6EACE34-61F7-43D6-BCD5-18285DBA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02  /  易行 LP</a:t>
            </a:r>
          </a:p>
        </p:txBody>
      </p:sp>
      <p:sp>
        <p:nvSpPr>
          <p:cNvPr id="4" name="故事阅读&#10;发现工作困难">
            <a:extLst xmlns:a="http://schemas.openxmlformats.org/drawingml/2006/main">
              <a:ext uri="{FF2B5EF4-FFF2-40B4-BE49-F238E27FC236}">
                <a16:creationId xmlns:a16="http://schemas.microsoft.com/office/drawing/2014/main" id="{4D2A940F-9BC6-4585-A440-5D08EC2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故事阅读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发现工作困难</a:t>
            </a:r>
          </a:p>
        </p:txBody>
      </p:sp>
      <p:sp>
        <p:nvSpPr>
          <p:cNvPr id="5" name="材料式需求调研&#10;教师 Q1～Q7 与界面原型">
            <a:extLst xmlns:a="http://schemas.openxmlformats.org/drawingml/2006/main">
              <a:ext uri="{FF2B5EF4-FFF2-40B4-BE49-F238E27FC236}">
                <a16:creationId xmlns:a16="http://schemas.microsoft.com/office/drawing/2014/main" id="{AA747DF9-6C1B-4BDE-9276-9D39B4CB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材料式需求调研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 Q1～Q7 与界面原型</a:t>
            </a:r>
          </a:p>
        </p:txBody>
      </p:sp>
      <p:sp>
        <p:nvSpPr>
          <p:cNvPr id="6" name="领域学习&#10;建模与单纯形法">
            <a:extLst xmlns:a="http://schemas.openxmlformats.org/drawingml/2006/main">
              <a:ext uri="{FF2B5EF4-FFF2-40B4-BE49-F238E27FC236}">
                <a16:creationId xmlns:a16="http://schemas.microsoft.com/office/drawing/2014/main" id="{7336A756-C46A-465B-8BE5-CEC52FF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领域学习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建模与单纯形法</a:t>
            </a:r>
          </a:p>
        </p:txBody>
      </p:sp>
      <p:sp>
        <p:nvSpPr>
          <p:cNvPr id="7" name="需求与分析模型&#10;系统边界、用例、交互">
            <a:extLst xmlns:a="http://schemas.openxmlformats.org/drawingml/2006/main">
              <a:ext uri="{FF2B5EF4-FFF2-40B4-BE49-F238E27FC236}">
                <a16:creationId xmlns:a16="http://schemas.microsoft.com/office/drawing/2014/main" id="{BAEA9007-DF47-4E68-9889-08AECA1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需求与分析模型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系统边界、用例、交互</a:t>
            </a:r>
          </a:p>
        </p:txBody>
      </p:sp>
      <p:sp>
        <p:nvSpPr>
          <p:cNvPr id="8" name="软件设计与代码映射&#10;职责、类、算法">
            <a:extLst xmlns:a="http://schemas.openxmlformats.org/drawingml/2006/main">
              <a:ext uri="{FF2B5EF4-FFF2-40B4-BE49-F238E27FC236}">
                <a16:creationId xmlns:a16="http://schemas.microsoft.com/office/drawing/2014/main" id="{43A4B768-D0D4-4397-BE90-B29F9AB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软件设计与代码映射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职责、类、算法</a:t>
            </a:r>
          </a:p>
        </p:txBody>
      </p:sp>
      <p:sp>
        <p:nvSpPr>
          <p:cNvPr id="9" name="运行与验证&#10;回归测试、界面检查">
            <a:extLst xmlns:a="http://schemas.openxmlformats.org/drawingml/2006/main">
              <a:ext uri="{FF2B5EF4-FFF2-40B4-BE49-F238E27FC236}">
                <a16:creationId xmlns:a16="http://schemas.microsoft.com/office/drawing/2014/main" id="{4596F4C2-38FD-4336-B7F9-A1C210FA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运行与验证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回归测试、界面检查</a:t>
            </a:r>
          </a:p>
        </p:txBody>
      </p:sp>
      <p:sp>
        <p:nvSpPr>
          <p:cNvPr id="15" name="迭代 1：从故事形成求解器核心；迭代 2：按教师原型补充辅助建模">
            <a:extLst xmlns:a="http://schemas.openxmlformats.org/drawingml/2006/main">
              <a:ext uri="{FF2B5EF4-FFF2-40B4-BE49-F238E27FC236}">
                <a16:creationId xmlns:a16="http://schemas.microsoft.com/office/drawing/2014/main" id="{F6265667-86BB-496C-9599-82E12267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 1：从故事形成求解器核心；迭代 2：按教师原型补充辅助建模与方案展示。</a:t>
            </a:r>
          </a:p>
        </p:txBody>
      </p:sp>
      <p:sp>
        <p:nvSpPr>
          <p:cNvPr id="16" name="每次改动同步维护：需求、设计、代码和测试之间的对应关系。">
            <a:extLst xmlns:a="http://schemas.openxmlformats.org/drawingml/2006/main">
              <a:ext uri="{FF2B5EF4-FFF2-40B4-BE49-F238E27FC236}">
                <a16:creationId xmlns:a16="http://schemas.microsoft.com/office/drawing/2014/main" id="{27774B31-8647-4ED7-8596-8EEF4667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每次改动同步维护：需求、设计、代码和测试之间的对应关系。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464799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1 步：发现软件">
            <a:extLst xmlns:a="http://schemas.openxmlformats.org/drawingml/2006/main">
              <a:ext uri="{FF2B5EF4-FFF2-40B4-BE49-F238E27FC236}">
                <a16:creationId xmlns:a16="http://schemas.microsoft.com/office/drawing/2014/main" id="{8F1914DE-8496-46CA-9C92-094B384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1 步：发现软件</a:t>
            </a:r>
          </a:p>
        </p:txBody>
      </p:sp>
      <p:sp>
        <p:nvSpPr>
          <p:cNvPr id="2" name="方法：梳理现有工作与责任；成果：找出软件可承担的职责">
            <a:extLst xmlns:a="http://schemas.openxmlformats.org/drawingml/2006/main">
              <a:ext uri="{FF2B5EF4-FFF2-40B4-BE49-F238E27FC236}">
                <a16:creationId xmlns:a16="http://schemas.microsoft.com/office/drawing/2014/main" id="{394A96DE-A9C3-4038-81DC-D4B0F13E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方法：梳理现有工作与责任；成果：找出软件可承担的职责</a:t>
            </a:r>
          </a:p>
        </p:txBody>
      </p:sp>
      <p:sp>
        <p:nvSpPr>
          <p:cNvPr id="3" name="03  /  易行 LP">
            <a:extLst xmlns:a="http://schemas.openxmlformats.org/drawingml/2006/main">
              <a:ext uri="{FF2B5EF4-FFF2-40B4-BE49-F238E27FC236}">
                <a16:creationId xmlns:a16="http://schemas.microsoft.com/office/drawing/2014/main" id="{8B759276-A67B-411E-91B1-2EC227F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2E90-D221-4CFE-ADBD-F0536782DCA3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905250"/>
                <a:gridCol w="420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承担者与困难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了解客户、建立模型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老张：需要判断假设与约束是否完整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保留人的业务判断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手工计算、检查算式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小明：换基复杂，易错且耗时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让软件封装计算逻辑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增加销量限制后重算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模型变化导致重复计算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支持编辑后重新求解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给客户反馈规划方案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需要理解计算结果的业务含义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同时展示变量值与资源余量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320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C50A5-36B9-4F39-AC33-7252287EEEF4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5247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A279F-0216-43F0-BA4F-E70A6227BBC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19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软件边界与涉众">
            <a:extLst xmlns:a="http://schemas.openxmlformats.org/drawingml/2006/main">
              <a:ext uri="{FF2B5EF4-FFF2-40B4-BE49-F238E27FC236}">
                <a16:creationId xmlns:a16="http://schemas.microsoft.com/office/drawing/2014/main" id="{12817278-5FB8-49E8-BF21-E0380182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软件边界与涉众</a:t>
            </a:r>
          </a:p>
        </p:txBody>
      </p:sp>
      <p:sp>
        <p:nvSpPr>
          <p:cNvPr id="2" name="成果：我将软件定位为研究人员使用的辅助工具">
            <a:extLst xmlns:a="http://schemas.openxmlformats.org/drawingml/2006/main">
              <a:ext uri="{FF2B5EF4-FFF2-40B4-BE49-F238E27FC236}">
                <a16:creationId xmlns:a16="http://schemas.microsoft.com/office/drawing/2014/main" id="{68E0FAD0-A0FD-487F-85B4-0B8D8CC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成果：我将软件定位为研究人员使用的辅助工具</a:t>
            </a:r>
          </a:p>
        </p:txBody>
      </p:sp>
      <p:sp>
        <p:nvSpPr>
          <p:cNvPr id="3" name="04  /  易行 LP">
            <a:extLst xmlns:a="http://schemas.openxmlformats.org/drawingml/2006/main">
              <a:ext uri="{FF2B5EF4-FFF2-40B4-BE49-F238E27FC236}">
                <a16:creationId xmlns:a16="http://schemas.microsoft.com/office/drawing/2014/main" id="{27780184-798A-4B66-8C4C-D1A4C73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04  /  易行 LP</a:t>
            </a:r>
          </a:p>
        </p:txBody>
      </p:sp>
      <p:sp>
        <p:nvSpPr>
          <p:cNvPr id="4" name="老张 / 小明&#10;录入、审核、解释">
            <a:extLst xmlns:a="http://schemas.openxmlformats.org/drawingml/2006/main">
              <a:ext uri="{FF2B5EF4-FFF2-40B4-BE49-F238E27FC236}">
                <a16:creationId xmlns:a16="http://schemas.microsoft.com/office/drawing/2014/main" id="{A142D9A6-55F8-44D8-92CC-D1D3B095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录入、审核、解释</a:t>
            </a:r>
          </a:p>
        </p:txBody>
      </p:sp>
      <p:sp>
        <p:nvSpPr>
          <p:cNvPr id="5" name="易行 LP&#10;建模向导、计算、结果">
            <a:extLst xmlns:a="http://schemas.openxmlformats.org/drawingml/2006/main">
              <a:ext uri="{FF2B5EF4-FFF2-40B4-BE49-F238E27FC236}">
                <a16:creationId xmlns:a16="http://schemas.microsoft.com/office/drawing/2014/main" id="{26C3A65A-ECF3-4D2E-BFA7-AC81BB2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建模向导、计算、结果</a:t>
            </a:r>
          </a:p>
        </p:txBody>
      </p:sp>
      <p:sp>
        <p:nvSpPr>
          <p:cNvPr id="6" name="咨询客户&#10;提供业务事实与限制">
            <a:extLst xmlns:a="http://schemas.openxmlformats.org/drawingml/2006/main">
              <a:ext uri="{FF2B5EF4-FFF2-40B4-BE49-F238E27FC236}">
                <a16:creationId xmlns:a16="http://schemas.microsoft.com/office/drawing/2014/main" id="{31BB813F-45F6-48B6-B571-07A73CA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咨询客户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提供业务事实与限制</a:t>
            </a:r>
          </a:p>
        </p:txBody>
      </p:sp>
      <p:sp>
        <p:nvSpPr>
          <p:cNvPr id="9" name="系统承担：结构化录入、生成数学模型、求解与计算记录导出。">
            <a:extLst xmlns:a="http://schemas.openxmlformats.org/drawingml/2006/main">
              <a:ext uri="{FF2B5EF4-FFF2-40B4-BE49-F238E27FC236}">
                <a16:creationId xmlns:a16="http://schemas.microsoft.com/office/drawing/2014/main" id="{62ED764D-783D-41BC-9943-FB7FF41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系统承担：结构化录入、生成数学模型、求解与计算记录导出。</a:t>
            </a:r>
          </a:p>
        </p:txBody>
      </p:sp>
      <p:sp>
        <p:nvSpPr>
          <p:cNvPr id="10" name="涉众承担：确定业务目标、收集数据、核对线性假设并作出决策。">
            <a:extLst xmlns:a="http://schemas.openxmlformats.org/drawingml/2006/main">
              <a:ext uri="{FF2B5EF4-FFF2-40B4-BE49-F238E27FC236}">
                <a16:creationId xmlns:a16="http://schemas.microsoft.com/office/drawing/2014/main" id="{5803C7FA-CAEB-44B9-BA6D-6C6B2674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涉众承担：确定业务目标、收集数据、核对线性假设并作出决策。</a:t>
            </a:r>
          </a:p>
        </p:txBody>
      </p:sp>
      <p:sp>
        <p:nvSpPr>
          <p:cNvPr id="11" name="范围外：自动销售预测、自然语言自动建模、整数规划与客户业务管理。">
            <a:extLst xmlns:a="http://schemas.openxmlformats.org/drawingml/2006/main">
              <a:ext uri="{FF2B5EF4-FFF2-40B4-BE49-F238E27FC236}">
                <a16:creationId xmlns:a16="http://schemas.microsoft.com/office/drawing/2014/main" id="{E6FFA93E-4D19-46F1-9492-15231B52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范围外：自动销售预测、自然语言自动建模、整数规划与客户业务管理。</a:t>
            </a:r>
          </a:p>
        </p:txBody>
      </p:sp>
    </p:spTree>
    <p:extLst>
      <p:ext uri="{BB962C8B-B14F-4D97-AF65-F5344CB8AC3E}">
        <p14:creationId xmlns:p14="http://schemas.microsoft.com/office/powerpoint/2010/main" val="1874894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 2 步：整理需求依据">
            <a:extLst xmlns:a="http://schemas.openxmlformats.org/drawingml/2006/main">
              <a:ext uri="{FF2B5EF4-FFF2-40B4-BE49-F238E27FC236}">
                <a16:creationId xmlns:a16="http://schemas.microsoft.com/office/drawing/2014/main" id="{9217DB31-1105-4266-AD9B-5D86180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2 步：整理需求依据</a:t>
            </a:r>
          </a:p>
        </p:txBody>
      </p:sp>
      <p:sp>
        <p:nvSpPr>
          <p:cNvPr id="2" name="方法：为每项结论标记来源与确认程度；成果：需求依据清单">
            <a:extLst xmlns:a="http://schemas.openxmlformats.org/drawingml/2006/main">
              <a:ext uri="{FF2B5EF4-FFF2-40B4-BE49-F238E27FC236}">
                <a16:creationId xmlns:a16="http://schemas.microsoft.com/office/drawing/2014/main" id="{E505044A-0D8D-4474-B7C8-1D835E59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方法：为每项结论标记来源与确认程度；成果：需求依据清单</a:t>
            </a:r>
          </a:p>
        </p:txBody>
      </p:sp>
      <p:sp>
        <p:nvSpPr>
          <p:cNvPr id="3" name="05  /  易行 LP">
            <a:extLst xmlns:a="http://schemas.openxmlformats.org/drawingml/2006/main">
              <a:ext uri="{FF2B5EF4-FFF2-40B4-BE49-F238E27FC236}">
                <a16:creationId xmlns:a16="http://schemas.microsoft.com/office/drawing/2014/main" id="{3021FD72-70D0-4342-ABED-F7C79DA2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ADDF-47C1-4DDB-917F-0D244D62B40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5765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能够确认的内容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仍不能直接确认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存在手算与反复重算的困难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真实用户的全部操作偏好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Q1～Q7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应调查交互、领域、部署与业务范围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各问题的涉众正式回答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教师界面原型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问题陈述、建模向导、建模、计算、方案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导入格式、规模与异常处理细节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我的设计假设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本地离线、JSON 保存、规模限制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需经老师评审后接受或修订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没有课堂访谈笔记，因此下面的 Q—A 是“材料式回答与待确认项">
            <a:extLst xmlns:a="http://schemas.openxmlformats.org/drawingml/2006/main">
              <a:ext uri="{FF2B5EF4-FFF2-40B4-BE49-F238E27FC236}">
                <a16:creationId xmlns:a16="http://schemas.microsoft.com/office/drawing/2014/main" id="{CF41F4B0-E1FC-48A3-A64C-928FCC4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rPr>
              <a:t>我没有课堂访谈笔记，因此下面的 Q—A 是“材料式回答与待确认项”，不作为真实访谈纪要。</a:t>
            </a:r>
          </a:p>
        </p:txBody>
      </p:sp>
    </p:spTree>
    <p:extLst>
      <p:ext uri="{BB962C8B-B14F-4D97-AF65-F5344CB8AC3E}">
        <p14:creationId xmlns:p14="http://schemas.microsoft.com/office/powerpoint/2010/main" val="1868613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1、Q2：用户怎样发起计算">
            <a:extLst xmlns:a="http://schemas.openxmlformats.org/drawingml/2006/main">
              <a:ext uri="{FF2B5EF4-FFF2-40B4-BE49-F238E27FC236}">
                <a16:creationId xmlns:a16="http://schemas.microsoft.com/office/drawing/2014/main" id="{5E237B04-CB63-4AE0-BBCE-CBE536B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Q1、Q2：用户怎样发起计算</a:t>
            </a:r>
          </a:p>
        </p:txBody>
      </p:sp>
      <p:sp>
        <p:nvSpPr>
          <p:cNvPr id="2" name="成果：我采用辅助建模后计算的交互路线">
            <a:extLst xmlns:a="http://schemas.openxmlformats.org/drawingml/2006/main">
              <a:ext uri="{FF2B5EF4-FFF2-40B4-BE49-F238E27FC236}">
                <a16:creationId xmlns:a16="http://schemas.microsoft.com/office/drawing/2014/main" id="{54BEE208-1527-4083-99DB-F6D8BE5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成果：我采用辅助建模后计算的交互路线</a:t>
            </a:r>
          </a:p>
        </p:txBody>
      </p:sp>
      <p:sp>
        <p:nvSpPr>
          <p:cNvPr id="3" name="06  /  易行 LP">
            <a:extLst xmlns:a="http://schemas.openxmlformats.org/drawingml/2006/main">
              <a:ext uri="{FF2B5EF4-FFF2-40B4-BE49-F238E27FC236}">
                <a16:creationId xmlns:a16="http://schemas.microsoft.com/office/drawing/2014/main" id="{C6BE7AC1-754A-4614-89BD-7F497B9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941C4-D1DA-45A4-BA63-EE43D7FF1DC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调研问题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材料支持的回答 / 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Q1 计算服务的交互序列？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 → 活动与资源 → 系数关系 → 建模 → 核对模型 → 计算 → 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Q2 辅助建模还是直接输入模型？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原型展示辅助建模：由结构化表格生成模型。我据此实现该路线。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待确认：还需直接输入代数式吗？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目前不实现自由代数式解析；用户直接编辑系数矩阵。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待确认：导入什么文件？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原型仅给出“导入”。我暂定 TXT 问题陈述、JSON 完整项目。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56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3：辅助建模的详细交互">
            <a:extLst xmlns:a="http://schemas.openxmlformats.org/drawingml/2006/main">
              <a:ext uri="{FF2B5EF4-FFF2-40B4-BE49-F238E27FC236}">
                <a16:creationId xmlns:a16="http://schemas.microsoft.com/office/drawing/2014/main" id="{17E96AFA-B686-4C5B-9AC0-137E71F9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Q3：辅助建模的详细交互</a:t>
            </a:r>
          </a:p>
        </p:txBody>
      </p:sp>
      <p:sp>
        <p:nvSpPr>
          <p:cNvPr id="2" name="成果：将原型中的输入项分解为可实现规则">
            <a:extLst xmlns:a="http://schemas.openxmlformats.org/drawingml/2006/main">
              <a:ext uri="{FF2B5EF4-FFF2-40B4-BE49-F238E27FC236}">
                <a16:creationId xmlns:a16="http://schemas.microsoft.com/office/drawing/2014/main" id="{2F833E48-A936-419B-BDC7-B8764910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成果：将原型中的输入项分解为可实现规则</a:t>
            </a:r>
          </a:p>
        </p:txBody>
      </p:sp>
      <p:sp>
        <p:nvSpPr>
          <p:cNvPr id="3" name="07  /  易行 LP">
            <a:extLst xmlns:a="http://schemas.openxmlformats.org/drawingml/2006/main">
              <a:ext uri="{FF2B5EF4-FFF2-40B4-BE49-F238E27FC236}">
                <a16:creationId xmlns:a16="http://schemas.microsoft.com/office/drawing/2014/main" id="{87A356FA-F9B7-4A31-8A23-2669644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B4FC3-4643-4A6E-B545-C88AA2B53E04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交互与规则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目标与竞争性活动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 max / min；增加、删除活动；名称与 x1…xn 对应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资源与关系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增加、删除约束；编辑资源名称、关系符和资源限制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编辑每单位活动的资源用量 aij 与利润 / 成本 cj，允许负系数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建模与计算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建模先校验并生成公式；计算读取已确认模型，弹出规划方案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任何输入变化使旧模型失效，须重新建模；不继续展示旧结果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435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E6870-B03C-4095-8EFF-0291C962A3D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78E72-FBEE-49FC-B892-AA25DB4D145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A89D4-9E11-43D3-9814-69EC25D6518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33625" y="2952750"/>
            <a:ext cx="7524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CB481-2A88-4D20-BE64-569CB9771F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68246-CC15-441C-AC25-E0295044B79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6" name="Q4、Q5：我学习的建模方法">
            <a:extLst xmlns:a="http://schemas.openxmlformats.org/drawingml/2006/main">
              <a:ext uri="{FF2B5EF4-FFF2-40B4-BE49-F238E27FC236}">
                <a16:creationId xmlns:a16="http://schemas.microsoft.com/office/drawing/2014/main" id="{BE98263E-1D79-4F04-814E-71490631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Q4、Q5：我学习的建模方法</a:t>
            </a:r>
          </a:p>
        </p:txBody>
      </p:sp>
      <p:sp>
        <p:nvSpPr>
          <p:cNvPr id="2" name="方法：按业务含义提取变量、目标与约束；成果：可复用的建模步骤">
            <a:extLst xmlns:a="http://schemas.openxmlformats.org/drawingml/2006/main">
              <a:ext uri="{FF2B5EF4-FFF2-40B4-BE49-F238E27FC236}">
                <a16:creationId xmlns:a16="http://schemas.microsoft.com/office/drawing/2014/main" id="{DE45054A-CD35-4798-8A0F-013A0D38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方法：按业务含义提取变量、目标与约束；成果：可复用的建模步骤</a:t>
            </a:r>
          </a:p>
        </p:txBody>
      </p:sp>
      <p:sp>
        <p:nvSpPr>
          <p:cNvPr id="3" name="08  /  易行 LP">
            <a:extLst xmlns:a="http://schemas.openxmlformats.org/drawingml/2006/main">
              <a:ext uri="{FF2B5EF4-FFF2-40B4-BE49-F238E27FC236}">
                <a16:creationId xmlns:a16="http://schemas.microsoft.com/office/drawing/2014/main" id="{A7B92565-A40B-432B-BE24-BF04C519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08  /  易行 LP</a:t>
            </a:r>
          </a:p>
        </p:txBody>
      </p:sp>
      <p:sp>
        <p:nvSpPr>
          <p:cNvPr id="4" name="识别竞争性活动&#10;确定活动水平 xj">
            <a:extLst xmlns:a="http://schemas.openxmlformats.org/drawingml/2006/main">
              <a:ext uri="{FF2B5EF4-FFF2-40B4-BE49-F238E27FC236}">
                <a16:creationId xmlns:a16="http://schemas.microsoft.com/office/drawing/2014/main" id="{7ED40BED-6C27-403A-85E2-6CB00E6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确定活动水平 xj</a:t>
            </a:r>
          </a:p>
        </p:txBody>
      </p:sp>
      <p:sp>
        <p:nvSpPr>
          <p:cNvPr id="5" name="定义既定目标&#10;形成 Σcj xj">
            <a:extLst xmlns:a="http://schemas.openxmlformats.org/drawingml/2006/main">
              <a:ext uri="{FF2B5EF4-FFF2-40B4-BE49-F238E27FC236}">
                <a16:creationId xmlns:a16="http://schemas.microsoft.com/office/drawing/2014/main" id="{9C2B8685-7E7C-4DE4-B1D9-A5E6ECB0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定义既定目标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Σcj xj</a:t>
            </a:r>
          </a:p>
        </p:txBody>
      </p:sp>
      <p:sp>
        <p:nvSpPr>
          <p:cNvPr id="6" name="识别有限资源&#10;形成 Σaij xj 与限制 bi">
            <a:extLst xmlns:a="http://schemas.openxmlformats.org/drawingml/2006/main">
              <a:ext uri="{FF2B5EF4-FFF2-40B4-BE49-F238E27FC236}">
                <a16:creationId xmlns:a16="http://schemas.microsoft.com/office/drawing/2014/main" id="{46A6D9D6-EC3D-4B86-B136-9E16A3CA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识别有限资源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Σaij xj 与限制 bi</a:t>
            </a:r>
          </a:p>
        </p:txBody>
      </p:sp>
      <p:sp>
        <p:nvSpPr>
          <p:cNvPr id="7" name="审核变量与量纲&#10;补充范围、非负限制">
            <a:extLst xmlns:a="http://schemas.openxmlformats.org/drawingml/2006/main">
              <a:ext uri="{FF2B5EF4-FFF2-40B4-BE49-F238E27FC236}">
                <a16:creationId xmlns:a16="http://schemas.microsoft.com/office/drawing/2014/main" id="{147B5151-8823-4EE4-8C4F-B919CA13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审核变量与量纲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补充范围、非负限制</a:t>
            </a:r>
          </a:p>
        </p:txBody>
      </p:sp>
      <p:sp>
        <p:nvSpPr>
          <p:cNvPr id="8" name="审核线性假设&#10;可加性、比例性、可分性">
            <a:extLst xmlns:a="http://schemas.openxmlformats.org/drawingml/2006/main">
              <a:ext uri="{FF2B5EF4-FFF2-40B4-BE49-F238E27FC236}">
                <a16:creationId xmlns:a16="http://schemas.microsoft.com/office/drawing/2014/main" id="{B68126C1-32B8-4E3D-8C5A-5A9C1F62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审核线性假设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可加性、比例性、可分性</a:t>
            </a:r>
          </a:p>
        </p:txBody>
      </p:sp>
      <p:sp>
        <p:nvSpPr>
          <p:cNvPr id="9" name="联系现实复核&#10;缺失条件则回到模型">
            <a:extLst xmlns:a="http://schemas.openxmlformats.org/drawingml/2006/main">
              <a:ext uri="{FF2B5EF4-FFF2-40B4-BE49-F238E27FC236}">
                <a16:creationId xmlns:a16="http://schemas.microsoft.com/office/drawing/2014/main" id="{C31BFC06-000B-4A06-858E-3FC7F1A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联系现实复核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缺失条件则回到模型</a:t>
            </a:r>
          </a:p>
        </p:txBody>
      </p:sp>
      <p:sp>
        <p:nvSpPr>
          <p:cNvPr id="15" name="一般形式：max / min z = Σ cj xj，满足 Σ ">
            <a:extLst xmlns:a="http://schemas.openxmlformats.org/drawingml/2006/main">
              <a:ext uri="{FF2B5EF4-FFF2-40B4-BE49-F238E27FC236}">
                <a16:creationId xmlns:a16="http://schemas.microsoft.com/office/drawing/2014/main" id="{A4F6AB46-3FC6-4AC7-ABC4-4440597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一般形式：max / min z = Σ cj xj，满足 Σ aij xj ≤ / = / ≥ bi，xj ≥ 0。</a:t>
            </a:r>
          </a:p>
        </p:txBody>
      </p:sp>
    </p:spTree>
    <p:extLst>
      <p:ext uri="{BB962C8B-B14F-4D97-AF65-F5344CB8AC3E}">
        <p14:creationId xmlns:p14="http://schemas.microsoft.com/office/powerpoint/2010/main" val="800090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建模练习：Tanner 玩具生产">
            <a:extLst xmlns:a="http://schemas.openxmlformats.org/drawingml/2006/main">
              <a:ext uri="{FF2B5EF4-FFF2-40B4-BE49-F238E27FC236}">
                <a16:creationId xmlns:a16="http://schemas.microsoft.com/office/drawing/2014/main" id="{7C5EFCE6-186A-47C3-81ED-C276792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建模练习：Tanner 玩具生产</a:t>
            </a:r>
          </a:p>
        </p:txBody>
      </p:sp>
      <p:sp>
        <p:nvSpPr>
          <p:cNvPr id="2" name="成果：从教师原型提取含负系数的线性规划模型">
            <a:extLst xmlns:a="http://schemas.openxmlformats.org/drawingml/2006/main">
              <a:ext uri="{FF2B5EF4-FFF2-40B4-BE49-F238E27FC236}">
                <a16:creationId xmlns:a16="http://schemas.microsoft.com/office/drawing/2014/main" id="{C918B11E-99F5-4EDA-BDE9-1ADC423E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成果：从教师原型提取含负系数的线性规划模型</a:t>
            </a:r>
          </a:p>
        </p:txBody>
      </p:sp>
      <p:sp>
        <p:nvSpPr>
          <p:cNvPr id="3" name="09  /  易行 LP">
            <a:extLst xmlns:a="http://schemas.openxmlformats.org/drawingml/2006/main">
              <a:ext uri="{FF2B5EF4-FFF2-40B4-BE49-F238E27FC236}">
                <a16:creationId xmlns:a16="http://schemas.microsoft.com/office/drawing/2014/main" id="{E541A0BC-3AD3-4A3F-969D-157F937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09  /  易行 LP</a:t>
            </a:r>
          </a:p>
        </p:txBody>
      </p:sp>
      <p:sp>
        <p:nvSpPr>
          <p:cNvPr id="4" name="x1：玩具产量；x2：同时生产 A、B 各一个的组合部件组数。">
            <a:extLst xmlns:a="http://schemas.openxmlformats.org/drawingml/2006/main">
              <a:ext uri="{FF2B5EF4-FFF2-40B4-BE49-F238E27FC236}">
                <a16:creationId xmlns:a16="http://schemas.microsoft.com/office/drawing/2014/main" id="{96DC6FBD-2F1C-4C8B-B861-C6771439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x1：玩具产量；x2：同时生产 A、B 各一个的组合部件组数。</a:t>
            </a:r>
          </a:p>
        </p:txBody>
      </p:sp>
      <p:sp>
        <p:nvSpPr>
          <p:cNvPr id="5" name="max z = 3x1 − 2.5x2&#10;2x1 − x2 ≤ 3">
            <a:extLst xmlns:a="http://schemas.openxmlformats.org/drawingml/2006/main">
              <a:ext uri="{FF2B5EF4-FFF2-40B4-BE49-F238E27FC236}">
                <a16:creationId xmlns:a16="http://schemas.microsoft.com/office/drawing/2014/main" id="{57CE6D0B-B8AD-42DE-A539-16C24F4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647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max z = 3x1 − 2.5x2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2x1 − x2 ≤ 3000   （A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x1 − x2 ≤ 1000     （B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≥ 0，x2 ≥ 0</a:t>
            </a:r>
          </a:p>
        </p:txBody>
      </p:sp>
      <p:sp>
        <p:nvSpPr>
          <p:cNvPr id="6" name="负系数的含义&#10;&#10;生产组合部件增加资源，&#10;所以在资源净消耗中为 −">
            <a:extLst xmlns:a="http://schemas.openxmlformats.org/drawingml/2006/main">
              <a:ext uri="{FF2B5EF4-FFF2-40B4-BE49-F238E27FC236}">
                <a16:creationId xmlns:a16="http://schemas.microsoft.com/office/drawing/2014/main" id="{FAAD6619-562D-4410-962F-8FB7982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负系数的含义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生产组合部件增加资源，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所以在资源净消耗中为 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组合成本从净利润中扣除。</a:t>
            </a:r>
          </a:p>
        </p:txBody>
      </p:sp>
      <p:sp>
        <p:nvSpPr>
          <p:cNvPr id="7" name="复核：x1 = 2000，x2 = 1000，z = 3500；">
            <a:extLst xmlns:a="http://schemas.openxmlformats.org/drawingml/2006/main">
              <a:ext uri="{FF2B5EF4-FFF2-40B4-BE49-F238E27FC236}">
                <a16:creationId xmlns:a16="http://schemas.microsoft.com/office/drawing/2014/main" id="{2C6B86AE-BD8A-4BA0-B9E9-5F3DDBF0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复核：x1 = 2000，x2 = 1000，z = 3500；A、B 两条资源约束恰好取等号。</a:t>
            </a:r>
          </a:p>
        </p:txBody>
      </p:sp>
    </p:spTree>
    <p:extLst>
      <p:ext uri="{BB962C8B-B14F-4D97-AF65-F5344CB8AC3E}">
        <p14:creationId xmlns:p14="http://schemas.microsoft.com/office/powerpoint/2010/main" val="81214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模审核：发现故事中的不一致">
            <a:extLst xmlns:a="http://schemas.openxmlformats.org/drawingml/2006/main">
              <a:ext uri="{FF2B5EF4-FFF2-40B4-BE49-F238E27FC236}">
                <a16:creationId xmlns:a16="http://schemas.microsoft.com/office/drawing/2014/main" id="{AEE627D3-D9D8-468E-B6F1-EBEB756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建模审核：发现故事中的不一致</a:t>
            </a:r>
          </a:p>
        </p:txBody>
      </p:sp>
      <p:sp>
        <p:nvSpPr>
          <p:cNvPr id="2" name="成果：统一变量含义与利润系数，避免把材料笔误带入软件">
            <a:extLst xmlns:a="http://schemas.openxmlformats.org/drawingml/2006/main">
              <a:ext uri="{FF2B5EF4-FFF2-40B4-BE49-F238E27FC236}">
                <a16:creationId xmlns:a16="http://schemas.microsoft.com/office/drawing/2014/main" id="{9B423F26-02DB-4DA7-BEE4-EE95431B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成果：统一变量含义与利润系数，避免把材料笔误带入软件</a:t>
            </a:r>
          </a:p>
        </p:txBody>
      </p:sp>
      <p:sp>
        <p:nvSpPr>
          <p:cNvPr id="3" name="10  /  易行 LP">
            <a:extLst xmlns:a="http://schemas.openxmlformats.org/drawingml/2006/main">
              <a:ext uri="{FF2B5EF4-FFF2-40B4-BE49-F238E27FC236}">
                <a16:creationId xmlns:a16="http://schemas.microsoft.com/office/drawing/2014/main" id="{C00BEFFC-0B34-420A-944E-254CEA0B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424A0-48DA-4787-9632-C134E5B3AF83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1052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材料表现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变量定义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第4页：x1 为鸭，x2 为鱼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全文固定该定义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单位利润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文字：鸭 5 美元、鱼 4 美元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目标函数采用 5x1 + 4x2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第8页目标函数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图中系数写成 4、5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记录差异，按第4页及文字校正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结果代入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150×5 + 50×4 = 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与故事给出的950一致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故事正文中的“鸭或鱼”应结合数学模型理解为一个同时包含两种产量的">
            <a:extLst xmlns:a="http://schemas.openxmlformats.org/drawingml/2006/main">
              <a:ext uri="{FF2B5EF4-FFF2-40B4-BE49-F238E27FC236}">
                <a16:creationId xmlns:a16="http://schemas.microsoft.com/office/drawing/2014/main" id="{8ACD4B24-D27E-4470-82C6-7B9FD35D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故事正文中的“鸭或鱼”应结合数学模型理解为一个同时包含两种产量的生产组合。</a:t>
            </a:r>
          </a:p>
        </p:txBody>
      </p:sp>
    </p:spTree>
    <p:extLst>
      <p:ext uri="{BB962C8B-B14F-4D97-AF65-F5344CB8AC3E}">
        <p14:creationId xmlns:p14="http://schemas.microsoft.com/office/powerpoint/2010/main" val="1465399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4、Q5：我学习的计算方法">
            <a:extLst xmlns:a="http://schemas.openxmlformats.org/drawingml/2006/main">
              <a:ext uri="{FF2B5EF4-FFF2-40B4-BE49-F238E27FC236}">
                <a16:creationId xmlns:a16="http://schemas.microsoft.com/office/drawing/2014/main" id="{730FC2E5-AE40-4E1C-9C34-B87343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Q4、Q5：我学习的计算方法</a:t>
            </a:r>
          </a:p>
        </p:txBody>
      </p:sp>
      <p:sp>
        <p:nvSpPr>
          <p:cNvPr id="2" name="成果：理解换基为什么能逐步改进目标值">
            <a:extLst xmlns:a="http://schemas.openxmlformats.org/drawingml/2006/main">
              <a:ext uri="{FF2B5EF4-FFF2-40B4-BE49-F238E27FC236}">
                <a16:creationId xmlns:a16="http://schemas.microsoft.com/office/drawing/2014/main" id="{34C28691-B736-41F0-AF76-9E7A4A3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成果：理解换基为什么能逐步改进目标值</a:t>
            </a:r>
          </a:p>
        </p:txBody>
      </p:sp>
      <p:sp>
        <p:nvSpPr>
          <p:cNvPr id="3" name="11  /  易行 LP">
            <a:extLst xmlns:a="http://schemas.openxmlformats.org/drawingml/2006/main">
              <a:ext uri="{FF2B5EF4-FFF2-40B4-BE49-F238E27FC236}">
                <a16:creationId xmlns:a16="http://schemas.microsoft.com/office/drawing/2014/main" id="{FFA37C1B-EC9E-47A8-A8BC-6EADFC8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11  /  易行 LP</a:t>
            </a:r>
          </a:p>
        </p:txBody>
      </p:sp>
      <p:sp>
        <p:nvSpPr>
          <p:cNvPr id="4" name="标准化：min 转为 max 的相反目标；≥ 两边取负；= 拆成">
            <a:extLst xmlns:a="http://schemas.openxmlformats.org/drawingml/2006/main">
              <a:ext uri="{FF2B5EF4-FFF2-40B4-BE49-F238E27FC236}">
                <a16:creationId xmlns:a16="http://schemas.microsoft.com/office/drawing/2014/main" id="{92FEF663-23A4-4875-B100-250BF41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标准化：min 转为 max 的相反目标；≥ 两边取负；= 拆成两条 ≤。</a:t>
            </a:r>
          </a:p>
        </p:txBody>
      </p:sp>
      <p:sp>
        <p:nvSpPr>
          <p:cNvPr id="5" name="可行性：加入松弛变量；若初始右端为负，使用人工变量与辅助目标找可">
            <a:extLst xmlns:a="http://schemas.openxmlformats.org/drawingml/2006/main">
              <a:ext uri="{FF2B5EF4-FFF2-40B4-BE49-F238E27FC236}">
                <a16:creationId xmlns:a16="http://schemas.microsoft.com/office/drawing/2014/main" id="{609B351A-2FD3-4BA5-9ECD-4A536FEE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可行性：加入松弛变量；若初始右端为负，使用人工变量与辅助目标找可行基。</a:t>
            </a:r>
          </a:p>
        </p:txBody>
      </p:sp>
      <p:sp>
        <p:nvSpPr>
          <p:cNvPr id="6" name="改进：选可改善目标的非基变量入基，用最小比值确定出基变量。">
            <a:extLst xmlns:a="http://schemas.openxmlformats.org/drawingml/2006/main">
              <a:ext uri="{FF2B5EF4-FFF2-40B4-BE49-F238E27FC236}">
                <a16:creationId xmlns:a16="http://schemas.microsoft.com/office/drawing/2014/main" id="{0BC11DCA-0DF8-4973-9476-27FEF7F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改进：选可改善目标的非基变量入基，用最小比值确定出基变量。</a:t>
            </a:r>
          </a:p>
        </p:txBody>
      </p:sp>
      <p:sp>
        <p:nvSpPr>
          <p:cNvPr id="7" name="更新：用 Gauss–Jordan 消元换基；没有改善方向时，读">
            <a:extLst xmlns:a="http://schemas.openxmlformats.org/drawingml/2006/main">
              <a:ext uri="{FF2B5EF4-FFF2-40B4-BE49-F238E27FC236}">
                <a16:creationId xmlns:a16="http://schemas.microsoft.com/office/drawing/2014/main" id="{DB80B09D-2CA9-4F9D-96B9-195C838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更新：用 Gauss–Jordan 消元换基；没有改善方向时，读出当前最优解。</a:t>
            </a:r>
          </a:p>
        </p:txBody>
      </p:sp>
      <p:sp>
        <p:nvSpPr>
          <p:cNvPr id="8" name="边界：无可行解、目标无界与数值异常必须分别报告。">
            <a:extLst xmlns:a="http://schemas.openxmlformats.org/drawingml/2006/main">
              <a:ext uri="{FF2B5EF4-FFF2-40B4-BE49-F238E27FC236}">
                <a16:creationId xmlns:a16="http://schemas.microsoft.com/office/drawing/2014/main" id="{0C9A57BA-D135-4445-8D18-5CF6F80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边界：无可行解、目标无界与数值异常必须分别报告。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10062322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A874E-11A9-4737-A6B4-5DCF9B872F8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238375" y="46672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06650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56196-DDA4-431A-8B86-CAFB64A0AD73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ACFB1-670F-4D9E-94AF-018EB87F07B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52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1045C-E5A0-4902-BE46-D8781FA5F30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58375" y="2714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9CAC1-6899-4AE5-A740-94A6B3BA806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84CA4-6A5C-4C61-AC6E-0E0275E39A4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8" name="单纯形法活动流程">
            <a:extLst xmlns:a="http://schemas.openxmlformats.org/drawingml/2006/main">
              <a:ext uri="{FF2B5EF4-FFF2-40B4-BE49-F238E27FC236}">
                <a16:creationId xmlns:a16="http://schemas.microsoft.com/office/drawing/2014/main" id="{CA015D97-F8E0-49BC-BB72-EDB8DD8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单纯形法活动流程</a:t>
            </a:r>
          </a:p>
        </p:txBody>
      </p:sp>
      <p:sp>
        <p:nvSpPr>
          <p:cNvPr id="2" name="方法：把数学步骤转化为控制流程；成果：算法活动模型">
            <a:extLst xmlns:a="http://schemas.openxmlformats.org/drawingml/2006/main">
              <a:ext uri="{FF2B5EF4-FFF2-40B4-BE49-F238E27FC236}">
                <a16:creationId xmlns:a16="http://schemas.microsoft.com/office/drawing/2014/main" id="{2A9E6B10-53BC-4103-A4D5-06556A67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方法：把数学步骤转化为控制流程；成果：算法活动模型</a:t>
            </a:r>
          </a:p>
        </p:txBody>
      </p:sp>
      <p:sp>
        <p:nvSpPr>
          <p:cNvPr id="3" name="12  /  易行 LP">
            <a:extLst xmlns:a="http://schemas.openxmlformats.org/drawingml/2006/main">
              <a:ext uri="{FF2B5EF4-FFF2-40B4-BE49-F238E27FC236}">
                <a16:creationId xmlns:a16="http://schemas.microsoft.com/office/drawing/2014/main" id="{BF14BCF4-AEF4-47E7-8F2F-69E64CD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12  /  易行 LP</a:t>
            </a:r>
          </a:p>
        </p:txBody>
      </p:sp>
      <p:sp>
        <p:nvSpPr>
          <p:cNvPr id="4" name="校验与标准化">
            <a:extLst xmlns:a="http://schemas.openxmlformats.org/drawingml/2006/main">
              <a:ext uri="{FF2B5EF4-FFF2-40B4-BE49-F238E27FC236}">
                <a16:creationId xmlns:a16="http://schemas.microsoft.com/office/drawing/2014/main" id="{66802E01-E750-4C47-B37D-4EEC45E2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校验与标准化</a:t>
            </a:r>
          </a:p>
        </p:txBody>
      </p:sp>
      <p:sp>
        <p:nvSpPr>
          <p:cNvPr id="5" name="建立单纯形表">
            <a:extLst xmlns:a="http://schemas.openxmlformats.org/drawingml/2006/main">
              <a:ext uri="{FF2B5EF4-FFF2-40B4-BE49-F238E27FC236}">
                <a16:creationId xmlns:a16="http://schemas.microsoft.com/office/drawing/2014/main" id="{ED6097DD-CB62-4D53-9FBB-9822C46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建立单纯形表</a:t>
            </a:r>
          </a:p>
        </p:txBody>
      </p:sp>
      <p:sp>
        <p:nvSpPr>
          <p:cNvPr id="6" name="阶段一：寻找可行基&#10;已有可行基则跳过">
            <a:extLst xmlns:a="http://schemas.openxmlformats.org/drawingml/2006/main">
              <a:ext uri="{FF2B5EF4-FFF2-40B4-BE49-F238E27FC236}">
                <a16:creationId xmlns:a16="http://schemas.microsoft.com/office/drawing/2014/main" id="{E21FA120-D76B-4B08-BB86-96C97F7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阶段一：寻找可行基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已有可行基则跳过</a:t>
            </a:r>
          </a:p>
        </p:txBody>
      </p:sp>
      <p:sp>
        <p:nvSpPr>
          <p:cNvPr id="7" name="换基并记录表格&#10;返回入基选择继续判断">
            <a:extLst xmlns:a="http://schemas.openxmlformats.org/drawingml/2006/main">
              <a:ext uri="{FF2B5EF4-FFF2-40B4-BE49-F238E27FC236}">
                <a16:creationId xmlns:a16="http://schemas.microsoft.com/office/drawing/2014/main" id="{24388379-F74E-411F-BB80-97C0FBD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换基并记录表格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返回入基选择继续判断</a:t>
            </a:r>
          </a:p>
        </p:txBody>
      </p:sp>
      <p:sp>
        <p:nvSpPr>
          <p:cNvPr id="8" name="最小比值选出基变量&#10;无正系数则目标无界">
            <a:extLst xmlns:a="http://schemas.openxmlformats.org/drawingml/2006/main">
              <a:ext uri="{FF2B5EF4-FFF2-40B4-BE49-F238E27FC236}">
                <a16:creationId xmlns:a16="http://schemas.microsoft.com/office/drawing/2014/main" id="{9090404E-1410-4553-B6C0-545B3DB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最小比值选出基变量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无正系数则目标无界</a:t>
            </a:r>
          </a:p>
        </p:txBody>
      </p:sp>
      <p:sp>
        <p:nvSpPr>
          <p:cNvPr id="9" name="阶段二：选择入基变量&#10;无改善变量则最优">
            <a:extLst xmlns:a="http://schemas.openxmlformats.org/drawingml/2006/main">
              <a:ext uri="{FF2B5EF4-FFF2-40B4-BE49-F238E27FC236}">
                <a16:creationId xmlns:a16="http://schemas.microsoft.com/office/drawing/2014/main" id="{8F55DF10-7A71-4D47-8F6C-302623A9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阶段二：选择入基变量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无改善变量则最优</a:t>
            </a:r>
          </a:p>
        </p:txBody>
      </p:sp>
      <p:sp>
        <p:nvSpPr>
          <p:cNvPr id="16" name="阶段一结束辅助目标仍非零：无可行解。换基达到 2000 次：返回">
            <a:extLst xmlns:a="http://schemas.openxmlformats.org/drawingml/2006/main">
              <a:ext uri="{FF2B5EF4-FFF2-40B4-BE49-F238E27FC236}">
                <a16:creationId xmlns:a16="http://schemas.microsoft.com/office/drawing/2014/main" id="{154BB00D-260E-4370-A252-5B674D67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阶段一结束辅助目标仍非零：无可行解。换基达到 2000 次：返回“迭代上限”。</a:t>
            </a:r>
          </a:p>
        </p:txBody>
      </p:sp>
      <p:sp>
        <p:nvSpPr>
          <p:cNvPr id="17" name="实现按阶段二“选入基 → 选出基 → 换基 → 再判断”的循环执">
            <a:extLst xmlns:a="http://schemas.openxmlformats.org/drawingml/2006/main">
              <a:ext uri="{FF2B5EF4-FFF2-40B4-BE49-F238E27FC236}">
                <a16:creationId xmlns:a16="http://schemas.microsoft.com/office/drawing/2014/main" id="{AFFA52C7-5724-40E7-8AC9-B3F24B3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实现按阶段二“选入基 → 选出基 → 换基 → 再判断”的循环执行。</a:t>
            </a:r>
          </a:p>
        </p:txBody>
      </p:sp>
    </p:spTree>
    <p:extLst>
      <p:ext uri="{BB962C8B-B14F-4D97-AF65-F5344CB8AC3E}">
        <p14:creationId xmlns:p14="http://schemas.microsoft.com/office/powerpoint/2010/main" val="4565634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计算练习：Tanner 的两次换基">
            <a:extLst xmlns:a="http://schemas.openxmlformats.org/drawingml/2006/main">
              <a:ext uri="{FF2B5EF4-FFF2-40B4-BE49-F238E27FC236}">
                <a16:creationId xmlns:a16="http://schemas.microsoft.com/office/drawing/2014/main" id="{B2B86668-F36E-4E09-93D2-B9DDB008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计算练习：Tanner 的两次换基</a:t>
            </a:r>
          </a:p>
        </p:txBody>
      </p:sp>
      <p:sp>
        <p:nvSpPr>
          <p:cNvPr id="2" name="成果：把表格运算与具体的业务结果联系起来">
            <a:extLst xmlns:a="http://schemas.openxmlformats.org/drawingml/2006/main">
              <a:ext uri="{FF2B5EF4-FFF2-40B4-BE49-F238E27FC236}">
                <a16:creationId xmlns:a16="http://schemas.microsoft.com/office/drawing/2014/main" id="{2386D847-BC35-40F2-888E-C6C22E2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成果：把表格运算与具体的业务结果联系起来</a:t>
            </a:r>
          </a:p>
        </p:txBody>
      </p:sp>
      <p:sp>
        <p:nvSpPr>
          <p:cNvPr id="3" name="13  /  易行 LP">
            <a:extLst xmlns:a="http://schemas.openxmlformats.org/drawingml/2006/main">
              <a:ext uri="{FF2B5EF4-FFF2-40B4-BE49-F238E27FC236}">
                <a16:creationId xmlns:a16="http://schemas.microsoft.com/office/drawing/2014/main" id="{0F1B7A6E-E349-4BE7-B354-F84DC06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902B2-B8C5-4FE0-BA41-8328DDE858BD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586740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 /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结果与原因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初始可行解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基为 s1、s2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x1=x2=0，z=0；资源尚未使用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 入基，s2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最小比值1000；x1=1000，z=3000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第2次换基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x2 入基，s1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剩余A约束限制 x2=1000；同时 x1 增至2000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最优检查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没有可改善目标的非基变量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z=3×2000−2.5×1000=3500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Bland 规则：按编号选择可改善变量；最小比值相同时按基变量编">
            <a:extLst xmlns:a="http://schemas.openxmlformats.org/drawingml/2006/main">
              <a:ext uri="{FF2B5EF4-FFF2-40B4-BE49-F238E27FC236}">
                <a16:creationId xmlns:a16="http://schemas.microsoft.com/office/drawing/2014/main" id="{C2936B79-6EBF-4A42-B5A5-2D3A3E7E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Bland 规则：按编号选择可改善变量；最小比值相同时按基变量编号选择。</a:t>
            </a:r>
          </a:p>
        </p:txBody>
      </p:sp>
    </p:spTree>
    <p:extLst>
      <p:ext uri="{BB962C8B-B14F-4D97-AF65-F5344CB8AC3E}">
        <p14:creationId xmlns:p14="http://schemas.microsoft.com/office/powerpoint/2010/main" val="7646221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6、Q7：部署方式与业务范围">
            <a:extLst xmlns:a="http://schemas.openxmlformats.org/drawingml/2006/main">
              <a:ext uri="{FF2B5EF4-FFF2-40B4-BE49-F238E27FC236}">
                <a16:creationId xmlns:a16="http://schemas.microsoft.com/office/drawing/2014/main" id="{0F1912F9-DFBA-4F25-9697-67FEA5A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Q6、Q7：部署方式与业务范围</a:t>
            </a:r>
          </a:p>
        </p:txBody>
      </p:sp>
      <p:sp>
        <p:nvSpPr>
          <p:cNvPr id="2" name="成果：写清当前部署选择及其假设，保留扩展边界">
            <a:extLst xmlns:a="http://schemas.openxmlformats.org/drawingml/2006/main">
              <a:ext uri="{FF2B5EF4-FFF2-40B4-BE49-F238E27FC236}">
                <a16:creationId xmlns:a16="http://schemas.microsoft.com/office/drawing/2014/main" id="{EDC20DF7-6F16-4B2B-B945-E5541287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成果：写清当前部署选择及其假设，保留扩展边界</a:t>
            </a:r>
          </a:p>
        </p:txBody>
      </p:sp>
      <p:sp>
        <p:nvSpPr>
          <p:cNvPr id="3" name="14  /  易行 LP">
            <a:extLst xmlns:a="http://schemas.openxmlformats.org/drawingml/2006/main">
              <a:ext uri="{FF2B5EF4-FFF2-40B4-BE49-F238E27FC236}">
                <a16:creationId xmlns:a16="http://schemas.microsoft.com/office/drawing/2014/main" id="{AA6BDFA1-E2EF-43E7-B247-9F79FC0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C3C1E-268A-441B-BEC0-B9B1039210F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3962400"/>
              </a:tblGrid>
              <a:tr h="876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我的当前选择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 / 后续影响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Q6 基础设施如何部署？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单机浏览器运行，本地文件导入导出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若要求多人共享，再增加服务端、权限和存储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Q7 是否只做一种业务？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目前只支持连续线性规划；算法与界面解耦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如需其他运筹业务，新增模型与求解服务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为什么这样选择？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现有故事只有两位咨询人员，课程先验证核心流程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该选择是设计假设，不是访谈结论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部署成果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 HTML / CSS / JS，无账号、无后端依赖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不宣称已部署公网服务或实现多人协作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112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系统陈述与用户使用故事">
            <a:extLst xmlns:a="http://schemas.openxmlformats.org/drawingml/2006/main">
              <a:ext uri="{FF2B5EF4-FFF2-40B4-BE49-F238E27FC236}">
                <a16:creationId xmlns:a16="http://schemas.microsoft.com/office/drawing/2014/main" id="{E2F8FB69-629F-46E5-9251-957EA837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系统陈述与用户使用故事</a:t>
            </a:r>
          </a:p>
        </p:txBody>
      </p:sp>
      <p:sp>
        <p:nvSpPr>
          <p:cNvPr id="2" name="成果：把软件目标、用户情境和成功条件写成需求">
            <a:extLst xmlns:a="http://schemas.openxmlformats.org/drawingml/2006/main">
              <a:ext uri="{FF2B5EF4-FFF2-40B4-BE49-F238E27FC236}">
                <a16:creationId xmlns:a16="http://schemas.microsoft.com/office/drawing/2014/main" id="{2B326E66-C6EC-497F-985B-F4A1CBE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成果：把软件目标、用户情境和成功条件写成需求</a:t>
            </a:r>
          </a:p>
        </p:txBody>
      </p:sp>
      <p:sp>
        <p:nvSpPr>
          <p:cNvPr id="3" name="15  /  易行 LP">
            <a:extLst xmlns:a="http://schemas.openxmlformats.org/drawingml/2006/main">
              <a:ext uri="{FF2B5EF4-FFF2-40B4-BE49-F238E27FC236}">
                <a16:creationId xmlns:a16="http://schemas.microsoft.com/office/drawing/2014/main" id="{1B068C84-9FCE-4CEA-90C8-B492D173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15  /  易行 LP</a:t>
            </a:r>
          </a:p>
        </p:txBody>
      </p:sp>
      <p:sp>
        <p:nvSpPr>
          <p:cNvPr id="4" name="系统陈述">
            <a:extLst xmlns:a="http://schemas.openxmlformats.org/drawingml/2006/main">
              <a:ext uri="{FF2B5EF4-FFF2-40B4-BE49-F238E27FC236}">
                <a16:creationId xmlns:a16="http://schemas.microsoft.com/office/drawing/2014/main" id="{6ABCF94A-857E-4883-990A-1AA84930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系统陈述</a:t>
            </a:r>
          </a:p>
        </p:txBody>
      </p:sp>
      <p:sp>
        <p:nvSpPr>
          <p:cNvPr id="5" name="我设计的易行 LP 面向运筹咨询研究人员，辅助将已理解的业务问题">
            <a:extLst xmlns:a="http://schemas.openxmlformats.org/drawingml/2006/main">
              <a:ext uri="{FF2B5EF4-FFF2-40B4-BE49-F238E27FC236}">
                <a16:creationId xmlns:a16="http://schemas.microsoft.com/office/drawing/2014/main" id="{59CE029C-9695-4871-A275-32790B6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我设计的易行 LP 面向运筹咨询研究人员，辅助将已理解的业务问题转成非负连续线性规划模型，完成求解、模型复核与规划方案输出。</a:t>
            </a:r>
          </a:p>
        </p:txBody>
      </p:sp>
      <p:sp>
        <p:nvSpPr>
          <p:cNvPr id="6" name="使用故事 1：初次规划">
            <a:extLst xmlns:a="http://schemas.openxmlformats.org/drawingml/2006/main">
              <a:ext uri="{FF2B5EF4-FFF2-40B4-BE49-F238E27FC236}">
                <a16:creationId xmlns:a16="http://schemas.microsoft.com/office/drawing/2014/main" id="{5F7E98E4-26EB-4A4A-849E-94A987A9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1：初次规划</a:t>
            </a:r>
          </a:p>
        </p:txBody>
      </p:sp>
      <p:sp>
        <p:nvSpPr>
          <p:cNvPr id="7" name="老张录入 Tanner 问题与资源数据，借助活动—资源表生成模型">
            <a:extLst xmlns:a="http://schemas.openxmlformats.org/drawingml/2006/main">
              <a:ext uri="{FF2B5EF4-FFF2-40B4-BE49-F238E27FC236}">
                <a16:creationId xmlns:a16="http://schemas.microsoft.com/office/drawing/2014/main" id="{FAB89A87-AEC8-438B-B3E9-AFEACFE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老张录入 Tanner 问题与资源数据，借助活动—资源表生成模型；小明核对公式后发起计算，得到带业务名称的规划方案。</a:t>
            </a:r>
          </a:p>
        </p:txBody>
      </p:sp>
      <p:sp>
        <p:nvSpPr>
          <p:cNvPr id="8" name="使用故事 2：审核后修订">
            <a:extLst xmlns:a="http://schemas.openxmlformats.org/drawingml/2006/main">
              <a:ext uri="{FF2B5EF4-FFF2-40B4-BE49-F238E27FC236}">
                <a16:creationId xmlns:a16="http://schemas.microsoft.com/office/drawing/2014/main" id="{C1157317-0163-4E4E-862E-1BF140E1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2：审核后修订</a:t>
            </a:r>
          </a:p>
        </p:txBody>
      </p:sp>
      <p:sp>
        <p:nvSpPr>
          <p:cNvPr id="9" name="老张发现漏掉销量上限后补充约束，软件使旧模型失效；重新建模和计算">
            <a:extLst xmlns:a="http://schemas.openxmlformats.org/drawingml/2006/main">
              <a:ext uri="{FF2B5EF4-FFF2-40B4-BE49-F238E27FC236}">
                <a16:creationId xmlns:a16="http://schemas.microsoft.com/office/drawing/2014/main" id="{F477A33C-1D16-4F8B-85F7-F592E589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老张发现漏掉销量上限后补充约束，软件使旧模型失效；重新建模和计算后，研究人员检查新方案是否符合这些限制。</a:t>
            </a:r>
          </a:p>
        </p:txBody>
      </p:sp>
    </p:spTree>
    <p:extLst>
      <p:ext uri="{BB962C8B-B14F-4D97-AF65-F5344CB8AC3E}">
        <p14:creationId xmlns:p14="http://schemas.microsoft.com/office/powerpoint/2010/main" val="898144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性需求基线">
            <a:extLst xmlns:a="http://schemas.openxmlformats.org/drawingml/2006/main">
              <a:ext uri="{FF2B5EF4-FFF2-40B4-BE49-F238E27FC236}">
                <a16:creationId xmlns:a16="http://schemas.microsoft.com/office/drawing/2014/main" id="{DC469512-DD49-44CA-BCE2-876622E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功能性需求基线</a:t>
            </a:r>
          </a:p>
        </p:txBody>
      </p:sp>
      <p:sp>
        <p:nvSpPr>
          <p:cNvPr id="2" name="成果：把材料和设计选择编号，便于追踪">
            <a:extLst xmlns:a="http://schemas.openxmlformats.org/drawingml/2006/main">
              <a:ext uri="{FF2B5EF4-FFF2-40B4-BE49-F238E27FC236}">
                <a16:creationId xmlns:a16="http://schemas.microsoft.com/office/drawing/2014/main" id="{AF403EBC-EDB4-4A0B-BA4F-C9420A2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成果：把材料和设计选择编号，便于追踪</a:t>
            </a:r>
          </a:p>
        </p:txBody>
      </p:sp>
      <p:sp>
        <p:nvSpPr>
          <p:cNvPr id="3" name="16  /  易行 LP">
            <a:extLst xmlns:a="http://schemas.openxmlformats.org/drawingml/2006/main">
              <a:ext uri="{FF2B5EF4-FFF2-40B4-BE49-F238E27FC236}">
                <a16:creationId xmlns:a16="http://schemas.microsoft.com/office/drawing/2014/main" id="{9EFF46C2-D569-4C2B-BE0B-D261924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453E9-7DDD-465D-9DEB-584ECA9629C9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7143750"/>
                <a:gridCol w="2628900"/>
              </a:tblGrid>
              <a:tr h="64225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功能与验收条件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 TXT 问题陈述，允许继续编辑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原型“导入”；格式为我的假设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编辑目标、活动、资源、系数和关系；增删时矩阵维数一致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教师原型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点击建模生成公式；非法输入给出提示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原型建模；校验为设计细化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点击计算显示目标值、变量值和资源余量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修改输入后必须重新建模才能计算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故事反复建模；设计细化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查看迭代记录、导入导出完整项目与计算记录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可检查性与复用扩展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4141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非功能性需求与可用性">
            <a:extLst xmlns:a="http://schemas.openxmlformats.org/drawingml/2006/main">
              <a:ext uri="{FF2B5EF4-FFF2-40B4-BE49-F238E27FC236}">
                <a16:creationId xmlns:a16="http://schemas.microsoft.com/office/drawing/2014/main" id="{C5241BC1-8E70-4062-AF89-812EBBC1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非功能性需求与可用性</a:t>
            </a:r>
          </a:p>
        </p:txBody>
      </p:sp>
      <p:sp>
        <p:nvSpPr>
          <p:cNvPr id="2" name="成果：提出可检查的质量要求；数值门槛属于我的设计假设">
            <a:extLst xmlns:a="http://schemas.openxmlformats.org/drawingml/2006/main">
              <a:ext uri="{FF2B5EF4-FFF2-40B4-BE49-F238E27FC236}">
                <a16:creationId xmlns:a16="http://schemas.microsoft.com/office/drawing/2014/main" id="{7C4676E3-CE0D-48F9-AD45-797B35F6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成果：提出可检查的质量要求；数值门槛属于我的设计假设</a:t>
            </a:r>
          </a:p>
        </p:txBody>
      </p:sp>
      <p:sp>
        <p:nvSpPr>
          <p:cNvPr id="3" name="17  /  易行 LP">
            <a:extLst xmlns:a="http://schemas.openxmlformats.org/drawingml/2006/main">
              <a:ext uri="{FF2B5EF4-FFF2-40B4-BE49-F238E27FC236}">
                <a16:creationId xmlns:a16="http://schemas.microsoft.com/office/drawing/2014/main" id="{1FF6D3EA-4AA1-43FF-BB78-B324291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DE34A-C6F6-4C41-A3C3-1BC16C147D1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57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验证方法 / 当前边界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N01 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输出与原模型一起保存；最优结果代回约束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检查计算记录与约束余量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N02 易用性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变量使用业务名称；错误能定位；900px宽度可操作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浏览器检查关键流程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N03 可移植性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静态文件本地运行，不依赖账号与外部接口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离线文件包与浏览器启动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N04 有界运行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1～20变量，1～40原始约束；最多2000次换基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尺寸与迭代上限校验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N05 数值处理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有限数输入，绝对值≤10⁹；EPS=10⁻⁹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边界校验、结果容差检查；不保证病态模型精度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180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A566B-B78E-4D41-989F-7301F168AE1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876550" y="3571875"/>
            <a:ext cx="1504950" cy="11668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A617A-382E-4397-AD9C-47B1D8F5517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876550" y="3571875"/>
            <a:ext cx="15049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F250A-78E3-4E7A-910C-02DC11F8B7F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876550" y="2833688"/>
            <a:ext cx="150495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14" name="第 3 步：软件分析">
            <a:extLst xmlns:a="http://schemas.openxmlformats.org/drawingml/2006/main">
              <a:ext uri="{FF2B5EF4-FFF2-40B4-BE49-F238E27FC236}">
                <a16:creationId xmlns:a16="http://schemas.microsoft.com/office/drawing/2014/main" id="{15633043-36AA-43AA-BD69-1CEF3928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3 步：软件分析</a:t>
            </a:r>
          </a:p>
        </p:txBody>
      </p:sp>
      <p:sp>
        <p:nvSpPr>
          <p:cNvPr id="2" name="方法：从用户目标识别用例；成果：系统用例视图">
            <a:extLst xmlns:a="http://schemas.openxmlformats.org/drawingml/2006/main">
              <a:ext uri="{FF2B5EF4-FFF2-40B4-BE49-F238E27FC236}">
                <a16:creationId xmlns:a16="http://schemas.microsoft.com/office/drawing/2014/main" id="{652072FC-9968-4D9D-A312-B24EC6E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方法：从用户目标识别用例；成果：系统用例视图</a:t>
            </a:r>
          </a:p>
        </p:txBody>
      </p:sp>
      <p:sp>
        <p:nvSpPr>
          <p:cNvPr id="3" name="18  /  易行 LP">
            <a:extLst xmlns:a="http://schemas.openxmlformats.org/drawingml/2006/main">
              <a:ext uri="{FF2B5EF4-FFF2-40B4-BE49-F238E27FC236}">
                <a16:creationId xmlns:a16="http://schemas.microsoft.com/office/drawing/2014/main" id="{B9D13067-ED93-45C2-9882-D6C75A70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18  /  易行 LP</a:t>
            </a:r>
          </a:p>
        </p:txBody>
      </p:sp>
      <p:sp>
        <p:nvSpPr>
          <p:cNvPr id="4" name="老张 / 小明&#10;运筹学研究人员">
            <a:extLst xmlns:a="http://schemas.openxmlformats.org/drawingml/2006/main">
              <a:ext uri="{FF2B5EF4-FFF2-40B4-BE49-F238E27FC236}">
                <a16:creationId xmlns:a16="http://schemas.microsoft.com/office/drawing/2014/main" id="{3699CF1D-A627-415A-B303-88BB502C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运筹学研究人员</a:t>
            </a:r>
          </a:p>
        </p:txBody>
      </p:sp>
      <p:sp>
        <p:nvSpPr>
          <p:cNvPr id="5" name="易行LP系统边界">
            <a:extLst xmlns:a="http://schemas.openxmlformats.org/drawingml/2006/main">
              <a:ext uri="{FF2B5EF4-FFF2-40B4-BE49-F238E27FC236}">
                <a16:creationId xmlns:a16="http://schemas.microsoft.com/office/drawing/2014/main" id="{B414066B-273D-4F44-B30B-C19A559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81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BB9"/>
            </a:solidFill>
          </a:ln>
        </p:spPr>
      </p:sp>
      <p:sp>
        <p:nvSpPr>
          <p:cNvPr id="6" name="易行 LP 系统边界">
            <a:extLst xmlns:a="http://schemas.openxmlformats.org/drawingml/2006/main">
              <a:ext uri="{FF2B5EF4-FFF2-40B4-BE49-F238E27FC236}">
                <a16:creationId xmlns:a16="http://schemas.microsoft.com/office/drawing/2014/main" id="{EA5C42E3-2F51-4922-B9F0-10E120A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易行 LP 系统边界</a:t>
            </a:r>
          </a:p>
        </p:txBody>
      </p:sp>
      <p:sp>
        <p:nvSpPr>
          <p:cNvPr id="7" name="UC01 维护业务问题与模型">
            <a:extLst xmlns:a="http://schemas.openxmlformats.org/drawingml/2006/main">
              <a:ext uri="{FF2B5EF4-FFF2-40B4-BE49-F238E27FC236}">
                <a16:creationId xmlns:a16="http://schemas.microsoft.com/office/drawing/2014/main" id="{592ED26A-72B2-4E91-8398-B3FB2CD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 维护业务问题与模型</a:t>
            </a:r>
          </a:p>
        </p:txBody>
      </p:sp>
      <p:sp>
        <p:nvSpPr>
          <p:cNvPr id="8" name="UC02 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65B6C88C-91A2-4DFE-B4C9-5889FA4C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 求解并查看规划方案</a:t>
            </a:r>
          </a:p>
        </p:txBody>
      </p:sp>
      <p:sp>
        <p:nvSpPr>
          <p:cNvPr id="9" name="UC03 保存与重新载入项目">
            <a:extLst xmlns:a="http://schemas.openxmlformats.org/drawingml/2006/main">
              <a:ext uri="{FF2B5EF4-FFF2-40B4-BE49-F238E27FC236}">
                <a16:creationId xmlns:a16="http://schemas.microsoft.com/office/drawing/2014/main" id="{FC7950EC-4AB8-4704-B90C-5F167C3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UC03 保存与重新载入项目</a:t>
            </a:r>
          </a:p>
        </p:txBody>
      </p:sp>
      <p:sp>
        <p:nvSpPr>
          <p:cNvPr id="13" name="系统外：客户业务数据的真实性、模型假设的批准与最终经营决策。">
            <a:extLst xmlns:a="http://schemas.openxmlformats.org/drawingml/2006/main">
              <a:ext uri="{FF2B5EF4-FFF2-40B4-BE49-F238E27FC236}">
                <a16:creationId xmlns:a16="http://schemas.microsoft.com/office/drawing/2014/main" id="{DCD36C88-FAC8-404A-8461-803868CA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系统外：客户业务数据的真实性、模型假设的批准与最终经营决策。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18006462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1：维护并生成数学模型">
            <a:extLst xmlns:a="http://schemas.openxmlformats.org/drawingml/2006/main">
              <a:ext uri="{FF2B5EF4-FFF2-40B4-BE49-F238E27FC236}">
                <a16:creationId xmlns:a16="http://schemas.microsoft.com/office/drawing/2014/main" id="{1EE46E8E-8ED6-4FC7-A4D8-8FB51319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UC01：维护并生成数学模型</a:t>
            </a:r>
          </a:p>
        </p:txBody>
      </p:sp>
      <p:sp>
        <p:nvSpPr>
          <p:cNvPr id="2" name="成果：用正常流程与异常流程明确交互责任">
            <a:extLst xmlns:a="http://schemas.openxmlformats.org/drawingml/2006/main">
              <a:ext uri="{FF2B5EF4-FFF2-40B4-BE49-F238E27FC236}">
                <a16:creationId xmlns:a16="http://schemas.microsoft.com/office/drawing/2014/main" id="{D05EE7D7-DF25-4F28-AF65-DF96E396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成果：用正常流程与异常流程明确交互责任</a:t>
            </a:r>
          </a:p>
        </p:txBody>
      </p:sp>
      <p:sp>
        <p:nvSpPr>
          <p:cNvPr id="3" name="19  /  易行 LP">
            <a:extLst xmlns:a="http://schemas.openxmlformats.org/drawingml/2006/main">
              <a:ext uri="{FF2B5EF4-FFF2-40B4-BE49-F238E27FC236}">
                <a16:creationId xmlns:a16="http://schemas.microsoft.com/office/drawing/2014/main" id="{F5284BA1-A1A2-404E-9779-CB331C4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9EB9A-4DB8-47B3-9BCE-4122E55099C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6395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用户已打开工具，准备了问题陈述和相关业务参数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1～2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导入或输入问题陈述；确定目标和活动，填写业务名称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3～4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维护资源、关系和系数；点击“建模”，系统校验维数和数字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系统生成公式；用户核对目标函数、约束和变量含义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非法数字、缺失输入或严格不等式：提示错误，不允许求解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已生成可计算模型；任何编辑均回到“需要重新建模”状态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6733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2：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654ECD40-E13C-4667-868F-70698F6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UC02：求解并查看规划方案</a:t>
            </a:r>
          </a:p>
        </p:txBody>
      </p:sp>
      <p:sp>
        <p:nvSpPr>
          <p:cNvPr id="2" name="成果：把成功、异常和重新计算的行为写清楚">
            <a:extLst xmlns:a="http://schemas.openxmlformats.org/drawingml/2006/main">
              <a:ext uri="{FF2B5EF4-FFF2-40B4-BE49-F238E27FC236}">
                <a16:creationId xmlns:a16="http://schemas.microsoft.com/office/drawing/2014/main" id="{219849FC-09A6-47FD-918E-576B30A0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成果：把成功、异常和重新计算的行为写清楚</a:t>
            </a:r>
          </a:p>
        </p:txBody>
      </p:sp>
      <p:sp>
        <p:nvSpPr>
          <p:cNvPr id="3" name="20  /  易行 LP">
            <a:extLst xmlns:a="http://schemas.openxmlformats.org/drawingml/2006/main">
              <a:ext uri="{FF2B5EF4-FFF2-40B4-BE49-F238E27FC236}">
                <a16:creationId xmlns:a16="http://schemas.microsoft.com/office/drawing/2014/main" id="{868D4626-4397-4069-90F6-54635F13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9E900-BD76-4B1A-8786-ED295EC256F3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当前输入已经成功建模，尚未被修改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用户点击计算；系统执行两阶段单纯形法，记录每次换基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代回原约束检查后，显示目标值、活动水平与资源余量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分别显示无可行解、无界、迭代上限或数值异常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后续动作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查看迭代、导出记录、关闭方案；必要时修改模型后重新建模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7441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教师原型与我的界面理解">
            <a:extLst xmlns:a="http://schemas.openxmlformats.org/drawingml/2006/main">
              <a:ext uri="{FF2B5EF4-FFF2-40B4-BE49-F238E27FC236}">
                <a16:creationId xmlns:a16="http://schemas.microsoft.com/office/drawing/2014/main" id="{B05922E2-8050-4F07-B3B2-74EE93D2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教师原型与我的界面理解</a:t>
            </a:r>
          </a:p>
        </p:txBody>
      </p:sp>
      <p:sp>
        <p:nvSpPr>
          <p:cNvPr id="2" name="成果：保留问题陈述、建模向导、数学模型和规划方案的逻辑分区">
            <a:extLst xmlns:a="http://schemas.openxmlformats.org/drawingml/2006/main">
              <a:ext uri="{FF2B5EF4-FFF2-40B4-BE49-F238E27FC236}">
                <a16:creationId xmlns:a16="http://schemas.microsoft.com/office/drawing/2014/main" id="{D02206E3-3FC5-49FD-B43B-73FA372F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成果：保留问题陈述、建模向导、数学模型和规划方案的逻辑分区</a:t>
            </a:r>
          </a:p>
        </p:txBody>
      </p:sp>
      <p:sp>
        <p:nvSpPr>
          <p:cNvPr id="3" name="21  /  易行 LP">
            <a:extLst xmlns:a="http://schemas.openxmlformats.org/drawingml/2006/main">
              <a:ext uri="{FF2B5EF4-FFF2-40B4-BE49-F238E27FC236}">
                <a16:creationId xmlns:a16="http://schemas.microsoft.com/office/drawing/2014/main" id="{6E54A8E6-02AC-4EC7-8838-E944A0FD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21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51E90-752F-4F7C-ADB3-401E4B823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36c17d9fb417f"/>
          <a:stretch xmlns:a="http://schemas.openxmlformats.org/drawingml/2006/main"/>
        </p:blipFill>
        <p:spPr>
          <a:xfrm xmlns:a="http://schemas.openxmlformats.org/drawingml/2006/main">
            <a:off x="2177390" y="1695450"/>
            <a:ext cx="78372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7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界面成果：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114E7D48-CDA9-49F2-94D2-C7C147D2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界面成果：辅助建模工作区</a:t>
            </a:r>
          </a:p>
        </p:txBody>
      </p:sp>
      <p:sp>
        <p:nvSpPr>
          <p:cNvPr id="2" name="成果：结构化表格生成模型，保留业务名称和审核记录">
            <a:extLst xmlns:a="http://schemas.openxmlformats.org/drawingml/2006/main">
              <a:ext uri="{FF2B5EF4-FFF2-40B4-BE49-F238E27FC236}">
                <a16:creationId xmlns:a16="http://schemas.microsoft.com/office/drawing/2014/main" id="{E2AFB9F6-5C29-428E-B36B-EB3F1679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成果：结构化表格生成模型，保留业务名称和审核记录</a:t>
            </a:r>
          </a:p>
        </p:txBody>
      </p:sp>
      <p:sp>
        <p:nvSpPr>
          <p:cNvPr id="3" name="22  /  易行 LP">
            <a:extLst xmlns:a="http://schemas.openxmlformats.org/drawingml/2006/main">
              <a:ext uri="{FF2B5EF4-FFF2-40B4-BE49-F238E27FC236}">
                <a16:creationId xmlns:a16="http://schemas.microsoft.com/office/drawing/2014/main" id="{BC6E81A5-C5B7-48D1-BB35-2B94A70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22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5500C-45F6-4444-8F3B-50F3B27F33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453942590446c"/>
          <a:stretch xmlns:a="http://schemas.openxmlformats.org/drawingml/2006/main"/>
        </p:blipFill>
        <p:spPr>
          <a:xfrm xmlns:a="http://schemas.openxmlformats.org/drawingml/2006/main">
            <a:off x="4386385" y="1714500"/>
            <a:ext cx="6657731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D86F9EEB-1CC7-4C66-9BEF-F39B7FA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辅助建模工作区</a:t>
            </a:r>
          </a:p>
        </p:txBody>
      </p:sp>
      <p:sp>
        <p:nvSpPr>
          <p:cNvPr id="6" name="选择目标方向&#10;&#10;维护活动与业务名称&#10;&#10;编辑资源、关系与系数&#10;&#10;点">
            <a:extLst xmlns:a="http://schemas.openxmlformats.org/drawingml/2006/main">
              <a:ext uri="{FF2B5EF4-FFF2-40B4-BE49-F238E27FC236}">
                <a16:creationId xmlns:a16="http://schemas.microsoft.com/office/drawing/2014/main" id="{3D1F0EB5-ED8C-4605-81B7-4E783D9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000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选择目标方向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维护活动与业务名称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编辑资源、关系与系数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点击建模生成公式</a:t>
            </a:r>
          </a:p>
        </p:txBody>
      </p:sp>
    </p:spTree>
    <p:extLst>
      <p:ext uri="{BB962C8B-B14F-4D97-AF65-F5344CB8AC3E}">
        <p14:creationId xmlns:p14="http://schemas.microsoft.com/office/powerpoint/2010/main" val="15616835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37618-35B2-435B-9623-77DBC38E3AA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48375" y="2952750"/>
            <a:ext cx="3810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15E17-68EF-4ADE-A8CD-29B9A20419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466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7F925-8127-4B61-92B4-632F38F8619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238375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C8727-8F26-48D9-ACA7-8919B1E0D30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7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F6177-58C2-4DDB-8494-22927609A0D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22" name="分析模型：领域对象与关系">
            <a:extLst xmlns:a="http://schemas.openxmlformats.org/drawingml/2006/main">
              <a:ext uri="{FF2B5EF4-FFF2-40B4-BE49-F238E27FC236}">
                <a16:creationId xmlns:a16="http://schemas.microsoft.com/office/drawing/2014/main" id="{A5953737-631E-425E-92FE-83C58EA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分析模型：领域对象与关系</a:t>
            </a:r>
          </a:p>
        </p:txBody>
      </p:sp>
      <p:sp>
        <p:nvSpPr>
          <p:cNvPr id="2" name="成果：用归属关系和多重性表达业务概念">
            <a:extLst xmlns:a="http://schemas.openxmlformats.org/drawingml/2006/main">
              <a:ext uri="{FF2B5EF4-FFF2-40B4-BE49-F238E27FC236}">
                <a16:creationId xmlns:a16="http://schemas.microsoft.com/office/drawing/2014/main" id="{D95BA4C8-5D37-42B3-9F23-AADDD28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成果：用归属关系和多重性表达业务概念</a:t>
            </a:r>
          </a:p>
        </p:txBody>
      </p:sp>
      <p:sp>
        <p:nvSpPr>
          <p:cNvPr id="3" name="23  /  易行 LP">
            <a:extLst xmlns:a="http://schemas.openxmlformats.org/drawingml/2006/main">
              <a:ext uri="{FF2B5EF4-FFF2-40B4-BE49-F238E27FC236}">
                <a16:creationId xmlns:a16="http://schemas.microsoft.com/office/drawing/2014/main" id="{8B3B3F2D-16A4-4B94-8E4C-358D1374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23  /  易行 LP</a:t>
            </a:r>
          </a:p>
        </p:txBody>
      </p:sp>
      <p:sp>
        <p:nvSpPr>
          <p:cNvPr id="4" name="问题项目&#10;陈述、假设、业务名称">
            <a:extLst xmlns:a="http://schemas.openxmlformats.org/drawingml/2006/main">
              <a:ext uri="{FF2B5EF4-FFF2-40B4-BE49-F238E27FC236}">
                <a16:creationId xmlns:a16="http://schemas.microsoft.com/office/drawing/2014/main" id="{1698275C-015D-4AE1-B048-2941D78A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问题项目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陈述、假设、业务名称</a:t>
            </a:r>
          </a:p>
        </p:txBody>
      </p:sp>
      <p:sp>
        <p:nvSpPr>
          <p:cNvPr id="5" name="线性规划模型&#10;目标方向、目标系数">
            <a:extLst xmlns:a="http://schemas.openxmlformats.org/drawingml/2006/main">
              <a:ext uri="{FF2B5EF4-FFF2-40B4-BE49-F238E27FC236}">
                <a16:creationId xmlns:a16="http://schemas.microsoft.com/office/drawing/2014/main" id="{86C172DE-CCD9-4787-88BA-E2693EE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线性规划模型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目标方向、目标系数</a:t>
            </a:r>
          </a:p>
        </p:txBody>
      </p:sp>
      <p:sp>
        <p:nvSpPr>
          <p:cNvPr id="6" name="竞争性活动&#10;名称、非负活动水平">
            <a:extLst xmlns:a="http://schemas.openxmlformats.org/drawingml/2006/main">
              <a:ext uri="{FF2B5EF4-FFF2-40B4-BE49-F238E27FC236}">
                <a16:creationId xmlns:a16="http://schemas.microsoft.com/office/drawing/2014/main" id="{AA8DFF4F-4E61-4058-879C-4045A08D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名称、非负活动水平</a:t>
            </a:r>
          </a:p>
        </p:txBody>
      </p:sp>
      <p:sp>
        <p:nvSpPr>
          <p:cNvPr id="7" name="当前计算结果&#10;状态、目标值、活动值">
            <a:extLst xmlns:a="http://schemas.openxmlformats.org/drawingml/2006/main">
              <a:ext uri="{FF2B5EF4-FFF2-40B4-BE49-F238E27FC236}">
                <a16:creationId xmlns:a16="http://schemas.microsoft.com/office/drawing/2014/main" id="{D6D5CE26-303E-4A82-85C7-31877A0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当前计算结果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状态、目标值、活动值</a:t>
            </a:r>
          </a:p>
        </p:txBody>
      </p:sp>
      <p:sp>
        <p:nvSpPr>
          <p:cNvPr id="8" name="迭代记录&#10;阶段、基变量、表格">
            <a:extLst xmlns:a="http://schemas.openxmlformats.org/drawingml/2006/main">
              <a:ext uri="{FF2B5EF4-FFF2-40B4-BE49-F238E27FC236}">
                <a16:creationId xmlns:a16="http://schemas.microsoft.com/office/drawing/2014/main" id="{C607E465-7C18-4569-9145-4CBBC8D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迭代记录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阶段、基变量、表格</a:t>
            </a:r>
          </a:p>
        </p:txBody>
      </p:sp>
      <p:sp>
        <p:nvSpPr>
          <p:cNvPr id="9" name="约束&#10;系数、关系、右端值">
            <a:extLst xmlns:a="http://schemas.openxmlformats.org/drawingml/2006/main">
              <a:ext uri="{FF2B5EF4-FFF2-40B4-BE49-F238E27FC236}">
                <a16:creationId xmlns:a16="http://schemas.microsoft.com/office/drawing/2014/main" id="{47F57F47-151E-45DB-8B17-53B22B04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系数、关系、右端值</a:t>
            </a:r>
          </a:p>
        </p:txBody>
      </p:sp>
      <p:sp>
        <p:nvSpPr>
          <p:cNvPr id="15" name="1 : 1">
            <a:extLst xmlns:a="http://schemas.openxmlformats.org/drawingml/2006/main">
              <a:ext uri="{FF2B5EF4-FFF2-40B4-BE49-F238E27FC236}">
                <a16:creationId xmlns:a16="http://schemas.microsoft.com/office/drawing/2014/main" id="{BA260FC6-AA4B-48FD-824C-61F3730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16" name="1 : 1..20">
            <a:extLst xmlns:a="http://schemas.openxmlformats.org/drawingml/2006/main">
              <a:ext uri="{FF2B5EF4-FFF2-40B4-BE49-F238E27FC236}">
                <a16:creationId xmlns:a16="http://schemas.microsoft.com/office/drawing/2014/main" id="{ADC046BB-6392-4A5B-A829-C32159A7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24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1..20</a:t>
            </a:r>
          </a:p>
        </p:txBody>
      </p:sp>
      <p:sp>
        <p:nvSpPr>
          <p:cNvPr id="17" name="1 : 0..1">
            <a:extLst xmlns:a="http://schemas.openxmlformats.org/drawingml/2006/main">
              <a:ext uri="{FF2B5EF4-FFF2-40B4-BE49-F238E27FC236}">
                <a16:creationId xmlns:a16="http://schemas.microsoft.com/office/drawing/2014/main" id="{7F64158B-C057-4AEE-B085-379F15F1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0..1</a:t>
            </a:r>
          </a:p>
        </p:txBody>
      </p:sp>
      <p:sp>
        <p:nvSpPr>
          <p:cNvPr id="18" name="1 : 1..*">
            <a:extLst xmlns:a="http://schemas.openxmlformats.org/drawingml/2006/main">
              <a:ext uri="{FF2B5EF4-FFF2-40B4-BE49-F238E27FC236}">
                <a16:creationId xmlns:a16="http://schemas.microsoft.com/office/drawing/2014/main" id="{CF114FFF-DAFA-4D44-9509-E47106FF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957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1..*</a:t>
            </a:r>
          </a:p>
        </p:txBody>
      </p:sp>
      <p:sp>
        <p:nvSpPr>
          <p:cNvPr id="19" name="1 : 1..40">
            <a:extLst xmlns:a="http://schemas.openxmlformats.org/drawingml/2006/main">
              <a:ext uri="{FF2B5EF4-FFF2-40B4-BE49-F238E27FC236}">
                <a16:creationId xmlns:a16="http://schemas.microsoft.com/office/drawing/2014/main" id="{170AEBB0-AA13-4A41-B756-D3E13DFF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1..40</a:t>
            </a:r>
          </a:p>
        </p:txBody>
      </p:sp>
      <p:sp>
        <p:nvSpPr>
          <p:cNvPr id="20" name="不变式：目标系数数量 = 活动数量；每条约束的系数向量长度 = ">
            <a:extLst xmlns:a="http://schemas.openxmlformats.org/drawingml/2006/main">
              <a:ext uri="{FF2B5EF4-FFF2-40B4-BE49-F238E27FC236}">
                <a16:creationId xmlns:a16="http://schemas.microsoft.com/office/drawing/2014/main" id="{9B8D001B-01F8-4387-938D-0A22C3A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不变式：目标系数数量 = 活动数量；每条约束的系数向量长度 = 活动数量。</a:t>
            </a:r>
          </a:p>
        </p:txBody>
      </p:sp>
      <p:sp>
        <p:nvSpPr>
          <p:cNvPr id="21" name="计算记录保存原项目快照，保证结果可以追溯到当时的输入与假设。">
            <a:extLst xmlns:a="http://schemas.openxmlformats.org/drawingml/2006/main">
              <a:ext uri="{FF2B5EF4-FFF2-40B4-BE49-F238E27FC236}">
                <a16:creationId xmlns:a16="http://schemas.microsoft.com/office/drawing/2014/main" id="{44CBE745-E261-4DCB-A1E0-8F593AC7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计算记录保存原项目快照，保证结果可以追溯到当时的输入与假设。</a:t>
            </a:r>
          </a:p>
        </p:txBody>
      </p:sp>
    </p:spTree>
    <p:extLst>
      <p:ext uri="{BB962C8B-B14F-4D97-AF65-F5344CB8AC3E}">
        <p14:creationId xmlns:p14="http://schemas.microsoft.com/office/powerpoint/2010/main" val="8526231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系统顺序模型：建模与求解">
            <a:extLst xmlns:a="http://schemas.openxmlformats.org/drawingml/2006/main">
              <a:ext uri="{FF2B5EF4-FFF2-40B4-BE49-F238E27FC236}">
                <a16:creationId xmlns:a16="http://schemas.microsoft.com/office/drawing/2014/main" id="{DA665CAF-7C6D-44D6-9BDF-33AB406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系统顺序模型：建模与求解</a:t>
            </a:r>
          </a:p>
        </p:txBody>
      </p:sp>
      <p:sp>
        <p:nvSpPr>
          <p:cNvPr id="2" name="成果：以参与者—系统交互确定输入、输出和责任边界">
            <a:extLst xmlns:a="http://schemas.openxmlformats.org/drawingml/2006/main">
              <a:ext uri="{FF2B5EF4-FFF2-40B4-BE49-F238E27FC236}">
                <a16:creationId xmlns:a16="http://schemas.microsoft.com/office/drawing/2014/main" id="{E9D543C4-F5E7-43A4-A692-8FE0F9BC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成果：以参与者—系统交互确定输入、输出和责任边界</a:t>
            </a:r>
          </a:p>
        </p:txBody>
      </p:sp>
      <p:sp>
        <p:nvSpPr>
          <p:cNvPr id="3" name="24  /  易行 LP">
            <a:extLst xmlns:a="http://schemas.openxmlformats.org/drawingml/2006/main">
              <a:ext uri="{FF2B5EF4-FFF2-40B4-BE49-F238E27FC236}">
                <a16:creationId xmlns:a16="http://schemas.microsoft.com/office/drawing/2014/main" id="{E6D2D5AC-F967-4505-A1B4-F96BE1CB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55D6C-52FF-46EA-B998-1F53873298DA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762500"/>
                <a:gridCol w="5105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参与者发起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系统响应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提交目标、活动、资源与系数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保存输入草稿；使旧模型失效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校验输入；生成数学模型；允许计算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solve()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执行算法；校验最优结果；生成结果对象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showPlan() / exportResult()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展示方案、原模型与迭代记录，或导出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修改约束并再次请求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废弃旧计算上下文；从新模型重新计算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5096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90BF3-6854-47C7-BF15-A30224D5310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52AED-2C8E-4C26-B81D-94D586289EE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8B95D-FE35-4813-8E58-6167EC41FC6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3" name="第 4 步：逻辑架构与部署">
            <a:extLst xmlns:a="http://schemas.openxmlformats.org/drawingml/2006/main">
              <a:ext uri="{FF2B5EF4-FFF2-40B4-BE49-F238E27FC236}">
                <a16:creationId xmlns:a16="http://schemas.microsoft.com/office/drawing/2014/main" id="{FFBD2C82-9AEB-4F5B-8DDB-50FF7319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4 步：逻辑架构与部署</a:t>
            </a:r>
          </a:p>
        </p:txBody>
      </p:sp>
      <p:sp>
        <p:nvSpPr>
          <p:cNvPr id="2" name="方法：按变化原因分离界面、控制、领域和文件操作">
            <a:extLst xmlns:a="http://schemas.openxmlformats.org/drawingml/2006/main">
              <a:ext uri="{FF2B5EF4-FFF2-40B4-BE49-F238E27FC236}">
                <a16:creationId xmlns:a16="http://schemas.microsoft.com/office/drawing/2014/main" id="{BC3993ED-5100-4F11-8A94-24F43F04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方法：按变化原因分离界面、控制、领域和文件操作</a:t>
            </a:r>
          </a:p>
        </p:txBody>
      </p:sp>
      <p:sp>
        <p:nvSpPr>
          <p:cNvPr id="3" name="25  /  易行 LP">
            <a:extLst xmlns:a="http://schemas.openxmlformats.org/drawingml/2006/main">
              <a:ext uri="{FF2B5EF4-FFF2-40B4-BE49-F238E27FC236}">
                <a16:creationId xmlns:a16="http://schemas.microsoft.com/office/drawing/2014/main" id="{35F2A704-8AC2-454C-AFD1-DE47CDE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25  /  易行 LP</a:t>
            </a:r>
          </a:p>
        </p:txBody>
      </p:sp>
      <p:sp>
        <p:nvSpPr>
          <p:cNvPr id="4" name="表现层&#10;HTML / CSS / ModelView">
            <a:extLst xmlns:a="http://schemas.openxmlformats.org/drawingml/2006/main">
              <a:ext uri="{FF2B5EF4-FFF2-40B4-BE49-F238E27FC236}">
                <a16:creationId xmlns:a16="http://schemas.microsoft.com/office/drawing/2014/main" id="{7DAA4A46-9A2B-4361-B7A3-9918BEE1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表现层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HTML / CSS / ModelView</a:t>
            </a:r>
          </a:p>
        </p:txBody>
      </p:sp>
      <p:sp>
        <p:nvSpPr>
          <p:cNvPr id="5" name="应用层&#10;SolveController">
            <a:extLst xmlns:a="http://schemas.openxmlformats.org/drawingml/2006/main">
              <a:ext uri="{FF2B5EF4-FFF2-40B4-BE49-F238E27FC236}">
                <a16:creationId xmlns:a16="http://schemas.microsoft.com/office/drawing/2014/main" id="{05DD85EB-BF7A-4ED1-81F7-6FF8101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应用层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sp>
        <p:nvSpPr>
          <p:cNvPr id="6" name="领域层&#10;LPModel / SimplexSolver">
            <a:extLst xmlns:a="http://schemas.openxmlformats.org/drawingml/2006/main">
              <a:ext uri="{FF2B5EF4-FFF2-40B4-BE49-F238E27FC236}">
                <a16:creationId xmlns:a16="http://schemas.microsoft.com/office/drawing/2014/main" id="{917CA716-E161-4B62-B7D5-87F24D3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 / SimplexSolver</a:t>
            </a:r>
          </a:p>
        </p:txBody>
      </p:sp>
      <p:sp>
        <p:nvSpPr>
          <p:cNvPr id="7" name="本地文件适配&#10;ModelRepository">
            <a:extLst xmlns:a="http://schemas.openxmlformats.org/drawingml/2006/main">
              <a:ext uri="{FF2B5EF4-FFF2-40B4-BE49-F238E27FC236}">
                <a16:creationId xmlns:a16="http://schemas.microsoft.com/office/drawing/2014/main" id="{2F6C287E-D8A7-4830-8C4A-16F5AD0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本地文件适配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</p:txBody>
      </p:sp>
      <p:sp>
        <p:nvSpPr>
          <p:cNvPr id="11" name="部署：浏览器中运行静态文件；TXT / JSON 从用户主动选择">
            <a:extLst xmlns:a="http://schemas.openxmlformats.org/drawingml/2006/main">
              <a:ext uri="{FF2B5EF4-FFF2-40B4-BE49-F238E27FC236}">
                <a16:creationId xmlns:a16="http://schemas.microsoft.com/office/drawing/2014/main" id="{2BA88CD6-8DFE-4274-930E-2EADAA1C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部署：浏览器中运行静态文件；TXT / JSON 从用户主动选择的本地文件读写。</a:t>
            </a:r>
          </a:p>
        </p:txBody>
      </p:sp>
      <p:sp>
        <p:nvSpPr>
          <p:cNvPr id="12" name="更换界面不改变求解算法；若未来采用服务端求解，可替换应用层的调用">
            <a:extLst xmlns:a="http://schemas.openxmlformats.org/drawingml/2006/main">
              <a:ext uri="{FF2B5EF4-FFF2-40B4-BE49-F238E27FC236}">
                <a16:creationId xmlns:a16="http://schemas.microsoft.com/office/drawing/2014/main" id="{52A22735-666F-4EBC-A677-7F4C6FF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更换界面不改变求解算法；若未来采用服务端求解，可替换应用层的调用方式。</a:t>
            </a:r>
          </a:p>
        </p:txBody>
      </p:sp>
    </p:spTree>
    <p:extLst>
      <p:ext uri="{BB962C8B-B14F-4D97-AF65-F5344CB8AC3E}">
        <p14:creationId xmlns:p14="http://schemas.microsoft.com/office/powerpoint/2010/main" val="17404027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模型：类与职责分配">
            <a:extLst xmlns:a="http://schemas.openxmlformats.org/drawingml/2006/main">
              <a:ext uri="{FF2B5EF4-FFF2-40B4-BE49-F238E27FC236}">
                <a16:creationId xmlns:a16="http://schemas.microsoft.com/office/drawing/2014/main" id="{D0143BB7-C2AD-4942-AB24-9D306711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设计模型：类与职责分配</a:t>
            </a:r>
          </a:p>
        </p:txBody>
      </p:sp>
      <p:sp>
        <p:nvSpPr>
          <p:cNvPr id="2" name="成果：设计类与实际代码使用同名对象">
            <a:extLst xmlns:a="http://schemas.openxmlformats.org/drawingml/2006/main">
              <a:ext uri="{FF2B5EF4-FFF2-40B4-BE49-F238E27FC236}">
                <a16:creationId xmlns:a16="http://schemas.microsoft.com/office/drawing/2014/main" id="{B8DC3490-8423-4C66-BFB1-1F37677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成果：设计类与实际代码使用同名对象</a:t>
            </a:r>
          </a:p>
        </p:txBody>
      </p:sp>
      <p:sp>
        <p:nvSpPr>
          <p:cNvPr id="3" name="26  /  易行 LP">
            <a:extLst xmlns:a="http://schemas.openxmlformats.org/drawingml/2006/main">
              <a:ext uri="{FF2B5EF4-FFF2-40B4-BE49-F238E27FC236}">
                <a16:creationId xmlns:a16="http://schemas.microsoft.com/office/drawing/2014/main" id="{7EA52701-B6FB-4A35-B8FA-0C50C3D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F5795-3E88-4661-98E7-F16667284BE5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23431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主要职责与接口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validate（构造校验）、standardize()、check(x)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不依赖界面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solve(model)、局部 simplex / pivot、trace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load()、invalidate()、build()、solve()、importProject()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视图、求解器、文件仓库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render()、formula()、showResult()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DOM 与结果对象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ModelRepository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read(file)、download(name,data)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 File / Blob API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83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4AB40-FFAF-4FAE-85A1-97FC33DA99A4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762625" y="5119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2395D-6781-41C2-B001-05E5D8E9DF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19813" y="3476625"/>
            <a:ext cx="1905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8FC89-D0EC-4994-8B23-95DE4932680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167188" y="3476625"/>
            <a:ext cx="1952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D111F-295B-4417-AF9F-0D29C905BFF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1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97950-68B1-4180-8818-10A545CA074E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90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4" name="设计类图：属性、操作与依赖">
            <a:extLst xmlns:a="http://schemas.openxmlformats.org/drawingml/2006/main">
              <a:ext uri="{FF2B5EF4-FFF2-40B4-BE49-F238E27FC236}">
                <a16:creationId xmlns:a16="http://schemas.microsoft.com/office/drawing/2014/main" id="{CEE04507-D696-4C12-9130-EED175CA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设计类图：属性、操作与依赖</a:t>
            </a:r>
          </a:p>
        </p:txBody>
      </p:sp>
      <p:sp>
        <p:nvSpPr>
          <p:cNvPr id="2" name="成果：把领域对象和控制职责转为实际代码中的类">
            <a:extLst xmlns:a="http://schemas.openxmlformats.org/drawingml/2006/main">
              <a:ext uri="{FF2B5EF4-FFF2-40B4-BE49-F238E27FC236}">
                <a16:creationId xmlns:a16="http://schemas.microsoft.com/office/drawing/2014/main" id="{3287812D-AD68-4BAD-8606-EE5FB5D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成果：把领域对象和控制职责转为实际代码中的类</a:t>
            </a:r>
          </a:p>
        </p:txBody>
      </p:sp>
      <p:sp>
        <p:nvSpPr>
          <p:cNvPr id="3" name="27  /  易行 LP">
            <a:extLst xmlns:a="http://schemas.openxmlformats.org/drawingml/2006/main">
              <a:ext uri="{FF2B5EF4-FFF2-40B4-BE49-F238E27FC236}">
                <a16:creationId xmlns:a16="http://schemas.microsoft.com/office/drawing/2014/main" id="{4270ACAB-A71D-4B37-85E3-BB6CEEE1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27  /  易行 LP</a:t>
            </a:r>
          </a:p>
        </p:txBody>
      </p:sp>
      <p:sp>
        <p:nvSpPr>
          <p:cNvPr id="4" name="ModelView&#10;render(project, onChange)&#10;formula(model)&#10;showResult(result, project)">
            <a:extLst xmlns:a="http://schemas.openxmlformats.org/drawingml/2006/main">
              <a:ext uri="{FF2B5EF4-FFF2-40B4-BE49-F238E27FC236}">
                <a16:creationId xmlns:a16="http://schemas.microsoft.com/office/drawing/2014/main" id="{3C56DAC1-C6E8-48F3-9770-5379241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render(project, onChange)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formula(model)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showResult(result, project)</a:t>
            </a:r>
          </a:p>
        </p:txBody>
      </p:sp>
      <p:sp>
        <p:nvSpPr>
          <p:cNvPr id="5" name="SolveController&#10;project / built / lastResult&#10;build() / solve() / invalidate()&#10;importProject(file)">
            <a:extLst xmlns:a="http://schemas.openxmlformats.org/drawingml/2006/main">
              <a:ext uri="{FF2B5EF4-FFF2-40B4-BE49-F238E27FC236}">
                <a16:creationId xmlns:a16="http://schemas.microsoft.com/office/drawing/2014/main" id="{0489EB16-AF55-4651-B375-63323E13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project / built / lastResult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/ solve() / invalidate()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importProject(file)</a:t>
            </a:r>
          </a:p>
        </p:txBody>
      </p:sp>
      <p:sp>
        <p:nvSpPr>
          <p:cNvPr id="6" name="ModelRepository&#10;read(file)&#10;download(name, data)">
            <a:extLst xmlns:a="http://schemas.openxmlformats.org/drawingml/2006/main">
              <a:ext uri="{FF2B5EF4-FFF2-40B4-BE49-F238E27FC236}">
                <a16:creationId xmlns:a16="http://schemas.microsoft.com/office/drawing/2014/main" id="{5014086C-553C-4E19-802E-3F3F8CC4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read(file)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download(name, data)</a:t>
            </a:r>
          </a:p>
        </p:txBody>
      </p:sp>
      <p:sp>
        <p:nvSpPr>
          <p:cNvPr id="7" name="LPModel&#10;sense / c / constraints&#10;standardize() / check(x)&#10;toJSON()">
            <a:extLst xmlns:a="http://schemas.openxmlformats.org/drawingml/2006/main">
              <a:ext uri="{FF2B5EF4-FFF2-40B4-BE49-F238E27FC236}">
                <a16:creationId xmlns:a16="http://schemas.microsoft.com/office/drawing/2014/main" id="{63BE78C0-61BC-4717-8941-57612EB9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sense / c / constraints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 / check(x)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toJSON()</a:t>
            </a:r>
          </a:p>
        </p:txBody>
      </p:sp>
      <p:sp>
        <p:nvSpPr>
          <p:cNvPr id="8" name="SimplexSolver&#10;solve(model, options)&#10;返回 status / x / trace">
            <a:extLst xmlns:a="http://schemas.openxmlformats.org/drawingml/2006/main">
              <a:ext uri="{FF2B5EF4-FFF2-40B4-BE49-F238E27FC236}">
                <a16:creationId xmlns:a16="http://schemas.microsoft.com/office/drawing/2014/main" id="{DFC33FE0-926A-480D-B69C-2BA62304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solve(model, options)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 status / x / trace</a:t>
            </a:r>
          </a:p>
        </p:txBody>
      </p:sp>
    </p:spTree>
    <p:extLst>
      <p:ext uri="{BB962C8B-B14F-4D97-AF65-F5344CB8AC3E}">
        <p14:creationId xmlns:p14="http://schemas.microsoft.com/office/powerpoint/2010/main" val="705933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设计交互：计算规划方案">
            <a:extLst xmlns:a="http://schemas.openxmlformats.org/drawingml/2006/main">
              <a:ext uri="{FF2B5EF4-FFF2-40B4-BE49-F238E27FC236}">
                <a16:creationId xmlns:a16="http://schemas.microsoft.com/office/drawing/2014/main" id="{006A2B67-2D03-4278-BF64-ED09C428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设计交互：计算规划方案</a:t>
            </a:r>
          </a:p>
        </p:txBody>
      </p:sp>
      <p:sp>
        <p:nvSpPr>
          <p:cNvPr id="2" name="成果：用对象间消息细化 UC02，作为代码映射依据">
            <a:extLst xmlns:a="http://schemas.openxmlformats.org/drawingml/2006/main">
              <a:ext uri="{FF2B5EF4-FFF2-40B4-BE49-F238E27FC236}">
                <a16:creationId xmlns:a16="http://schemas.microsoft.com/office/drawing/2014/main" id="{6B5FFE70-19DD-4524-BFB1-28EE8F82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成果：用对象间消息细化 UC02，作为代码映射依据</a:t>
            </a:r>
          </a:p>
        </p:txBody>
      </p:sp>
      <p:sp>
        <p:nvSpPr>
          <p:cNvPr id="3" name="28  /  易行 LP">
            <a:extLst xmlns:a="http://schemas.openxmlformats.org/drawingml/2006/main">
              <a:ext uri="{FF2B5EF4-FFF2-40B4-BE49-F238E27FC236}">
                <a16:creationId xmlns:a16="http://schemas.microsoft.com/office/drawing/2014/main" id="{C5C88747-46FF-4BAF-BC88-94622EE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28  /  易行 LP</a:t>
            </a:r>
          </a:p>
        </p:txBody>
      </p:sp>
      <p:sp>
        <p:nvSpPr>
          <p:cNvPr id="4" name="研究人员">
            <a:extLst xmlns:a="http://schemas.openxmlformats.org/drawingml/2006/main">
              <a:ext uri="{FF2B5EF4-FFF2-40B4-BE49-F238E27FC236}">
                <a16:creationId xmlns:a16="http://schemas.microsoft.com/office/drawing/2014/main" id="{D301B6D3-FB96-4863-9CDD-1A8A8FC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研究人员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BE6EC-4ED2-4290-9FAD-9C8FB5A7DD09}"/>
              </a:ext>
            </a:extLst>
          </p:cNvPr>
          <p:cNvCxnSpPr/>
          <p:nvPr/>
        </p:nvCxnSpPr>
        <p:spPr>
          <a:xfrm xmlns:a="http://schemas.openxmlformats.org/drawingml/2006/main">
            <a:off x="1524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6" name="ModelView / DOM">
            <a:extLst xmlns:a="http://schemas.openxmlformats.org/drawingml/2006/main">
              <a:ext uri="{FF2B5EF4-FFF2-40B4-BE49-F238E27FC236}">
                <a16:creationId xmlns:a16="http://schemas.microsoft.com/office/drawing/2014/main" id="{428D0E6D-5B9C-4442-B776-99AEA7B3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 / DOM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84265-1AD7-43CA-AA7F-E4E9EDA0AD9E}"/>
              </a:ext>
            </a:extLst>
          </p:cNvPr>
          <p:cNvCxnSpPr/>
          <p:nvPr/>
        </p:nvCxnSpPr>
        <p:spPr>
          <a:xfrm xmlns:a="http://schemas.openxmlformats.org/drawingml/2006/main">
            <a:off x="37147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8" name="SolveController">
            <a:extLst xmlns:a="http://schemas.openxmlformats.org/drawingml/2006/main">
              <a:ext uri="{FF2B5EF4-FFF2-40B4-BE49-F238E27FC236}">
                <a16:creationId xmlns:a16="http://schemas.microsoft.com/office/drawing/2014/main" id="{F0EE6E53-B5ED-4CA8-A5FE-BAD2CE4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AB8A2-55FF-403A-BA59-6E512A67DB2A}"/>
              </a:ext>
            </a:extLst>
          </p:cNvPr>
          <p:cNvCxnSpPr/>
          <p:nvPr/>
        </p:nvCxnSpPr>
        <p:spPr>
          <a:xfrm xmlns:a="http://schemas.openxmlformats.org/drawingml/2006/main">
            <a:off x="6096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0" name="SimplexSolver">
            <a:extLst xmlns:a="http://schemas.openxmlformats.org/drawingml/2006/main">
              <a:ext uri="{FF2B5EF4-FFF2-40B4-BE49-F238E27FC236}">
                <a16:creationId xmlns:a16="http://schemas.microsoft.com/office/drawing/2014/main" id="{A20856C5-4F0C-4816-AE43-3D4C867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AD556-9998-4432-A256-E2D8474E34E8}"/>
              </a:ext>
            </a:extLst>
          </p:cNvPr>
          <p:cNvCxnSpPr/>
          <p:nvPr/>
        </p:nvCxnSpPr>
        <p:spPr>
          <a:xfrm xmlns:a="http://schemas.openxmlformats.org/drawingml/2006/main">
            <a:off x="8477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2" name="LPModel">
            <a:extLst xmlns:a="http://schemas.openxmlformats.org/drawingml/2006/main">
              <a:ext uri="{FF2B5EF4-FFF2-40B4-BE49-F238E27FC236}">
                <a16:creationId xmlns:a16="http://schemas.microsoft.com/office/drawing/2014/main" id="{06FC1462-117D-49EB-9CAB-B4600F65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CF5D2-BE59-4328-BAAB-2E565509F2F3}"/>
              </a:ext>
            </a:extLst>
          </p:cNvPr>
          <p:cNvCxnSpPr/>
          <p:nvPr/>
        </p:nvCxnSpPr>
        <p:spPr>
          <a:xfrm xmlns:a="http://schemas.openxmlformats.org/drawingml/2006/main">
            <a:off x="10763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DD216-249B-4465-A386-90BBE72DE01F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5" name="点击计算">
            <a:extLst xmlns:a="http://schemas.openxmlformats.org/drawingml/2006/main">
              <a:ext uri="{FF2B5EF4-FFF2-40B4-BE49-F238E27FC236}">
                <a16:creationId xmlns:a16="http://schemas.microsoft.com/office/drawing/2014/main" id="{89DE7976-264F-4DA4-8A61-588B5755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点击计算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2CEAB-C123-446F-8616-638E8F4E4F77}"/>
              </a:ext>
            </a:extLst>
          </p:cNvPr>
          <p:cNvCxnSpPr/>
          <p:nvPr/>
        </p:nvCxnSpPr>
        <p:spPr>
          <a:xfrm xmlns:a="http://schemas.openxmlformats.org/drawingml/2006/main">
            <a:off x="3714750" y="3143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7" name="solve()">
            <a:extLst xmlns:a="http://schemas.openxmlformats.org/drawingml/2006/main">
              <a:ext uri="{FF2B5EF4-FFF2-40B4-BE49-F238E27FC236}">
                <a16:creationId xmlns:a16="http://schemas.microsoft.com/office/drawing/2014/main" id="{ED50FDAA-3AB0-4DEC-BF76-72C32D9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solve()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ACB45-38B3-4828-A964-5E2645B36BD3}"/>
              </a:ext>
            </a:extLst>
          </p:cNvPr>
          <p:cNvCxnSpPr/>
          <p:nvPr/>
        </p:nvCxnSpPr>
        <p:spPr>
          <a:xfrm xmlns:a="http://schemas.openxmlformats.org/drawingml/2006/main">
            <a:off x="6096000" y="3619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9" name="solve(built)">
            <a:extLst xmlns:a="http://schemas.openxmlformats.org/drawingml/2006/main">
              <a:ext uri="{FF2B5EF4-FFF2-40B4-BE49-F238E27FC236}">
                <a16:creationId xmlns:a16="http://schemas.microsoft.com/office/drawing/2014/main" id="{ACFFBCFD-95C5-4DB9-AFA7-9A4FCB7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solve(built)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359E0-9CEB-4F2B-9F84-308178DAD09B}"/>
              </a:ext>
            </a:extLst>
          </p:cNvPr>
          <p:cNvCxnSpPr/>
          <p:nvPr/>
        </p:nvCxnSpPr>
        <p:spPr>
          <a:xfrm xmlns:a="http://schemas.openxmlformats.org/drawingml/2006/main">
            <a:off x="8477250" y="4095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1" name="standardize()">
            <a:extLst xmlns:a="http://schemas.openxmlformats.org/drawingml/2006/main">
              <a:ext uri="{FF2B5EF4-FFF2-40B4-BE49-F238E27FC236}">
                <a16:creationId xmlns:a16="http://schemas.microsoft.com/office/drawing/2014/main" id="{69A05389-FB8C-4F31-8D7A-B733E41F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E6415-3D22-4B38-9C9F-CF5B8190BB01}"/>
              </a:ext>
            </a:extLst>
          </p:cNvPr>
          <p:cNvCxnSpPr/>
          <p:nvPr/>
        </p:nvCxnSpPr>
        <p:spPr>
          <a:xfrm xmlns:a="http://schemas.openxmlformats.org/drawingml/2006/main">
            <a:off x="8477250" y="4572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3" name="check(x)">
            <a:extLst xmlns:a="http://schemas.openxmlformats.org/drawingml/2006/main">
              <a:ext uri="{FF2B5EF4-FFF2-40B4-BE49-F238E27FC236}">
                <a16:creationId xmlns:a16="http://schemas.microsoft.com/office/drawing/2014/main" id="{E10A4CD4-5777-45A4-8C3A-EE0C8693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check(x)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F7712-603B-4073-8861-3E83426EF06A}"/>
              </a:ext>
            </a:extLst>
          </p:cNvPr>
          <p:cNvCxnSpPr/>
          <p:nvPr/>
        </p:nvCxnSpPr>
        <p:spPr>
          <a:xfrm xmlns:a="http://schemas.openxmlformats.org/drawingml/2006/main">
            <a:off x="6096000" y="5048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5" name="返回结果对象">
            <a:extLst xmlns:a="http://schemas.openxmlformats.org/drawingml/2006/main">
              <a:ext uri="{FF2B5EF4-FFF2-40B4-BE49-F238E27FC236}">
                <a16:creationId xmlns:a16="http://schemas.microsoft.com/office/drawing/2014/main" id="{1AB75CA7-84DB-4B24-92E5-67B5438B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返回结果对象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EAF30-127F-4FB8-9B5F-056576BFF128}"/>
              </a:ext>
            </a:extLst>
          </p:cNvPr>
          <p:cNvCxnSpPr/>
          <p:nvPr/>
        </p:nvCxnSpPr>
        <p:spPr>
          <a:xfrm xmlns:a="http://schemas.openxmlformats.org/drawingml/2006/main">
            <a:off x="3714750" y="5524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7" name="showResult(...)">
            <a:extLst xmlns:a="http://schemas.openxmlformats.org/drawingml/2006/main">
              <a:ext uri="{FF2B5EF4-FFF2-40B4-BE49-F238E27FC236}">
                <a16:creationId xmlns:a16="http://schemas.microsoft.com/office/drawing/2014/main" id="{C65B7E4B-ACE8-478C-8C26-38A59FF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showResult(...)</a:t>
            </a:r>
          </a:p>
        </p:txBody>
      </p:sp>
    </p:spTree>
    <p:extLst>
      <p:ext uri="{BB962C8B-B14F-4D97-AF65-F5344CB8AC3E}">
        <p14:creationId xmlns:p14="http://schemas.microsoft.com/office/powerpoint/2010/main" val="12562365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理由：GRASP 与功能独立性">
            <a:extLst xmlns:a="http://schemas.openxmlformats.org/drawingml/2006/main">
              <a:ext uri="{FF2B5EF4-FFF2-40B4-BE49-F238E27FC236}">
                <a16:creationId xmlns:a16="http://schemas.microsoft.com/office/drawing/2014/main" id="{A1577E73-2AAD-41A4-BAC4-C5BDF6A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设计理由：GRASP 与功能独立性</a:t>
            </a:r>
          </a:p>
        </p:txBody>
      </p:sp>
      <p:sp>
        <p:nvSpPr>
          <p:cNvPr id="2" name="成果：解释职责为什么这样分配">
            <a:extLst xmlns:a="http://schemas.openxmlformats.org/drawingml/2006/main">
              <a:ext uri="{FF2B5EF4-FFF2-40B4-BE49-F238E27FC236}">
                <a16:creationId xmlns:a16="http://schemas.microsoft.com/office/drawing/2014/main" id="{666DE724-3831-4227-8B2C-B7F7DE6F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成果：解释职责为什么这样分配</a:t>
            </a:r>
          </a:p>
        </p:txBody>
      </p:sp>
      <p:sp>
        <p:nvSpPr>
          <p:cNvPr id="3" name="29  /  易行 LP">
            <a:extLst xmlns:a="http://schemas.openxmlformats.org/drawingml/2006/main">
              <a:ext uri="{FF2B5EF4-FFF2-40B4-BE49-F238E27FC236}">
                <a16:creationId xmlns:a16="http://schemas.microsoft.com/office/drawing/2014/main" id="{F018826B-AEEA-48AC-8502-34FBBAB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78503-B2D4-42CF-AEC4-6126DFBEAB2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  <a:gridCol w="3200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原则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我的应用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信息专家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掌握系数与约束，负责标准化与结果代回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避免在界面里重复数学规则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控制器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 接收建模、计算与导入操作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统一协调状态变化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高内聚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只处理数学模型与求解结果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能够脱离浏览器独立测试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低耦合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视图消费结果对象；文件操作集中在 Repository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界面、文件格式与算法分别变化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避免过度设计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当前一个求解器，不引入尚未需要的插件体系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业务扩展时再提取统一接口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86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8F5DD-7A44-4277-956E-7D2858AFF3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C63DC-B811-4BBD-9D70-5E751953004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控制状态与错误恢复">
            <a:extLst xmlns:a="http://schemas.openxmlformats.org/drawingml/2006/main">
              <a:ext uri="{FF2B5EF4-FFF2-40B4-BE49-F238E27FC236}">
                <a16:creationId xmlns:a16="http://schemas.microsoft.com/office/drawing/2014/main" id="{B63BAFF2-2C96-4E25-A6D2-CF1AA3E5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控制状态与错误恢复</a:t>
            </a:r>
          </a:p>
        </p:txBody>
      </p:sp>
      <p:sp>
        <p:nvSpPr>
          <p:cNvPr id="2" name="成果：避免用户修改参数后误用旧计算结果">
            <a:extLst xmlns:a="http://schemas.openxmlformats.org/drawingml/2006/main">
              <a:ext uri="{FF2B5EF4-FFF2-40B4-BE49-F238E27FC236}">
                <a16:creationId xmlns:a16="http://schemas.microsoft.com/office/drawing/2014/main" id="{A691F1E3-1C08-4213-8DB9-15C3433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成果：避免用户修改参数后误用旧计算结果</a:t>
            </a:r>
          </a:p>
        </p:txBody>
      </p:sp>
      <p:sp>
        <p:nvSpPr>
          <p:cNvPr id="3" name="30  /  易行 LP">
            <a:extLst xmlns:a="http://schemas.openxmlformats.org/drawingml/2006/main">
              <a:ext uri="{FF2B5EF4-FFF2-40B4-BE49-F238E27FC236}">
                <a16:creationId xmlns:a16="http://schemas.microsoft.com/office/drawing/2014/main" id="{ED0943F4-21DF-4D3C-A22F-646007AD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30  /  易行 LP</a:t>
            </a:r>
          </a:p>
        </p:txBody>
      </p:sp>
      <p:sp>
        <p:nvSpPr>
          <p:cNvPr id="4" name="编辑草稿&#10;计算按钮禁用">
            <a:extLst xmlns:a="http://schemas.openxmlformats.org/drawingml/2006/main">
              <a:ext uri="{FF2B5EF4-FFF2-40B4-BE49-F238E27FC236}">
                <a16:creationId xmlns:a16="http://schemas.microsoft.com/office/drawing/2014/main" id="{7556E182-205F-4CAE-875C-8833C55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编辑草稿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计算按钮禁用</a:t>
            </a:r>
          </a:p>
        </p:txBody>
      </p:sp>
      <p:sp>
        <p:nvSpPr>
          <p:cNvPr id="5" name="建模成功&#10;显示当前公式">
            <a:extLst xmlns:a="http://schemas.openxmlformats.org/drawingml/2006/main">
              <a:ext uri="{FF2B5EF4-FFF2-40B4-BE49-F238E27FC236}">
                <a16:creationId xmlns:a16="http://schemas.microsoft.com/office/drawing/2014/main" id="{7A3643DF-098A-46CB-B282-9C70B07A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建模成功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显示当前公式</a:t>
            </a:r>
          </a:p>
        </p:txBody>
      </p:sp>
      <p:sp>
        <p:nvSpPr>
          <p:cNvPr id="6" name="计算完成&#10;弹出方案或异常状态">
            <a:extLst xmlns:a="http://schemas.openxmlformats.org/drawingml/2006/main">
              <a:ext uri="{FF2B5EF4-FFF2-40B4-BE49-F238E27FC236}">
                <a16:creationId xmlns:a16="http://schemas.microsoft.com/office/drawing/2014/main" id="{E714E3F5-AD60-4254-9D3B-509AC7F6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计算完成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弹出方案或异常状态</a:t>
            </a:r>
          </a:p>
        </p:txBody>
      </p:sp>
      <p:sp>
        <p:nvSpPr>
          <p:cNvPr id="9" name="校验失败：保留输入并提示，停留在编辑状态。">
            <a:extLst xmlns:a="http://schemas.openxmlformats.org/drawingml/2006/main">
              <a:ext uri="{FF2B5EF4-FFF2-40B4-BE49-F238E27FC236}">
                <a16:creationId xmlns:a16="http://schemas.microsoft.com/office/drawing/2014/main" id="{39DBC47C-FB90-4147-B812-9127C19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校验失败：保留输入并提示，停留在编辑状态。</a:t>
            </a:r>
          </a:p>
        </p:txBody>
      </p:sp>
      <p:sp>
        <p:nvSpPr>
          <p:cNvPr id="10" name="任何编辑：清除已生成模型与上次结果，重新点击“建模”后才能计算。">
            <a:extLst xmlns:a="http://schemas.openxmlformats.org/drawingml/2006/main">
              <a:ext uri="{FF2B5EF4-FFF2-40B4-BE49-F238E27FC236}">
                <a16:creationId xmlns:a16="http://schemas.microsoft.com/office/drawing/2014/main" id="{1D3628F9-C807-4DF9-BDF8-53DC8DD9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任何编辑：清除已生成模型与上次结果，重新点击“建模”后才能计算。</a:t>
            </a:r>
          </a:p>
        </p:txBody>
      </p:sp>
      <p:sp>
        <p:nvSpPr>
          <p:cNvPr id="11" name="无解或无界：保留输入，允许关闭方案、修改约束并重新建模。">
            <a:extLst xmlns:a="http://schemas.openxmlformats.org/drawingml/2006/main">
              <a:ext uri="{FF2B5EF4-FFF2-40B4-BE49-F238E27FC236}">
                <a16:creationId xmlns:a16="http://schemas.microsoft.com/office/drawing/2014/main" id="{2856E50D-F7D5-46AB-B4BE-4B40024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无解或无界：保留输入，允许关闭方案、修改约束并重新建模。</a:t>
            </a:r>
          </a:p>
        </p:txBody>
      </p:sp>
    </p:spTree>
    <p:extLst>
      <p:ext uri="{BB962C8B-B14F-4D97-AF65-F5344CB8AC3E}">
        <p14:creationId xmlns:p14="http://schemas.microsoft.com/office/powerpoint/2010/main" val="5419972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算法实现中的数值与终止设计">
            <a:extLst xmlns:a="http://schemas.openxmlformats.org/drawingml/2006/main">
              <a:ext uri="{FF2B5EF4-FFF2-40B4-BE49-F238E27FC236}">
                <a16:creationId xmlns:a16="http://schemas.microsoft.com/office/drawing/2014/main" id="{7171B7C8-6493-4142-9751-EE7B2181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算法实现中的数值与终止设计</a:t>
            </a:r>
          </a:p>
        </p:txBody>
      </p:sp>
      <p:sp>
        <p:nvSpPr>
          <p:cNvPr id="2" name="成果：把数学过程转为有边界的软件行为">
            <a:extLst xmlns:a="http://schemas.openxmlformats.org/drawingml/2006/main">
              <a:ext uri="{FF2B5EF4-FFF2-40B4-BE49-F238E27FC236}">
                <a16:creationId xmlns:a16="http://schemas.microsoft.com/office/drawing/2014/main" id="{605D30AC-9DF5-460B-8282-65D302A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成果：把数学过程转为有边界的软件行为</a:t>
            </a:r>
          </a:p>
        </p:txBody>
      </p:sp>
      <p:sp>
        <p:nvSpPr>
          <p:cNvPr id="3" name="31  /  易行 LP">
            <a:extLst xmlns:a="http://schemas.openxmlformats.org/drawingml/2006/main">
              <a:ext uri="{FF2B5EF4-FFF2-40B4-BE49-F238E27FC236}">
                <a16:creationId xmlns:a16="http://schemas.microsoft.com/office/drawing/2014/main" id="{CC49D3E5-364B-41C5-9229-FC29DB9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E138D-4849-4635-A965-DA28FF7D4159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48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具体做法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两阶段法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使用一个人工变量建立辅助问题；阶段一结束后移出人工变量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选主元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入基按 Bland 编号规则；正系数行使用最小比值选择出基变量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每次 pivot 保存阶段、入基/出基、基变量与表格快照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按原目标重算目标值；代回原约束检查相对容差与非负限制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终止与限制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最多2000次换基；返回独立状态；病态模型可能需更可靠数值库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7933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5 步：从设计映射为代码">
            <a:extLst xmlns:a="http://schemas.openxmlformats.org/drawingml/2006/main">
              <a:ext uri="{FF2B5EF4-FFF2-40B4-BE49-F238E27FC236}">
                <a16:creationId xmlns:a16="http://schemas.microsoft.com/office/drawing/2014/main" id="{7466E771-75C7-462A-A9D9-588F8CE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5 步：从设计映射为代码</a:t>
            </a:r>
          </a:p>
        </p:txBody>
      </p:sp>
      <p:sp>
        <p:nvSpPr>
          <p:cNvPr id="2" name="成果：模型、职责、方法与实际文件可以一一核对">
            <a:extLst xmlns:a="http://schemas.openxmlformats.org/drawingml/2006/main">
              <a:ext uri="{FF2B5EF4-FFF2-40B4-BE49-F238E27FC236}">
                <a16:creationId xmlns:a16="http://schemas.microsoft.com/office/drawing/2014/main" id="{D500867A-A915-4615-9DD1-DE97588E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成果：模型、职责、方法与实际文件可以一一核对</a:t>
            </a:r>
          </a:p>
        </p:txBody>
      </p:sp>
      <p:sp>
        <p:nvSpPr>
          <p:cNvPr id="3" name="32  /  易行 LP">
            <a:extLst xmlns:a="http://schemas.openxmlformats.org/drawingml/2006/main">
              <a:ext uri="{FF2B5EF4-FFF2-40B4-BE49-F238E27FC236}">
                <a16:creationId xmlns:a16="http://schemas.microsoft.com/office/drawing/2014/main" id="{9BBA9F96-689E-4197-9026-E431B627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32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936F6-BD0B-46FD-8E43-DB0915EB0FCA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76625"/>
                <a:gridCol w="4676775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设计对象 / 用例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代码位置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LPModel：校验、标准化、代回检查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算法活动流程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SimplexSolver：simplex 与 pivot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UC01 / UC02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SolveController：build / solve / 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ModelView 与工作区、结果对话框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项目导入导出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ModelRepository；schema=1 的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5632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代码映射示例：建模与状态失效">
            <a:extLst xmlns:a="http://schemas.openxmlformats.org/drawingml/2006/main">
              <a:ext uri="{FF2B5EF4-FFF2-40B4-BE49-F238E27FC236}">
                <a16:creationId xmlns:a16="http://schemas.microsoft.com/office/drawing/2014/main" id="{4644484A-9174-4E43-B7F9-62638CA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代码映射示例：建模与状态失效</a:t>
            </a:r>
          </a:p>
        </p:txBody>
      </p:sp>
      <p:sp>
        <p:nvSpPr>
          <p:cNvPr id="2" name="成果：代码体现用例的前置条件与异常处理">
            <a:extLst xmlns:a="http://schemas.openxmlformats.org/drawingml/2006/main">
              <a:ext uri="{FF2B5EF4-FFF2-40B4-BE49-F238E27FC236}">
                <a16:creationId xmlns:a16="http://schemas.microsoft.com/office/drawing/2014/main" id="{288F885B-2173-471A-9150-A3571B5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成果：代码体现用例的前置条件与异常处理</a:t>
            </a:r>
          </a:p>
        </p:txBody>
      </p:sp>
      <p:sp>
        <p:nvSpPr>
          <p:cNvPr id="3" name="33  /  易行 LP">
            <a:extLst xmlns:a="http://schemas.openxmlformats.org/drawingml/2006/main">
              <a:ext uri="{FF2B5EF4-FFF2-40B4-BE49-F238E27FC236}">
                <a16:creationId xmlns:a16="http://schemas.microsoft.com/office/drawing/2014/main" id="{05EA243C-3B50-4830-9975-ABD18EE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33  /  易行 LP</a:t>
            </a:r>
          </a:p>
        </p:txBody>
      </p:sp>
      <p:sp>
        <p:nvSpPr>
          <p:cNvPr id="4" name="invalidate() {&#10;  this.built = nu">
            <a:extLst xmlns:a="http://schemas.openxmlformats.org/drawingml/2006/main">
              <a:ext uri="{FF2B5EF4-FFF2-40B4-BE49-F238E27FC236}">
                <a16:creationId xmlns:a16="http://schemas.microsoft.com/office/drawing/2014/main" id="{5B0EAA4B-B758-4BB1-AE77-42E62B6C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invalidate()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this.lastResult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true;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// 严格不等式先提示，不自动替换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new LPModel(this.project.model);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$("modelText").textContent = this.view.formula(this.built);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false;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5" name="对应：UC01 的输入校验；F05 的编辑后失效；UC02 的“">
            <a:extLst xmlns:a="http://schemas.openxmlformats.org/drawingml/2006/main">
              <a:ext uri="{FF2B5EF4-FFF2-40B4-BE49-F238E27FC236}">
                <a16:creationId xmlns:a16="http://schemas.microsoft.com/office/drawing/2014/main" id="{C286FC56-9CFA-4C31-ADCC-A7B828F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对应：UC01 的输入校验；F05 的编辑后失效；UC02 的“已成功建模”前置条件。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84764645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6 步：运行与验证">
            <a:extLst xmlns:a="http://schemas.openxmlformats.org/drawingml/2006/main">
              <a:ext uri="{FF2B5EF4-FFF2-40B4-BE49-F238E27FC236}">
                <a16:creationId xmlns:a16="http://schemas.microsoft.com/office/drawing/2014/main" id="{0731E3F6-ED76-45A0-A8FE-9A5F35F9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6 步：运行与验证</a:t>
            </a:r>
          </a:p>
        </p:txBody>
      </p:sp>
      <p:sp>
        <p:nvSpPr>
          <p:cNvPr id="2" name="方法：确定结果算例 + 独立方法交叉核对 + 浏览器操作">
            <a:extLst xmlns:a="http://schemas.openxmlformats.org/drawingml/2006/main">
              <a:ext uri="{FF2B5EF4-FFF2-40B4-BE49-F238E27FC236}">
                <a16:creationId xmlns:a16="http://schemas.microsoft.com/office/drawing/2014/main" id="{8C9B169A-6930-4DE3-9210-76829CC0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方法：确定结果算例 + 独立方法交叉核对 + 浏览器操作</a:t>
            </a:r>
          </a:p>
        </p:txBody>
      </p:sp>
      <p:sp>
        <p:nvSpPr>
          <p:cNvPr id="3" name="34  /  易行 LP">
            <a:extLst xmlns:a="http://schemas.openxmlformats.org/drawingml/2006/main">
              <a:ext uri="{FF2B5EF4-FFF2-40B4-BE49-F238E27FC236}">
                <a16:creationId xmlns:a16="http://schemas.microsoft.com/office/drawing/2014/main" id="{508DF746-2FF3-4D95-AE7E-0CB82C41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36E29-8918-4F2B-A084-6B808FAE50FB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53125"/>
                <a:gridCol w="24384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验证层次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求解器回归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16个确定结果或状态测试；覆盖边界与异常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16 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独立交叉核对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固定随机种子；100个二维有界问题枚举可行顶点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/ 100 目标值一致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建模、计算、修改失效、严格不等式、文件与窗口适配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13项关键检查通过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验证局限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交叉核对仅覆盖二维；尚无真实涉众验收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不据此声称所有模型与设备均正确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4872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主要回归测试与预期结果">
            <a:extLst xmlns:a="http://schemas.openxmlformats.org/drawingml/2006/main">
              <a:ext uri="{FF2B5EF4-FFF2-40B4-BE49-F238E27FC236}">
                <a16:creationId xmlns:a16="http://schemas.microsoft.com/office/drawing/2014/main" id="{6BC72701-D350-4762-A2E6-9A57590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主要回归测试与预期结果</a:t>
            </a:r>
          </a:p>
        </p:txBody>
      </p:sp>
      <p:sp>
        <p:nvSpPr>
          <p:cNvPr id="2" name="成果：测试能区分结果正确与仅仅运行成功">
            <a:extLst xmlns:a="http://schemas.openxmlformats.org/drawingml/2006/main">
              <a:ext uri="{FF2B5EF4-FFF2-40B4-BE49-F238E27FC236}">
                <a16:creationId xmlns:a16="http://schemas.microsoft.com/office/drawing/2014/main" id="{DCFEADC2-2168-4DE0-A096-BF5D5296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成果：测试能区分结果正确与仅仅运行成功</a:t>
            </a:r>
          </a:p>
        </p:txBody>
      </p:sp>
      <p:sp>
        <p:nvSpPr>
          <p:cNvPr id="3" name="35  /  易行 LP">
            <a:extLst xmlns:a="http://schemas.openxmlformats.org/drawingml/2006/main">
              <a:ext uri="{FF2B5EF4-FFF2-40B4-BE49-F238E27FC236}">
                <a16:creationId xmlns:a16="http://schemas.microsoft.com/office/drawing/2014/main" id="{2F79CDFE-3AC8-4BF1-B5AD-B5E4E7D1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C97D3-CF7F-47CC-A885-811A9D031B7D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505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5010150"/>
              </a:tblGrid>
              <a:tr h="6436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 / 关注点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预期与实测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故事初始模型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鸭400、鱼80；z=2320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补充销量上限150、50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鸭150、鱼50；z=950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Tanner 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玩具2000、组合1000；z=3500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T04～T06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min、=、负右端值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目标值2.25、6、5；均通过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T07、T08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矛盾约束、无界、零次换基上限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分别为 infeasible、unbounded、iteration_limit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T09～T13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T15～T16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冗余、退化、非法数值、严格关系、零行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通过；非法输入拒绝，无可行情况正确区分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7841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运行成果：Tanner 规划方案">
            <a:extLst xmlns:a="http://schemas.openxmlformats.org/drawingml/2006/main">
              <a:ext uri="{FF2B5EF4-FFF2-40B4-BE49-F238E27FC236}">
                <a16:creationId xmlns:a16="http://schemas.microsoft.com/office/drawing/2014/main" id="{AF530163-FA35-4885-8AB6-87D39C8D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运行成果：Tanner 规划方案</a:t>
            </a:r>
          </a:p>
        </p:txBody>
      </p:sp>
      <p:sp>
        <p:nvSpPr>
          <p:cNvPr id="2" name="成果：方案同时保留业务名称、资源检查和迭代记录">
            <a:extLst xmlns:a="http://schemas.openxmlformats.org/drawingml/2006/main">
              <a:ext uri="{FF2B5EF4-FFF2-40B4-BE49-F238E27FC236}">
                <a16:creationId xmlns:a16="http://schemas.microsoft.com/office/drawing/2014/main" id="{6B37CF01-7605-492D-A784-1983E63C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成果：方案同时保留业务名称、资源检查和迭代记录</a:t>
            </a:r>
          </a:p>
        </p:txBody>
      </p:sp>
      <p:sp>
        <p:nvSpPr>
          <p:cNvPr id="3" name="36  /  易行 LP">
            <a:extLst xmlns:a="http://schemas.openxmlformats.org/drawingml/2006/main">
              <a:ext uri="{FF2B5EF4-FFF2-40B4-BE49-F238E27FC236}">
                <a16:creationId xmlns:a16="http://schemas.microsoft.com/office/drawing/2014/main" id="{9D066384-4D5D-4A63-AB98-85ED2319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36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4647C-8D8B-4BA5-9421-A38B41D87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92d180fe04d91"/>
          <a:stretch xmlns:a="http://schemas.openxmlformats.org/drawingml/2006/main"/>
        </p:blipFill>
        <p:spPr>
          <a:xfrm xmlns:a="http://schemas.openxmlformats.org/drawingml/2006/main">
            <a:off x="3286125" y="1790700"/>
            <a:ext cx="8286750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最优方案">
            <a:extLst xmlns:a="http://schemas.openxmlformats.org/drawingml/2006/main">
              <a:ext uri="{FF2B5EF4-FFF2-40B4-BE49-F238E27FC236}">
                <a16:creationId xmlns:a16="http://schemas.microsoft.com/office/drawing/2014/main" id="{82395B17-9AEF-4C78-86E6-597F238F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最优方案</a:t>
            </a:r>
          </a:p>
        </p:txBody>
      </p:sp>
      <p:sp>
        <p:nvSpPr>
          <p:cNvPr id="6" name="玩具 2000&#10;&#10;组合部件 1000&#10;&#10;目标值 3500">
            <a:extLst xmlns:a="http://schemas.openxmlformats.org/drawingml/2006/main">
              <a:ext uri="{FF2B5EF4-FFF2-40B4-BE49-F238E27FC236}">
                <a16:creationId xmlns:a16="http://schemas.microsoft.com/office/drawing/2014/main" id="{5C18119B-64E3-4F0E-948C-EFCAC7F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玩具 2000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组合部件 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目标值 3500</a:t>
            </a:r>
          </a:p>
        </p:txBody>
      </p:sp>
      <p:sp>
        <p:nvSpPr>
          <p:cNvPr id="7" name="两条资源约束均取等号；迭代记录与完整方案见软件及导出记录。">
            <a:extLst xmlns:a="http://schemas.openxmlformats.org/drawingml/2006/main">
              <a:ext uri="{FF2B5EF4-FFF2-40B4-BE49-F238E27FC236}">
                <a16:creationId xmlns:a16="http://schemas.microsoft.com/office/drawing/2014/main" id="{F2771BEE-8C8E-47AD-8D54-95FCE57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两条资源约束均取等号；迭代记录与完整方案见软件及导出记录。</a:t>
            </a:r>
          </a:p>
        </p:txBody>
      </p:sp>
    </p:spTree>
    <p:extLst>
      <p:ext uri="{BB962C8B-B14F-4D97-AF65-F5344CB8AC3E}">
        <p14:creationId xmlns:p14="http://schemas.microsoft.com/office/powerpoint/2010/main" val="9093910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变更验证：补充销量约束后重算">
            <a:extLst xmlns:a="http://schemas.openxmlformats.org/drawingml/2006/main">
              <a:ext uri="{FF2B5EF4-FFF2-40B4-BE49-F238E27FC236}">
                <a16:creationId xmlns:a16="http://schemas.microsoft.com/office/drawing/2014/main" id="{9D1072A2-936F-4F94-829F-6BFD2505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变更验证：补充销量约束后重算</a:t>
            </a:r>
          </a:p>
        </p:txBody>
      </p:sp>
      <p:sp>
        <p:nvSpPr>
          <p:cNvPr id="2" name="成果：用同一求解器处理模型迭代，避免把旧答案继续当成有效方案">
            <a:extLst xmlns:a="http://schemas.openxmlformats.org/drawingml/2006/main">
              <a:ext uri="{FF2B5EF4-FFF2-40B4-BE49-F238E27FC236}">
                <a16:creationId xmlns:a16="http://schemas.microsoft.com/office/drawing/2014/main" id="{2DFB3820-92B8-4C71-A5E0-05337301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成果：用同一求解器处理模型迭代，避免把旧答案继续当成有效方案</a:t>
            </a:r>
          </a:p>
        </p:txBody>
      </p:sp>
      <p:sp>
        <p:nvSpPr>
          <p:cNvPr id="3" name="37  /  易行 LP">
            <a:extLst xmlns:a="http://schemas.openxmlformats.org/drawingml/2006/main">
              <a:ext uri="{FF2B5EF4-FFF2-40B4-BE49-F238E27FC236}">
                <a16:creationId xmlns:a16="http://schemas.microsoft.com/office/drawing/2014/main" id="{028E6883-9AF9-4223-9EB9-0FBEF5A0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38275-1D4F-4F74-8592-3230156F54EE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3905250"/>
                <a:gridCol w="1962150"/>
              </a:tblGrid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模型版本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最优活动水平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尚未限定销量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鸭400，鱼80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修订模型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鸭≤150，鱼≤50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鸭150，鱼50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的操作：载入故事模型 → 加入两条销量约束 → 重新建模 → ">
            <a:extLst xmlns:a="http://schemas.openxmlformats.org/drawingml/2006/main">
              <a:ext uri="{FF2B5EF4-FFF2-40B4-BE49-F238E27FC236}">
                <a16:creationId xmlns:a16="http://schemas.microsoft.com/office/drawing/2014/main" id="{0FA66518-FF78-4AF3-83B3-97F743B7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我的操作：载入故事模型 → 加入两条销量约束 → 重新建模 → 计算 → 代回检查。</a:t>
            </a:r>
          </a:p>
        </p:txBody>
      </p:sp>
      <p:sp>
        <p:nvSpPr>
          <p:cNvPr id="6" name="软件能够重算已给定的模型；销量上限是否可靠、模型假设是否完整，需">
            <a:extLst xmlns:a="http://schemas.openxmlformats.org/drawingml/2006/main">
              <a:ext uri="{FF2B5EF4-FFF2-40B4-BE49-F238E27FC236}">
                <a16:creationId xmlns:a16="http://schemas.microsoft.com/office/drawing/2014/main" id="{67289DDC-D2D4-4394-9126-DF5B1E52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软件能够重算已给定的模型；销量上限是否可靠、模型假设是否完整，需要研究人员审核。</a:t>
            </a:r>
          </a:p>
        </p:txBody>
      </p:sp>
    </p:spTree>
    <p:extLst>
      <p:ext uri="{BB962C8B-B14F-4D97-AF65-F5344CB8AC3E}">
        <p14:creationId xmlns:p14="http://schemas.microsoft.com/office/powerpoint/2010/main" val="19737611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—设计—代码—测试追踪">
            <a:extLst xmlns:a="http://schemas.openxmlformats.org/drawingml/2006/main">
              <a:ext uri="{FF2B5EF4-FFF2-40B4-BE49-F238E27FC236}">
                <a16:creationId xmlns:a16="http://schemas.microsoft.com/office/drawing/2014/main" id="{7DF593F6-7C99-4E30-A19B-3F66CAC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需求—设计—代码—测试追踪</a:t>
            </a:r>
          </a:p>
        </p:txBody>
      </p:sp>
      <p:sp>
        <p:nvSpPr>
          <p:cNvPr id="2" name="成果：每项核心需求都有实现与验证依据">
            <a:extLst xmlns:a="http://schemas.openxmlformats.org/drawingml/2006/main">
              <a:ext uri="{FF2B5EF4-FFF2-40B4-BE49-F238E27FC236}">
                <a16:creationId xmlns:a16="http://schemas.microsoft.com/office/drawing/2014/main" id="{899C7327-13F9-479F-B5EE-F8D4F7C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成果：每项核心需求都有实现与验证依据</a:t>
            </a:r>
          </a:p>
        </p:txBody>
      </p:sp>
      <p:sp>
        <p:nvSpPr>
          <p:cNvPr id="3" name="38  /  易行 LP">
            <a:extLst xmlns:a="http://schemas.openxmlformats.org/drawingml/2006/main">
              <a:ext uri="{FF2B5EF4-FFF2-40B4-BE49-F238E27FC236}">
                <a16:creationId xmlns:a16="http://schemas.microsoft.com/office/drawing/2014/main" id="{5F2BCEDA-EDF7-46E9-830D-2F46C6B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38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56C83-FC45-49AB-A851-A6463F811624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05500"/>
                <a:gridCol w="2486025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 / 代码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 文本导入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Repository.read / textFile 回调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U11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 结构化建模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ModelView.render / 动态矩阵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U08、U09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T11、T12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 生成与校验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/ Controller.build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U01、U04；T13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 计算与方案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/ showResult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T01～T10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U02、U05～U07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 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Controller.invalidate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U03；T02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 保存与迭代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 / trace /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U10、U13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9898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评审准备与尚待确认的问题">
            <a:extLst xmlns:a="http://schemas.openxmlformats.org/drawingml/2006/main">
              <a:ext uri="{FF2B5EF4-FFF2-40B4-BE49-F238E27FC236}">
                <a16:creationId xmlns:a16="http://schemas.microsoft.com/office/drawing/2014/main" id="{EF5B00E2-8278-4916-BD3F-B99FBFE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评审准备与尚待确认的问题</a:t>
            </a:r>
          </a:p>
        </p:txBody>
      </p:sp>
      <p:sp>
        <p:nvSpPr>
          <p:cNvPr id="2" name="成果：将未确认事项显式列出，不虚构评审与访谈记录">
            <a:extLst xmlns:a="http://schemas.openxmlformats.org/drawingml/2006/main">
              <a:ext uri="{FF2B5EF4-FFF2-40B4-BE49-F238E27FC236}">
                <a16:creationId xmlns:a16="http://schemas.microsoft.com/office/drawing/2014/main" id="{F7C3DD44-B310-41FF-B9F3-92E48CB6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成果：将未确认事项显式列出，不虚构评审与访谈记录</a:t>
            </a:r>
          </a:p>
        </p:txBody>
      </p:sp>
      <p:sp>
        <p:nvSpPr>
          <p:cNvPr id="3" name="39  /  易行 LP">
            <a:extLst xmlns:a="http://schemas.openxmlformats.org/drawingml/2006/main">
              <a:ext uri="{FF2B5EF4-FFF2-40B4-BE49-F238E27FC236}">
                <a16:creationId xmlns:a16="http://schemas.microsoft.com/office/drawing/2014/main" id="{BFE61D24-4C57-4332-A5F1-4E79294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54DDB-A65C-4F55-8985-720ED61577A9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待确认事项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评审后可能修改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输入方式与导入格式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辅助建模；TXT 与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增加代数式解析或指定格式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严格不等式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菜单保留 &lt;、&gt;；阻止直接计算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需确认精度语义或整数语义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变量是否必须为整数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仅支持连续变量，结果中明确提示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如需整数最优，增加整数规划算法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部署与公司业务范围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本地单机，当前专注 LP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根据 Q6、Q7 答复调整架构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评审记录与修改归档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尚无正式评审意见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收到意见后记录问题、修改和复验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3428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总结">
            <a:extLst xmlns:a="http://schemas.openxmlformats.org/drawingml/2006/main">
              <a:ext uri="{FF2B5EF4-FFF2-40B4-BE49-F238E27FC236}">
                <a16:creationId xmlns:a16="http://schemas.microsoft.com/office/drawing/2014/main" id="{E583F0BB-45F4-489B-BCE5-2FB5D8D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项目总结</a:t>
            </a:r>
          </a:p>
        </p:txBody>
      </p:sp>
      <p:sp>
        <p:nvSpPr>
          <p:cNvPr id="2" name="我的收获：把业务困难、领域知识和软件实现连接起来">
            <a:extLst xmlns:a="http://schemas.openxmlformats.org/drawingml/2006/main">
              <a:ext uri="{FF2B5EF4-FFF2-40B4-BE49-F238E27FC236}">
                <a16:creationId xmlns:a16="http://schemas.microsoft.com/office/drawing/2014/main" id="{A8E56A25-8D7E-4C94-ADDC-077B191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我的收获：把业务困难、领域知识和软件实现连接起来</a:t>
            </a:r>
          </a:p>
        </p:txBody>
      </p:sp>
      <p:sp>
        <p:nvSpPr>
          <p:cNvPr id="3" name="40  /  易行 LP">
            <a:extLst xmlns:a="http://schemas.openxmlformats.org/drawingml/2006/main">
              <a:ext uri="{FF2B5EF4-FFF2-40B4-BE49-F238E27FC236}">
                <a16:creationId xmlns:a16="http://schemas.microsoft.com/office/drawing/2014/main" id="{4565E96E-8BD0-4702-90E7-697015DB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40  /  易行 LP</a:t>
            </a:r>
          </a:p>
        </p:txBody>
      </p:sp>
      <p:sp>
        <p:nvSpPr>
          <p:cNvPr id="4" name="我从“小明反复手算”发现计算辅助需求，并明确人和软件各自承担的责">
            <a:extLst xmlns:a="http://schemas.openxmlformats.org/drawingml/2006/main">
              <a:ext uri="{FF2B5EF4-FFF2-40B4-BE49-F238E27FC236}">
                <a16:creationId xmlns:a16="http://schemas.microsoft.com/office/drawing/2014/main" id="{5701CE76-53A7-498C-B6FF-9BA80A4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我从“小明反复手算”发现计算辅助需求，并明确人和软件各自承担的责任。</a:t>
            </a:r>
          </a:p>
        </p:txBody>
      </p:sp>
      <p:sp>
        <p:nvSpPr>
          <p:cNvPr id="5" name="我通过教师原型细化辅助建模交互，学习将活动、资源与目标转换为线性">
            <a:extLst xmlns:a="http://schemas.openxmlformats.org/drawingml/2006/main">
              <a:ext uri="{FF2B5EF4-FFF2-40B4-BE49-F238E27FC236}">
                <a16:creationId xmlns:a16="http://schemas.microsoft.com/office/drawing/2014/main" id="{E618A7AA-87BB-4195-B220-5307FE4C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我通过教师原型细化辅助建模交互，学习将活动、资源与目标转换为线性模型。</a:t>
            </a:r>
          </a:p>
        </p:txBody>
      </p:sp>
      <p:sp>
        <p:nvSpPr>
          <p:cNvPr id="6" name="我将分析模型逐步落实为职责、类与代码，并通过回归测试和界面操作验">
            <a:extLst xmlns:a="http://schemas.openxmlformats.org/drawingml/2006/main">
              <a:ext uri="{FF2B5EF4-FFF2-40B4-BE49-F238E27FC236}">
                <a16:creationId xmlns:a16="http://schemas.microsoft.com/office/drawing/2014/main" id="{A77CFE33-FF03-4CB7-955E-29A29D2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我将分析模型逐步落实为职责、类与代码，并通过回归测试和界面操作验证。</a:t>
            </a:r>
          </a:p>
        </p:txBody>
      </p:sp>
      <p:sp>
        <p:nvSpPr>
          <p:cNvPr id="7" name="我认识到：模型正确性与求解正确性需要分别检查，材料本身也应交叉核">
            <a:extLst xmlns:a="http://schemas.openxmlformats.org/drawingml/2006/main">
              <a:ext uri="{FF2B5EF4-FFF2-40B4-BE49-F238E27FC236}">
                <a16:creationId xmlns:a16="http://schemas.microsoft.com/office/drawing/2014/main" id="{C934BE30-8656-4D45-A2DB-E51D518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我认识到：模型正确性与求解正确性需要分别检查，材料本身也应交叉核对。</a:t>
            </a:r>
          </a:p>
        </p:txBody>
      </p:sp>
      <p:sp>
        <p:nvSpPr>
          <p:cNvPr id="8" name="后续工作：完成涉众调研与现场评审，再按意见修改、复验并归档。">
            <a:extLst xmlns:a="http://schemas.openxmlformats.org/drawingml/2006/main">
              <a:ext uri="{FF2B5EF4-FFF2-40B4-BE49-F238E27FC236}">
                <a16:creationId xmlns:a16="http://schemas.microsoft.com/office/drawing/2014/main" id="{253C8CC0-C31C-4EEC-B29B-8EBE2404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后续工作：完成涉众调研与现场评审，再按意见修改、复验并归档。</a:t>
            </a:r>
          </a:p>
        </p:txBody>
      </p:sp>
    </p:spTree>
    <p:extLst>
      <p:ext uri="{BB962C8B-B14F-4D97-AF65-F5344CB8AC3E}">
        <p14:creationId xmlns:p14="http://schemas.microsoft.com/office/powerpoint/2010/main" val="213558765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参考材料与交付内容">
            <a:extLst xmlns:a="http://schemas.openxmlformats.org/drawingml/2006/main">
              <a:ext uri="{FF2B5EF4-FFF2-40B4-BE49-F238E27FC236}">
                <a16:creationId xmlns:a16="http://schemas.microsoft.com/office/drawing/2014/main" id="{6911C11C-62B6-4C80-834B-1D0FC962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参考材料与交付内容</a:t>
            </a:r>
          </a:p>
        </p:txBody>
      </p:sp>
      <p:sp>
        <p:nvSpPr>
          <p:cNvPr id="2" name="成果：来源可追溯，程序可复现，报告与实现对应">
            <a:extLst xmlns:a="http://schemas.openxmlformats.org/drawingml/2006/main">
              <a:ext uri="{FF2B5EF4-FFF2-40B4-BE49-F238E27FC236}">
                <a16:creationId xmlns:a16="http://schemas.microsoft.com/office/drawing/2014/main" id="{E7CB15A4-80AD-4E11-917B-446834F5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成果：来源可追溯，程序可复现，报告与实现对应</a:t>
            </a:r>
          </a:p>
        </p:txBody>
      </p:sp>
      <p:sp>
        <p:nvSpPr>
          <p:cNvPr id="3" name="41  /  易行 LP">
            <a:extLst xmlns:a="http://schemas.openxmlformats.org/drawingml/2006/main">
              <a:ext uri="{FF2B5EF4-FFF2-40B4-BE49-F238E27FC236}">
                <a16:creationId xmlns:a16="http://schemas.microsoft.com/office/drawing/2014/main" id="{EB289D53-4154-49C8-94F3-99CF823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00D51-A953-455E-A784-2EEE241EB29B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2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类别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 / 文件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课程任务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《现代软件工程课程设计》课程安排.pptx；课程设计报告（PPT）样本.pptx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领域与故事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发现软件的故事.pdf；运筹学(线性规划).pptx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教师补充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参考资料/教师群内图片1.png（Q1～Q7）；教师界面原型.png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可运行软件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source/index.html、style.css、solver.js、app.js、examples.js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source/test-solver.cjs；node source/test-vertices.cjs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提交与说明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交付目录中的报告 PPT / PDF、软件源码压缩包与使用说明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084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2026-10-26T09:47:10.3830000Z</dcterms:created>
  <dcterms:modified xsi:type="dcterms:W3CDTF">2026-10-26T09:47:10.3830000Z</dcterms:modified>
</coreProperties>
</file>