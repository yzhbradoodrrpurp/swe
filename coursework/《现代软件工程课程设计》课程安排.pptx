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256" r:id="rId4"/>
    <p:sldId id="1030" r:id="rId5"/>
    <p:sldId id="1058" r:id="rId6"/>
    <p:sldId id="1033" r:id="rId7"/>
    <p:sldId id="1034" r:id="rId8"/>
    <p:sldId id="1062" r:id="rId9"/>
    <p:sldId id="103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84" autoAdjust="0"/>
  </p:normalViewPr>
  <p:slideViewPr>
    <p:cSldViewPr snapToGrid="0">
      <p:cViewPr varScale="1">
        <p:scale>
          <a:sx n="98" d="100"/>
          <a:sy n="98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7F4A4-D8C7-461D-B2DE-911F6947DA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B68CF-B919-460A-B73D-DA6C778EFCA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B0CFB-5005-4912-8118-ED603B5B7A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83A8C-8105-48F5-A668-C0E38737719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&#38468;3&#65292;&#21457;&#29616;&#36719;&#20214;&#30340;&#25925;&#20107;.pdf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&#38468;4&#65292;&#36719;&#20214;&#35775;&#35848;&#30340;&#25925;&#20107;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现代软件工程课程设计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课程安排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7231" y="171938"/>
            <a:ext cx="11666274" cy="698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课程安排：</a:t>
            </a:r>
            <a:endParaRPr lang="en-US" altLang="zh-CN" sz="3200" dirty="0"/>
          </a:p>
          <a:p>
            <a:r>
              <a:rPr lang="zh-CN" altLang="en-US" sz="3200" dirty="0"/>
              <a:t>一，在提供的故事中，发现软件，并遵循软件工程的思想、过程和方法开发软件。</a:t>
            </a:r>
            <a:endParaRPr lang="en-US" altLang="zh-CN" sz="3200" dirty="0"/>
          </a:p>
          <a:p>
            <a:r>
              <a:rPr lang="zh-CN" altLang="en-US" sz="3200" dirty="0"/>
              <a:t>二，要求按以下步骤完成本课程设计：</a:t>
            </a:r>
            <a:endParaRPr lang="en-US" altLang="zh-CN" sz="3200" dirty="0"/>
          </a:p>
          <a:p>
            <a:r>
              <a:rPr lang="en-US" altLang="zh-CN" sz="3200" dirty="0"/>
              <a:t>1</a:t>
            </a:r>
            <a:r>
              <a:rPr lang="zh-CN" altLang="en-US" sz="3200" dirty="0"/>
              <a:t>，首先，用</a:t>
            </a:r>
            <a:r>
              <a:rPr lang="en-US" altLang="zh-CN" sz="3200" dirty="0"/>
              <a:t>PPT</a:t>
            </a:r>
            <a:r>
              <a:rPr lang="zh-CN" altLang="en-US" sz="3200" dirty="0"/>
              <a:t>完成开发文档，包括：软件发现与调研</a:t>
            </a:r>
            <a:r>
              <a:rPr lang="en-US" altLang="zh-CN" sz="3200" dirty="0"/>
              <a:t>+</a:t>
            </a:r>
            <a:r>
              <a:rPr lang="zh-CN" altLang="en-US" sz="3200" dirty="0"/>
              <a:t>软件分析</a:t>
            </a:r>
            <a:r>
              <a:rPr lang="en-US" altLang="zh-CN" sz="3200" dirty="0"/>
              <a:t>+</a:t>
            </a:r>
            <a:r>
              <a:rPr lang="zh-CN" altLang="en-US" sz="3200" dirty="0"/>
              <a:t>软件设计</a:t>
            </a:r>
            <a:r>
              <a:rPr lang="en-US" altLang="zh-CN" sz="3200" dirty="0"/>
              <a:t>+</a:t>
            </a:r>
            <a:r>
              <a:rPr lang="zh-CN" altLang="en-US" sz="3200" dirty="0"/>
              <a:t>将设计模型映射为代码。</a:t>
            </a:r>
            <a:endParaRPr lang="en-US" altLang="zh-CN" sz="3200" dirty="0"/>
          </a:p>
          <a:p>
            <a:r>
              <a:rPr lang="en-US" altLang="zh-CN" sz="3200" dirty="0"/>
              <a:t>2</a:t>
            </a:r>
            <a:r>
              <a:rPr lang="zh-CN" altLang="en-US" sz="3200" dirty="0"/>
              <a:t>，</a:t>
            </a:r>
            <a:r>
              <a:rPr lang="en-US" altLang="zh-CN" sz="3200" dirty="0"/>
              <a:t>(</a:t>
            </a:r>
            <a:r>
              <a:rPr lang="zh-CN" altLang="en-US" sz="3200" dirty="0"/>
              <a:t>有余力的情况下</a:t>
            </a:r>
            <a:r>
              <a:rPr lang="en-US" altLang="zh-CN" sz="3200" dirty="0"/>
              <a:t>)</a:t>
            </a:r>
            <a:r>
              <a:rPr lang="zh-CN" altLang="en-US" sz="3200" dirty="0"/>
              <a:t>得到可运行程序，并测试，测试部分也写在</a:t>
            </a:r>
            <a:r>
              <a:rPr lang="en-US" altLang="zh-CN" sz="3200" dirty="0"/>
              <a:t>PPT</a:t>
            </a:r>
            <a:r>
              <a:rPr lang="zh-CN" altLang="en-US" sz="3200" dirty="0"/>
              <a:t>上。</a:t>
            </a:r>
            <a:endParaRPr lang="en-US" altLang="zh-CN" sz="3200" dirty="0"/>
          </a:p>
          <a:p>
            <a:r>
              <a:rPr lang="zh-CN" altLang="en-US" sz="3200" dirty="0"/>
              <a:t>三，进度安排</a:t>
            </a:r>
            <a:endParaRPr lang="en-US" altLang="zh-CN" sz="3200" dirty="0"/>
          </a:p>
          <a:p>
            <a:r>
              <a:rPr lang="en-US" altLang="zh-CN" sz="3200" dirty="0"/>
              <a:t>1</a:t>
            </a:r>
            <a:r>
              <a:rPr lang="zh-CN" altLang="en-US" sz="3200" dirty="0"/>
              <a:t>，</a:t>
            </a:r>
            <a:r>
              <a:rPr lang="en-US" altLang="zh-CN" sz="3200" dirty="0"/>
              <a:t>6~11</a:t>
            </a:r>
            <a:r>
              <a:rPr lang="zh-CN" altLang="en-US" sz="3200" dirty="0"/>
              <a:t>周，独立开发</a:t>
            </a:r>
            <a:endParaRPr lang="en-US" altLang="zh-CN" sz="3200" dirty="0"/>
          </a:p>
          <a:p>
            <a:r>
              <a:rPr lang="en-US" altLang="zh-CN" sz="3200" dirty="0"/>
              <a:t>2</a:t>
            </a:r>
            <a:r>
              <a:rPr lang="zh-CN" altLang="en-US" sz="3200" dirty="0"/>
              <a:t>，</a:t>
            </a:r>
            <a:r>
              <a:rPr lang="en-US" altLang="zh-CN" sz="3200" dirty="0"/>
              <a:t>12~15</a:t>
            </a:r>
            <a:r>
              <a:rPr lang="zh-CN" altLang="en-US" sz="3200" dirty="0"/>
              <a:t>周（</a:t>
            </a:r>
            <a:r>
              <a:rPr lang="en-US" altLang="zh-CN" sz="3200" dirty="0"/>
              <a:t>+16</a:t>
            </a:r>
            <a:r>
              <a:rPr lang="zh-CN" altLang="en-US" sz="3200" dirty="0"/>
              <a:t>周</a:t>
            </a:r>
            <a:r>
              <a:rPr lang="en-US" altLang="zh-CN" sz="3200" dirty="0"/>
              <a:t>+17</a:t>
            </a:r>
            <a:r>
              <a:rPr lang="zh-CN" altLang="en-US" sz="3200" dirty="0"/>
              <a:t>周），就开发过程和成果进行汇报评审</a:t>
            </a:r>
            <a:endParaRPr lang="en-US" altLang="zh-CN" sz="3200" dirty="0"/>
          </a:p>
          <a:p>
            <a:r>
              <a:rPr lang="en-US" altLang="zh-CN" sz="3200" dirty="0"/>
              <a:t>3</a:t>
            </a:r>
            <a:r>
              <a:rPr lang="zh-CN" altLang="en-US" sz="3200" dirty="0"/>
              <a:t>，截止</a:t>
            </a:r>
            <a:r>
              <a:rPr lang="en-US" altLang="zh-CN" sz="3200" dirty="0"/>
              <a:t>17</a:t>
            </a:r>
            <a:r>
              <a:rPr lang="zh-CN" altLang="en-US" sz="3200" dirty="0"/>
              <a:t>周周五，按评审意见修改之后，提交归档，并进行文档质量检查</a:t>
            </a:r>
            <a:r>
              <a:rPr lang="en-US" altLang="zh-CN" sz="3200" dirty="0"/>
              <a:t>【</a:t>
            </a:r>
            <a:r>
              <a:rPr lang="zh-CN" altLang="en-US" sz="3200" dirty="0"/>
              <a:t>考核方案：</a:t>
            </a:r>
            <a:r>
              <a:rPr lang="en-US" altLang="zh-CN" sz="3200" dirty="0"/>
              <a:t>65%</a:t>
            </a:r>
            <a:r>
              <a:rPr lang="zh-CN" altLang="en-US" sz="3200" dirty="0"/>
              <a:t>汇报成绩</a:t>
            </a:r>
            <a:r>
              <a:rPr lang="en-US" altLang="zh-CN" sz="3200" dirty="0"/>
              <a:t>(45%</a:t>
            </a:r>
            <a:r>
              <a:rPr lang="zh-CN" altLang="en-US" sz="3200" dirty="0"/>
              <a:t>项目成绩，</a:t>
            </a:r>
            <a:r>
              <a:rPr lang="en-US" altLang="zh-CN" sz="3200" dirty="0"/>
              <a:t>20%</a:t>
            </a:r>
            <a:r>
              <a:rPr lang="zh-CN" altLang="en-US" sz="3200" dirty="0"/>
              <a:t>平时成绩）；</a:t>
            </a:r>
            <a:r>
              <a:rPr lang="en-US" altLang="zh-CN" sz="3200" dirty="0"/>
              <a:t>35%</a:t>
            </a:r>
            <a:r>
              <a:rPr lang="zh-CN" altLang="en-US" sz="3200" dirty="0"/>
              <a:t>课程报告；按学校要求考勤</a:t>
            </a:r>
            <a:r>
              <a:rPr lang="en-US" altLang="zh-CN" sz="3200" dirty="0"/>
              <a:t>】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790" y="125095"/>
            <a:ext cx="1195070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课程设计报告要求</a:t>
            </a:r>
            <a:endParaRPr lang="en-US" altLang="zh-CN" sz="2800" dirty="0"/>
          </a:p>
          <a:p>
            <a:r>
              <a:rPr lang="en-US" altLang="zh-CN" sz="2800" dirty="0"/>
              <a:t>1</a:t>
            </a:r>
            <a:r>
              <a:rPr lang="zh-CN" altLang="en-US" sz="2800" dirty="0"/>
              <a:t>，每一位同学均需要按照</a:t>
            </a:r>
            <a:r>
              <a:rPr lang="en-US" altLang="zh-CN" sz="2800" dirty="0"/>
              <a:t>《</a:t>
            </a:r>
            <a:r>
              <a:rPr lang="zh-CN" altLang="en-US" sz="2800" dirty="0"/>
              <a:t>课程设计报告（</a:t>
            </a:r>
            <a:r>
              <a:rPr lang="en-US" altLang="zh-CN" sz="2800" dirty="0"/>
              <a:t>PPT</a:t>
            </a:r>
            <a:r>
              <a:rPr lang="zh-CN" altLang="en-US" sz="2800" dirty="0"/>
              <a:t>）样本</a:t>
            </a:r>
            <a:r>
              <a:rPr lang="en-US" altLang="zh-CN" sz="2800" dirty="0"/>
              <a:t>》</a:t>
            </a:r>
            <a:r>
              <a:rPr lang="zh-CN" altLang="en-US" sz="2800" dirty="0"/>
              <a:t>忠实记录开发过程和成果</a:t>
            </a:r>
            <a:endParaRPr lang="zh-CN" altLang="en-US" sz="2800" dirty="0"/>
          </a:p>
          <a:p>
            <a:r>
              <a:rPr lang="zh-CN" altLang="en-US" sz="2800" dirty="0"/>
              <a:t>教学形式：</a:t>
            </a:r>
            <a:endParaRPr lang="zh-CN" altLang="en-US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）老师提供“发现软件”</a:t>
            </a:r>
            <a:r>
              <a:rPr lang="zh-CN" altLang="en-US" sz="2800" dirty="0">
                <a:sym typeface="+mn-ea"/>
              </a:rPr>
              <a:t>的场景故事</a:t>
            </a:r>
            <a:endParaRPr lang="zh-CN" altLang="en-US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）老师提供“软件访谈”的需求信息</a:t>
            </a:r>
            <a:r>
              <a:rPr lang="en-US" altLang="zh-CN" sz="2800" dirty="0"/>
              <a:t>[</a:t>
            </a:r>
            <a:r>
              <a:rPr lang="zh-CN" altLang="en-US" sz="2800" dirty="0"/>
              <a:t>口述访谈经历</a:t>
            </a:r>
            <a:r>
              <a:rPr lang="en-US" altLang="zh-CN" sz="2800" dirty="0"/>
              <a:t>]</a:t>
            </a:r>
            <a:endParaRPr lang="zh-CN" altLang="en-US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）学生按照软件工程的思想、过程和方法开发软件，规范书写过程文档和成果，并动态维护开发进程图</a:t>
            </a:r>
            <a:endParaRPr lang="zh-CN" altLang="en-US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）老师随堂与同学们沟通，作出指导</a:t>
            </a:r>
            <a:endParaRPr lang="zh-CN" altLang="en-US" sz="2800" dirty="0"/>
          </a:p>
          <a:p>
            <a:r>
              <a:rPr lang="en-US" altLang="zh-CN" sz="2800" dirty="0"/>
              <a:t>2</a:t>
            </a:r>
            <a:r>
              <a:rPr lang="zh-CN" altLang="en-US" sz="2800" dirty="0"/>
              <a:t>，每一位同学就开发过程和成果进行汇报，</a:t>
            </a:r>
            <a:r>
              <a:rPr lang="zh-CN" altLang="en-US" sz="2800" dirty="0">
                <a:highlight>
                  <a:srgbClr val="00FFFF"/>
                </a:highlight>
              </a:rPr>
              <a:t>老师当场评审给出评审意见</a:t>
            </a:r>
            <a:r>
              <a:rPr lang="zh-CN" altLang="en-US" sz="2800" dirty="0"/>
              <a:t>，并做记录。</a:t>
            </a:r>
            <a:r>
              <a:rPr lang="en-US" altLang="zh-CN" sz="2800" dirty="0"/>
              <a:t>[</a:t>
            </a:r>
            <a:r>
              <a:rPr lang="zh-CN" altLang="en-US" sz="2800" dirty="0"/>
              <a:t>这意味着，真实</a:t>
            </a:r>
            <a:r>
              <a:rPr lang="en-US" altLang="zh-CN" sz="2800" dirty="0"/>
              <a:t>]</a:t>
            </a:r>
            <a:endParaRPr lang="zh-CN" altLang="en-US" sz="2800" dirty="0"/>
          </a:p>
          <a:p>
            <a:r>
              <a:rPr lang="zh-CN" altLang="en-US" sz="2800" dirty="0"/>
              <a:t>评审标准：</a:t>
            </a:r>
            <a:r>
              <a:rPr lang="zh-CN" altLang="en-US" sz="2800" b="1" u="sng" dirty="0"/>
              <a:t>是否遵循了软件工程的思想、过程和方法？</a:t>
            </a:r>
            <a:endParaRPr lang="zh-CN" altLang="en-US" sz="2800" dirty="0"/>
          </a:p>
          <a:p>
            <a:r>
              <a:rPr lang="en-US" altLang="zh-CN" sz="2800" dirty="0"/>
              <a:t>3</a:t>
            </a:r>
            <a:r>
              <a:rPr lang="zh-CN" altLang="en-US" sz="2800" dirty="0"/>
              <a:t>，按</a:t>
            </a:r>
            <a:r>
              <a:rPr lang="zh-CN" altLang="en-US" sz="2800" dirty="0">
                <a:highlight>
                  <a:srgbClr val="00FFFF"/>
                </a:highlight>
              </a:rPr>
              <a:t>评审意见</a:t>
            </a:r>
            <a:r>
              <a:rPr lang="zh-CN" altLang="en-US" sz="2800" dirty="0"/>
              <a:t>修改</a:t>
            </a:r>
            <a:r>
              <a:rPr lang="en-US" altLang="zh-CN" sz="2800" dirty="0">
                <a:sym typeface="+mn-ea"/>
              </a:rPr>
              <a:t>《</a:t>
            </a:r>
            <a:r>
              <a:rPr lang="zh-CN" altLang="en-US" sz="2800" dirty="0">
                <a:sym typeface="+mn-ea"/>
              </a:rPr>
              <a:t>课程设计报告（</a:t>
            </a:r>
            <a:r>
              <a:rPr lang="en-US" altLang="zh-CN" sz="2800" dirty="0">
                <a:sym typeface="+mn-ea"/>
              </a:rPr>
              <a:t>PPT</a:t>
            </a:r>
            <a:r>
              <a:rPr lang="zh-CN" altLang="en-US" sz="2800" dirty="0">
                <a:sym typeface="+mn-ea"/>
              </a:rPr>
              <a:t>）</a:t>
            </a:r>
            <a:r>
              <a:rPr lang="en-US" altLang="zh-CN" sz="2800" dirty="0">
                <a:sym typeface="+mn-ea"/>
              </a:rPr>
              <a:t>》</a:t>
            </a:r>
            <a:r>
              <a:rPr lang="zh-CN" altLang="en-US" sz="2800" dirty="0">
                <a:sym typeface="+mn-ea"/>
              </a:rPr>
              <a:t>，</a:t>
            </a:r>
            <a:r>
              <a:rPr lang="zh-CN" altLang="en-US" sz="2800" dirty="0"/>
              <a:t>之后，提交归档，并进行文档质量检查。</a:t>
            </a:r>
            <a:endParaRPr lang="zh-CN" altLang="en-US" sz="2800" dirty="0"/>
          </a:p>
          <a:p>
            <a:r>
              <a:rPr lang="zh-CN" altLang="en-US" sz="2800" dirty="0"/>
              <a:t>报告质量检查的标准：</a:t>
            </a:r>
            <a:r>
              <a:rPr lang="zh-CN" altLang="en-US" sz="2800" b="1" u="sng" dirty="0">
                <a:sym typeface="+mn-ea"/>
              </a:rPr>
              <a:t>是否遵循了软件工程的思想、过程和方法？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8450" y="800100"/>
            <a:ext cx="1171003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4000" dirty="0"/>
              <a:t>附：</a:t>
            </a:r>
            <a:endParaRPr lang="en-US" altLang="zh-CN" sz="4000" dirty="0"/>
          </a:p>
          <a:p>
            <a:pPr fontAlgn="auto">
              <a:lnSpc>
                <a:spcPct val="150000"/>
              </a:lnSpc>
            </a:pPr>
            <a:r>
              <a:rPr lang="en-US" altLang="zh-CN" sz="4000" dirty="0"/>
              <a:t>1</a:t>
            </a:r>
            <a:r>
              <a:rPr lang="zh-CN" altLang="en-US" sz="4000" dirty="0"/>
              <a:t>，</a:t>
            </a:r>
            <a:r>
              <a:rPr lang="en-US" altLang="zh-CN" sz="4000" dirty="0"/>
              <a:t>《</a:t>
            </a:r>
            <a:r>
              <a:rPr lang="zh-CN" altLang="en-US" sz="4000" dirty="0"/>
              <a:t>运筹学</a:t>
            </a:r>
            <a:r>
              <a:rPr lang="en-US" altLang="zh-CN" sz="4000" dirty="0"/>
              <a:t>(</a:t>
            </a:r>
            <a:r>
              <a:rPr lang="zh-CN" altLang="en-US" sz="4000" dirty="0"/>
              <a:t>线性规划</a:t>
            </a:r>
            <a:r>
              <a:rPr lang="en-US" altLang="zh-CN" sz="4000" dirty="0"/>
              <a:t>)》</a:t>
            </a:r>
            <a:r>
              <a:rPr lang="zh-CN" altLang="en-US" sz="4000" dirty="0"/>
              <a:t>，其中有单纯形法算法的描述。同学们可借鉴该课件，也可以找书籍去了解。</a:t>
            </a:r>
            <a:endParaRPr lang="en-US" altLang="zh-CN" sz="4000" dirty="0"/>
          </a:p>
          <a:p>
            <a:pPr fontAlgn="auto">
              <a:lnSpc>
                <a:spcPct val="150000"/>
              </a:lnSpc>
            </a:pPr>
            <a:r>
              <a:rPr lang="en-US" altLang="zh-CN" sz="4000" dirty="0"/>
              <a:t>2</a:t>
            </a:r>
            <a:r>
              <a:rPr lang="zh-CN" altLang="en-US" sz="4000" dirty="0"/>
              <a:t>，</a:t>
            </a:r>
            <a:r>
              <a:rPr lang="en-US" altLang="zh-CN" sz="4000" dirty="0"/>
              <a:t>《</a:t>
            </a:r>
            <a:r>
              <a:rPr lang="zh-CN" altLang="en-US" sz="4000" dirty="0"/>
              <a:t>课程设计报告（</a:t>
            </a:r>
            <a:r>
              <a:rPr lang="en-US" altLang="zh-CN" sz="4000" dirty="0"/>
              <a:t>PPT</a:t>
            </a:r>
            <a:r>
              <a:rPr lang="zh-CN" altLang="en-US" sz="4000" dirty="0"/>
              <a:t>）样本</a:t>
            </a:r>
            <a:r>
              <a:rPr lang="en-US" altLang="zh-CN" sz="4000" dirty="0"/>
              <a:t>》</a:t>
            </a:r>
            <a:endParaRPr lang="en-US" altLang="zh-CN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91440"/>
            <a:ext cx="10515600" cy="1021715"/>
          </a:xfrm>
        </p:spPr>
        <p:txBody>
          <a:bodyPr/>
          <a:lstStyle/>
          <a:p>
            <a:r>
              <a:rPr lang="zh-CN" altLang="en-US" sz="5400" dirty="0"/>
              <a:t>接下来正式进入开发活动</a:t>
            </a:r>
            <a:endParaRPr lang="zh-CN" altLang="en-US" sz="5400" dirty="0"/>
          </a:p>
        </p:txBody>
      </p:sp>
      <p:sp>
        <p:nvSpPr>
          <p:cNvPr id="4" name="文本占位符 3"/>
          <p:cNvSpPr txBox="1">
            <a:spLocks noGrp="1"/>
          </p:cNvSpPr>
          <p:nvPr>
            <p:ph type="body" idx="1"/>
          </p:nvPr>
        </p:nvSpPr>
        <p:spPr>
          <a:xfrm>
            <a:off x="105410" y="1113155"/>
            <a:ext cx="11981815" cy="45897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3600" dirty="0">
                <a:solidFill>
                  <a:srgbClr val="0000CC"/>
                </a:solidFill>
              </a:rPr>
              <a:t>现在，我们</a:t>
            </a:r>
            <a:r>
              <a:rPr lang="en-US" altLang="zh-CN" sz="3600" dirty="0">
                <a:solidFill>
                  <a:srgbClr val="0000CC"/>
                </a:solidFill>
              </a:rPr>
              <a:t>——</a:t>
            </a:r>
            <a:r>
              <a:rPr lang="zh-CN" altLang="en-US" sz="3600" dirty="0">
                <a:solidFill>
                  <a:srgbClr val="0000CC"/>
                </a:solidFill>
              </a:rPr>
              <a:t>作为软件工程师</a:t>
            </a:r>
            <a:r>
              <a:rPr lang="en-US" altLang="zh-CN" sz="3600" dirty="0">
                <a:solidFill>
                  <a:srgbClr val="0000CC"/>
                </a:solidFill>
              </a:rPr>
              <a:t>——</a:t>
            </a:r>
            <a:r>
              <a:rPr lang="zh-CN" altLang="en-US" sz="3600" dirty="0">
                <a:solidFill>
                  <a:srgbClr val="0000CC"/>
                </a:solidFill>
              </a:rPr>
              <a:t>要做的第一件事情是：观察，并思考：</a:t>
            </a:r>
            <a:endParaRPr lang="zh-CN" altLang="en-US" sz="3600" dirty="0">
              <a:solidFill>
                <a:srgbClr val="0000CC"/>
              </a:solidFill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软件在哪里？什么是软件可以为这位运筹学研究者做的？</a:t>
            </a:r>
            <a:endParaRPr lang="en-US" altLang="zh-CN" sz="3600" dirty="0">
              <a:solidFill>
                <a:srgbClr val="0000CC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zh-CN" altLang="en-US" sz="3600" dirty="0">
                <a:solidFill>
                  <a:srgbClr val="0000CC"/>
                </a:solidFill>
              </a:rPr>
              <a:t>然后，同学们</a:t>
            </a:r>
            <a:r>
              <a:rPr lang="en-US" altLang="zh-CN" sz="3600" dirty="0">
                <a:solidFill>
                  <a:srgbClr val="0000CC"/>
                </a:solidFill>
              </a:rPr>
              <a:t>——</a:t>
            </a:r>
            <a:r>
              <a:rPr lang="zh-CN" altLang="en-US" sz="3600" dirty="0">
                <a:solidFill>
                  <a:srgbClr val="0000CC"/>
                </a:solidFill>
              </a:rPr>
              <a:t>作为软件工程师</a:t>
            </a:r>
            <a:r>
              <a:rPr lang="en-US" altLang="zh-CN" sz="3600" dirty="0">
                <a:solidFill>
                  <a:srgbClr val="0000CC"/>
                </a:solidFill>
              </a:rPr>
              <a:t>——</a:t>
            </a:r>
            <a:r>
              <a:rPr lang="zh-CN" altLang="en-US" sz="3600" dirty="0">
                <a:solidFill>
                  <a:srgbClr val="0000CC"/>
                </a:solidFill>
              </a:rPr>
              <a:t>的任务就是：</a:t>
            </a:r>
            <a:endParaRPr lang="zh-CN" altLang="en-US" sz="3600" dirty="0">
              <a:solidFill>
                <a:srgbClr val="0000CC"/>
              </a:solidFill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发现软件，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之后按照软件工程的思想、过程和方法实现该软件。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0124" y="371915"/>
            <a:ext cx="10561903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4000" dirty="0"/>
              <a:t>【发现软件】</a:t>
            </a:r>
            <a:endParaRPr lang="zh-CN" altLang="en-US" sz="4000" dirty="0"/>
          </a:p>
          <a:p>
            <a:pPr algn="ctr" fontAlgn="auto">
              <a:lnSpc>
                <a:spcPct val="150000"/>
              </a:lnSpc>
            </a:pPr>
            <a:r>
              <a:rPr lang="zh-CN" altLang="en-US" sz="4000" dirty="0"/>
              <a:t>请阅读</a:t>
            </a:r>
            <a:r>
              <a:rPr lang="zh-CN" altLang="en-US" sz="4000" dirty="0">
                <a:hlinkClick r:id="rId1" action="ppaction://hlinkfile"/>
              </a:rPr>
              <a:t>附</a:t>
            </a:r>
            <a:r>
              <a:rPr lang="en-US" altLang="zh-CN" sz="4000" dirty="0">
                <a:hlinkClick r:id="rId1" action="ppaction://hlinkfile"/>
              </a:rPr>
              <a:t>3</a:t>
            </a:r>
            <a:r>
              <a:rPr lang="zh-CN" altLang="en-US" sz="4000" dirty="0"/>
              <a:t>的故事，为故事中的人物开发一款软件帮助他（们）更加有效地开展工作。</a:t>
            </a:r>
            <a:endParaRPr lang="en-US" altLang="zh-CN" sz="4000" dirty="0"/>
          </a:p>
          <a:p>
            <a:pPr algn="ctr" fontAlgn="auto">
              <a:lnSpc>
                <a:spcPct val="150000"/>
              </a:lnSpc>
            </a:pPr>
            <a:endParaRPr lang="en-US" altLang="zh-CN" sz="4000" dirty="0"/>
          </a:p>
          <a:p>
            <a:pPr algn="ctr" fontAlgn="auto">
              <a:lnSpc>
                <a:spcPct val="150000"/>
              </a:lnSpc>
            </a:pPr>
            <a:r>
              <a:rPr lang="zh-CN" altLang="en-US" sz="4000" dirty="0"/>
              <a:t>寻找软件：请阅读下列故事，思考故事中人物是否有对某种软件的需求，仔细陈述你的想法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6570" y="86995"/>
            <a:ext cx="11198860" cy="6735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3200" dirty="0"/>
              <a:t>【软件调研】</a:t>
            </a:r>
            <a:endParaRPr lang="zh-CN" altLang="en-US" sz="3200" dirty="0"/>
          </a:p>
          <a:p>
            <a:pPr algn="l" fontAlgn="auto">
              <a:lnSpc>
                <a:spcPct val="120000"/>
              </a:lnSpc>
            </a:pPr>
            <a:r>
              <a:rPr lang="zh-CN" altLang="en-US" sz="3200" dirty="0"/>
              <a:t>老师口述访谈经历（</a:t>
            </a:r>
            <a:r>
              <a:rPr lang="zh-CN" altLang="en-US" sz="3200" dirty="0">
                <a:hlinkClick r:id="rId1" tooltip="" action="ppaction://hlinkfile"/>
              </a:rPr>
              <a:t>附</a:t>
            </a:r>
            <a:r>
              <a:rPr lang="en-US" altLang="zh-CN" sz="3200" dirty="0">
                <a:hlinkClick r:id="rId1" tooltip="" action="ppaction://hlinkfile"/>
              </a:rPr>
              <a:t>4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 algn="l" fontAlgn="auto">
              <a:lnSpc>
                <a:spcPct val="120000"/>
              </a:lnSpc>
            </a:pPr>
            <a:r>
              <a:rPr lang="zh-CN" altLang="en-US" sz="3200" dirty="0"/>
              <a:t>学生请倾听，并做好记录，以“</a:t>
            </a:r>
            <a:r>
              <a:rPr lang="en-US" altLang="zh-CN" sz="3200" dirty="0"/>
              <a:t>Q-A</a:t>
            </a:r>
            <a:r>
              <a:rPr lang="zh-CN" altLang="en-US" sz="3200" dirty="0"/>
              <a:t>”形式</a:t>
            </a:r>
            <a:r>
              <a:rPr lang="zh-CN" altLang="en-US" sz="3200" dirty="0">
                <a:sym typeface="+mn-ea"/>
              </a:rPr>
              <a:t>整理访谈信息，形成需求。需求除了包含若干“</a:t>
            </a:r>
            <a:r>
              <a:rPr lang="en-US" altLang="zh-CN" sz="3200" dirty="0">
                <a:sym typeface="+mn-ea"/>
              </a:rPr>
              <a:t>Q-A</a:t>
            </a:r>
            <a:r>
              <a:rPr lang="zh-CN" altLang="en-US" sz="3200" dirty="0">
                <a:sym typeface="+mn-ea"/>
              </a:rPr>
              <a:t>”外，需要书写以下内容：</a:t>
            </a:r>
            <a:endParaRPr lang="zh-CN" altLang="en-US" sz="3200" dirty="0"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，系统陈述</a:t>
            </a:r>
            <a:endParaRPr lang="zh-CN" altLang="en-US" sz="3200" dirty="0"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，用户使用故事</a:t>
            </a:r>
            <a:endParaRPr lang="zh-CN" altLang="en-US" sz="3200" dirty="0"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en-US" altLang="zh-CN" sz="3200" dirty="0">
                <a:sym typeface="+mn-ea"/>
              </a:rPr>
              <a:t>3</a:t>
            </a:r>
            <a:r>
              <a:rPr lang="zh-CN" altLang="en-US" sz="3200" dirty="0">
                <a:sym typeface="+mn-ea"/>
              </a:rPr>
              <a:t>，界面原型与可用性需求</a:t>
            </a:r>
            <a:endParaRPr lang="zh-CN" altLang="en-US" sz="3200" dirty="0"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en-US" altLang="zh-CN" sz="3200" dirty="0">
                <a:sym typeface="+mn-ea"/>
              </a:rPr>
              <a:t>4</a:t>
            </a:r>
            <a:r>
              <a:rPr lang="zh-CN" altLang="en-US" sz="3200" dirty="0">
                <a:sym typeface="+mn-ea"/>
              </a:rPr>
              <a:t>，非功能性需求</a:t>
            </a:r>
            <a:endParaRPr lang="zh-CN" altLang="en-US" sz="3200" dirty="0"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zh-CN" altLang="en-US" sz="3200" dirty="0">
                <a:sym typeface="+mn-ea"/>
              </a:rPr>
              <a:t>【在整理并形成需求的过程中，老师将承担涉众角色——一个真正会使用该运筹工具软件的领域专家人士，学生可以就此展开深入详细的调研。请务必如此做——做真正的调研！】</a:t>
            </a: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WPS 文字</Application>
  <PresentationFormat>宽屏</PresentationFormat>
  <Paragraphs>52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方正书宋_GBK</vt:lpstr>
      <vt:lpstr>Wingdings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汉仪书宋二KW</vt:lpstr>
      <vt:lpstr>Office 主题​​</vt:lpstr>
      <vt:lpstr>1_Office 主题​​</vt:lpstr>
      <vt:lpstr>现代软件工程课程设计</vt:lpstr>
      <vt:lpstr>PowerPoint 演示文稿</vt:lpstr>
      <vt:lpstr>PowerPoint 演示文稿</vt:lpstr>
      <vt:lpstr>PowerPoint 演示文稿</vt:lpstr>
      <vt:lpstr>接下来正式进入开发活动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现代软件工程课程设计</dc:title>
  <dc:creator>puwei@scu.edu.cn</dc:creator>
  <cp:lastModifiedBy>Alice</cp:lastModifiedBy>
  <cp:revision>35</cp:revision>
  <dcterms:created xsi:type="dcterms:W3CDTF">2026-10-11T08:21:07Z</dcterms:created>
  <dcterms:modified xsi:type="dcterms:W3CDTF">2026-10-11T08:21:07Z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2052-3.9.2.6301</vt:lpwstr>
  </property>
</Properties>
</file>